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charts/chart1.xml" ContentType="application/vnd.openxmlformats-officedocument.drawingml.chart+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charts/chart2.xml" ContentType="application/vnd.openxmlformats-officedocument.drawingml.chart+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charts/chart3.xml" ContentType="application/vnd.openxmlformats-officedocument.drawingml.chart+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charts/chart4.xml" ContentType="application/vnd.openxmlformats-officedocument.drawingml.chart+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charts/chart5.xml" ContentType="application/vnd.openxmlformats-officedocument.drawingml.chart+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charts/chart6.xml" ContentType="application/vnd.openxmlformats-officedocument.drawingml.chart+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Lst>
  <p:notesMasterIdLst>
    <p:notesMasterId r:id="rId1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cf4b4d0-ad9b-b7ec-8e81-50db0c960fca}">
          <p14:sldIdLst>
            <p14:sldId id="256"/>
            <p14:sldId id="257"/>
            <p14:sldId id="258"/>
          </p14:sldIdLst>
        </p14:section>
        <p14:section name="1 · The MOSFET switch" id="{287977f4-c6d2-dd21-2bca-22fa410d917d}">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Lst>
        </p14:section>
        <p14:section name="2 · Shrinking the gate" id="{94c95341-0510-6825-34cd-227ce320f079}">
          <p14:sldIdLst>
            <p14:sldId id="290"/>
            <p14:sldId id="291"/>
            <p14:sldId id="292"/>
            <p14:sldId id="293"/>
            <p14:sldId id="294"/>
            <p14:sldId id="295"/>
            <p14:sldId id="296"/>
            <p14:sldId id="297"/>
            <p14:sldId id="298"/>
            <p14:sldId id="299"/>
            <p14:sldId id="300"/>
            <p14:sldId id="301"/>
          </p14:sldIdLst>
        </p14:section>
        <p14:section name="3 · FinFET → GAAFET" id="{5873cb03-1bbc-c88c-5eab-e0754983a769}">
          <p14:sldIdLst>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Lst>
        </p14:section>
        <p14:section name="4 · The new problem: heat" id="{43bdfe66-3f8e-00c5-94fb-385562cee592}">
          <p14:sldIdLst>
            <p14:sldId id="336"/>
            <p14:sldId id="337"/>
            <p14:sldId id="338"/>
            <p14:sldId id="339"/>
            <p14:sldId id="340"/>
            <p14:sldId id="341"/>
            <p14:sldId id="342"/>
            <p14:sldId id="343"/>
            <p14:sldId id="344"/>
            <p14:sldId id="345"/>
            <p14:sldId id="346"/>
            <p14:sldId id="347"/>
            <p14:sldId id="348"/>
            <p14:sldId id="349"/>
            <p14:sldId id="350"/>
            <p14:sldId id="351"/>
            <p14:sldId id="352"/>
            <p14:sldId id="353"/>
          </p14:sldIdLst>
        </p14:section>
        <p14:section name="5 · Literature and method" id="{10180ffe-9a6c-9d1b-91cb-7715511457e7}">
          <p14:sldIdLst>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Lst>
        </p14:section>
        <p14:section name="6 · Three stages in TCAD" id="{2697ab0f-7568-cd5e-1206-aa66afd6adb2}">
          <p14:sldIdLst>
            <p14:sldId id="374"/>
            <p14:sldId id="375"/>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 id="399"/>
            <p14:sldId id="400"/>
          </p14:sldIdLst>
        </p14:section>
        <p14:section name="7 · Conclusion" id="{60edd97b-c08f-0da1-c2e6-c5d5019de955}">
          <p14:sldIdLst>
            <p14:sldId id="401"/>
            <p14:sldId id="402"/>
            <p14:sldId id="403"/>
            <p14:sldId id="404"/>
            <p14:sldId id="405"/>
            <p14:sldId id="406"/>
            <p14:sldId id="407"/>
            <p14:sldId id="408"/>
            <p14:sldId id="409"/>
            <p14:sldId id="41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notesMaster" Target="notesMasters/notesMaster1.xml"/><Relationship Id="rId158" Type="http://schemas.openxmlformats.org/officeDocument/2006/relationships/presProps" Target="presProps.xml"/><Relationship Id="rId159" Type="http://schemas.openxmlformats.org/officeDocument/2006/relationships/viewProps" Target="viewProps.xml"/><Relationship Id="rId160" Type="http://schemas.openxmlformats.org/officeDocument/2006/relationships/theme" Target="theme/theme1.xml"/><Relationship Id="rId16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κ</c:v>
                </c:pt>
              </c:strCache>
            </c:strRef>
          </c:tx>
          <c:spPr>
            <a:solidFill>
              <a:srgbClr val="11998E"/>
            </a:solidFill>
            <a:effectLst/>
          </c:spPr>
          <c:invertIfNegative val="0"/>
          <c:dLbls>
            <c:numFmt formatCode="0.0" sourceLinked="0"/>
            <c:txPr>
              <a:bodyPr/>
              <a:lstStyle/>
              <a:p>
                <a:pPr>
                  <a:defRPr b="0" i="0" strike="noStrike" sz="1200" u="none">
                    <a:solidFill>
                      <a:srgbClr val="171A20"/>
                    </a:solidFill>
                    <a:latin typeface="+mn-lt"/>
                  </a:defRPr>
                </a:pPr>
              </a:p>
            </c:txPr>
            <c:showLegendKey val="0"/>
            <c:showVal val="1"/>
            <c:showCatName val="0"/>
            <c:showSerName val="0"/>
            <c:showPercent val="0"/>
            <c:showBubbleSize val="0"/>
            <c:showLeaderLines val="0"/>
          </c:dLbls>
          <c:dPt>
            <c:idx val="0"/>
            <c:invertIfNegative val="0"/>
            <c:bubble3D val="0"/>
            <c:spPr>
              <a:solidFill>
                <a:srgbClr val="11998E"/>
              </a:solidFill>
              <a:effectLst/>
            </c:spPr>
          </c:dPt>
          <c:dPt>
            <c:idx val="1"/>
            <c:invertIfNegative val="0"/>
            <c:bubble3D val="0"/>
            <c:spPr>
              <a:solidFill>
                <a:srgbClr val="11998E"/>
              </a:solidFill>
              <a:effectLst/>
            </c:spPr>
          </c:dPt>
          <c:dPt>
            <c:idx val="2"/>
            <c:invertIfNegative val="0"/>
            <c:bubble3D val="0"/>
            <c:spPr>
              <a:solidFill>
                <a:srgbClr val="5C5E62"/>
              </a:solidFill>
              <a:effectLst/>
            </c:spPr>
          </c:dPt>
          <c:dPt>
            <c:idx val="3"/>
            <c:invertIfNegative val="0"/>
            <c:bubble3D val="0"/>
            <c:spPr>
              <a:solidFill>
                <a:srgbClr val="D64545"/>
              </a:solidFill>
              <a:effectLst/>
            </c:spPr>
          </c:dPt>
          <c:dPt>
            <c:idx val="4"/>
            <c:invertIfNegative val="0"/>
            <c:bubble3D val="0"/>
            <c:spPr>
              <a:solidFill>
                <a:srgbClr val="D64545"/>
              </a:solidFill>
              <a:effectLst/>
            </c:spPr>
          </c:dPt>
          <c:cat>
            <c:multiLvlStrRef>
              <c:f>Sheet1!$A$2:$A$6</c:f>
              <c:multiLvlStrCache>
                <c:ptCount val="5"/>
                <c:lvl>
                  <c:pt idx="0">
                    <c:v>Si substrate</c:v>
                  </c:pt>
                  <c:pt idx="1">
                    <c:v>Si channel</c:v>
                  </c:pt>
                  <c:pt idx="2">
                    <c:v>Si₃N₄ spacer</c:v>
                  </c:pt>
                  <c:pt idx="3">
                    <c:v>HfO₂</c:v>
                  </c:pt>
                  <c:pt idx="4">
                    <c:v>SiO₂</c:v>
                  </c:pt>
                </c:lvl>
              </c:multiLvlStrCache>
            </c:multiLvlStrRef>
          </c:cat>
          <c:val>
            <c:numRef>
              <c:f>Sheet1!$B$2:$B$6</c:f>
              <c:numCache>
                <c:formatCode>General</c:formatCode>
                <c:ptCount val="5"/>
                <c:pt idx="0">
                  <c:v>148</c:v>
                </c:pt>
                <c:pt idx="1">
                  <c:v>22</c:v>
                </c:pt>
                <c:pt idx="2">
                  <c:v>18</c:v>
                </c:pt>
                <c:pt idx="3">
                  <c:v>2.3</c:v>
                </c:pt>
                <c:pt idx="4">
                  <c:v>1.4</c:v>
                </c:pt>
              </c:numCache>
            </c:numRef>
          </c:val>
        </c:ser>
        <c:dLbls>
          <c:numFmt formatCode="0.0" sourceLinked="0"/>
          <c:txPr>
            <a:bodyPr/>
            <a:lstStyle/>
            <a:p>
              <a:pPr>
                <a:defRPr b="0" i="0" strike="noStrike" sz="1200" u="none">
                  <a:solidFill>
                    <a:srgbClr val="171A2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5E62"/>
                </a:solidFill>
                <a:latin typeface="+mn-lt"/>
              </a:defRPr>
            </a:pPr>
            <a:endParaRPr lang="en-US"/>
          </a:p>
        </c:txPr>
        <c:crossAx val="2094734552"/>
        <c:crosses val="autoZero"/>
        <c:auto val="1"/>
        <c:lblAlgn val="ctr"/>
        <c:noMultiLvlLbl val="1"/>
      </c:catAx>
      <c:valAx>
        <c:axId val="2094734552"/>
        <c:scaling>
          <c:logBase val="10"/>
          <c:orientation val="minMax"/>
          <c:max val="1000"/>
          <c:min val="1"/>
        </c:scaling>
        <c:delete val="0"/>
        <c:axPos val="l"/>
        <c:majorGridlines>
          <c:spPr>
            <a:ln w="9525" cap="flat">
              <a:solidFill>
                <a:srgbClr val="EDEE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5E6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C5E62"/>
                </a:solidFill>
                <a:latin typeface="+mn-lt"/>
              </a:defRPr>
            </a:pPr>
            <a:r>
              <a:rPr sz="1200" b="0" i="0" u="none" strike="noStrike">
                <a:solidFill>
                  <a:srgbClr val="5C5E62"/>
                </a:solidFill>
                <a:latin typeface="+mn-lt"/>
              </a:rPr>
              <a:t>Temperature rise of the target device above 300 K (%)</a:t>
            </a:r>
          </a:p>
        </c:rich>
      </c:tx>
      <c:layout/>
      <c:overlay val="0"/>
    </c:title>
    <c:autoTitleDeleted val="0"/>
    <c:plotArea>
      <c:layout/>
      <c:barChart>
        <c:barDir val="col"/>
        <c:grouping val="clustered"/>
        <c:varyColors val="0"/>
        <c:ser>
          <c:idx val="0"/>
          <c:order val="0"/>
          <c:tx>
            <c:strRef>
              <c:f>Sheet1!$B$1</c:f>
              <c:strCache>
                <c:ptCount val="1"/>
                <c:pt idx="0">
                  <c:v>rise</c:v>
                </c:pt>
              </c:strCache>
            </c:strRef>
          </c:tx>
          <c:spPr>
            <a:solidFill>
              <a:srgbClr val="E07B00"/>
            </a:solidFill>
            <a:effectLst/>
          </c:spPr>
          <c:invertIfNegative val="0"/>
          <c:dLbls>
            <c:numFmt formatCode="0.0&quot;%&quot;" sourceLinked="0"/>
            <c:txPr>
              <a:bodyPr/>
              <a:lstStyle/>
              <a:p>
                <a:pPr>
                  <a:defRPr b="0" i="0" strike="noStrike" sz="1200" u="none">
                    <a:solidFill>
                      <a:srgbClr val="171A20"/>
                    </a:solidFill>
                    <a:latin typeface="+mn-lt"/>
                  </a:defRPr>
                </a:pPr>
              </a:p>
            </c:txPr>
            <c:showLegendKey val="0"/>
            <c:showVal val="1"/>
            <c:showCatName val="0"/>
            <c:showSerName val="0"/>
            <c:showPercent val="0"/>
            <c:showBubbleSize val="0"/>
            <c:showLeaderLines val="0"/>
          </c:dLbls>
          <c:cat>
            <c:multiLvlStrRef>
              <c:f>Sheet1!$A$2:$A$4</c:f>
              <c:multiLvlStrCache>
                <c:ptCount val="3"/>
                <c:lvl>
                  <c:pt idx="0">
                    <c:v>Inverter (2 devices)</c:v>
                  </c:pt>
                  <c:pt idx="1">
                    <c:v>3 active devices</c:v>
                  </c:pt>
                  <c:pt idx="2">
                    <c:v>4 active devices</c:v>
                  </c:pt>
                </c:lvl>
              </c:multiLvlStrCache>
            </c:multiLvlStrRef>
          </c:cat>
          <c:val>
            <c:numRef>
              <c:f>Sheet1!$B$2:$B$4</c:f>
              <c:numCache>
                <c:formatCode>General</c:formatCode>
                <c:ptCount val="3"/>
                <c:pt idx="0">
                  <c:v>7.5</c:v>
                </c:pt>
                <c:pt idx="1">
                  <c:v>11.8</c:v>
                </c:pt>
                <c:pt idx="2">
                  <c:v>14.9</c:v>
                </c:pt>
              </c:numCache>
            </c:numRef>
          </c:val>
        </c:ser>
        <c:dLbls>
          <c:numFmt formatCode="0.0&quot;%&quot;" sourceLinked="0"/>
          <c:txPr>
            <a:bodyPr/>
            <a:lstStyle/>
            <a:p>
              <a:pPr>
                <a:defRPr b="0" i="0" strike="noStrike" sz="1200" u="none">
                  <a:solidFill>
                    <a:srgbClr val="171A2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5E62"/>
                </a:solidFill>
                <a:latin typeface="+mn-lt"/>
              </a:defRPr>
            </a:pPr>
            <a:endParaRPr lang="en-US"/>
          </a:p>
        </c:txPr>
        <c:crossAx val="2094734552"/>
        <c:crosses val="autoZero"/>
        <c:auto val="1"/>
        <c:lblAlgn val="ctr"/>
        <c:noMultiLvlLbl val="1"/>
      </c:catAx>
      <c:valAx>
        <c:axId val="2094734552"/>
        <c:scaling>
          <c:orientation val="minMax"/>
          <c:max val="18"/>
        </c:scaling>
        <c:delete val="0"/>
        <c:axPos val="l"/>
        <c:majorGridlines>
          <c:spPr>
            <a:ln w="9525" cap="flat">
              <a:solidFill>
                <a:srgbClr val="EDEE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5E6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C5E62"/>
                </a:solidFill>
                <a:latin typeface="+mn-lt"/>
              </a:defRPr>
            </a:pPr>
            <a:r>
              <a:rPr sz="1200" b="0" i="0" u="none" strike="noStrike">
                <a:solidFill>
                  <a:srgbClr val="5C5E62"/>
                </a:solidFill>
                <a:latin typeface="+mn-lt"/>
              </a:rPr>
              <a:t>Peak lattice temperature (K)</a:t>
            </a:r>
          </a:p>
        </c:rich>
      </c:tx>
      <c:layout/>
      <c:overlay val="0"/>
    </c:title>
    <c:autoTitleDeleted val="0"/>
    <c:plotArea>
      <c:layout/>
      <c:barChart>
        <c:barDir val="col"/>
        <c:grouping val="clustered"/>
        <c:varyColors val="0"/>
        <c:ser>
          <c:idx val="0"/>
          <c:order val="0"/>
          <c:tx>
            <c:strRef>
              <c:f>Sheet1!$B$1</c:f>
              <c:strCache>
                <c:ptCount val="1"/>
                <c:pt idx="0">
                  <c:v>T</c:v>
                </c:pt>
              </c:strCache>
            </c:strRef>
          </c:tx>
          <c:spPr>
            <a:solidFill>
              <a:srgbClr val="D64545"/>
            </a:solidFill>
            <a:effectLst/>
          </c:spPr>
          <c:invertIfNegative val="0"/>
          <c:dLbls>
            <c:numFmt formatCode="0&quot; K&quot;" sourceLinked="0"/>
            <c:txPr>
              <a:bodyPr/>
              <a:lstStyle/>
              <a:p>
                <a:pPr>
                  <a:defRPr b="0" i="0" strike="noStrike" sz="1200" u="none">
                    <a:solidFill>
                      <a:srgbClr val="171A20"/>
                    </a:solidFill>
                    <a:latin typeface="+mn-lt"/>
                  </a:defRPr>
                </a:pPr>
              </a:p>
            </c:txPr>
            <c:showLegendKey val="0"/>
            <c:showVal val="1"/>
            <c:showCatName val="0"/>
            <c:showSerName val="0"/>
            <c:showPercent val="0"/>
            <c:showBubbleSize val="0"/>
            <c:showLeaderLines val="0"/>
          </c:dLbls>
          <c:dPt>
            <c:idx val="0"/>
            <c:invertIfNegative val="0"/>
            <c:bubble3D val="0"/>
            <c:spPr>
              <a:solidFill>
                <a:srgbClr val="D64545"/>
              </a:solidFill>
              <a:effectLst/>
            </c:spPr>
          </c:dPt>
          <c:dPt>
            <c:idx val="1"/>
            <c:invertIfNegative val="0"/>
            <c:bubble3D val="0"/>
            <c:spPr>
              <a:solidFill>
                <a:srgbClr val="11998E"/>
              </a:solidFill>
              <a:effectLst/>
            </c:spPr>
          </c:dPt>
          <c:cat>
            <c:multiLvlStrRef>
              <c:f>Sheet1!$A$2:$A$3</c:f>
              <c:multiLvlStrCache>
                <c:ptCount val="2"/>
                <c:lvl>
                  <c:pt idx="0">
                    <c:v>SiO₂ BOX</c:v>
                  </c:pt>
                  <c:pt idx="1">
                    <c:v>DLC BOX</c:v>
                  </c:pt>
                </c:lvl>
              </c:multiLvlStrCache>
            </c:multiLvlStrRef>
          </c:cat>
          <c:val>
            <c:numRef>
              <c:f>Sheet1!$B$2:$B$3</c:f>
              <c:numCache>
                <c:formatCode>General</c:formatCode>
                <c:ptCount val="2"/>
                <c:pt idx="0">
                  <c:v>626</c:v>
                </c:pt>
                <c:pt idx="1">
                  <c:v>442</c:v>
                </c:pt>
              </c:numCache>
            </c:numRef>
          </c:val>
        </c:ser>
        <c:dLbls>
          <c:numFmt formatCode="0&quot; K&quot;" sourceLinked="0"/>
          <c:txPr>
            <a:bodyPr/>
            <a:lstStyle/>
            <a:p>
              <a:pPr>
                <a:defRPr b="0" i="0" strike="noStrike" sz="1200" u="none">
                  <a:solidFill>
                    <a:srgbClr val="171A20"/>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5E62"/>
                </a:solidFill>
                <a:latin typeface="+mn-lt"/>
              </a:defRPr>
            </a:pPr>
            <a:endParaRPr lang="en-US"/>
          </a:p>
        </c:txPr>
        <c:crossAx val="2094734552"/>
        <c:crosses val="autoZero"/>
        <c:auto val="1"/>
        <c:lblAlgn val="ctr"/>
        <c:noMultiLvlLbl val="1"/>
      </c:catAx>
      <c:valAx>
        <c:axId val="2094734552"/>
        <c:scaling>
          <c:orientation val="minMax"/>
          <c:max val="700"/>
          <c:min val="300"/>
        </c:scaling>
        <c:delete val="0"/>
        <c:axPos val="l"/>
        <c:majorGridlines>
          <c:spPr>
            <a:ln w="9525" cap="flat">
              <a:solidFill>
                <a:srgbClr val="EDEE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5E6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C5E62"/>
                </a:solidFill>
                <a:latin typeface="+mn-lt"/>
              </a:defRPr>
            </a:pPr>
            <a:r>
              <a:rPr sz="1200" b="0" i="0" u="none" strike="noStrike">
                <a:solidFill>
                  <a:srgbClr val="5C5E62"/>
                </a:solidFill>
                <a:latin typeface="+mn-lt"/>
              </a:rPr>
              <a:t>Temperature rise at 30 µW (K)</a:t>
            </a:r>
          </a:p>
        </c:rich>
      </c:tx>
      <c:layout/>
      <c:overlay val="0"/>
    </c:title>
    <c:autoTitleDeleted val="0"/>
    <c:plotArea>
      <c:layout/>
      <c:barChart>
        <c:barDir val="col"/>
        <c:grouping val="clustered"/>
        <c:varyColors val="0"/>
        <c:ser>
          <c:idx val="0"/>
          <c:order val="0"/>
          <c:tx>
            <c:strRef>
              <c:f>Sheet1!$B$1</c:f>
              <c:strCache>
                <c:ptCount val="1"/>
                <c:pt idx="0">
                  <c:v>ΔT</c:v>
                </c:pt>
              </c:strCache>
            </c:strRef>
          </c:tx>
          <c:spPr>
            <a:solidFill>
              <a:srgbClr val="3E6AE1"/>
            </a:solidFill>
            <a:effectLst/>
          </c:spPr>
          <c:invertIfNegative val="0"/>
          <c:dLbls>
            <c:numFmt formatCode="0.0&quot; K&quot;" sourceLinked="0"/>
            <c:txPr>
              <a:bodyPr/>
              <a:lstStyle/>
              <a:p>
                <a:pPr>
                  <a:defRPr b="0" i="0" strike="noStrike" sz="1200" u="none">
                    <a:solidFill>
                      <a:srgbClr val="171A20"/>
                    </a:solidFill>
                    <a:latin typeface="+mn-lt"/>
                  </a:defRPr>
                </a:pPr>
              </a:p>
            </c:txPr>
            <c:showLegendKey val="0"/>
            <c:showVal val="1"/>
            <c:showCatName val="0"/>
            <c:showSerName val="0"/>
            <c:showPercent val="0"/>
            <c:showBubbleSize val="0"/>
            <c:showLeaderLines val="0"/>
          </c:dLbls>
          <c:dPt>
            <c:idx val="0"/>
            <c:invertIfNegative val="0"/>
            <c:bubble3D val="0"/>
            <c:spPr>
              <a:solidFill>
                <a:srgbClr val="3E6AE1"/>
              </a:solidFill>
              <a:effectLst/>
            </c:spPr>
          </c:dPt>
          <c:dPt>
            <c:idx val="1"/>
            <c:invertIfNegative val="0"/>
            <c:bubble3D val="0"/>
            <c:spPr>
              <a:solidFill>
                <a:srgbClr val="D64545"/>
              </a:solidFill>
              <a:effectLst/>
            </c:spPr>
          </c:dPt>
          <c:cat>
            <c:multiLvlStrRef>
              <c:f>Sheet1!$A$2:$A$3</c:f>
              <c:multiLvlStrCache>
                <c:ptCount val="2"/>
                <c:lvl>
                  <c:pt idx="0">
                    <c:v>Base paper</c:v>
                  </c:pt>
                  <c:pt idx="1">
                    <c:v>Our standard device</c:v>
                  </c:pt>
                </c:lvl>
              </c:multiLvlStrCache>
            </c:multiLvlStrRef>
          </c:cat>
          <c:val>
            <c:numRef>
              <c:f>Sheet1!$B$2:$B$3</c:f>
              <c:numCache>
                <c:formatCode>General</c:formatCode>
                <c:ptCount val="2"/>
                <c:pt idx="0">
                  <c:v>64.8</c:v>
                </c:pt>
                <c:pt idx="1">
                  <c:v>727</c:v>
                </c:pt>
              </c:numCache>
            </c:numRef>
          </c:val>
        </c:ser>
        <c:dLbls>
          <c:numFmt formatCode="0.0&quot; K&quot;" sourceLinked="0"/>
          <c:txPr>
            <a:bodyPr/>
            <a:lstStyle/>
            <a:p>
              <a:pPr>
                <a:defRPr b="0" i="0" strike="noStrike" sz="1200" u="none">
                  <a:solidFill>
                    <a:srgbClr val="171A20"/>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5E62"/>
                </a:solidFill>
                <a:latin typeface="+mn-lt"/>
              </a:defRPr>
            </a:pPr>
            <a:endParaRPr lang="en-US"/>
          </a:p>
        </c:txPr>
        <c:crossAx val="2094734552"/>
        <c:crosses val="autoZero"/>
        <c:auto val="1"/>
        <c:lblAlgn val="ctr"/>
        <c:noMultiLvlLbl val="1"/>
      </c:catAx>
      <c:valAx>
        <c:axId val="2094734552"/>
        <c:scaling>
          <c:orientation val="minMax"/>
          <c:max val="800"/>
        </c:scaling>
        <c:delete val="0"/>
        <c:axPos val="l"/>
        <c:majorGridlines>
          <c:spPr>
            <a:ln w="9525" cap="flat">
              <a:solidFill>
                <a:srgbClr val="EDEE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5E6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ΔT</c:v>
                </c:pt>
              </c:strCache>
            </c:strRef>
          </c:tx>
          <c:spPr>
            <a:solidFill>
              <a:srgbClr val="3E6AE1"/>
            </a:solidFill>
            <a:effectLst/>
          </c:spPr>
          <c:invertIfNegative val="0"/>
          <c:dLbls>
            <c:numFmt formatCode="0.0&quot; K&quot;" sourceLinked="0"/>
            <c:txPr>
              <a:bodyPr/>
              <a:lstStyle/>
              <a:p>
                <a:pPr>
                  <a:defRPr b="0" i="0" strike="noStrike" sz="1200" u="none">
                    <a:solidFill>
                      <a:srgbClr val="171A20"/>
                    </a:solidFill>
                    <a:latin typeface="+mn-lt"/>
                  </a:defRPr>
                </a:pPr>
              </a:p>
            </c:txPr>
            <c:showLegendKey val="0"/>
            <c:showVal val="1"/>
            <c:showCatName val="0"/>
            <c:showSerName val="0"/>
            <c:showPercent val="0"/>
            <c:showBubbleSize val="0"/>
            <c:showLeaderLines val="0"/>
          </c:dLbls>
          <c:dPt>
            <c:idx val="0"/>
            <c:invertIfNegative val="0"/>
            <c:bubble3D val="0"/>
            <c:spPr>
              <a:solidFill>
                <a:srgbClr val="3E6AE1"/>
              </a:solidFill>
              <a:effectLst/>
            </c:spPr>
          </c:dPt>
          <c:dPt>
            <c:idx val="1"/>
            <c:invertIfNegative val="0"/>
            <c:bubble3D val="0"/>
            <c:spPr>
              <a:solidFill>
                <a:srgbClr val="D64545"/>
              </a:solidFill>
              <a:effectLst/>
            </c:spPr>
          </c:dPt>
          <c:dPt>
            <c:idx val="2"/>
            <c:invertIfNegative val="0"/>
            <c:bubble3D val="0"/>
            <c:spPr>
              <a:solidFill>
                <a:srgbClr val="2E9E4F"/>
              </a:solidFill>
              <a:effectLst/>
            </c:spPr>
          </c:dPt>
          <c:cat>
            <c:multiLvlStrRef>
              <c:f>Sheet1!$A$2:$A$4</c:f>
              <c:multiLvlStrCache>
                <c:ptCount val="3"/>
                <c:lvl>
                  <c:pt idx="0">
                    <c:v>Base paper</c:v>
                  </c:pt>
                  <c:pt idx="1">
                    <c:v>Standard</c:v>
                  </c:pt>
                  <c:pt idx="2">
                    <c:v>Reproduced</c:v>
                  </c:pt>
                </c:lvl>
              </c:multiLvlStrCache>
            </c:multiLvlStrRef>
          </c:cat>
          <c:val>
            <c:numRef>
              <c:f>Sheet1!$B$2:$B$4</c:f>
              <c:numCache>
                <c:formatCode>General</c:formatCode>
                <c:ptCount val="3"/>
                <c:pt idx="0">
                  <c:v>64.8</c:v>
                </c:pt>
                <c:pt idx="1">
                  <c:v>727</c:v>
                </c:pt>
                <c:pt idx="2">
                  <c:v>68</c:v>
                </c:pt>
              </c:numCache>
            </c:numRef>
          </c:val>
        </c:ser>
        <c:dLbls>
          <c:numFmt formatCode="0.0&quot; K&quot;" sourceLinked="0"/>
          <c:txPr>
            <a:bodyPr/>
            <a:lstStyle/>
            <a:p>
              <a:pPr>
                <a:defRPr b="0" i="0" strike="noStrike" sz="1200" u="none">
                  <a:solidFill>
                    <a:srgbClr val="171A2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5E62"/>
                </a:solidFill>
                <a:latin typeface="+mn-lt"/>
              </a:defRPr>
            </a:pPr>
            <a:endParaRPr lang="en-US"/>
          </a:p>
        </c:txPr>
        <c:crossAx val="2094734552"/>
        <c:crosses val="autoZero"/>
        <c:auto val="1"/>
        <c:lblAlgn val="ctr"/>
        <c:noMultiLvlLbl val="1"/>
      </c:catAx>
      <c:valAx>
        <c:axId val="2094734552"/>
        <c:scaling>
          <c:logBase val="10"/>
          <c:orientation val="minMax"/>
          <c:max val="1000"/>
          <c:min val="10"/>
        </c:scaling>
        <c:delete val="0"/>
        <c:axPos val="l"/>
        <c:majorGridlines>
          <c:spPr>
            <a:ln w="9525" cap="flat">
              <a:solidFill>
                <a:srgbClr val="EDEE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5E6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C5E62"/>
                </a:solidFill>
                <a:latin typeface="+mn-lt"/>
              </a:defRPr>
            </a:pPr>
            <a:r>
              <a:rPr sz="1200" b="0" i="0" u="none" strike="noStrike">
                <a:solidFill>
                  <a:srgbClr val="5C5E62"/>
                </a:solidFill>
                <a:latin typeface="+mn-lt"/>
              </a:rPr>
              <a:t>Change vs the reproduced device (%)</a:t>
            </a:r>
          </a:p>
        </c:rich>
      </c:tx>
      <c:layout/>
      <c:overlay val="0"/>
    </c:title>
    <c:autoTitleDeleted val="0"/>
    <c:plotArea>
      <c:layout/>
      <c:barChart>
        <c:barDir val="col"/>
        <c:grouping val="clustered"/>
        <c:varyColors val="0"/>
        <c:ser>
          <c:idx val="0"/>
          <c:order val="0"/>
          <c:tx>
            <c:strRef>
              <c:f>Sheet1!$B$1</c:f>
              <c:strCache>
                <c:ptCount val="1"/>
                <c:pt idx="0">
                  <c:v>ΔT change (%)</c:v>
                </c:pt>
              </c:strCache>
            </c:strRef>
          </c:tx>
          <c:spPr>
            <a:solidFill>
              <a:srgbClr val="E07B00"/>
            </a:solidFill>
            <a:effectLst/>
          </c:spPr>
          <c:invertIfNegative val="0"/>
          <c:dLbls>
            <c:numFmt formatCode="0.0" sourceLinked="0"/>
            <c:txPr>
              <a:bodyPr/>
              <a:lstStyle/>
              <a:p>
                <a:pPr>
                  <a:defRPr b="0" i="0" strike="noStrike" sz="1000" u="none">
                    <a:solidFill>
                      <a:srgbClr val="171A20"/>
                    </a:solidFill>
                    <a:latin typeface="+mn-lt"/>
                  </a:defRPr>
                </a:pPr>
              </a:p>
            </c:txPr>
            <c:showLegendKey val="0"/>
            <c:showVal val="1"/>
            <c:showCatName val="0"/>
            <c:showSerName val="0"/>
            <c:showPercent val="0"/>
            <c:showBubbleSize val="0"/>
            <c:showLeaderLines val="0"/>
          </c:dLbls>
          <c:cat>
            <c:multiLvlStrRef>
              <c:f>Sheet1!$A$2:$A$5</c:f>
              <c:multiLvlStrCache>
                <c:ptCount val="4"/>
                <c:lvl>
                  <c:pt idx="0">
                    <c:v>A spacer</c:v>
                  </c:pt>
                  <c:pt idx="1">
                    <c:v>B WF 4.55</c:v>
                  </c:pt>
                  <c:pt idx="2">
                    <c:v>C A+B</c:v>
                  </c:pt>
                  <c:pt idx="3">
                    <c:v>D spacer+4.53</c:v>
                  </c:pt>
                </c:lvl>
              </c:multiLvlStrCache>
            </c:multiLvlStrRef>
          </c:cat>
          <c:val>
            <c:numRef>
              <c:f>Sheet1!$B$2:$B$5</c:f>
              <c:numCache>
                <c:formatCode>General</c:formatCode>
                <c:ptCount val="4"/>
                <c:pt idx="0">
                  <c:v>-10.6</c:v>
                </c:pt>
                <c:pt idx="1">
                  <c:v>-10.6</c:v>
                </c:pt>
                <c:pt idx="2">
                  <c:v>-20.3</c:v>
                </c:pt>
                <c:pt idx="3">
                  <c:v>-16.4</c:v>
                </c:pt>
              </c:numCache>
            </c:numRef>
          </c:val>
        </c:ser>
        <c:ser>
          <c:idx val="1"/>
          <c:order val="1"/>
          <c:tx>
            <c:strRef>
              <c:f>Sheet1!$C$1</c:f>
              <c:strCache>
                <c:ptCount val="1"/>
                <c:pt idx="0">
                  <c:v>I_on change (%)</c:v>
                </c:pt>
              </c:strCache>
            </c:strRef>
          </c:tx>
          <c:spPr>
            <a:solidFill>
              <a:srgbClr val="3E6AE1"/>
            </a:solidFill>
            <a:effectLst/>
          </c:spPr>
          <c:invertIfNegative val="0"/>
          <c:dLbls>
            <c:numFmt formatCode="0.0" sourceLinked="0"/>
            <c:txPr>
              <a:bodyPr/>
              <a:lstStyle/>
              <a:p>
                <a:pPr>
                  <a:defRPr b="0" i="0" strike="noStrike" sz="1000" u="none">
                    <a:solidFill>
                      <a:srgbClr val="171A20"/>
                    </a:solidFill>
                    <a:latin typeface="+mn-lt"/>
                  </a:defRPr>
                </a:pPr>
              </a:p>
            </c:txPr>
            <c:showLegendKey val="0"/>
            <c:showVal val="1"/>
            <c:showCatName val="0"/>
            <c:showSerName val="0"/>
            <c:showPercent val="0"/>
            <c:showBubbleSize val="0"/>
            <c:showLeaderLines val="0"/>
          </c:dLbls>
          <c:cat>
            <c:multiLvlStrRef>
              <c:f>Sheet1!$A$2:$A$5</c:f>
              <c:multiLvlStrCache>
                <c:ptCount val="4"/>
                <c:lvl>
                  <c:pt idx="0">
                    <c:v>A spacer</c:v>
                  </c:pt>
                  <c:pt idx="1">
                    <c:v>B WF 4.55</c:v>
                  </c:pt>
                  <c:pt idx="2">
                    <c:v>C A+B</c:v>
                  </c:pt>
                  <c:pt idx="3">
                    <c:v>D spacer+4.53</c:v>
                  </c:pt>
                </c:lvl>
              </c:multiLvlStrCache>
            </c:multiLvlStrRef>
          </c:cat>
          <c:val>
            <c:numRef>
              <c:f>Sheet1!$C$2:$C$5</c:f>
              <c:numCache>
                <c:formatCode>General</c:formatCode>
                <c:ptCount val="4"/>
                <c:pt idx="0">
                  <c:v>-0.1</c:v>
                </c:pt>
                <c:pt idx="1">
                  <c:v>-12.9</c:v>
                </c:pt>
                <c:pt idx="2">
                  <c:v>-13</c:v>
                </c:pt>
                <c:pt idx="3">
                  <c:v>-7.8</c:v>
                </c:pt>
              </c:numCache>
            </c:numRef>
          </c:val>
        </c:ser>
        <c:dLbls>
          <c:numFmt formatCode="0.0" sourceLinked="0"/>
          <c:txPr>
            <a:bodyPr/>
            <a:lstStyle/>
            <a:p>
              <a:pPr>
                <a:defRPr b="0" i="0" strike="noStrike" sz="1000" u="none">
                  <a:solidFill>
                    <a:srgbClr val="171A2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5E62"/>
                </a:solidFill>
                <a:latin typeface="+mn-lt"/>
              </a:defRPr>
            </a:pPr>
            <a:endParaRPr lang="en-US"/>
          </a:p>
        </c:txPr>
        <c:crossAx val="2094734552"/>
        <c:crosses val="autoZero"/>
        <c:auto val="1"/>
        <c:lblAlgn val="ctr"/>
        <c:noMultiLvlLbl val="1"/>
      </c:catAx>
      <c:valAx>
        <c:axId val="2094734552"/>
        <c:scaling>
          <c:orientation val="minMax"/>
          <c:max val="0"/>
          <c:min val="-25"/>
        </c:scaling>
        <c:delete val="0"/>
        <c:axPos val="l"/>
        <c:majorGridlines>
          <c:spPr>
            <a:ln w="9525" cap="flat">
              <a:solidFill>
                <a:srgbClr val="EDEE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5E6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5E6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studies heat in gate-all-around transistors. We start from the ordinary MOSFET and follow every key parameter as the device changes: planar, FinFET, GAA. Then we show the heat problem GAA brings, reproduce one base paper in Silvaco Atlas, and propose a cooler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MOSFETs leak. GAA fixes this by wrapping the gate around the channel, but the oxide that wraps it also traps heat. We pick one base paper, build a GAAFET, reproduce its self-heating within 5 percent, then design a device that runs 16.4 percent cooler.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chapters. Each later chapter changes one thing about the transistor and shows how the key numbers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how the planar MOSFET works and which numbers describe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crystal of silicon doped with boron: holes are the majority carriers. No current can flow from left to right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heavily doped n-type islands full of free electrons. Between them: p-type silicon, which blocks electrons.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thin insulator and a metal gate sit over the gap. The gate cannot touch the channel, it can only push on it with an electric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Seen as energy, the p-type gap is a hill between source and drain. Electrons cross only if the hill is low. The gate sets the hill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transistor and its energy hill. Right: the I_D–V_G curve on a log scale. All three move together as the gate voltage is raised. Model curve: EKV, V_T = 0.25 V, SS = 71 mV/dec, V_D = 0.7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transistor and its energy hill. Right: the I_D–V_G curve on a log scale. All three move together as the gate voltage is raised. Model curve: EKV, V_T = 0.25 V, SS = 71 mV/dec, V_D = 0.7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transistor and its energy hill. Right: the I_D–V_G curve on a log scale. All three move together as the gate voltage is raised. Model curve: EKV, V_T = 0.25 V, SS = 71 mV/dec, V_D = 0.7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transistor and its energy hill. Right: the I_D–V_G curve on a log scale. All three move together as the gate voltage is raised. Model curve: EKV, V_T = 0.25 V, SS = 71 mV/dec, V_D = 0.7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transistor and its energy hill. Right: the I_D–V_G curve on a log scale. All three move together as the gate voltage is raised. Model curve: EKV, V_T = 0.25 V, SS = 71 mV/dec, V_D = 0.7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later result in the project is one of these five numbers, plus the temperature 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later result in the project is one of these five numbers, plus the temperature 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later result in the project is one of these five numbers, plus the temperature 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metal and silicon have different work functions: φm = 4.50 eV, φs = 4.97 eV. V_FB = φm − φs = −0.47 V keeps the bands flat. Higher φm → higher V_T, one 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positive gate pulls the bands down at the surface. Holes are pushed away: a depletion layer (pink) of fixed negative ions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φF = (kT/q)·ln(N_A/n_i) = 0.357 V for N_A = 10¹⁶ cm⁻³. Bend by 2φF = 0.71 V: the surface is as n-type as the body is p-type. Electrons fill the surface: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depletion layer holds negative ions; the gate must hold the same + charge. V_ox = Q_dep / C_ox: planar 11 mV, our GAA wire only 0.1 mV (tiny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V_T = −0.47 + 0.71 + 0.011 = 0.26 V (long-channel estimate). Atlas, our GAAFET: 0.204–0.209 V. Short-channel effects (DIBL) pull it a little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knobs that move threshold in this project. Work function and doping raise it; temperature, drain voltage and a thicker wire lower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in four steps. Gate-all-around brings m close to 1, which is why our devices are near 60 mV/dec.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in four steps. Gate-all-around brings m close to 1, which is why our devices are near 60 mV/dec.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in four steps. Gate-all-around brings m close to 1, which is why our devices are near 60 mV/dec.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in four steps. Gate-all-around brings m close to 1, which is why our devices are near 60 mV/dec.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 limit = (k T / q) ln 10, which rises 0.1984 mV/dec per kelvin. This links the electrical story to the heat story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 limit = (k T / q) ln 10, which rises 0.1984 mV/dec per kelvin. This links the electrical story to the heat story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 limit = (k T / q) ln 10, which rises 0.1984 mV/dec per kelvin. This links the electrical story to the heat story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Square-law model with V_G − V_T = 0.45 V and a small channel-length modulation, scaled to I_on = 30 µA at V_D = 0.7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Square-law model with V_G − V_T = 0.45 V and a small channel-length modulation, scaled to I_on = 30 µA at V_D = 0.7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Square-law model with V_G − V_T = 0.45 V and a small channel-length modulation, scaled to I_on = 30 µA at V_D = 0.7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Square-law model with V_G − V_T = 0.45 V and a small channel-length modulation, scaled to I_on = 30 µA at V_D = 0.7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Square-law model with V_G − V_T = 0.45 V and a small channel-length modulation, scaled to I_on = 30 µA at V_D = 0.7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what goes wrong when the gate gets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gate lengths over the generations, not to scale. Our device has L_g = 14 nm.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ΔV_T = −(1 V + V_D)·exp(−L_g / 2λ), planar λ = 4.37 nm, long-channel V_T = 0.25 V. DIBL is the V_T gap between the two drain voltages divided by 0.65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ΔV_T = −(1 V + V_D)·exp(−L_g / 2λ), planar λ = 4.37 nm, long-channel V_T = 0.25 V. DIBL is the V_T gap between the two drain voltages divided by 0.65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ΔV_T = −(1 V + V_D)·exp(−L_g / 2λ), planar λ = 4.37 nm, long-channel V_T = 0.25 V. DIBL is the V_T gap between the two drain voltages divided by 0.65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ΔV_T = −(1 V + V_D)·exp(−L_g / 2λ), planar λ = 4.37 nm, long-channel V_T = 0.25 V. DIBL is the V_T gap between the two drain voltages divided by 0.65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ΔV_T = −(1 V + V_D)·exp(−L_g / 2λ), planar λ = 4.37 nm, long-channel V_T = 0.25 V. DIBL is the V_T gap between the two drain voltages divided by 0.65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channel is short, the drain depletion region reaches toward the source. The drain voltage lowers the barrier the gate is supposed to set, and current leaks below the surface where the gate has little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8 nm silicon and 0.8 nm EOT for all four. EOT = 0.6 nm SiO2 + 1.1 nm HfO2 × 3.9/22 = 0.8 nm. Each extra gate side drains away the drain field, so it dies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8 nm silicon and 0.8 nm EOT for all four. EOT = 0.6 nm SiO2 + 1.1 nm HfO2 × 3.9/22 = 0.8 nm. Each extra gate side drains away the drain field, so it dies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8 nm silicon and 0.8 nm EOT for all four. EOT = 0.6 nm SiO2 + 1.1 nm HfO2 × 3.9/22 = 0.8 nm. Each extra gate side drains away the drain field, so it dies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8 nm silicon and 0.8 nm EOT for all four. EOT = 0.6 nm SiO2 + 1.1 nm HfO2 × 3.9/22 = 0.8 nm. Each extra gate side drains away the drain field, so it dies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wrap more gate around the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touches the channel from one side. Deep below, its field is weak, so at short L_g electrons leak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channel a thin, tall wall of silicon. Source and drain are the two ends of the fin (in and out of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now covers the left, top and right of the fin, like a saddle over a wall. The fin is thin, so no point is far from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Above V_T electrons gather on the top and both sides at once. Taller fin = more surface = more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 bottom sits in the substrate with no gate there: some leakage remains. Fix: cut the channel free from the substrate.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channel becomes a sheet hanging inside the gate. The gate surrounds it: top, bottom, left and right. No open side, no leakage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sheets under one gate: 3× the current in the same footprint, with the same gate control. This is the 3 nm-class transistor.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λ = √(3 · W_fin · 0.8 nm / 3); SCE = exp(−L_g / 2λ). Thinner fins help control but cost width and are hard to 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λ = √(3 · W_fin · 0.8 nm / 3); SCE = exp(−L_g / 2λ). Thinner fins help control but cost width and are hard to 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λ = √(3 · W_fin · 0.8 nm / 3); SCE = exp(−L_g / 2λ). Thinner fins help control but cost width and are hard to 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Weff is the perimeter the gate wraps: 2πr for a wire, 2(W+T) for a sheet, times the number of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Weff is the perimeter the gate wraps: 2πr for a wire, 2(W+T) for a sheet, times the number of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Weff is the perimeter the gate wraps: 2πr for a wire, 2(W+T) for a sheet, times the number of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Weff is the perimeter the gate wraps: 2πr for a wire, 2(W+T) for a sheet, times the number of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Alternate silicon (yellow) and SiGe (grey) layers, then etch them into one wide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temporary gate and nitride spacers mark where the real gate will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 ends are replaced by n+ silicon. They clamp the silicon sheets at both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selective etch removes only the SiGe. The silicon sheets now hang like bridges.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HfO2, then metal, fill every gap. Each sheet is wrapped on all four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Atlas, our reproduced GAAFET at V_D = 0.7 V. Dashed grey: the planar model at the same 14 nm gate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Atlas, our reproduced GAAFET at V_D = 0.7 V. Dashed grey: the planar model at the same 14 nm gate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Atlas, our reproduced GAAFET at V_D = 0.7 V. Dashed grey: the planar model at the same 14 nm gate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Atlas, our reproduced GAAFET at V_D = 0.7 V. Dashed grey: the planar model at the same 14 nm gate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Atlas, our reproduced GAAFET at V_D = 0.7 V. Dashed grey: the planar model at the same 14 nm gate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Atlas, our reproduced GAAFET at V_D = 0.7 V. Dashed grey: the planar model at the same 14 nm gate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λ model, same width, long-channel V_T = 0.35 V: SS = 59.5/(1 − 2e^(−L/2λ)), ΔV_T = 1.7·e^(−L/2λ). For learning, not Atlas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λ model, same width, long-channel V_T = 0.35 V: SS = 59.5/(1 − 2e^(−L/2λ)), ΔV_T = 1.7·e^(−L/2λ). For learning, not Atlas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λ model, same width, long-channel V_T = 0.35 V: SS = 59.5/(1 − 2e^(−L/2λ)), ΔV_T = 1.7·e^(−L/2λ). For learning, not Atlas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Lg over lambda for a 14 nm gate, for one to four gate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Constant-current method at 10 nA on the Atlas curves of the reproduced GAAFET.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Constant-current method at 10 nA on the Atlas curves of the reproduced GAAFET.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Constant-current method at 10 nA on the Atlas curves of the reproduced GAAFET.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Electrical results of our standard cylindrical GAAFET in Atlas, before any thermal tuning. Subthreshold swing is close to the 60 mV/dec limit and DIBL is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the price of gate-all-around is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through the channel makes Joule heat. In GAA the channel is surrounded by SiO2 and HfO2, which conduct heat ten to a hundred times worse than silicon, so the heat has no easy way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 flow behaves like current in a resistor network. The temperature rise equals thermal resistance times power. Each low-conductivity layer adds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electrons carry power P = I_D · V_D. That power must turn into heat somewhere.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 the drain the field is strongest. Fast electrons hit the silicon atoms there and the crystal vibrates: it heats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wire is wrapped in SiO₂ and HfO₂, which conduct heat 10–100× worse than silicon. Heat cannot get out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leaves through the drain, the gate metal and the contacts to 300 K. A harder path means a hotter channel: ΔT = R_th · 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point is one gate voltage of the V_D = 0.7 V Atlas sweep, plotted as temperature rise against dissipated power. At the on point R_th = 2.27 × 10⁶ K/W.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point is one gate voltage of the V_D = 0.7 V Atlas sweep, plotted as temperature rise against dissipated power. At the on point R_th = 2.27 × 10⁶ K/W.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point is one gate voltage of the V_D = 0.7 V Atlas sweep, plotted as temperature rise against dissipated power. At the on point R_th = 2.27 × 10⁶ K/W.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point is one gate voltage of the V_D = 0.7 V Atlas sweep, plotted as temperature rise against dissipated power. At the on point R_th = 2.27 × 10⁶ K/W.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point is one gate voltage of the V_D = 0.7 V Atlas sweep, plotted as temperature rise against dissipated power. At the on point R_th = 2.27 × 10⁶ K/W.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point is one gate voltage of the V_D = 0.7 V Atlas sweep, plotted as temperature rise against dissipated power. At the on point R_th = 2.27 × 10⁶ K/W.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Mobility follows roughly T to the minus 2. This is why the project lowers ΔT: a cooler channel keeps I_on, SS and I_off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Mobility follows roughly T to the minus 2. This is why the project lowers ΔT: a cooler channel keeps I_on, SS and I_off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Mobility follows roughly T to the minus 2. This is why the project lowers ΔT: a cooler channel keeps I_on, SS and I_off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about 0.57 V heat adds a little generation current; above it, mobility loss dominates and on-current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Transistors in a cell share the gate metal and the substrate. Heat from the active NMOS spreads into the PMOS next to it, even though the PMOS is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what others found, and how we simulate.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Chen is the base paper. Rathore and Cai show the substrate heat path, Kang shows that a metal contact around the source and drain lowers the thermal resistance, and Belkhiria shows that the work function sets the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the papers on five questions. Chen et al. is the only one about thermal crosstalk in GAA, our project title, with one clear number and every dimension and conductivity in its Table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6-track inverter with input 1, the NMOS is on and dissipates 30 microwatts. It heats itself by 64.8 K. The PMOS is off, but heat through the shared gate raises it by 22.4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two, three and four active devices the target heats by 7.5, 11.8 and 14.9 percent above ambient.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Geometry and thermal conductivity values from Table I of the base paper. We use the same gate length, oxide thickness and conductivities.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Rathore replaced the SiO2 buried oxide with diamond-like carbon and the peak lattice temperature fell from about 626 K to 442 K. Cai found that about 40 percent of the heat leaves through the substrate.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Kang et al. compare a top contact with a wrap-around contact in a three-wire GAA stack. Metal around the source and drain lowers the thermal resistance by about ten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Kang et al. compare a top contact with a wrap-around contact in a three-wire GAA stack. Metal around the source and drain lowers the thermal resistance by about ten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builds a standard device to check the deck. Stage 2 changes it until it heats like the base paper. Stage 3 uses the two levers from the literature to make it cooler.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write one Atlas input deck. It defines the mesh and regions, sets doping, chooses physical models, solves for voltage sweeps, and extracts the numbers in DeckBuild.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Solves for ψ everywhere: the energy hill under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Electrons drift and diffuse: current J_n. Same physics as the I_D–V_G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bit of current loses energy, H = J · E, most of it near the drain.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 equation spreads H through all regions; each material has its own 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Mobility falls as T rises → less current. The loop closes: Atlas repeats until it settles.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thermcontact on S, D, G at 300 K. α (W/cm²·K): larger α = easier exit = cooler.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Gummel could not converge the heat equation, and the fully coupled Newton ran out of memory. Block Newton with electrons only solves the heat equation separately and needs far less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we report is read from these two kinds of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we report is read from these two kinds of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build, reproduce, optimise.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4 nm radius silicon wire along z. Source, extensions, channel and drain are all part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thin SiO2 layer sits on the silicon under the gate. It gives a clean interface but conducts heat poorly: 1.4 W/m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HfO2 has a high dielectric constant (22), so the gate couples strongly to the channel. Its thermal conductivity is only 2.3 W/m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metal wraps the stack over the 14 nm gate. Silicon nitride spacers separate the gate from the source and drain extensions.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and drain are doped n plus, the extensions slightly less, the channel lightly p type. Source, drain and gate are heat contacts at 300 K with alpha 5000.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device switches with a subthreshold swing of 61.3 mV per decade, close to the 60 mV limit, and DIBL of 17.3 mV per volt.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peak lattice temperature is 603 K at 12.5 microwatts. Scaled to 30 microwatts this is a 727 K rise, eleven times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length, oxide thickness and conductivities already match. Two things do not: the channel shape and how easily heat leaves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 r squared equals 100 square nanometres, so r is 5.64 nm. All oxide and gate shells move out by the same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 r squared equals 100 square nanometres, so r is 5.64 nm. All oxide and gate shells move out by the same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Solving for the paper's R_th exactly gives α ≈ 63 500. We had already run 59 000, which is within 5 %, and kept it so all later designs compare on the same heat exit. The α = 5000 point here is for the r = 5.64 nm wire; the r = 4 nm template device gave 727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Solving for the paper's R_th exactly gives α ≈ 63 500. We had already run 59 000, which is within 5 %, and kept it so all later designs compare on the same heat exit. The α = 5000 point here is for the r = 5.64 nm wire; the r = 4 nm template device gave 727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Solving for the paper's R_th exactly gives α ≈ 63 500. We had already run 59 000, which is within 5 %, and kept it so all later designs compare on the same heat exit. The α = 5000 point here is for the r = 5.64 nm wire; the r = 4 nm template device gave 727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Atlas I-V curves of the reproduced device. The larger wire carries more current than the standard one and swings at 65.4 mV per decade.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its own on point the reproduced device reaches 343.6 K with 19.2 microwatts. Scaled to 30 microwatts that is 68.0 K, five percent above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looked for knobs that lower either factor without changing the device too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looked for knobs that lower either factor without changing the device too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looked for knobs that lower either factor without changing the device too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nitride spacers at 18 W/m K the heat must travel along the wire to the drain contact. A 60 W/m K spacer lets it move sideways into the gate metal, which is a heat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nitride spacers at 18 W/m K the heat must travel along the wire to the drain contact. A 60 W/m K spacer lets it move sideways into the gate metal, which is a heat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Raising the gate work function from 4.50 to 4.53 eV raises the threshold by about 30 mV. At the same gate voltage the device carries less current, so P falls, and so does the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Raising the gate work function from 4.50 to 4.53 eV raises the threshold by about 30 mV. At the same gate voltage the device carries less current, so P falls, and so does the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uses only the spacer, B only a larger work-function step of 4.55 eV, C both, and D the spacer with a smaller step of 4.53 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D stays below the reproduced device at every point and ends 7.2 K cooler, at 336.4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collects every number. The reproduced column matches the paper within 5 percent. The optimal column is cooler and leaks less, at a cost of 7.8 percent on-current.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columns are the simple scale-length model at a 14 nm gate with the same 8 nm silicon. The last three are Atlas results for our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7: what we gained,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Advantages: we match the base paper, we have a cooler device, and the method runs on a laptop. Limitations: our channel is a wire not a sheet, the substrate and wiring are lumped into one alpha, and we model one device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recap: short MOSFETs leak, GAA fixes that, GAA traps heat, we reproduced the heat of the base paper, and we lowered it with a better spacer and a small work-function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recap: short MOSFETs leak, GAA fixes that, GAA traps heat, we reproduced the heat of the base paper, and we lowered it with a better spacer and a small work-function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recap: short MOSFETs leak, GAA fixes that, GAA traps heat, we reproduced the heat of the base paper, and we lowered it with a better spacer and a small work-function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recap: short MOSFETs leak, GAA fixes that, GAA traps heat, we reproduced the heat of the base paper, and we lowered it with a better spacer and a small work-function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recap: short MOSFETs leak, GAA fixes that, GAA traps heat, we reproduced the heat of the base paper, and we lowered it with a better spacer and a small work-function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place a second device beside the calibrated one, measure the crosstalk coefficient and compare it with the paper's 34.6 percent, then sweep geometry and try a high-conductivity buried oxide.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references for the five papers and the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44168" cy="27432"/>
          </a:xfrm>
          <a:prstGeom prst="rect">
            <a:avLst/>
          </a:prstGeom>
          <a:solidFill>
            <a:srgbClr val="171A20"/>
          </a:solidFill>
          <a:ln w="12700">
            <a:solidFill>
              <a:srgbClr val="171A20"/>
            </a:solidFill>
            <a:prstDash val="solid"/>
          </a:ln>
        </p:spPr>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44168" cy="27432"/>
          </a:xfrm>
          <a:prstGeom prst="rect">
            <a:avLst/>
          </a:prstGeom>
          <a:solidFill>
            <a:srgbClr val="171A20"/>
          </a:solidFill>
          <a:ln w="12700">
            <a:solidFill>
              <a:srgbClr val="171A20"/>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1554480"/>
            <a:ext cx="7680960" cy="1554480"/>
          </a:xfrm>
          <a:prstGeom prst="rect">
            <a:avLst/>
          </a:prstGeom>
          <a:noFill/>
          <a:ln/>
        </p:spPr>
        <p:txBody>
          <a:bodyPr wrap="square" lIns="0" tIns="0" rIns="0" bIns="0" rtlCol="0" anchor="ctr"/>
          <a:lstStyle/>
          <a:p>
            <a:pPr algn="l" indent="0" marL="0">
              <a:buNone/>
            </a:pPr>
            <a:r>
              <a:rPr lang="en-US" sz="3200" dirty="0">
                <a:solidFill>
                  <a:srgbClr val="171A20"/>
                </a:solidFill>
                <a:latin typeface="Segoe UI" pitchFamily="34" charset="0"/>
                <a:ea typeface="Segoe UI" pitchFamily="34" charset="-122"/>
                <a:cs typeface="Segoe UI" pitchFamily="34" charset="-120"/>
              </a:rPr>
              <a:t>Self-Heating in a Cylindrical GAAFET:</a:t>
            </a:r>
            <a:endParaRPr lang="en-US" sz="3200" dirty="0"/>
          </a:p>
          <a:p>
            <a:pPr algn="l" indent="0" marL="0">
              <a:buNone/>
            </a:pPr>
            <a:r>
              <a:rPr lang="en-US" sz="3200" dirty="0">
                <a:solidFill>
                  <a:srgbClr val="171A20"/>
                </a:solidFill>
                <a:latin typeface="Segoe UI" pitchFamily="34" charset="0"/>
                <a:ea typeface="Segoe UI" pitchFamily="34" charset="-122"/>
                <a:cs typeface="Segoe UI" pitchFamily="34" charset="-120"/>
              </a:rPr>
              <a:t>from the MOSFET to a Cooler Device</a:t>
            </a:r>
            <a:endParaRPr lang="en-US" sz="3200" dirty="0"/>
          </a:p>
        </p:txBody>
      </p:sp>
      <p:sp>
        <p:nvSpPr>
          <p:cNvPr id="3" name="!!sub"/>
          <p:cNvSpPr txBox="1"/>
          <p:nvPr/>
        </p:nvSpPr>
        <p:spPr>
          <a:xfrm>
            <a:off x="566928" y="3337560"/>
            <a:ext cx="6949440" cy="640080"/>
          </a:xfrm>
          <a:prstGeom prst="rect">
            <a:avLst/>
          </a:prstGeom>
          <a:noFill/>
          <a:ln/>
        </p:spPr>
        <p:txBody>
          <a:bodyPr wrap="square" lIns="0" tIns="0" rIns="0" bIns="0" rtlCol="0" anchor="t"/>
          <a:lstStyle/>
          <a:p>
            <a:pPr algn="l" indent="0" marL="0">
              <a:buNone/>
            </a:pPr>
            <a:r>
              <a:rPr lang="en-US" sz="1500" dirty="0">
                <a:solidFill>
                  <a:srgbClr val="5C5E62"/>
                </a:solidFill>
                <a:latin typeface="Segoe UI" pitchFamily="34" charset="0"/>
                <a:ea typeface="Segoe UI" pitchFamily="34" charset="-122"/>
                <a:cs typeface="Segoe UI" pitchFamily="34" charset="-120"/>
              </a:rPr>
              <a:t>How every device parameter changes on the way from a planar MOSFET to a cooler gate-all-around transistor</a:t>
            </a:r>
            <a:endParaRPr lang="en-US" sz="1500" dirty="0"/>
          </a:p>
        </p:txBody>
      </p:sp>
      <p:sp>
        <p:nvSpPr>
          <p:cNvPr id="4" name="!!ringg"/>
          <p:cNvSpPr/>
          <p:nvPr/>
        </p:nvSpPr>
        <p:spPr>
          <a:xfrm>
            <a:off x="8273034" y="1323594"/>
            <a:ext cx="2839212" cy="2839212"/>
          </a:xfrm>
          <a:prstGeom prst="ellipse">
            <a:avLst/>
          </a:prstGeom>
          <a:solidFill>
            <a:srgbClr val="B3A6E6"/>
          </a:solidFill>
          <a:ln/>
        </p:spPr>
      </p:sp>
      <p:sp>
        <p:nvSpPr>
          <p:cNvPr id="5" name="!!ringh"/>
          <p:cNvSpPr/>
          <p:nvPr/>
        </p:nvSpPr>
        <p:spPr>
          <a:xfrm>
            <a:off x="8662111" y="1712671"/>
            <a:ext cx="2061058" cy="2061058"/>
          </a:xfrm>
          <a:prstGeom prst="ellipse">
            <a:avLst/>
          </a:prstGeom>
          <a:solidFill>
            <a:srgbClr val="8FCBE0"/>
          </a:solidFill>
          <a:ln/>
        </p:spPr>
      </p:sp>
      <p:sp>
        <p:nvSpPr>
          <p:cNvPr id="6" name="!!ringo"/>
          <p:cNvSpPr/>
          <p:nvPr/>
        </p:nvSpPr>
        <p:spPr>
          <a:xfrm>
            <a:off x="8788298" y="1838858"/>
            <a:ext cx="1808683" cy="1808683"/>
          </a:xfrm>
          <a:prstGeom prst="ellipse">
            <a:avLst/>
          </a:prstGeom>
          <a:solidFill>
            <a:srgbClr val="CDEBF5"/>
          </a:solidFill>
          <a:ln/>
        </p:spPr>
      </p:sp>
      <p:sp>
        <p:nvSpPr>
          <p:cNvPr id="7" name="!!rings"/>
          <p:cNvSpPr/>
          <p:nvPr/>
        </p:nvSpPr>
        <p:spPr>
          <a:xfrm>
            <a:off x="8914486" y="1965046"/>
            <a:ext cx="1556309" cy="1556309"/>
          </a:xfrm>
          <a:prstGeom prst="ellipse">
            <a:avLst/>
          </a:prstGeom>
          <a:solidFill>
            <a:srgbClr val="F6E7B8"/>
          </a:solidFill>
          <a:ln/>
        </p:spPr>
      </p:sp>
      <p:sp>
        <p:nvSpPr>
          <p:cNvPr id="8" name="Text 6"/>
          <p:cNvSpPr txBox="1"/>
          <p:nvPr/>
        </p:nvSpPr>
        <p:spPr>
          <a:xfrm>
            <a:off x="8321040" y="4343400"/>
            <a:ext cx="2743200" cy="274320"/>
          </a:xfrm>
          <a:prstGeom prst="rect">
            <a:avLst/>
          </a:prstGeom>
          <a:noFill/>
          <a:ln/>
        </p:spPr>
        <p:txBody>
          <a:bodyPr wrap="square" lIns="0" tIns="0" rIns="0" bIns="0" rtlCol="0" anchor="t"/>
          <a:lstStyle/>
          <a:p>
            <a:pPr algn="ctr" indent="0" marL="0">
              <a:buNone/>
            </a:pPr>
            <a:r>
              <a:rPr lang="en-US" sz="1000" dirty="0">
                <a:solidFill>
                  <a:srgbClr val="8A8D93"/>
                </a:solidFill>
                <a:latin typeface="Segoe UI" pitchFamily="34" charset="0"/>
                <a:ea typeface="Segoe UI" pitchFamily="34" charset="-122"/>
                <a:cs typeface="Segoe UI" pitchFamily="34" charset="-120"/>
              </a:rPr>
              <a:t>cylindrical GAAFET cross-section</a:t>
            </a:r>
            <a:endParaRPr lang="en-US" sz="1000" dirty="0"/>
          </a:p>
        </p:txBody>
      </p:sp>
      <p:sp>
        <p:nvSpPr>
          <p:cNvPr id="9" name="Shape 7"/>
          <p:cNvSpPr/>
          <p:nvPr/>
        </p:nvSpPr>
        <p:spPr>
          <a:xfrm>
            <a:off x="548640" y="4892040"/>
            <a:ext cx="11091672" cy="91"/>
          </a:xfrm>
          <a:prstGeom prst="line">
            <a:avLst/>
          </a:prstGeom>
          <a:noFill/>
          <a:ln w="9525">
            <a:solidFill>
              <a:srgbClr val="E2E3E3"/>
            </a:solidFill>
            <a:prstDash val="solid"/>
          </a:ln>
        </p:spPr>
      </p:sp>
      <p:sp>
        <p:nvSpPr>
          <p:cNvPr id="10" name="Text 8"/>
          <p:cNvSpPr txBox="1"/>
          <p:nvPr/>
        </p:nvSpPr>
        <p:spPr>
          <a:xfrm>
            <a:off x="548640" y="5074920"/>
            <a:ext cx="3291840" cy="292608"/>
          </a:xfrm>
          <a:prstGeom prst="rect">
            <a:avLst/>
          </a:prstGeom>
          <a:noFill/>
          <a:ln/>
        </p:spPr>
        <p:txBody>
          <a:bodyPr wrap="square" lIns="0" tIns="0" rIns="0" bIns="0" rtlCol="0" anchor="t"/>
          <a:lstStyle/>
          <a:p>
            <a:pPr algn="l" indent="0" marL="0">
              <a:buNone/>
            </a:pPr>
            <a:r>
              <a:rPr lang="en-US" sz="1700" dirty="0">
                <a:solidFill>
                  <a:srgbClr val="171A20"/>
                </a:solidFill>
                <a:latin typeface="Segoe UI" pitchFamily="34" charset="0"/>
                <a:ea typeface="Segoe UI" pitchFamily="34" charset="-122"/>
                <a:cs typeface="Segoe UI" pitchFamily="34" charset="-120"/>
              </a:rPr>
              <a:t>Nithyanand B</a:t>
            </a:r>
            <a:endParaRPr lang="en-US" sz="1700" dirty="0"/>
          </a:p>
        </p:txBody>
      </p:sp>
      <p:sp>
        <p:nvSpPr>
          <p:cNvPr id="11" name="Text 9"/>
          <p:cNvSpPr txBox="1"/>
          <p:nvPr/>
        </p:nvSpPr>
        <p:spPr>
          <a:xfrm>
            <a:off x="548640" y="5376672"/>
            <a:ext cx="3291840" cy="256032"/>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CB.EN.P2VLD26021</a:t>
            </a:r>
            <a:endParaRPr lang="en-US" sz="1200" dirty="0"/>
          </a:p>
        </p:txBody>
      </p:sp>
      <p:sp>
        <p:nvSpPr>
          <p:cNvPr id="12" name="Text 10"/>
          <p:cNvSpPr txBox="1"/>
          <p:nvPr/>
        </p:nvSpPr>
        <p:spPr>
          <a:xfrm>
            <a:off x="4206240" y="5074920"/>
            <a:ext cx="3291840" cy="292608"/>
          </a:xfrm>
          <a:prstGeom prst="rect">
            <a:avLst/>
          </a:prstGeom>
          <a:noFill/>
          <a:ln/>
        </p:spPr>
        <p:txBody>
          <a:bodyPr wrap="square" lIns="0" tIns="0" rIns="0" bIns="0" rtlCol="0" anchor="t"/>
          <a:lstStyle/>
          <a:p>
            <a:pPr algn="l" indent="0" marL="0">
              <a:buNone/>
            </a:pPr>
            <a:r>
              <a:rPr lang="en-US" sz="1700" dirty="0">
                <a:solidFill>
                  <a:srgbClr val="171A20"/>
                </a:solidFill>
                <a:latin typeface="Segoe UI" pitchFamily="34" charset="0"/>
                <a:ea typeface="Segoe UI" pitchFamily="34" charset="-122"/>
                <a:cs typeface="Segoe UI" pitchFamily="34" charset="-120"/>
              </a:rPr>
              <a:t>Priyadharshini K</a:t>
            </a:r>
            <a:endParaRPr lang="en-US" sz="1700" dirty="0"/>
          </a:p>
        </p:txBody>
      </p:sp>
      <p:sp>
        <p:nvSpPr>
          <p:cNvPr id="13" name="Text 11"/>
          <p:cNvSpPr txBox="1"/>
          <p:nvPr/>
        </p:nvSpPr>
        <p:spPr>
          <a:xfrm>
            <a:off x="4206240" y="5376672"/>
            <a:ext cx="3291840" cy="256032"/>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CB.EN.P2VLD26025</a:t>
            </a:r>
            <a:endParaRPr lang="en-US" sz="1200" dirty="0"/>
          </a:p>
        </p:txBody>
      </p:sp>
      <p:sp>
        <p:nvSpPr>
          <p:cNvPr id="14" name="Text 12"/>
          <p:cNvSpPr txBox="1"/>
          <p:nvPr/>
        </p:nvSpPr>
        <p:spPr>
          <a:xfrm>
            <a:off x="7863840" y="5074920"/>
            <a:ext cx="3291840" cy="292608"/>
          </a:xfrm>
          <a:prstGeom prst="rect">
            <a:avLst/>
          </a:prstGeom>
          <a:noFill/>
          <a:ln/>
        </p:spPr>
        <p:txBody>
          <a:bodyPr wrap="square" lIns="0" tIns="0" rIns="0" bIns="0" rtlCol="0" anchor="t"/>
          <a:lstStyle/>
          <a:p>
            <a:pPr algn="l" indent="0" marL="0">
              <a:buNone/>
            </a:pPr>
            <a:r>
              <a:rPr lang="en-US" sz="1700" dirty="0">
                <a:solidFill>
                  <a:srgbClr val="171A20"/>
                </a:solidFill>
                <a:latin typeface="Segoe UI" pitchFamily="34" charset="0"/>
                <a:ea typeface="Segoe UI" pitchFamily="34" charset="-122"/>
                <a:cs typeface="Segoe UI" pitchFamily="34" charset="-120"/>
              </a:rPr>
              <a:t>Sivaprakash R</a:t>
            </a:r>
            <a:endParaRPr lang="en-US" sz="1700" dirty="0"/>
          </a:p>
        </p:txBody>
      </p:sp>
      <p:sp>
        <p:nvSpPr>
          <p:cNvPr id="15" name="Text 13"/>
          <p:cNvSpPr txBox="1"/>
          <p:nvPr/>
        </p:nvSpPr>
        <p:spPr>
          <a:xfrm>
            <a:off x="7863840" y="5376672"/>
            <a:ext cx="3291840" cy="256032"/>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CB.EN.P2VLD26027</a:t>
            </a:r>
            <a:endParaRPr lang="en-US" sz="1200" dirty="0"/>
          </a:p>
        </p:txBody>
      </p:sp>
      <p:sp>
        <p:nvSpPr>
          <p:cNvPr id="16" name="Text 14"/>
          <p:cNvSpPr txBox="1"/>
          <p:nvPr/>
        </p:nvSpPr>
        <p:spPr>
          <a:xfrm>
            <a:off x="548640" y="5943600"/>
            <a:ext cx="8229600" cy="274320"/>
          </a:xfrm>
          <a:prstGeom prst="rect">
            <a:avLst/>
          </a:prstGeom>
          <a:noFill/>
          <a:ln/>
        </p:spPr>
        <p:txBody>
          <a:bodyPr wrap="square" lIns="0" tIns="0" rIns="0" bIns="0" rtlCol="0" anchor="t"/>
          <a:lstStyle/>
          <a:p>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M.Tech VLSI Design  ·  Analog VLSI and Device Modelling Lab (25VL681)</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Abstract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In one line: we follow a transistor from planar to gate-all-around, then make it run 16 % cooler</a:t>
            </a:r>
            <a:endParaRPr lang="en-US" sz="1600" dirty="0"/>
          </a:p>
        </p:txBody>
      </p:sp>
      <p:sp>
        <p:nvSpPr>
          <p:cNvPr id="4" name="Text 2"/>
          <p:cNvSpPr txBox="1"/>
          <p:nvPr/>
        </p:nvSpPr>
        <p:spPr>
          <a:xfrm>
            <a:off x="548640" y="1463040"/>
            <a:ext cx="5120640" cy="256032"/>
          </a:xfrm>
          <a:prstGeom prst="rect">
            <a:avLst/>
          </a:prstGeom>
          <a:noFill/>
          <a:ln/>
        </p:spPr>
        <p:txBody>
          <a:bodyPr wrap="square" lIns="0" tIns="0" rIns="0" bIns="0" rtlCol="0" anchor="t"/>
          <a:lstStyle/>
          <a:p>
            <a:pPr algn="l" indent="0" marL="0">
              <a:buNone/>
            </a:pPr>
            <a:r>
              <a:rPr lang="en-US" sz="1400" dirty="0">
                <a:solidFill>
                  <a:srgbClr val="D64545"/>
                </a:solidFill>
                <a:latin typeface="Segoe UI Semibold" pitchFamily="34" charset="0"/>
                <a:ea typeface="Segoe UI Semibold" pitchFamily="34" charset="-122"/>
                <a:cs typeface="Segoe UI Semibold" pitchFamily="34" charset="-120"/>
              </a:rPr>
              <a:t>Problem</a:t>
            </a:r>
            <a:endParaRPr lang="en-US" sz="1400" dirty="0"/>
          </a:p>
        </p:txBody>
      </p:sp>
      <p:sp>
        <p:nvSpPr>
          <p:cNvPr id="5" name="Text 3"/>
          <p:cNvSpPr txBox="1"/>
          <p:nvPr/>
        </p:nvSpPr>
        <p:spPr>
          <a:xfrm>
            <a:off x="548640" y="1719072"/>
            <a:ext cx="5303520" cy="384048"/>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Short planar MOSFETs leak: the drain, not the gate, starts to control the channel.</a:t>
            </a:r>
            <a:endParaRPr lang="en-US" sz="1200" dirty="0"/>
          </a:p>
        </p:txBody>
      </p:sp>
      <p:sp>
        <p:nvSpPr>
          <p:cNvPr id="6" name="Text 4"/>
          <p:cNvSpPr txBox="1"/>
          <p:nvPr/>
        </p:nvSpPr>
        <p:spPr>
          <a:xfrm>
            <a:off x="548640" y="2148840"/>
            <a:ext cx="5120640" cy="256032"/>
          </a:xfrm>
          <a:prstGeom prst="rect">
            <a:avLst/>
          </a:prstGeom>
          <a:noFill/>
          <a:ln/>
        </p:spPr>
        <p:txBody>
          <a:bodyPr wrap="square" lIns="0" tIns="0" rIns="0" bIns="0" rtlCol="0" anchor="t"/>
          <a:lstStyle/>
          <a:p>
            <a:pPr algn="l" indent="0" marL="0">
              <a:buNone/>
            </a:pPr>
            <a:r>
              <a:rPr lang="en-US" sz="1400" dirty="0">
                <a:solidFill>
                  <a:srgbClr val="3E6AE1"/>
                </a:solidFill>
                <a:latin typeface="Segoe UI Semibold" pitchFamily="34" charset="0"/>
                <a:ea typeface="Segoe UI Semibold" pitchFamily="34" charset="-122"/>
                <a:cs typeface="Segoe UI Semibold" pitchFamily="34" charset="-120"/>
              </a:rPr>
              <a:t>Industry fix</a:t>
            </a:r>
            <a:endParaRPr lang="en-US" sz="1400" dirty="0"/>
          </a:p>
        </p:txBody>
      </p:sp>
      <p:sp>
        <p:nvSpPr>
          <p:cNvPr id="7" name="Text 5"/>
          <p:cNvSpPr txBox="1"/>
          <p:nvPr/>
        </p:nvSpPr>
        <p:spPr>
          <a:xfrm>
            <a:off x="548640" y="2404872"/>
            <a:ext cx="5303520" cy="384048"/>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Wrap the gate around the channel: planar → FinFET → gate-all-around (GAA).</a:t>
            </a:r>
            <a:endParaRPr lang="en-US" sz="1200" dirty="0"/>
          </a:p>
        </p:txBody>
      </p:sp>
      <p:sp>
        <p:nvSpPr>
          <p:cNvPr id="8" name="Text 6"/>
          <p:cNvSpPr txBox="1"/>
          <p:nvPr/>
        </p:nvSpPr>
        <p:spPr>
          <a:xfrm>
            <a:off x="548640" y="2834640"/>
            <a:ext cx="5120640" cy="256032"/>
          </a:xfrm>
          <a:prstGeom prst="rect">
            <a:avLst/>
          </a:prstGeom>
          <a:noFill/>
          <a:ln/>
        </p:spPr>
        <p:txBody>
          <a:bodyPr wrap="square" lIns="0" tIns="0" rIns="0" bIns="0" rtlCol="0" anchor="t"/>
          <a:lstStyle/>
          <a:p>
            <a:pPr algn="l" indent="0" marL="0">
              <a:buNone/>
            </a:pPr>
            <a:r>
              <a:rPr lang="en-US" sz="1400" dirty="0">
                <a:solidFill>
                  <a:srgbClr val="E07B00"/>
                </a:solidFill>
                <a:latin typeface="Segoe UI Semibold" pitchFamily="34" charset="0"/>
                <a:ea typeface="Segoe UI Semibold" pitchFamily="34" charset="-122"/>
                <a:cs typeface="Segoe UI Semibold" pitchFamily="34" charset="-120"/>
              </a:rPr>
              <a:t>New problem</a:t>
            </a:r>
            <a:endParaRPr lang="en-US" sz="1400" dirty="0"/>
          </a:p>
        </p:txBody>
      </p:sp>
      <p:sp>
        <p:nvSpPr>
          <p:cNvPr id="9" name="Text 7"/>
          <p:cNvSpPr txBox="1"/>
          <p:nvPr/>
        </p:nvSpPr>
        <p:spPr>
          <a:xfrm>
            <a:off x="548640" y="3090672"/>
            <a:ext cx="5303520" cy="384048"/>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The oxide wrapped around the channel conducts heat 10–100× worse than silicon.</a:t>
            </a:r>
            <a:endParaRPr lang="en-US" sz="1200" dirty="0"/>
          </a:p>
        </p:txBody>
      </p:sp>
      <p:sp>
        <p:nvSpPr>
          <p:cNvPr id="10" name="Text 8"/>
          <p:cNvSpPr txBox="1"/>
          <p:nvPr/>
        </p:nvSpPr>
        <p:spPr>
          <a:xfrm>
            <a:off x="548640" y="3520440"/>
            <a:ext cx="5120640" cy="256032"/>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Base paper</a:t>
            </a:r>
            <a:endParaRPr lang="en-US" sz="1400" dirty="0"/>
          </a:p>
        </p:txBody>
      </p:sp>
      <p:sp>
        <p:nvSpPr>
          <p:cNvPr id="11" name="Text 9"/>
          <p:cNvSpPr txBox="1"/>
          <p:nvPr/>
        </p:nvSpPr>
        <p:spPr>
          <a:xfrm>
            <a:off x="548640" y="3776472"/>
            <a:ext cx="5303520" cy="384048"/>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Chen et al., IEEE EDTM 2025: a 3-nm GAA NMOS heats by 64.8 K at 30 µW.</a:t>
            </a:r>
            <a:endParaRPr lang="en-US" sz="1200" dirty="0"/>
          </a:p>
        </p:txBody>
      </p:sp>
      <p:sp>
        <p:nvSpPr>
          <p:cNvPr id="12" name="Text 10"/>
          <p:cNvSpPr txBox="1"/>
          <p:nvPr/>
        </p:nvSpPr>
        <p:spPr>
          <a:xfrm>
            <a:off x="548640" y="4206240"/>
            <a:ext cx="5120640" cy="256032"/>
          </a:xfrm>
          <a:prstGeom prst="rect">
            <a:avLst/>
          </a:prstGeom>
          <a:noFill/>
          <a:ln/>
        </p:spPr>
        <p:txBody>
          <a:bodyPr wrap="square" lIns="0" tIns="0" rIns="0" bIns="0" rtlCol="0" anchor="t"/>
          <a:lstStyle/>
          <a:p>
            <a:pPr algn="l" indent="0" marL="0">
              <a:buNone/>
            </a:pPr>
            <a:r>
              <a:rPr lang="en-US" sz="1400" dirty="0">
                <a:solidFill>
                  <a:srgbClr val="11998E"/>
                </a:solidFill>
                <a:latin typeface="Segoe UI Semibold" pitchFamily="34" charset="0"/>
                <a:ea typeface="Segoe UI Semibold" pitchFamily="34" charset="-122"/>
                <a:cs typeface="Segoe UI Semibold" pitchFamily="34" charset="-120"/>
              </a:rPr>
              <a:t>What we did</a:t>
            </a:r>
            <a:endParaRPr lang="en-US" sz="1400" dirty="0"/>
          </a:p>
        </p:txBody>
      </p:sp>
      <p:sp>
        <p:nvSpPr>
          <p:cNvPr id="13" name="Text 11"/>
          <p:cNvSpPr txBox="1"/>
          <p:nvPr/>
        </p:nvSpPr>
        <p:spPr>
          <a:xfrm>
            <a:off x="548640" y="4462272"/>
            <a:ext cx="5303520" cy="384048"/>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Built a cylindrical GAAFET in Silvaco Atlas 3D, matched the paper, tried four cooler designs.</a:t>
            </a:r>
            <a:endParaRPr lang="en-US" sz="1200" dirty="0"/>
          </a:p>
        </p:txBody>
      </p:sp>
      <p:sp>
        <p:nvSpPr>
          <p:cNvPr id="14" name="Text 12"/>
          <p:cNvSpPr txBox="1"/>
          <p:nvPr/>
        </p:nvSpPr>
        <p:spPr>
          <a:xfrm>
            <a:off x="548640" y="4892040"/>
            <a:ext cx="5120640" cy="256032"/>
          </a:xfrm>
          <a:prstGeom prst="rect">
            <a:avLst/>
          </a:prstGeom>
          <a:noFill/>
          <a:ln/>
        </p:spPr>
        <p:txBody>
          <a:bodyPr wrap="square" lIns="0" tIns="0" rIns="0" bIns="0" rtlCol="0" anchor="t"/>
          <a:lstStyle/>
          <a:p>
            <a:pPr algn="l" indent="0" marL="0">
              <a:buNone/>
            </a:pPr>
            <a:r>
              <a:rPr lang="en-US" sz="1400" dirty="0">
                <a:solidFill>
                  <a:srgbClr val="2E9E4F"/>
                </a:solidFill>
                <a:latin typeface="Segoe UI Semibold" pitchFamily="34" charset="0"/>
                <a:ea typeface="Segoe UI Semibold" pitchFamily="34" charset="-122"/>
                <a:cs typeface="Segoe UI Semibold" pitchFamily="34" charset="-120"/>
              </a:rPr>
              <a:t>Result</a:t>
            </a:r>
            <a:endParaRPr lang="en-US" sz="1400" dirty="0"/>
          </a:p>
        </p:txBody>
      </p:sp>
      <p:sp>
        <p:nvSpPr>
          <p:cNvPr id="15" name="Text 13"/>
          <p:cNvSpPr txBox="1"/>
          <p:nvPr/>
        </p:nvSpPr>
        <p:spPr>
          <a:xfrm>
            <a:off x="548640" y="5148072"/>
            <a:ext cx="5303520" cy="384048"/>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68.0 K vs 64.8 K (+5 %). Design D: 16.4 % cooler, 2.5× less leakage, −7.8 % on-current.</a:t>
            </a:r>
            <a:endParaRPr lang="en-US" sz="1200" dirty="0"/>
          </a:p>
        </p:txBody>
      </p:sp>
      <p:sp>
        <p:nvSpPr>
          <p:cNvPr id="16" name="Shape 14"/>
          <p:cNvSpPr/>
          <p:nvPr/>
        </p:nvSpPr>
        <p:spPr>
          <a:xfrm>
            <a:off x="6400800" y="1417320"/>
            <a:ext cx="5239512" cy="4160520"/>
          </a:xfrm>
          <a:prstGeom prst="roundRect">
            <a:avLst>
              <a:gd name="adj" fmla="val 1319"/>
            </a:avLst>
          </a:prstGeom>
          <a:solidFill>
            <a:srgbClr val="F4F5F7"/>
          </a:solidFill>
          <a:ln/>
        </p:spPr>
      </p:sp>
      <p:sp>
        <p:nvSpPr>
          <p:cNvPr id="17" name="Text 15"/>
          <p:cNvSpPr txBox="1"/>
          <p:nvPr/>
        </p:nvSpPr>
        <p:spPr>
          <a:xfrm>
            <a:off x="6675120" y="1554480"/>
            <a:ext cx="4572000" cy="274320"/>
          </a:xfrm>
          <a:prstGeom prst="rect">
            <a:avLst/>
          </a:prstGeom>
          <a:noFill/>
          <a:ln/>
        </p:spPr>
        <p:txBody>
          <a:bodyPr wrap="square" lIns="0" tIns="0" rIns="0" bIns="0" rtlCol="0" anchor="t"/>
          <a:lstStyle/>
          <a:p>
            <a:pPr algn="l" indent="0" marL="0">
              <a:buNone/>
            </a:pPr>
            <a:r>
              <a:rPr lang="en-US" sz="1300" dirty="0">
                <a:solidFill>
                  <a:srgbClr val="5C5E62"/>
                </a:solidFill>
                <a:latin typeface="Segoe UI Semibold" pitchFamily="34" charset="0"/>
                <a:ea typeface="Segoe UI Semibold" pitchFamily="34" charset="-122"/>
                <a:cs typeface="Segoe UI Semibold" pitchFamily="34" charset="-120"/>
              </a:rPr>
              <a:t>The journey in six steps</a:t>
            </a:r>
            <a:endParaRPr lang="en-US" sz="1300" dirty="0"/>
          </a:p>
        </p:txBody>
      </p:sp>
      <p:sp>
        <p:nvSpPr>
          <p:cNvPr id="18" name="Shape 16"/>
          <p:cNvSpPr/>
          <p:nvPr/>
        </p:nvSpPr>
        <p:spPr>
          <a:xfrm>
            <a:off x="6967728" y="2231136"/>
            <a:ext cx="91" cy="356616"/>
          </a:xfrm>
          <a:prstGeom prst="line">
            <a:avLst/>
          </a:prstGeom>
          <a:noFill/>
          <a:ln w="25400">
            <a:solidFill>
              <a:srgbClr val="E2E3E3"/>
            </a:solidFill>
            <a:prstDash val="solid"/>
          </a:ln>
        </p:spPr>
      </p:sp>
      <p:sp>
        <p:nvSpPr>
          <p:cNvPr id="19" name="Shape 17"/>
          <p:cNvSpPr/>
          <p:nvPr/>
        </p:nvSpPr>
        <p:spPr>
          <a:xfrm>
            <a:off x="6784848" y="1938528"/>
            <a:ext cx="365760" cy="365760"/>
          </a:xfrm>
          <a:prstGeom prst="ellipse">
            <a:avLst/>
          </a:prstGeom>
          <a:solidFill>
            <a:srgbClr val="D64545"/>
          </a:solidFill>
          <a:ln/>
        </p:spPr>
      </p:sp>
      <p:sp>
        <p:nvSpPr>
          <p:cNvPr id="20" name="Text 18"/>
          <p:cNvSpPr txBox="1"/>
          <p:nvPr/>
        </p:nvSpPr>
        <p:spPr>
          <a:xfrm>
            <a:off x="6784848" y="1938528"/>
            <a:ext cx="3657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1" name="Text 19"/>
          <p:cNvSpPr txBox="1"/>
          <p:nvPr/>
        </p:nvSpPr>
        <p:spPr>
          <a:xfrm>
            <a:off x="7315200" y="1975104"/>
            <a:ext cx="1463040" cy="292608"/>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MOSFET</a:t>
            </a:r>
            <a:endParaRPr lang="en-US" sz="1500" dirty="0"/>
          </a:p>
        </p:txBody>
      </p:sp>
      <p:sp>
        <p:nvSpPr>
          <p:cNvPr id="22" name="Text 20"/>
          <p:cNvSpPr txBox="1"/>
          <p:nvPr/>
        </p:nvSpPr>
        <p:spPr>
          <a:xfrm>
            <a:off x="8778240" y="1993392"/>
            <a:ext cx="13716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leaks</a:t>
            </a:r>
            <a:endParaRPr lang="en-US" sz="1200" dirty="0"/>
          </a:p>
        </p:txBody>
      </p:sp>
      <p:sp>
        <p:nvSpPr>
          <p:cNvPr id="23" name="Text 21"/>
          <p:cNvSpPr txBox="1"/>
          <p:nvPr/>
        </p:nvSpPr>
        <p:spPr>
          <a:xfrm>
            <a:off x="9966960" y="1993392"/>
            <a:ext cx="1554480" cy="274320"/>
          </a:xfrm>
          <a:prstGeom prst="rect">
            <a:avLst/>
          </a:prstGeom>
          <a:noFill/>
          <a:ln/>
        </p:spPr>
        <p:txBody>
          <a:bodyPr wrap="square" lIns="0" tIns="0" rIns="0" bIns="0" rtlCol="0" anchor="t"/>
          <a:lstStyle/>
          <a:p>
            <a:pPr algn="r" indent="0" marL="0">
              <a:buNone/>
            </a:pPr>
            <a:r>
              <a:rPr lang="en-US" sz="1200" dirty="0">
                <a:solidFill>
                  <a:srgbClr val="D64545"/>
                </a:solidFill>
                <a:latin typeface="Segoe UI Semibold" pitchFamily="34" charset="0"/>
                <a:ea typeface="Segoe UI Semibold" pitchFamily="34" charset="-122"/>
                <a:cs typeface="Segoe UI Semibold" pitchFamily="34" charset="-120"/>
              </a:rPr>
              <a:t>DIBL 202 mV/V</a:t>
            </a:r>
            <a:endParaRPr lang="en-US" sz="1200" dirty="0"/>
          </a:p>
        </p:txBody>
      </p:sp>
      <p:sp>
        <p:nvSpPr>
          <p:cNvPr id="24" name="Shape 22"/>
          <p:cNvSpPr/>
          <p:nvPr/>
        </p:nvSpPr>
        <p:spPr>
          <a:xfrm>
            <a:off x="6967728" y="2807208"/>
            <a:ext cx="91" cy="356616"/>
          </a:xfrm>
          <a:prstGeom prst="line">
            <a:avLst/>
          </a:prstGeom>
          <a:noFill/>
          <a:ln w="25400">
            <a:solidFill>
              <a:srgbClr val="E2E3E3"/>
            </a:solidFill>
            <a:prstDash val="solid"/>
          </a:ln>
        </p:spPr>
      </p:sp>
      <p:sp>
        <p:nvSpPr>
          <p:cNvPr id="25" name="Shape 23"/>
          <p:cNvSpPr/>
          <p:nvPr/>
        </p:nvSpPr>
        <p:spPr>
          <a:xfrm>
            <a:off x="6784848" y="2514600"/>
            <a:ext cx="365760" cy="365760"/>
          </a:xfrm>
          <a:prstGeom prst="ellipse">
            <a:avLst/>
          </a:prstGeom>
          <a:solidFill>
            <a:srgbClr val="3E6AE1"/>
          </a:solidFill>
          <a:ln/>
        </p:spPr>
      </p:sp>
      <p:sp>
        <p:nvSpPr>
          <p:cNvPr id="26" name="Text 24"/>
          <p:cNvSpPr txBox="1"/>
          <p:nvPr/>
        </p:nvSpPr>
        <p:spPr>
          <a:xfrm>
            <a:off x="6784848" y="2514600"/>
            <a:ext cx="3657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7" name="Text 25"/>
          <p:cNvSpPr txBox="1"/>
          <p:nvPr/>
        </p:nvSpPr>
        <p:spPr>
          <a:xfrm>
            <a:off x="7315200" y="2551176"/>
            <a:ext cx="1463040" cy="292608"/>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FinFET</a:t>
            </a:r>
            <a:endParaRPr lang="en-US" sz="1500" dirty="0"/>
          </a:p>
        </p:txBody>
      </p:sp>
      <p:sp>
        <p:nvSpPr>
          <p:cNvPr id="28" name="Text 26"/>
          <p:cNvSpPr txBox="1"/>
          <p:nvPr/>
        </p:nvSpPr>
        <p:spPr>
          <a:xfrm>
            <a:off x="8778240" y="2569464"/>
            <a:ext cx="13716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3 sides</a:t>
            </a:r>
            <a:endParaRPr lang="en-US" sz="1200" dirty="0"/>
          </a:p>
        </p:txBody>
      </p:sp>
      <p:sp>
        <p:nvSpPr>
          <p:cNvPr id="29" name="Text 27"/>
          <p:cNvSpPr txBox="1"/>
          <p:nvPr/>
        </p:nvSpPr>
        <p:spPr>
          <a:xfrm>
            <a:off x="9966960" y="2569464"/>
            <a:ext cx="1554480" cy="274320"/>
          </a:xfrm>
          <a:prstGeom prst="rect">
            <a:avLst/>
          </a:prstGeom>
          <a:noFill/>
          <a:ln/>
        </p:spPr>
        <p:txBody>
          <a:bodyPr wrap="square" lIns="0" tIns="0" rIns="0" bIns="0" rtlCol="0" anchor="t"/>
          <a:lstStyle/>
          <a:p>
            <a:pPr algn="r" indent="0" marL="0">
              <a:buNone/>
            </a:pPr>
            <a:r>
              <a:rPr lang="en-US" sz="1200" dirty="0">
                <a:solidFill>
                  <a:srgbClr val="3E6AE1"/>
                </a:solidFill>
                <a:latin typeface="Segoe UI Semibold" pitchFamily="34" charset="0"/>
                <a:ea typeface="Segoe UI Semibold" pitchFamily="34" charset="-122"/>
                <a:cs typeface="Segoe UI Semibold" pitchFamily="34" charset="-120"/>
              </a:rPr>
              <a:t>DIBL 62 mV/V</a:t>
            </a:r>
            <a:endParaRPr lang="en-US" sz="1200" dirty="0"/>
          </a:p>
        </p:txBody>
      </p:sp>
      <p:sp>
        <p:nvSpPr>
          <p:cNvPr id="30" name="Shape 28"/>
          <p:cNvSpPr/>
          <p:nvPr/>
        </p:nvSpPr>
        <p:spPr>
          <a:xfrm>
            <a:off x="6967728" y="3383280"/>
            <a:ext cx="91" cy="356616"/>
          </a:xfrm>
          <a:prstGeom prst="line">
            <a:avLst/>
          </a:prstGeom>
          <a:noFill/>
          <a:ln w="25400">
            <a:solidFill>
              <a:srgbClr val="E2E3E3"/>
            </a:solidFill>
            <a:prstDash val="solid"/>
          </a:ln>
        </p:spPr>
      </p:sp>
      <p:sp>
        <p:nvSpPr>
          <p:cNvPr id="31" name="Shape 29"/>
          <p:cNvSpPr/>
          <p:nvPr/>
        </p:nvSpPr>
        <p:spPr>
          <a:xfrm>
            <a:off x="6784848" y="3090672"/>
            <a:ext cx="365760" cy="365760"/>
          </a:xfrm>
          <a:prstGeom prst="ellipse">
            <a:avLst/>
          </a:prstGeom>
          <a:solidFill>
            <a:srgbClr val="3E6AE1"/>
          </a:solidFill>
          <a:ln/>
        </p:spPr>
      </p:sp>
      <p:sp>
        <p:nvSpPr>
          <p:cNvPr id="32" name="Text 30"/>
          <p:cNvSpPr txBox="1"/>
          <p:nvPr/>
        </p:nvSpPr>
        <p:spPr>
          <a:xfrm>
            <a:off x="6784848" y="3090672"/>
            <a:ext cx="3657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Text 31"/>
          <p:cNvSpPr txBox="1"/>
          <p:nvPr/>
        </p:nvSpPr>
        <p:spPr>
          <a:xfrm>
            <a:off x="7315200" y="3127248"/>
            <a:ext cx="1463040" cy="292608"/>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GAAFET</a:t>
            </a:r>
            <a:endParaRPr lang="en-US" sz="1500" dirty="0"/>
          </a:p>
        </p:txBody>
      </p:sp>
      <p:sp>
        <p:nvSpPr>
          <p:cNvPr id="34" name="Text 32"/>
          <p:cNvSpPr txBox="1"/>
          <p:nvPr/>
        </p:nvSpPr>
        <p:spPr>
          <a:xfrm>
            <a:off x="8778240" y="3145536"/>
            <a:ext cx="13716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all round</a:t>
            </a:r>
            <a:endParaRPr lang="en-US" sz="1200" dirty="0"/>
          </a:p>
        </p:txBody>
      </p:sp>
      <p:sp>
        <p:nvSpPr>
          <p:cNvPr id="35" name="Text 33"/>
          <p:cNvSpPr txBox="1"/>
          <p:nvPr/>
        </p:nvSpPr>
        <p:spPr>
          <a:xfrm>
            <a:off x="9966960" y="3145536"/>
            <a:ext cx="1554480" cy="274320"/>
          </a:xfrm>
          <a:prstGeom prst="rect">
            <a:avLst/>
          </a:prstGeom>
          <a:noFill/>
          <a:ln/>
        </p:spPr>
        <p:txBody>
          <a:bodyPr wrap="square" lIns="0" tIns="0" rIns="0" bIns="0" rtlCol="0" anchor="t"/>
          <a:lstStyle/>
          <a:p>
            <a:pPr algn="r" indent="0" marL="0">
              <a:buNone/>
            </a:pPr>
            <a:r>
              <a:rPr lang="en-US" sz="1200" dirty="0">
                <a:solidFill>
                  <a:srgbClr val="3E6AE1"/>
                </a:solidFill>
                <a:latin typeface="Segoe UI Semibold" pitchFamily="34" charset="0"/>
                <a:ea typeface="Segoe UI Semibold" pitchFamily="34" charset="-122"/>
                <a:cs typeface="Segoe UI Semibold" pitchFamily="34" charset="-120"/>
              </a:rPr>
              <a:t>DIBL 41 mV/V</a:t>
            </a:r>
            <a:endParaRPr lang="en-US" sz="1200" dirty="0"/>
          </a:p>
        </p:txBody>
      </p:sp>
      <p:sp>
        <p:nvSpPr>
          <p:cNvPr id="36" name="Shape 34"/>
          <p:cNvSpPr/>
          <p:nvPr/>
        </p:nvSpPr>
        <p:spPr>
          <a:xfrm>
            <a:off x="6967728" y="3959352"/>
            <a:ext cx="91" cy="356616"/>
          </a:xfrm>
          <a:prstGeom prst="line">
            <a:avLst/>
          </a:prstGeom>
          <a:noFill/>
          <a:ln w="25400">
            <a:solidFill>
              <a:srgbClr val="E2E3E3"/>
            </a:solidFill>
            <a:prstDash val="solid"/>
          </a:ln>
        </p:spPr>
      </p:sp>
      <p:sp>
        <p:nvSpPr>
          <p:cNvPr id="37" name="Shape 35"/>
          <p:cNvSpPr/>
          <p:nvPr/>
        </p:nvSpPr>
        <p:spPr>
          <a:xfrm>
            <a:off x="6784848" y="3666744"/>
            <a:ext cx="365760" cy="365760"/>
          </a:xfrm>
          <a:prstGeom prst="ellipse">
            <a:avLst/>
          </a:prstGeom>
          <a:solidFill>
            <a:srgbClr val="E07B00"/>
          </a:solidFill>
          <a:ln/>
        </p:spPr>
      </p:sp>
      <p:sp>
        <p:nvSpPr>
          <p:cNvPr id="38" name="Text 36"/>
          <p:cNvSpPr txBox="1"/>
          <p:nvPr/>
        </p:nvSpPr>
        <p:spPr>
          <a:xfrm>
            <a:off x="6784848" y="3666744"/>
            <a:ext cx="3657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7"/>
          <p:cNvSpPr txBox="1"/>
          <p:nvPr/>
        </p:nvSpPr>
        <p:spPr>
          <a:xfrm>
            <a:off x="7315200" y="3703320"/>
            <a:ext cx="1463040" cy="292608"/>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Heat</a:t>
            </a:r>
            <a:endParaRPr lang="en-US" sz="1500" dirty="0"/>
          </a:p>
        </p:txBody>
      </p:sp>
      <p:sp>
        <p:nvSpPr>
          <p:cNvPr id="40" name="Text 38"/>
          <p:cNvSpPr txBox="1"/>
          <p:nvPr/>
        </p:nvSpPr>
        <p:spPr>
          <a:xfrm>
            <a:off x="8778240" y="3721608"/>
            <a:ext cx="13716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trapped</a:t>
            </a:r>
            <a:endParaRPr lang="en-US" sz="1200" dirty="0"/>
          </a:p>
        </p:txBody>
      </p:sp>
      <p:sp>
        <p:nvSpPr>
          <p:cNvPr id="41" name="Text 39"/>
          <p:cNvSpPr txBox="1"/>
          <p:nvPr/>
        </p:nvSpPr>
        <p:spPr>
          <a:xfrm>
            <a:off x="9966960" y="3721608"/>
            <a:ext cx="1554480" cy="274320"/>
          </a:xfrm>
          <a:prstGeom prst="rect">
            <a:avLst/>
          </a:prstGeom>
          <a:noFill/>
          <a:ln/>
        </p:spPr>
        <p:txBody>
          <a:bodyPr wrap="square" lIns="0" tIns="0" rIns="0" bIns="0" rtlCol="0" anchor="t"/>
          <a:lstStyle/>
          <a:p>
            <a:pPr algn="r" indent="0" marL="0">
              <a:buNone/>
            </a:pPr>
            <a:r>
              <a:rPr lang="en-US" sz="1200" dirty="0">
                <a:solidFill>
                  <a:srgbClr val="E07B00"/>
                </a:solidFill>
                <a:latin typeface="Segoe UI Semibold" pitchFamily="34" charset="0"/>
                <a:ea typeface="Segoe UI Semibold" pitchFamily="34" charset="-122"/>
                <a:cs typeface="Segoe UI Semibold" pitchFamily="34" charset="-120"/>
              </a:rPr>
              <a:t>ΔT 64.8 K</a:t>
            </a:r>
            <a:endParaRPr lang="en-US" sz="1200" dirty="0"/>
          </a:p>
        </p:txBody>
      </p:sp>
      <p:sp>
        <p:nvSpPr>
          <p:cNvPr id="42" name="Shape 40"/>
          <p:cNvSpPr/>
          <p:nvPr/>
        </p:nvSpPr>
        <p:spPr>
          <a:xfrm>
            <a:off x="6967728" y="4535424"/>
            <a:ext cx="91" cy="356616"/>
          </a:xfrm>
          <a:prstGeom prst="line">
            <a:avLst/>
          </a:prstGeom>
          <a:noFill/>
          <a:ln w="25400">
            <a:solidFill>
              <a:srgbClr val="E2E3E3"/>
            </a:solidFill>
            <a:prstDash val="solid"/>
          </a:ln>
        </p:spPr>
      </p:sp>
      <p:sp>
        <p:nvSpPr>
          <p:cNvPr id="43" name="Shape 41"/>
          <p:cNvSpPr/>
          <p:nvPr/>
        </p:nvSpPr>
        <p:spPr>
          <a:xfrm>
            <a:off x="6784848" y="4242816"/>
            <a:ext cx="365760" cy="365760"/>
          </a:xfrm>
          <a:prstGeom prst="ellipse">
            <a:avLst/>
          </a:prstGeom>
          <a:solidFill>
            <a:srgbClr val="171A20"/>
          </a:solidFill>
          <a:ln/>
        </p:spPr>
      </p:sp>
      <p:sp>
        <p:nvSpPr>
          <p:cNvPr id="44" name="Text 42"/>
          <p:cNvSpPr txBox="1"/>
          <p:nvPr/>
        </p:nvSpPr>
        <p:spPr>
          <a:xfrm>
            <a:off x="6784848" y="4242816"/>
            <a:ext cx="3657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5" name="Text 43"/>
          <p:cNvSpPr txBox="1"/>
          <p:nvPr/>
        </p:nvSpPr>
        <p:spPr>
          <a:xfrm>
            <a:off x="7315200" y="4279392"/>
            <a:ext cx="1463040" cy="292608"/>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Reproduce</a:t>
            </a:r>
            <a:endParaRPr lang="en-US" sz="1500" dirty="0"/>
          </a:p>
        </p:txBody>
      </p:sp>
      <p:sp>
        <p:nvSpPr>
          <p:cNvPr id="46" name="Text 44"/>
          <p:cNvSpPr txBox="1"/>
          <p:nvPr/>
        </p:nvSpPr>
        <p:spPr>
          <a:xfrm>
            <a:off x="8778240" y="4297680"/>
            <a:ext cx="13716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+5 %</a:t>
            </a:r>
            <a:endParaRPr lang="en-US" sz="1200" dirty="0"/>
          </a:p>
        </p:txBody>
      </p:sp>
      <p:sp>
        <p:nvSpPr>
          <p:cNvPr id="47" name="Text 45"/>
          <p:cNvSpPr txBox="1"/>
          <p:nvPr/>
        </p:nvSpPr>
        <p:spPr>
          <a:xfrm>
            <a:off x="9966960" y="4297680"/>
            <a:ext cx="1554480" cy="274320"/>
          </a:xfrm>
          <a:prstGeom prst="rect">
            <a:avLst/>
          </a:prstGeom>
          <a:noFill/>
          <a:ln/>
        </p:spPr>
        <p:txBody>
          <a:bodyPr wrap="square" lIns="0" tIns="0" rIns="0" bIns="0" rtlCol="0" anchor="t"/>
          <a:lstStyle/>
          <a:p>
            <a:pPr algn="r" indent="0" marL="0">
              <a:buNone/>
            </a:pPr>
            <a:r>
              <a:rPr lang="en-US" sz="1200" dirty="0">
                <a:solidFill>
                  <a:srgbClr val="171A20"/>
                </a:solidFill>
                <a:latin typeface="Segoe UI Semibold" pitchFamily="34" charset="0"/>
                <a:ea typeface="Segoe UI Semibold" pitchFamily="34" charset="-122"/>
                <a:cs typeface="Segoe UI Semibold" pitchFamily="34" charset="-120"/>
              </a:rPr>
              <a:t>68.0 K</a:t>
            </a:r>
            <a:endParaRPr lang="en-US" sz="1200" dirty="0"/>
          </a:p>
        </p:txBody>
      </p:sp>
      <p:sp>
        <p:nvSpPr>
          <p:cNvPr id="48" name="Shape 46"/>
          <p:cNvSpPr/>
          <p:nvPr/>
        </p:nvSpPr>
        <p:spPr>
          <a:xfrm>
            <a:off x="6784848" y="4818888"/>
            <a:ext cx="365760" cy="365760"/>
          </a:xfrm>
          <a:prstGeom prst="ellipse">
            <a:avLst/>
          </a:prstGeom>
          <a:solidFill>
            <a:srgbClr val="2E9E4F"/>
          </a:solidFill>
          <a:ln/>
        </p:spPr>
      </p:sp>
      <p:sp>
        <p:nvSpPr>
          <p:cNvPr id="49" name="Text 47"/>
          <p:cNvSpPr txBox="1"/>
          <p:nvPr/>
        </p:nvSpPr>
        <p:spPr>
          <a:xfrm>
            <a:off x="6784848" y="4818888"/>
            <a:ext cx="3657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6</a:t>
            </a:r>
            <a:endParaRPr lang="en-US" sz="1200" dirty="0"/>
          </a:p>
        </p:txBody>
      </p:sp>
      <p:sp>
        <p:nvSpPr>
          <p:cNvPr id="50" name="Text 48"/>
          <p:cNvSpPr txBox="1"/>
          <p:nvPr/>
        </p:nvSpPr>
        <p:spPr>
          <a:xfrm>
            <a:off x="7315200" y="4855464"/>
            <a:ext cx="1463040" cy="292608"/>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Optimal</a:t>
            </a:r>
            <a:endParaRPr lang="en-US" sz="1500" dirty="0"/>
          </a:p>
        </p:txBody>
      </p:sp>
      <p:sp>
        <p:nvSpPr>
          <p:cNvPr id="51" name="Text 49"/>
          <p:cNvSpPr txBox="1"/>
          <p:nvPr/>
        </p:nvSpPr>
        <p:spPr>
          <a:xfrm>
            <a:off x="8778240" y="4873752"/>
            <a:ext cx="13716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cooler</a:t>
            </a:r>
            <a:endParaRPr lang="en-US" sz="1200" dirty="0"/>
          </a:p>
        </p:txBody>
      </p:sp>
      <p:sp>
        <p:nvSpPr>
          <p:cNvPr id="52" name="Text 50"/>
          <p:cNvSpPr txBox="1"/>
          <p:nvPr/>
        </p:nvSpPr>
        <p:spPr>
          <a:xfrm>
            <a:off x="9966960" y="4873752"/>
            <a:ext cx="1554480" cy="274320"/>
          </a:xfrm>
          <a:prstGeom prst="rect">
            <a:avLst/>
          </a:prstGeom>
          <a:noFill/>
          <a:ln/>
        </p:spPr>
        <p:txBody>
          <a:bodyPr wrap="square" lIns="0" tIns="0" rIns="0" bIns="0" rtlCol="0" anchor="t"/>
          <a:lstStyle/>
          <a:p>
            <a:pPr algn="r" indent="0" marL="0">
              <a:buNone/>
            </a:pPr>
            <a:r>
              <a:rPr lang="en-US" sz="1200" dirty="0">
                <a:solidFill>
                  <a:srgbClr val="2E9E4F"/>
                </a:solidFill>
                <a:latin typeface="Segoe UI Semibold" pitchFamily="34" charset="0"/>
                <a:ea typeface="Segoe UI Semibold" pitchFamily="34" charset="-122"/>
                <a:cs typeface="Segoe UI Semibold" pitchFamily="34" charset="-120"/>
              </a:rPr>
              <a:t>−16.4 % ΔT</a:t>
            </a:r>
            <a:endParaRPr lang="en-US" sz="1200" dirty="0"/>
          </a:p>
        </p:txBody>
      </p:sp>
      <p:sp>
        <p:nvSpPr>
          <p:cNvPr id="5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Better gate control brought a heat problem; we measure it, match the paper, then lower it.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Contents</a:t>
            </a:r>
            <a:endParaRPr lang="en-US" sz="3000" dirty="0"/>
          </a:p>
        </p:txBody>
      </p:sp>
      <p:sp>
        <p:nvSpPr>
          <p:cNvPr id="3" name="!!tocLine"/>
          <p:cNvSpPr/>
          <p:nvPr/>
        </p:nvSpPr>
        <p:spPr>
          <a:xfrm>
            <a:off x="868680" y="1508760"/>
            <a:ext cx="91" cy="3840480"/>
          </a:xfrm>
          <a:prstGeom prst="line">
            <a:avLst/>
          </a:prstGeom>
          <a:noFill/>
          <a:ln w="38100">
            <a:solidFill>
              <a:srgbClr val="E2E3E3"/>
            </a:solidFill>
            <a:prstDash val="solid"/>
          </a:ln>
        </p:spPr>
      </p:sp>
      <p:sp>
        <p:nvSpPr>
          <p:cNvPr id="4" name="!!tocC0"/>
          <p:cNvSpPr/>
          <p:nvPr/>
        </p:nvSpPr>
        <p:spPr>
          <a:xfrm>
            <a:off x="685800" y="1325880"/>
            <a:ext cx="365760" cy="365760"/>
          </a:xfrm>
          <a:prstGeom prst="ellipse">
            <a:avLst/>
          </a:prstGeom>
          <a:solidFill>
            <a:srgbClr val="FFFFFF"/>
          </a:solidFill>
          <a:ln w="15875">
            <a:solidFill>
              <a:srgbClr val="9C7A3C"/>
            </a:solidFill>
            <a:prstDash val="solid"/>
          </a:ln>
        </p:spPr>
      </p:sp>
      <p:sp>
        <p:nvSpPr>
          <p:cNvPr id="5" name="!!tocN0"/>
          <p:cNvSpPr txBox="1"/>
          <p:nvPr/>
        </p:nvSpPr>
        <p:spPr>
          <a:xfrm>
            <a:off x="685800" y="135331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01</a:t>
            </a:r>
            <a:endParaRPr lang="en-US" sz="1000" dirty="0"/>
          </a:p>
        </p:txBody>
      </p:sp>
      <p:sp>
        <p:nvSpPr>
          <p:cNvPr id="6" name="!!tocH0"/>
          <p:cNvSpPr txBox="1"/>
          <p:nvPr/>
        </p:nvSpPr>
        <p:spPr>
          <a:xfrm>
            <a:off x="1325880" y="1280160"/>
            <a:ext cx="6400800" cy="347472"/>
          </a:xfrm>
          <a:prstGeom prst="rect">
            <a:avLst/>
          </a:prstGeom>
          <a:noFill/>
          <a:ln/>
        </p:spPr>
        <p:txBody>
          <a:bodyPr wrap="square" lIns="0" tIns="0" rIns="0" bIns="0" rtlCol="0" anchor="ctr"/>
          <a:lstStyle/>
          <a:p>
            <a:pPr algn="l" indent="0" marL="0">
              <a:buNone/>
            </a:pPr>
            <a:r>
              <a:rPr lang="en-US" sz="1800" dirty="0">
                <a:solidFill>
                  <a:srgbClr val="171A20"/>
                </a:solidFill>
                <a:latin typeface="Segoe UI" pitchFamily="34" charset="0"/>
                <a:ea typeface="Segoe UI" pitchFamily="34" charset="-122"/>
                <a:cs typeface="Segoe UI" pitchFamily="34" charset="-120"/>
              </a:rPr>
              <a:t>The MOSFET switch</a:t>
            </a:r>
            <a:endParaRPr lang="en-US" sz="1800" dirty="0"/>
          </a:p>
        </p:txBody>
      </p:sp>
      <p:sp>
        <p:nvSpPr>
          <p:cNvPr id="7" name="!!tocS0"/>
          <p:cNvSpPr txBox="1"/>
          <p:nvPr/>
        </p:nvSpPr>
        <p:spPr>
          <a:xfrm>
            <a:off x="1325880" y="1627632"/>
            <a:ext cx="8229600" cy="237744"/>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Build it · turn the gate · turn the drain · V</a:t>
            </a:r>
            <a:pPr algn="l" indent="0" marL="0">
              <a:buNone/>
            </a:pPr>
            <a:r>
              <a:rPr lang="en-US" sz="1100" baseline="-40000" dirty="0">
                <a:solidFill>
                  <a:srgbClr val="5C5E62"/>
                </a:solidFill>
                <a:latin typeface="Segoe UI" pitchFamily="34" charset="0"/>
                <a:ea typeface="Segoe UI" pitchFamily="34" charset="-122"/>
                <a:cs typeface="Segoe UI" pitchFamily="34" charset="-120"/>
              </a:rPr>
              <a:t>T</a:t>
            </a:r>
            <a:pPr algn="l" indent="0" marL="0">
              <a:buNone/>
            </a:pPr>
            <a:r>
              <a:rPr lang="en-US" sz="1100" dirty="0">
                <a:solidFill>
                  <a:srgbClr val="5C5E62"/>
                </a:solidFill>
                <a:latin typeface="Segoe UI" pitchFamily="34" charset="0"/>
                <a:ea typeface="Segoe UI" pitchFamily="34" charset="-122"/>
                <a:cs typeface="Segoe UI" pitchFamily="34" charset="-120"/>
              </a:rPr>
              <a:t> and SS in depth</a:t>
            </a:r>
            <a:endParaRPr lang="en-US" sz="1100" dirty="0"/>
          </a:p>
        </p:txBody>
      </p:sp>
      <p:sp>
        <p:nvSpPr>
          <p:cNvPr id="8" name="!!tocC1"/>
          <p:cNvSpPr/>
          <p:nvPr/>
        </p:nvSpPr>
        <p:spPr>
          <a:xfrm>
            <a:off x="685800" y="1965960"/>
            <a:ext cx="365760" cy="365760"/>
          </a:xfrm>
          <a:prstGeom prst="ellipse">
            <a:avLst/>
          </a:prstGeom>
          <a:solidFill>
            <a:srgbClr val="FFFFFF"/>
          </a:solidFill>
          <a:ln w="15875">
            <a:solidFill>
              <a:srgbClr val="9C7A3C"/>
            </a:solidFill>
            <a:prstDash val="solid"/>
          </a:ln>
        </p:spPr>
      </p:sp>
      <p:sp>
        <p:nvSpPr>
          <p:cNvPr id="9" name="!!tocN1"/>
          <p:cNvSpPr txBox="1"/>
          <p:nvPr/>
        </p:nvSpPr>
        <p:spPr>
          <a:xfrm>
            <a:off x="685800" y="199339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02</a:t>
            </a:r>
            <a:endParaRPr lang="en-US" sz="1000" dirty="0"/>
          </a:p>
        </p:txBody>
      </p:sp>
      <p:sp>
        <p:nvSpPr>
          <p:cNvPr id="10" name="!!tocH1"/>
          <p:cNvSpPr txBox="1"/>
          <p:nvPr/>
        </p:nvSpPr>
        <p:spPr>
          <a:xfrm>
            <a:off x="1325880" y="1920240"/>
            <a:ext cx="6400800" cy="347472"/>
          </a:xfrm>
          <a:prstGeom prst="rect">
            <a:avLst/>
          </a:prstGeom>
          <a:noFill/>
          <a:ln/>
        </p:spPr>
        <p:txBody>
          <a:bodyPr wrap="square" lIns="0" tIns="0" rIns="0" bIns="0" rtlCol="0" anchor="ctr"/>
          <a:lstStyle/>
          <a:p>
            <a:pPr algn="l" indent="0" marL="0">
              <a:buNone/>
            </a:pPr>
            <a:r>
              <a:rPr lang="en-US" sz="1800" dirty="0">
                <a:solidFill>
                  <a:srgbClr val="171A20"/>
                </a:solidFill>
                <a:latin typeface="Segoe UI" pitchFamily="34" charset="0"/>
                <a:ea typeface="Segoe UI" pitchFamily="34" charset="-122"/>
                <a:cs typeface="Segoe UI" pitchFamily="34" charset="-120"/>
              </a:rPr>
              <a:t>Shrinking the gate</a:t>
            </a:r>
            <a:endParaRPr lang="en-US" sz="1800" dirty="0"/>
          </a:p>
        </p:txBody>
      </p:sp>
      <p:sp>
        <p:nvSpPr>
          <p:cNvPr id="11" name="!!tocS1"/>
          <p:cNvSpPr txBox="1"/>
          <p:nvPr/>
        </p:nvSpPr>
        <p:spPr>
          <a:xfrm>
            <a:off x="1325880" y="2267712"/>
            <a:ext cx="8229600" cy="237744"/>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Shorter L</a:t>
            </a:r>
            <a:pPr algn="l" indent="0" marL="0">
              <a:buNone/>
            </a:pPr>
            <a:r>
              <a:rPr lang="en-US" sz="1100" baseline="-40000" dirty="0">
                <a:solidFill>
                  <a:srgbClr val="5C5E62"/>
                </a:solidFill>
                <a:latin typeface="Segoe UI" pitchFamily="34" charset="0"/>
                <a:ea typeface="Segoe UI" pitchFamily="34" charset="-122"/>
                <a:cs typeface="Segoe UI" pitchFamily="34" charset="-120"/>
              </a:rPr>
              <a:t>g</a:t>
            </a:r>
            <a:pPr algn="l" indent="0" marL="0">
              <a:buNone/>
            </a:pPr>
            <a:r>
              <a:rPr lang="en-US" sz="1100" dirty="0">
                <a:solidFill>
                  <a:srgbClr val="5C5E62"/>
                </a:solidFill>
                <a:latin typeface="Segoe UI" pitchFamily="34" charset="0"/>
                <a:ea typeface="Segoe UI" pitchFamily="34" charset="-122"/>
                <a:cs typeface="Segoe UI" pitchFamily="34" charset="-120"/>
              </a:rPr>
              <a:t> · DIBL and leakage · the scale length λ</a:t>
            </a:r>
            <a:endParaRPr lang="en-US" sz="1100" dirty="0"/>
          </a:p>
        </p:txBody>
      </p:sp>
      <p:sp>
        <p:nvSpPr>
          <p:cNvPr id="12" name="!!tocC2"/>
          <p:cNvSpPr/>
          <p:nvPr/>
        </p:nvSpPr>
        <p:spPr>
          <a:xfrm>
            <a:off x="685800" y="2606040"/>
            <a:ext cx="365760" cy="365760"/>
          </a:xfrm>
          <a:prstGeom prst="ellipse">
            <a:avLst/>
          </a:prstGeom>
          <a:solidFill>
            <a:srgbClr val="FFFFFF"/>
          </a:solidFill>
          <a:ln w="15875">
            <a:solidFill>
              <a:srgbClr val="9C7A3C"/>
            </a:solidFill>
            <a:prstDash val="solid"/>
          </a:ln>
        </p:spPr>
      </p:sp>
      <p:sp>
        <p:nvSpPr>
          <p:cNvPr id="13" name="!!tocN2"/>
          <p:cNvSpPr txBox="1"/>
          <p:nvPr/>
        </p:nvSpPr>
        <p:spPr>
          <a:xfrm>
            <a:off x="685800" y="263347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03</a:t>
            </a:r>
            <a:endParaRPr lang="en-US" sz="1000" dirty="0"/>
          </a:p>
        </p:txBody>
      </p:sp>
      <p:sp>
        <p:nvSpPr>
          <p:cNvPr id="14" name="!!tocH2"/>
          <p:cNvSpPr txBox="1"/>
          <p:nvPr/>
        </p:nvSpPr>
        <p:spPr>
          <a:xfrm>
            <a:off x="1325880" y="2560320"/>
            <a:ext cx="6400800" cy="347472"/>
          </a:xfrm>
          <a:prstGeom prst="rect">
            <a:avLst/>
          </a:prstGeom>
          <a:noFill/>
          <a:ln/>
        </p:spPr>
        <p:txBody>
          <a:bodyPr wrap="square" lIns="0" tIns="0" rIns="0" bIns="0" rtlCol="0" anchor="ctr"/>
          <a:lstStyle/>
          <a:p>
            <a:pPr algn="l" indent="0" marL="0">
              <a:buNone/>
            </a:pPr>
            <a:r>
              <a:rPr lang="en-US" sz="1800" dirty="0">
                <a:solidFill>
                  <a:srgbClr val="171A20"/>
                </a:solidFill>
                <a:latin typeface="Segoe UI" pitchFamily="34" charset="0"/>
                <a:ea typeface="Segoe UI" pitchFamily="34" charset="-122"/>
                <a:cs typeface="Segoe UI" pitchFamily="34" charset="-120"/>
              </a:rPr>
              <a:t>FinFET → GAAFET</a:t>
            </a:r>
            <a:endParaRPr lang="en-US" sz="1800" dirty="0"/>
          </a:p>
        </p:txBody>
      </p:sp>
      <p:sp>
        <p:nvSpPr>
          <p:cNvPr id="15" name="!!tocS2"/>
          <p:cNvSpPr txBox="1"/>
          <p:nvPr/>
        </p:nvSpPr>
        <p:spPr>
          <a:xfrm>
            <a:off x="1325880" y="2907792"/>
            <a:ext cx="8229600" cy="237744"/>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More gate sides · fin width · wire, sheet, stack · our GAA in numbers</a:t>
            </a:r>
            <a:endParaRPr lang="en-US" sz="1100" dirty="0"/>
          </a:p>
        </p:txBody>
      </p:sp>
      <p:sp>
        <p:nvSpPr>
          <p:cNvPr id="16" name="!!tocC3"/>
          <p:cNvSpPr/>
          <p:nvPr/>
        </p:nvSpPr>
        <p:spPr>
          <a:xfrm>
            <a:off x="685800" y="3246120"/>
            <a:ext cx="365760" cy="365760"/>
          </a:xfrm>
          <a:prstGeom prst="ellipse">
            <a:avLst/>
          </a:prstGeom>
          <a:solidFill>
            <a:srgbClr val="FFFFFF"/>
          </a:solidFill>
          <a:ln w="15875">
            <a:solidFill>
              <a:srgbClr val="9C7A3C"/>
            </a:solidFill>
            <a:prstDash val="solid"/>
          </a:ln>
        </p:spPr>
      </p:sp>
      <p:sp>
        <p:nvSpPr>
          <p:cNvPr id="17" name="!!tocN3"/>
          <p:cNvSpPr txBox="1"/>
          <p:nvPr/>
        </p:nvSpPr>
        <p:spPr>
          <a:xfrm>
            <a:off x="685800" y="327355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04</a:t>
            </a:r>
            <a:endParaRPr lang="en-US" sz="1000" dirty="0"/>
          </a:p>
        </p:txBody>
      </p:sp>
      <p:sp>
        <p:nvSpPr>
          <p:cNvPr id="18" name="!!tocH3"/>
          <p:cNvSpPr txBox="1"/>
          <p:nvPr/>
        </p:nvSpPr>
        <p:spPr>
          <a:xfrm>
            <a:off x="1325880" y="3200400"/>
            <a:ext cx="6400800" cy="347472"/>
          </a:xfrm>
          <a:prstGeom prst="rect">
            <a:avLst/>
          </a:prstGeom>
          <a:noFill/>
          <a:ln/>
        </p:spPr>
        <p:txBody>
          <a:bodyPr wrap="square" lIns="0" tIns="0" rIns="0" bIns="0" rtlCol="0" anchor="ctr"/>
          <a:lstStyle/>
          <a:p>
            <a:pPr algn="l" indent="0" marL="0">
              <a:buNone/>
            </a:pPr>
            <a:r>
              <a:rPr lang="en-US" sz="1800" dirty="0">
                <a:solidFill>
                  <a:srgbClr val="171A20"/>
                </a:solidFill>
                <a:latin typeface="Segoe UI" pitchFamily="34" charset="0"/>
                <a:ea typeface="Segoe UI" pitchFamily="34" charset="-122"/>
                <a:cs typeface="Segoe UI" pitchFamily="34" charset="-120"/>
              </a:rPr>
              <a:t>The new problem: heat</a:t>
            </a:r>
            <a:endParaRPr lang="en-US" sz="1800" dirty="0"/>
          </a:p>
        </p:txBody>
      </p:sp>
      <p:sp>
        <p:nvSpPr>
          <p:cNvPr id="19" name="!!tocS3"/>
          <p:cNvSpPr txBox="1"/>
          <p:nvPr/>
        </p:nvSpPr>
        <p:spPr>
          <a:xfrm>
            <a:off x="1325880" y="3547872"/>
            <a:ext cx="8229600" cy="237744"/>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Oxide traps heat · ΔT = R</a:t>
            </a:r>
            <a:pPr algn="l" indent="0" marL="0">
              <a:buNone/>
            </a:pPr>
            <a:r>
              <a:rPr lang="en-US" sz="1100" baseline="-40000" dirty="0">
                <a:solidFill>
                  <a:srgbClr val="5C5E62"/>
                </a:solidFill>
                <a:latin typeface="Segoe UI" pitchFamily="34" charset="0"/>
                <a:ea typeface="Segoe UI" pitchFamily="34" charset="-122"/>
                <a:cs typeface="Segoe UI" pitchFamily="34" charset="-120"/>
              </a:rPr>
              <a:t>th</a:t>
            </a:r>
            <a:pPr algn="l" indent="0" marL="0">
              <a:buNone/>
            </a:pPr>
            <a:r>
              <a:rPr lang="en-US" sz="1100" dirty="0">
                <a:solidFill>
                  <a:srgbClr val="5C5E62"/>
                </a:solidFill>
                <a:latin typeface="Segoe UI" pitchFamily="34" charset="0"/>
                <a:ea typeface="Segoe UI" pitchFamily="34" charset="-122"/>
                <a:cs typeface="Segoe UI" pitchFamily="34" charset="-120"/>
              </a:rPr>
              <a:t> · P · what heat does to every metric</a:t>
            </a:r>
            <a:endParaRPr lang="en-US" sz="1100" dirty="0"/>
          </a:p>
        </p:txBody>
      </p:sp>
      <p:sp>
        <p:nvSpPr>
          <p:cNvPr id="20" name="!!tocC4"/>
          <p:cNvSpPr/>
          <p:nvPr/>
        </p:nvSpPr>
        <p:spPr>
          <a:xfrm>
            <a:off x="685800" y="3886200"/>
            <a:ext cx="365760" cy="365760"/>
          </a:xfrm>
          <a:prstGeom prst="ellipse">
            <a:avLst/>
          </a:prstGeom>
          <a:solidFill>
            <a:srgbClr val="FFFFFF"/>
          </a:solidFill>
          <a:ln w="15875">
            <a:solidFill>
              <a:srgbClr val="9C7A3C"/>
            </a:solidFill>
            <a:prstDash val="solid"/>
          </a:ln>
        </p:spPr>
      </p:sp>
      <p:sp>
        <p:nvSpPr>
          <p:cNvPr id="21" name="!!tocN4"/>
          <p:cNvSpPr txBox="1"/>
          <p:nvPr/>
        </p:nvSpPr>
        <p:spPr>
          <a:xfrm>
            <a:off x="685800" y="391363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05</a:t>
            </a:r>
            <a:endParaRPr lang="en-US" sz="1000" dirty="0"/>
          </a:p>
        </p:txBody>
      </p:sp>
      <p:sp>
        <p:nvSpPr>
          <p:cNvPr id="22" name="!!tocH4"/>
          <p:cNvSpPr txBox="1"/>
          <p:nvPr/>
        </p:nvSpPr>
        <p:spPr>
          <a:xfrm>
            <a:off x="1325880" y="3840480"/>
            <a:ext cx="6400800" cy="347472"/>
          </a:xfrm>
          <a:prstGeom prst="rect">
            <a:avLst/>
          </a:prstGeom>
          <a:noFill/>
          <a:ln/>
        </p:spPr>
        <p:txBody>
          <a:bodyPr wrap="square" lIns="0" tIns="0" rIns="0" bIns="0" rtlCol="0" anchor="ctr"/>
          <a:lstStyle/>
          <a:p>
            <a:pPr algn="l" indent="0" marL="0">
              <a:buNone/>
            </a:pPr>
            <a:r>
              <a:rPr lang="en-US" sz="1800" dirty="0">
                <a:solidFill>
                  <a:srgbClr val="171A20"/>
                </a:solidFill>
                <a:latin typeface="Segoe UI" pitchFamily="34" charset="0"/>
                <a:ea typeface="Segoe UI" pitchFamily="34" charset="-122"/>
                <a:cs typeface="Segoe UI" pitchFamily="34" charset="-120"/>
              </a:rPr>
              <a:t>Literature and method</a:t>
            </a:r>
            <a:endParaRPr lang="en-US" sz="1800" dirty="0"/>
          </a:p>
        </p:txBody>
      </p:sp>
      <p:sp>
        <p:nvSpPr>
          <p:cNvPr id="23" name="!!tocS4"/>
          <p:cNvSpPr txBox="1"/>
          <p:nvPr/>
        </p:nvSpPr>
        <p:spPr>
          <a:xfrm>
            <a:off x="1325880" y="4187952"/>
            <a:ext cx="8229600" cy="237744"/>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Five papers · base paper Chen et al. 2025 · Silvaco Atlas flow</a:t>
            </a:r>
            <a:endParaRPr lang="en-US" sz="1100" dirty="0"/>
          </a:p>
        </p:txBody>
      </p:sp>
      <p:sp>
        <p:nvSpPr>
          <p:cNvPr id="24" name="!!tocC5"/>
          <p:cNvSpPr/>
          <p:nvPr/>
        </p:nvSpPr>
        <p:spPr>
          <a:xfrm>
            <a:off x="685800" y="4526280"/>
            <a:ext cx="365760" cy="365760"/>
          </a:xfrm>
          <a:prstGeom prst="ellipse">
            <a:avLst/>
          </a:prstGeom>
          <a:solidFill>
            <a:srgbClr val="FFFFFF"/>
          </a:solidFill>
          <a:ln w="15875">
            <a:solidFill>
              <a:srgbClr val="9C7A3C"/>
            </a:solidFill>
            <a:prstDash val="solid"/>
          </a:ln>
        </p:spPr>
      </p:sp>
      <p:sp>
        <p:nvSpPr>
          <p:cNvPr id="25" name="!!tocN5"/>
          <p:cNvSpPr txBox="1"/>
          <p:nvPr/>
        </p:nvSpPr>
        <p:spPr>
          <a:xfrm>
            <a:off x="685800" y="455371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06</a:t>
            </a:r>
            <a:endParaRPr lang="en-US" sz="1000" dirty="0"/>
          </a:p>
        </p:txBody>
      </p:sp>
      <p:sp>
        <p:nvSpPr>
          <p:cNvPr id="26" name="!!tocH5"/>
          <p:cNvSpPr txBox="1"/>
          <p:nvPr/>
        </p:nvSpPr>
        <p:spPr>
          <a:xfrm>
            <a:off x="1325880" y="4480560"/>
            <a:ext cx="6400800" cy="347472"/>
          </a:xfrm>
          <a:prstGeom prst="rect">
            <a:avLst/>
          </a:prstGeom>
          <a:noFill/>
          <a:ln/>
        </p:spPr>
        <p:txBody>
          <a:bodyPr wrap="square" lIns="0" tIns="0" rIns="0" bIns="0" rtlCol="0" anchor="ctr"/>
          <a:lstStyle/>
          <a:p>
            <a:pPr algn="l" indent="0" marL="0">
              <a:buNone/>
            </a:pPr>
            <a:r>
              <a:rPr lang="en-US" sz="1800" dirty="0">
                <a:solidFill>
                  <a:srgbClr val="171A20"/>
                </a:solidFill>
                <a:latin typeface="Segoe UI" pitchFamily="34" charset="0"/>
                <a:ea typeface="Segoe UI" pitchFamily="34" charset="-122"/>
                <a:cs typeface="Segoe UI" pitchFamily="34" charset="-120"/>
              </a:rPr>
              <a:t>Three stages in TCAD</a:t>
            </a:r>
            <a:endParaRPr lang="en-US" sz="1800" dirty="0"/>
          </a:p>
        </p:txBody>
      </p:sp>
      <p:sp>
        <p:nvSpPr>
          <p:cNvPr id="27" name="!!tocS5"/>
          <p:cNvSpPr txBox="1"/>
          <p:nvPr/>
        </p:nvSpPr>
        <p:spPr>
          <a:xfrm>
            <a:off x="1325880" y="4828032"/>
            <a:ext cx="8229600" cy="237744"/>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Standard GAAFET · reproduce the paper · optimal design D</a:t>
            </a:r>
            <a:endParaRPr lang="en-US" sz="1100" dirty="0"/>
          </a:p>
        </p:txBody>
      </p:sp>
      <p:sp>
        <p:nvSpPr>
          <p:cNvPr id="28" name="!!tocC6"/>
          <p:cNvSpPr/>
          <p:nvPr/>
        </p:nvSpPr>
        <p:spPr>
          <a:xfrm>
            <a:off x="685800" y="5166360"/>
            <a:ext cx="365760" cy="365760"/>
          </a:xfrm>
          <a:prstGeom prst="ellipse">
            <a:avLst/>
          </a:prstGeom>
          <a:solidFill>
            <a:srgbClr val="FFFFFF"/>
          </a:solidFill>
          <a:ln w="15875">
            <a:solidFill>
              <a:srgbClr val="9C7A3C"/>
            </a:solidFill>
            <a:prstDash val="solid"/>
          </a:ln>
        </p:spPr>
      </p:sp>
      <p:sp>
        <p:nvSpPr>
          <p:cNvPr id="29" name="!!tocN6"/>
          <p:cNvSpPr txBox="1"/>
          <p:nvPr/>
        </p:nvSpPr>
        <p:spPr>
          <a:xfrm>
            <a:off x="685800" y="519379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07</a:t>
            </a:r>
            <a:endParaRPr lang="en-US" sz="1000" dirty="0"/>
          </a:p>
        </p:txBody>
      </p:sp>
      <p:sp>
        <p:nvSpPr>
          <p:cNvPr id="30" name="!!tocH6"/>
          <p:cNvSpPr txBox="1"/>
          <p:nvPr/>
        </p:nvSpPr>
        <p:spPr>
          <a:xfrm>
            <a:off x="1325880" y="5120640"/>
            <a:ext cx="6400800" cy="347472"/>
          </a:xfrm>
          <a:prstGeom prst="rect">
            <a:avLst/>
          </a:prstGeom>
          <a:noFill/>
          <a:ln/>
        </p:spPr>
        <p:txBody>
          <a:bodyPr wrap="square" lIns="0" tIns="0" rIns="0" bIns="0" rtlCol="0" anchor="ctr"/>
          <a:lstStyle/>
          <a:p>
            <a:pPr algn="l" indent="0" marL="0">
              <a:buNone/>
            </a:pPr>
            <a:r>
              <a:rPr lang="en-US" sz="1800" dirty="0">
                <a:solidFill>
                  <a:srgbClr val="171A20"/>
                </a:solidFill>
                <a:latin typeface="Segoe UI" pitchFamily="34" charset="0"/>
                <a:ea typeface="Segoe UI" pitchFamily="34" charset="-122"/>
                <a:cs typeface="Segoe UI" pitchFamily="34" charset="-120"/>
              </a:rPr>
              <a:t>Conclusion</a:t>
            </a:r>
            <a:endParaRPr lang="en-US" sz="1800" dirty="0"/>
          </a:p>
        </p:txBody>
      </p:sp>
      <p:sp>
        <p:nvSpPr>
          <p:cNvPr id="31" name="!!tocS6"/>
          <p:cNvSpPr txBox="1"/>
          <p:nvPr/>
        </p:nvSpPr>
        <p:spPr>
          <a:xfrm>
            <a:off x="1325880" y="5468112"/>
            <a:ext cx="8229600" cy="237744"/>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Gains and limits · the whole story · next steps</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Contents</a:t>
            </a:r>
            <a:endParaRPr lang="en-US" sz="3000" dirty="0"/>
          </a:p>
        </p:txBody>
      </p:sp>
      <p:sp>
        <p:nvSpPr>
          <p:cNvPr id="3" name="!!tocLine"/>
          <p:cNvSpPr/>
          <p:nvPr/>
        </p:nvSpPr>
        <p:spPr>
          <a:xfrm>
            <a:off x="868680" y="1508760"/>
            <a:ext cx="91" cy="3840480"/>
          </a:xfrm>
          <a:prstGeom prst="line">
            <a:avLst/>
          </a:prstGeom>
          <a:noFill/>
          <a:ln w="38100">
            <a:solidFill>
              <a:srgbClr val="E2E3E3"/>
            </a:solidFill>
            <a:prstDash val="solid"/>
          </a:ln>
        </p:spPr>
      </p:sp>
      <p:sp>
        <p:nvSpPr>
          <p:cNvPr id="4" name="!!tocC0"/>
          <p:cNvSpPr/>
          <p:nvPr/>
        </p:nvSpPr>
        <p:spPr>
          <a:xfrm>
            <a:off x="685800" y="1325880"/>
            <a:ext cx="365760" cy="365760"/>
          </a:xfrm>
          <a:prstGeom prst="ellipse">
            <a:avLst/>
          </a:prstGeom>
          <a:solidFill>
            <a:srgbClr val="171A20"/>
          </a:solidFill>
          <a:ln w="15875">
            <a:solidFill>
              <a:srgbClr val="171A20"/>
            </a:solidFill>
            <a:prstDash val="solid"/>
          </a:ln>
        </p:spPr>
      </p:sp>
      <p:sp>
        <p:nvSpPr>
          <p:cNvPr id="5" name="!!tocN0"/>
          <p:cNvSpPr txBox="1"/>
          <p:nvPr/>
        </p:nvSpPr>
        <p:spPr>
          <a:xfrm>
            <a:off x="685800" y="1353312"/>
            <a:ext cx="365760" cy="310896"/>
          </a:xfrm>
          <a:prstGeom prst="rect">
            <a:avLst/>
          </a:prstGeom>
          <a:noFill/>
          <a:ln/>
        </p:spPr>
        <p:txBody>
          <a:bodyPr wrap="square" lIns="0" tIns="0" rIns="0" bIns="0" rtlCol="0" anchor="ctr"/>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01</a:t>
            </a:r>
            <a:endParaRPr lang="en-US" sz="1000" dirty="0"/>
          </a:p>
        </p:txBody>
      </p:sp>
      <p:sp>
        <p:nvSpPr>
          <p:cNvPr id="6" name="!!tocH0"/>
          <p:cNvSpPr txBox="1"/>
          <p:nvPr/>
        </p:nvSpPr>
        <p:spPr>
          <a:xfrm>
            <a:off x="1325880" y="1280160"/>
            <a:ext cx="6400800" cy="347472"/>
          </a:xfrm>
          <a:prstGeom prst="rect">
            <a:avLst/>
          </a:prstGeom>
          <a:noFill/>
          <a:ln/>
        </p:spPr>
        <p:txBody>
          <a:bodyPr wrap="square" lIns="0" tIns="0" rIns="0" bIns="0" rtlCol="0" anchor="ctr"/>
          <a:lstStyle/>
          <a:p>
            <a:pPr algn="l" indent="0" marL="0">
              <a:buNone/>
            </a:pPr>
            <a:r>
              <a:rPr lang="en-US" sz="2000" dirty="0">
                <a:solidFill>
                  <a:srgbClr val="171A20"/>
                </a:solidFill>
                <a:latin typeface="Segoe UI Semibold" pitchFamily="34" charset="0"/>
                <a:ea typeface="Segoe UI Semibold" pitchFamily="34" charset="-122"/>
                <a:cs typeface="Segoe UI Semibold" pitchFamily="34" charset="-120"/>
              </a:rPr>
              <a:t>The MOSFET switch</a:t>
            </a:r>
            <a:endParaRPr lang="en-US" sz="2000" dirty="0"/>
          </a:p>
        </p:txBody>
      </p:sp>
      <p:sp>
        <p:nvSpPr>
          <p:cNvPr id="7" name="!!tocS0"/>
          <p:cNvSpPr txBox="1"/>
          <p:nvPr/>
        </p:nvSpPr>
        <p:spPr>
          <a:xfrm>
            <a:off x="1325880" y="1627632"/>
            <a:ext cx="8229600" cy="237744"/>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Build it · turn the gate · turn the drain · V</a:t>
            </a:r>
            <a:pPr algn="l" indent="0" marL="0">
              <a:buNone/>
            </a:pPr>
            <a:r>
              <a:rPr lang="en-US" sz="1100" baseline="-40000" dirty="0">
                <a:solidFill>
                  <a:srgbClr val="5C5E62"/>
                </a:solidFill>
                <a:latin typeface="Segoe UI" pitchFamily="34" charset="0"/>
                <a:ea typeface="Segoe UI" pitchFamily="34" charset="-122"/>
                <a:cs typeface="Segoe UI" pitchFamily="34" charset="-120"/>
              </a:rPr>
              <a:t>T</a:t>
            </a:r>
            <a:pPr algn="l" indent="0" marL="0">
              <a:buNone/>
            </a:pPr>
            <a:r>
              <a:rPr lang="en-US" sz="1100" dirty="0">
                <a:solidFill>
                  <a:srgbClr val="5C5E62"/>
                </a:solidFill>
                <a:latin typeface="Segoe UI" pitchFamily="34" charset="0"/>
                <a:ea typeface="Segoe UI" pitchFamily="34" charset="-122"/>
                <a:cs typeface="Segoe UI" pitchFamily="34" charset="-120"/>
              </a:rPr>
              <a:t> and SS in depth</a:t>
            </a:r>
            <a:endParaRPr lang="en-US" sz="1100" dirty="0"/>
          </a:p>
        </p:txBody>
      </p:sp>
      <p:sp>
        <p:nvSpPr>
          <p:cNvPr id="8" name="!!tocC1"/>
          <p:cNvSpPr/>
          <p:nvPr/>
        </p:nvSpPr>
        <p:spPr>
          <a:xfrm>
            <a:off x="685800" y="1965960"/>
            <a:ext cx="365760" cy="365760"/>
          </a:xfrm>
          <a:prstGeom prst="ellipse">
            <a:avLst/>
          </a:prstGeom>
          <a:solidFill>
            <a:srgbClr val="FFFFFF"/>
          </a:solidFill>
          <a:ln w="15875">
            <a:solidFill>
              <a:srgbClr val="9C7A3C"/>
            </a:solidFill>
            <a:prstDash val="solid"/>
          </a:ln>
        </p:spPr>
      </p:sp>
      <p:sp>
        <p:nvSpPr>
          <p:cNvPr id="9" name="!!tocN1"/>
          <p:cNvSpPr txBox="1"/>
          <p:nvPr/>
        </p:nvSpPr>
        <p:spPr>
          <a:xfrm>
            <a:off x="685800" y="199339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02</a:t>
            </a:r>
            <a:endParaRPr lang="en-US" sz="1000" dirty="0"/>
          </a:p>
        </p:txBody>
      </p:sp>
      <p:sp>
        <p:nvSpPr>
          <p:cNvPr id="10" name="!!tocH1"/>
          <p:cNvSpPr txBox="1"/>
          <p:nvPr/>
        </p:nvSpPr>
        <p:spPr>
          <a:xfrm>
            <a:off x="1325880" y="192024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Shrinking the gate</a:t>
            </a:r>
            <a:endParaRPr lang="en-US" sz="1800" dirty="0"/>
          </a:p>
        </p:txBody>
      </p:sp>
      <p:sp>
        <p:nvSpPr>
          <p:cNvPr id="11" name="!!tocS1"/>
          <p:cNvSpPr txBox="1"/>
          <p:nvPr/>
        </p:nvSpPr>
        <p:spPr>
          <a:xfrm>
            <a:off x="1325880" y="226771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Shorter L</a:t>
            </a:r>
            <a:pPr algn="l" indent="0" marL="0">
              <a:buNone/>
            </a:pPr>
            <a:r>
              <a:rPr lang="en-US" sz="1100" baseline="-40000" dirty="0">
                <a:solidFill>
                  <a:srgbClr val="A9ACB1"/>
                </a:solidFill>
                <a:latin typeface="Segoe UI" pitchFamily="34" charset="0"/>
                <a:ea typeface="Segoe UI" pitchFamily="34" charset="-122"/>
                <a:cs typeface="Segoe UI" pitchFamily="34" charset="-120"/>
              </a:rPr>
              <a:t>g</a:t>
            </a:r>
            <a:pPr algn="l" indent="0" marL="0">
              <a:buNone/>
            </a:pPr>
            <a:r>
              <a:rPr lang="en-US" sz="1100" dirty="0">
                <a:solidFill>
                  <a:srgbClr val="A9ACB1"/>
                </a:solidFill>
                <a:latin typeface="Segoe UI" pitchFamily="34" charset="0"/>
                <a:ea typeface="Segoe UI" pitchFamily="34" charset="-122"/>
                <a:cs typeface="Segoe UI" pitchFamily="34" charset="-120"/>
              </a:rPr>
              <a:t> · DIBL and leakage · the scale length λ</a:t>
            </a:r>
            <a:endParaRPr lang="en-US" sz="1100" dirty="0"/>
          </a:p>
        </p:txBody>
      </p:sp>
      <p:sp>
        <p:nvSpPr>
          <p:cNvPr id="12" name="!!tocC2"/>
          <p:cNvSpPr/>
          <p:nvPr/>
        </p:nvSpPr>
        <p:spPr>
          <a:xfrm>
            <a:off x="685800" y="2606040"/>
            <a:ext cx="365760" cy="365760"/>
          </a:xfrm>
          <a:prstGeom prst="ellipse">
            <a:avLst/>
          </a:prstGeom>
          <a:solidFill>
            <a:srgbClr val="FFFFFF"/>
          </a:solidFill>
          <a:ln w="15875">
            <a:solidFill>
              <a:srgbClr val="9C7A3C"/>
            </a:solidFill>
            <a:prstDash val="solid"/>
          </a:ln>
        </p:spPr>
      </p:sp>
      <p:sp>
        <p:nvSpPr>
          <p:cNvPr id="13" name="!!tocN2"/>
          <p:cNvSpPr txBox="1"/>
          <p:nvPr/>
        </p:nvSpPr>
        <p:spPr>
          <a:xfrm>
            <a:off x="685800" y="263347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03</a:t>
            </a:r>
            <a:endParaRPr lang="en-US" sz="1000" dirty="0"/>
          </a:p>
        </p:txBody>
      </p:sp>
      <p:sp>
        <p:nvSpPr>
          <p:cNvPr id="14" name="!!tocH2"/>
          <p:cNvSpPr txBox="1"/>
          <p:nvPr/>
        </p:nvSpPr>
        <p:spPr>
          <a:xfrm>
            <a:off x="1325880" y="256032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FinFET → GAAFET</a:t>
            </a:r>
            <a:endParaRPr lang="en-US" sz="1800" dirty="0"/>
          </a:p>
        </p:txBody>
      </p:sp>
      <p:sp>
        <p:nvSpPr>
          <p:cNvPr id="15" name="!!tocS2"/>
          <p:cNvSpPr txBox="1"/>
          <p:nvPr/>
        </p:nvSpPr>
        <p:spPr>
          <a:xfrm>
            <a:off x="1325880" y="290779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More gate sides · fin width · wire, sheet, stack · our GAA in numbers</a:t>
            </a:r>
            <a:endParaRPr lang="en-US" sz="1100" dirty="0"/>
          </a:p>
        </p:txBody>
      </p:sp>
      <p:sp>
        <p:nvSpPr>
          <p:cNvPr id="16" name="!!tocC3"/>
          <p:cNvSpPr/>
          <p:nvPr/>
        </p:nvSpPr>
        <p:spPr>
          <a:xfrm>
            <a:off x="685800" y="3246120"/>
            <a:ext cx="365760" cy="365760"/>
          </a:xfrm>
          <a:prstGeom prst="ellipse">
            <a:avLst/>
          </a:prstGeom>
          <a:solidFill>
            <a:srgbClr val="FFFFFF"/>
          </a:solidFill>
          <a:ln w="15875">
            <a:solidFill>
              <a:srgbClr val="9C7A3C"/>
            </a:solidFill>
            <a:prstDash val="solid"/>
          </a:ln>
        </p:spPr>
      </p:sp>
      <p:sp>
        <p:nvSpPr>
          <p:cNvPr id="17" name="!!tocN3"/>
          <p:cNvSpPr txBox="1"/>
          <p:nvPr/>
        </p:nvSpPr>
        <p:spPr>
          <a:xfrm>
            <a:off x="685800" y="327355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04</a:t>
            </a:r>
            <a:endParaRPr lang="en-US" sz="1000" dirty="0"/>
          </a:p>
        </p:txBody>
      </p:sp>
      <p:sp>
        <p:nvSpPr>
          <p:cNvPr id="18" name="!!tocH3"/>
          <p:cNvSpPr txBox="1"/>
          <p:nvPr/>
        </p:nvSpPr>
        <p:spPr>
          <a:xfrm>
            <a:off x="1325880" y="320040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The new problem: heat</a:t>
            </a:r>
            <a:endParaRPr lang="en-US" sz="1800" dirty="0"/>
          </a:p>
        </p:txBody>
      </p:sp>
      <p:sp>
        <p:nvSpPr>
          <p:cNvPr id="19" name="!!tocS3"/>
          <p:cNvSpPr txBox="1"/>
          <p:nvPr/>
        </p:nvSpPr>
        <p:spPr>
          <a:xfrm>
            <a:off x="1325880" y="354787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Oxide traps heat · ΔT = R</a:t>
            </a:r>
            <a:pPr algn="l" indent="0" marL="0">
              <a:buNone/>
            </a:pPr>
            <a:r>
              <a:rPr lang="en-US" sz="1100" baseline="-40000" dirty="0">
                <a:solidFill>
                  <a:srgbClr val="A9ACB1"/>
                </a:solidFill>
                <a:latin typeface="Segoe UI" pitchFamily="34" charset="0"/>
                <a:ea typeface="Segoe UI" pitchFamily="34" charset="-122"/>
                <a:cs typeface="Segoe UI" pitchFamily="34" charset="-120"/>
              </a:rPr>
              <a:t>th</a:t>
            </a:r>
            <a:pPr algn="l" indent="0" marL="0">
              <a:buNone/>
            </a:pPr>
            <a:r>
              <a:rPr lang="en-US" sz="1100" dirty="0">
                <a:solidFill>
                  <a:srgbClr val="A9ACB1"/>
                </a:solidFill>
                <a:latin typeface="Segoe UI" pitchFamily="34" charset="0"/>
                <a:ea typeface="Segoe UI" pitchFamily="34" charset="-122"/>
                <a:cs typeface="Segoe UI" pitchFamily="34" charset="-120"/>
              </a:rPr>
              <a:t> · P · what heat does to every metric</a:t>
            </a:r>
            <a:endParaRPr lang="en-US" sz="1100" dirty="0"/>
          </a:p>
        </p:txBody>
      </p:sp>
      <p:sp>
        <p:nvSpPr>
          <p:cNvPr id="20" name="!!tocC4"/>
          <p:cNvSpPr/>
          <p:nvPr/>
        </p:nvSpPr>
        <p:spPr>
          <a:xfrm>
            <a:off x="685800" y="3886200"/>
            <a:ext cx="365760" cy="365760"/>
          </a:xfrm>
          <a:prstGeom prst="ellipse">
            <a:avLst/>
          </a:prstGeom>
          <a:solidFill>
            <a:srgbClr val="FFFFFF"/>
          </a:solidFill>
          <a:ln w="15875">
            <a:solidFill>
              <a:srgbClr val="9C7A3C"/>
            </a:solidFill>
            <a:prstDash val="solid"/>
          </a:ln>
        </p:spPr>
      </p:sp>
      <p:sp>
        <p:nvSpPr>
          <p:cNvPr id="21" name="!!tocN4"/>
          <p:cNvSpPr txBox="1"/>
          <p:nvPr/>
        </p:nvSpPr>
        <p:spPr>
          <a:xfrm>
            <a:off x="685800" y="391363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05</a:t>
            </a:r>
            <a:endParaRPr lang="en-US" sz="1000" dirty="0"/>
          </a:p>
        </p:txBody>
      </p:sp>
      <p:sp>
        <p:nvSpPr>
          <p:cNvPr id="22" name="!!tocH4"/>
          <p:cNvSpPr txBox="1"/>
          <p:nvPr/>
        </p:nvSpPr>
        <p:spPr>
          <a:xfrm>
            <a:off x="1325880" y="384048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Literature and method</a:t>
            </a:r>
            <a:endParaRPr lang="en-US" sz="1800" dirty="0"/>
          </a:p>
        </p:txBody>
      </p:sp>
      <p:sp>
        <p:nvSpPr>
          <p:cNvPr id="23" name="!!tocS4"/>
          <p:cNvSpPr txBox="1"/>
          <p:nvPr/>
        </p:nvSpPr>
        <p:spPr>
          <a:xfrm>
            <a:off x="1325880" y="418795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Five papers · base paper Chen et al. 2025 · Silvaco Atlas flow</a:t>
            </a:r>
            <a:endParaRPr lang="en-US" sz="1100" dirty="0"/>
          </a:p>
        </p:txBody>
      </p:sp>
      <p:sp>
        <p:nvSpPr>
          <p:cNvPr id="24" name="!!tocC5"/>
          <p:cNvSpPr/>
          <p:nvPr/>
        </p:nvSpPr>
        <p:spPr>
          <a:xfrm>
            <a:off x="685800" y="4526280"/>
            <a:ext cx="365760" cy="365760"/>
          </a:xfrm>
          <a:prstGeom prst="ellipse">
            <a:avLst/>
          </a:prstGeom>
          <a:solidFill>
            <a:srgbClr val="FFFFFF"/>
          </a:solidFill>
          <a:ln w="15875">
            <a:solidFill>
              <a:srgbClr val="9C7A3C"/>
            </a:solidFill>
            <a:prstDash val="solid"/>
          </a:ln>
        </p:spPr>
      </p:sp>
      <p:sp>
        <p:nvSpPr>
          <p:cNvPr id="25" name="!!tocN5"/>
          <p:cNvSpPr txBox="1"/>
          <p:nvPr/>
        </p:nvSpPr>
        <p:spPr>
          <a:xfrm>
            <a:off x="685800" y="455371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06</a:t>
            </a:r>
            <a:endParaRPr lang="en-US" sz="1000" dirty="0"/>
          </a:p>
        </p:txBody>
      </p:sp>
      <p:sp>
        <p:nvSpPr>
          <p:cNvPr id="26" name="!!tocH5"/>
          <p:cNvSpPr txBox="1"/>
          <p:nvPr/>
        </p:nvSpPr>
        <p:spPr>
          <a:xfrm>
            <a:off x="1325880" y="448056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Three stages in TCAD</a:t>
            </a:r>
            <a:endParaRPr lang="en-US" sz="1800" dirty="0"/>
          </a:p>
        </p:txBody>
      </p:sp>
      <p:sp>
        <p:nvSpPr>
          <p:cNvPr id="27" name="!!tocS5"/>
          <p:cNvSpPr txBox="1"/>
          <p:nvPr/>
        </p:nvSpPr>
        <p:spPr>
          <a:xfrm>
            <a:off x="1325880" y="482803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Standard GAAFET · reproduce the paper · optimal design D</a:t>
            </a:r>
            <a:endParaRPr lang="en-US" sz="1100" dirty="0"/>
          </a:p>
        </p:txBody>
      </p:sp>
      <p:sp>
        <p:nvSpPr>
          <p:cNvPr id="28" name="!!tocC6"/>
          <p:cNvSpPr/>
          <p:nvPr/>
        </p:nvSpPr>
        <p:spPr>
          <a:xfrm>
            <a:off x="685800" y="5166360"/>
            <a:ext cx="365760" cy="365760"/>
          </a:xfrm>
          <a:prstGeom prst="ellipse">
            <a:avLst/>
          </a:prstGeom>
          <a:solidFill>
            <a:srgbClr val="FFFFFF"/>
          </a:solidFill>
          <a:ln w="15875">
            <a:solidFill>
              <a:srgbClr val="9C7A3C"/>
            </a:solidFill>
            <a:prstDash val="solid"/>
          </a:ln>
        </p:spPr>
      </p:sp>
      <p:sp>
        <p:nvSpPr>
          <p:cNvPr id="29" name="!!tocN6"/>
          <p:cNvSpPr txBox="1"/>
          <p:nvPr/>
        </p:nvSpPr>
        <p:spPr>
          <a:xfrm>
            <a:off x="685800" y="519379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07</a:t>
            </a:r>
            <a:endParaRPr lang="en-US" sz="1000" dirty="0"/>
          </a:p>
        </p:txBody>
      </p:sp>
      <p:sp>
        <p:nvSpPr>
          <p:cNvPr id="30" name="!!tocH6"/>
          <p:cNvSpPr txBox="1"/>
          <p:nvPr/>
        </p:nvSpPr>
        <p:spPr>
          <a:xfrm>
            <a:off x="1325880" y="512064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Conclusion</a:t>
            </a:r>
            <a:endParaRPr lang="en-US" sz="1800" dirty="0"/>
          </a:p>
        </p:txBody>
      </p:sp>
      <p:sp>
        <p:nvSpPr>
          <p:cNvPr id="31" name="!!tocS6"/>
          <p:cNvSpPr txBox="1"/>
          <p:nvPr/>
        </p:nvSpPr>
        <p:spPr>
          <a:xfrm>
            <a:off x="1325880" y="546811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Gains and limits · the whole story · next steps</a:t>
            </a:r>
            <a:endParaRPr lang="en-US" sz="1100" dirty="0"/>
          </a:p>
        </p:txBody>
      </p:sp>
      <p:sp>
        <p:nvSpPr>
          <p:cNvPr id="32" name="!!tocCard"/>
          <p:cNvSpPr/>
          <p:nvPr/>
        </p:nvSpPr>
        <p:spPr>
          <a:xfrm>
            <a:off x="8503920" y="2011680"/>
            <a:ext cx="3136392" cy="2377440"/>
          </a:xfrm>
          <a:prstGeom prst="roundRect">
            <a:avLst>
              <a:gd name="adj" fmla="val 3077"/>
            </a:avLst>
          </a:prstGeom>
          <a:solidFill>
            <a:srgbClr val="F4F5F7"/>
          </a:solidFill>
          <a:ln/>
        </p:spPr>
      </p:sp>
      <p:sp>
        <p:nvSpPr>
          <p:cNvPr id="33" name="!!tocCk"/>
          <p:cNvSpPr txBox="1"/>
          <p:nvPr/>
        </p:nvSpPr>
        <p:spPr>
          <a:xfrm>
            <a:off x="8732520" y="2240280"/>
            <a:ext cx="27432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Chapter 01</a:t>
            </a:r>
            <a:endParaRPr lang="en-US" sz="1200" dirty="0"/>
          </a:p>
        </p:txBody>
      </p:sp>
      <p:sp>
        <p:nvSpPr>
          <p:cNvPr id="34" name="!!tocCh"/>
          <p:cNvSpPr txBox="1"/>
          <p:nvPr/>
        </p:nvSpPr>
        <p:spPr>
          <a:xfrm>
            <a:off x="8732520" y="2560320"/>
            <a:ext cx="2743200" cy="822960"/>
          </a:xfrm>
          <a:prstGeom prst="rect">
            <a:avLst/>
          </a:prstGeom>
          <a:noFill/>
          <a:ln/>
        </p:spPr>
        <p:txBody>
          <a:bodyPr wrap="square" lIns="0" tIns="0" rIns="0" bIns="0" rtlCol="0" anchor="t"/>
          <a:lstStyle/>
          <a:p>
            <a:pPr algn="l" indent="0" marL="0">
              <a:buNone/>
            </a:pPr>
            <a:r>
              <a:rPr lang="en-US" sz="2200" dirty="0">
                <a:solidFill>
                  <a:srgbClr val="171A20"/>
                </a:solidFill>
                <a:latin typeface="Segoe UI Semibold" pitchFamily="34" charset="0"/>
                <a:ea typeface="Segoe UI Semibold" pitchFamily="34" charset="-122"/>
                <a:cs typeface="Segoe UI Semibold" pitchFamily="34" charset="-120"/>
              </a:rPr>
              <a:t>The MOSFET switch</a:t>
            </a:r>
            <a:endParaRPr lang="en-US" sz="2200" dirty="0"/>
          </a:p>
        </p:txBody>
      </p:sp>
      <p:sp>
        <p:nvSpPr>
          <p:cNvPr id="35" name="!!tocCs"/>
          <p:cNvSpPr txBox="1"/>
          <p:nvPr/>
        </p:nvSpPr>
        <p:spPr>
          <a:xfrm>
            <a:off x="8732520" y="3383280"/>
            <a:ext cx="2743200" cy="9144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Build it</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turn the gate</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turn the drain</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T</a:t>
            </a:r>
            <a:pPr algn="l" indent="0" marL="0">
              <a:buNone/>
            </a:pPr>
            <a:r>
              <a:rPr lang="en-US" sz="1100" dirty="0">
                <a:solidFill>
                  <a:srgbClr val="5C5E62"/>
                </a:solidFill>
                <a:latin typeface="Segoe UI" pitchFamily="34" charset="0"/>
                <a:ea typeface="Segoe UI" pitchFamily="34" charset="-122"/>
                <a:cs typeface="Segoe UI" pitchFamily="34" charset="-120"/>
              </a:rPr>
              <a:t> and SS in depth</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How it is built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Side view of a planar n-channel MOSFET, built one layer at a time</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E2E3E3"/>
          </a:solidFill>
          <a:ln/>
        </p:spPr>
      </p:sp>
      <p:sp>
        <p:nvSpPr>
          <p:cNvPr id="6" name="!!sdot2"/>
          <p:cNvSpPr/>
          <p:nvPr/>
        </p:nvSpPr>
        <p:spPr>
          <a:xfrm>
            <a:off x="11443716" y="525780"/>
            <a:ext cx="82296" cy="82296"/>
          </a:xfrm>
          <a:prstGeom prst="ellipse">
            <a:avLst/>
          </a:prstGeom>
          <a:solidFill>
            <a:srgbClr val="E2E3E3"/>
          </a:solidFill>
          <a:ln/>
        </p:spPr>
      </p:sp>
      <p:sp>
        <p:nvSpPr>
          <p:cNvPr id="7" name="!!sdot3"/>
          <p:cNvSpPr/>
          <p:nvPr/>
        </p:nvSpPr>
        <p:spPr>
          <a:xfrm>
            <a:off x="11599164" y="525780"/>
            <a:ext cx="82296" cy="82296"/>
          </a:xfrm>
          <a:prstGeom prst="ellipse">
            <a:avLst/>
          </a:prstGeom>
          <a:solidFill>
            <a:srgbClr val="E2E3E3"/>
          </a:solidFill>
          <a:ln/>
        </p:spPr>
      </p:sp>
      <p:sp>
        <p:nvSpPr>
          <p:cNvPr id="8" name="!!mBody"/>
          <p:cNvSpPr/>
          <p:nvPr/>
        </p:nvSpPr>
        <p:spPr>
          <a:xfrm>
            <a:off x="640080" y="2240280"/>
            <a:ext cx="5120640" cy="1417320"/>
          </a:xfrm>
          <a:prstGeom prst="rect">
            <a:avLst/>
          </a:prstGeom>
          <a:solidFill>
            <a:srgbClr val="F6E7B8"/>
          </a:solidFill>
          <a:ln/>
        </p:spPr>
      </p:sp>
      <p:sp>
        <p:nvSpPr>
          <p:cNvPr id="9"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0" name="!!card"/>
          <p:cNvSpPr/>
          <p:nvPr/>
        </p:nvSpPr>
        <p:spPr>
          <a:xfrm>
            <a:off x="6766560" y="1554480"/>
            <a:ext cx="4873752" cy="2377440"/>
          </a:xfrm>
          <a:prstGeom prst="roundRect">
            <a:avLst>
              <a:gd name="adj" fmla="val 3077"/>
            </a:avLst>
          </a:prstGeom>
          <a:solidFill>
            <a:srgbClr val="F4F5F7"/>
          </a:solidFill>
          <a:ln/>
        </p:spPr>
      </p:sp>
      <p:sp>
        <p:nvSpPr>
          <p:cNvPr id="11" name="!!cardn"/>
          <p:cNvSpPr/>
          <p:nvPr/>
        </p:nvSpPr>
        <p:spPr>
          <a:xfrm>
            <a:off x="6976872" y="1764792"/>
            <a:ext cx="347472" cy="347472"/>
          </a:xfrm>
          <a:prstGeom prst="ellipse">
            <a:avLst/>
          </a:prstGeom>
          <a:solidFill>
            <a:srgbClr val="3E6AE1"/>
          </a:solidFill>
          <a:ln/>
        </p:spPr>
      </p:sp>
      <p:sp>
        <p:nvSpPr>
          <p:cNvPr id="12" name="!!cardnt"/>
          <p:cNvSpPr txBox="1"/>
          <p:nvPr/>
        </p:nvSpPr>
        <p:spPr>
          <a:xfrm>
            <a:off x="697687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3" name="!!cardh"/>
          <p:cNvSpPr txBox="1"/>
          <p:nvPr/>
        </p:nvSpPr>
        <p:spPr>
          <a:xfrm>
            <a:off x="7452360" y="1773936"/>
            <a:ext cx="4005072" cy="347472"/>
          </a:xfrm>
          <a:prstGeom prst="rect">
            <a:avLst/>
          </a:prstGeom>
          <a:noFill/>
          <a:ln/>
        </p:spPr>
        <p:txBody>
          <a:bodyPr wrap="square" lIns="0" tIns="0" rIns="0" bIns="0" rtlCol="0" anchor="ctr"/>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Start with p-type silicon</a:t>
            </a:r>
            <a:endParaRPr lang="en-US" sz="1600" dirty="0"/>
          </a:p>
        </p:txBody>
      </p:sp>
      <p:sp>
        <p:nvSpPr>
          <p:cNvPr id="14" name="!!cardb"/>
          <p:cNvSpPr txBox="1"/>
          <p:nvPr/>
        </p:nvSpPr>
        <p:spPr>
          <a:xfrm>
            <a:off x="6995160" y="2267712"/>
            <a:ext cx="4416552" cy="150876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A crystal of silicon doped with boron: holes are the majority carriers. No current can flow from left to right yet.</a:t>
            </a:r>
            <a:endParaRPr lang="en-US" sz="1300" dirty="0"/>
          </a:p>
        </p:txBody>
      </p:sp>
      <p:sp>
        <p:nvSpPr>
          <p:cNvPr id="15"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Every transistor starts as a block of lightly doped silicon.</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How it is built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Side view of a planar n-channel MOSFET, built one layer at a time</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171A20"/>
          </a:solidFill>
          <a:ln/>
        </p:spPr>
      </p:sp>
      <p:sp>
        <p:nvSpPr>
          <p:cNvPr id="6" name="!!sdot2"/>
          <p:cNvSpPr/>
          <p:nvPr/>
        </p:nvSpPr>
        <p:spPr>
          <a:xfrm>
            <a:off x="11443716" y="525780"/>
            <a:ext cx="82296" cy="82296"/>
          </a:xfrm>
          <a:prstGeom prst="ellipse">
            <a:avLst/>
          </a:prstGeom>
          <a:solidFill>
            <a:srgbClr val="E2E3E3"/>
          </a:solidFill>
          <a:ln/>
        </p:spPr>
      </p:sp>
      <p:sp>
        <p:nvSpPr>
          <p:cNvPr id="7" name="!!sdot3"/>
          <p:cNvSpPr/>
          <p:nvPr/>
        </p:nvSpPr>
        <p:spPr>
          <a:xfrm>
            <a:off x="11599164" y="525780"/>
            <a:ext cx="82296" cy="82296"/>
          </a:xfrm>
          <a:prstGeom prst="ellipse">
            <a:avLst/>
          </a:prstGeom>
          <a:solidFill>
            <a:srgbClr val="E2E3E3"/>
          </a:solidFill>
          <a:ln/>
        </p:spPr>
      </p:sp>
      <p:sp>
        <p:nvSpPr>
          <p:cNvPr id="8" name="!!mBody"/>
          <p:cNvSpPr/>
          <p:nvPr/>
        </p:nvSpPr>
        <p:spPr>
          <a:xfrm>
            <a:off x="640080" y="2240280"/>
            <a:ext cx="5120640" cy="1417320"/>
          </a:xfrm>
          <a:prstGeom prst="rect">
            <a:avLst/>
          </a:prstGeom>
          <a:solidFill>
            <a:srgbClr val="F6E7B8"/>
          </a:solidFill>
          <a:ln/>
        </p:spPr>
      </p:sp>
      <p:sp>
        <p:nvSpPr>
          <p:cNvPr id="9"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0" name="!!mSrc"/>
          <p:cNvSpPr/>
          <p:nvPr/>
        </p:nvSpPr>
        <p:spPr>
          <a:xfrm>
            <a:off x="640080" y="2240280"/>
            <a:ext cx="1325880" cy="548640"/>
          </a:xfrm>
          <a:prstGeom prst="roundRect">
            <a:avLst>
              <a:gd name="adj" fmla="val 8333"/>
            </a:avLst>
          </a:prstGeom>
          <a:solidFill>
            <a:srgbClr val="7D9BE6"/>
          </a:solidFill>
          <a:ln/>
        </p:spPr>
      </p:sp>
      <p:sp>
        <p:nvSpPr>
          <p:cNvPr id="11" name="!!mDrn"/>
          <p:cNvSpPr/>
          <p:nvPr/>
        </p:nvSpPr>
        <p:spPr>
          <a:xfrm>
            <a:off x="4434840" y="2240280"/>
            <a:ext cx="1325880" cy="548640"/>
          </a:xfrm>
          <a:prstGeom prst="roundRect">
            <a:avLst>
              <a:gd name="adj" fmla="val 8333"/>
            </a:avLst>
          </a:prstGeom>
          <a:solidFill>
            <a:srgbClr val="7D9BE6"/>
          </a:solidFill>
          <a:ln/>
        </p:spPr>
      </p:sp>
      <p:sp>
        <p:nvSpPr>
          <p:cNvPr id="12" name="!!mSrcL"/>
          <p:cNvSpPr txBox="1"/>
          <p:nvPr/>
        </p:nvSpPr>
        <p:spPr>
          <a:xfrm>
            <a:off x="64008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3" name="!!mDrnL"/>
          <p:cNvSpPr txBox="1"/>
          <p:nvPr/>
        </p:nvSpPr>
        <p:spPr>
          <a:xfrm>
            <a:off x="448056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4" name="!!card"/>
          <p:cNvSpPr/>
          <p:nvPr/>
        </p:nvSpPr>
        <p:spPr>
          <a:xfrm>
            <a:off x="6766560" y="1554480"/>
            <a:ext cx="4873752" cy="2377440"/>
          </a:xfrm>
          <a:prstGeom prst="roundRect">
            <a:avLst>
              <a:gd name="adj" fmla="val 3077"/>
            </a:avLst>
          </a:prstGeom>
          <a:solidFill>
            <a:srgbClr val="F4F5F7"/>
          </a:solidFill>
          <a:ln/>
        </p:spPr>
      </p:sp>
      <p:sp>
        <p:nvSpPr>
          <p:cNvPr id="15" name="!!cardn"/>
          <p:cNvSpPr/>
          <p:nvPr/>
        </p:nvSpPr>
        <p:spPr>
          <a:xfrm>
            <a:off x="6976872" y="1764792"/>
            <a:ext cx="347472" cy="347472"/>
          </a:xfrm>
          <a:prstGeom prst="ellipse">
            <a:avLst/>
          </a:prstGeom>
          <a:solidFill>
            <a:srgbClr val="3E6AE1"/>
          </a:solidFill>
          <a:ln/>
        </p:spPr>
      </p:sp>
      <p:sp>
        <p:nvSpPr>
          <p:cNvPr id="16" name="!!cardnt"/>
          <p:cNvSpPr txBox="1"/>
          <p:nvPr/>
        </p:nvSpPr>
        <p:spPr>
          <a:xfrm>
            <a:off x="697687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7" name="!!cardh"/>
          <p:cNvSpPr txBox="1"/>
          <p:nvPr/>
        </p:nvSpPr>
        <p:spPr>
          <a:xfrm>
            <a:off x="7452360" y="1773936"/>
            <a:ext cx="4005072" cy="347472"/>
          </a:xfrm>
          <a:prstGeom prst="rect">
            <a:avLst/>
          </a:prstGeom>
          <a:noFill/>
          <a:ln/>
        </p:spPr>
        <p:txBody>
          <a:bodyPr wrap="square" lIns="0" tIns="0" rIns="0" bIns="0" rtlCol="0" anchor="ctr"/>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Add n+ source and drain</a:t>
            </a:r>
            <a:endParaRPr lang="en-US" sz="1600" dirty="0"/>
          </a:p>
        </p:txBody>
      </p:sp>
      <p:sp>
        <p:nvSpPr>
          <p:cNvPr id="18" name="!!cardb"/>
          <p:cNvSpPr txBox="1"/>
          <p:nvPr/>
        </p:nvSpPr>
        <p:spPr>
          <a:xfrm>
            <a:off x="6995160" y="2267712"/>
            <a:ext cx="4416552" cy="150876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Two heavily doped n-type islands full of free electrons. Between them: p-type silicon, which blocks electrons.</a:t>
            </a:r>
            <a:endParaRPr lang="en-US" sz="1300" dirty="0"/>
          </a:p>
        </p:txBody>
      </p:sp>
      <p:sp>
        <p:nvSpPr>
          <p:cNvPr id="1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Source and drain are full of electrons; the p-type gap between them blocks them.</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How it is built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Side view of a planar n-channel MOSFET, built one layer at a time</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171A20"/>
          </a:solidFill>
          <a:ln/>
        </p:spPr>
      </p:sp>
      <p:sp>
        <p:nvSpPr>
          <p:cNvPr id="6" name="!!sdot2"/>
          <p:cNvSpPr/>
          <p:nvPr/>
        </p:nvSpPr>
        <p:spPr>
          <a:xfrm>
            <a:off x="11443716" y="525780"/>
            <a:ext cx="82296" cy="82296"/>
          </a:xfrm>
          <a:prstGeom prst="ellipse">
            <a:avLst/>
          </a:prstGeom>
          <a:solidFill>
            <a:srgbClr val="171A20"/>
          </a:solidFill>
          <a:ln/>
        </p:spPr>
      </p:sp>
      <p:sp>
        <p:nvSpPr>
          <p:cNvPr id="7" name="!!sdot3"/>
          <p:cNvSpPr/>
          <p:nvPr/>
        </p:nvSpPr>
        <p:spPr>
          <a:xfrm>
            <a:off x="11599164" y="525780"/>
            <a:ext cx="82296" cy="82296"/>
          </a:xfrm>
          <a:prstGeom prst="ellipse">
            <a:avLst/>
          </a:prstGeom>
          <a:solidFill>
            <a:srgbClr val="E2E3E3"/>
          </a:solidFill>
          <a:ln/>
        </p:spPr>
      </p:sp>
      <p:sp>
        <p:nvSpPr>
          <p:cNvPr id="8" name="!!mBody"/>
          <p:cNvSpPr/>
          <p:nvPr/>
        </p:nvSpPr>
        <p:spPr>
          <a:xfrm>
            <a:off x="640080" y="2240280"/>
            <a:ext cx="5120640" cy="1417320"/>
          </a:xfrm>
          <a:prstGeom prst="rect">
            <a:avLst/>
          </a:prstGeom>
          <a:solidFill>
            <a:srgbClr val="F6E7B8"/>
          </a:solidFill>
          <a:ln/>
        </p:spPr>
      </p:sp>
      <p:sp>
        <p:nvSpPr>
          <p:cNvPr id="9"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0" name="!!mDepl"/>
          <p:cNvSpPr/>
          <p:nvPr/>
        </p:nvSpPr>
        <p:spPr>
          <a:xfrm>
            <a:off x="1920240" y="2240280"/>
            <a:ext cx="2560320" cy="274320"/>
          </a:xfrm>
          <a:prstGeom prst="rect">
            <a:avLst/>
          </a:prstGeom>
          <a:solidFill>
            <a:srgbClr val="F7D4D9"/>
          </a:solidFill>
          <a:ln/>
        </p:spPr>
      </p:sp>
      <p:sp>
        <p:nvSpPr>
          <p:cNvPr id="11" name="!!mSrc"/>
          <p:cNvSpPr/>
          <p:nvPr/>
        </p:nvSpPr>
        <p:spPr>
          <a:xfrm>
            <a:off x="640080" y="2240280"/>
            <a:ext cx="1325880" cy="548640"/>
          </a:xfrm>
          <a:prstGeom prst="roundRect">
            <a:avLst>
              <a:gd name="adj" fmla="val 8333"/>
            </a:avLst>
          </a:prstGeom>
          <a:solidFill>
            <a:srgbClr val="7D9BE6"/>
          </a:solidFill>
          <a:ln/>
        </p:spPr>
      </p:sp>
      <p:sp>
        <p:nvSpPr>
          <p:cNvPr id="12" name="!!mDrn"/>
          <p:cNvSpPr/>
          <p:nvPr/>
        </p:nvSpPr>
        <p:spPr>
          <a:xfrm>
            <a:off x="4434840" y="2240280"/>
            <a:ext cx="1325880" cy="548640"/>
          </a:xfrm>
          <a:prstGeom prst="roundRect">
            <a:avLst>
              <a:gd name="adj" fmla="val 8333"/>
            </a:avLst>
          </a:prstGeom>
          <a:solidFill>
            <a:srgbClr val="7D9BE6"/>
          </a:solidFill>
          <a:ln/>
        </p:spPr>
      </p:sp>
      <p:sp>
        <p:nvSpPr>
          <p:cNvPr id="13" name="!!mSrcL"/>
          <p:cNvSpPr txBox="1"/>
          <p:nvPr/>
        </p:nvSpPr>
        <p:spPr>
          <a:xfrm>
            <a:off x="64008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4" name="!!mDrnL"/>
          <p:cNvSpPr txBox="1"/>
          <p:nvPr/>
        </p:nvSpPr>
        <p:spPr>
          <a:xfrm>
            <a:off x="448056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5" name="!!mOx"/>
          <p:cNvSpPr/>
          <p:nvPr/>
        </p:nvSpPr>
        <p:spPr>
          <a:xfrm>
            <a:off x="1920240" y="2167128"/>
            <a:ext cx="2560320" cy="73152"/>
          </a:xfrm>
          <a:prstGeom prst="rect">
            <a:avLst/>
          </a:prstGeom>
          <a:solidFill>
            <a:srgbClr val="CDEBF5"/>
          </a:solidFill>
          <a:ln/>
        </p:spPr>
      </p:sp>
      <p:sp>
        <p:nvSpPr>
          <p:cNvPr id="16" name="!!mGate"/>
          <p:cNvSpPr/>
          <p:nvPr/>
        </p:nvSpPr>
        <p:spPr>
          <a:xfrm>
            <a:off x="1920240" y="1783080"/>
            <a:ext cx="2560320" cy="384048"/>
          </a:xfrm>
          <a:prstGeom prst="roundRect">
            <a:avLst>
              <a:gd name="adj" fmla="val 9524"/>
            </a:avLst>
          </a:prstGeom>
          <a:solidFill>
            <a:srgbClr val="B3A6E6"/>
          </a:solidFill>
          <a:ln/>
        </p:spPr>
      </p:sp>
      <p:sp>
        <p:nvSpPr>
          <p:cNvPr id="17" name="!!mGateL"/>
          <p:cNvSpPr txBox="1"/>
          <p:nvPr/>
        </p:nvSpPr>
        <p:spPr>
          <a:xfrm>
            <a:off x="1920240" y="1837944"/>
            <a:ext cx="2560320"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18" name="!!card"/>
          <p:cNvSpPr/>
          <p:nvPr/>
        </p:nvSpPr>
        <p:spPr>
          <a:xfrm>
            <a:off x="6766560" y="1554480"/>
            <a:ext cx="4873752" cy="2377440"/>
          </a:xfrm>
          <a:prstGeom prst="roundRect">
            <a:avLst>
              <a:gd name="adj" fmla="val 3077"/>
            </a:avLst>
          </a:prstGeom>
          <a:solidFill>
            <a:srgbClr val="F4F5F7"/>
          </a:solidFill>
          <a:ln/>
        </p:spPr>
      </p:sp>
      <p:sp>
        <p:nvSpPr>
          <p:cNvPr id="19" name="!!cardn"/>
          <p:cNvSpPr/>
          <p:nvPr/>
        </p:nvSpPr>
        <p:spPr>
          <a:xfrm>
            <a:off x="6976872" y="1764792"/>
            <a:ext cx="347472" cy="347472"/>
          </a:xfrm>
          <a:prstGeom prst="ellipse">
            <a:avLst/>
          </a:prstGeom>
          <a:solidFill>
            <a:srgbClr val="3E6AE1"/>
          </a:solidFill>
          <a:ln/>
        </p:spPr>
      </p:sp>
      <p:sp>
        <p:nvSpPr>
          <p:cNvPr id="20" name="!!cardnt"/>
          <p:cNvSpPr txBox="1"/>
          <p:nvPr/>
        </p:nvSpPr>
        <p:spPr>
          <a:xfrm>
            <a:off x="697687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1" name="!!cardh"/>
          <p:cNvSpPr txBox="1"/>
          <p:nvPr/>
        </p:nvSpPr>
        <p:spPr>
          <a:xfrm>
            <a:off x="7452360" y="1773936"/>
            <a:ext cx="4005072" cy="347472"/>
          </a:xfrm>
          <a:prstGeom prst="rect">
            <a:avLst/>
          </a:prstGeom>
          <a:noFill/>
          <a:ln/>
        </p:spPr>
        <p:txBody>
          <a:bodyPr wrap="square" lIns="0" tIns="0" rIns="0" bIns="0" rtlCol="0" anchor="ctr"/>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Add oxide and gate</a:t>
            </a:r>
            <a:endParaRPr lang="en-US" sz="1600" dirty="0"/>
          </a:p>
        </p:txBody>
      </p:sp>
      <p:sp>
        <p:nvSpPr>
          <p:cNvPr id="22" name="!!cardb"/>
          <p:cNvSpPr txBox="1"/>
          <p:nvPr/>
        </p:nvSpPr>
        <p:spPr>
          <a:xfrm>
            <a:off x="6995160" y="2267712"/>
            <a:ext cx="4416552" cy="150876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A thin insulator and a metal gate sit over the gap. The gate cannot touch the channel, it can only push on it with an electric field.</a:t>
            </a:r>
            <a:endParaRPr lang="en-US" sz="1300" dirty="0"/>
          </a:p>
        </p:txBody>
      </p:sp>
      <p:sp>
        <p:nvSpPr>
          <p:cNvPr id="2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 gate controls the gap through the oxide, like one plate of a capacitor.</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How it is built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Side view of a planar n-channel MOSFET, built one layer at a time</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171A20"/>
          </a:solidFill>
          <a:ln/>
        </p:spPr>
      </p:sp>
      <p:sp>
        <p:nvSpPr>
          <p:cNvPr id="6" name="!!sdot2"/>
          <p:cNvSpPr/>
          <p:nvPr/>
        </p:nvSpPr>
        <p:spPr>
          <a:xfrm>
            <a:off x="11443716" y="525780"/>
            <a:ext cx="82296" cy="82296"/>
          </a:xfrm>
          <a:prstGeom prst="ellipse">
            <a:avLst/>
          </a:prstGeom>
          <a:solidFill>
            <a:srgbClr val="171A20"/>
          </a:solidFill>
          <a:ln/>
        </p:spPr>
      </p:sp>
      <p:sp>
        <p:nvSpPr>
          <p:cNvPr id="7" name="!!sdot3"/>
          <p:cNvSpPr/>
          <p:nvPr/>
        </p:nvSpPr>
        <p:spPr>
          <a:xfrm>
            <a:off x="11599164" y="525780"/>
            <a:ext cx="82296" cy="82296"/>
          </a:xfrm>
          <a:prstGeom prst="ellipse">
            <a:avLst/>
          </a:prstGeom>
          <a:solidFill>
            <a:srgbClr val="171A20"/>
          </a:solidFill>
          <a:ln/>
        </p:spPr>
      </p:sp>
      <p:sp>
        <p:nvSpPr>
          <p:cNvPr id="8" name="!!mBody"/>
          <p:cNvSpPr/>
          <p:nvPr/>
        </p:nvSpPr>
        <p:spPr>
          <a:xfrm>
            <a:off x="640080" y="2240280"/>
            <a:ext cx="5120640" cy="1417320"/>
          </a:xfrm>
          <a:prstGeom prst="rect">
            <a:avLst/>
          </a:prstGeom>
          <a:solidFill>
            <a:srgbClr val="F6E7B8"/>
          </a:solidFill>
          <a:ln/>
        </p:spPr>
      </p:sp>
      <p:sp>
        <p:nvSpPr>
          <p:cNvPr id="9"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0" name="!!mDepl"/>
          <p:cNvSpPr/>
          <p:nvPr/>
        </p:nvSpPr>
        <p:spPr>
          <a:xfrm>
            <a:off x="1920240" y="2240280"/>
            <a:ext cx="2560320" cy="274320"/>
          </a:xfrm>
          <a:prstGeom prst="rect">
            <a:avLst/>
          </a:prstGeom>
          <a:solidFill>
            <a:srgbClr val="F7D4D9"/>
          </a:solidFill>
          <a:ln/>
        </p:spPr>
      </p:sp>
      <p:sp>
        <p:nvSpPr>
          <p:cNvPr id="11" name="!!mSrc"/>
          <p:cNvSpPr/>
          <p:nvPr/>
        </p:nvSpPr>
        <p:spPr>
          <a:xfrm>
            <a:off x="640080" y="2240280"/>
            <a:ext cx="1325880" cy="548640"/>
          </a:xfrm>
          <a:prstGeom prst="roundRect">
            <a:avLst>
              <a:gd name="adj" fmla="val 8333"/>
            </a:avLst>
          </a:prstGeom>
          <a:solidFill>
            <a:srgbClr val="7D9BE6"/>
          </a:solidFill>
          <a:ln/>
        </p:spPr>
      </p:sp>
      <p:sp>
        <p:nvSpPr>
          <p:cNvPr id="12" name="!!mDrn"/>
          <p:cNvSpPr/>
          <p:nvPr/>
        </p:nvSpPr>
        <p:spPr>
          <a:xfrm>
            <a:off x="4434840" y="2240280"/>
            <a:ext cx="1325880" cy="548640"/>
          </a:xfrm>
          <a:prstGeom prst="roundRect">
            <a:avLst>
              <a:gd name="adj" fmla="val 8333"/>
            </a:avLst>
          </a:prstGeom>
          <a:solidFill>
            <a:srgbClr val="7D9BE6"/>
          </a:solidFill>
          <a:ln/>
        </p:spPr>
      </p:sp>
      <p:sp>
        <p:nvSpPr>
          <p:cNvPr id="13" name="!!mSrcL"/>
          <p:cNvSpPr txBox="1"/>
          <p:nvPr/>
        </p:nvSpPr>
        <p:spPr>
          <a:xfrm>
            <a:off x="64008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4" name="!!mDrnL"/>
          <p:cNvSpPr txBox="1"/>
          <p:nvPr/>
        </p:nvSpPr>
        <p:spPr>
          <a:xfrm>
            <a:off x="448056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5" name="!!mOx"/>
          <p:cNvSpPr/>
          <p:nvPr/>
        </p:nvSpPr>
        <p:spPr>
          <a:xfrm>
            <a:off x="1920240" y="2167128"/>
            <a:ext cx="2560320" cy="73152"/>
          </a:xfrm>
          <a:prstGeom prst="rect">
            <a:avLst/>
          </a:prstGeom>
          <a:solidFill>
            <a:srgbClr val="CDEBF5"/>
          </a:solidFill>
          <a:ln/>
        </p:spPr>
      </p:sp>
      <p:sp>
        <p:nvSpPr>
          <p:cNvPr id="16" name="!!mGate"/>
          <p:cNvSpPr/>
          <p:nvPr/>
        </p:nvSpPr>
        <p:spPr>
          <a:xfrm>
            <a:off x="1920240" y="1783080"/>
            <a:ext cx="2560320" cy="384048"/>
          </a:xfrm>
          <a:prstGeom prst="roundRect">
            <a:avLst>
              <a:gd name="adj" fmla="val 9524"/>
            </a:avLst>
          </a:prstGeom>
          <a:solidFill>
            <a:srgbClr val="B3A6E6"/>
          </a:solidFill>
          <a:ln/>
        </p:spPr>
      </p:sp>
      <p:sp>
        <p:nvSpPr>
          <p:cNvPr id="17" name="!!mGateL"/>
          <p:cNvSpPr txBox="1"/>
          <p:nvPr/>
        </p:nvSpPr>
        <p:spPr>
          <a:xfrm>
            <a:off x="1920240" y="1837944"/>
            <a:ext cx="2560320"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18" name="!!mVS"/>
          <p:cNvSpPr txBox="1"/>
          <p:nvPr/>
        </p:nvSpPr>
        <p:spPr>
          <a:xfrm>
            <a:off x="640080" y="1856232"/>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S</a:t>
            </a:r>
            <a:pPr algn="l" indent="0" marL="0">
              <a:buNone/>
            </a:pPr>
            <a:r>
              <a:rPr lang="en-US" sz="1100" dirty="0">
                <a:solidFill>
                  <a:srgbClr val="5C5E62"/>
                </a:solidFill>
                <a:latin typeface="Segoe UI" pitchFamily="34" charset="0"/>
                <a:ea typeface="Segoe UI" pitchFamily="34" charset="-122"/>
                <a:cs typeface="Segoe UI" pitchFamily="34" charset="-120"/>
              </a:rPr>
              <a:t> = 0</a:t>
            </a:r>
            <a:endParaRPr lang="en-US" sz="1100" dirty="0"/>
          </a:p>
        </p:txBody>
      </p:sp>
      <p:sp>
        <p:nvSpPr>
          <p:cNvPr id="19" name="!!mVG"/>
          <p:cNvSpPr txBox="1"/>
          <p:nvPr/>
        </p:nvSpPr>
        <p:spPr>
          <a:xfrm>
            <a:off x="2286000" y="1490472"/>
            <a:ext cx="1828800" cy="237744"/>
          </a:xfrm>
          <a:prstGeom prst="rect">
            <a:avLst/>
          </a:prstGeom>
          <a:noFill/>
          <a:ln/>
        </p:spPr>
        <p:txBody>
          <a:bodyPr wrap="square" lIns="0" tIns="0" rIns="0" bIns="0" rtlCol="0" anchor="t"/>
          <a:lstStyle/>
          <a:p>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ctr"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 = 0.00 V</a:t>
            </a:r>
            <a:endParaRPr lang="en-US" sz="1200" dirty="0"/>
          </a:p>
        </p:txBody>
      </p:sp>
      <p:sp>
        <p:nvSpPr>
          <p:cNvPr id="20" name="!!mVD"/>
          <p:cNvSpPr txBox="1"/>
          <p:nvPr/>
        </p:nvSpPr>
        <p:spPr>
          <a:xfrm>
            <a:off x="4480560" y="1856232"/>
            <a:ext cx="1280160" cy="228600"/>
          </a:xfrm>
          <a:prstGeom prst="rect">
            <a:avLst/>
          </a:prstGeom>
          <a:noFill/>
          <a:ln/>
        </p:spPr>
        <p:txBody>
          <a:bodyPr wrap="square" lIns="0" tIns="0" rIns="0" bIns="0" rtlCol="0" anchor="t"/>
          <a:lstStyle/>
          <a:p>
            <a:pPr algn="r" indent="0" marL="0">
              <a:buNone/>
            </a:pPr>
            <a:r>
              <a:rPr lang="en-US" sz="1100" dirty="0">
                <a:solidFill>
                  <a:srgbClr val="5C5E62"/>
                </a:solidFill>
                <a:latin typeface="Segoe UI" pitchFamily="34" charset="0"/>
                <a:ea typeface="Segoe UI" pitchFamily="34" charset="-122"/>
                <a:cs typeface="Segoe UI" pitchFamily="34" charset="-120"/>
              </a:rPr>
              <a:t>V</a:t>
            </a:r>
            <a:pPr algn="r" indent="0" marL="0">
              <a:buNone/>
            </a:pPr>
            <a:r>
              <a:rPr lang="en-US" sz="1100" baseline="-40000" dirty="0">
                <a:solidFill>
                  <a:srgbClr val="5C5E62"/>
                </a:solidFill>
                <a:latin typeface="Segoe UI" pitchFamily="34" charset="0"/>
                <a:ea typeface="Segoe UI" pitchFamily="34" charset="-122"/>
                <a:cs typeface="Segoe UI" pitchFamily="34" charset="-120"/>
              </a:rPr>
              <a:t>D</a:t>
            </a:r>
            <a:pPr algn="r" indent="0" marL="0">
              <a:buNone/>
            </a:pPr>
            <a:r>
              <a:rPr lang="en-US" sz="1100" dirty="0">
                <a:solidFill>
                  <a:srgbClr val="5C5E62"/>
                </a:solidFill>
                <a:latin typeface="Segoe UI" pitchFamily="34" charset="0"/>
                <a:ea typeface="Segoe UI" pitchFamily="34" charset="-122"/>
                <a:cs typeface="Segoe UI" pitchFamily="34" charset="-120"/>
              </a:rPr>
              <a:t> = 0.70 V</a:t>
            </a:r>
            <a:endParaRPr lang="en-US" sz="1100" dirty="0"/>
          </a:p>
        </p:txBody>
      </p:sp>
      <p:sp>
        <p:nvSpPr>
          <p:cNvPr id="21" name="!!bCurve"/>
          <p:cNvSpPr/>
          <p:nvPr/>
        </p:nvSpPr>
        <p:spPr>
          <a:xfrm>
            <a:off x="640080" y="4133120"/>
            <a:ext cx="5120640" cy="1165810"/>
          </a:xfrm>
          <a:custGeom>
            <a:avLst/>
            <a:gdLst/>
            <a:ahLst/>
            <a:cxnLst/>
            <a:rect l="l" t="t" r="r" b="b"/>
            <a:pathLst>
              <a:path w="5120640" h="1165810">
                <a:moveTo>
                  <a:pt x="0" y="621747"/>
                </a:moveTo>
                <a:lnTo>
                  <a:pt x="113792" y="621726"/>
                </a:lnTo>
                <a:lnTo>
                  <a:pt x="227584" y="621671"/>
                </a:lnTo>
                <a:lnTo>
                  <a:pt x="341376" y="621529"/>
                </a:lnTo>
                <a:lnTo>
                  <a:pt x="455168" y="621159"/>
                </a:lnTo>
                <a:lnTo>
                  <a:pt x="568960" y="620196"/>
                </a:lnTo>
                <a:lnTo>
                  <a:pt x="682752" y="617703"/>
                </a:lnTo>
                <a:lnTo>
                  <a:pt x="796544" y="611303"/>
                </a:lnTo>
                <a:lnTo>
                  <a:pt x="910336" y="595240"/>
                </a:lnTo>
                <a:lnTo>
                  <a:pt x="1024128" y="557111"/>
                </a:lnTo>
                <a:lnTo>
                  <a:pt x="1137920" y="477452"/>
                </a:lnTo>
                <a:lnTo>
                  <a:pt x="1251712" y="347889"/>
                </a:lnTo>
                <a:lnTo>
                  <a:pt x="1365504" y="203819"/>
                </a:lnTo>
                <a:lnTo>
                  <a:pt x="1479296" y="98043"/>
                </a:lnTo>
                <a:lnTo>
                  <a:pt x="1593088" y="41676"/>
                </a:lnTo>
                <a:lnTo>
                  <a:pt x="1706880" y="16672"/>
                </a:lnTo>
                <a:lnTo>
                  <a:pt x="1820672" y="6489"/>
                </a:lnTo>
                <a:lnTo>
                  <a:pt x="1934464" y="2488"/>
                </a:lnTo>
                <a:lnTo>
                  <a:pt x="2048256" y="938"/>
                </a:lnTo>
                <a:lnTo>
                  <a:pt x="2162048" y="341"/>
                </a:lnTo>
                <a:lnTo>
                  <a:pt x="2275840" y="113"/>
                </a:lnTo>
                <a:lnTo>
                  <a:pt x="2389632" y="27"/>
                </a:lnTo>
                <a:lnTo>
                  <a:pt x="2503424" y="0"/>
                </a:lnTo>
                <a:lnTo>
                  <a:pt x="2617216" y="5"/>
                </a:lnTo>
                <a:lnTo>
                  <a:pt x="2731008" y="48"/>
                </a:lnTo>
                <a:lnTo>
                  <a:pt x="2844800" y="175"/>
                </a:lnTo>
                <a:lnTo>
                  <a:pt x="2958592" y="517"/>
                </a:lnTo>
                <a:lnTo>
                  <a:pt x="3072384" y="1434"/>
                </a:lnTo>
                <a:lnTo>
                  <a:pt x="3186176" y="3884"/>
                </a:lnTo>
                <a:lnTo>
                  <a:pt x="3299968" y="10409"/>
                </a:lnTo>
                <a:lnTo>
                  <a:pt x="3413760" y="27584"/>
                </a:lnTo>
                <a:lnTo>
                  <a:pt x="3527552" y="71374"/>
                </a:lnTo>
                <a:lnTo>
                  <a:pt x="3641344" y="174244"/>
                </a:lnTo>
                <a:lnTo>
                  <a:pt x="3755136" y="375091"/>
                </a:lnTo>
                <a:lnTo>
                  <a:pt x="3868928" y="654990"/>
                </a:lnTo>
                <a:lnTo>
                  <a:pt x="3982720" y="904660"/>
                </a:lnTo>
                <a:lnTo>
                  <a:pt x="4096512" y="1053083"/>
                </a:lnTo>
                <a:lnTo>
                  <a:pt x="4210304" y="1121226"/>
                </a:lnTo>
                <a:lnTo>
                  <a:pt x="4324096" y="1148820"/>
                </a:lnTo>
                <a:lnTo>
                  <a:pt x="4437888" y="1159431"/>
                </a:lnTo>
                <a:lnTo>
                  <a:pt x="4551680" y="1163432"/>
                </a:lnTo>
                <a:lnTo>
                  <a:pt x="4665472" y="1164931"/>
                </a:lnTo>
                <a:lnTo>
                  <a:pt x="4779264" y="1165492"/>
                </a:lnTo>
                <a:lnTo>
                  <a:pt x="4893056" y="1165702"/>
                </a:lnTo>
                <a:lnTo>
                  <a:pt x="5006848" y="1165781"/>
                </a:lnTo>
                <a:lnTo>
                  <a:pt x="5120640" y="1165810"/>
                </a:lnTo>
              </a:path>
            </a:pathLst>
          </a:custGeom>
          <a:ln w="28575">
            <a:solidFill>
              <a:srgbClr val="171A20"/>
            </a:solidFill>
            <a:prstDash val="solid"/>
          </a:ln>
        </p:spPr>
      </p:sp>
      <p:sp>
        <p:nvSpPr>
          <p:cNvPr id="22" name="!!bLbl"/>
          <p:cNvSpPr txBox="1"/>
          <p:nvPr/>
        </p:nvSpPr>
        <p:spPr>
          <a:xfrm>
            <a:off x="640080" y="3977640"/>
            <a:ext cx="182880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electron energy ↑</a:t>
            </a:r>
            <a:endParaRPr lang="en-US" sz="1000" dirty="0"/>
          </a:p>
        </p:txBody>
      </p:sp>
      <p:sp>
        <p:nvSpPr>
          <p:cNvPr id="23" name="!!bes0"/>
          <p:cNvSpPr/>
          <p:nvPr/>
        </p:nvSpPr>
        <p:spPr>
          <a:xfrm>
            <a:off x="717804" y="4613148"/>
            <a:ext cx="118872" cy="118872"/>
          </a:xfrm>
          <a:prstGeom prst="ellipse">
            <a:avLst/>
          </a:prstGeom>
          <a:solidFill>
            <a:srgbClr val="1F2F6B"/>
          </a:solidFill>
          <a:ln/>
        </p:spPr>
      </p:sp>
      <p:sp>
        <p:nvSpPr>
          <p:cNvPr id="24" name="!!bes1"/>
          <p:cNvSpPr/>
          <p:nvPr/>
        </p:nvSpPr>
        <p:spPr>
          <a:xfrm>
            <a:off x="918972" y="4613148"/>
            <a:ext cx="118872" cy="118872"/>
          </a:xfrm>
          <a:prstGeom prst="ellipse">
            <a:avLst/>
          </a:prstGeom>
          <a:solidFill>
            <a:srgbClr val="1F2F6B"/>
          </a:solidFill>
          <a:ln/>
        </p:spPr>
      </p:sp>
      <p:sp>
        <p:nvSpPr>
          <p:cNvPr id="25" name="!!bes2"/>
          <p:cNvSpPr/>
          <p:nvPr/>
        </p:nvSpPr>
        <p:spPr>
          <a:xfrm>
            <a:off x="1120140" y="4613148"/>
            <a:ext cx="118872" cy="118872"/>
          </a:xfrm>
          <a:prstGeom prst="ellipse">
            <a:avLst/>
          </a:prstGeom>
          <a:solidFill>
            <a:srgbClr val="1F2F6B"/>
          </a:solidFill>
          <a:ln/>
        </p:spPr>
      </p:sp>
      <p:sp>
        <p:nvSpPr>
          <p:cNvPr id="26" name="!!bes3"/>
          <p:cNvSpPr/>
          <p:nvPr/>
        </p:nvSpPr>
        <p:spPr>
          <a:xfrm>
            <a:off x="1321308" y="4613148"/>
            <a:ext cx="118872" cy="118872"/>
          </a:xfrm>
          <a:prstGeom prst="ellipse">
            <a:avLst/>
          </a:prstGeom>
          <a:solidFill>
            <a:srgbClr val="1F2F6B"/>
          </a:solidFill>
          <a:ln/>
        </p:spPr>
      </p:sp>
      <p:sp>
        <p:nvSpPr>
          <p:cNvPr id="27" name="!!bes4"/>
          <p:cNvSpPr/>
          <p:nvPr/>
        </p:nvSpPr>
        <p:spPr>
          <a:xfrm>
            <a:off x="1522476" y="4613148"/>
            <a:ext cx="118872" cy="118872"/>
          </a:xfrm>
          <a:prstGeom prst="ellipse">
            <a:avLst/>
          </a:prstGeom>
          <a:solidFill>
            <a:srgbClr val="1F2F6B"/>
          </a:solidFill>
          <a:ln/>
        </p:spPr>
      </p:sp>
      <p:sp>
        <p:nvSpPr>
          <p:cNvPr id="28" name="!!bec0"/>
          <p:cNvSpPr/>
          <p:nvPr/>
        </p:nvSpPr>
        <p:spPr>
          <a:xfrm>
            <a:off x="818388" y="4613148"/>
            <a:ext cx="118872" cy="118872"/>
          </a:xfrm>
          <a:prstGeom prst="ellipse">
            <a:avLst/>
          </a:prstGeom>
          <a:solidFill>
            <a:srgbClr val="1F2F6B"/>
          </a:solidFill>
          <a:ln/>
        </p:spPr>
      </p:sp>
      <p:sp>
        <p:nvSpPr>
          <p:cNvPr id="29" name="!!bec1"/>
          <p:cNvSpPr/>
          <p:nvPr/>
        </p:nvSpPr>
        <p:spPr>
          <a:xfrm>
            <a:off x="1019556" y="4613148"/>
            <a:ext cx="118872" cy="118872"/>
          </a:xfrm>
          <a:prstGeom prst="ellipse">
            <a:avLst/>
          </a:prstGeom>
          <a:solidFill>
            <a:srgbClr val="1F2F6B"/>
          </a:solidFill>
          <a:ln/>
        </p:spPr>
      </p:sp>
      <p:sp>
        <p:nvSpPr>
          <p:cNvPr id="30" name="!!bec2"/>
          <p:cNvSpPr/>
          <p:nvPr/>
        </p:nvSpPr>
        <p:spPr>
          <a:xfrm>
            <a:off x="1220724" y="4613148"/>
            <a:ext cx="118872" cy="118872"/>
          </a:xfrm>
          <a:prstGeom prst="ellipse">
            <a:avLst/>
          </a:prstGeom>
          <a:solidFill>
            <a:srgbClr val="1F2F6B"/>
          </a:solidFill>
          <a:ln/>
        </p:spPr>
      </p:sp>
      <p:sp>
        <p:nvSpPr>
          <p:cNvPr id="31" name="!!bec3"/>
          <p:cNvSpPr/>
          <p:nvPr/>
        </p:nvSpPr>
        <p:spPr>
          <a:xfrm>
            <a:off x="1421892" y="4613148"/>
            <a:ext cx="118872" cy="118872"/>
          </a:xfrm>
          <a:prstGeom prst="ellipse">
            <a:avLst/>
          </a:prstGeom>
          <a:solidFill>
            <a:srgbClr val="1F2F6B"/>
          </a:solidFill>
          <a:ln/>
        </p:spPr>
      </p:sp>
      <p:sp>
        <p:nvSpPr>
          <p:cNvPr id="32" name="!!bec4"/>
          <p:cNvSpPr/>
          <p:nvPr/>
        </p:nvSpPr>
        <p:spPr>
          <a:xfrm>
            <a:off x="818388" y="4613148"/>
            <a:ext cx="118872" cy="118872"/>
          </a:xfrm>
          <a:prstGeom prst="ellipse">
            <a:avLst/>
          </a:prstGeom>
          <a:solidFill>
            <a:srgbClr val="1F2F6B"/>
          </a:solidFill>
          <a:ln/>
        </p:spPr>
      </p:sp>
      <p:sp>
        <p:nvSpPr>
          <p:cNvPr id="33" name="!!bec5"/>
          <p:cNvSpPr/>
          <p:nvPr/>
        </p:nvSpPr>
        <p:spPr>
          <a:xfrm>
            <a:off x="1019556" y="4613148"/>
            <a:ext cx="118872" cy="118872"/>
          </a:xfrm>
          <a:prstGeom prst="ellipse">
            <a:avLst/>
          </a:prstGeom>
          <a:solidFill>
            <a:srgbClr val="1F2F6B"/>
          </a:solidFill>
          <a:ln/>
        </p:spPr>
      </p:sp>
      <p:sp>
        <p:nvSpPr>
          <p:cNvPr id="34" name="!!card"/>
          <p:cNvSpPr/>
          <p:nvPr/>
        </p:nvSpPr>
        <p:spPr>
          <a:xfrm>
            <a:off x="6766560" y="1554480"/>
            <a:ext cx="4873752" cy="2377440"/>
          </a:xfrm>
          <a:prstGeom prst="roundRect">
            <a:avLst>
              <a:gd name="adj" fmla="val 3077"/>
            </a:avLst>
          </a:prstGeom>
          <a:solidFill>
            <a:srgbClr val="F4F5F7"/>
          </a:solidFill>
          <a:ln/>
        </p:spPr>
      </p:sp>
      <p:sp>
        <p:nvSpPr>
          <p:cNvPr id="35" name="!!cardn"/>
          <p:cNvSpPr/>
          <p:nvPr/>
        </p:nvSpPr>
        <p:spPr>
          <a:xfrm>
            <a:off x="6976872" y="1764792"/>
            <a:ext cx="347472" cy="347472"/>
          </a:xfrm>
          <a:prstGeom prst="ellipse">
            <a:avLst/>
          </a:prstGeom>
          <a:solidFill>
            <a:srgbClr val="3E6AE1"/>
          </a:solidFill>
          <a:ln/>
        </p:spPr>
      </p:sp>
      <p:sp>
        <p:nvSpPr>
          <p:cNvPr id="36" name="!!cardnt"/>
          <p:cNvSpPr txBox="1"/>
          <p:nvPr/>
        </p:nvSpPr>
        <p:spPr>
          <a:xfrm>
            <a:off x="697687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7" name="!!cardh"/>
          <p:cNvSpPr txBox="1"/>
          <p:nvPr/>
        </p:nvSpPr>
        <p:spPr>
          <a:xfrm>
            <a:off x="7452360" y="1773936"/>
            <a:ext cx="4005072" cy="347472"/>
          </a:xfrm>
          <a:prstGeom prst="rect">
            <a:avLst/>
          </a:prstGeom>
          <a:noFill/>
          <a:ln/>
        </p:spPr>
        <p:txBody>
          <a:bodyPr wrap="square" lIns="0" tIns="0" rIns="0" bIns="0" rtlCol="0" anchor="ctr"/>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The energy hill</a:t>
            </a:r>
            <a:endParaRPr lang="en-US" sz="1600" dirty="0"/>
          </a:p>
        </p:txBody>
      </p:sp>
      <p:sp>
        <p:nvSpPr>
          <p:cNvPr id="38" name="!!cardb"/>
          <p:cNvSpPr txBox="1"/>
          <p:nvPr/>
        </p:nvSpPr>
        <p:spPr>
          <a:xfrm>
            <a:off x="6995160" y="2267712"/>
            <a:ext cx="4416552" cy="150876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Seen as energy, the p-type gap is a hill between source and drain. Electrons cross only if the hill is low. The gate sets the hill height.</a:t>
            </a:r>
            <a:endParaRPr lang="en-US" sz="1300" dirty="0"/>
          </a:p>
        </p:txBody>
      </p:sp>
      <p:sp>
        <p:nvSpPr>
          <p:cNvPr id="3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A MOSFET is an energy hill whose height is set by the gate.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Turning the gate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One knob,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the device, the energy hill and the current change together</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E2E3E3"/>
          </a:solidFill>
          <a:ln/>
        </p:spPr>
      </p:sp>
      <p:sp>
        <p:nvSpPr>
          <p:cNvPr id="6" name="!!sdot2"/>
          <p:cNvSpPr/>
          <p:nvPr/>
        </p:nvSpPr>
        <p:spPr>
          <a:xfrm>
            <a:off x="11288268" y="525780"/>
            <a:ext cx="82296" cy="82296"/>
          </a:xfrm>
          <a:prstGeom prst="ellipse">
            <a:avLst/>
          </a:prstGeom>
          <a:solidFill>
            <a:srgbClr val="E2E3E3"/>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mBody"/>
          <p:cNvSpPr/>
          <p:nvPr/>
        </p:nvSpPr>
        <p:spPr>
          <a:xfrm>
            <a:off x="640080" y="2240280"/>
            <a:ext cx="5120640" cy="1417320"/>
          </a:xfrm>
          <a:prstGeom prst="rect">
            <a:avLst/>
          </a:prstGeom>
          <a:solidFill>
            <a:srgbClr val="F6E7B8"/>
          </a:solidFill>
          <a:ln/>
        </p:spPr>
      </p:sp>
      <p:sp>
        <p:nvSpPr>
          <p:cNvPr id="10"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1" name="!!mDepl"/>
          <p:cNvSpPr/>
          <p:nvPr/>
        </p:nvSpPr>
        <p:spPr>
          <a:xfrm>
            <a:off x="1920240" y="2240280"/>
            <a:ext cx="2560320" cy="201168"/>
          </a:xfrm>
          <a:prstGeom prst="rect">
            <a:avLst/>
          </a:prstGeom>
          <a:solidFill>
            <a:srgbClr val="F7D4D9"/>
          </a:solidFill>
          <a:ln/>
        </p:spPr>
      </p:sp>
      <p:sp>
        <p:nvSpPr>
          <p:cNvPr id="12" name="!!mSrc"/>
          <p:cNvSpPr/>
          <p:nvPr/>
        </p:nvSpPr>
        <p:spPr>
          <a:xfrm>
            <a:off x="640080" y="2240280"/>
            <a:ext cx="1325880" cy="548640"/>
          </a:xfrm>
          <a:prstGeom prst="roundRect">
            <a:avLst>
              <a:gd name="adj" fmla="val 8333"/>
            </a:avLst>
          </a:prstGeom>
          <a:solidFill>
            <a:srgbClr val="7D9BE6"/>
          </a:solidFill>
          <a:ln/>
        </p:spPr>
      </p:sp>
      <p:sp>
        <p:nvSpPr>
          <p:cNvPr id="13" name="!!mDrn"/>
          <p:cNvSpPr/>
          <p:nvPr/>
        </p:nvSpPr>
        <p:spPr>
          <a:xfrm>
            <a:off x="4434840" y="2240280"/>
            <a:ext cx="1325880" cy="548640"/>
          </a:xfrm>
          <a:prstGeom prst="roundRect">
            <a:avLst>
              <a:gd name="adj" fmla="val 8333"/>
            </a:avLst>
          </a:prstGeom>
          <a:solidFill>
            <a:srgbClr val="7D9BE6"/>
          </a:solidFill>
          <a:ln/>
        </p:spPr>
      </p:sp>
      <p:sp>
        <p:nvSpPr>
          <p:cNvPr id="14" name="!!mSrcL"/>
          <p:cNvSpPr txBox="1"/>
          <p:nvPr/>
        </p:nvSpPr>
        <p:spPr>
          <a:xfrm>
            <a:off x="64008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5" name="!!mDrnL"/>
          <p:cNvSpPr txBox="1"/>
          <p:nvPr/>
        </p:nvSpPr>
        <p:spPr>
          <a:xfrm>
            <a:off x="448056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6" name="!!mChan"/>
          <p:cNvSpPr/>
          <p:nvPr/>
        </p:nvSpPr>
        <p:spPr>
          <a:xfrm>
            <a:off x="1920240" y="2240280"/>
            <a:ext cx="2560320" cy="9144"/>
          </a:xfrm>
          <a:custGeom>
            <a:avLst/>
            <a:gdLst/>
            <a:ahLst/>
            <a:cxnLst/>
            <a:rect l="l" t="t" r="r" b="b"/>
            <a:pathLst>
              <a:path w="2560320" h="9144">
                <a:moveTo>
                  <a:pt x="0" y="0"/>
                </a:moveTo>
                <a:lnTo>
                  <a:pt x="2560320" y="0"/>
                </a:lnTo>
                <a:lnTo>
                  <a:pt x="2560320" y="3658"/>
                </a:lnTo>
                <a:lnTo>
                  <a:pt x="0" y="3658"/>
                </a:lnTo>
                <a:close/>
              </a:path>
            </a:pathLst>
          </a:custGeom>
          <a:solidFill>
            <a:srgbClr val="1F2F6B"/>
          </a:solidFill>
          <a:ln/>
        </p:spPr>
      </p:sp>
      <p:sp>
        <p:nvSpPr>
          <p:cNvPr id="17" name="!!mOx"/>
          <p:cNvSpPr/>
          <p:nvPr/>
        </p:nvSpPr>
        <p:spPr>
          <a:xfrm>
            <a:off x="1920240" y="2167128"/>
            <a:ext cx="2560320" cy="73152"/>
          </a:xfrm>
          <a:prstGeom prst="rect">
            <a:avLst/>
          </a:prstGeom>
          <a:solidFill>
            <a:srgbClr val="CDEBF5"/>
          </a:solidFill>
          <a:ln/>
        </p:spPr>
      </p:sp>
      <p:sp>
        <p:nvSpPr>
          <p:cNvPr id="18" name="!!mGate"/>
          <p:cNvSpPr/>
          <p:nvPr/>
        </p:nvSpPr>
        <p:spPr>
          <a:xfrm>
            <a:off x="1920240" y="1783080"/>
            <a:ext cx="2560320" cy="384048"/>
          </a:xfrm>
          <a:prstGeom prst="roundRect">
            <a:avLst>
              <a:gd name="adj" fmla="val 9524"/>
            </a:avLst>
          </a:prstGeom>
          <a:solidFill>
            <a:srgbClr val="B3A6E6"/>
          </a:solidFill>
          <a:ln/>
        </p:spPr>
      </p:sp>
      <p:sp>
        <p:nvSpPr>
          <p:cNvPr id="19" name="!!mGateL"/>
          <p:cNvSpPr txBox="1"/>
          <p:nvPr/>
        </p:nvSpPr>
        <p:spPr>
          <a:xfrm>
            <a:off x="1920240" y="1837944"/>
            <a:ext cx="2560320"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20" name="!!mVS"/>
          <p:cNvSpPr txBox="1"/>
          <p:nvPr/>
        </p:nvSpPr>
        <p:spPr>
          <a:xfrm>
            <a:off x="640080" y="1856232"/>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S</a:t>
            </a:r>
            <a:pPr algn="l" indent="0" marL="0">
              <a:buNone/>
            </a:pPr>
            <a:r>
              <a:rPr lang="en-US" sz="1100" dirty="0">
                <a:solidFill>
                  <a:srgbClr val="5C5E62"/>
                </a:solidFill>
                <a:latin typeface="Segoe UI" pitchFamily="34" charset="0"/>
                <a:ea typeface="Segoe UI" pitchFamily="34" charset="-122"/>
                <a:cs typeface="Segoe UI" pitchFamily="34" charset="-120"/>
              </a:rPr>
              <a:t> = 0</a:t>
            </a:r>
            <a:endParaRPr lang="en-US" sz="1100" dirty="0"/>
          </a:p>
        </p:txBody>
      </p:sp>
      <p:sp>
        <p:nvSpPr>
          <p:cNvPr id="21" name="!!mVG"/>
          <p:cNvSpPr txBox="1"/>
          <p:nvPr/>
        </p:nvSpPr>
        <p:spPr>
          <a:xfrm>
            <a:off x="2286000" y="1490472"/>
            <a:ext cx="1828800" cy="237744"/>
          </a:xfrm>
          <a:prstGeom prst="rect">
            <a:avLst/>
          </a:prstGeom>
          <a:noFill/>
          <a:ln/>
        </p:spPr>
        <p:txBody>
          <a:bodyPr wrap="square" lIns="0" tIns="0" rIns="0" bIns="0" rtlCol="0" anchor="t"/>
          <a:lstStyle/>
          <a:p>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ctr"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 = 0.00 V</a:t>
            </a:r>
            <a:endParaRPr lang="en-US" sz="1200" dirty="0"/>
          </a:p>
        </p:txBody>
      </p:sp>
      <p:sp>
        <p:nvSpPr>
          <p:cNvPr id="22" name="!!mVD"/>
          <p:cNvSpPr txBox="1"/>
          <p:nvPr/>
        </p:nvSpPr>
        <p:spPr>
          <a:xfrm>
            <a:off x="4480560" y="1856232"/>
            <a:ext cx="1280160" cy="228600"/>
          </a:xfrm>
          <a:prstGeom prst="rect">
            <a:avLst/>
          </a:prstGeom>
          <a:noFill/>
          <a:ln/>
        </p:spPr>
        <p:txBody>
          <a:bodyPr wrap="square" lIns="0" tIns="0" rIns="0" bIns="0" rtlCol="0" anchor="t"/>
          <a:lstStyle/>
          <a:p>
            <a:pPr algn="r" indent="0" marL="0">
              <a:buNone/>
            </a:pPr>
            <a:r>
              <a:rPr lang="en-US" sz="1100" dirty="0">
                <a:solidFill>
                  <a:srgbClr val="5C5E62"/>
                </a:solidFill>
                <a:latin typeface="Segoe UI" pitchFamily="34" charset="0"/>
                <a:ea typeface="Segoe UI" pitchFamily="34" charset="-122"/>
                <a:cs typeface="Segoe UI" pitchFamily="34" charset="-120"/>
              </a:rPr>
              <a:t>V</a:t>
            </a:r>
            <a:pPr algn="r" indent="0" marL="0">
              <a:buNone/>
            </a:pPr>
            <a:r>
              <a:rPr lang="en-US" sz="1100" baseline="-40000" dirty="0">
                <a:solidFill>
                  <a:srgbClr val="5C5E62"/>
                </a:solidFill>
                <a:latin typeface="Segoe UI" pitchFamily="34" charset="0"/>
                <a:ea typeface="Segoe UI" pitchFamily="34" charset="-122"/>
                <a:cs typeface="Segoe UI" pitchFamily="34" charset="-120"/>
              </a:rPr>
              <a:t>D</a:t>
            </a:r>
            <a:pPr algn="r" indent="0" marL="0">
              <a:buNone/>
            </a:pPr>
            <a:r>
              <a:rPr lang="en-US" sz="1100" dirty="0">
                <a:solidFill>
                  <a:srgbClr val="5C5E62"/>
                </a:solidFill>
                <a:latin typeface="Segoe UI" pitchFamily="34" charset="0"/>
                <a:ea typeface="Segoe UI" pitchFamily="34" charset="-122"/>
                <a:cs typeface="Segoe UI" pitchFamily="34" charset="-120"/>
              </a:rPr>
              <a:t> = 0.70 V</a:t>
            </a:r>
            <a:endParaRPr lang="en-US" sz="1100" dirty="0"/>
          </a:p>
        </p:txBody>
      </p:sp>
      <p:sp>
        <p:nvSpPr>
          <p:cNvPr id="23" name="!!lg1"/>
          <p:cNvSpPr/>
          <p:nvPr/>
        </p:nvSpPr>
        <p:spPr>
          <a:xfrm>
            <a:off x="658368" y="3767328"/>
            <a:ext cx="164592" cy="109728"/>
          </a:xfrm>
          <a:prstGeom prst="rect">
            <a:avLst/>
          </a:prstGeom>
          <a:solidFill>
            <a:srgbClr val="1F2F6B"/>
          </a:solidFill>
          <a:ln/>
        </p:spPr>
      </p:sp>
      <p:sp>
        <p:nvSpPr>
          <p:cNvPr id="24" name="!!lg1t"/>
          <p:cNvSpPr txBox="1"/>
          <p:nvPr/>
        </p:nvSpPr>
        <p:spPr>
          <a:xfrm>
            <a:off x="868680" y="3721608"/>
            <a:ext cx="146304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electron channel</a:t>
            </a:r>
            <a:endParaRPr lang="en-US" sz="900" dirty="0"/>
          </a:p>
        </p:txBody>
      </p:sp>
      <p:sp>
        <p:nvSpPr>
          <p:cNvPr id="25" name="!!lg2"/>
          <p:cNvSpPr/>
          <p:nvPr/>
        </p:nvSpPr>
        <p:spPr>
          <a:xfrm>
            <a:off x="2240280" y="3767328"/>
            <a:ext cx="164592" cy="109728"/>
          </a:xfrm>
          <a:prstGeom prst="rect">
            <a:avLst/>
          </a:prstGeom>
          <a:solidFill>
            <a:srgbClr val="F7D4D9"/>
          </a:solidFill>
          <a:ln/>
        </p:spPr>
      </p:sp>
      <p:sp>
        <p:nvSpPr>
          <p:cNvPr id="26" name="!!lg2t"/>
          <p:cNvSpPr txBox="1"/>
          <p:nvPr/>
        </p:nvSpPr>
        <p:spPr>
          <a:xfrm>
            <a:off x="2450592" y="3721608"/>
            <a:ext cx="201168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depletion (no free carriers)</a:t>
            </a:r>
            <a:endParaRPr lang="en-US" sz="900" dirty="0"/>
          </a:p>
        </p:txBody>
      </p:sp>
      <p:sp>
        <p:nvSpPr>
          <p:cNvPr id="27" name="!!bCurve"/>
          <p:cNvSpPr/>
          <p:nvPr/>
        </p:nvSpPr>
        <p:spPr>
          <a:xfrm>
            <a:off x="640080" y="4133120"/>
            <a:ext cx="5120640" cy="1165810"/>
          </a:xfrm>
          <a:custGeom>
            <a:avLst/>
            <a:gdLst/>
            <a:ahLst/>
            <a:cxnLst/>
            <a:rect l="l" t="t" r="r" b="b"/>
            <a:pathLst>
              <a:path w="5120640" h="1165810">
                <a:moveTo>
                  <a:pt x="0" y="621747"/>
                </a:moveTo>
                <a:lnTo>
                  <a:pt x="113792" y="621726"/>
                </a:lnTo>
                <a:lnTo>
                  <a:pt x="227584" y="621671"/>
                </a:lnTo>
                <a:lnTo>
                  <a:pt x="341376" y="621529"/>
                </a:lnTo>
                <a:lnTo>
                  <a:pt x="455168" y="621159"/>
                </a:lnTo>
                <a:lnTo>
                  <a:pt x="568960" y="620196"/>
                </a:lnTo>
                <a:lnTo>
                  <a:pt x="682752" y="617703"/>
                </a:lnTo>
                <a:lnTo>
                  <a:pt x="796544" y="611303"/>
                </a:lnTo>
                <a:lnTo>
                  <a:pt x="910336" y="595240"/>
                </a:lnTo>
                <a:lnTo>
                  <a:pt x="1024128" y="557111"/>
                </a:lnTo>
                <a:lnTo>
                  <a:pt x="1137920" y="477452"/>
                </a:lnTo>
                <a:lnTo>
                  <a:pt x="1251712" y="347889"/>
                </a:lnTo>
                <a:lnTo>
                  <a:pt x="1365504" y="203819"/>
                </a:lnTo>
                <a:lnTo>
                  <a:pt x="1479296" y="98043"/>
                </a:lnTo>
                <a:lnTo>
                  <a:pt x="1593088" y="41676"/>
                </a:lnTo>
                <a:lnTo>
                  <a:pt x="1706880" y="16672"/>
                </a:lnTo>
                <a:lnTo>
                  <a:pt x="1820672" y="6489"/>
                </a:lnTo>
                <a:lnTo>
                  <a:pt x="1934464" y="2488"/>
                </a:lnTo>
                <a:lnTo>
                  <a:pt x="2048256" y="938"/>
                </a:lnTo>
                <a:lnTo>
                  <a:pt x="2162048" y="341"/>
                </a:lnTo>
                <a:lnTo>
                  <a:pt x="2275840" y="113"/>
                </a:lnTo>
                <a:lnTo>
                  <a:pt x="2389632" y="27"/>
                </a:lnTo>
                <a:lnTo>
                  <a:pt x="2503424" y="0"/>
                </a:lnTo>
                <a:lnTo>
                  <a:pt x="2617216" y="5"/>
                </a:lnTo>
                <a:lnTo>
                  <a:pt x="2731008" y="48"/>
                </a:lnTo>
                <a:lnTo>
                  <a:pt x="2844800" y="175"/>
                </a:lnTo>
                <a:lnTo>
                  <a:pt x="2958592" y="517"/>
                </a:lnTo>
                <a:lnTo>
                  <a:pt x="3072384" y="1434"/>
                </a:lnTo>
                <a:lnTo>
                  <a:pt x="3186176" y="3884"/>
                </a:lnTo>
                <a:lnTo>
                  <a:pt x="3299968" y="10409"/>
                </a:lnTo>
                <a:lnTo>
                  <a:pt x="3413760" y="27584"/>
                </a:lnTo>
                <a:lnTo>
                  <a:pt x="3527552" y="71374"/>
                </a:lnTo>
                <a:lnTo>
                  <a:pt x="3641344" y="174244"/>
                </a:lnTo>
                <a:lnTo>
                  <a:pt x="3755136" y="375091"/>
                </a:lnTo>
                <a:lnTo>
                  <a:pt x="3868928" y="654990"/>
                </a:lnTo>
                <a:lnTo>
                  <a:pt x="3982720" y="904660"/>
                </a:lnTo>
                <a:lnTo>
                  <a:pt x="4096512" y="1053083"/>
                </a:lnTo>
                <a:lnTo>
                  <a:pt x="4210304" y="1121226"/>
                </a:lnTo>
                <a:lnTo>
                  <a:pt x="4324096" y="1148820"/>
                </a:lnTo>
                <a:lnTo>
                  <a:pt x="4437888" y="1159431"/>
                </a:lnTo>
                <a:lnTo>
                  <a:pt x="4551680" y="1163432"/>
                </a:lnTo>
                <a:lnTo>
                  <a:pt x="4665472" y="1164931"/>
                </a:lnTo>
                <a:lnTo>
                  <a:pt x="4779264" y="1165492"/>
                </a:lnTo>
                <a:lnTo>
                  <a:pt x="4893056" y="1165702"/>
                </a:lnTo>
                <a:lnTo>
                  <a:pt x="5006848" y="1165781"/>
                </a:lnTo>
                <a:lnTo>
                  <a:pt x="5120640" y="1165810"/>
                </a:lnTo>
              </a:path>
            </a:pathLst>
          </a:custGeom>
          <a:ln w="28575">
            <a:solidFill>
              <a:srgbClr val="171A20"/>
            </a:solidFill>
            <a:prstDash val="solid"/>
          </a:ln>
        </p:spPr>
      </p:sp>
      <p:sp>
        <p:nvSpPr>
          <p:cNvPr id="28" name="!!bLbl"/>
          <p:cNvSpPr txBox="1"/>
          <p:nvPr/>
        </p:nvSpPr>
        <p:spPr>
          <a:xfrm>
            <a:off x="640080" y="3977640"/>
            <a:ext cx="182880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electron energy ↑</a:t>
            </a:r>
            <a:endParaRPr lang="en-US" sz="1000" dirty="0"/>
          </a:p>
        </p:txBody>
      </p:sp>
      <p:sp>
        <p:nvSpPr>
          <p:cNvPr id="29" name="!!bes0"/>
          <p:cNvSpPr/>
          <p:nvPr/>
        </p:nvSpPr>
        <p:spPr>
          <a:xfrm>
            <a:off x="717804" y="4613148"/>
            <a:ext cx="118872" cy="118872"/>
          </a:xfrm>
          <a:prstGeom prst="ellipse">
            <a:avLst/>
          </a:prstGeom>
          <a:solidFill>
            <a:srgbClr val="1F2F6B"/>
          </a:solidFill>
          <a:ln/>
        </p:spPr>
      </p:sp>
      <p:sp>
        <p:nvSpPr>
          <p:cNvPr id="30" name="!!bes1"/>
          <p:cNvSpPr/>
          <p:nvPr/>
        </p:nvSpPr>
        <p:spPr>
          <a:xfrm>
            <a:off x="918972" y="4613148"/>
            <a:ext cx="118872" cy="118872"/>
          </a:xfrm>
          <a:prstGeom prst="ellipse">
            <a:avLst/>
          </a:prstGeom>
          <a:solidFill>
            <a:srgbClr val="1F2F6B"/>
          </a:solidFill>
          <a:ln/>
        </p:spPr>
      </p:sp>
      <p:sp>
        <p:nvSpPr>
          <p:cNvPr id="31" name="!!bes2"/>
          <p:cNvSpPr/>
          <p:nvPr/>
        </p:nvSpPr>
        <p:spPr>
          <a:xfrm>
            <a:off x="1120140" y="4613148"/>
            <a:ext cx="118872" cy="118872"/>
          </a:xfrm>
          <a:prstGeom prst="ellipse">
            <a:avLst/>
          </a:prstGeom>
          <a:solidFill>
            <a:srgbClr val="1F2F6B"/>
          </a:solidFill>
          <a:ln/>
        </p:spPr>
      </p:sp>
      <p:sp>
        <p:nvSpPr>
          <p:cNvPr id="32" name="!!bes3"/>
          <p:cNvSpPr/>
          <p:nvPr/>
        </p:nvSpPr>
        <p:spPr>
          <a:xfrm>
            <a:off x="1321308" y="4613148"/>
            <a:ext cx="118872" cy="118872"/>
          </a:xfrm>
          <a:prstGeom prst="ellipse">
            <a:avLst/>
          </a:prstGeom>
          <a:solidFill>
            <a:srgbClr val="1F2F6B"/>
          </a:solidFill>
          <a:ln/>
        </p:spPr>
      </p:sp>
      <p:sp>
        <p:nvSpPr>
          <p:cNvPr id="33" name="!!bes4"/>
          <p:cNvSpPr/>
          <p:nvPr/>
        </p:nvSpPr>
        <p:spPr>
          <a:xfrm>
            <a:off x="1522476" y="4613148"/>
            <a:ext cx="118872" cy="118872"/>
          </a:xfrm>
          <a:prstGeom prst="ellipse">
            <a:avLst/>
          </a:prstGeom>
          <a:solidFill>
            <a:srgbClr val="1F2F6B"/>
          </a:solidFill>
          <a:ln/>
        </p:spPr>
      </p:sp>
      <p:sp>
        <p:nvSpPr>
          <p:cNvPr id="34" name="!!bec0"/>
          <p:cNvSpPr/>
          <p:nvPr/>
        </p:nvSpPr>
        <p:spPr>
          <a:xfrm>
            <a:off x="818388" y="4613148"/>
            <a:ext cx="118872" cy="118872"/>
          </a:xfrm>
          <a:prstGeom prst="ellipse">
            <a:avLst/>
          </a:prstGeom>
          <a:solidFill>
            <a:srgbClr val="1F2F6B"/>
          </a:solidFill>
          <a:ln/>
        </p:spPr>
      </p:sp>
      <p:sp>
        <p:nvSpPr>
          <p:cNvPr id="35" name="!!bec1"/>
          <p:cNvSpPr/>
          <p:nvPr/>
        </p:nvSpPr>
        <p:spPr>
          <a:xfrm>
            <a:off x="1019556" y="4613148"/>
            <a:ext cx="118872" cy="118872"/>
          </a:xfrm>
          <a:prstGeom prst="ellipse">
            <a:avLst/>
          </a:prstGeom>
          <a:solidFill>
            <a:srgbClr val="1F2F6B"/>
          </a:solidFill>
          <a:ln/>
        </p:spPr>
      </p:sp>
      <p:sp>
        <p:nvSpPr>
          <p:cNvPr id="36" name="!!bec2"/>
          <p:cNvSpPr/>
          <p:nvPr/>
        </p:nvSpPr>
        <p:spPr>
          <a:xfrm>
            <a:off x="1220724" y="4613148"/>
            <a:ext cx="118872" cy="118872"/>
          </a:xfrm>
          <a:prstGeom prst="ellipse">
            <a:avLst/>
          </a:prstGeom>
          <a:solidFill>
            <a:srgbClr val="1F2F6B"/>
          </a:solidFill>
          <a:ln/>
        </p:spPr>
      </p:sp>
      <p:sp>
        <p:nvSpPr>
          <p:cNvPr id="37" name="!!bec3"/>
          <p:cNvSpPr/>
          <p:nvPr/>
        </p:nvSpPr>
        <p:spPr>
          <a:xfrm>
            <a:off x="1421892" y="4613148"/>
            <a:ext cx="118872" cy="118872"/>
          </a:xfrm>
          <a:prstGeom prst="ellipse">
            <a:avLst/>
          </a:prstGeom>
          <a:solidFill>
            <a:srgbClr val="1F2F6B"/>
          </a:solidFill>
          <a:ln/>
        </p:spPr>
      </p:sp>
      <p:sp>
        <p:nvSpPr>
          <p:cNvPr id="38" name="!!bec4"/>
          <p:cNvSpPr/>
          <p:nvPr/>
        </p:nvSpPr>
        <p:spPr>
          <a:xfrm>
            <a:off x="818388" y="4613148"/>
            <a:ext cx="118872" cy="118872"/>
          </a:xfrm>
          <a:prstGeom prst="ellipse">
            <a:avLst/>
          </a:prstGeom>
          <a:solidFill>
            <a:srgbClr val="1F2F6B"/>
          </a:solidFill>
          <a:ln/>
        </p:spPr>
      </p:sp>
      <p:sp>
        <p:nvSpPr>
          <p:cNvPr id="39" name="!!bec5"/>
          <p:cNvSpPr/>
          <p:nvPr/>
        </p:nvSpPr>
        <p:spPr>
          <a:xfrm>
            <a:off x="1019556" y="4613148"/>
            <a:ext cx="118872" cy="118872"/>
          </a:xfrm>
          <a:prstGeom prst="ellipse">
            <a:avLst/>
          </a:prstGeom>
          <a:solidFill>
            <a:srgbClr val="1F2F6B"/>
          </a:solidFill>
          <a:ln/>
        </p:spPr>
      </p:sp>
      <p:sp>
        <p:nvSpPr>
          <p:cNvPr id="40" name="!!axg0"/>
          <p:cNvSpPr/>
          <p:nvPr/>
        </p:nvSpPr>
        <p:spPr>
          <a:xfrm>
            <a:off x="7315200" y="3598817"/>
            <a:ext cx="4206240" cy="91"/>
          </a:xfrm>
          <a:prstGeom prst="line">
            <a:avLst/>
          </a:prstGeom>
          <a:noFill/>
          <a:ln w="9525">
            <a:solidFill>
              <a:srgbClr val="EDEEF0"/>
            </a:solidFill>
            <a:prstDash val="solid"/>
          </a:ln>
        </p:spPr>
      </p:sp>
      <p:sp>
        <p:nvSpPr>
          <p:cNvPr id="41" name="!!axg1"/>
          <p:cNvSpPr/>
          <p:nvPr/>
        </p:nvSpPr>
        <p:spPr>
          <a:xfrm>
            <a:off x="7315200" y="2932611"/>
            <a:ext cx="4206240" cy="91"/>
          </a:xfrm>
          <a:prstGeom prst="line">
            <a:avLst/>
          </a:prstGeom>
          <a:noFill/>
          <a:ln w="9525">
            <a:solidFill>
              <a:srgbClr val="EDEEF0"/>
            </a:solidFill>
            <a:prstDash val="solid"/>
          </a:ln>
        </p:spPr>
      </p:sp>
      <p:sp>
        <p:nvSpPr>
          <p:cNvPr id="42" name="!!axg2"/>
          <p:cNvSpPr/>
          <p:nvPr/>
        </p:nvSpPr>
        <p:spPr>
          <a:xfrm>
            <a:off x="7315200" y="2266406"/>
            <a:ext cx="4206240" cy="91"/>
          </a:xfrm>
          <a:prstGeom prst="line">
            <a:avLst/>
          </a:prstGeom>
          <a:noFill/>
          <a:ln w="9525">
            <a:solidFill>
              <a:srgbClr val="EDEEF0"/>
            </a:solidFill>
            <a:prstDash val="solid"/>
          </a:ln>
        </p:spPr>
      </p:sp>
      <p:sp>
        <p:nvSpPr>
          <p:cNvPr id="43" name="!!axg3"/>
          <p:cNvSpPr/>
          <p:nvPr/>
        </p:nvSpPr>
        <p:spPr>
          <a:xfrm>
            <a:off x="7315200" y="1600200"/>
            <a:ext cx="4206240" cy="91"/>
          </a:xfrm>
          <a:prstGeom prst="line">
            <a:avLst/>
          </a:prstGeom>
          <a:noFill/>
          <a:ln w="9525">
            <a:solidFill>
              <a:srgbClr val="EDEEF0"/>
            </a:solidFill>
            <a:prstDash val="solid"/>
          </a:ln>
        </p:spPr>
      </p:sp>
      <p:sp>
        <p:nvSpPr>
          <p:cNvPr id="44" name="!!axxa"/>
          <p:cNvSpPr/>
          <p:nvPr/>
        </p:nvSpPr>
        <p:spPr>
          <a:xfrm>
            <a:off x="7315200" y="3931920"/>
            <a:ext cx="4206240" cy="91"/>
          </a:xfrm>
          <a:prstGeom prst="line">
            <a:avLst/>
          </a:prstGeom>
          <a:noFill/>
          <a:ln w="12700">
            <a:solidFill>
              <a:srgbClr val="8A8D93"/>
            </a:solidFill>
            <a:prstDash val="solid"/>
          </a:ln>
        </p:spPr>
      </p:sp>
      <p:sp>
        <p:nvSpPr>
          <p:cNvPr id="45" name="!!axya"/>
          <p:cNvSpPr/>
          <p:nvPr/>
        </p:nvSpPr>
        <p:spPr>
          <a:xfrm>
            <a:off x="7315200" y="1600200"/>
            <a:ext cx="91" cy="2331720"/>
          </a:xfrm>
          <a:prstGeom prst="line">
            <a:avLst/>
          </a:prstGeom>
          <a:noFill/>
          <a:ln w="12700">
            <a:solidFill>
              <a:srgbClr val="8A8D93"/>
            </a:solidFill>
            <a:prstDash val="solid"/>
          </a:ln>
        </p:spPr>
      </p:sp>
      <p:sp>
        <p:nvSpPr>
          <p:cNvPr id="46" name="!!axxt0"/>
          <p:cNvSpPr txBox="1"/>
          <p:nvPr/>
        </p:nvSpPr>
        <p:spPr>
          <a:xfrm>
            <a:off x="699516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7" name="!!axxt1"/>
          <p:cNvSpPr txBox="1"/>
          <p:nvPr/>
        </p:nvSpPr>
        <p:spPr>
          <a:xfrm>
            <a:off x="8196943"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48" name="!!axxt2"/>
          <p:cNvSpPr txBox="1"/>
          <p:nvPr/>
        </p:nvSpPr>
        <p:spPr>
          <a:xfrm>
            <a:off x="9398726"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49" name="!!axxt3"/>
          <p:cNvSpPr txBox="1"/>
          <p:nvPr/>
        </p:nvSpPr>
        <p:spPr>
          <a:xfrm>
            <a:off x="10600509"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50" name="!!axyt0"/>
          <p:cNvSpPr txBox="1"/>
          <p:nvPr/>
        </p:nvSpPr>
        <p:spPr>
          <a:xfrm>
            <a:off x="6629400" y="3498233"/>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51" name="!!axyt1"/>
          <p:cNvSpPr txBox="1"/>
          <p:nvPr/>
        </p:nvSpPr>
        <p:spPr>
          <a:xfrm>
            <a:off x="6629400" y="2832027"/>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52" name="!!axyt2"/>
          <p:cNvSpPr txBox="1"/>
          <p:nvPr/>
        </p:nvSpPr>
        <p:spPr>
          <a:xfrm>
            <a:off x="6629400" y="216582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53" name="!!axyt3"/>
          <p:cNvSpPr txBox="1"/>
          <p:nvPr/>
        </p:nvSpPr>
        <p:spPr>
          <a:xfrm>
            <a:off x="6629400" y="14996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54" name="!!axxl"/>
          <p:cNvSpPr txBox="1"/>
          <p:nvPr/>
        </p:nvSpPr>
        <p:spPr>
          <a:xfrm>
            <a:off x="7315200" y="420624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55" name="!!axyl"/>
          <p:cNvSpPr txBox="1"/>
          <p:nvPr/>
        </p:nvSpPr>
        <p:spPr>
          <a:xfrm>
            <a:off x="713232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 each line = 100×)</a:t>
            </a:r>
            <a:endParaRPr lang="en-US" sz="1100" dirty="0"/>
          </a:p>
        </p:txBody>
      </p:sp>
      <p:sp>
        <p:nvSpPr>
          <p:cNvPr id="56" name="!!ivGhost"/>
          <p:cNvSpPr/>
          <p:nvPr/>
        </p:nvSpPr>
        <p:spPr>
          <a:xfrm>
            <a:off x="7315200" y="1775335"/>
            <a:ext cx="4206240" cy="1749913"/>
          </a:xfrm>
          <a:custGeom>
            <a:avLst/>
            <a:gdLst/>
            <a:ahLst/>
            <a:cxnLst/>
            <a:rect l="l" t="t" r="r" b="b"/>
            <a:pathLst>
              <a:path w="4206240" h="1749913">
                <a:moveTo>
                  <a:pt x="0" y="1749913"/>
                </a:moveTo>
                <a:lnTo>
                  <a:pt x="120178" y="1657062"/>
                </a:lnTo>
                <a:lnTo>
                  <a:pt x="240357" y="1564566"/>
                </a:lnTo>
                <a:lnTo>
                  <a:pt x="360535" y="1472551"/>
                </a:lnTo>
                <a:lnTo>
                  <a:pt x="480713" y="1381189"/>
                </a:lnTo>
                <a:lnTo>
                  <a:pt x="600891" y="1290705"/>
                </a:lnTo>
                <a:lnTo>
                  <a:pt x="721070" y="1201389"/>
                </a:lnTo>
                <a:lnTo>
                  <a:pt x="841248" y="1113607"/>
                </a:lnTo>
                <a:lnTo>
                  <a:pt x="961426" y="1027806"/>
                </a:lnTo>
                <a:lnTo>
                  <a:pt x="1081605" y="944508"/>
                </a:lnTo>
                <a:lnTo>
                  <a:pt x="1201783" y="864290"/>
                </a:lnTo>
                <a:lnTo>
                  <a:pt x="1321961" y="787744"/>
                </a:lnTo>
                <a:lnTo>
                  <a:pt x="1442139" y="715423"/>
                </a:lnTo>
                <a:lnTo>
                  <a:pt x="1562318" y="647775"/>
                </a:lnTo>
                <a:lnTo>
                  <a:pt x="1682496" y="585089"/>
                </a:lnTo>
                <a:lnTo>
                  <a:pt x="1802674" y="527469"/>
                </a:lnTo>
                <a:lnTo>
                  <a:pt x="1922853" y="474831"/>
                </a:lnTo>
                <a:lnTo>
                  <a:pt x="2043031" y="426939"/>
                </a:lnTo>
                <a:lnTo>
                  <a:pt x="2163209" y="383447"/>
                </a:lnTo>
                <a:lnTo>
                  <a:pt x="2283387" y="343952"/>
                </a:lnTo>
                <a:lnTo>
                  <a:pt x="2403566" y="308031"/>
                </a:lnTo>
                <a:lnTo>
                  <a:pt x="2523744" y="275275"/>
                </a:lnTo>
                <a:lnTo>
                  <a:pt x="2643922" y="245302"/>
                </a:lnTo>
                <a:lnTo>
                  <a:pt x="2764101" y="217770"/>
                </a:lnTo>
                <a:lnTo>
                  <a:pt x="2884279" y="192378"/>
                </a:lnTo>
                <a:lnTo>
                  <a:pt x="3004457" y="168863"/>
                </a:lnTo>
                <a:lnTo>
                  <a:pt x="3124635" y="146999"/>
                </a:lnTo>
                <a:lnTo>
                  <a:pt x="3244814" y="126592"/>
                </a:lnTo>
                <a:lnTo>
                  <a:pt x="3364992" y="107476"/>
                </a:lnTo>
                <a:lnTo>
                  <a:pt x="3485170" y="89508"/>
                </a:lnTo>
                <a:lnTo>
                  <a:pt x="3605349" y="72565"/>
                </a:lnTo>
                <a:lnTo>
                  <a:pt x="3725527" y="56542"/>
                </a:lnTo>
                <a:lnTo>
                  <a:pt x="3845705" y="41348"/>
                </a:lnTo>
                <a:lnTo>
                  <a:pt x="3965883" y="26904"/>
                </a:lnTo>
                <a:lnTo>
                  <a:pt x="4086062" y="13142"/>
                </a:lnTo>
                <a:lnTo>
                  <a:pt x="4206240" y="0"/>
                </a:lnTo>
              </a:path>
            </a:pathLst>
          </a:custGeom>
          <a:ln w="25400">
            <a:solidFill>
              <a:srgbClr val="C9CCD3"/>
            </a:solidFill>
            <a:prstDash val="solid"/>
          </a:ln>
        </p:spPr>
      </p:sp>
      <p:sp>
        <p:nvSpPr>
          <p:cNvPr id="57" name="!!ivTrail"/>
          <p:cNvSpPr/>
          <p:nvPr/>
        </p:nvSpPr>
        <p:spPr>
          <a:xfrm>
            <a:off x="7315200" y="3520599"/>
            <a:ext cx="9144" cy="9144"/>
          </a:xfrm>
          <a:custGeom>
            <a:avLst/>
            <a:gdLst/>
            <a:ahLst/>
            <a:cxnLst/>
            <a:rect l="l" t="t" r="r" b="b"/>
            <a:pathLst>
              <a:path w="9144" h="9144">
                <a:moveTo>
                  <a:pt x="0" y="4649"/>
                </a:moveTo>
                <a:lnTo>
                  <a:pt x="172" y="4517"/>
                </a:lnTo>
                <a:lnTo>
                  <a:pt x="343" y="4384"/>
                </a:lnTo>
                <a:lnTo>
                  <a:pt x="515" y="4251"/>
                </a:lnTo>
                <a:lnTo>
                  <a:pt x="687" y="4118"/>
                </a:lnTo>
                <a:lnTo>
                  <a:pt x="858" y="3985"/>
                </a:lnTo>
                <a:lnTo>
                  <a:pt x="1030" y="3852"/>
                </a:lnTo>
                <a:lnTo>
                  <a:pt x="1202" y="3719"/>
                </a:lnTo>
                <a:lnTo>
                  <a:pt x="1373" y="3587"/>
                </a:lnTo>
                <a:lnTo>
                  <a:pt x="1545" y="3454"/>
                </a:lnTo>
                <a:lnTo>
                  <a:pt x="1717" y="3321"/>
                </a:lnTo>
                <a:lnTo>
                  <a:pt x="1889" y="3188"/>
                </a:lnTo>
                <a:lnTo>
                  <a:pt x="2060" y="3055"/>
                </a:lnTo>
                <a:lnTo>
                  <a:pt x="2232" y="2922"/>
                </a:lnTo>
                <a:lnTo>
                  <a:pt x="2404" y="2790"/>
                </a:lnTo>
                <a:lnTo>
                  <a:pt x="2575" y="2657"/>
                </a:lnTo>
                <a:lnTo>
                  <a:pt x="2747" y="2524"/>
                </a:lnTo>
                <a:lnTo>
                  <a:pt x="2919" y="2391"/>
                </a:lnTo>
                <a:lnTo>
                  <a:pt x="3090" y="2258"/>
                </a:lnTo>
                <a:lnTo>
                  <a:pt x="3262" y="2125"/>
                </a:lnTo>
                <a:lnTo>
                  <a:pt x="3434" y="1993"/>
                </a:lnTo>
                <a:lnTo>
                  <a:pt x="3605" y="1860"/>
                </a:lnTo>
                <a:lnTo>
                  <a:pt x="3777" y="1727"/>
                </a:lnTo>
                <a:lnTo>
                  <a:pt x="3949" y="1594"/>
                </a:lnTo>
                <a:lnTo>
                  <a:pt x="4120" y="1461"/>
                </a:lnTo>
                <a:lnTo>
                  <a:pt x="4292" y="1328"/>
                </a:lnTo>
                <a:lnTo>
                  <a:pt x="4464" y="1195"/>
                </a:lnTo>
                <a:lnTo>
                  <a:pt x="4635" y="1063"/>
                </a:lnTo>
                <a:lnTo>
                  <a:pt x="4807" y="930"/>
                </a:lnTo>
                <a:lnTo>
                  <a:pt x="4979" y="797"/>
                </a:lnTo>
                <a:lnTo>
                  <a:pt x="5150" y="664"/>
                </a:lnTo>
                <a:lnTo>
                  <a:pt x="5322" y="531"/>
                </a:lnTo>
                <a:lnTo>
                  <a:pt x="5494" y="398"/>
                </a:lnTo>
                <a:lnTo>
                  <a:pt x="5666" y="266"/>
                </a:lnTo>
                <a:lnTo>
                  <a:pt x="5837" y="133"/>
                </a:lnTo>
                <a:lnTo>
                  <a:pt x="6009" y="0"/>
                </a:lnTo>
              </a:path>
            </a:pathLst>
          </a:custGeom>
          <a:ln w="38100">
            <a:solidFill>
              <a:srgbClr val="3E6AE1"/>
            </a:solidFill>
            <a:prstDash val="solid"/>
          </a:ln>
        </p:spPr>
      </p:sp>
      <p:sp>
        <p:nvSpPr>
          <p:cNvPr id="58" name="!!ivVT"/>
          <p:cNvSpPr/>
          <p:nvPr/>
        </p:nvSpPr>
        <p:spPr>
          <a:xfrm>
            <a:off x="8817429" y="1600200"/>
            <a:ext cx="91" cy="2331720"/>
          </a:xfrm>
          <a:prstGeom prst="line">
            <a:avLst/>
          </a:prstGeom>
          <a:noFill/>
          <a:ln w="9525">
            <a:solidFill>
              <a:srgbClr val="8A8D93"/>
            </a:solidFill>
            <a:prstDash val="dash"/>
          </a:ln>
        </p:spPr>
      </p:sp>
      <p:sp>
        <p:nvSpPr>
          <p:cNvPr id="59" name="!!ivVTl"/>
          <p:cNvSpPr txBox="1"/>
          <p:nvPr/>
        </p:nvSpPr>
        <p:spPr>
          <a:xfrm>
            <a:off x="8543109" y="1554480"/>
            <a:ext cx="548640" cy="182880"/>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V</a:t>
            </a:r>
            <a:pPr algn="ctr" indent="0" marL="0">
              <a:buNone/>
            </a:pPr>
            <a:r>
              <a:rPr lang="en-US" sz="900" baseline="-40000" dirty="0">
                <a:solidFill>
                  <a:srgbClr val="8A8D93"/>
                </a:solidFill>
                <a:latin typeface="Segoe UI" pitchFamily="34" charset="0"/>
                <a:ea typeface="Segoe UI" pitchFamily="34" charset="-122"/>
                <a:cs typeface="Segoe UI" pitchFamily="34" charset="-120"/>
              </a:rPr>
              <a:t>T</a:t>
            </a:r>
            <a:endParaRPr lang="en-US" sz="900" dirty="0"/>
          </a:p>
        </p:txBody>
      </p:sp>
      <p:sp>
        <p:nvSpPr>
          <p:cNvPr id="60" name="!!ivPt"/>
          <p:cNvSpPr/>
          <p:nvPr/>
        </p:nvSpPr>
        <p:spPr>
          <a:xfrm>
            <a:off x="7232904" y="3442953"/>
            <a:ext cx="164592" cy="164592"/>
          </a:xfrm>
          <a:prstGeom prst="ellipse">
            <a:avLst/>
          </a:prstGeom>
          <a:solidFill>
            <a:srgbClr val="D64545"/>
          </a:solidFill>
          <a:ln w="19050">
            <a:solidFill>
              <a:srgbClr val="FFFFFF"/>
            </a:solidFill>
            <a:prstDash val="solid"/>
          </a:ln>
        </p:spPr>
      </p:sp>
      <p:sp>
        <p:nvSpPr>
          <p:cNvPr id="61" name="!!ivPtL"/>
          <p:cNvSpPr txBox="1"/>
          <p:nvPr/>
        </p:nvSpPr>
        <p:spPr>
          <a:xfrm>
            <a:off x="6446520" y="3196065"/>
            <a:ext cx="822960" cy="219456"/>
          </a:xfrm>
          <a:prstGeom prst="rect">
            <a:avLst/>
          </a:prstGeom>
          <a:noFill/>
          <a:ln/>
        </p:spPr>
        <p:txBody>
          <a:bodyPr wrap="square" lIns="0" tIns="0" rIns="0" bIns="0" rtlCol="0" anchor="t"/>
          <a:lstStyle/>
          <a:p>
            <a:pPr algn="r" indent="0" marL="0">
              <a:buNone/>
            </a:pPr>
            <a:r>
              <a:rPr lang="en-US" sz="1100" dirty="0">
                <a:solidFill>
                  <a:srgbClr val="D64545"/>
                </a:solidFill>
                <a:latin typeface="Segoe UI Semibold" pitchFamily="34" charset="0"/>
                <a:ea typeface="Segoe UI Semibold" pitchFamily="34" charset="-122"/>
                <a:cs typeface="Segoe UI Semibold" pitchFamily="34" charset="-120"/>
              </a:rPr>
              <a:t>166 pA</a:t>
            </a:r>
            <a:endParaRPr lang="en-US" sz="1100" dirty="0"/>
          </a:p>
        </p:txBody>
      </p:sp>
      <p:sp>
        <p:nvSpPr>
          <p:cNvPr id="62" name="!!ivRead"/>
          <p:cNvSpPr txBox="1"/>
          <p:nvPr/>
        </p:nvSpPr>
        <p:spPr>
          <a:xfrm>
            <a:off x="6858000" y="4526280"/>
            <a:ext cx="4754880" cy="256032"/>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G</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0.00 V     I</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166 pA</a:t>
            </a:r>
            <a:endParaRPr lang="en-US" sz="1400" dirty="0"/>
          </a:p>
        </p:txBody>
      </p:sp>
      <p:sp>
        <p:nvSpPr>
          <p:cNvPr id="63" name="!!ivReg"/>
          <p:cNvSpPr txBox="1"/>
          <p:nvPr/>
        </p:nvSpPr>
        <p:spPr>
          <a:xfrm>
            <a:off x="6858000" y="4773168"/>
            <a:ext cx="4754880" cy="219456"/>
          </a:xfrm>
          <a:prstGeom prst="rect">
            <a:avLst/>
          </a:prstGeom>
          <a:noFill/>
          <a:ln/>
        </p:spPr>
        <p:txBody>
          <a:bodyPr wrap="square" lIns="0" tIns="0" rIns="0" bIns="0" rtlCol="0" anchor="t"/>
          <a:lstStyle/>
          <a:p>
            <a:pPr algn="l" indent="0" marL="0">
              <a:buNone/>
            </a:pPr>
            <a:r>
              <a:rPr lang="en-US" sz="1100" dirty="0">
                <a:solidFill>
                  <a:srgbClr val="D64545"/>
                </a:solidFill>
                <a:latin typeface="Segoe UI Semibold" pitchFamily="34" charset="0"/>
                <a:ea typeface="Segoe UI Semibold" pitchFamily="34" charset="-122"/>
                <a:cs typeface="Segoe UI Semibold" pitchFamily="34" charset="-120"/>
              </a:rPr>
              <a:t>OFF: only leakage I</a:t>
            </a:r>
            <a:pPr algn="l" indent="0" marL="0">
              <a:buNone/>
            </a:pPr>
            <a:r>
              <a:rPr lang="en-US" sz="1100" baseline="-40000" dirty="0">
                <a:solidFill>
                  <a:srgbClr val="D64545"/>
                </a:solidFill>
                <a:latin typeface="Segoe UI Semibold" pitchFamily="34" charset="0"/>
                <a:ea typeface="Segoe UI Semibold" pitchFamily="34" charset="-122"/>
                <a:cs typeface="Segoe UI Semibold" pitchFamily="34" charset="-120"/>
              </a:rPr>
              <a:t>off</a:t>
            </a:r>
            <a:endParaRPr lang="en-US" sz="1100" dirty="0"/>
          </a:p>
        </p:txBody>
      </p:sp>
      <p:sp>
        <p:nvSpPr>
          <p:cNvPr id="64" name="!!knobLbl"/>
          <p:cNvSpPr txBox="1"/>
          <p:nvPr/>
        </p:nvSpPr>
        <p:spPr>
          <a:xfrm>
            <a:off x="7022592" y="5001768"/>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0.0 V</a:t>
            </a:r>
            <a:endParaRPr lang="en-US" sz="1200" dirty="0"/>
          </a:p>
        </p:txBody>
      </p:sp>
      <p:sp>
        <p:nvSpPr>
          <p:cNvPr id="65" name="!!knobTrack"/>
          <p:cNvSpPr/>
          <p:nvPr/>
        </p:nvSpPr>
        <p:spPr>
          <a:xfrm>
            <a:off x="7040880" y="5385816"/>
            <a:ext cx="4480560" cy="54864"/>
          </a:xfrm>
          <a:prstGeom prst="roundRect">
            <a:avLst>
              <a:gd name="adj" fmla="val 50000"/>
            </a:avLst>
          </a:prstGeom>
          <a:solidFill>
            <a:srgbClr val="E2E3E3"/>
          </a:solidFill>
          <a:ln/>
        </p:spPr>
      </p:sp>
      <p:sp>
        <p:nvSpPr>
          <p:cNvPr id="66" name="!!knobFill"/>
          <p:cNvSpPr/>
          <p:nvPr/>
        </p:nvSpPr>
        <p:spPr>
          <a:xfrm>
            <a:off x="7040880" y="5385816"/>
            <a:ext cx="18288" cy="54864"/>
          </a:xfrm>
          <a:prstGeom prst="roundRect">
            <a:avLst>
              <a:gd name="adj" fmla="val 150000"/>
            </a:avLst>
          </a:prstGeom>
          <a:solidFill>
            <a:srgbClr val="6B5BC4"/>
          </a:solidFill>
          <a:ln/>
        </p:spPr>
      </p:sp>
      <p:sp>
        <p:nvSpPr>
          <p:cNvPr id="67" name="!!knobT0"/>
          <p:cNvSpPr txBox="1"/>
          <p:nvPr/>
        </p:nvSpPr>
        <p:spPr>
          <a:xfrm>
            <a:off x="667512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68" name="!!knobT1"/>
          <p:cNvSpPr txBox="1"/>
          <p:nvPr/>
        </p:nvSpPr>
        <p:spPr>
          <a:xfrm>
            <a:off x="79552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69" name="!!knobT2"/>
          <p:cNvSpPr txBox="1"/>
          <p:nvPr/>
        </p:nvSpPr>
        <p:spPr>
          <a:xfrm>
            <a:off x="923544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70" name="!!knobT3"/>
          <p:cNvSpPr txBox="1"/>
          <p:nvPr/>
        </p:nvSpPr>
        <p:spPr>
          <a:xfrm>
            <a:off x="1051560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71" name="!!knobT4"/>
          <p:cNvSpPr txBox="1"/>
          <p:nvPr/>
        </p:nvSpPr>
        <p:spPr>
          <a:xfrm>
            <a:off x="111556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72" name="!!knobThumb"/>
          <p:cNvSpPr/>
          <p:nvPr/>
        </p:nvSpPr>
        <p:spPr>
          <a:xfrm>
            <a:off x="6940296" y="5312664"/>
            <a:ext cx="201168" cy="201168"/>
          </a:xfrm>
          <a:prstGeom prst="ellipse">
            <a:avLst/>
          </a:prstGeom>
          <a:solidFill>
            <a:srgbClr val="FFFFFF"/>
          </a:solidFill>
          <a:ln w="28575">
            <a:solidFill>
              <a:srgbClr val="6B5BC4"/>
            </a:solidFill>
            <a:prstDash val="solid"/>
          </a:ln>
        </p:spPr>
      </p:sp>
      <p:sp>
        <p:nvSpPr>
          <p:cNvPr id="7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V</a:t>
            </a:r>
            <a:pPr algn="ctr" indent="0" marL="0">
              <a:buNone/>
            </a:pPr>
            <a:r>
              <a:rPr lang="en-US" sz="1600" baseline="-40000" dirty="0">
                <a:solidFill>
                  <a:srgbClr val="171A20"/>
                </a:solidFill>
                <a:latin typeface="Segoe UI" pitchFamily="34" charset="0"/>
                <a:ea typeface="Segoe UI" pitchFamily="34" charset="-122"/>
                <a:cs typeface="Segoe UI" pitchFamily="34" charset="-120"/>
              </a:rPr>
              <a:t>G</a:t>
            </a:r>
            <a:pPr algn="ctr" indent="0" marL="0">
              <a:buNone/>
            </a:pPr>
            <a:r>
              <a:rPr lang="en-US" sz="1600" dirty="0">
                <a:solidFill>
                  <a:srgbClr val="171A20"/>
                </a:solidFill>
                <a:latin typeface="Segoe UI" pitchFamily="34" charset="0"/>
                <a:ea typeface="Segoe UI" pitchFamily="34" charset="-122"/>
                <a:cs typeface="Segoe UI" pitchFamily="34" charset="-120"/>
              </a:rPr>
              <a:t> = 0: the hill is high and there is no channel. Only a tiny leakage flows.</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Turning the gate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One knob,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the device, the energy hill and the current change together</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E2E3E3"/>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mBody"/>
          <p:cNvSpPr/>
          <p:nvPr/>
        </p:nvSpPr>
        <p:spPr>
          <a:xfrm>
            <a:off x="640080" y="2240280"/>
            <a:ext cx="5120640" cy="1417320"/>
          </a:xfrm>
          <a:prstGeom prst="rect">
            <a:avLst/>
          </a:prstGeom>
          <a:solidFill>
            <a:srgbClr val="F6E7B8"/>
          </a:solidFill>
          <a:ln/>
        </p:spPr>
      </p:sp>
      <p:sp>
        <p:nvSpPr>
          <p:cNvPr id="10"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1" name="!!mDepl"/>
          <p:cNvSpPr/>
          <p:nvPr/>
        </p:nvSpPr>
        <p:spPr>
          <a:xfrm>
            <a:off x="1920240" y="2240280"/>
            <a:ext cx="2560320" cy="435254"/>
          </a:xfrm>
          <a:prstGeom prst="rect">
            <a:avLst/>
          </a:prstGeom>
          <a:solidFill>
            <a:srgbClr val="F7D4D9"/>
          </a:solidFill>
          <a:ln/>
        </p:spPr>
      </p:sp>
      <p:sp>
        <p:nvSpPr>
          <p:cNvPr id="12" name="!!mSrc"/>
          <p:cNvSpPr/>
          <p:nvPr/>
        </p:nvSpPr>
        <p:spPr>
          <a:xfrm>
            <a:off x="640080" y="2240280"/>
            <a:ext cx="1325880" cy="548640"/>
          </a:xfrm>
          <a:prstGeom prst="roundRect">
            <a:avLst>
              <a:gd name="adj" fmla="val 8333"/>
            </a:avLst>
          </a:prstGeom>
          <a:solidFill>
            <a:srgbClr val="7D9BE6"/>
          </a:solidFill>
          <a:ln/>
        </p:spPr>
      </p:sp>
      <p:sp>
        <p:nvSpPr>
          <p:cNvPr id="13" name="!!mDrn"/>
          <p:cNvSpPr/>
          <p:nvPr/>
        </p:nvSpPr>
        <p:spPr>
          <a:xfrm>
            <a:off x="4434840" y="2240280"/>
            <a:ext cx="1325880" cy="548640"/>
          </a:xfrm>
          <a:prstGeom prst="roundRect">
            <a:avLst>
              <a:gd name="adj" fmla="val 8333"/>
            </a:avLst>
          </a:prstGeom>
          <a:solidFill>
            <a:srgbClr val="7D9BE6"/>
          </a:solidFill>
          <a:ln/>
        </p:spPr>
      </p:sp>
      <p:sp>
        <p:nvSpPr>
          <p:cNvPr id="14" name="!!mSrcL"/>
          <p:cNvSpPr txBox="1"/>
          <p:nvPr/>
        </p:nvSpPr>
        <p:spPr>
          <a:xfrm>
            <a:off x="64008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5" name="!!mDrnL"/>
          <p:cNvSpPr txBox="1"/>
          <p:nvPr/>
        </p:nvSpPr>
        <p:spPr>
          <a:xfrm>
            <a:off x="448056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6" name="!!mChan"/>
          <p:cNvSpPr/>
          <p:nvPr/>
        </p:nvSpPr>
        <p:spPr>
          <a:xfrm>
            <a:off x="1920240" y="2240280"/>
            <a:ext cx="2560320" cy="13716"/>
          </a:xfrm>
          <a:custGeom>
            <a:avLst/>
            <a:gdLst/>
            <a:ahLst/>
            <a:cxnLst/>
            <a:rect l="l" t="t" r="r" b="b"/>
            <a:pathLst>
              <a:path w="2560320" h="13716">
                <a:moveTo>
                  <a:pt x="0" y="0"/>
                </a:moveTo>
                <a:lnTo>
                  <a:pt x="2560320" y="0"/>
                </a:lnTo>
                <a:lnTo>
                  <a:pt x="2560320" y="13716"/>
                </a:lnTo>
                <a:lnTo>
                  <a:pt x="0" y="13716"/>
                </a:lnTo>
                <a:close/>
              </a:path>
            </a:pathLst>
          </a:custGeom>
          <a:solidFill>
            <a:srgbClr val="1F2F6B"/>
          </a:solidFill>
          <a:ln/>
        </p:spPr>
      </p:sp>
      <p:sp>
        <p:nvSpPr>
          <p:cNvPr id="17" name="!!mOx"/>
          <p:cNvSpPr/>
          <p:nvPr/>
        </p:nvSpPr>
        <p:spPr>
          <a:xfrm>
            <a:off x="1920240" y="2167128"/>
            <a:ext cx="2560320" cy="73152"/>
          </a:xfrm>
          <a:prstGeom prst="rect">
            <a:avLst/>
          </a:prstGeom>
          <a:solidFill>
            <a:srgbClr val="CDEBF5"/>
          </a:solidFill>
          <a:ln/>
        </p:spPr>
      </p:sp>
      <p:sp>
        <p:nvSpPr>
          <p:cNvPr id="18" name="!!mGate"/>
          <p:cNvSpPr/>
          <p:nvPr/>
        </p:nvSpPr>
        <p:spPr>
          <a:xfrm>
            <a:off x="1920240" y="1783080"/>
            <a:ext cx="2560320" cy="384048"/>
          </a:xfrm>
          <a:prstGeom prst="roundRect">
            <a:avLst>
              <a:gd name="adj" fmla="val 9524"/>
            </a:avLst>
          </a:prstGeom>
          <a:solidFill>
            <a:srgbClr val="B3A6E6"/>
          </a:solidFill>
          <a:ln/>
        </p:spPr>
      </p:sp>
      <p:sp>
        <p:nvSpPr>
          <p:cNvPr id="19" name="!!mGateL"/>
          <p:cNvSpPr txBox="1"/>
          <p:nvPr/>
        </p:nvSpPr>
        <p:spPr>
          <a:xfrm>
            <a:off x="1920240" y="1837944"/>
            <a:ext cx="2560320"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20" name="!!mVS"/>
          <p:cNvSpPr txBox="1"/>
          <p:nvPr/>
        </p:nvSpPr>
        <p:spPr>
          <a:xfrm>
            <a:off x="640080" y="1856232"/>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S</a:t>
            </a:r>
            <a:pPr algn="l" indent="0" marL="0">
              <a:buNone/>
            </a:pPr>
            <a:r>
              <a:rPr lang="en-US" sz="1100" dirty="0">
                <a:solidFill>
                  <a:srgbClr val="5C5E62"/>
                </a:solidFill>
                <a:latin typeface="Segoe UI" pitchFamily="34" charset="0"/>
                <a:ea typeface="Segoe UI" pitchFamily="34" charset="-122"/>
                <a:cs typeface="Segoe UI" pitchFamily="34" charset="-120"/>
              </a:rPr>
              <a:t> = 0</a:t>
            </a:r>
            <a:endParaRPr lang="en-US" sz="1100" dirty="0"/>
          </a:p>
        </p:txBody>
      </p:sp>
      <p:sp>
        <p:nvSpPr>
          <p:cNvPr id="21" name="!!mVG"/>
          <p:cNvSpPr txBox="1"/>
          <p:nvPr/>
        </p:nvSpPr>
        <p:spPr>
          <a:xfrm>
            <a:off x="2286000" y="1490472"/>
            <a:ext cx="1828800" cy="237744"/>
          </a:xfrm>
          <a:prstGeom prst="rect">
            <a:avLst/>
          </a:prstGeom>
          <a:noFill/>
          <a:ln/>
        </p:spPr>
        <p:txBody>
          <a:bodyPr wrap="square" lIns="0" tIns="0" rIns="0" bIns="0" rtlCol="0" anchor="t"/>
          <a:lstStyle/>
          <a:p>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ctr"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 = 0.20 V</a:t>
            </a:r>
            <a:endParaRPr lang="en-US" sz="1200" dirty="0"/>
          </a:p>
        </p:txBody>
      </p:sp>
      <p:sp>
        <p:nvSpPr>
          <p:cNvPr id="22" name="!!mVD"/>
          <p:cNvSpPr txBox="1"/>
          <p:nvPr/>
        </p:nvSpPr>
        <p:spPr>
          <a:xfrm>
            <a:off x="4480560" y="1856232"/>
            <a:ext cx="1280160" cy="228600"/>
          </a:xfrm>
          <a:prstGeom prst="rect">
            <a:avLst/>
          </a:prstGeom>
          <a:noFill/>
          <a:ln/>
        </p:spPr>
        <p:txBody>
          <a:bodyPr wrap="square" lIns="0" tIns="0" rIns="0" bIns="0" rtlCol="0" anchor="t"/>
          <a:lstStyle/>
          <a:p>
            <a:pPr algn="r" indent="0" marL="0">
              <a:buNone/>
            </a:pPr>
            <a:r>
              <a:rPr lang="en-US" sz="1100" dirty="0">
                <a:solidFill>
                  <a:srgbClr val="5C5E62"/>
                </a:solidFill>
                <a:latin typeface="Segoe UI" pitchFamily="34" charset="0"/>
                <a:ea typeface="Segoe UI" pitchFamily="34" charset="-122"/>
                <a:cs typeface="Segoe UI" pitchFamily="34" charset="-120"/>
              </a:rPr>
              <a:t>V</a:t>
            </a:r>
            <a:pPr algn="r" indent="0" marL="0">
              <a:buNone/>
            </a:pPr>
            <a:r>
              <a:rPr lang="en-US" sz="1100" baseline="-40000" dirty="0">
                <a:solidFill>
                  <a:srgbClr val="5C5E62"/>
                </a:solidFill>
                <a:latin typeface="Segoe UI" pitchFamily="34" charset="0"/>
                <a:ea typeface="Segoe UI" pitchFamily="34" charset="-122"/>
                <a:cs typeface="Segoe UI" pitchFamily="34" charset="-120"/>
              </a:rPr>
              <a:t>D</a:t>
            </a:r>
            <a:pPr algn="r" indent="0" marL="0">
              <a:buNone/>
            </a:pPr>
            <a:r>
              <a:rPr lang="en-US" sz="1100" dirty="0">
                <a:solidFill>
                  <a:srgbClr val="5C5E62"/>
                </a:solidFill>
                <a:latin typeface="Segoe UI" pitchFamily="34" charset="0"/>
                <a:ea typeface="Segoe UI" pitchFamily="34" charset="-122"/>
                <a:cs typeface="Segoe UI" pitchFamily="34" charset="-120"/>
              </a:rPr>
              <a:t> = 0.70 V</a:t>
            </a:r>
            <a:endParaRPr lang="en-US" sz="1100" dirty="0"/>
          </a:p>
        </p:txBody>
      </p:sp>
      <p:sp>
        <p:nvSpPr>
          <p:cNvPr id="23" name="!!lg1"/>
          <p:cNvSpPr/>
          <p:nvPr/>
        </p:nvSpPr>
        <p:spPr>
          <a:xfrm>
            <a:off x="658368" y="3767328"/>
            <a:ext cx="164592" cy="109728"/>
          </a:xfrm>
          <a:prstGeom prst="rect">
            <a:avLst/>
          </a:prstGeom>
          <a:solidFill>
            <a:srgbClr val="1F2F6B"/>
          </a:solidFill>
          <a:ln/>
        </p:spPr>
      </p:sp>
      <p:sp>
        <p:nvSpPr>
          <p:cNvPr id="24" name="!!lg1t"/>
          <p:cNvSpPr txBox="1"/>
          <p:nvPr/>
        </p:nvSpPr>
        <p:spPr>
          <a:xfrm>
            <a:off x="868680" y="3721608"/>
            <a:ext cx="146304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electron channel</a:t>
            </a:r>
            <a:endParaRPr lang="en-US" sz="900" dirty="0"/>
          </a:p>
        </p:txBody>
      </p:sp>
      <p:sp>
        <p:nvSpPr>
          <p:cNvPr id="25" name="!!lg2"/>
          <p:cNvSpPr/>
          <p:nvPr/>
        </p:nvSpPr>
        <p:spPr>
          <a:xfrm>
            <a:off x="2240280" y="3767328"/>
            <a:ext cx="164592" cy="109728"/>
          </a:xfrm>
          <a:prstGeom prst="rect">
            <a:avLst/>
          </a:prstGeom>
          <a:solidFill>
            <a:srgbClr val="F7D4D9"/>
          </a:solidFill>
          <a:ln/>
        </p:spPr>
      </p:sp>
      <p:sp>
        <p:nvSpPr>
          <p:cNvPr id="26" name="!!lg2t"/>
          <p:cNvSpPr txBox="1"/>
          <p:nvPr/>
        </p:nvSpPr>
        <p:spPr>
          <a:xfrm>
            <a:off x="2450592" y="3721608"/>
            <a:ext cx="201168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depletion (no free carriers)</a:t>
            </a:r>
            <a:endParaRPr lang="en-US" sz="900" dirty="0"/>
          </a:p>
        </p:txBody>
      </p:sp>
      <p:sp>
        <p:nvSpPr>
          <p:cNvPr id="27" name="!!bCurve"/>
          <p:cNvSpPr/>
          <p:nvPr/>
        </p:nvSpPr>
        <p:spPr>
          <a:xfrm>
            <a:off x="640080" y="4296333"/>
            <a:ext cx="5120640" cy="1002601"/>
          </a:xfrm>
          <a:custGeom>
            <a:avLst/>
            <a:gdLst/>
            <a:ahLst/>
            <a:cxnLst/>
            <a:rect l="l" t="t" r="r" b="b"/>
            <a:pathLst>
              <a:path w="5120640" h="1002601">
                <a:moveTo>
                  <a:pt x="0" y="458538"/>
                </a:moveTo>
                <a:lnTo>
                  <a:pt x="113792" y="458522"/>
                </a:lnTo>
                <a:lnTo>
                  <a:pt x="227584" y="458482"/>
                </a:lnTo>
                <a:lnTo>
                  <a:pt x="341376" y="458377"/>
                </a:lnTo>
                <a:lnTo>
                  <a:pt x="455168" y="458104"/>
                </a:lnTo>
                <a:lnTo>
                  <a:pt x="568960" y="457394"/>
                </a:lnTo>
                <a:lnTo>
                  <a:pt x="682752" y="455555"/>
                </a:lnTo>
                <a:lnTo>
                  <a:pt x="796544" y="450835"/>
                </a:lnTo>
                <a:lnTo>
                  <a:pt x="910336" y="438989"/>
                </a:lnTo>
                <a:lnTo>
                  <a:pt x="1024128" y="410869"/>
                </a:lnTo>
                <a:lnTo>
                  <a:pt x="1137920" y="352120"/>
                </a:lnTo>
                <a:lnTo>
                  <a:pt x="1251712" y="256567"/>
                </a:lnTo>
                <a:lnTo>
                  <a:pt x="1365504" y="150316"/>
                </a:lnTo>
                <a:lnTo>
                  <a:pt x="1479296" y="72306"/>
                </a:lnTo>
                <a:lnTo>
                  <a:pt x="1593088" y="30735"/>
                </a:lnTo>
                <a:lnTo>
                  <a:pt x="1706880" y="12295"/>
                </a:lnTo>
                <a:lnTo>
                  <a:pt x="1820672" y="4785"/>
                </a:lnTo>
                <a:lnTo>
                  <a:pt x="1934464" y="1834"/>
                </a:lnTo>
                <a:lnTo>
                  <a:pt x="2048256" y="691"/>
                </a:lnTo>
                <a:lnTo>
                  <a:pt x="2162048" y="251"/>
                </a:lnTo>
                <a:lnTo>
                  <a:pt x="2275840" y="82"/>
                </a:lnTo>
                <a:lnTo>
                  <a:pt x="2389632" y="20"/>
                </a:lnTo>
                <a:lnTo>
                  <a:pt x="2503424" y="0"/>
                </a:lnTo>
                <a:lnTo>
                  <a:pt x="2617216" y="5"/>
                </a:lnTo>
                <a:lnTo>
                  <a:pt x="2731008" y="41"/>
                </a:lnTo>
                <a:lnTo>
                  <a:pt x="2844800" y="144"/>
                </a:lnTo>
                <a:lnTo>
                  <a:pt x="2958592" y="427"/>
                </a:lnTo>
                <a:lnTo>
                  <a:pt x="3072384" y="1187"/>
                </a:lnTo>
                <a:lnTo>
                  <a:pt x="3186176" y="3230"/>
                </a:lnTo>
                <a:lnTo>
                  <a:pt x="3299968" y="8704"/>
                </a:lnTo>
                <a:lnTo>
                  <a:pt x="3413760" y="23207"/>
                </a:lnTo>
                <a:lnTo>
                  <a:pt x="3527552" y="60434"/>
                </a:lnTo>
                <a:lnTo>
                  <a:pt x="3641344" y="148507"/>
                </a:lnTo>
                <a:lnTo>
                  <a:pt x="3755136" y="321588"/>
                </a:lnTo>
                <a:lnTo>
                  <a:pt x="3868928" y="563669"/>
                </a:lnTo>
                <a:lnTo>
                  <a:pt x="3982720" y="779328"/>
                </a:lnTo>
                <a:lnTo>
                  <a:pt x="4096512" y="906841"/>
                </a:lnTo>
                <a:lnTo>
                  <a:pt x="4210304" y="964975"/>
                </a:lnTo>
                <a:lnTo>
                  <a:pt x="4324096" y="988353"/>
                </a:lnTo>
                <a:lnTo>
                  <a:pt x="4437888" y="997283"/>
                </a:lnTo>
                <a:lnTo>
                  <a:pt x="4551680" y="1000630"/>
                </a:lnTo>
                <a:lnTo>
                  <a:pt x="4665472" y="1001877"/>
                </a:lnTo>
                <a:lnTo>
                  <a:pt x="4779264" y="1002340"/>
                </a:lnTo>
                <a:lnTo>
                  <a:pt x="4893056" y="1002513"/>
                </a:lnTo>
                <a:lnTo>
                  <a:pt x="5006848" y="1002577"/>
                </a:lnTo>
                <a:lnTo>
                  <a:pt x="5120640" y="1002601"/>
                </a:lnTo>
              </a:path>
            </a:pathLst>
          </a:custGeom>
          <a:ln w="28575">
            <a:solidFill>
              <a:srgbClr val="171A20"/>
            </a:solidFill>
            <a:prstDash val="solid"/>
          </a:ln>
        </p:spPr>
      </p:sp>
      <p:sp>
        <p:nvSpPr>
          <p:cNvPr id="28" name="!!bLbl"/>
          <p:cNvSpPr txBox="1"/>
          <p:nvPr/>
        </p:nvSpPr>
        <p:spPr>
          <a:xfrm>
            <a:off x="640080" y="3977640"/>
            <a:ext cx="182880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electron energy ↑</a:t>
            </a:r>
            <a:endParaRPr lang="en-US" sz="1000" dirty="0"/>
          </a:p>
        </p:txBody>
      </p:sp>
      <p:sp>
        <p:nvSpPr>
          <p:cNvPr id="29" name="!!bes0"/>
          <p:cNvSpPr/>
          <p:nvPr/>
        </p:nvSpPr>
        <p:spPr>
          <a:xfrm>
            <a:off x="717804" y="4613148"/>
            <a:ext cx="118872" cy="118872"/>
          </a:xfrm>
          <a:prstGeom prst="ellipse">
            <a:avLst/>
          </a:prstGeom>
          <a:solidFill>
            <a:srgbClr val="1F2F6B"/>
          </a:solidFill>
          <a:ln/>
        </p:spPr>
      </p:sp>
      <p:sp>
        <p:nvSpPr>
          <p:cNvPr id="30" name="!!bes1"/>
          <p:cNvSpPr/>
          <p:nvPr/>
        </p:nvSpPr>
        <p:spPr>
          <a:xfrm>
            <a:off x="918972" y="4613148"/>
            <a:ext cx="118872" cy="118872"/>
          </a:xfrm>
          <a:prstGeom prst="ellipse">
            <a:avLst/>
          </a:prstGeom>
          <a:solidFill>
            <a:srgbClr val="1F2F6B"/>
          </a:solidFill>
          <a:ln/>
        </p:spPr>
      </p:sp>
      <p:sp>
        <p:nvSpPr>
          <p:cNvPr id="31" name="!!bes2"/>
          <p:cNvSpPr/>
          <p:nvPr/>
        </p:nvSpPr>
        <p:spPr>
          <a:xfrm>
            <a:off x="1120140" y="4613148"/>
            <a:ext cx="118872" cy="118872"/>
          </a:xfrm>
          <a:prstGeom prst="ellipse">
            <a:avLst/>
          </a:prstGeom>
          <a:solidFill>
            <a:srgbClr val="1F2F6B"/>
          </a:solidFill>
          <a:ln/>
        </p:spPr>
      </p:sp>
      <p:sp>
        <p:nvSpPr>
          <p:cNvPr id="32" name="!!bes3"/>
          <p:cNvSpPr/>
          <p:nvPr/>
        </p:nvSpPr>
        <p:spPr>
          <a:xfrm>
            <a:off x="1321308" y="4613148"/>
            <a:ext cx="118872" cy="118872"/>
          </a:xfrm>
          <a:prstGeom prst="ellipse">
            <a:avLst/>
          </a:prstGeom>
          <a:solidFill>
            <a:srgbClr val="1F2F6B"/>
          </a:solidFill>
          <a:ln/>
        </p:spPr>
      </p:sp>
      <p:sp>
        <p:nvSpPr>
          <p:cNvPr id="33" name="!!bes4"/>
          <p:cNvSpPr/>
          <p:nvPr/>
        </p:nvSpPr>
        <p:spPr>
          <a:xfrm>
            <a:off x="1522476" y="4613148"/>
            <a:ext cx="118872" cy="118872"/>
          </a:xfrm>
          <a:prstGeom prst="ellipse">
            <a:avLst/>
          </a:prstGeom>
          <a:solidFill>
            <a:srgbClr val="1F2F6B"/>
          </a:solidFill>
          <a:ln/>
        </p:spPr>
      </p:sp>
      <p:sp>
        <p:nvSpPr>
          <p:cNvPr id="34" name="!!bec0"/>
          <p:cNvSpPr/>
          <p:nvPr/>
        </p:nvSpPr>
        <p:spPr>
          <a:xfrm>
            <a:off x="2089404" y="4213053"/>
            <a:ext cx="118872" cy="118872"/>
          </a:xfrm>
          <a:prstGeom prst="ellipse">
            <a:avLst/>
          </a:prstGeom>
          <a:solidFill>
            <a:srgbClr val="1F2F6B"/>
          </a:solidFill>
          <a:ln/>
        </p:spPr>
      </p:sp>
      <p:sp>
        <p:nvSpPr>
          <p:cNvPr id="35" name="!!bec1"/>
          <p:cNvSpPr/>
          <p:nvPr/>
        </p:nvSpPr>
        <p:spPr>
          <a:xfrm>
            <a:off x="1019556" y="4613148"/>
            <a:ext cx="118872" cy="118872"/>
          </a:xfrm>
          <a:prstGeom prst="ellipse">
            <a:avLst/>
          </a:prstGeom>
          <a:solidFill>
            <a:srgbClr val="1F2F6B"/>
          </a:solidFill>
          <a:ln/>
        </p:spPr>
      </p:sp>
      <p:sp>
        <p:nvSpPr>
          <p:cNvPr id="36" name="!!bec2"/>
          <p:cNvSpPr/>
          <p:nvPr/>
        </p:nvSpPr>
        <p:spPr>
          <a:xfrm>
            <a:off x="1220724" y="4613148"/>
            <a:ext cx="118872" cy="118872"/>
          </a:xfrm>
          <a:prstGeom prst="ellipse">
            <a:avLst/>
          </a:prstGeom>
          <a:solidFill>
            <a:srgbClr val="1F2F6B"/>
          </a:solidFill>
          <a:ln/>
        </p:spPr>
      </p:sp>
      <p:sp>
        <p:nvSpPr>
          <p:cNvPr id="37" name="!!bec3"/>
          <p:cNvSpPr/>
          <p:nvPr/>
        </p:nvSpPr>
        <p:spPr>
          <a:xfrm>
            <a:off x="1421892" y="4613148"/>
            <a:ext cx="118872" cy="118872"/>
          </a:xfrm>
          <a:prstGeom prst="ellipse">
            <a:avLst/>
          </a:prstGeom>
          <a:solidFill>
            <a:srgbClr val="1F2F6B"/>
          </a:solidFill>
          <a:ln/>
        </p:spPr>
      </p:sp>
      <p:sp>
        <p:nvSpPr>
          <p:cNvPr id="38" name="!!bec4"/>
          <p:cNvSpPr/>
          <p:nvPr/>
        </p:nvSpPr>
        <p:spPr>
          <a:xfrm>
            <a:off x="818388" y="4613148"/>
            <a:ext cx="118872" cy="118872"/>
          </a:xfrm>
          <a:prstGeom prst="ellipse">
            <a:avLst/>
          </a:prstGeom>
          <a:solidFill>
            <a:srgbClr val="1F2F6B"/>
          </a:solidFill>
          <a:ln/>
        </p:spPr>
      </p:sp>
      <p:sp>
        <p:nvSpPr>
          <p:cNvPr id="39" name="!!bec5"/>
          <p:cNvSpPr/>
          <p:nvPr/>
        </p:nvSpPr>
        <p:spPr>
          <a:xfrm>
            <a:off x="1019556" y="4613148"/>
            <a:ext cx="118872" cy="118872"/>
          </a:xfrm>
          <a:prstGeom prst="ellipse">
            <a:avLst/>
          </a:prstGeom>
          <a:solidFill>
            <a:srgbClr val="1F2F6B"/>
          </a:solidFill>
          <a:ln/>
        </p:spPr>
      </p:sp>
      <p:sp>
        <p:nvSpPr>
          <p:cNvPr id="40" name="!!axg0"/>
          <p:cNvSpPr/>
          <p:nvPr/>
        </p:nvSpPr>
        <p:spPr>
          <a:xfrm>
            <a:off x="7315200" y="3598817"/>
            <a:ext cx="4206240" cy="91"/>
          </a:xfrm>
          <a:prstGeom prst="line">
            <a:avLst/>
          </a:prstGeom>
          <a:noFill/>
          <a:ln w="9525">
            <a:solidFill>
              <a:srgbClr val="EDEEF0"/>
            </a:solidFill>
            <a:prstDash val="solid"/>
          </a:ln>
        </p:spPr>
      </p:sp>
      <p:sp>
        <p:nvSpPr>
          <p:cNvPr id="41" name="!!axg1"/>
          <p:cNvSpPr/>
          <p:nvPr/>
        </p:nvSpPr>
        <p:spPr>
          <a:xfrm>
            <a:off x="7315200" y="2932611"/>
            <a:ext cx="4206240" cy="91"/>
          </a:xfrm>
          <a:prstGeom prst="line">
            <a:avLst/>
          </a:prstGeom>
          <a:noFill/>
          <a:ln w="9525">
            <a:solidFill>
              <a:srgbClr val="EDEEF0"/>
            </a:solidFill>
            <a:prstDash val="solid"/>
          </a:ln>
        </p:spPr>
      </p:sp>
      <p:sp>
        <p:nvSpPr>
          <p:cNvPr id="42" name="!!axg2"/>
          <p:cNvSpPr/>
          <p:nvPr/>
        </p:nvSpPr>
        <p:spPr>
          <a:xfrm>
            <a:off x="7315200" y="2266406"/>
            <a:ext cx="4206240" cy="91"/>
          </a:xfrm>
          <a:prstGeom prst="line">
            <a:avLst/>
          </a:prstGeom>
          <a:noFill/>
          <a:ln w="9525">
            <a:solidFill>
              <a:srgbClr val="EDEEF0"/>
            </a:solidFill>
            <a:prstDash val="solid"/>
          </a:ln>
        </p:spPr>
      </p:sp>
      <p:sp>
        <p:nvSpPr>
          <p:cNvPr id="43" name="!!axg3"/>
          <p:cNvSpPr/>
          <p:nvPr/>
        </p:nvSpPr>
        <p:spPr>
          <a:xfrm>
            <a:off x="7315200" y="1600200"/>
            <a:ext cx="4206240" cy="91"/>
          </a:xfrm>
          <a:prstGeom prst="line">
            <a:avLst/>
          </a:prstGeom>
          <a:noFill/>
          <a:ln w="9525">
            <a:solidFill>
              <a:srgbClr val="EDEEF0"/>
            </a:solidFill>
            <a:prstDash val="solid"/>
          </a:ln>
        </p:spPr>
      </p:sp>
      <p:sp>
        <p:nvSpPr>
          <p:cNvPr id="44" name="!!axxa"/>
          <p:cNvSpPr/>
          <p:nvPr/>
        </p:nvSpPr>
        <p:spPr>
          <a:xfrm>
            <a:off x="7315200" y="3931920"/>
            <a:ext cx="4206240" cy="91"/>
          </a:xfrm>
          <a:prstGeom prst="line">
            <a:avLst/>
          </a:prstGeom>
          <a:noFill/>
          <a:ln w="12700">
            <a:solidFill>
              <a:srgbClr val="8A8D93"/>
            </a:solidFill>
            <a:prstDash val="solid"/>
          </a:ln>
        </p:spPr>
      </p:sp>
      <p:sp>
        <p:nvSpPr>
          <p:cNvPr id="45" name="!!axya"/>
          <p:cNvSpPr/>
          <p:nvPr/>
        </p:nvSpPr>
        <p:spPr>
          <a:xfrm>
            <a:off x="7315200" y="1600200"/>
            <a:ext cx="91" cy="2331720"/>
          </a:xfrm>
          <a:prstGeom prst="line">
            <a:avLst/>
          </a:prstGeom>
          <a:noFill/>
          <a:ln w="12700">
            <a:solidFill>
              <a:srgbClr val="8A8D93"/>
            </a:solidFill>
            <a:prstDash val="solid"/>
          </a:ln>
        </p:spPr>
      </p:sp>
      <p:sp>
        <p:nvSpPr>
          <p:cNvPr id="46" name="!!axxt0"/>
          <p:cNvSpPr txBox="1"/>
          <p:nvPr/>
        </p:nvSpPr>
        <p:spPr>
          <a:xfrm>
            <a:off x="699516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7" name="!!axxt1"/>
          <p:cNvSpPr txBox="1"/>
          <p:nvPr/>
        </p:nvSpPr>
        <p:spPr>
          <a:xfrm>
            <a:off x="8196943"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48" name="!!axxt2"/>
          <p:cNvSpPr txBox="1"/>
          <p:nvPr/>
        </p:nvSpPr>
        <p:spPr>
          <a:xfrm>
            <a:off x="9398726"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49" name="!!axxt3"/>
          <p:cNvSpPr txBox="1"/>
          <p:nvPr/>
        </p:nvSpPr>
        <p:spPr>
          <a:xfrm>
            <a:off x="10600509"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50" name="!!axyt0"/>
          <p:cNvSpPr txBox="1"/>
          <p:nvPr/>
        </p:nvSpPr>
        <p:spPr>
          <a:xfrm>
            <a:off x="6629400" y="3498233"/>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51" name="!!axyt1"/>
          <p:cNvSpPr txBox="1"/>
          <p:nvPr/>
        </p:nvSpPr>
        <p:spPr>
          <a:xfrm>
            <a:off x="6629400" y="2832027"/>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52" name="!!axyt2"/>
          <p:cNvSpPr txBox="1"/>
          <p:nvPr/>
        </p:nvSpPr>
        <p:spPr>
          <a:xfrm>
            <a:off x="6629400" y="216582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53" name="!!axyt3"/>
          <p:cNvSpPr txBox="1"/>
          <p:nvPr/>
        </p:nvSpPr>
        <p:spPr>
          <a:xfrm>
            <a:off x="6629400" y="14996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54" name="!!axxl"/>
          <p:cNvSpPr txBox="1"/>
          <p:nvPr/>
        </p:nvSpPr>
        <p:spPr>
          <a:xfrm>
            <a:off x="7315200" y="420624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55" name="!!axyl"/>
          <p:cNvSpPr txBox="1"/>
          <p:nvPr/>
        </p:nvSpPr>
        <p:spPr>
          <a:xfrm>
            <a:off x="713232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 each line = 100×)</a:t>
            </a:r>
            <a:endParaRPr lang="en-US" sz="1100" dirty="0"/>
          </a:p>
        </p:txBody>
      </p:sp>
      <p:sp>
        <p:nvSpPr>
          <p:cNvPr id="56" name="!!ivGhost"/>
          <p:cNvSpPr/>
          <p:nvPr/>
        </p:nvSpPr>
        <p:spPr>
          <a:xfrm>
            <a:off x="7315200" y="1775335"/>
            <a:ext cx="4206240" cy="1749913"/>
          </a:xfrm>
          <a:custGeom>
            <a:avLst/>
            <a:gdLst/>
            <a:ahLst/>
            <a:cxnLst/>
            <a:rect l="l" t="t" r="r" b="b"/>
            <a:pathLst>
              <a:path w="4206240" h="1749913">
                <a:moveTo>
                  <a:pt x="0" y="1749913"/>
                </a:moveTo>
                <a:lnTo>
                  <a:pt x="120178" y="1657062"/>
                </a:lnTo>
                <a:lnTo>
                  <a:pt x="240357" y="1564566"/>
                </a:lnTo>
                <a:lnTo>
                  <a:pt x="360535" y="1472551"/>
                </a:lnTo>
                <a:lnTo>
                  <a:pt x="480713" y="1381189"/>
                </a:lnTo>
                <a:lnTo>
                  <a:pt x="600891" y="1290705"/>
                </a:lnTo>
                <a:lnTo>
                  <a:pt x="721070" y="1201389"/>
                </a:lnTo>
                <a:lnTo>
                  <a:pt x="841248" y="1113607"/>
                </a:lnTo>
                <a:lnTo>
                  <a:pt x="961426" y="1027806"/>
                </a:lnTo>
                <a:lnTo>
                  <a:pt x="1081605" y="944508"/>
                </a:lnTo>
                <a:lnTo>
                  <a:pt x="1201783" y="864290"/>
                </a:lnTo>
                <a:lnTo>
                  <a:pt x="1321961" y="787744"/>
                </a:lnTo>
                <a:lnTo>
                  <a:pt x="1442139" y="715423"/>
                </a:lnTo>
                <a:lnTo>
                  <a:pt x="1562318" y="647775"/>
                </a:lnTo>
                <a:lnTo>
                  <a:pt x="1682496" y="585089"/>
                </a:lnTo>
                <a:lnTo>
                  <a:pt x="1802674" y="527469"/>
                </a:lnTo>
                <a:lnTo>
                  <a:pt x="1922853" y="474831"/>
                </a:lnTo>
                <a:lnTo>
                  <a:pt x="2043031" y="426939"/>
                </a:lnTo>
                <a:lnTo>
                  <a:pt x="2163209" y="383447"/>
                </a:lnTo>
                <a:lnTo>
                  <a:pt x="2283387" y="343952"/>
                </a:lnTo>
                <a:lnTo>
                  <a:pt x="2403566" y="308031"/>
                </a:lnTo>
                <a:lnTo>
                  <a:pt x="2523744" y="275275"/>
                </a:lnTo>
                <a:lnTo>
                  <a:pt x="2643922" y="245302"/>
                </a:lnTo>
                <a:lnTo>
                  <a:pt x="2764101" y="217770"/>
                </a:lnTo>
                <a:lnTo>
                  <a:pt x="2884279" y="192378"/>
                </a:lnTo>
                <a:lnTo>
                  <a:pt x="3004457" y="168863"/>
                </a:lnTo>
                <a:lnTo>
                  <a:pt x="3124635" y="146999"/>
                </a:lnTo>
                <a:lnTo>
                  <a:pt x="3244814" y="126592"/>
                </a:lnTo>
                <a:lnTo>
                  <a:pt x="3364992" y="107476"/>
                </a:lnTo>
                <a:lnTo>
                  <a:pt x="3485170" y="89508"/>
                </a:lnTo>
                <a:lnTo>
                  <a:pt x="3605349" y="72565"/>
                </a:lnTo>
                <a:lnTo>
                  <a:pt x="3725527" y="56542"/>
                </a:lnTo>
                <a:lnTo>
                  <a:pt x="3845705" y="41348"/>
                </a:lnTo>
                <a:lnTo>
                  <a:pt x="3965883" y="26904"/>
                </a:lnTo>
                <a:lnTo>
                  <a:pt x="4086062" y="13142"/>
                </a:lnTo>
                <a:lnTo>
                  <a:pt x="4206240" y="0"/>
                </a:lnTo>
              </a:path>
            </a:pathLst>
          </a:custGeom>
          <a:ln w="25400">
            <a:solidFill>
              <a:srgbClr val="C9CCD3"/>
            </a:solidFill>
            <a:prstDash val="solid"/>
          </a:ln>
        </p:spPr>
      </p:sp>
      <p:sp>
        <p:nvSpPr>
          <p:cNvPr id="57" name="!!ivTrail"/>
          <p:cNvSpPr/>
          <p:nvPr/>
        </p:nvSpPr>
        <p:spPr>
          <a:xfrm>
            <a:off x="7315200" y="2639625"/>
            <a:ext cx="1201783" cy="885624"/>
          </a:xfrm>
          <a:custGeom>
            <a:avLst/>
            <a:gdLst/>
            <a:ahLst/>
            <a:cxnLst/>
            <a:rect l="l" t="t" r="r" b="b"/>
            <a:pathLst>
              <a:path w="1201783" h="885624">
                <a:moveTo>
                  <a:pt x="0" y="885624"/>
                </a:moveTo>
                <a:lnTo>
                  <a:pt x="34337" y="859065"/>
                </a:lnTo>
                <a:lnTo>
                  <a:pt x="68673" y="832529"/>
                </a:lnTo>
                <a:lnTo>
                  <a:pt x="103010" y="806018"/>
                </a:lnTo>
                <a:lnTo>
                  <a:pt x="137347" y="779535"/>
                </a:lnTo>
                <a:lnTo>
                  <a:pt x="171683" y="753081"/>
                </a:lnTo>
                <a:lnTo>
                  <a:pt x="206020" y="726661"/>
                </a:lnTo>
                <a:lnTo>
                  <a:pt x="240357" y="700276"/>
                </a:lnTo>
                <a:lnTo>
                  <a:pt x="274693" y="673930"/>
                </a:lnTo>
                <a:lnTo>
                  <a:pt x="309030" y="647627"/>
                </a:lnTo>
                <a:lnTo>
                  <a:pt x="343367" y="621371"/>
                </a:lnTo>
                <a:lnTo>
                  <a:pt x="377703" y="595165"/>
                </a:lnTo>
                <a:lnTo>
                  <a:pt x="412040" y="569014"/>
                </a:lnTo>
                <a:lnTo>
                  <a:pt x="446376" y="542924"/>
                </a:lnTo>
                <a:lnTo>
                  <a:pt x="480713" y="516899"/>
                </a:lnTo>
                <a:lnTo>
                  <a:pt x="515050" y="490946"/>
                </a:lnTo>
                <a:lnTo>
                  <a:pt x="549386" y="465070"/>
                </a:lnTo>
                <a:lnTo>
                  <a:pt x="583723" y="439278"/>
                </a:lnTo>
                <a:lnTo>
                  <a:pt x="618060" y="413577"/>
                </a:lnTo>
                <a:lnTo>
                  <a:pt x="652396" y="387974"/>
                </a:lnTo>
                <a:lnTo>
                  <a:pt x="686733" y="362479"/>
                </a:lnTo>
                <a:lnTo>
                  <a:pt x="721070" y="337099"/>
                </a:lnTo>
                <a:lnTo>
                  <a:pt x="755406" y="311844"/>
                </a:lnTo>
                <a:lnTo>
                  <a:pt x="789743" y="286724"/>
                </a:lnTo>
                <a:lnTo>
                  <a:pt x="824080" y="261748"/>
                </a:lnTo>
                <a:lnTo>
                  <a:pt x="858416" y="236928"/>
                </a:lnTo>
                <a:lnTo>
                  <a:pt x="892753" y="212274"/>
                </a:lnTo>
                <a:lnTo>
                  <a:pt x="927090" y="187800"/>
                </a:lnTo>
                <a:lnTo>
                  <a:pt x="961426" y="163516"/>
                </a:lnTo>
                <a:lnTo>
                  <a:pt x="995763" y="139437"/>
                </a:lnTo>
                <a:lnTo>
                  <a:pt x="1030100" y="115575"/>
                </a:lnTo>
                <a:lnTo>
                  <a:pt x="1064436" y="91943"/>
                </a:lnTo>
                <a:lnTo>
                  <a:pt x="1098773" y="68556"/>
                </a:lnTo>
                <a:lnTo>
                  <a:pt x="1133110" y="45427"/>
                </a:lnTo>
                <a:lnTo>
                  <a:pt x="1167446" y="22570"/>
                </a:lnTo>
                <a:lnTo>
                  <a:pt x="1201783" y="0"/>
                </a:lnTo>
              </a:path>
            </a:pathLst>
          </a:custGeom>
          <a:ln w="38100">
            <a:solidFill>
              <a:srgbClr val="3E6AE1"/>
            </a:solidFill>
            <a:prstDash val="solid"/>
          </a:ln>
        </p:spPr>
      </p:sp>
      <p:sp>
        <p:nvSpPr>
          <p:cNvPr id="58" name="!!ivVT"/>
          <p:cNvSpPr/>
          <p:nvPr/>
        </p:nvSpPr>
        <p:spPr>
          <a:xfrm>
            <a:off x="8817429" y="1600200"/>
            <a:ext cx="91" cy="2331720"/>
          </a:xfrm>
          <a:prstGeom prst="line">
            <a:avLst/>
          </a:prstGeom>
          <a:noFill/>
          <a:ln w="9525">
            <a:solidFill>
              <a:srgbClr val="8A8D93"/>
            </a:solidFill>
            <a:prstDash val="dash"/>
          </a:ln>
        </p:spPr>
      </p:sp>
      <p:sp>
        <p:nvSpPr>
          <p:cNvPr id="59" name="!!ivVTl"/>
          <p:cNvSpPr txBox="1"/>
          <p:nvPr/>
        </p:nvSpPr>
        <p:spPr>
          <a:xfrm>
            <a:off x="8543109" y="1554480"/>
            <a:ext cx="548640" cy="182880"/>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V</a:t>
            </a:r>
            <a:pPr algn="ctr" indent="0" marL="0">
              <a:buNone/>
            </a:pPr>
            <a:r>
              <a:rPr lang="en-US" sz="900" baseline="-40000" dirty="0">
                <a:solidFill>
                  <a:srgbClr val="8A8D93"/>
                </a:solidFill>
                <a:latin typeface="Segoe UI" pitchFamily="34" charset="0"/>
                <a:ea typeface="Segoe UI" pitchFamily="34" charset="-122"/>
                <a:cs typeface="Segoe UI" pitchFamily="34" charset="-120"/>
              </a:rPr>
              <a:t>T</a:t>
            </a:r>
            <a:endParaRPr lang="en-US" sz="900" dirty="0"/>
          </a:p>
        </p:txBody>
      </p:sp>
      <p:sp>
        <p:nvSpPr>
          <p:cNvPr id="60" name="!!ivPt"/>
          <p:cNvSpPr/>
          <p:nvPr/>
        </p:nvSpPr>
        <p:spPr>
          <a:xfrm>
            <a:off x="8434687" y="2557329"/>
            <a:ext cx="164592" cy="164592"/>
          </a:xfrm>
          <a:prstGeom prst="ellipse">
            <a:avLst/>
          </a:prstGeom>
          <a:solidFill>
            <a:srgbClr val="E07B00"/>
          </a:solidFill>
          <a:ln w="19050">
            <a:solidFill>
              <a:srgbClr val="FFFFFF"/>
            </a:solidFill>
            <a:prstDash val="solid"/>
          </a:ln>
        </p:spPr>
      </p:sp>
      <p:sp>
        <p:nvSpPr>
          <p:cNvPr id="61" name="!!ivPtL"/>
          <p:cNvSpPr txBox="1"/>
          <p:nvPr/>
        </p:nvSpPr>
        <p:spPr>
          <a:xfrm>
            <a:off x="7648303" y="2310441"/>
            <a:ext cx="822960" cy="219456"/>
          </a:xfrm>
          <a:prstGeom prst="rect">
            <a:avLst/>
          </a:prstGeom>
          <a:noFill/>
          <a:ln/>
        </p:spPr>
        <p:txBody>
          <a:bodyPr wrap="square" lIns="0" tIns="0" rIns="0" bIns="0" rtlCol="0" anchor="t"/>
          <a:lstStyle/>
          <a:p>
            <a:pPr algn="r" indent="0" marL="0">
              <a:buNone/>
            </a:pPr>
            <a:r>
              <a:rPr lang="en-US" sz="1100" dirty="0">
                <a:solidFill>
                  <a:srgbClr val="E07B00"/>
                </a:solidFill>
                <a:latin typeface="Segoe UI Semibold" pitchFamily="34" charset="0"/>
                <a:ea typeface="Segoe UI Semibold" pitchFamily="34" charset="-122"/>
                <a:cs typeface="Segoe UI Semibold" pitchFamily="34" charset="-120"/>
              </a:rPr>
              <a:t>76 nA</a:t>
            </a:r>
            <a:endParaRPr lang="en-US" sz="1100" dirty="0"/>
          </a:p>
        </p:txBody>
      </p:sp>
      <p:sp>
        <p:nvSpPr>
          <p:cNvPr id="62" name="!!ivRead"/>
          <p:cNvSpPr txBox="1"/>
          <p:nvPr/>
        </p:nvSpPr>
        <p:spPr>
          <a:xfrm>
            <a:off x="6858000" y="4526280"/>
            <a:ext cx="4754880" cy="256032"/>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G</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0.20 V     I</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76 nA</a:t>
            </a:r>
            <a:endParaRPr lang="en-US" sz="1400" dirty="0"/>
          </a:p>
        </p:txBody>
      </p:sp>
      <p:sp>
        <p:nvSpPr>
          <p:cNvPr id="63" name="!!ivReg"/>
          <p:cNvSpPr txBox="1"/>
          <p:nvPr/>
        </p:nvSpPr>
        <p:spPr>
          <a:xfrm>
            <a:off x="6858000" y="4773168"/>
            <a:ext cx="4754880" cy="219456"/>
          </a:xfrm>
          <a:prstGeom prst="rect">
            <a:avLst/>
          </a:prstGeom>
          <a:noFill/>
          <a:ln/>
        </p:spPr>
        <p:txBody>
          <a:bodyPr wrap="square" lIns="0" tIns="0" rIns="0" bIns="0" rtlCol="0" anchor="t"/>
          <a:lstStyle/>
          <a:p>
            <a:pPr algn="l" indent="0" marL="0">
              <a:buNone/>
            </a:pPr>
            <a:r>
              <a:rPr lang="en-US" sz="1100" dirty="0">
                <a:solidFill>
                  <a:srgbClr val="E07B00"/>
                </a:solidFill>
                <a:latin typeface="Segoe UI Semibold" pitchFamily="34" charset="0"/>
                <a:ea typeface="Segoe UI Semibold" pitchFamily="34" charset="-122"/>
                <a:cs typeface="Segoe UI Semibold" pitchFamily="34" charset="-120"/>
              </a:rPr>
              <a:t>SUBTHRESHOLD: current grows ×10 every 71 mV</a:t>
            </a:r>
            <a:endParaRPr lang="en-US" sz="1100" dirty="0"/>
          </a:p>
        </p:txBody>
      </p:sp>
      <p:sp>
        <p:nvSpPr>
          <p:cNvPr id="64" name="!!knobLbl"/>
          <p:cNvSpPr txBox="1"/>
          <p:nvPr/>
        </p:nvSpPr>
        <p:spPr>
          <a:xfrm>
            <a:off x="7022592" y="5001768"/>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0.2 V</a:t>
            </a:r>
            <a:endParaRPr lang="en-US" sz="1200" dirty="0"/>
          </a:p>
        </p:txBody>
      </p:sp>
      <p:sp>
        <p:nvSpPr>
          <p:cNvPr id="65" name="!!knobTrack"/>
          <p:cNvSpPr/>
          <p:nvPr/>
        </p:nvSpPr>
        <p:spPr>
          <a:xfrm>
            <a:off x="7040880" y="5385816"/>
            <a:ext cx="4480560" cy="54864"/>
          </a:xfrm>
          <a:prstGeom prst="roundRect">
            <a:avLst>
              <a:gd name="adj" fmla="val 50000"/>
            </a:avLst>
          </a:prstGeom>
          <a:solidFill>
            <a:srgbClr val="E2E3E3"/>
          </a:solidFill>
          <a:ln/>
        </p:spPr>
      </p:sp>
      <p:sp>
        <p:nvSpPr>
          <p:cNvPr id="66" name="!!knobFill"/>
          <p:cNvSpPr/>
          <p:nvPr/>
        </p:nvSpPr>
        <p:spPr>
          <a:xfrm>
            <a:off x="7040880" y="5385816"/>
            <a:ext cx="1280160" cy="54864"/>
          </a:xfrm>
          <a:prstGeom prst="roundRect">
            <a:avLst>
              <a:gd name="adj" fmla="val 50000"/>
            </a:avLst>
          </a:prstGeom>
          <a:solidFill>
            <a:srgbClr val="6B5BC4"/>
          </a:solidFill>
          <a:ln/>
        </p:spPr>
      </p:sp>
      <p:sp>
        <p:nvSpPr>
          <p:cNvPr id="67" name="!!knobT0"/>
          <p:cNvSpPr txBox="1"/>
          <p:nvPr/>
        </p:nvSpPr>
        <p:spPr>
          <a:xfrm>
            <a:off x="667512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68" name="!!knobT1"/>
          <p:cNvSpPr txBox="1"/>
          <p:nvPr/>
        </p:nvSpPr>
        <p:spPr>
          <a:xfrm>
            <a:off x="79552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69" name="!!knobT2"/>
          <p:cNvSpPr txBox="1"/>
          <p:nvPr/>
        </p:nvSpPr>
        <p:spPr>
          <a:xfrm>
            <a:off x="923544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70" name="!!knobT3"/>
          <p:cNvSpPr txBox="1"/>
          <p:nvPr/>
        </p:nvSpPr>
        <p:spPr>
          <a:xfrm>
            <a:off x="1051560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71" name="!!knobT4"/>
          <p:cNvSpPr txBox="1"/>
          <p:nvPr/>
        </p:nvSpPr>
        <p:spPr>
          <a:xfrm>
            <a:off x="111556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72" name="!!knobThumb"/>
          <p:cNvSpPr/>
          <p:nvPr/>
        </p:nvSpPr>
        <p:spPr>
          <a:xfrm>
            <a:off x="8220456" y="5312664"/>
            <a:ext cx="201168" cy="201168"/>
          </a:xfrm>
          <a:prstGeom prst="ellipse">
            <a:avLst/>
          </a:prstGeom>
          <a:solidFill>
            <a:srgbClr val="FFFFFF"/>
          </a:solidFill>
          <a:ln w="28575">
            <a:solidFill>
              <a:srgbClr val="6B5BC4"/>
            </a:solidFill>
            <a:prstDash val="solid"/>
          </a:ln>
        </p:spPr>
      </p:sp>
      <p:sp>
        <p:nvSpPr>
          <p:cNvPr id="7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Gate up: the hill drops and current rises exponentially, still below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T</a:t>
            </a:r>
            <a:pPr algn="ctr" indent="0" marL="0">
              <a:buNone/>
            </a:pPr>
            <a:r>
              <a:rPr lang="en-US" sz="1600" dirty="0">
                <a:solidFill>
                  <a:srgbClr val="171A20"/>
                </a:solidFill>
                <a:latin typeface="Segoe UI" pitchFamily="34" charset="0"/>
                <a:ea typeface="Segoe UI" pitchFamily="34" charset="-122"/>
                <a:cs typeface="Segoe UI" pitchFamily="34" charset="-120"/>
              </a:rPr>
              <a: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Turning the gate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One knob,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the device, the energy hill and the current change together</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mBody"/>
          <p:cNvSpPr/>
          <p:nvPr/>
        </p:nvSpPr>
        <p:spPr>
          <a:xfrm>
            <a:off x="640080" y="2240280"/>
            <a:ext cx="5120640" cy="1417320"/>
          </a:xfrm>
          <a:prstGeom prst="rect">
            <a:avLst/>
          </a:prstGeom>
          <a:solidFill>
            <a:srgbClr val="F6E7B8"/>
          </a:solidFill>
          <a:ln/>
        </p:spPr>
      </p:sp>
      <p:sp>
        <p:nvSpPr>
          <p:cNvPr id="10"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1" name="!!mDepl"/>
          <p:cNvSpPr/>
          <p:nvPr/>
        </p:nvSpPr>
        <p:spPr>
          <a:xfrm>
            <a:off x="1920240" y="2240280"/>
            <a:ext cx="2560320" cy="493776"/>
          </a:xfrm>
          <a:prstGeom prst="rect">
            <a:avLst/>
          </a:prstGeom>
          <a:solidFill>
            <a:srgbClr val="F7D4D9"/>
          </a:solidFill>
          <a:ln/>
        </p:spPr>
      </p:sp>
      <p:sp>
        <p:nvSpPr>
          <p:cNvPr id="12" name="!!mSrc"/>
          <p:cNvSpPr/>
          <p:nvPr/>
        </p:nvSpPr>
        <p:spPr>
          <a:xfrm>
            <a:off x="640080" y="2240280"/>
            <a:ext cx="1325880" cy="548640"/>
          </a:xfrm>
          <a:prstGeom prst="roundRect">
            <a:avLst>
              <a:gd name="adj" fmla="val 8333"/>
            </a:avLst>
          </a:prstGeom>
          <a:solidFill>
            <a:srgbClr val="7D9BE6"/>
          </a:solidFill>
          <a:ln/>
        </p:spPr>
      </p:sp>
      <p:sp>
        <p:nvSpPr>
          <p:cNvPr id="13" name="!!mDrn"/>
          <p:cNvSpPr/>
          <p:nvPr/>
        </p:nvSpPr>
        <p:spPr>
          <a:xfrm>
            <a:off x="4434840" y="2240280"/>
            <a:ext cx="1325880" cy="548640"/>
          </a:xfrm>
          <a:prstGeom prst="roundRect">
            <a:avLst>
              <a:gd name="adj" fmla="val 8333"/>
            </a:avLst>
          </a:prstGeom>
          <a:solidFill>
            <a:srgbClr val="7D9BE6"/>
          </a:solidFill>
          <a:ln/>
        </p:spPr>
      </p:sp>
      <p:sp>
        <p:nvSpPr>
          <p:cNvPr id="14" name="!!mSrcL"/>
          <p:cNvSpPr txBox="1"/>
          <p:nvPr/>
        </p:nvSpPr>
        <p:spPr>
          <a:xfrm>
            <a:off x="64008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5" name="!!mDrnL"/>
          <p:cNvSpPr txBox="1"/>
          <p:nvPr/>
        </p:nvSpPr>
        <p:spPr>
          <a:xfrm>
            <a:off x="448056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6" name="!!mChan"/>
          <p:cNvSpPr/>
          <p:nvPr/>
        </p:nvSpPr>
        <p:spPr>
          <a:xfrm>
            <a:off x="1920240" y="2240280"/>
            <a:ext cx="2560320" cy="51206"/>
          </a:xfrm>
          <a:custGeom>
            <a:avLst/>
            <a:gdLst/>
            <a:ahLst/>
            <a:cxnLst/>
            <a:rect l="l" t="t" r="r" b="b"/>
            <a:pathLst>
              <a:path w="2560320" h="51206">
                <a:moveTo>
                  <a:pt x="0" y="0"/>
                </a:moveTo>
                <a:lnTo>
                  <a:pt x="2560320" y="0"/>
                </a:lnTo>
                <a:lnTo>
                  <a:pt x="2560320" y="51206"/>
                </a:lnTo>
                <a:lnTo>
                  <a:pt x="0" y="51206"/>
                </a:lnTo>
                <a:close/>
              </a:path>
            </a:pathLst>
          </a:custGeom>
          <a:solidFill>
            <a:srgbClr val="1F2F6B"/>
          </a:solidFill>
          <a:ln/>
        </p:spPr>
      </p:sp>
      <p:sp>
        <p:nvSpPr>
          <p:cNvPr id="17" name="!!mOx"/>
          <p:cNvSpPr/>
          <p:nvPr/>
        </p:nvSpPr>
        <p:spPr>
          <a:xfrm>
            <a:off x="1920240" y="2167128"/>
            <a:ext cx="2560320" cy="73152"/>
          </a:xfrm>
          <a:prstGeom prst="rect">
            <a:avLst/>
          </a:prstGeom>
          <a:solidFill>
            <a:srgbClr val="CDEBF5"/>
          </a:solidFill>
          <a:ln/>
        </p:spPr>
      </p:sp>
      <p:sp>
        <p:nvSpPr>
          <p:cNvPr id="18" name="!!mGate"/>
          <p:cNvSpPr/>
          <p:nvPr/>
        </p:nvSpPr>
        <p:spPr>
          <a:xfrm>
            <a:off x="1920240" y="1783080"/>
            <a:ext cx="2560320" cy="384048"/>
          </a:xfrm>
          <a:prstGeom prst="roundRect">
            <a:avLst>
              <a:gd name="adj" fmla="val 9524"/>
            </a:avLst>
          </a:prstGeom>
          <a:solidFill>
            <a:srgbClr val="B3A6E6"/>
          </a:solidFill>
          <a:ln/>
        </p:spPr>
      </p:sp>
      <p:sp>
        <p:nvSpPr>
          <p:cNvPr id="19" name="!!mGateL"/>
          <p:cNvSpPr txBox="1"/>
          <p:nvPr/>
        </p:nvSpPr>
        <p:spPr>
          <a:xfrm>
            <a:off x="1920240" y="1837944"/>
            <a:ext cx="2560320"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20" name="!!mVS"/>
          <p:cNvSpPr txBox="1"/>
          <p:nvPr/>
        </p:nvSpPr>
        <p:spPr>
          <a:xfrm>
            <a:off x="640080" y="1856232"/>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S</a:t>
            </a:r>
            <a:pPr algn="l" indent="0" marL="0">
              <a:buNone/>
            </a:pPr>
            <a:r>
              <a:rPr lang="en-US" sz="1100" dirty="0">
                <a:solidFill>
                  <a:srgbClr val="5C5E62"/>
                </a:solidFill>
                <a:latin typeface="Segoe UI" pitchFamily="34" charset="0"/>
                <a:ea typeface="Segoe UI" pitchFamily="34" charset="-122"/>
                <a:cs typeface="Segoe UI" pitchFamily="34" charset="-120"/>
              </a:rPr>
              <a:t> = 0</a:t>
            </a:r>
            <a:endParaRPr lang="en-US" sz="1100" dirty="0"/>
          </a:p>
        </p:txBody>
      </p:sp>
      <p:sp>
        <p:nvSpPr>
          <p:cNvPr id="21" name="!!mVG"/>
          <p:cNvSpPr txBox="1"/>
          <p:nvPr/>
        </p:nvSpPr>
        <p:spPr>
          <a:xfrm>
            <a:off x="2286000" y="1490472"/>
            <a:ext cx="1828800" cy="237744"/>
          </a:xfrm>
          <a:prstGeom prst="rect">
            <a:avLst/>
          </a:prstGeom>
          <a:noFill/>
          <a:ln/>
        </p:spPr>
        <p:txBody>
          <a:bodyPr wrap="square" lIns="0" tIns="0" rIns="0" bIns="0" rtlCol="0" anchor="t"/>
          <a:lstStyle/>
          <a:p>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ctr"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 = 0.30 V</a:t>
            </a:r>
            <a:endParaRPr lang="en-US" sz="1200" dirty="0"/>
          </a:p>
        </p:txBody>
      </p:sp>
      <p:sp>
        <p:nvSpPr>
          <p:cNvPr id="22" name="!!mVD"/>
          <p:cNvSpPr txBox="1"/>
          <p:nvPr/>
        </p:nvSpPr>
        <p:spPr>
          <a:xfrm>
            <a:off x="4480560" y="1856232"/>
            <a:ext cx="1280160" cy="228600"/>
          </a:xfrm>
          <a:prstGeom prst="rect">
            <a:avLst/>
          </a:prstGeom>
          <a:noFill/>
          <a:ln/>
        </p:spPr>
        <p:txBody>
          <a:bodyPr wrap="square" lIns="0" tIns="0" rIns="0" bIns="0" rtlCol="0" anchor="t"/>
          <a:lstStyle/>
          <a:p>
            <a:pPr algn="r" indent="0" marL="0">
              <a:buNone/>
            </a:pPr>
            <a:r>
              <a:rPr lang="en-US" sz="1100" dirty="0">
                <a:solidFill>
                  <a:srgbClr val="5C5E62"/>
                </a:solidFill>
                <a:latin typeface="Segoe UI" pitchFamily="34" charset="0"/>
                <a:ea typeface="Segoe UI" pitchFamily="34" charset="-122"/>
                <a:cs typeface="Segoe UI" pitchFamily="34" charset="-120"/>
              </a:rPr>
              <a:t>V</a:t>
            </a:r>
            <a:pPr algn="r" indent="0" marL="0">
              <a:buNone/>
            </a:pPr>
            <a:r>
              <a:rPr lang="en-US" sz="1100" baseline="-40000" dirty="0">
                <a:solidFill>
                  <a:srgbClr val="5C5E62"/>
                </a:solidFill>
                <a:latin typeface="Segoe UI" pitchFamily="34" charset="0"/>
                <a:ea typeface="Segoe UI" pitchFamily="34" charset="-122"/>
                <a:cs typeface="Segoe UI" pitchFamily="34" charset="-120"/>
              </a:rPr>
              <a:t>D</a:t>
            </a:r>
            <a:pPr algn="r" indent="0" marL="0">
              <a:buNone/>
            </a:pPr>
            <a:r>
              <a:rPr lang="en-US" sz="1100" dirty="0">
                <a:solidFill>
                  <a:srgbClr val="5C5E62"/>
                </a:solidFill>
                <a:latin typeface="Segoe UI" pitchFamily="34" charset="0"/>
                <a:ea typeface="Segoe UI" pitchFamily="34" charset="-122"/>
                <a:cs typeface="Segoe UI" pitchFamily="34" charset="-120"/>
              </a:rPr>
              <a:t> = 0.70 V</a:t>
            </a:r>
            <a:endParaRPr lang="en-US" sz="1100" dirty="0"/>
          </a:p>
        </p:txBody>
      </p:sp>
      <p:sp>
        <p:nvSpPr>
          <p:cNvPr id="23" name="!!lg1"/>
          <p:cNvSpPr/>
          <p:nvPr/>
        </p:nvSpPr>
        <p:spPr>
          <a:xfrm>
            <a:off x="658368" y="3767328"/>
            <a:ext cx="164592" cy="109728"/>
          </a:xfrm>
          <a:prstGeom prst="rect">
            <a:avLst/>
          </a:prstGeom>
          <a:solidFill>
            <a:srgbClr val="1F2F6B"/>
          </a:solidFill>
          <a:ln/>
        </p:spPr>
      </p:sp>
      <p:sp>
        <p:nvSpPr>
          <p:cNvPr id="24" name="!!lg1t"/>
          <p:cNvSpPr txBox="1"/>
          <p:nvPr/>
        </p:nvSpPr>
        <p:spPr>
          <a:xfrm>
            <a:off x="868680" y="3721608"/>
            <a:ext cx="146304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electron channel</a:t>
            </a:r>
            <a:endParaRPr lang="en-US" sz="900" dirty="0"/>
          </a:p>
        </p:txBody>
      </p:sp>
      <p:sp>
        <p:nvSpPr>
          <p:cNvPr id="25" name="!!lg2"/>
          <p:cNvSpPr/>
          <p:nvPr/>
        </p:nvSpPr>
        <p:spPr>
          <a:xfrm>
            <a:off x="2240280" y="3767328"/>
            <a:ext cx="164592" cy="109728"/>
          </a:xfrm>
          <a:prstGeom prst="rect">
            <a:avLst/>
          </a:prstGeom>
          <a:solidFill>
            <a:srgbClr val="F7D4D9"/>
          </a:solidFill>
          <a:ln/>
        </p:spPr>
      </p:sp>
      <p:sp>
        <p:nvSpPr>
          <p:cNvPr id="26" name="!!lg2t"/>
          <p:cNvSpPr txBox="1"/>
          <p:nvPr/>
        </p:nvSpPr>
        <p:spPr>
          <a:xfrm>
            <a:off x="2450592" y="3721608"/>
            <a:ext cx="201168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depletion (no free carriers)</a:t>
            </a:r>
            <a:endParaRPr lang="en-US" sz="900" dirty="0"/>
          </a:p>
        </p:txBody>
      </p:sp>
      <p:sp>
        <p:nvSpPr>
          <p:cNvPr id="27" name="!!bCurve"/>
          <p:cNvSpPr/>
          <p:nvPr/>
        </p:nvSpPr>
        <p:spPr>
          <a:xfrm>
            <a:off x="640080" y="4404782"/>
            <a:ext cx="5120640" cy="894155"/>
          </a:xfrm>
          <a:custGeom>
            <a:avLst/>
            <a:gdLst/>
            <a:ahLst/>
            <a:cxnLst/>
            <a:rect l="l" t="t" r="r" b="b"/>
            <a:pathLst>
              <a:path w="5120640" h="894155">
                <a:moveTo>
                  <a:pt x="0" y="350090"/>
                </a:moveTo>
                <a:lnTo>
                  <a:pt x="113792" y="350078"/>
                </a:lnTo>
                <a:lnTo>
                  <a:pt x="227584" y="350044"/>
                </a:lnTo>
                <a:lnTo>
                  <a:pt x="341376" y="349958"/>
                </a:lnTo>
                <a:lnTo>
                  <a:pt x="455168" y="349734"/>
                </a:lnTo>
                <a:lnTo>
                  <a:pt x="568960" y="349150"/>
                </a:lnTo>
                <a:lnTo>
                  <a:pt x="682752" y="347639"/>
                </a:lnTo>
                <a:lnTo>
                  <a:pt x="796544" y="343759"/>
                </a:lnTo>
                <a:lnTo>
                  <a:pt x="910336" y="334020"/>
                </a:lnTo>
                <a:lnTo>
                  <a:pt x="1024128" y="310905"/>
                </a:lnTo>
                <a:lnTo>
                  <a:pt x="1137920" y="262612"/>
                </a:lnTo>
                <a:lnTo>
                  <a:pt x="1251712" y="184064"/>
                </a:lnTo>
                <a:lnTo>
                  <a:pt x="1365504" y="99325"/>
                </a:lnTo>
                <a:lnTo>
                  <a:pt x="1479296" y="40197"/>
                </a:lnTo>
                <a:lnTo>
                  <a:pt x="1593088" y="11301"/>
                </a:lnTo>
                <a:lnTo>
                  <a:pt x="1706880" y="1230"/>
                </a:lnTo>
                <a:lnTo>
                  <a:pt x="1820672" y="0"/>
                </a:lnTo>
                <a:lnTo>
                  <a:pt x="1934464" y="2451"/>
                </a:lnTo>
                <a:lnTo>
                  <a:pt x="2048256" y="6362"/>
                </a:lnTo>
                <a:lnTo>
                  <a:pt x="2162048" y="10841"/>
                </a:lnTo>
                <a:lnTo>
                  <a:pt x="2275840" y="15540"/>
                </a:lnTo>
                <a:lnTo>
                  <a:pt x="2389632" y="20325"/>
                </a:lnTo>
                <a:lnTo>
                  <a:pt x="2503424" y="25145"/>
                </a:lnTo>
                <a:lnTo>
                  <a:pt x="2617216" y="29986"/>
                </a:lnTo>
                <a:lnTo>
                  <a:pt x="2731008" y="34851"/>
                </a:lnTo>
                <a:lnTo>
                  <a:pt x="2844800" y="39771"/>
                </a:lnTo>
                <a:lnTo>
                  <a:pt x="2958592" y="44837"/>
                </a:lnTo>
                <a:lnTo>
                  <a:pt x="3072384" y="50291"/>
                </a:lnTo>
                <a:lnTo>
                  <a:pt x="3186176" y="56787"/>
                </a:lnTo>
                <a:lnTo>
                  <a:pt x="3299968" y="66068"/>
                </a:lnTo>
                <a:lnTo>
                  <a:pt x="3413760" y="82672"/>
                </a:lnTo>
                <a:lnTo>
                  <a:pt x="3527552" y="117695"/>
                </a:lnTo>
                <a:lnTo>
                  <a:pt x="3641344" y="193906"/>
                </a:lnTo>
                <a:lnTo>
                  <a:pt x="3755136" y="338926"/>
                </a:lnTo>
                <a:lnTo>
                  <a:pt x="3868928" y="538559"/>
                </a:lnTo>
                <a:lnTo>
                  <a:pt x="3982720" y="713192"/>
                </a:lnTo>
                <a:lnTo>
                  <a:pt x="4096512" y="816496"/>
                </a:lnTo>
                <a:lnTo>
                  <a:pt x="4210304" y="863623"/>
                </a:lnTo>
                <a:lnTo>
                  <a:pt x="4324096" y="882586"/>
                </a:lnTo>
                <a:lnTo>
                  <a:pt x="4437888" y="889834"/>
                </a:lnTo>
                <a:lnTo>
                  <a:pt x="4551680" y="892553"/>
                </a:lnTo>
                <a:lnTo>
                  <a:pt x="4665472" y="893565"/>
                </a:lnTo>
                <a:lnTo>
                  <a:pt x="4779264" y="893942"/>
                </a:lnTo>
                <a:lnTo>
                  <a:pt x="4893056" y="894083"/>
                </a:lnTo>
                <a:lnTo>
                  <a:pt x="5006848" y="894135"/>
                </a:lnTo>
                <a:lnTo>
                  <a:pt x="5120640" y="894155"/>
                </a:lnTo>
              </a:path>
            </a:pathLst>
          </a:custGeom>
          <a:ln w="28575">
            <a:solidFill>
              <a:srgbClr val="171A20"/>
            </a:solidFill>
            <a:prstDash val="solid"/>
          </a:ln>
        </p:spPr>
      </p:sp>
      <p:sp>
        <p:nvSpPr>
          <p:cNvPr id="28" name="!!bLbl"/>
          <p:cNvSpPr txBox="1"/>
          <p:nvPr/>
        </p:nvSpPr>
        <p:spPr>
          <a:xfrm>
            <a:off x="640080" y="3977640"/>
            <a:ext cx="182880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electron energy ↑</a:t>
            </a:r>
            <a:endParaRPr lang="en-US" sz="1000" dirty="0"/>
          </a:p>
        </p:txBody>
      </p:sp>
      <p:sp>
        <p:nvSpPr>
          <p:cNvPr id="29" name="!!bes0"/>
          <p:cNvSpPr/>
          <p:nvPr/>
        </p:nvSpPr>
        <p:spPr>
          <a:xfrm>
            <a:off x="717804" y="4613148"/>
            <a:ext cx="118872" cy="118872"/>
          </a:xfrm>
          <a:prstGeom prst="ellipse">
            <a:avLst/>
          </a:prstGeom>
          <a:solidFill>
            <a:srgbClr val="1F2F6B"/>
          </a:solidFill>
          <a:ln/>
        </p:spPr>
      </p:sp>
      <p:sp>
        <p:nvSpPr>
          <p:cNvPr id="30" name="!!bes1"/>
          <p:cNvSpPr/>
          <p:nvPr/>
        </p:nvSpPr>
        <p:spPr>
          <a:xfrm>
            <a:off x="918972" y="4613148"/>
            <a:ext cx="118872" cy="118872"/>
          </a:xfrm>
          <a:prstGeom prst="ellipse">
            <a:avLst/>
          </a:prstGeom>
          <a:solidFill>
            <a:srgbClr val="1F2F6B"/>
          </a:solidFill>
          <a:ln/>
        </p:spPr>
      </p:sp>
      <p:sp>
        <p:nvSpPr>
          <p:cNvPr id="31" name="!!bes2"/>
          <p:cNvSpPr/>
          <p:nvPr/>
        </p:nvSpPr>
        <p:spPr>
          <a:xfrm>
            <a:off x="1120140" y="4613148"/>
            <a:ext cx="118872" cy="118872"/>
          </a:xfrm>
          <a:prstGeom prst="ellipse">
            <a:avLst/>
          </a:prstGeom>
          <a:solidFill>
            <a:srgbClr val="1F2F6B"/>
          </a:solidFill>
          <a:ln/>
        </p:spPr>
      </p:sp>
      <p:sp>
        <p:nvSpPr>
          <p:cNvPr id="32" name="!!bes3"/>
          <p:cNvSpPr/>
          <p:nvPr/>
        </p:nvSpPr>
        <p:spPr>
          <a:xfrm>
            <a:off x="1321308" y="4613148"/>
            <a:ext cx="118872" cy="118872"/>
          </a:xfrm>
          <a:prstGeom prst="ellipse">
            <a:avLst/>
          </a:prstGeom>
          <a:solidFill>
            <a:srgbClr val="1F2F6B"/>
          </a:solidFill>
          <a:ln/>
        </p:spPr>
      </p:sp>
      <p:sp>
        <p:nvSpPr>
          <p:cNvPr id="33" name="!!bes4"/>
          <p:cNvSpPr/>
          <p:nvPr/>
        </p:nvSpPr>
        <p:spPr>
          <a:xfrm>
            <a:off x="1522476" y="4613148"/>
            <a:ext cx="118872" cy="118872"/>
          </a:xfrm>
          <a:prstGeom prst="ellipse">
            <a:avLst/>
          </a:prstGeom>
          <a:solidFill>
            <a:srgbClr val="1F2F6B"/>
          </a:solidFill>
          <a:ln/>
        </p:spPr>
      </p:sp>
      <p:sp>
        <p:nvSpPr>
          <p:cNvPr id="34" name="!!bec0"/>
          <p:cNvSpPr/>
          <p:nvPr/>
        </p:nvSpPr>
        <p:spPr>
          <a:xfrm>
            <a:off x="2089404" y="4293235"/>
            <a:ext cx="118872" cy="118872"/>
          </a:xfrm>
          <a:prstGeom prst="ellipse">
            <a:avLst/>
          </a:prstGeom>
          <a:solidFill>
            <a:srgbClr val="1F2F6B"/>
          </a:solidFill>
          <a:ln/>
        </p:spPr>
      </p:sp>
      <p:sp>
        <p:nvSpPr>
          <p:cNvPr id="35" name="!!bec1"/>
          <p:cNvSpPr/>
          <p:nvPr/>
        </p:nvSpPr>
        <p:spPr>
          <a:xfrm>
            <a:off x="2528316" y="4265904"/>
            <a:ext cx="118872" cy="118872"/>
          </a:xfrm>
          <a:prstGeom prst="ellipse">
            <a:avLst/>
          </a:prstGeom>
          <a:solidFill>
            <a:srgbClr val="1F2F6B"/>
          </a:solidFill>
          <a:ln/>
        </p:spPr>
      </p:sp>
      <p:sp>
        <p:nvSpPr>
          <p:cNvPr id="36" name="!!bec2"/>
          <p:cNvSpPr/>
          <p:nvPr/>
        </p:nvSpPr>
        <p:spPr>
          <a:xfrm>
            <a:off x="1220724" y="4613148"/>
            <a:ext cx="118872" cy="118872"/>
          </a:xfrm>
          <a:prstGeom prst="ellipse">
            <a:avLst/>
          </a:prstGeom>
          <a:solidFill>
            <a:srgbClr val="1F2F6B"/>
          </a:solidFill>
          <a:ln/>
        </p:spPr>
      </p:sp>
      <p:sp>
        <p:nvSpPr>
          <p:cNvPr id="37" name="!!bec3"/>
          <p:cNvSpPr/>
          <p:nvPr/>
        </p:nvSpPr>
        <p:spPr>
          <a:xfrm>
            <a:off x="1421892" y="4613148"/>
            <a:ext cx="118872" cy="118872"/>
          </a:xfrm>
          <a:prstGeom prst="ellipse">
            <a:avLst/>
          </a:prstGeom>
          <a:solidFill>
            <a:srgbClr val="1F2F6B"/>
          </a:solidFill>
          <a:ln/>
        </p:spPr>
      </p:sp>
      <p:sp>
        <p:nvSpPr>
          <p:cNvPr id="38" name="!!bec4"/>
          <p:cNvSpPr/>
          <p:nvPr/>
        </p:nvSpPr>
        <p:spPr>
          <a:xfrm>
            <a:off x="818388" y="4613148"/>
            <a:ext cx="118872" cy="118872"/>
          </a:xfrm>
          <a:prstGeom prst="ellipse">
            <a:avLst/>
          </a:prstGeom>
          <a:solidFill>
            <a:srgbClr val="1F2F6B"/>
          </a:solidFill>
          <a:ln/>
        </p:spPr>
      </p:sp>
      <p:sp>
        <p:nvSpPr>
          <p:cNvPr id="39" name="!!bec5"/>
          <p:cNvSpPr/>
          <p:nvPr/>
        </p:nvSpPr>
        <p:spPr>
          <a:xfrm>
            <a:off x="1019556" y="4613148"/>
            <a:ext cx="118872" cy="118872"/>
          </a:xfrm>
          <a:prstGeom prst="ellipse">
            <a:avLst/>
          </a:prstGeom>
          <a:solidFill>
            <a:srgbClr val="1F2F6B"/>
          </a:solidFill>
          <a:ln/>
        </p:spPr>
      </p:sp>
      <p:sp>
        <p:nvSpPr>
          <p:cNvPr id="40" name="!!axg0"/>
          <p:cNvSpPr/>
          <p:nvPr/>
        </p:nvSpPr>
        <p:spPr>
          <a:xfrm>
            <a:off x="7315200" y="3598817"/>
            <a:ext cx="4206240" cy="91"/>
          </a:xfrm>
          <a:prstGeom prst="line">
            <a:avLst/>
          </a:prstGeom>
          <a:noFill/>
          <a:ln w="9525">
            <a:solidFill>
              <a:srgbClr val="EDEEF0"/>
            </a:solidFill>
            <a:prstDash val="solid"/>
          </a:ln>
        </p:spPr>
      </p:sp>
      <p:sp>
        <p:nvSpPr>
          <p:cNvPr id="41" name="!!axg1"/>
          <p:cNvSpPr/>
          <p:nvPr/>
        </p:nvSpPr>
        <p:spPr>
          <a:xfrm>
            <a:off x="7315200" y="2932611"/>
            <a:ext cx="4206240" cy="91"/>
          </a:xfrm>
          <a:prstGeom prst="line">
            <a:avLst/>
          </a:prstGeom>
          <a:noFill/>
          <a:ln w="9525">
            <a:solidFill>
              <a:srgbClr val="EDEEF0"/>
            </a:solidFill>
            <a:prstDash val="solid"/>
          </a:ln>
        </p:spPr>
      </p:sp>
      <p:sp>
        <p:nvSpPr>
          <p:cNvPr id="42" name="!!axg2"/>
          <p:cNvSpPr/>
          <p:nvPr/>
        </p:nvSpPr>
        <p:spPr>
          <a:xfrm>
            <a:off x="7315200" y="2266406"/>
            <a:ext cx="4206240" cy="91"/>
          </a:xfrm>
          <a:prstGeom prst="line">
            <a:avLst/>
          </a:prstGeom>
          <a:noFill/>
          <a:ln w="9525">
            <a:solidFill>
              <a:srgbClr val="EDEEF0"/>
            </a:solidFill>
            <a:prstDash val="solid"/>
          </a:ln>
        </p:spPr>
      </p:sp>
      <p:sp>
        <p:nvSpPr>
          <p:cNvPr id="43" name="!!axg3"/>
          <p:cNvSpPr/>
          <p:nvPr/>
        </p:nvSpPr>
        <p:spPr>
          <a:xfrm>
            <a:off x="7315200" y="1600200"/>
            <a:ext cx="4206240" cy="91"/>
          </a:xfrm>
          <a:prstGeom prst="line">
            <a:avLst/>
          </a:prstGeom>
          <a:noFill/>
          <a:ln w="9525">
            <a:solidFill>
              <a:srgbClr val="EDEEF0"/>
            </a:solidFill>
            <a:prstDash val="solid"/>
          </a:ln>
        </p:spPr>
      </p:sp>
      <p:sp>
        <p:nvSpPr>
          <p:cNvPr id="44" name="!!axxa"/>
          <p:cNvSpPr/>
          <p:nvPr/>
        </p:nvSpPr>
        <p:spPr>
          <a:xfrm>
            <a:off x="7315200" y="3931920"/>
            <a:ext cx="4206240" cy="91"/>
          </a:xfrm>
          <a:prstGeom prst="line">
            <a:avLst/>
          </a:prstGeom>
          <a:noFill/>
          <a:ln w="12700">
            <a:solidFill>
              <a:srgbClr val="8A8D93"/>
            </a:solidFill>
            <a:prstDash val="solid"/>
          </a:ln>
        </p:spPr>
      </p:sp>
      <p:sp>
        <p:nvSpPr>
          <p:cNvPr id="45" name="!!axya"/>
          <p:cNvSpPr/>
          <p:nvPr/>
        </p:nvSpPr>
        <p:spPr>
          <a:xfrm>
            <a:off x="7315200" y="1600200"/>
            <a:ext cx="91" cy="2331720"/>
          </a:xfrm>
          <a:prstGeom prst="line">
            <a:avLst/>
          </a:prstGeom>
          <a:noFill/>
          <a:ln w="12700">
            <a:solidFill>
              <a:srgbClr val="8A8D93"/>
            </a:solidFill>
            <a:prstDash val="solid"/>
          </a:ln>
        </p:spPr>
      </p:sp>
      <p:sp>
        <p:nvSpPr>
          <p:cNvPr id="46" name="!!axxt0"/>
          <p:cNvSpPr txBox="1"/>
          <p:nvPr/>
        </p:nvSpPr>
        <p:spPr>
          <a:xfrm>
            <a:off x="699516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7" name="!!axxt1"/>
          <p:cNvSpPr txBox="1"/>
          <p:nvPr/>
        </p:nvSpPr>
        <p:spPr>
          <a:xfrm>
            <a:off x="8196943"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48" name="!!axxt2"/>
          <p:cNvSpPr txBox="1"/>
          <p:nvPr/>
        </p:nvSpPr>
        <p:spPr>
          <a:xfrm>
            <a:off x="9398726"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49" name="!!axxt3"/>
          <p:cNvSpPr txBox="1"/>
          <p:nvPr/>
        </p:nvSpPr>
        <p:spPr>
          <a:xfrm>
            <a:off x="10600509"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50" name="!!axyt0"/>
          <p:cNvSpPr txBox="1"/>
          <p:nvPr/>
        </p:nvSpPr>
        <p:spPr>
          <a:xfrm>
            <a:off x="6629400" y="3498233"/>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51" name="!!axyt1"/>
          <p:cNvSpPr txBox="1"/>
          <p:nvPr/>
        </p:nvSpPr>
        <p:spPr>
          <a:xfrm>
            <a:off x="6629400" y="2832027"/>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52" name="!!axyt2"/>
          <p:cNvSpPr txBox="1"/>
          <p:nvPr/>
        </p:nvSpPr>
        <p:spPr>
          <a:xfrm>
            <a:off x="6629400" y="216582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53" name="!!axyt3"/>
          <p:cNvSpPr txBox="1"/>
          <p:nvPr/>
        </p:nvSpPr>
        <p:spPr>
          <a:xfrm>
            <a:off x="6629400" y="14996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54" name="!!axxl"/>
          <p:cNvSpPr txBox="1"/>
          <p:nvPr/>
        </p:nvSpPr>
        <p:spPr>
          <a:xfrm>
            <a:off x="7315200" y="420624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55" name="!!axyl"/>
          <p:cNvSpPr txBox="1"/>
          <p:nvPr/>
        </p:nvSpPr>
        <p:spPr>
          <a:xfrm>
            <a:off x="713232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 each line = 100×)</a:t>
            </a:r>
            <a:endParaRPr lang="en-US" sz="1100" dirty="0"/>
          </a:p>
        </p:txBody>
      </p:sp>
      <p:sp>
        <p:nvSpPr>
          <p:cNvPr id="56" name="!!ivGhost"/>
          <p:cNvSpPr/>
          <p:nvPr/>
        </p:nvSpPr>
        <p:spPr>
          <a:xfrm>
            <a:off x="7315200" y="1775335"/>
            <a:ext cx="4206240" cy="1749913"/>
          </a:xfrm>
          <a:custGeom>
            <a:avLst/>
            <a:gdLst/>
            <a:ahLst/>
            <a:cxnLst/>
            <a:rect l="l" t="t" r="r" b="b"/>
            <a:pathLst>
              <a:path w="4206240" h="1749913">
                <a:moveTo>
                  <a:pt x="0" y="1749913"/>
                </a:moveTo>
                <a:lnTo>
                  <a:pt x="120178" y="1657062"/>
                </a:lnTo>
                <a:lnTo>
                  <a:pt x="240357" y="1564566"/>
                </a:lnTo>
                <a:lnTo>
                  <a:pt x="360535" y="1472551"/>
                </a:lnTo>
                <a:lnTo>
                  <a:pt x="480713" y="1381189"/>
                </a:lnTo>
                <a:lnTo>
                  <a:pt x="600891" y="1290705"/>
                </a:lnTo>
                <a:lnTo>
                  <a:pt x="721070" y="1201389"/>
                </a:lnTo>
                <a:lnTo>
                  <a:pt x="841248" y="1113607"/>
                </a:lnTo>
                <a:lnTo>
                  <a:pt x="961426" y="1027806"/>
                </a:lnTo>
                <a:lnTo>
                  <a:pt x="1081605" y="944508"/>
                </a:lnTo>
                <a:lnTo>
                  <a:pt x="1201783" y="864290"/>
                </a:lnTo>
                <a:lnTo>
                  <a:pt x="1321961" y="787744"/>
                </a:lnTo>
                <a:lnTo>
                  <a:pt x="1442139" y="715423"/>
                </a:lnTo>
                <a:lnTo>
                  <a:pt x="1562318" y="647775"/>
                </a:lnTo>
                <a:lnTo>
                  <a:pt x="1682496" y="585089"/>
                </a:lnTo>
                <a:lnTo>
                  <a:pt x="1802674" y="527469"/>
                </a:lnTo>
                <a:lnTo>
                  <a:pt x="1922853" y="474831"/>
                </a:lnTo>
                <a:lnTo>
                  <a:pt x="2043031" y="426939"/>
                </a:lnTo>
                <a:lnTo>
                  <a:pt x="2163209" y="383447"/>
                </a:lnTo>
                <a:lnTo>
                  <a:pt x="2283387" y="343952"/>
                </a:lnTo>
                <a:lnTo>
                  <a:pt x="2403566" y="308031"/>
                </a:lnTo>
                <a:lnTo>
                  <a:pt x="2523744" y="275275"/>
                </a:lnTo>
                <a:lnTo>
                  <a:pt x="2643922" y="245302"/>
                </a:lnTo>
                <a:lnTo>
                  <a:pt x="2764101" y="217770"/>
                </a:lnTo>
                <a:lnTo>
                  <a:pt x="2884279" y="192378"/>
                </a:lnTo>
                <a:lnTo>
                  <a:pt x="3004457" y="168863"/>
                </a:lnTo>
                <a:lnTo>
                  <a:pt x="3124635" y="146999"/>
                </a:lnTo>
                <a:lnTo>
                  <a:pt x="3244814" y="126592"/>
                </a:lnTo>
                <a:lnTo>
                  <a:pt x="3364992" y="107476"/>
                </a:lnTo>
                <a:lnTo>
                  <a:pt x="3485170" y="89508"/>
                </a:lnTo>
                <a:lnTo>
                  <a:pt x="3605349" y="72565"/>
                </a:lnTo>
                <a:lnTo>
                  <a:pt x="3725527" y="56542"/>
                </a:lnTo>
                <a:lnTo>
                  <a:pt x="3845705" y="41348"/>
                </a:lnTo>
                <a:lnTo>
                  <a:pt x="3965883" y="26904"/>
                </a:lnTo>
                <a:lnTo>
                  <a:pt x="4086062" y="13142"/>
                </a:lnTo>
                <a:lnTo>
                  <a:pt x="4206240" y="0"/>
                </a:lnTo>
              </a:path>
            </a:pathLst>
          </a:custGeom>
          <a:ln w="25400">
            <a:solidFill>
              <a:srgbClr val="C9CCD3"/>
            </a:solidFill>
            <a:prstDash val="solid"/>
          </a:ln>
        </p:spPr>
      </p:sp>
      <p:sp>
        <p:nvSpPr>
          <p:cNvPr id="57" name="!!ivTrail"/>
          <p:cNvSpPr/>
          <p:nvPr/>
        </p:nvSpPr>
        <p:spPr>
          <a:xfrm>
            <a:off x="7315200" y="2302805"/>
            <a:ext cx="1802674" cy="1222444"/>
          </a:xfrm>
          <a:custGeom>
            <a:avLst/>
            <a:gdLst/>
            <a:ahLst/>
            <a:cxnLst/>
            <a:rect l="l" t="t" r="r" b="b"/>
            <a:pathLst>
              <a:path w="1802674" h="1222444">
                <a:moveTo>
                  <a:pt x="0" y="1222444"/>
                </a:moveTo>
                <a:lnTo>
                  <a:pt x="51505" y="1182614"/>
                </a:lnTo>
                <a:lnTo>
                  <a:pt x="103010" y="1142839"/>
                </a:lnTo>
                <a:lnTo>
                  <a:pt x="154515" y="1103125"/>
                </a:lnTo>
                <a:lnTo>
                  <a:pt x="206020" y="1063481"/>
                </a:lnTo>
                <a:lnTo>
                  <a:pt x="257525" y="1023918"/>
                </a:lnTo>
                <a:lnTo>
                  <a:pt x="309030" y="984448"/>
                </a:lnTo>
                <a:lnTo>
                  <a:pt x="360535" y="945082"/>
                </a:lnTo>
                <a:lnTo>
                  <a:pt x="412040" y="905835"/>
                </a:lnTo>
                <a:lnTo>
                  <a:pt x="463545" y="866724"/>
                </a:lnTo>
                <a:lnTo>
                  <a:pt x="515050" y="827766"/>
                </a:lnTo>
                <a:lnTo>
                  <a:pt x="566555" y="788983"/>
                </a:lnTo>
                <a:lnTo>
                  <a:pt x="618060" y="750397"/>
                </a:lnTo>
                <a:lnTo>
                  <a:pt x="669565" y="712034"/>
                </a:lnTo>
                <a:lnTo>
                  <a:pt x="721070" y="673920"/>
                </a:lnTo>
                <a:lnTo>
                  <a:pt x="772575" y="636087"/>
                </a:lnTo>
                <a:lnTo>
                  <a:pt x="824080" y="598568"/>
                </a:lnTo>
                <a:lnTo>
                  <a:pt x="875585" y="561400"/>
                </a:lnTo>
                <a:lnTo>
                  <a:pt x="927090" y="524620"/>
                </a:lnTo>
                <a:lnTo>
                  <a:pt x="978595" y="488271"/>
                </a:lnTo>
                <a:lnTo>
                  <a:pt x="1030100" y="452395"/>
                </a:lnTo>
                <a:lnTo>
                  <a:pt x="1081605" y="417039"/>
                </a:lnTo>
                <a:lnTo>
                  <a:pt x="1133110" y="382248"/>
                </a:lnTo>
                <a:lnTo>
                  <a:pt x="1184615" y="348069"/>
                </a:lnTo>
                <a:lnTo>
                  <a:pt x="1236120" y="314550"/>
                </a:lnTo>
                <a:lnTo>
                  <a:pt x="1287624" y="281737"/>
                </a:lnTo>
                <a:lnTo>
                  <a:pt x="1339129" y="249673"/>
                </a:lnTo>
                <a:lnTo>
                  <a:pt x="1390634" y="218400"/>
                </a:lnTo>
                <a:lnTo>
                  <a:pt x="1442139" y="187954"/>
                </a:lnTo>
                <a:lnTo>
                  <a:pt x="1493644" y="158369"/>
                </a:lnTo>
                <a:lnTo>
                  <a:pt x="1545149" y="129671"/>
                </a:lnTo>
                <a:lnTo>
                  <a:pt x="1596654" y="101881"/>
                </a:lnTo>
                <a:lnTo>
                  <a:pt x="1648159" y="75014"/>
                </a:lnTo>
                <a:lnTo>
                  <a:pt x="1699664" y="49079"/>
                </a:lnTo>
                <a:lnTo>
                  <a:pt x="1751169" y="24075"/>
                </a:lnTo>
                <a:lnTo>
                  <a:pt x="1802674" y="0"/>
                </a:lnTo>
              </a:path>
            </a:pathLst>
          </a:custGeom>
          <a:ln w="38100">
            <a:solidFill>
              <a:srgbClr val="3E6AE1"/>
            </a:solidFill>
            <a:prstDash val="solid"/>
          </a:ln>
        </p:spPr>
      </p:sp>
      <p:sp>
        <p:nvSpPr>
          <p:cNvPr id="58" name="!!ivVT"/>
          <p:cNvSpPr/>
          <p:nvPr/>
        </p:nvSpPr>
        <p:spPr>
          <a:xfrm>
            <a:off x="8817429" y="1600200"/>
            <a:ext cx="91" cy="2331720"/>
          </a:xfrm>
          <a:prstGeom prst="line">
            <a:avLst/>
          </a:prstGeom>
          <a:noFill/>
          <a:ln w="9525">
            <a:solidFill>
              <a:srgbClr val="8A8D93"/>
            </a:solidFill>
            <a:prstDash val="dash"/>
          </a:ln>
        </p:spPr>
      </p:sp>
      <p:sp>
        <p:nvSpPr>
          <p:cNvPr id="59" name="!!ivVTl"/>
          <p:cNvSpPr txBox="1"/>
          <p:nvPr/>
        </p:nvSpPr>
        <p:spPr>
          <a:xfrm>
            <a:off x="8543109" y="1554480"/>
            <a:ext cx="548640" cy="182880"/>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V</a:t>
            </a:r>
            <a:pPr algn="ctr" indent="0" marL="0">
              <a:buNone/>
            </a:pPr>
            <a:r>
              <a:rPr lang="en-US" sz="900" baseline="-40000" dirty="0">
                <a:solidFill>
                  <a:srgbClr val="8A8D93"/>
                </a:solidFill>
                <a:latin typeface="Segoe UI" pitchFamily="34" charset="0"/>
                <a:ea typeface="Segoe UI" pitchFamily="34" charset="-122"/>
                <a:cs typeface="Segoe UI" pitchFamily="34" charset="-120"/>
              </a:rPr>
              <a:t>T</a:t>
            </a:r>
            <a:endParaRPr lang="en-US" sz="900" dirty="0"/>
          </a:p>
        </p:txBody>
      </p:sp>
      <p:sp>
        <p:nvSpPr>
          <p:cNvPr id="60" name="!!ivPt"/>
          <p:cNvSpPr/>
          <p:nvPr/>
        </p:nvSpPr>
        <p:spPr>
          <a:xfrm>
            <a:off x="9035578" y="2220509"/>
            <a:ext cx="164592" cy="164592"/>
          </a:xfrm>
          <a:prstGeom prst="ellipse">
            <a:avLst/>
          </a:prstGeom>
          <a:solidFill>
            <a:srgbClr val="3E6AE1"/>
          </a:solidFill>
          <a:ln w="19050">
            <a:solidFill>
              <a:srgbClr val="FFFFFF"/>
            </a:solidFill>
            <a:prstDash val="solid"/>
          </a:ln>
        </p:spPr>
      </p:sp>
      <p:sp>
        <p:nvSpPr>
          <p:cNvPr id="61" name="!!ivPtL"/>
          <p:cNvSpPr txBox="1"/>
          <p:nvPr/>
        </p:nvSpPr>
        <p:spPr>
          <a:xfrm>
            <a:off x="8249194" y="1973621"/>
            <a:ext cx="822960" cy="219456"/>
          </a:xfrm>
          <a:prstGeom prst="rect">
            <a:avLst/>
          </a:prstGeom>
          <a:noFill/>
          <a:ln/>
        </p:spPr>
        <p:txBody>
          <a:bodyPr wrap="square" lIns="0" tIns="0" rIns="0" bIns="0" rtlCol="0" anchor="t"/>
          <a:lstStyle/>
          <a:p>
            <a:pPr algn="r" indent="0" marL="0">
              <a:buNone/>
            </a:pPr>
            <a:r>
              <a:rPr lang="en-US" sz="1100" dirty="0">
                <a:solidFill>
                  <a:srgbClr val="3E6AE1"/>
                </a:solidFill>
                <a:latin typeface="Segoe UI Semibold" pitchFamily="34" charset="0"/>
                <a:ea typeface="Segoe UI Semibold" pitchFamily="34" charset="-122"/>
                <a:cs typeface="Segoe UI Semibold" pitchFamily="34" charset="-120"/>
              </a:rPr>
              <a:t>778 nA</a:t>
            </a:r>
            <a:endParaRPr lang="en-US" sz="1100" dirty="0"/>
          </a:p>
        </p:txBody>
      </p:sp>
      <p:sp>
        <p:nvSpPr>
          <p:cNvPr id="62" name="!!ivRead"/>
          <p:cNvSpPr txBox="1"/>
          <p:nvPr/>
        </p:nvSpPr>
        <p:spPr>
          <a:xfrm>
            <a:off x="6858000" y="4526280"/>
            <a:ext cx="4754880" cy="256032"/>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G</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0.30 V     I</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778 nA</a:t>
            </a:r>
            <a:endParaRPr lang="en-US" sz="1400" dirty="0"/>
          </a:p>
        </p:txBody>
      </p:sp>
      <p:sp>
        <p:nvSpPr>
          <p:cNvPr id="63" name="!!ivReg"/>
          <p:cNvSpPr txBox="1"/>
          <p:nvPr/>
        </p:nvSpPr>
        <p:spPr>
          <a:xfrm>
            <a:off x="6858000" y="4773168"/>
            <a:ext cx="4754880" cy="219456"/>
          </a:xfrm>
          <a:prstGeom prst="rect">
            <a:avLst/>
          </a:prstGeom>
          <a:noFill/>
          <a:ln/>
        </p:spPr>
        <p:txBody>
          <a:bodyPr wrap="square" lIns="0" tIns="0" rIns="0" bIns="0" rtlCol="0" anchor="t"/>
          <a:lstStyle/>
          <a:p>
            <a:pPr algn="l" indent="0" marL="0">
              <a:buNone/>
            </a:pPr>
            <a:r>
              <a:rPr lang="en-US" sz="1100" dirty="0">
                <a:solidFill>
                  <a:srgbClr val="3E6AE1"/>
                </a:solidFill>
                <a:latin typeface="Segoe UI Semibold" pitchFamily="34" charset="0"/>
                <a:ea typeface="Segoe UI Semibold" pitchFamily="34" charset="-122"/>
                <a:cs typeface="Segoe UI Semibold" pitchFamily="34" charset="-120"/>
              </a:rPr>
              <a:t>THRESHOLD CROSSED: the channel forms</a:t>
            </a:r>
            <a:endParaRPr lang="en-US" sz="1100" dirty="0"/>
          </a:p>
        </p:txBody>
      </p:sp>
      <p:sp>
        <p:nvSpPr>
          <p:cNvPr id="64" name="!!knobLbl"/>
          <p:cNvSpPr txBox="1"/>
          <p:nvPr/>
        </p:nvSpPr>
        <p:spPr>
          <a:xfrm>
            <a:off x="7022592" y="5001768"/>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0.3 V</a:t>
            </a:r>
            <a:endParaRPr lang="en-US" sz="1200" dirty="0"/>
          </a:p>
        </p:txBody>
      </p:sp>
      <p:sp>
        <p:nvSpPr>
          <p:cNvPr id="65" name="!!knobTrack"/>
          <p:cNvSpPr/>
          <p:nvPr/>
        </p:nvSpPr>
        <p:spPr>
          <a:xfrm>
            <a:off x="7040880" y="5385816"/>
            <a:ext cx="4480560" cy="54864"/>
          </a:xfrm>
          <a:prstGeom prst="roundRect">
            <a:avLst>
              <a:gd name="adj" fmla="val 50000"/>
            </a:avLst>
          </a:prstGeom>
          <a:solidFill>
            <a:srgbClr val="E2E3E3"/>
          </a:solidFill>
          <a:ln/>
        </p:spPr>
      </p:sp>
      <p:sp>
        <p:nvSpPr>
          <p:cNvPr id="66" name="!!knobFill"/>
          <p:cNvSpPr/>
          <p:nvPr/>
        </p:nvSpPr>
        <p:spPr>
          <a:xfrm>
            <a:off x="7040880" y="5385816"/>
            <a:ext cx="1920240" cy="54864"/>
          </a:xfrm>
          <a:prstGeom prst="roundRect">
            <a:avLst>
              <a:gd name="adj" fmla="val 50000"/>
            </a:avLst>
          </a:prstGeom>
          <a:solidFill>
            <a:srgbClr val="6B5BC4"/>
          </a:solidFill>
          <a:ln/>
        </p:spPr>
      </p:sp>
      <p:sp>
        <p:nvSpPr>
          <p:cNvPr id="67" name="!!knobT0"/>
          <p:cNvSpPr txBox="1"/>
          <p:nvPr/>
        </p:nvSpPr>
        <p:spPr>
          <a:xfrm>
            <a:off x="667512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68" name="!!knobT1"/>
          <p:cNvSpPr txBox="1"/>
          <p:nvPr/>
        </p:nvSpPr>
        <p:spPr>
          <a:xfrm>
            <a:off x="79552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69" name="!!knobT2"/>
          <p:cNvSpPr txBox="1"/>
          <p:nvPr/>
        </p:nvSpPr>
        <p:spPr>
          <a:xfrm>
            <a:off x="923544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70" name="!!knobT3"/>
          <p:cNvSpPr txBox="1"/>
          <p:nvPr/>
        </p:nvSpPr>
        <p:spPr>
          <a:xfrm>
            <a:off x="1051560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71" name="!!knobT4"/>
          <p:cNvSpPr txBox="1"/>
          <p:nvPr/>
        </p:nvSpPr>
        <p:spPr>
          <a:xfrm>
            <a:off x="111556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72" name="!!knobThumb"/>
          <p:cNvSpPr/>
          <p:nvPr/>
        </p:nvSpPr>
        <p:spPr>
          <a:xfrm>
            <a:off x="8860536" y="5312664"/>
            <a:ext cx="201168" cy="201168"/>
          </a:xfrm>
          <a:prstGeom prst="ellipse">
            <a:avLst/>
          </a:prstGeom>
          <a:solidFill>
            <a:srgbClr val="FFFFFF"/>
          </a:solidFill>
          <a:ln w="28575">
            <a:solidFill>
              <a:srgbClr val="6B5BC4"/>
            </a:solidFill>
            <a:prstDash val="solid"/>
          </a:ln>
        </p:spPr>
      </p:sp>
      <p:sp>
        <p:nvSpPr>
          <p:cNvPr id="7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Past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T</a:t>
            </a:r>
            <a:pPr algn="ctr" indent="0" marL="0">
              <a:buNone/>
            </a:pPr>
            <a:r>
              <a:rPr lang="en-US" sz="1600" dirty="0">
                <a:solidFill>
                  <a:srgbClr val="171A20"/>
                </a:solidFill>
                <a:latin typeface="Segoe UI" pitchFamily="34" charset="0"/>
                <a:ea typeface="Segoe UI" pitchFamily="34" charset="-122"/>
                <a:cs typeface="Segoe UI" pitchFamily="34" charset="-120"/>
              </a:rPr>
              <a:t> = 0.25 V a thin electron layer joins source and drain: the switch turns on.</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Turning the gate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One knob,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the device, the energy hill and the current change together</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171A20"/>
          </a:solidFill>
          <a:ln/>
        </p:spPr>
      </p:sp>
      <p:sp>
        <p:nvSpPr>
          <p:cNvPr id="8" name="!!sdot4"/>
          <p:cNvSpPr/>
          <p:nvPr/>
        </p:nvSpPr>
        <p:spPr>
          <a:xfrm>
            <a:off x="11599164" y="525780"/>
            <a:ext cx="82296" cy="82296"/>
          </a:xfrm>
          <a:prstGeom prst="ellipse">
            <a:avLst/>
          </a:prstGeom>
          <a:solidFill>
            <a:srgbClr val="E2E3E3"/>
          </a:solidFill>
          <a:ln/>
        </p:spPr>
      </p:sp>
      <p:sp>
        <p:nvSpPr>
          <p:cNvPr id="9" name="!!mBody"/>
          <p:cNvSpPr/>
          <p:nvPr/>
        </p:nvSpPr>
        <p:spPr>
          <a:xfrm>
            <a:off x="640080" y="2240280"/>
            <a:ext cx="5120640" cy="1417320"/>
          </a:xfrm>
          <a:prstGeom prst="rect">
            <a:avLst/>
          </a:prstGeom>
          <a:solidFill>
            <a:srgbClr val="F6E7B8"/>
          </a:solidFill>
          <a:ln/>
        </p:spPr>
      </p:sp>
      <p:sp>
        <p:nvSpPr>
          <p:cNvPr id="10"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1" name="!!mDepl"/>
          <p:cNvSpPr/>
          <p:nvPr/>
        </p:nvSpPr>
        <p:spPr>
          <a:xfrm>
            <a:off x="1920240" y="2240280"/>
            <a:ext cx="2560320" cy="493776"/>
          </a:xfrm>
          <a:prstGeom prst="rect">
            <a:avLst/>
          </a:prstGeom>
          <a:solidFill>
            <a:srgbClr val="F7D4D9"/>
          </a:solidFill>
          <a:ln/>
        </p:spPr>
      </p:sp>
      <p:sp>
        <p:nvSpPr>
          <p:cNvPr id="12" name="!!mSrc"/>
          <p:cNvSpPr/>
          <p:nvPr/>
        </p:nvSpPr>
        <p:spPr>
          <a:xfrm>
            <a:off x="640080" y="2240280"/>
            <a:ext cx="1325880" cy="548640"/>
          </a:xfrm>
          <a:prstGeom prst="roundRect">
            <a:avLst>
              <a:gd name="adj" fmla="val 8333"/>
            </a:avLst>
          </a:prstGeom>
          <a:solidFill>
            <a:srgbClr val="7D9BE6"/>
          </a:solidFill>
          <a:ln/>
        </p:spPr>
      </p:sp>
      <p:sp>
        <p:nvSpPr>
          <p:cNvPr id="13" name="!!mDrn"/>
          <p:cNvSpPr/>
          <p:nvPr/>
        </p:nvSpPr>
        <p:spPr>
          <a:xfrm>
            <a:off x="4434840" y="2240280"/>
            <a:ext cx="1325880" cy="548640"/>
          </a:xfrm>
          <a:prstGeom prst="roundRect">
            <a:avLst>
              <a:gd name="adj" fmla="val 8333"/>
            </a:avLst>
          </a:prstGeom>
          <a:solidFill>
            <a:srgbClr val="7D9BE6"/>
          </a:solidFill>
          <a:ln/>
        </p:spPr>
      </p:sp>
      <p:sp>
        <p:nvSpPr>
          <p:cNvPr id="14" name="!!mSrcL"/>
          <p:cNvSpPr txBox="1"/>
          <p:nvPr/>
        </p:nvSpPr>
        <p:spPr>
          <a:xfrm>
            <a:off x="64008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5" name="!!mDrnL"/>
          <p:cNvSpPr txBox="1"/>
          <p:nvPr/>
        </p:nvSpPr>
        <p:spPr>
          <a:xfrm>
            <a:off x="448056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6" name="!!mChan"/>
          <p:cNvSpPr/>
          <p:nvPr/>
        </p:nvSpPr>
        <p:spPr>
          <a:xfrm>
            <a:off x="1920240" y="2240280"/>
            <a:ext cx="2560320" cy="80467"/>
          </a:xfrm>
          <a:custGeom>
            <a:avLst/>
            <a:gdLst/>
            <a:ahLst/>
            <a:cxnLst/>
            <a:rect l="l" t="t" r="r" b="b"/>
            <a:pathLst>
              <a:path w="2560320" h="80467">
                <a:moveTo>
                  <a:pt x="0" y="0"/>
                </a:moveTo>
                <a:lnTo>
                  <a:pt x="2560320" y="0"/>
                </a:lnTo>
                <a:lnTo>
                  <a:pt x="2560320" y="80467"/>
                </a:lnTo>
                <a:lnTo>
                  <a:pt x="0" y="80467"/>
                </a:lnTo>
                <a:close/>
              </a:path>
            </a:pathLst>
          </a:custGeom>
          <a:solidFill>
            <a:srgbClr val="1F2F6B"/>
          </a:solidFill>
          <a:ln/>
        </p:spPr>
      </p:sp>
      <p:sp>
        <p:nvSpPr>
          <p:cNvPr id="17" name="!!mOx"/>
          <p:cNvSpPr/>
          <p:nvPr/>
        </p:nvSpPr>
        <p:spPr>
          <a:xfrm>
            <a:off x="1920240" y="2167128"/>
            <a:ext cx="2560320" cy="73152"/>
          </a:xfrm>
          <a:prstGeom prst="rect">
            <a:avLst/>
          </a:prstGeom>
          <a:solidFill>
            <a:srgbClr val="CDEBF5"/>
          </a:solidFill>
          <a:ln/>
        </p:spPr>
      </p:sp>
      <p:sp>
        <p:nvSpPr>
          <p:cNvPr id="18" name="!!mGate"/>
          <p:cNvSpPr/>
          <p:nvPr/>
        </p:nvSpPr>
        <p:spPr>
          <a:xfrm>
            <a:off x="1920240" y="1783080"/>
            <a:ext cx="2560320" cy="384048"/>
          </a:xfrm>
          <a:prstGeom prst="roundRect">
            <a:avLst>
              <a:gd name="adj" fmla="val 9524"/>
            </a:avLst>
          </a:prstGeom>
          <a:solidFill>
            <a:srgbClr val="B3A6E6"/>
          </a:solidFill>
          <a:ln/>
        </p:spPr>
      </p:sp>
      <p:sp>
        <p:nvSpPr>
          <p:cNvPr id="19" name="!!mGateL"/>
          <p:cNvSpPr txBox="1"/>
          <p:nvPr/>
        </p:nvSpPr>
        <p:spPr>
          <a:xfrm>
            <a:off x="1920240" y="1837944"/>
            <a:ext cx="2560320"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20" name="!!mVS"/>
          <p:cNvSpPr txBox="1"/>
          <p:nvPr/>
        </p:nvSpPr>
        <p:spPr>
          <a:xfrm>
            <a:off x="640080" y="1856232"/>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S</a:t>
            </a:r>
            <a:pPr algn="l" indent="0" marL="0">
              <a:buNone/>
            </a:pPr>
            <a:r>
              <a:rPr lang="en-US" sz="1100" dirty="0">
                <a:solidFill>
                  <a:srgbClr val="5C5E62"/>
                </a:solidFill>
                <a:latin typeface="Segoe UI" pitchFamily="34" charset="0"/>
                <a:ea typeface="Segoe UI" pitchFamily="34" charset="-122"/>
                <a:cs typeface="Segoe UI" pitchFamily="34" charset="-120"/>
              </a:rPr>
              <a:t> = 0</a:t>
            </a:r>
            <a:endParaRPr lang="en-US" sz="1100" dirty="0"/>
          </a:p>
        </p:txBody>
      </p:sp>
      <p:sp>
        <p:nvSpPr>
          <p:cNvPr id="21" name="!!mVG"/>
          <p:cNvSpPr txBox="1"/>
          <p:nvPr/>
        </p:nvSpPr>
        <p:spPr>
          <a:xfrm>
            <a:off x="2286000" y="1490472"/>
            <a:ext cx="1828800" cy="237744"/>
          </a:xfrm>
          <a:prstGeom prst="rect">
            <a:avLst/>
          </a:prstGeom>
          <a:noFill/>
          <a:ln/>
        </p:spPr>
        <p:txBody>
          <a:bodyPr wrap="square" lIns="0" tIns="0" rIns="0" bIns="0" rtlCol="0" anchor="t"/>
          <a:lstStyle/>
          <a:p>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ctr"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 = 0.40 V</a:t>
            </a:r>
            <a:endParaRPr lang="en-US" sz="1200" dirty="0"/>
          </a:p>
        </p:txBody>
      </p:sp>
      <p:sp>
        <p:nvSpPr>
          <p:cNvPr id="22" name="!!mVD"/>
          <p:cNvSpPr txBox="1"/>
          <p:nvPr/>
        </p:nvSpPr>
        <p:spPr>
          <a:xfrm>
            <a:off x="4480560" y="1856232"/>
            <a:ext cx="1280160" cy="228600"/>
          </a:xfrm>
          <a:prstGeom prst="rect">
            <a:avLst/>
          </a:prstGeom>
          <a:noFill/>
          <a:ln/>
        </p:spPr>
        <p:txBody>
          <a:bodyPr wrap="square" lIns="0" tIns="0" rIns="0" bIns="0" rtlCol="0" anchor="t"/>
          <a:lstStyle/>
          <a:p>
            <a:pPr algn="r" indent="0" marL="0">
              <a:buNone/>
            </a:pPr>
            <a:r>
              <a:rPr lang="en-US" sz="1100" dirty="0">
                <a:solidFill>
                  <a:srgbClr val="5C5E62"/>
                </a:solidFill>
                <a:latin typeface="Segoe UI" pitchFamily="34" charset="0"/>
                <a:ea typeface="Segoe UI" pitchFamily="34" charset="-122"/>
                <a:cs typeface="Segoe UI" pitchFamily="34" charset="-120"/>
              </a:rPr>
              <a:t>V</a:t>
            </a:r>
            <a:pPr algn="r" indent="0" marL="0">
              <a:buNone/>
            </a:pPr>
            <a:r>
              <a:rPr lang="en-US" sz="1100" baseline="-40000" dirty="0">
                <a:solidFill>
                  <a:srgbClr val="5C5E62"/>
                </a:solidFill>
                <a:latin typeface="Segoe UI" pitchFamily="34" charset="0"/>
                <a:ea typeface="Segoe UI" pitchFamily="34" charset="-122"/>
                <a:cs typeface="Segoe UI" pitchFamily="34" charset="-120"/>
              </a:rPr>
              <a:t>D</a:t>
            </a:r>
            <a:pPr algn="r" indent="0" marL="0">
              <a:buNone/>
            </a:pPr>
            <a:r>
              <a:rPr lang="en-US" sz="1100" dirty="0">
                <a:solidFill>
                  <a:srgbClr val="5C5E62"/>
                </a:solidFill>
                <a:latin typeface="Segoe UI" pitchFamily="34" charset="0"/>
                <a:ea typeface="Segoe UI" pitchFamily="34" charset="-122"/>
                <a:cs typeface="Segoe UI" pitchFamily="34" charset="-120"/>
              </a:rPr>
              <a:t> = 0.70 V</a:t>
            </a:r>
            <a:endParaRPr lang="en-US" sz="1100" dirty="0"/>
          </a:p>
        </p:txBody>
      </p:sp>
      <p:sp>
        <p:nvSpPr>
          <p:cNvPr id="23" name="!!lg1"/>
          <p:cNvSpPr/>
          <p:nvPr/>
        </p:nvSpPr>
        <p:spPr>
          <a:xfrm>
            <a:off x="658368" y="3767328"/>
            <a:ext cx="164592" cy="109728"/>
          </a:xfrm>
          <a:prstGeom prst="rect">
            <a:avLst/>
          </a:prstGeom>
          <a:solidFill>
            <a:srgbClr val="1F2F6B"/>
          </a:solidFill>
          <a:ln/>
        </p:spPr>
      </p:sp>
      <p:sp>
        <p:nvSpPr>
          <p:cNvPr id="24" name="!!lg1t"/>
          <p:cNvSpPr txBox="1"/>
          <p:nvPr/>
        </p:nvSpPr>
        <p:spPr>
          <a:xfrm>
            <a:off x="868680" y="3721608"/>
            <a:ext cx="146304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electron channel</a:t>
            </a:r>
            <a:endParaRPr lang="en-US" sz="900" dirty="0"/>
          </a:p>
        </p:txBody>
      </p:sp>
      <p:sp>
        <p:nvSpPr>
          <p:cNvPr id="25" name="!!lg2"/>
          <p:cNvSpPr/>
          <p:nvPr/>
        </p:nvSpPr>
        <p:spPr>
          <a:xfrm>
            <a:off x="2240280" y="3767328"/>
            <a:ext cx="164592" cy="109728"/>
          </a:xfrm>
          <a:prstGeom prst="rect">
            <a:avLst/>
          </a:prstGeom>
          <a:solidFill>
            <a:srgbClr val="F7D4D9"/>
          </a:solidFill>
          <a:ln/>
        </p:spPr>
      </p:sp>
      <p:sp>
        <p:nvSpPr>
          <p:cNvPr id="26" name="!!lg2t"/>
          <p:cNvSpPr txBox="1"/>
          <p:nvPr/>
        </p:nvSpPr>
        <p:spPr>
          <a:xfrm>
            <a:off x="2450592" y="3721608"/>
            <a:ext cx="201168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depletion (no free carriers)</a:t>
            </a:r>
            <a:endParaRPr lang="en-US" sz="900" dirty="0"/>
          </a:p>
        </p:txBody>
      </p:sp>
      <p:sp>
        <p:nvSpPr>
          <p:cNvPr id="27" name="!!bCurve"/>
          <p:cNvSpPr/>
          <p:nvPr/>
        </p:nvSpPr>
        <p:spPr>
          <a:xfrm>
            <a:off x="640080" y="4503396"/>
            <a:ext cx="5120640" cy="795543"/>
          </a:xfrm>
          <a:custGeom>
            <a:avLst/>
            <a:gdLst/>
            <a:ahLst/>
            <a:cxnLst/>
            <a:rect l="l" t="t" r="r" b="b"/>
            <a:pathLst>
              <a:path w="5120640" h="795543">
                <a:moveTo>
                  <a:pt x="0" y="251477"/>
                </a:moveTo>
                <a:lnTo>
                  <a:pt x="113792" y="251467"/>
                </a:lnTo>
                <a:lnTo>
                  <a:pt x="227584" y="251441"/>
                </a:lnTo>
                <a:lnTo>
                  <a:pt x="341376" y="251374"/>
                </a:lnTo>
                <a:lnTo>
                  <a:pt x="455168" y="251198"/>
                </a:lnTo>
                <a:lnTo>
                  <a:pt x="568960" y="250741"/>
                </a:lnTo>
                <a:lnTo>
                  <a:pt x="682752" y="249557"/>
                </a:lnTo>
                <a:lnTo>
                  <a:pt x="796544" y="246517"/>
                </a:lnTo>
                <a:lnTo>
                  <a:pt x="910336" y="238887"/>
                </a:lnTo>
                <a:lnTo>
                  <a:pt x="1024128" y="220775"/>
                </a:lnTo>
                <a:lnTo>
                  <a:pt x="1137920" y="182937"/>
                </a:lnTo>
                <a:lnTo>
                  <a:pt x="1251712" y="121395"/>
                </a:lnTo>
                <a:lnTo>
                  <a:pt x="1365504" y="58169"/>
                </a:lnTo>
                <a:lnTo>
                  <a:pt x="1479296" y="17922"/>
                </a:lnTo>
                <a:lnTo>
                  <a:pt x="1593088" y="1702"/>
                </a:lnTo>
                <a:lnTo>
                  <a:pt x="1706880" y="0"/>
                </a:lnTo>
                <a:lnTo>
                  <a:pt x="1820672" y="5049"/>
                </a:lnTo>
                <a:lnTo>
                  <a:pt x="1934464" y="12902"/>
                </a:lnTo>
                <a:lnTo>
                  <a:pt x="2048256" y="21867"/>
                </a:lnTo>
                <a:lnTo>
                  <a:pt x="2162048" y="31265"/>
                </a:lnTo>
                <a:lnTo>
                  <a:pt x="2275840" y="40832"/>
                </a:lnTo>
                <a:lnTo>
                  <a:pt x="2389632" y="50465"/>
                </a:lnTo>
                <a:lnTo>
                  <a:pt x="2503424" y="60125"/>
                </a:lnTo>
                <a:lnTo>
                  <a:pt x="2617216" y="69801"/>
                </a:lnTo>
                <a:lnTo>
                  <a:pt x="2731008" y="79495"/>
                </a:lnTo>
                <a:lnTo>
                  <a:pt x="2844800" y="89233"/>
                </a:lnTo>
                <a:lnTo>
                  <a:pt x="2958592" y="99082"/>
                </a:lnTo>
                <a:lnTo>
                  <a:pt x="3072384" y="109230"/>
                </a:lnTo>
                <a:lnTo>
                  <a:pt x="3186176" y="120178"/>
                </a:lnTo>
                <a:lnTo>
                  <a:pt x="3299968" y="133265"/>
                </a:lnTo>
                <a:lnTo>
                  <a:pt x="3413760" y="151970"/>
                </a:lnTo>
                <a:lnTo>
                  <a:pt x="3527552" y="184791"/>
                </a:lnTo>
                <a:lnTo>
                  <a:pt x="3641344" y="249139"/>
                </a:lnTo>
                <a:lnTo>
                  <a:pt x="3755136" y="366098"/>
                </a:lnTo>
                <a:lnTo>
                  <a:pt x="3868928" y="523283"/>
                </a:lnTo>
                <a:lnTo>
                  <a:pt x="3982720" y="656889"/>
                </a:lnTo>
                <a:lnTo>
                  <a:pt x="4096512" y="735986"/>
                </a:lnTo>
                <a:lnTo>
                  <a:pt x="4210304" y="772105"/>
                </a:lnTo>
                <a:lnTo>
                  <a:pt x="4324096" y="786654"/>
                </a:lnTo>
                <a:lnTo>
                  <a:pt x="4437888" y="792220"/>
                </a:lnTo>
                <a:lnTo>
                  <a:pt x="4551680" y="794310"/>
                </a:lnTo>
                <a:lnTo>
                  <a:pt x="4665472" y="795089"/>
                </a:lnTo>
                <a:lnTo>
                  <a:pt x="4779264" y="795379"/>
                </a:lnTo>
                <a:lnTo>
                  <a:pt x="4893056" y="795487"/>
                </a:lnTo>
                <a:lnTo>
                  <a:pt x="5006848" y="795528"/>
                </a:lnTo>
                <a:lnTo>
                  <a:pt x="5120640" y="795543"/>
                </a:lnTo>
              </a:path>
            </a:pathLst>
          </a:custGeom>
          <a:ln w="28575">
            <a:solidFill>
              <a:srgbClr val="171A20"/>
            </a:solidFill>
            <a:prstDash val="solid"/>
          </a:ln>
        </p:spPr>
      </p:sp>
      <p:sp>
        <p:nvSpPr>
          <p:cNvPr id="28" name="!!bLbl"/>
          <p:cNvSpPr txBox="1"/>
          <p:nvPr/>
        </p:nvSpPr>
        <p:spPr>
          <a:xfrm>
            <a:off x="640080" y="3977640"/>
            <a:ext cx="182880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electron energy ↑</a:t>
            </a:r>
            <a:endParaRPr lang="en-US" sz="1000" dirty="0"/>
          </a:p>
        </p:txBody>
      </p:sp>
      <p:sp>
        <p:nvSpPr>
          <p:cNvPr id="29" name="!!bes0"/>
          <p:cNvSpPr/>
          <p:nvPr/>
        </p:nvSpPr>
        <p:spPr>
          <a:xfrm>
            <a:off x="717804" y="4613148"/>
            <a:ext cx="118872" cy="118872"/>
          </a:xfrm>
          <a:prstGeom prst="ellipse">
            <a:avLst/>
          </a:prstGeom>
          <a:solidFill>
            <a:srgbClr val="1F2F6B"/>
          </a:solidFill>
          <a:ln/>
        </p:spPr>
      </p:sp>
      <p:sp>
        <p:nvSpPr>
          <p:cNvPr id="30" name="!!bes1"/>
          <p:cNvSpPr/>
          <p:nvPr/>
        </p:nvSpPr>
        <p:spPr>
          <a:xfrm>
            <a:off x="918972" y="4613148"/>
            <a:ext cx="118872" cy="118872"/>
          </a:xfrm>
          <a:prstGeom prst="ellipse">
            <a:avLst/>
          </a:prstGeom>
          <a:solidFill>
            <a:srgbClr val="1F2F6B"/>
          </a:solidFill>
          <a:ln/>
        </p:spPr>
      </p:sp>
      <p:sp>
        <p:nvSpPr>
          <p:cNvPr id="31" name="!!bes2"/>
          <p:cNvSpPr/>
          <p:nvPr/>
        </p:nvSpPr>
        <p:spPr>
          <a:xfrm>
            <a:off x="1120140" y="4613148"/>
            <a:ext cx="118872" cy="118872"/>
          </a:xfrm>
          <a:prstGeom prst="ellipse">
            <a:avLst/>
          </a:prstGeom>
          <a:solidFill>
            <a:srgbClr val="1F2F6B"/>
          </a:solidFill>
          <a:ln/>
        </p:spPr>
      </p:sp>
      <p:sp>
        <p:nvSpPr>
          <p:cNvPr id="32" name="!!bes3"/>
          <p:cNvSpPr/>
          <p:nvPr/>
        </p:nvSpPr>
        <p:spPr>
          <a:xfrm>
            <a:off x="1321308" y="4613148"/>
            <a:ext cx="118872" cy="118872"/>
          </a:xfrm>
          <a:prstGeom prst="ellipse">
            <a:avLst/>
          </a:prstGeom>
          <a:solidFill>
            <a:srgbClr val="1F2F6B"/>
          </a:solidFill>
          <a:ln/>
        </p:spPr>
      </p:sp>
      <p:sp>
        <p:nvSpPr>
          <p:cNvPr id="33" name="!!bes4"/>
          <p:cNvSpPr/>
          <p:nvPr/>
        </p:nvSpPr>
        <p:spPr>
          <a:xfrm>
            <a:off x="1522476" y="4613148"/>
            <a:ext cx="118872" cy="118872"/>
          </a:xfrm>
          <a:prstGeom prst="ellipse">
            <a:avLst/>
          </a:prstGeom>
          <a:solidFill>
            <a:srgbClr val="1F2F6B"/>
          </a:solidFill>
          <a:ln/>
        </p:spPr>
      </p:sp>
      <p:sp>
        <p:nvSpPr>
          <p:cNvPr id="34" name="!!bec0"/>
          <p:cNvSpPr/>
          <p:nvPr/>
        </p:nvSpPr>
        <p:spPr>
          <a:xfrm>
            <a:off x="2089404" y="4373417"/>
            <a:ext cx="118872" cy="118872"/>
          </a:xfrm>
          <a:prstGeom prst="ellipse">
            <a:avLst/>
          </a:prstGeom>
          <a:solidFill>
            <a:srgbClr val="1F2F6B"/>
          </a:solidFill>
          <a:ln/>
        </p:spPr>
      </p:sp>
      <p:sp>
        <p:nvSpPr>
          <p:cNvPr id="35" name="!!bec1"/>
          <p:cNvSpPr/>
          <p:nvPr/>
        </p:nvSpPr>
        <p:spPr>
          <a:xfrm>
            <a:off x="2528316" y="4375569"/>
            <a:ext cx="118872" cy="118872"/>
          </a:xfrm>
          <a:prstGeom prst="ellipse">
            <a:avLst/>
          </a:prstGeom>
          <a:solidFill>
            <a:srgbClr val="1F2F6B"/>
          </a:solidFill>
          <a:ln/>
        </p:spPr>
      </p:sp>
      <p:sp>
        <p:nvSpPr>
          <p:cNvPr id="36" name="!!bec2"/>
          <p:cNvSpPr/>
          <p:nvPr/>
        </p:nvSpPr>
        <p:spPr>
          <a:xfrm>
            <a:off x="2967228" y="4411871"/>
            <a:ext cx="118872" cy="118872"/>
          </a:xfrm>
          <a:prstGeom prst="ellipse">
            <a:avLst/>
          </a:prstGeom>
          <a:solidFill>
            <a:srgbClr val="1F2F6B"/>
          </a:solidFill>
          <a:ln/>
        </p:spPr>
      </p:sp>
      <p:sp>
        <p:nvSpPr>
          <p:cNvPr id="37" name="!!bec3"/>
          <p:cNvSpPr/>
          <p:nvPr/>
        </p:nvSpPr>
        <p:spPr>
          <a:xfrm>
            <a:off x="3406140" y="4449240"/>
            <a:ext cx="118872" cy="118872"/>
          </a:xfrm>
          <a:prstGeom prst="ellipse">
            <a:avLst/>
          </a:prstGeom>
          <a:solidFill>
            <a:srgbClr val="1F2F6B"/>
          </a:solidFill>
          <a:ln/>
        </p:spPr>
      </p:sp>
      <p:sp>
        <p:nvSpPr>
          <p:cNvPr id="38" name="!!bec4"/>
          <p:cNvSpPr/>
          <p:nvPr/>
        </p:nvSpPr>
        <p:spPr>
          <a:xfrm>
            <a:off x="818388" y="4613148"/>
            <a:ext cx="118872" cy="118872"/>
          </a:xfrm>
          <a:prstGeom prst="ellipse">
            <a:avLst/>
          </a:prstGeom>
          <a:solidFill>
            <a:srgbClr val="1F2F6B"/>
          </a:solidFill>
          <a:ln/>
        </p:spPr>
      </p:sp>
      <p:sp>
        <p:nvSpPr>
          <p:cNvPr id="39" name="!!bec5"/>
          <p:cNvSpPr/>
          <p:nvPr/>
        </p:nvSpPr>
        <p:spPr>
          <a:xfrm>
            <a:off x="1019556" y="4613148"/>
            <a:ext cx="118872" cy="118872"/>
          </a:xfrm>
          <a:prstGeom prst="ellipse">
            <a:avLst/>
          </a:prstGeom>
          <a:solidFill>
            <a:srgbClr val="1F2F6B"/>
          </a:solidFill>
          <a:ln/>
        </p:spPr>
      </p:sp>
      <p:sp>
        <p:nvSpPr>
          <p:cNvPr id="40" name="!!axg0"/>
          <p:cNvSpPr/>
          <p:nvPr/>
        </p:nvSpPr>
        <p:spPr>
          <a:xfrm>
            <a:off x="7315200" y="3598817"/>
            <a:ext cx="4206240" cy="91"/>
          </a:xfrm>
          <a:prstGeom prst="line">
            <a:avLst/>
          </a:prstGeom>
          <a:noFill/>
          <a:ln w="9525">
            <a:solidFill>
              <a:srgbClr val="EDEEF0"/>
            </a:solidFill>
            <a:prstDash val="solid"/>
          </a:ln>
        </p:spPr>
      </p:sp>
      <p:sp>
        <p:nvSpPr>
          <p:cNvPr id="41" name="!!axg1"/>
          <p:cNvSpPr/>
          <p:nvPr/>
        </p:nvSpPr>
        <p:spPr>
          <a:xfrm>
            <a:off x="7315200" y="2932611"/>
            <a:ext cx="4206240" cy="91"/>
          </a:xfrm>
          <a:prstGeom prst="line">
            <a:avLst/>
          </a:prstGeom>
          <a:noFill/>
          <a:ln w="9525">
            <a:solidFill>
              <a:srgbClr val="EDEEF0"/>
            </a:solidFill>
            <a:prstDash val="solid"/>
          </a:ln>
        </p:spPr>
      </p:sp>
      <p:sp>
        <p:nvSpPr>
          <p:cNvPr id="42" name="!!axg2"/>
          <p:cNvSpPr/>
          <p:nvPr/>
        </p:nvSpPr>
        <p:spPr>
          <a:xfrm>
            <a:off x="7315200" y="2266406"/>
            <a:ext cx="4206240" cy="91"/>
          </a:xfrm>
          <a:prstGeom prst="line">
            <a:avLst/>
          </a:prstGeom>
          <a:noFill/>
          <a:ln w="9525">
            <a:solidFill>
              <a:srgbClr val="EDEEF0"/>
            </a:solidFill>
            <a:prstDash val="solid"/>
          </a:ln>
        </p:spPr>
      </p:sp>
      <p:sp>
        <p:nvSpPr>
          <p:cNvPr id="43" name="!!axg3"/>
          <p:cNvSpPr/>
          <p:nvPr/>
        </p:nvSpPr>
        <p:spPr>
          <a:xfrm>
            <a:off x="7315200" y="1600200"/>
            <a:ext cx="4206240" cy="91"/>
          </a:xfrm>
          <a:prstGeom prst="line">
            <a:avLst/>
          </a:prstGeom>
          <a:noFill/>
          <a:ln w="9525">
            <a:solidFill>
              <a:srgbClr val="EDEEF0"/>
            </a:solidFill>
            <a:prstDash val="solid"/>
          </a:ln>
        </p:spPr>
      </p:sp>
      <p:sp>
        <p:nvSpPr>
          <p:cNvPr id="44" name="!!axxa"/>
          <p:cNvSpPr/>
          <p:nvPr/>
        </p:nvSpPr>
        <p:spPr>
          <a:xfrm>
            <a:off x="7315200" y="3931920"/>
            <a:ext cx="4206240" cy="91"/>
          </a:xfrm>
          <a:prstGeom prst="line">
            <a:avLst/>
          </a:prstGeom>
          <a:noFill/>
          <a:ln w="12700">
            <a:solidFill>
              <a:srgbClr val="8A8D93"/>
            </a:solidFill>
            <a:prstDash val="solid"/>
          </a:ln>
        </p:spPr>
      </p:sp>
      <p:sp>
        <p:nvSpPr>
          <p:cNvPr id="45" name="!!axya"/>
          <p:cNvSpPr/>
          <p:nvPr/>
        </p:nvSpPr>
        <p:spPr>
          <a:xfrm>
            <a:off x="7315200" y="1600200"/>
            <a:ext cx="91" cy="2331720"/>
          </a:xfrm>
          <a:prstGeom prst="line">
            <a:avLst/>
          </a:prstGeom>
          <a:noFill/>
          <a:ln w="12700">
            <a:solidFill>
              <a:srgbClr val="8A8D93"/>
            </a:solidFill>
            <a:prstDash val="solid"/>
          </a:ln>
        </p:spPr>
      </p:sp>
      <p:sp>
        <p:nvSpPr>
          <p:cNvPr id="46" name="!!axxt0"/>
          <p:cNvSpPr txBox="1"/>
          <p:nvPr/>
        </p:nvSpPr>
        <p:spPr>
          <a:xfrm>
            <a:off x="699516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7" name="!!axxt1"/>
          <p:cNvSpPr txBox="1"/>
          <p:nvPr/>
        </p:nvSpPr>
        <p:spPr>
          <a:xfrm>
            <a:off x="8196943"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48" name="!!axxt2"/>
          <p:cNvSpPr txBox="1"/>
          <p:nvPr/>
        </p:nvSpPr>
        <p:spPr>
          <a:xfrm>
            <a:off x="9398726"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49" name="!!axxt3"/>
          <p:cNvSpPr txBox="1"/>
          <p:nvPr/>
        </p:nvSpPr>
        <p:spPr>
          <a:xfrm>
            <a:off x="10600509"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50" name="!!axyt0"/>
          <p:cNvSpPr txBox="1"/>
          <p:nvPr/>
        </p:nvSpPr>
        <p:spPr>
          <a:xfrm>
            <a:off x="6629400" y="3498233"/>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51" name="!!axyt1"/>
          <p:cNvSpPr txBox="1"/>
          <p:nvPr/>
        </p:nvSpPr>
        <p:spPr>
          <a:xfrm>
            <a:off x="6629400" y="2832027"/>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52" name="!!axyt2"/>
          <p:cNvSpPr txBox="1"/>
          <p:nvPr/>
        </p:nvSpPr>
        <p:spPr>
          <a:xfrm>
            <a:off x="6629400" y="216582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53" name="!!axyt3"/>
          <p:cNvSpPr txBox="1"/>
          <p:nvPr/>
        </p:nvSpPr>
        <p:spPr>
          <a:xfrm>
            <a:off x="6629400" y="14996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54" name="!!axxl"/>
          <p:cNvSpPr txBox="1"/>
          <p:nvPr/>
        </p:nvSpPr>
        <p:spPr>
          <a:xfrm>
            <a:off x="7315200" y="420624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55" name="!!axyl"/>
          <p:cNvSpPr txBox="1"/>
          <p:nvPr/>
        </p:nvSpPr>
        <p:spPr>
          <a:xfrm>
            <a:off x="713232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 each line = 100×)</a:t>
            </a:r>
            <a:endParaRPr lang="en-US" sz="1100" dirty="0"/>
          </a:p>
        </p:txBody>
      </p:sp>
      <p:sp>
        <p:nvSpPr>
          <p:cNvPr id="56" name="!!ivGhost"/>
          <p:cNvSpPr/>
          <p:nvPr/>
        </p:nvSpPr>
        <p:spPr>
          <a:xfrm>
            <a:off x="7315200" y="1775335"/>
            <a:ext cx="4206240" cy="1749913"/>
          </a:xfrm>
          <a:custGeom>
            <a:avLst/>
            <a:gdLst/>
            <a:ahLst/>
            <a:cxnLst/>
            <a:rect l="l" t="t" r="r" b="b"/>
            <a:pathLst>
              <a:path w="4206240" h="1749913">
                <a:moveTo>
                  <a:pt x="0" y="1749913"/>
                </a:moveTo>
                <a:lnTo>
                  <a:pt x="120178" y="1657062"/>
                </a:lnTo>
                <a:lnTo>
                  <a:pt x="240357" y="1564566"/>
                </a:lnTo>
                <a:lnTo>
                  <a:pt x="360535" y="1472551"/>
                </a:lnTo>
                <a:lnTo>
                  <a:pt x="480713" y="1381189"/>
                </a:lnTo>
                <a:lnTo>
                  <a:pt x="600891" y="1290705"/>
                </a:lnTo>
                <a:lnTo>
                  <a:pt x="721070" y="1201389"/>
                </a:lnTo>
                <a:lnTo>
                  <a:pt x="841248" y="1113607"/>
                </a:lnTo>
                <a:lnTo>
                  <a:pt x="961426" y="1027806"/>
                </a:lnTo>
                <a:lnTo>
                  <a:pt x="1081605" y="944508"/>
                </a:lnTo>
                <a:lnTo>
                  <a:pt x="1201783" y="864290"/>
                </a:lnTo>
                <a:lnTo>
                  <a:pt x="1321961" y="787744"/>
                </a:lnTo>
                <a:lnTo>
                  <a:pt x="1442139" y="715423"/>
                </a:lnTo>
                <a:lnTo>
                  <a:pt x="1562318" y="647775"/>
                </a:lnTo>
                <a:lnTo>
                  <a:pt x="1682496" y="585089"/>
                </a:lnTo>
                <a:lnTo>
                  <a:pt x="1802674" y="527469"/>
                </a:lnTo>
                <a:lnTo>
                  <a:pt x="1922853" y="474831"/>
                </a:lnTo>
                <a:lnTo>
                  <a:pt x="2043031" y="426939"/>
                </a:lnTo>
                <a:lnTo>
                  <a:pt x="2163209" y="383447"/>
                </a:lnTo>
                <a:lnTo>
                  <a:pt x="2283387" y="343952"/>
                </a:lnTo>
                <a:lnTo>
                  <a:pt x="2403566" y="308031"/>
                </a:lnTo>
                <a:lnTo>
                  <a:pt x="2523744" y="275275"/>
                </a:lnTo>
                <a:lnTo>
                  <a:pt x="2643922" y="245302"/>
                </a:lnTo>
                <a:lnTo>
                  <a:pt x="2764101" y="217770"/>
                </a:lnTo>
                <a:lnTo>
                  <a:pt x="2884279" y="192378"/>
                </a:lnTo>
                <a:lnTo>
                  <a:pt x="3004457" y="168863"/>
                </a:lnTo>
                <a:lnTo>
                  <a:pt x="3124635" y="146999"/>
                </a:lnTo>
                <a:lnTo>
                  <a:pt x="3244814" y="126592"/>
                </a:lnTo>
                <a:lnTo>
                  <a:pt x="3364992" y="107476"/>
                </a:lnTo>
                <a:lnTo>
                  <a:pt x="3485170" y="89508"/>
                </a:lnTo>
                <a:lnTo>
                  <a:pt x="3605349" y="72565"/>
                </a:lnTo>
                <a:lnTo>
                  <a:pt x="3725527" y="56542"/>
                </a:lnTo>
                <a:lnTo>
                  <a:pt x="3845705" y="41348"/>
                </a:lnTo>
                <a:lnTo>
                  <a:pt x="3965883" y="26904"/>
                </a:lnTo>
                <a:lnTo>
                  <a:pt x="4086062" y="13142"/>
                </a:lnTo>
                <a:lnTo>
                  <a:pt x="4206240" y="0"/>
                </a:lnTo>
              </a:path>
            </a:pathLst>
          </a:custGeom>
          <a:ln w="25400">
            <a:solidFill>
              <a:srgbClr val="C9CCD3"/>
            </a:solidFill>
            <a:prstDash val="solid"/>
          </a:ln>
        </p:spPr>
      </p:sp>
      <p:sp>
        <p:nvSpPr>
          <p:cNvPr id="57" name="!!ivTrail"/>
          <p:cNvSpPr/>
          <p:nvPr/>
        </p:nvSpPr>
        <p:spPr>
          <a:xfrm>
            <a:off x="7315200" y="2083366"/>
            <a:ext cx="2403566" cy="1441882"/>
          </a:xfrm>
          <a:custGeom>
            <a:avLst/>
            <a:gdLst/>
            <a:ahLst/>
            <a:cxnLst/>
            <a:rect l="l" t="t" r="r" b="b"/>
            <a:pathLst>
              <a:path w="2403566" h="1441882">
                <a:moveTo>
                  <a:pt x="0" y="1441882"/>
                </a:moveTo>
                <a:lnTo>
                  <a:pt x="68673" y="1388788"/>
                </a:lnTo>
                <a:lnTo>
                  <a:pt x="137347" y="1335793"/>
                </a:lnTo>
                <a:lnTo>
                  <a:pt x="206020" y="1282919"/>
                </a:lnTo>
                <a:lnTo>
                  <a:pt x="274693" y="1230189"/>
                </a:lnTo>
                <a:lnTo>
                  <a:pt x="343367" y="1177629"/>
                </a:lnTo>
                <a:lnTo>
                  <a:pt x="412040" y="1125273"/>
                </a:lnTo>
                <a:lnTo>
                  <a:pt x="480713" y="1073158"/>
                </a:lnTo>
                <a:lnTo>
                  <a:pt x="549386" y="1021328"/>
                </a:lnTo>
                <a:lnTo>
                  <a:pt x="618060" y="969835"/>
                </a:lnTo>
                <a:lnTo>
                  <a:pt x="686733" y="918738"/>
                </a:lnTo>
                <a:lnTo>
                  <a:pt x="755406" y="868103"/>
                </a:lnTo>
                <a:lnTo>
                  <a:pt x="824080" y="818007"/>
                </a:lnTo>
                <a:lnTo>
                  <a:pt x="892753" y="768533"/>
                </a:lnTo>
                <a:lnTo>
                  <a:pt x="961426" y="719775"/>
                </a:lnTo>
                <a:lnTo>
                  <a:pt x="1030100" y="671834"/>
                </a:lnTo>
                <a:lnTo>
                  <a:pt x="1098773" y="624815"/>
                </a:lnTo>
                <a:lnTo>
                  <a:pt x="1167446" y="578829"/>
                </a:lnTo>
                <a:lnTo>
                  <a:pt x="1236120" y="533988"/>
                </a:lnTo>
                <a:lnTo>
                  <a:pt x="1304793" y="490402"/>
                </a:lnTo>
                <a:lnTo>
                  <a:pt x="1373466" y="448172"/>
                </a:lnTo>
                <a:lnTo>
                  <a:pt x="1442139" y="407392"/>
                </a:lnTo>
                <a:lnTo>
                  <a:pt x="1510813" y="368141"/>
                </a:lnTo>
                <a:lnTo>
                  <a:pt x="1579486" y="330480"/>
                </a:lnTo>
                <a:lnTo>
                  <a:pt x="1648159" y="294453"/>
                </a:lnTo>
                <a:lnTo>
                  <a:pt x="1716833" y="260079"/>
                </a:lnTo>
                <a:lnTo>
                  <a:pt x="1785506" y="227361"/>
                </a:lnTo>
                <a:lnTo>
                  <a:pt x="1854179" y="196280"/>
                </a:lnTo>
                <a:lnTo>
                  <a:pt x="1922853" y="166800"/>
                </a:lnTo>
                <a:lnTo>
                  <a:pt x="1991526" y="138873"/>
                </a:lnTo>
                <a:lnTo>
                  <a:pt x="2060199" y="112435"/>
                </a:lnTo>
                <a:lnTo>
                  <a:pt x="2128872" y="87416"/>
                </a:lnTo>
                <a:lnTo>
                  <a:pt x="2197546" y="63742"/>
                </a:lnTo>
                <a:lnTo>
                  <a:pt x="2266219" y="41334"/>
                </a:lnTo>
                <a:lnTo>
                  <a:pt x="2334892" y="20113"/>
                </a:lnTo>
                <a:lnTo>
                  <a:pt x="2403566" y="0"/>
                </a:lnTo>
              </a:path>
            </a:pathLst>
          </a:custGeom>
          <a:ln w="38100">
            <a:solidFill>
              <a:srgbClr val="3E6AE1"/>
            </a:solidFill>
            <a:prstDash val="solid"/>
          </a:ln>
        </p:spPr>
      </p:sp>
      <p:sp>
        <p:nvSpPr>
          <p:cNvPr id="58" name="!!ivVT"/>
          <p:cNvSpPr/>
          <p:nvPr/>
        </p:nvSpPr>
        <p:spPr>
          <a:xfrm>
            <a:off x="8817429" y="1600200"/>
            <a:ext cx="91" cy="2331720"/>
          </a:xfrm>
          <a:prstGeom prst="line">
            <a:avLst/>
          </a:prstGeom>
          <a:noFill/>
          <a:ln w="9525">
            <a:solidFill>
              <a:srgbClr val="8A8D93"/>
            </a:solidFill>
            <a:prstDash val="dash"/>
          </a:ln>
        </p:spPr>
      </p:sp>
      <p:sp>
        <p:nvSpPr>
          <p:cNvPr id="59" name="!!ivVTl"/>
          <p:cNvSpPr txBox="1"/>
          <p:nvPr/>
        </p:nvSpPr>
        <p:spPr>
          <a:xfrm>
            <a:off x="8543109" y="1554480"/>
            <a:ext cx="548640" cy="182880"/>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V</a:t>
            </a:r>
            <a:pPr algn="ctr" indent="0" marL="0">
              <a:buNone/>
            </a:pPr>
            <a:r>
              <a:rPr lang="en-US" sz="900" baseline="-40000" dirty="0">
                <a:solidFill>
                  <a:srgbClr val="8A8D93"/>
                </a:solidFill>
                <a:latin typeface="Segoe UI" pitchFamily="34" charset="0"/>
                <a:ea typeface="Segoe UI" pitchFamily="34" charset="-122"/>
                <a:cs typeface="Segoe UI" pitchFamily="34" charset="-120"/>
              </a:rPr>
              <a:t>T</a:t>
            </a:r>
            <a:endParaRPr lang="en-US" sz="900" dirty="0"/>
          </a:p>
        </p:txBody>
      </p:sp>
      <p:sp>
        <p:nvSpPr>
          <p:cNvPr id="60" name="!!ivPt"/>
          <p:cNvSpPr/>
          <p:nvPr/>
        </p:nvSpPr>
        <p:spPr>
          <a:xfrm>
            <a:off x="9636470" y="2001070"/>
            <a:ext cx="164592" cy="164592"/>
          </a:xfrm>
          <a:prstGeom prst="ellipse">
            <a:avLst/>
          </a:prstGeom>
          <a:solidFill>
            <a:srgbClr val="3E6AE1"/>
          </a:solidFill>
          <a:ln w="19050">
            <a:solidFill>
              <a:srgbClr val="FFFFFF"/>
            </a:solidFill>
            <a:prstDash val="solid"/>
          </a:ln>
        </p:spPr>
      </p:sp>
      <p:sp>
        <p:nvSpPr>
          <p:cNvPr id="61" name="!!ivPtL"/>
          <p:cNvSpPr txBox="1"/>
          <p:nvPr/>
        </p:nvSpPr>
        <p:spPr>
          <a:xfrm>
            <a:off x="8850086" y="1754182"/>
            <a:ext cx="822960" cy="219456"/>
          </a:xfrm>
          <a:prstGeom prst="rect">
            <a:avLst/>
          </a:prstGeom>
          <a:noFill/>
          <a:ln/>
        </p:spPr>
        <p:txBody>
          <a:bodyPr wrap="square" lIns="0" tIns="0" rIns="0" bIns="0" rtlCol="0" anchor="t"/>
          <a:lstStyle/>
          <a:p>
            <a:pPr algn="r" indent="0" marL="0">
              <a:buNone/>
            </a:pPr>
            <a:r>
              <a:rPr lang="en-US" sz="1100" dirty="0">
                <a:solidFill>
                  <a:srgbClr val="3E6AE1"/>
                </a:solidFill>
                <a:latin typeface="Segoe UI Semibold" pitchFamily="34" charset="0"/>
                <a:ea typeface="Segoe UI Semibold" pitchFamily="34" charset="-122"/>
                <a:cs typeface="Segoe UI Semibold" pitchFamily="34" charset="-120"/>
              </a:rPr>
              <a:t>3.5 µA</a:t>
            </a:r>
            <a:endParaRPr lang="en-US" sz="1100" dirty="0"/>
          </a:p>
        </p:txBody>
      </p:sp>
      <p:sp>
        <p:nvSpPr>
          <p:cNvPr id="62" name="!!ivRead"/>
          <p:cNvSpPr txBox="1"/>
          <p:nvPr/>
        </p:nvSpPr>
        <p:spPr>
          <a:xfrm>
            <a:off x="6858000" y="4526280"/>
            <a:ext cx="4754880" cy="256032"/>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G</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0.40 V     I</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3.5 µA</a:t>
            </a:r>
            <a:endParaRPr lang="en-US" sz="1400" dirty="0"/>
          </a:p>
        </p:txBody>
      </p:sp>
      <p:sp>
        <p:nvSpPr>
          <p:cNvPr id="63" name="!!ivReg"/>
          <p:cNvSpPr txBox="1"/>
          <p:nvPr/>
        </p:nvSpPr>
        <p:spPr>
          <a:xfrm>
            <a:off x="6858000" y="4773168"/>
            <a:ext cx="4754880" cy="219456"/>
          </a:xfrm>
          <a:prstGeom prst="rect">
            <a:avLst/>
          </a:prstGeom>
          <a:noFill/>
          <a:ln/>
        </p:spPr>
        <p:txBody>
          <a:bodyPr wrap="square" lIns="0" tIns="0" rIns="0" bIns="0" rtlCol="0" anchor="t"/>
          <a:lstStyle/>
          <a:p>
            <a:pPr algn="l" indent="0" marL="0">
              <a:buNone/>
            </a:pPr>
            <a:r>
              <a:rPr lang="en-US" sz="1100" dirty="0">
                <a:solidFill>
                  <a:srgbClr val="3E6AE1"/>
                </a:solidFill>
                <a:latin typeface="Segoe UI Semibold" pitchFamily="34" charset="0"/>
                <a:ea typeface="Segoe UI Semibold" pitchFamily="34" charset="-122"/>
                <a:cs typeface="Segoe UI Semibold" pitchFamily="34" charset="-120"/>
              </a:rPr>
              <a:t>STRONG INVERSION: channel thickens</a:t>
            </a:r>
            <a:endParaRPr lang="en-US" sz="1100" dirty="0"/>
          </a:p>
        </p:txBody>
      </p:sp>
      <p:sp>
        <p:nvSpPr>
          <p:cNvPr id="64" name="!!knobLbl"/>
          <p:cNvSpPr txBox="1"/>
          <p:nvPr/>
        </p:nvSpPr>
        <p:spPr>
          <a:xfrm>
            <a:off x="7022592" y="5001768"/>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0.4 V</a:t>
            </a:r>
            <a:endParaRPr lang="en-US" sz="1200" dirty="0"/>
          </a:p>
        </p:txBody>
      </p:sp>
      <p:sp>
        <p:nvSpPr>
          <p:cNvPr id="65" name="!!knobTrack"/>
          <p:cNvSpPr/>
          <p:nvPr/>
        </p:nvSpPr>
        <p:spPr>
          <a:xfrm>
            <a:off x="7040880" y="5385816"/>
            <a:ext cx="4480560" cy="54864"/>
          </a:xfrm>
          <a:prstGeom prst="roundRect">
            <a:avLst>
              <a:gd name="adj" fmla="val 50000"/>
            </a:avLst>
          </a:prstGeom>
          <a:solidFill>
            <a:srgbClr val="E2E3E3"/>
          </a:solidFill>
          <a:ln/>
        </p:spPr>
      </p:sp>
      <p:sp>
        <p:nvSpPr>
          <p:cNvPr id="66" name="!!knobFill"/>
          <p:cNvSpPr/>
          <p:nvPr/>
        </p:nvSpPr>
        <p:spPr>
          <a:xfrm>
            <a:off x="7040880" y="5385816"/>
            <a:ext cx="2560320" cy="54864"/>
          </a:xfrm>
          <a:prstGeom prst="roundRect">
            <a:avLst>
              <a:gd name="adj" fmla="val 50000"/>
            </a:avLst>
          </a:prstGeom>
          <a:solidFill>
            <a:srgbClr val="6B5BC4"/>
          </a:solidFill>
          <a:ln/>
        </p:spPr>
      </p:sp>
      <p:sp>
        <p:nvSpPr>
          <p:cNvPr id="67" name="!!knobT0"/>
          <p:cNvSpPr txBox="1"/>
          <p:nvPr/>
        </p:nvSpPr>
        <p:spPr>
          <a:xfrm>
            <a:off x="667512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68" name="!!knobT1"/>
          <p:cNvSpPr txBox="1"/>
          <p:nvPr/>
        </p:nvSpPr>
        <p:spPr>
          <a:xfrm>
            <a:off x="79552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69" name="!!knobT2"/>
          <p:cNvSpPr txBox="1"/>
          <p:nvPr/>
        </p:nvSpPr>
        <p:spPr>
          <a:xfrm>
            <a:off x="923544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70" name="!!knobT3"/>
          <p:cNvSpPr txBox="1"/>
          <p:nvPr/>
        </p:nvSpPr>
        <p:spPr>
          <a:xfrm>
            <a:off x="1051560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71" name="!!knobT4"/>
          <p:cNvSpPr txBox="1"/>
          <p:nvPr/>
        </p:nvSpPr>
        <p:spPr>
          <a:xfrm>
            <a:off x="111556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72" name="!!knobThumb"/>
          <p:cNvSpPr/>
          <p:nvPr/>
        </p:nvSpPr>
        <p:spPr>
          <a:xfrm>
            <a:off x="9500616" y="5312664"/>
            <a:ext cx="201168" cy="201168"/>
          </a:xfrm>
          <a:prstGeom prst="ellipse">
            <a:avLst/>
          </a:prstGeom>
          <a:solidFill>
            <a:srgbClr val="FFFFFF"/>
          </a:solidFill>
          <a:ln w="28575">
            <a:solidFill>
              <a:srgbClr val="6B5BC4"/>
            </a:solidFill>
            <a:prstDash val="solid"/>
          </a:ln>
        </p:spPr>
      </p:sp>
      <p:sp>
        <p:nvSpPr>
          <p:cNvPr id="7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More gate, thicker channel; the curve bends because the channel now acts like a resistor.</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Turning the gate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One knob,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the device, the energy hill and the current change together</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171A20"/>
          </a:solidFill>
          <a:ln/>
        </p:spPr>
      </p:sp>
      <p:sp>
        <p:nvSpPr>
          <p:cNvPr id="8" name="!!sdot4"/>
          <p:cNvSpPr/>
          <p:nvPr/>
        </p:nvSpPr>
        <p:spPr>
          <a:xfrm>
            <a:off x="11599164" y="525780"/>
            <a:ext cx="82296" cy="82296"/>
          </a:xfrm>
          <a:prstGeom prst="ellipse">
            <a:avLst/>
          </a:prstGeom>
          <a:solidFill>
            <a:srgbClr val="171A20"/>
          </a:solidFill>
          <a:ln/>
        </p:spPr>
      </p:sp>
      <p:sp>
        <p:nvSpPr>
          <p:cNvPr id="9" name="!!mBody"/>
          <p:cNvSpPr/>
          <p:nvPr/>
        </p:nvSpPr>
        <p:spPr>
          <a:xfrm>
            <a:off x="640080" y="2240280"/>
            <a:ext cx="5120640" cy="1417320"/>
          </a:xfrm>
          <a:prstGeom prst="rect">
            <a:avLst/>
          </a:prstGeom>
          <a:solidFill>
            <a:srgbClr val="F6E7B8"/>
          </a:solidFill>
          <a:ln/>
        </p:spPr>
      </p:sp>
      <p:sp>
        <p:nvSpPr>
          <p:cNvPr id="10"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1" name="!!mDepl"/>
          <p:cNvSpPr/>
          <p:nvPr/>
        </p:nvSpPr>
        <p:spPr>
          <a:xfrm>
            <a:off x="1920240" y="2240280"/>
            <a:ext cx="2560320" cy="493776"/>
          </a:xfrm>
          <a:prstGeom prst="rect">
            <a:avLst/>
          </a:prstGeom>
          <a:solidFill>
            <a:srgbClr val="F7D4D9"/>
          </a:solidFill>
          <a:ln/>
        </p:spPr>
      </p:sp>
      <p:sp>
        <p:nvSpPr>
          <p:cNvPr id="12" name="!!mSrc"/>
          <p:cNvSpPr/>
          <p:nvPr/>
        </p:nvSpPr>
        <p:spPr>
          <a:xfrm>
            <a:off x="640080" y="2240280"/>
            <a:ext cx="1325880" cy="548640"/>
          </a:xfrm>
          <a:prstGeom prst="roundRect">
            <a:avLst>
              <a:gd name="adj" fmla="val 8333"/>
            </a:avLst>
          </a:prstGeom>
          <a:solidFill>
            <a:srgbClr val="7D9BE6"/>
          </a:solidFill>
          <a:ln/>
        </p:spPr>
      </p:sp>
      <p:sp>
        <p:nvSpPr>
          <p:cNvPr id="13" name="!!mDrn"/>
          <p:cNvSpPr/>
          <p:nvPr/>
        </p:nvSpPr>
        <p:spPr>
          <a:xfrm>
            <a:off x="4434840" y="2240280"/>
            <a:ext cx="1325880" cy="548640"/>
          </a:xfrm>
          <a:prstGeom prst="roundRect">
            <a:avLst>
              <a:gd name="adj" fmla="val 8333"/>
            </a:avLst>
          </a:prstGeom>
          <a:solidFill>
            <a:srgbClr val="7D9BE6"/>
          </a:solidFill>
          <a:ln/>
        </p:spPr>
      </p:sp>
      <p:sp>
        <p:nvSpPr>
          <p:cNvPr id="14" name="!!mSrcL"/>
          <p:cNvSpPr txBox="1"/>
          <p:nvPr/>
        </p:nvSpPr>
        <p:spPr>
          <a:xfrm>
            <a:off x="64008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5" name="!!mDrnL"/>
          <p:cNvSpPr txBox="1"/>
          <p:nvPr/>
        </p:nvSpPr>
        <p:spPr>
          <a:xfrm>
            <a:off x="448056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6" name="!!mChan"/>
          <p:cNvSpPr/>
          <p:nvPr/>
        </p:nvSpPr>
        <p:spPr>
          <a:xfrm>
            <a:off x="1920240" y="2240280"/>
            <a:ext cx="2560320" cy="168250"/>
          </a:xfrm>
          <a:custGeom>
            <a:avLst/>
            <a:gdLst/>
            <a:ahLst/>
            <a:cxnLst/>
            <a:rect l="l" t="t" r="r" b="b"/>
            <a:pathLst>
              <a:path w="2560320" h="168250">
                <a:moveTo>
                  <a:pt x="0" y="0"/>
                </a:moveTo>
                <a:lnTo>
                  <a:pt x="2560320" y="0"/>
                </a:lnTo>
                <a:lnTo>
                  <a:pt x="2560320" y="168250"/>
                </a:lnTo>
                <a:lnTo>
                  <a:pt x="0" y="168250"/>
                </a:lnTo>
                <a:close/>
              </a:path>
            </a:pathLst>
          </a:custGeom>
          <a:solidFill>
            <a:srgbClr val="1F2F6B"/>
          </a:solidFill>
          <a:ln/>
        </p:spPr>
      </p:sp>
      <p:sp>
        <p:nvSpPr>
          <p:cNvPr id="17" name="!!mOx"/>
          <p:cNvSpPr/>
          <p:nvPr/>
        </p:nvSpPr>
        <p:spPr>
          <a:xfrm>
            <a:off x="1920240" y="2167128"/>
            <a:ext cx="2560320" cy="73152"/>
          </a:xfrm>
          <a:prstGeom prst="rect">
            <a:avLst/>
          </a:prstGeom>
          <a:solidFill>
            <a:srgbClr val="CDEBF5"/>
          </a:solidFill>
          <a:ln/>
        </p:spPr>
      </p:sp>
      <p:sp>
        <p:nvSpPr>
          <p:cNvPr id="18" name="!!mGate"/>
          <p:cNvSpPr/>
          <p:nvPr/>
        </p:nvSpPr>
        <p:spPr>
          <a:xfrm>
            <a:off x="1920240" y="1783080"/>
            <a:ext cx="2560320" cy="384048"/>
          </a:xfrm>
          <a:prstGeom prst="roundRect">
            <a:avLst>
              <a:gd name="adj" fmla="val 9524"/>
            </a:avLst>
          </a:prstGeom>
          <a:solidFill>
            <a:srgbClr val="B3A6E6"/>
          </a:solidFill>
          <a:ln/>
        </p:spPr>
      </p:sp>
      <p:sp>
        <p:nvSpPr>
          <p:cNvPr id="19" name="!!mGateL"/>
          <p:cNvSpPr txBox="1"/>
          <p:nvPr/>
        </p:nvSpPr>
        <p:spPr>
          <a:xfrm>
            <a:off x="1920240" y="1837944"/>
            <a:ext cx="2560320"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20" name="!!mVS"/>
          <p:cNvSpPr txBox="1"/>
          <p:nvPr/>
        </p:nvSpPr>
        <p:spPr>
          <a:xfrm>
            <a:off x="640080" y="1856232"/>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S</a:t>
            </a:r>
            <a:pPr algn="l" indent="0" marL="0">
              <a:buNone/>
            </a:pPr>
            <a:r>
              <a:rPr lang="en-US" sz="1100" dirty="0">
                <a:solidFill>
                  <a:srgbClr val="5C5E62"/>
                </a:solidFill>
                <a:latin typeface="Segoe UI" pitchFamily="34" charset="0"/>
                <a:ea typeface="Segoe UI" pitchFamily="34" charset="-122"/>
                <a:cs typeface="Segoe UI" pitchFamily="34" charset="-120"/>
              </a:rPr>
              <a:t> = 0</a:t>
            </a:r>
            <a:endParaRPr lang="en-US" sz="1100" dirty="0"/>
          </a:p>
        </p:txBody>
      </p:sp>
      <p:sp>
        <p:nvSpPr>
          <p:cNvPr id="21" name="!!mVG"/>
          <p:cNvSpPr txBox="1"/>
          <p:nvPr/>
        </p:nvSpPr>
        <p:spPr>
          <a:xfrm>
            <a:off x="2286000" y="1490472"/>
            <a:ext cx="1828800" cy="237744"/>
          </a:xfrm>
          <a:prstGeom prst="rect">
            <a:avLst/>
          </a:prstGeom>
          <a:noFill/>
          <a:ln/>
        </p:spPr>
        <p:txBody>
          <a:bodyPr wrap="square" lIns="0" tIns="0" rIns="0" bIns="0" rtlCol="0" anchor="t"/>
          <a:lstStyle/>
          <a:p>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ctr"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 = 0.70 V</a:t>
            </a:r>
            <a:endParaRPr lang="en-US" sz="1200" dirty="0"/>
          </a:p>
        </p:txBody>
      </p:sp>
      <p:sp>
        <p:nvSpPr>
          <p:cNvPr id="22" name="!!mVD"/>
          <p:cNvSpPr txBox="1"/>
          <p:nvPr/>
        </p:nvSpPr>
        <p:spPr>
          <a:xfrm>
            <a:off x="4480560" y="1856232"/>
            <a:ext cx="1280160" cy="228600"/>
          </a:xfrm>
          <a:prstGeom prst="rect">
            <a:avLst/>
          </a:prstGeom>
          <a:noFill/>
          <a:ln/>
        </p:spPr>
        <p:txBody>
          <a:bodyPr wrap="square" lIns="0" tIns="0" rIns="0" bIns="0" rtlCol="0" anchor="t"/>
          <a:lstStyle/>
          <a:p>
            <a:pPr algn="r" indent="0" marL="0">
              <a:buNone/>
            </a:pPr>
            <a:r>
              <a:rPr lang="en-US" sz="1100" dirty="0">
                <a:solidFill>
                  <a:srgbClr val="5C5E62"/>
                </a:solidFill>
                <a:latin typeface="Segoe UI" pitchFamily="34" charset="0"/>
                <a:ea typeface="Segoe UI" pitchFamily="34" charset="-122"/>
                <a:cs typeface="Segoe UI" pitchFamily="34" charset="-120"/>
              </a:rPr>
              <a:t>V</a:t>
            </a:r>
            <a:pPr algn="r" indent="0" marL="0">
              <a:buNone/>
            </a:pPr>
            <a:r>
              <a:rPr lang="en-US" sz="1100" baseline="-40000" dirty="0">
                <a:solidFill>
                  <a:srgbClr val="5C5E62"/>
                </a:solidFill>
                <a:latin typeface="Segoe UI" pitchFamily="34" charset="0"/>
                <a:ea typeface="Segoe UI" pitchFamily="34" charset="-122"/>
                <a:cs typeface="Segoe UI" pitchFamily="34" charset="-120"/>
              </a:rPr>
              <a:t>D</a:t>
            </a:r>
            <a:pPr algn="r" indent="0" marL="0">
              <a:buNone/>
            </a:pPr>
            <a:r>
              <a:rPr lang="en-US" sz="1100" dirty="0">
                <a:solidFill>
                  <a:srgbClr val="5C5E62"/>
                </a:solidFill>
                <a:latin typeface="Segoe UI" pitchFamily="34" charset="0"/>
                <a:ea typeface="Segoe UI" pitchFamily="34" charset="-122"/>
                <a:cs typeface="Segoe UI" pitchFamily="34" charset="-120"/>
              </a:rPr>
              <a:t> = 0.70 V</a:t>
            </a:r>
            <a:endParaRPr lang="en-US" sz="1100" dirty="0"/>
          </a:p>
        </p:txBody>
      </p:sp>
      <p:sp>
        <p:nvSpPr>
          <p:cNvPr id="23" name="!!lg1"/>
          <p:cNvSpPr/>
          <p:nvPr/>
        </p:nvSpPr>
        <p:spPr>
          <a:xfrm>
            <a:off x="658368" y="3767328"/>
            <a:ext cx="164592" cy="109728"/>
          </a:xfrm>
          <a:prstGeom prst="rect">
            <a:avLst/>
          </a:prstGeom>
          <a:solidFill>
            <a:srgbClr val="1F2F6B"/>
          </a:solidFill>
          <a:ln/>
        </p:spPr>
      </p:sp>
      <p:sp>
        <p:nvSpPr>
          <p:cNvPr id="24" name="!!lg1t"/>
          <p:cNvSpPr txBox="1"/>
          <p:nvPr/>
        </p:nvSpPr>
        <p:spPr>
          <a:xfrm>
            <a:off x="868680" y="3721608"/>
            <a:ext cx="146304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electron channel</a:t>
            </a:r>
            <a:endParaRPr lang="en-US" sz="900" dirty="0"/>
          </a:p>
        </p:txBody>
      </p:sp>
      <p:sp>
        <p:nvSpPr>
          <p:cNvPr id="25" name="!!lg2"/>
          <p:cNvSpPr/>
          <p:nvPr/>
        </p:nvSpPr>
        <p:spPr>
          <a:xfrm>
            <a:off x="2240280" y="3767328"/>
            <a:ext cx="164592" cy="109728"/>
          </a:xfrm>
          <a:prstGeom prst="rect">
            <a:avLst/>
          </a:prstGeom>
          <a:solidFill>
            <a:srgbClr val="F7D4D9"/>
          </a:solidFill>
          <a:ln/>
        </p:spPr>
      </p:sp>
      <p:sp>
        <p:nvSpPr>
          <p:cNvPr id="26" name="!!lg2t"/>
          <p:cNvSpPr txBox="1"/>
          <p:nvPr/>
        </p:nvSpPr>
        <p:spPr>
          <a:xfrm>
            <a:off x="2450592" y="3721608"/>
            <a:ext cx="201168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depletion (no free carriers)</a:t>
            </a:r>
            <a:endParaRPr lang="en-US" sz="900" dirty="0"/>
          </a:p>
        </p:txBody>
      </p:sp>
      <p:sp>
        <p:nvSpPr>
          <p:cNvPr id="27" name="!!bCurve"/>
          <p:cNvSpPr/>
          <p:nvPr/>
        </p:nvSpPr>
        <p:spPr>
          <a:xfrm>
            <a:off x="640080" y="4730916"/>
            <a:ext cx="5120640" cy="568031"/>
          </a:xfrm>
          <a:custGeom>
            <a:avLst/>
            <a:gdLst/>
            <a:ahLst/>
            <a:cxnLst/>
            <a:rect l="l" t="t" r="r" b="b"/>
            <a:pathLst>
              <a:path w="5120640" h="568031">
                <a:moveTo>
                  <a:pt x="0" y="23963"/>
                </a:moveTo>
                <a:lnTo>
                  <a:pt x="113792" y="23961"/>
                </a:lnTo>
                <a:lnTo>
                  <a:pt x="227584" y="23956"/>
                </a:lnTo>
                <a:lnTo>
                  <a:pt x="341376" y="23944"/>
                </a:lnTo>
                <a:lnTo>
                  <a:pt x="455168" y="23911"/>
                </a:lnTo>
                <a:lnTo>
                  <a:pt x="568960" y="23827"/>
                </a:lnTo>
                <a:lnTo>
                  <a:pt x="682752" y="23609"/>
                </a:lnTo>
                <a:lnTo>
                  <a:pt x="796544" y="23049"/>
                </a:lnTo>
                <a:lnTo>
                  <a:pt x="910336" y="21643"/>
                </a:lnTo>
                <a:lnTo>
                  <a:pt x="1024128" y="18307"/>
                </a:lnTo>
                <a:lnTo>
                  <a:pt x="1137920" y="11337"/>
                </a:lnTo>
                <a:lnTo>
                  <a:pt x="1251712" y="0"/>
                </a:lnTo>
                <a:lnTo>
                  <a:pt x="1365504" y="411"/>
                </a:lnTo>
                <a:lnTo>
                  <a:pt x="1479296" y="16149"/>
                </a:lnTo>
                <a:lnTo>
                  <a:pt x="1593088" y="37602"/>
                </a:lnTo>
                <a:lnTo>
                  <a:pt x="1706880" y="60852"/>
                </a:lnTo>
                <a:lnTo>
                  <a:pt x="1820672" y="84676"/>
                </a:lnTo>
                <a:lnTo>
                  <a:pt x="1934464" y="108709"/>
                </a:lnTo>
                <a:lnTo>
                  <a:pt x="2048256" y="132826"/>
                </a:lnTo>
                <a:lnTo>
                  <a:pt x="2162048" y="156979"/>
                </a:lnTo>
                <a:lnTo>
                  <a:pt x="2275840" y="181148"/>
                </a:lnTo>
                <a:lnTo>
                  <a:pt x="2389632" y="205324"/>
                </a:lnTo>
                <a:lnTo>
                  <a:pt x="2503424" y="229503"/>
                </a:lnTo>
                <a:lnTo>
                  <a:pt x="2617216" y="253684"/>
                </a:lnTo>
                <a:lnTo>
                  <a:pt x="2731008" y="277867"/>
                </a:lnTo>
                <a:lnTo>
                  <a:pt x="2844800" y="302056"/>
                </a:lnTo>
                <a:lnTo>
                  <a:pt x="2958592" y="326256"/>
                </a:lnTo>
                <a:lnTo>
                  <a:pt x="3072384" y="350489"/>
                </a:lnTo>
                <a:lnTo>
                  <a:pt x="3186176" y="374806"/>
                </a:lnTo>
                <a:lnTo>
                  <a:pt x="3299968" y="399337"/>
                </a:lnTo>
                <a:lnTo>
                  <a:pt x="3413760" y="424409"/>
                </a:lnTo>
                <a:lnTo>
                  <a:pt x="3527552" y="450777"/>
                </a:lnTo>
                <a:lnTo>
                  <a:pt x="3641344" y="479890"/>
                </a:lnTo>
                <a:lnTo>
                  <a:pt x="3755136" y="513326"/>
                </a:lnTo>
                <a:lnTo>
                  <a:pt x="3868928" y="544068"/>
                </a:lnTo>
                <a:lnTo>
                  <a:pt x="3982720" y="555405"/>
                </a:lnTo>
                <a:lnTo>
                  <a:pt x="4096512" y="562375"/>
                </a:lnTo>
                <a:lnTo>
                  <a:pt x="4210304" y="565711"/>
                </a:lnTo>
                <a:lnTo>
                  <a:pt x="4324096" y="567117"/>
                </a:lnTo>
                <a:lnTo>
                  <a:pt x="4437888" y="567677"/>
                </a:lnTo>
                <a:lnTo>
                  <a:pt x="4551680" y="567895"/>
                </a:lnTo>
                <a:lnTo>
                  <a:pt x="4665472" y="567979"/>
                </a:lnTo>
                <a:lnTo>
                  <a:pt x="4779264" y="568012"/>
                </a:lnTo>
                <a:lnTo>
                  <a:pt x="4893056" y="568024"/>
                </a:lnTo>
                <a:lnTo>
                  <a:pt x="5006848" y="568029"/>
                </a:lnTo>
                <a:lnTo>
                  <a:pt x="5120640" y="568031"/>
                </a:lnTo>
              </a:path>
            </a:pathLst>
          </a:custGeom>
          <a:ln w="28575">
            <a:solidFill>
              <a:srgbClr val="171A20"/>
            </a:solidFill>
            <a:prstDash val="solid"/>
          </a:ln>
        </p:spPr>
      </p:sp>
      <p:sp>
        <p:nvSpPr>
          <p:cNvPr id="28" name="!!bLbl"/>
          <p:cNvSpPr txBox="1"/>
          <p:nvPr/>
        </p:nvSpPr>
        <p:spPr>
          <a:xfrm>
            <a:off x="640080" y="3977640"/>
            <a:ext cx="182880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electron energy ↑</a:t>
            </a:r>
            <a:endParaRPr lang="en-US" sz="1000" dirty="0"/>
          </a:p>
        </p:txBody>
      </p:sp>
      <p:sp>
        <p:nvSpPr>
          <p:cNvPr id="29" name="!!bes0"/>
          <p:cNvSpPr/>
          <p:nvPr/>
        </p:nvSpPr>
        <p:spPr>
          <a:xfrm>
            <a:off x="717804" y="4613148"/>
            <a:ext cx="118872" cy="118872"/>
          </a:xfrm>
          <a:prstGeom prst="ellipse">
            <a:avLst/>
          </a:prstGeom>
          <a:solidFill>
            <a:srgbClr val="1F2F6B"/>
          </a:solidFill>
          <a:ln/>
        </p:spPr>
      </p:sp>
      <p:sp>
        <p:nvSpPr>
          <p:cNvPr id="30" name="!!bes1"/>
          <p:cNvSpPr/>
          <p:nvPr/>
        </p:nvSpPr>
        <p:spPr>
          <a:xfrm>
            <a:off x="918972" y="4613148"/>
            <a:ext cx="118872" cy="118872"/>
          </a:xfrm>
          <a:prstGeom prst="ellipse">
            <a:avLst/>
          </a:prstGeom>
          <a:solidFill>
            <a:srgbClr val="1F2F6B"/>
          </a:solidFill>
          <a:ln/>
        </p:spPr>
      </p:sp>
      <p:sp>
        <p:nvSpPr>
          <p:cNvPr id="31" name="!!bes2"/>
          <p:cNvSpPr/>
          <p:nvPr/>
        </p:nvSpPr>
        <p:spPr>
          <a:xfrm>
            <a:off x="1120140" y="4613148"/>
            <a:ext cx="118872" cy="118872"/>
          </a:xfrm>
          <a:prstGeom prst="ellipse">
            <a:avLst/>
          </a:prstGeom>
          <a:solidFill>
            <a:srgbClr val="1F2F6B"/>
          </a:solidFill>
          <a:ln/>
        </p:spPr>
      </p:sp>
      <p:sp>
        <p:nvSpPr>
          <p:cNvPr id="32" name="!!bes3"/>
          <p:cNvSpPr/>
          <p:nvPr/>
        </p:nvSpPr>
        <p:spPr>
          <a:xfrm>
            <a:off x="1321308" y="4613148"/>
            <a:ext cx="118872" cy="118872"/>
          </a:xfrm>
          <a:prstGeom prst="ellipse">
            <a:avLst/>
          </a:prstGeom>
          <a:solidFill>
            <a:srgbClr val="1F2F6B"/>
          </a:solidFill>
          <a:ln/>
        </p:spPr>
      </p:sp>
      <p:sp>
        <p:nvSpPr>
          <p:cNvPr id="33" name="!!bes4"/>
          <p:cNvSpPr/>
          <p:nvPr/>
        </p:nvSpPr>
        <p:spPr>
          <a:xfrm>
            <a:off x="1522476" y="4613148"/>
            <a:ext cx="118872" cy="118872"/>
          </a:xfrm>
          <a:prstGeom prst="ellipse">
            <a:avLst/>
          </a:prstGeom>
          <a:solidFill>
            <a:srgbClr val="1F2F6B"/>
          </a:solidFill>
          <a:ln/>
        </p:spPr>
      </p:sp>
      <p:sp>
        <p:nvSpPr>
          <p:cNvPr id="34" name="!!bec0"/>
          <p:cNvSpPr/>
          <p:nvPr/>
        </p:nvSpPr>
        <p:spPr>
          <a:xfrm>
            <a:off x="2089404" y="4610572"/>
            <a:ext cx="118872" cy="118872"/>
          </a:xfrm>
          <a:prstGeom prst="ellipse">
            <a:avLst/>
          </a:prstGeom>
          <a:solidFill>
            <a:srgbClr val="1F2F6B"/>
          </a:solidFill>
          <a:ln/>
        </p:spPr>
      </p:sp>
      <p:sp>
        <p:nvSpPr>
          <p:cNvPr id="35" name="!!bec1"/>
          <p:cNvSpPr/>
          <p:nvPr/>
        </p:nvSpPr>
        <p:spPr>
          <a:xfrm>
            <a:off x="2528316" y="4700689"/>
            <a:ext cx="118872" cy="118872"/>
          </a:xfrm>
          <a:prstGeom prst="ellipse">
            <a:avLst/>
          </a:prstGeom>
          <a:solidFill>
            <a:srgbClr val="1F2F6B"/>
          </a:solidFill>
          <a:ln/>
        </p:spPr>
      </p:sp>
      <p:sp>
        <p:nvSpPr>
          <p:cNvPr id="36" name="!!bec2"/>
          <p:cNvSpPr/>
          <p:nvPr/>
        </p:nvSpPr>
        <p:spPr>
          <a:xfrm>
            <a:off x="2967228" y="4793860"/>
            <a:ext cx="118872" cy="118872"/>
          </a:xfrm>
          <a:prstGeom prst="ellipse">
            <a:avLst/>
          </a:prstGeom>
          <a:solidFill>
            <a:srgbClr val="1F2F6B"/>
          </a:solidFill>
          <a:ln/>
        </p:spPr>
      </p:sp>
      <p:sp>
        <p:nvSpPr>
          <p:cNvPr id="37" name="!!bec3"/>
          <p:cNvSpPr/>
          <p:nvPr/>
        </p:nvSpPr>
        <p:spPr>
          <a:xfrm>
            <a:off x="3406140" y="4887136"/>
            <a:ext cx="118872" cy="118872"/>
          </a:xfrm>
          <a:prstGeom prst="ellipse">
            <a:avLst/>
          </a:prstGeom>
          <a:solidFill>
            <a:srgbClr val="1F2F6B"/>
          </a:solidFill>
          <a:ln/>
        </p:spPr>
      </p:sp>
      <p:sp>
        <p:nvSpPr>
          <p:cNvPr id="38" name="!!bec4"/>
          <p:cNvSpPr/>
          <p:nvPr/>
        </p:nvSpPr>
        <p:spPr>
          <a:xfrm>
            <a:off x="3845052" y="4980818"/>
            <a:ext cx="118872" cy="118872"/>
          </a:xfrm>
          <a:prstGeom prst="ellipse">
            <a:avLst/>
          </a:prstGeom>
          <a:solidFill>
            <a:srgbClr val="1F2F6B"/>
          </a:solidFill>
          <a:ln/>
        </p:spPr>
      </p:sp>
      <p:sp>
        <p:nvSpPr>
          <p:cNvPr id="39" name="!!bec5"/>
          <p:cNvSpPr/>
          <p:nvPr/>
        </p:nvSpPr>
        <p:spPr>
          <a:xfrm>
            <a:off x="4283964" y="5086709"/>
            <a:ext cx="118872" cy="118872"/>
          </a:xfrm>
          <a:prstGeom prst="ellipse">
            <a:avLst/>
          </a:prstGeom>
          <a:solidFill>
            <a:srgbClr val="1F2F6B"/>
          </a:solidFill>
          <a:ln/>
        </p:spPr>
      </p:sp>
      <p:sp>
        <p:nvSpPr>
          <p:cNvPr id="40" name="!!axg0"/>
          <p:cNvSpPr/>
          <p:nvPr/>
        </p:nvSpPr>
        <p:spPr>
          <a:xfrm>
            <a:off x="7315200" y="3598817"/>
            <a:ext cx="4206240" cy="91"/>
          </a:xfrm>
          <a:prstGeom prst="line">
            <a:avLst/>
          </a:prstGeom>
          <a:noFill/>
          <a:ln w="9525">
            <a:solidFill>
              <a:srgbClr val="EDEEF0"/>
            </a:solidFill>
            <a:prstDash val="solid"/>
          </a:ln>
        </p:spPr>
      </p:sp>
      <p:sp>
        <p:nvSpPr>
          <p:cNvPr id="41" name="!!axg1"/>
          <p:cNvSpPr/>
          <p:nvPr/>
        </p:nvSpPr>
        <p:spPr>
          <a:xfrm>
            <a:off x="7315200" y="2932611"/>
            <a:ext cx="4206240" cy="91"/>
          </a:xfrm>
          <a:prstGeom prst="line">
            <a:avLst/>
          </a:prstGeom>
          <a:noFill/>
          <a:ln w="9525">
            <a:solidFill>
              <a:srgbClr val="EDEEF0"/>
            </a:solidFill>
            <a:prstDash val="solid"/>
          </a:ln>
        </p:spPr>
      </p:sp>
      <p:sp>
        <p:nvSpPr>
          <p:cNvPr id="42" name="!!axg2"/>
          <p:cNvSpPr/>
          <p:nvPr/>
        </p:nvSpPr>
        <p:spPr>
          <a:xfrm>
            <a:off x="7315200" y="2266406"/>
            <a:ext cx="4206240" cy="91"/>
          </a:xfrm>
          <a:prstGeom prst="line">
            <a:avLst/>
          </a:prstGeom>
          <a:noFill/>
          <a:ln w="9525">
            <a:solidFill>
              <a:srgbClr val="EDEEF0"/>
            </a:solidFill>
            <a:prstDash val="solid"/>
          </a:ln>
        </p:spPr>
      </p:sp>
      <p:sp>
        <p:nvSpPr>
          <p:cNvPr id="43" name="!!axg3"/>
          <p:cNvSpPr/>
          <p:nvPr/>
        </p:nvSpPr>
        <p:spPr>
          <a:xfrm>
            <a:off x="7315200" y="1600200"/>
            <a:ext cx="4206240" cy="91"/>
          </a:xfrm>
          <a:prstGeom prst="line">
            <a:avLst/>
          </a:prstGeom>
          <a:noFill/>
          <a:ln w="9525">
            <a:solidFill>
              <a:srgbClr val="EDEEF0"/>
            </a:solidFill>
            <a:prstDash val="solid"/>
          </a:ln>
        </p:spPr>
      </p:sp>
      <p:sp>
        <p:nvSpPr>
          <p:cNvPr id="44" name="!!axxa"/>
          <p:cNvSpPr/>
          <p:nvPr/>
        </p:nvSpPr>
        <p:spPr>
          <a:xfrm>
            <a:off x="7315200" y="3931920"/>
            <a:ext cx="4206240" cy="91"/>
          </a:xfrm>
          <a:prstGeom prst="line">
            <a:avLst/>
          </a:prstGeom>
          <a:noFill/>
          <a:ln w="12700">
            <a:solidFill>
              <a:srgbClr val="8A8D93"/>
            </a:solidFill>
            <a:prstDash val="solid"/>
          </a:ln>
        </p:spPr>
      </p:sp>
      <p:sp>
        <p:nvSpPr>
          <p:cNvPr id="45" name="!!axya"/>
          <p:cNvSpPr/>
          <p:nvPr/>
        </p:nvSpPr>
        <p:spPr>
          <a:xfrm>
            <a:off x="7315200" y="1600200"/>
            <a:ext cx="91" cy="2331720"/>
          </a:xfrm>
          <a:prstGeom prst="line">
            <a:avLst/>
          </a:prstGeom>
          <a:noFill/>
          <a:ln w="12700">
            <a:solidFill>
              <a:srgbClr val="8A8D93"/>
            </a:solidFill>
            <a:prstDash val="solid"/>
          </a:ln>
        </p:spPr>
      </p:sp>
      <p:sp>
        <p:nvSpPr>
          <p:cNvPr id="46" name="!!axxt0"/>
          <p:cNvSpPr txBox="1"/>
          <p:nvPr/>
        </p:nvSpPr>
        <p:spPr>
          <a:xfrm>
            <a:off x="699516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7" name="!!axxt1"/>
          <p:cNvSpPr txBox="1"/>
          <p:nvPr/>
        </p:nvSpPr>
        <p:spPr>
          <a:xfrm>
            <a:off x="8196943"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48" name="!!axxt2"/>
          <p:cNvSpPr txBox="1"/>
          <p:nvPr/>
        </p:nvSpPr>
        <p:spPr>
          <a:xfrm>
            <a:off x="9398726"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49" name="!!axxt3"/>
          <p:cNvSpPr txBox="1"/>
          <p:nvPr/>
        </p:nvSpPr>
        <p:spPr>
          <a:xfrm>
            <a:off x="10600509"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50" name="!!axyt0"/>
          <p:cNvSpPr txBox="1"/>
          <p:nvPr/>
        </p:nvSpPr>
        <p:spPr>
          <a:xfrm>
            <a:off x="6629400" y="3498233"/>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51" name="!!axyt1"/>
          <p:cNvSpPr txBox="1"/>
          <p:nvPr/>
        </p:nvSpPr>
        <p:spPr>
          <a:xfrm>
            <a:off x="6629400" y="2832027"/>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52" name="!!axyt2"/>
          <p:cNvSpPr txBox="1"/>
          <p:nvPr/>
        </p:nvSpPr>
        <p:spPr>
          <a:xfrm>
            <a:off x="6629400" y="216582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53" name="!!axyt3"/>
          <p:cNvSpPr txBox="1"/>
          <p:nvPr/>
        </p:nvSpPr>
        <p:spPr>
          <a:xfrm>
            <a:off x="6629400" y="14996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54" name="!!axxl"/>
          <p:cNvSpPr txBox="1"/>
          <p:nvPr/>
        </p:nvSpPr>
        <p:spPr>
          <a:xfrm>
            <a:off x="7315200" y="420624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55" name="!!axyl"/>
          <p:cNvSpPr txBox="1"/>
          <p:nvPr/>
        </p:nvSpPr>
        <p:spPr>
          <a:xfrm>
            <a:off x="713232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 each line = 100×)</a:t>
            </a:r>
            <a:endParaRPr lang="en-US" sz="1100" dirty="0"/>
          </a:p>
        </p:txBody>
      </p:sp>
      <p:sp>
        <p:nvSpPr>
          <p:cNvPr id="56" name="!!ivGhost"/>
          <p:cNvSpPr/>
          <p:nvPr/>
        </p:nvSpPr>
        <p:spPr>
          <a:xfrm>
            <a:off x="7315200" y="1775335"/>
            <a:ext cx="4206240" cy="1749913"/>
          </a:xfrm>
          <a:custGeom>
            <a:avLst/>
            <a:gdLst/>
            <a:ahLst/>
            <a:cxnLst/>
            <a:rect l="l" t="t" r="r" b="b"/>
            <a:pathLst>
              <a:path w="4206240" h="1749913">
                <a:moveTo>
                  <a:pt x="0" y="1749913"/>
                </a:moveTo>
                <a:lnTo>
                  <a:pt x="120178" y="1657062"/>
                </a:lnTo>
                <a:lnTo>
                  <a:pt x="240357" y="1564566"/>
                </a:lnTo>
                <a:lnTo>
                  <a:pt x="360535" y="1472551"/>
                </a:lnTo>
                <a:lnTo>
                  <a:pt x="480713" y="1381189"/>
                </a:lnTo>
                <a:lnTo>
                  <a:pt x="600891" y="1290705"/>
                </a:lnTo>
                <a:lnTo>
                  <a:pt x="721070" y="1201389"/>
                </a:lnTo>
                <a:lnTo>
                  <a:pt x="841248" y="1113607"/>
                </a:lnTo>
                <a:lnTo>
                  <a:pt x="961426" y="1027806"/>
                </a:lnTo>
                <a:lnTo>
                  <a:pt x="1081605" y="944508"/>
                </a:lnTo>
                <a:lnTo>
                  <a:pt x="1201783" y="864290"/>
                </a:lnTo>
                <a:lnTo>
                  <a:pt x="1321961" y="787744"/>
                </a:lnTo>
                <a:lnTo>
                  <a:pt x="1442139" y="715423"/>
                </a:lnTo>
                <a:lnTo>
                  <a:pt x="1562318" y="647775"/>
                </a:lnTo>
                <a:lnTo>
                  <a:pt x="1682496" y="585089"/>
                </a:lnTo>
                <a:lnTo>
                  <a:pt x="1802674" y="527469"/>
                </a:lnTo>
                <a:lnTo>
                  <a:pt x="1922853" y="474831"/>
                </a:lnTo>
                <a:lnTo>
                  <a:pt x="2043031" y="426939"/>
                </a:lnTo>
                <a:lnTo>
                  <a:pt x="2163209" y="383447"/>
                </a:lnTo>
                <a:lnTo>
                  <a:pt x="2283387" y="343952"/>
                </a:lnTo>
                <a:lnTo>
                  <a:pt x="2403566" y="308031"/>
                </a:lnTo>
                <a:lnTo>
                  <a:pt x="2523744" y="275275"/>
                </a:lnTo>
                <a:lnTo>
                  <a:pt x="2643922" y="245302"/>
                </a:lnTo>
                <a:lnTo>
                  <a:pt x="2764101" y="217770"/>
                </a:lnTo>
                <a:lnTo>
                  <a:pt x="2884279" y="192378"/>
                </a:lnTo>
                <a:lnTo>
                  <a:pt x="3004457" y="168863"/>
                </a:lnTo>
                <a:lnTo>
                  <a:pt x="3124635" y="146999"/>
                </a:lnTo>
                <a:lnTo>
                  <a:pt x="3244814" y="126592"/>
                </a:lnTo>
                <a:lnTo>
                  <a:pt x="3364992" y="107476"/>
                </a:lnTo>
                <a:lnTo>
                  <a:pt x="3485170" y="89508"/>
                </a:lnTo>
                <a:lnTo>
                  <a:pt x="3605349" y="72565"/>
                </a:lnTo>
                <a:lnTo>
                  <a:pt x="3725527" y="56542"/>
                </a:lnTo>
                <a:lnTo>
                  <a:pt x="3845705" y="41348"/>
                </a:lnTo>
                <a:lnTo>
                  <a:pt x="3965883" y="26904"/>
                </a:lnTo>
                <a:lnTo>
                  <a:pt x="4086062" y="13142"/>
                </a:lnTo>
                <a:lnTo>
                  <a:pt x="4206240" y="0"/>
                </a:lnTo>
              </a:path>
            </a:pathLst>
          </a:custGeom>
          <a:ln w="25400">
            <a:solidFill>
              <a:srgbClr val="C9CCD3"/>
            </a:solidFill>
            <a:prstDash val="solid"/>
          </a:ln>
        </p:spPr>
      </p:sp>
      <p:sp>
        <p:nvSpPr>
          <p:cNvPr id="57" name="!!ivTrail"/>
          <p:cNvSpPr/>
          <p:nvPr/>
        </p:nvSpPr>
        <p:spPr>
          <a:xfrm>
            <a:off x="7315200" y="1775335"/>
            <a:ext cx="4206240" cy="1749913"/>
          </a:xfrm>
          <a:custGeom>
            <a:avLst/>
            <a:gdLst/>
            <a:ahLst/>
            <a:cxnLst/>
            <a:rect l="l" t="t" r="r" b="b"/>
            <a:pathLst>
              <a:path w="4206240" h="1749913">
                <a:moveTo>
                  <a:pt x="0" y="1749913"/>
                </a:moveTo>
                <a:lnTo>
                  <a:pt x="120178" y="1657062"/>
                </a:lnTo>
                <a:lnTo>
                  <a:pt x="240357" y="1564566"/>
                </a:lnTo>
                <a:lnTo>
                  <a:pt x="360535" y="1472551"/>
                </a:lnTo>
                <a:lnTo>
                  <a:pt x="480713" y="1381189"/>
                </a:lnTo>
                <a:lnTo>
                  <a:pt x="600891" y="1290705"/>
                </a:lnTo>
                <a:lnTo>
                  <a:pt x="721070" y="1201389"/>
                </a:lnTo>
                <a:lnTo>
                  <a:pt x="841248" y="1113607"/>
                </a:lnTo>
                <a:lnTo>
                  <a:pt x="961426" y="1027806"/>
                </a:lnTo>
                <a:lnTo>
                  <a:pt x="1081605" y="944508"/>
                </a:lnTo>
                <a:lnTo>
                  <a:pt x="1201783" y="864290"/>
                </a:lnTo>
                <a:lnTo>
                  <a:pt x="1321961" y="787744"/>
                </a:lnTo>
                <a:lnTo>
                  <a:pt x="1442139" y="715423"/>
                </a:lnTo>
                <a:lnTo>
                  <a:pt x="1562318" y="647775"/>
                </a:lnTo>
                <a:lnTo>
                  <a:pt x="1682496" y="585089"/>
                </a:lnTo>
                <a:lnTo>
                  <a:pt x="1802674" y="527469"/>
                </a:lnTo>
                <a:lnTo>
                  <a:pt x="1922853" y="474831"/>
                </a:lnTo>
                <a:lnTo>
                  <a:pt x="2043031" y="426939"/>
                </a:lnTo>
                <a:lnTo>
                  <a:pt x="2163209" y="383447"/>
                </a:lnTo>
                <a:lnTo>
                  <a:pt x="2283387" y="343952"/>
                </a:lnTo>
                <a:lnTo>
                  <a:pt x="2403566" y="308031"/>
                </a:lnTo>
                <a:lnTo>
                  <a:pt x="2523744" y="275275"/>
                </a:lnTo>
                <a:lnTo>
                  <a:pt x="2643922" y="245302"/>
                </a:lnTo>
                <a:lnTo>
                  <a:pt x="2764101" y="217770"/>
                </a:lnTo>
                <a:lnTo>
                  <a:pt x="2884279" y="192378"/>
                </a:lnTo>
                <a:lnTo>
                  <a:pt x="3004457" y="168863"/>
                </a:lnTo>
                <a:lnTo>
                  <a:pt x="3124635" y="146999"/>
                </a:lnTo>
                <a:lnTo>
                  <a:pt x="3244814" y="126592"/>
                </a:lnTo>
                <a:lnTo>
                  <a:pt x="3364992" y="107476"/>
                </a:lnTo>
                <a:lnTo>
                  <a:pt x="3485170" y="89508"/>
                </a:lnTo>
                <a:lnTo>
                  <a:pt x="3605349" y="72565"/>
                </a:lnTo>
                <a:lnTo>
                  <a:pt x="3725527" y="56542"/>
                </a:lnTo>
                <a:lnTo>
                  <a:pt x="3845705" y="41348"/>
                </a:lnTo>
                <a:lnTo>
                  <a:pt x="3965883" y="26904"/>
                </a:lnTo>
                <a:lnTo>
                  <a:pt x="4086062" y="13142"/>
                </a:lnTo>
                <a:lnTo>
                  <a:pt x="4206240" y="0"/>
                </a:lnTo>
              </a:path>
            </a:pathLst>
          </a:custGeom>
          <a:ln w="38100">
            <a:solidFill>
              <a:srgbClr val="3E6AE1"/>
            </a:solidFill>
            <a:prstDash val="solid"/>
          </a:ln>
        </p:spPr>
      </p:sp>
      <p:sp>
        <p:nvSpPr>
          <p:cNvPr id="58" name="!!ivVT"/>
          <p:cNvSpPr/>
          <p:nvPr/>
        </p:nvSpPr>
        <p:spPr>
          <a:xfrm>
            <a:off x="8817429" y="1600200"/>
            <a:ext cx="91" cy="2331720"/>
          </a:xfrm>
          <a:prstGeom prst="line">
            <a:avLst/>
          </a:prstGeom>
          <a:noFill/>
          <a:ln w="9525">
            <a:solidFill>
              <a:srgbClr val="8A8D93"/>
            </a:solidFill>
            <a:prstDash val="dash"/>
          </a:ln>
        </p:spPr>
      </p:sp>
      <p:sp>
        <p:nvSpPr>
          <p:cNvPr id="59" name="!!ivVTl"/>
          <p:cNvSpPr txBox="1"/>
          <p:nvPr/>
        </p:nvSpPr>
        <p:spPr>
          <a:xfrm>
            <a:off x="8543109" y="1554480"/>
            <a:ext cx="548640" cy="182880"/>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V</a:t>
            </a:r>
            <a:pPr algn="ctr" indent="0" marL="0">
              <a:buNone/>
            </a:pPr>
            <a:r>
              <a:rPr lang="en-US" sz="900" baseline="-40000" dirty="0">
                <a:solidFill>
                  <a:srgbClr val="8A8D93"/>
                </a:solidFill>
                <a:latin typeface="Segoe UI" pitchFamily="34" charset="0"/>
                <a:ea typeface="Segoe UI" pitchFamily="34" charset="-122"/>
                <a:cs typeface="Segoe UI" pitchFamily="34" charset="-120"/>
              </a:rPr>
              <a:t>T</a:t>
            </a:r>
            <a:endParaRPr lang="en-US" sz="900" dirty="0"/>
          </a:p>
        </p:txBody>
      </p:sp>
      <p:sp>
        <p:nvSpPr>
          <p:cNvPr id="60" name="!!ivPt"/>
          <p:cNvSpPr/>
          <p:nvPr/>
        </p:nvSpPr>
        <p:spPr>
          <a:xfrm>
            <a:off x="11439144" y="1693039"/>
            <a:ext cx="164592" cy="164592"/>
          </a:xfrm>
          <a:prstGeom prst="ellipse">
            <a:avLst/>
          </a:prstGeom>
          <a:solidFill>
            <a:srgbClr val="2E9E4F"/>
          </a:solidFill>
          <a:ln w="19050">
            <a:solidFill>
              <a:srgbClr val="FFFFFF"/>
            </a:solidFill>
            <a:prstDash val="solid"/>
          </a:ln>
        </p:spPr>
      </p:sp>
      <p:sp>
        <p:nvSpPr>
          <p:cNvPr id="61" name="!!ivPtL"/>
          <p:cNvSpPr txBox="1"/>
          <p:nvPr/>
        </p:nvSpPr>
        <p:spPr>
          <a:xfrm>
            <a:off x="10652760" y="1446151"/>
            <a:ext cx="822960" cy="219456"/>
          </a:xfrm>
          <a:prstGeom prst="rect">
            <a:avLst/>
          </a:prstGeom>
          <a:noFill/>
          <a:ln/>
        </p:spPr>
        <p:txBody>
          <a:bodyPr wrap="square" lIns="0" tIns="0" rIns="0" bIns="0" rtlCol="0" anchor="t"/>
          <a:lstStyle/>
          <a:p>
            <a:pPr algn="r" indent="0" marL="0">
              <a:buNone/>
            </a:pPr>
            <a:r>
              <a:rPr lang="en-US" sz="1100" dirty="0">
                <a:solidFill>
                  <a:srgbClr val="2E9E4F"/>
                </a:solidFill>
                <a:latin typeface="Segoe UI Semibold" pitchFamily="34" charset="0"/>
                <a:ea typeface="Segoe UI Semibold" pitchFamily="34" charset="-122"/>
                <a:cs typeface="Segoe UI Semibold" pitchFamily="34" charset="-120"/>
              </a:rPr>
              <a:t>29.8 µA</a:t>
            </a:r>
            <a:endParaRPr lang="en-US" sz="1100" dirty="0"/>
          </a:p>
        </p:txBody>
      </p:sp>
      <p:sp>
        <p:nvSpPr>
          <p:cNvPr id="62" name="!!ivRead"/>
          <p:cNvSpPr txBox="1"/>
          <p:nvPr/>
        </p:nvSpPr>
        <p:spPr>
          <a:xfrm>
            <a:off x="6858000" y="4526280"/>
            <a:ext cx="4754880" cy="256032"/>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G</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0.70 V     I</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29.8 µA</a:t>
            </a:r>
            <a:endParaRPr lang="en-US" sz="1400" dirty="0"/>
          </a:p>
        </p:txBody>
      </p:sp>
      <p:sp>
        <p:nvSpPr>
          <p:cNvPr id="63" name="!!ivReg"/>
          <p:cNvSpPr txBox="1"/>
          <p:nvPr/>
        </p:nvSpPr>
        <p:spPr>
          <a:xfrm>
            <a:off x="6858000" y="4773168"/>
            <a:ext cx="4754880" cy="219456"/>
          </a:xfrm>
          <a:prstGeom prst="rect">
            <a:avLst/>
          </a:prstGeom>
          <a:noFill/>
          <a:ln/>
        </p:spPr>
        <p:txBody>
          <a:bodyPr wrap="square" lIns="0" tIns="0" rIns="0" bIns="0" rtlCol="0" anchor="t"/>
          <a:lstStyle/>
          <a:p>
            <a:pPr algn="l" indent="0" marL="0">
              <a:buNone/>
            </a:pPr>
            <a:r>
              <a:rPr lang="en-US" sz="1100" dirty="0">
                <a:solidFill>
                  <a:srgbClr val="2E9E4F"/>
                </a:solidFill>
                <a:latin typeface="Segoe UI Semibold" pitchFamily="34" charset="0"/>
                <a:ea typeface="Segoe UI Semibold" pitchFamily="34" charset="-122"/>
                <a:cs typeface="Segoe UI Semibold" pitchFamily="34" charset="-120"/>
              </a:rPr>
              <a:t>ON: full current I</a:t>
            </a:r>
            <a:pPr algn="l" indent="0" marL="0">
              <a:buNone/>
            </a:pPr>
            <a:r>
              <a:rPr lang="en-US" sz="1100" baseline="-40000" dirty="0">
                <a:solidFill>
                  <a:srgbClr val="2E9E4F"/>
                </a:solidFill>
                <a:latin typeface="Segoe UI Semibold" pitchFamily="34" charset="0"/>
                <a:ea typeface="Segoe UI Semibold" pitchFamily="34" charset="-122"/>
                <a:cs typeface="Segoe UI Semibold" pitchFamily="34" charset="-120"/>
              </a:rPr>
              <a:t>on</a:t>
            </a:r>
            <a:endParaRPr lang="en-US" sz="1100" dirty="0"/>
          </a:p>
        </p:txBody>
      </p:sp>
      <p:sp>
        <p:nvSpPr>
          <p:cNvPr id="64" name="!!knobLbl"/>
          <p:cNvSpPr txBox="1"/>
          <p:nvPr/>
        </p:nvSpPr>
        <p:spPr>
          <a:xfrm>
            <a:off x="7022592" y="5001768"/>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0.7 V</a:t>
            </a:r>
            <a:endParaRPr lang="en-US" sz="1200" dirty="0"/>
          </a:p>
        </p:txBody>
      </p:sp>
      <p:sp>
        <p:nvSpPr>
          <p:cNvPr id="65" name="!!knobTrack"/>
          <p:cNvSpPr/>
          <p:nvPr/>
        </p:nvSpPr>
        <p:spPr>
          <a:xfrm>
            <a:off x="7040880" y="5385816"/>
            <a:ext cx="4480560" cy="54864"/>
          </a:xfrm>
          <a:prstGeom prst="roundRect">
            <a:avLst>
              <a:gd name="adj" fmla="val 50000"/>
            </a:avLst>
          </a:prstGeom>
          <a:solidFill>
            <a:srgbClr val="E2E3E3"/>
          </a:solidFill>
          <a:ln/>
        </p:spPr>
      </p:sp>
      <p:sp>
        <p:nvSpPr>
          <p:cNvPr id="66" name="!!knobFill"/>
          <p:cNvSpPr/>
          <p:nvPr/>
        </p:nvSpPr>
        <p:spPr>
          <a:xfrm>
            <a:off x="7040880" y="5385816"/>
            <a:ext cx="4480560" cy="54864"/>
          </a:xfrm>
          <a:prstGeom prst="roundRect">
            <a:avLst>
              <a:gd name="adj" fmla="val 50000"/>
            </a:avLst>
          </a:prstGeom>
          <a:solidFill>
            <a:srgbClr val="6B5BC4"/>
          </a:solidFill>
          <a:ln/>
        </p:spPr>
      </p:sp>
      <p:sp>
        <p:nvSpPr>
          <p:cNvPr id="67" name="!!knobT0"/>
          <p:cNvSpPr txBox="1"/>
          <p:nvPr/>
        </p:nvSpPr>
        <p:spPr>
          <a:xfrm>
            <a:off x="667512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68" name="!!knobT1"/>
          <p:cNvSpPr txBox="1"/>
          <p:nvPr/>
        </p:nvSpPr>
        <p:spPr>
          <a:xfrm>
            <a:off x="79552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69" name="!!knobT2"/>
          <p:cNvSpPr txBox="1"/>
          <p:nvPr/>
        </p:nvSpPr>
        <p:spPr>
          <a:xfrm>
            <a:off x="923544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70" name="!!knobT3"/>
          <p:cNvSpPr txBox="1"/>
          <p:nvPr/>
        </p:nvSpPr>
        <p:spPr>
          <a:xfrm>
            <a:off x="1051560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71" name="!!knobT4"/>
          <p:cNvSpPr txBox="1"/>
          <p:nvPr/>
        </p:nvSpPr>
        <p:spPr>
          <a:xfrm>
            <a:off x="111556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72" name="!!knobThumb"/>
          <p:cNvSpPr/>
          <p:nvPr/>
        </p:nvSpPr>
        <p:spPr>
          <a:xfrm>
            <a:off x="11420856" y="5312664"/>
            <a:ext cx="201168" cy="201168"/>
          </a:xfrm>
          <a:prstGeom prst="ellipse">
            <a:avLst/>
          </a:prstGeom>
          <a:solidFill>
            <a:srgbClr val="FFFFFF"/>
          </a:solidFill>
          <a:ln w="28575">
            <a:solidFill>
              <a:srgbClr val="6B5BC4"/>
            </a:solidFill>
            <a:prstDash val="solid"/>
          </a:ln>
        </p:spPr>
      </p:sp>
      <p:sp>
        <p:nvSpPr>
          <p:cNvPr id="7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V</a:t>
            </a:r>
            <a:pPr algn="ctr" indent="0" marL="0">
              <a:buNone/>
            </a:pPr>
            <a:r>
              <a:rPr lang="en-US" sz="1600" baseline="-40000" dirty="0">
                <a:solidFill>
                  <a:srgbClr val="171A20"/>
                </a:solidFill>
                <a:latin typeface="Segoe UI" pitchFamily="34" charset="0"/>
                <a:ea typeface="Segoe UI" pitchFamily="34" charset="-122"/>
                <a:cs typeface="Segoe UI" pitchFamily="34" charset="-120"/>
              </a:rPr>
              <a:t>G</a:t>
            </a:r>
            <a:pPr algn="ctr" indent="0" marL="0">
              <a:buNone/>
            </a:pPr>
            <a:r>
              <a:rPr lang="en-US" sz="1600" dirty="0">
                <a:solidFill>
                  <a:srgbClr val="171A20"/>
                </a:solidFill>
                <a:latin typeface="Segoe UI" pitchFamily="34" charset="0"/>
                <a:ea typeface="Segoe UI" pitchFamily="34" charset="-122"/>
                <a:cs typeface="Segoe UI" pitchFamily="34" charset="-120"/>
              </a:rPr>
              <a:t> =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DD</a:t>
            </a:r>
            <a:pPr algn="ctr" indent="0" marL="0">
              <a:buNone/>
            </a:pPr>
            <a:r>
              <a:rPr lang="en-US" sz="1600" dirty="0">
                <a:solidFill>
                  <a:srgbClr val="171A20"/>
                </a:solidFill>
                <a:latin typeface="Segoe UI" pitchFamily="34" charset="0"/>
                <a:ea typeface="Segoe UI" pitchFamily="34" charset="-122"/>
                <a:cs typeface="Segoe UI" pitchFamily="34" charset="-120"/>
              </a:rPr>
              <a:t> = 0.7 V: thick channel, low hill, the full on-current I</a:t>
            </a:r>
            <a:pPr algn="ctr" indent="0" marL="0">
              <a:buNone/>
            </a:pPr>
            <a:r>
              <a:rPr lang="en-US" sz="1600" baseline="-40000" dirty="0">
                <a:solidFill>
                  <a:srgbClr val="171A20"/>
                </a:solidFill>
                <a:latin typeface="Segoe UI" pitchFamily="34" charset="0"/>
                <a:ea typeface="Segoe UI" pitchFamily="34" charset="-122"/>
                <a:cs typeface="Segoe UI" pitchFamily="34" charset="-120"/>
              </a:rPr>
              <a:t>on</a:t>
            </a:r>
            <a:pPr algn="ctr" indent="0" marL="0">
              <a:buNone/>
            </a:pPr>
            <a:r>
              <a:rPr lang="en-US" sz="1600" dirty="0">
                <a:solidFill>
                  <a:srgbClr val="171A20"/>
                </a:solidFill>
                <a:latin typeface="Segoe UI" pitchFamily="34" charset="0"/>
                <a:ea typeface="Segoe UI" pitchFamily="34" charset="-122"/>
                <a:cs typeface="Segoe UI" pitchFamily="34" charset="-120"/>
              </a:rPr>
              <a: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Reading the switch</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From the I</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curve we read the numbers that the rest of the project tracks</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E2E3E3"/>
          </a:solidFill>
          <a:ln/>
        </p:spPr>
      </p:sp>
      <p:sp>
        <p:nvSpPr>
          <p:cNvPr id="6" name="!!sdot2"/>
          <p:cNvSpPr/>
          <p:nvPr/>
        </p:nvSpPr>
        <p:spPr>
          <a:xfrm>
            <a:off x="11599164" y="525780"/>
            <a:ext cx="82296" cy="82296"/>
          </a:xfrm>
          <a:prstGeom prst="ellipse">
            <a:avLst/>
          </a:prstGeom>
          <a:solidFill>
            <a:srgbClr val="E2E3E3"/>
          </a:solidFill>
          <a:ln/>
        </p:spPr>
      </p:sp>
      <p:sp>
        <p:nvSpPr>
          <p:cNvPr id="7" name="!!axg0"/>
          <p:cNvSpPr/>
          <p:nvPr/>
        </p:nvSpPr>
        <p:spPr>
          <a:xfrm>
            <a:off x="1280160" y="4578531"/>
            <a:ext cx="4754880" cy="91"/>
          </a:xfrm>
          <a:prstGeom prst="line">
            <a:avLst/>
          </a:prstGeom>
          <a:noFill/>
          <a:ln w="9525">
            <a:solidFill>
              <a:srgbClr val="EDEEF0"/>
            </a:solidFill>
            <a:prstDash val="solid"/>
          </a:ln>
        </p:spPr>
      </p:sp>
      <p:sp>
        <p:nvSpPr>
          <p:cNvPr id="8" name="!!axg1"/>
          <p:cNvSpPr/>
          <p:nvPr/>
        </p:nvSpPr>
        <p:spPr>
          <a:xfrm>
            <a:off x="1280160" y="3585754"/>
            <a:ext cx="4754880" cy="91"/>
          </a:xfrm>
          <a:prstGeom prst="line">
            <a:avLst/>
          </a:prstGeom>
          <a:noFill/>
          <a:ln w="9525">
            <a:solidFill>
              <a:srgbClr val="EDEEF0"/>
            </a:solidFill>
            <a:prstDash val="solid"/>
          </a:ln>
        </p:spPr>
      </p:sp>
      <p:sp>
        <p:nvSpPr>
          <p:cNvPr id="9" name="!!axg2"/>
          <p:cNvSpPr/>
          <p:nvPr/>
        </p:nvSpPr>
        <p:spPr>
          <a:xfrm>
            <a:off x="1280160" y="2592977"/>
            <a:ext cx="4754880" cy="91"/>
          </a:xfrm>
          <a:prstGeom prst="line">
            <a:avLst/>
          </a:prstGeom>
          <a:noFill/>
          <a:ln w="9525">
            <a:solidFill>
              <a:srgbClr val="EDEEF0"/>
            </a:solidFill>
            <a:prstDash val="solid"/>
          </a:ln>
        </p:spPr>
      </p:sp>
      <p:sp>
        <p:nvSpPr>
          <p:cNvPr id="10" name="!!axg3"/>
          <p:cNvSpPr/>
          <p:nvPr/>
        </p:nvSpPr>
        <p:spPr>
          <a:xfrm>
            <a:off x="1280160" y="1600200"/>
            <a:ext cx="4754880" cy="91"/>
          </a:xfrm>
          <a:prstGeom prst="line">
            <a:avLst/>
          </a:prstGeom>
          <a:noFill/>
          <a:ln w="9525">
            <a:solidFill>
              <a:srgbClr val="EDEEF0"/>
            </a:solidFill>
            <a:prstDash val="solid"/>
          </a:ln>
        </p:spPr>
      </p:sp>
      <p:sp>
        <p:nvSpPr>
          <p:cNvPr id="11" name="!!axxa"/>
          <p:cNvSpPr/>
          <p:nvPr/>
        </p:nvSpPr>
        <p:spPr>
          <a:xfrm>
            <a:off x="1280160" y="5074920"/>
            <a:ext cx="4754880" cy="91"/>
          </a:xfrm>
          <a:prstGeom prst="line">
            <a:avLst/>
          </a:prstGeom>
          <a:noFill/>
          <a:ln w="12700">
            <a:solidFill>
              <a:srgbClr val="8A8D93"/>
            </a:solidFill>
            <a:prstDash val="solid"/>
          </a:ln>
        </p:spPr>
      </p:sp>
      <p:sp>
        <p:nvSpPr>
          <p:cNvPr id="12" name="!!axya"/>
          <p:cNvSpPr/>
          <p:nvPr/>
        </p:nvSpPr>
        <p:spPr>
          <a:xfrm>
            <a:off x="1280160" y="1600200"/>
            <a:ext cx="91" cy="3474720"/>
          </a:xfrm>
          <a:prstGeom prst="line">
            <a:avLst/>
          </a:prstGeom>
          <a:noFill/>
          <a:ln w="12700">
            <a:solidFill>
              <a:srgbClr val="8A8D93"/>
            </a:solidFill>
            <a:prstDash val="solid"/>
          </a:ln>
        </p:spPr>
      </p:sp>
      <p:sp>
        <p:nvSpPr>
          <p:cNvPr id="13" name="!!axxt0"/>
          <p:cNvSpPr txBox="1"/>
          <p:nvPr/>
        </p:nvSpPr>
        <p:spPr>
          <a:xfrm>
            <a:off x="96012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14" name="!!axxt1"/>
          <p:cNvSpPr txBox="1"/>
          <p:nvPr/>
        </p:nvSpPr>
        <p:spPr>
          <a:xfrm>
            <a:off x="1639389"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15" name="!!axxt2"/>
          <p:cNvSpPr txBox="1"/>
          <p:nvPr/>
        </p:nvSpPr>
        <p:spPr>
          <a:xfrm>
            <a:off x="2318657"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16" name="!!axxt3"/>
          <p:cNvSpPr txBox="1"/>
          <p:nvPr/>
        </p:nvSpPr>
        <p:spPr>
          <a:xfrm>
            <a:off x="2997926"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17" name="!!axxt4"/>
          <p:cNvSpPr txBox="1"/>
          <p:nvPr/>
        </p:nvSpPr>
        <p:spPr>
          <a:xfrm>
            <a:off x="3677194"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18" name="!!axxt5"/>
          <p:cNvSpPr txBox="1"/>
          <p:nvPr/>
        </p:nvSpPr>
        <p:spPr>
          <a:xfrm>
            <a:off x="4356463"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0.5</a:t>
            </a:r>
            <a:endParaRPr lang="en-US" sz="900" dirty="0"/>
          </a:p>
        </p:txBody>
      </p:sp>
      <p:sp>
        <p:nvSpPr>
          <p:cNvPr id="19" name="!!axxt6"/>
          <p:cNvSpPr txBox="1"/>
          <p:nvPr/>
        </p:nvSpPr>
        <p:spPr>
          <a:xfrm>
            <a:off x="5035731"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20" name="!!axxt7"/>
          <p:cNvSpPr txBox="1"/>
          <p:nvPr/>
        </p:nvSpPr>
        <p:spPr>
          <a:xfrm>
            <a:off x="571500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0.7</a:t>
            </a:r>
            <a:endParaRPr lang="en-US" sz="900" dirty="0"/>
          </a:p>
        </p:txBody>
      </p:sp>
      <p:sp>
        <p:nvSpPr>
          <p:cNvPr id="21" name="!!axyt0"/>
          <p:cNvSpPr txBox="1"/>
          <p:nvPr/>
        </p:nvSpPr>
        <p:spPr>
          <a:xfrm>
            <a:off x="594360" y="4477947"/>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22" name="!!axyt1"/>
          <p:cNvSpPr txBox="1"/>
          <p:nvPr/>
        </p:nvSpPr>
        <p:spPr>
          <a:xfrm>
            <a:off x="594360" y="348517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23" name="!!axyt2"/>
          <p:cNvSpPr txBox="1"/>
          <p:nvPr/>
        </p:nvSpPr>
        <p:spPr>
          <a:xfrm>
            <a:off x="594360" y="2492393"/>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24" name="!!axyt3"/>
          <p:cNvSpPr txBox="1"/>
          <p:nvPr/>
        </p:nvSpPr>
        <p:spPr>
          <a:xfrm>
            <a:off x="594360" y="14996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25" name="!!axxl"/>
          <p:cNvSpPr txBox="1"/>
          <p:nvPr/>
        </p:nvSpPr>
        <p:spPr>
          <a:xfrm>
            <a:off x="1280160" y="5349240"/>
            <a:ext cx="475488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26" name="!!axyl"/>
          <p:cNvSpPr txBox="1"/>
          <p:nvPr/>
        </p:nvSpPr>
        <p:spPr>
          <a:xfrm>
            <a:off x="109728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a:t>
            </a:r>
            <a:endParaRPr lang="en-US" sz="1100" dirty="0"/>
          </a:p>
        </p:txBody>
      </p:sp>
      <p:sp>
        <p:nvSpPr>
          <p:cNvPr id="27" name="!!rsHi"/>
          <p:cNvSpPr/>
          <p:nvPr/>
        </p:nvSpPr>
        <p:spPr>
          <a:xfrm>
            <a:off x="1280160" y="1861186"/>
            <a:ext cx="4754880" cy="2607714"/>
          </a:xfrm>
          <a:custGeom>
            <a:avLst/>
            <a:gdLst/>
            <a:ahLst/>
            <a:cxnLst/>
            <a:rect l="l" t="t" r="r" b="b"/>
            <a:pathLst>
              <a:path w="4754880" h="2607714">
                <a:moveTo>
                  <a:pt x="0" y="2607714"/>
                </a:moveTo>
                <a:lnTo>
                  <a:pt x="121920" y="2483518"/>
                </a:lnTo>
                <a:lnTo>
                  <a:pt x="243840" y="2359732"/>
                </a:lnTo>
                <a:lnTo>
                  <a:pt x="365760" y="2236490"/>
                </a:lnTo>
                <a:lnTo>
                  <a:pt x="487680" y="2113960"/>
                </a:lnTo>
                <a:lnTo>
                  <a:pt x="609600" y="1992364"/>
                </a:lnTo>
                <a:lnTo>
                  <a:pt x="731520" y="1871979"/>
                </a:lnTo>
                <a:lnTo>
                  <a:pt x="853440" y="1753152"/>
                </a:lnTo>
                <a:lnTo>
                  <a:pt x="975360" y="1636305"/>
                </a:lnTo>
                <a:lnTo>
                  <a:pt x="1097280" y="1521941"/>
                </a:lnTo>
                <a:lnTo>
                  <a:pt x="1219200" y="1410631"/>
                </a:lnTo>
                <a:lnTo>
                  <a:pt x="1341120" y="1302999"/>
                </a:lnTo>
                <a:lnTo>
                  <a:pt x="1463040" y="1199686"/>
                </a:lnTo>
                <a:lnTo>
                  <a:pt x="1584960" y="1101300"/>
                </a:lnTo>
                <a:lnTo>
                  <a:pt x="1706880" y="1008364"/>
                </a:lnTo>
                <a:lnTo>
                  <a:pt x="1828800" y="921263"/>
                </a:lnTo>
                <a:lnTo>
                  <a:pt x="1950720" y="840207"/>
                </a:lnTo>
                <a:lnTo>
                  <a:pt x="2072640" y="765222"/>
                </a:lnTo>
                <a:lnTo>
                  <a:pt x="2194560" y="696163"/>
                </a:lnTo>
                <a:lnTo>
                  <a:pt x="2316480" y="632745"/>
                </a:lnTo>
                <a:lnTo>
                  <a:pt x="2438400" y="574585"/>
                </a:lnTo>
                <a:lnTo>
                  <a:pt x="2560320" y="521248"/>
                </a:lnTo>
                <a:lnTo>
                  <a:pt x="2682240" y="472279"/>
                </a:lnTo>
                <a:lnTo>
                  <a:pt x="2804160" y="427230"/>
                </a:lnTo>
                <a:lnTo>
                  <a:pt x="2926080" y="385681"/>
                </a:lnTo>
                <a:lnTo>
                  <a:pt x="3048000" y="347245"/>
                </a:lnTo>
                <a:lnTo>
                  <a:pt x="3169920" y="311574"/>
                </a:lnTo>
                <a:lnTo>
                  <a:pt x="3291840" y="278359"/>
                </a:lnTo>
                <a:lnTo>
                  <a:pt x="3413760" y="247331"/>
                </a:lnTo>
                <a:lnTo>
                  <a:pt x="3535680" y="218252"/>
                </a:lnTo>
                <a:lnTo>
                  <a:pt x="3657600" y="190915"/>
                </a:lnTo>
                <a:lnTo>
                  <a:pt x="3779520" y="165142"/>
                </a:lnTo>
                <a:lnTo>
                  <a:pt x="3901440" y="140774"/>
                </a:lnTo>
                <a:lnTo>
                  <a:pt x="4023360" y="117676"/>
                </a:lnTo>
                <a:lnTo>
                  <a:pt x="4145280" y="95729"/>
                </a:lnTo>
                <a:lnTo>
                  <a:pt x="4267200" y="74827"/>
                </a:lnTo>
                <a:lnTo>
                  <a:pt x="4389120" y="54880"/>
                </a:lnTo>
                <a:lnTo>
                  <a:pt x="4511040" y="35806"/>
                </a:lnTo>
                <a:lnTo>
                  <a:pt x="4632960" y="17534"/>
                </a:lnTo>
                <a:lnTo>
                  <a:pt x="4754880" y="0"/>
                </a:lnTo>
              </a:path>
            </a:pathLst>
          </a:custGeom>
          <a:ln w="38100">
            <a:solidFill>
              <a:srgbClr val="3E6AE1"/>
            </a:solidFill>
            <a:prstDash val="solid"/>
          </a:ln>
        </p:spPr>
      </p:sp>
      <p:sp>
        <p:nvSpPr>
          <p:cNvPr id="28" name="!!rsHiL"/>
          <p:cNvSpPr txBox="1"/>
          <p:nvPr/>
        </p:nvSpPr>
        <p:spPr>
          <a:xfrm>
            <a:off x="3725527" y="2048550"/>
            <a:ext cx="1097280" cy="201168"/>
          </a:xfrm>
          <a:prstGeom prst="rect">
            <a:avLst/>
          </a:prstGeom>
          <a:noFill/>
          <a:ln/>
        </p:spPr>
        <p:txBody>
          <a:bodyPr wrap="square" lIns="0" tIns="0" rIns="0" bIns="0" rtlCol="0" anchor="t"/>
          <a:lstStyle/>
          <a:p>
            <a:pPr algn="l" indent="0" marL="0">
              <a:buNone/>
            </a:pPr>
            <a:r>
              <a:rPr lang="en-US" sz="1000" dirty="0">
                <a:solidFill>
                  <a:srgbClr val="3E6AE1"/>
                </a:solidFill>
                <a:latin typeface="Segoe UI Semibold" pitchFamily="34" charset="0"/>
                <a:ea typeface="Segoe UI Semibold" pitchFamily="34" charset="-122"/>
                <a:cs typeface="Segoe UI Semibold" pitchFamily="34" charset="-120"/>
              </a:rPr>
              <a:t>V</a:t>
            </a:r>
            <a:pPr algn="l" indent="0" marL="0">
              <a:buNone/>
            </a:pPr>
            <a:r>
              <a:rPr lang="en-US" sz="1000" baseline="-40000" dirty="0">
                <a:solidFill>
                  <a:srgbClr val="3E6AE1"/>
                </a:solidFill>
                <a:latin typeface="Segoe UI Semibold" pitchFamily="34" charset="0"/>
                <a:ea typeface="Segoe UI Semibold" pitchFamily="34" charset="-122"/>
                <a:cs typeface="Segoe UI Semibold" pitchFamily="34" charset="-120"/>
              </a:rPr>
              <a:t>D</a:t>
            </a:r>
            <a:pPr algn="l" indent="0" marL="0">
              <a:buNone/>
            </a:pPr>
            <a:r>
              <a:rPr lang="en-US" sz="1000" dirty="0">
                <a:solidFill>
                  <a:srgbClr val="3E6AE1"/>
                </a:solidFill>
                <a:latin typeface="Segoe UI Semibold" pitchFamily="34" charset="0"/>
                <a:ea typeface="Segoe UI Semibold" pitchFamily="34" charset="-122"/>
                <a:cs typeface="Segoe UI Semibold" pitchFamily="34" charset="-120"/>
              </a:rPr>
              <a:t> = 0.7 V</a:t>
            </a:r>
            <a:endParaRPr lang="en-US" sz="1000" dirty="0"/>
          </a:p>
        </p:txBody>
      </p:sp>
      <p:sp>
        <p:nvSpPr>
          <p:cNvPr id="29" name="!!rsOff"/>
          <p:cNvSpPr/>
          <p:nvPr/>
        </p:nvSpPr>
        <p:spPr>
          <a:xfrm>
            <a:off x="1197864" y="4386604"/>
            <a:ext cx="164592" cy="164592"/>
          </a:xfrm>
          <a:prstGeom prst="ellipse">
            <a:avLst/>
          </a:prstGeom>
          <a:solidFill>
            <a:srgbClr val="D64545"/>
          </a:solidFill>
          <a:ln/>
        </p:spPr>
      </p:sp>
      <p:sp>
        <p:nvSpPr>
          <p:cNvPr id="30" name="!!rsOffL"/>
          <p:cNvSpPr txBox="1"/>
          <p:nvPr/>
        </p:nvSpPr>
        <p:spPr>
          <a:xfrm>
            <a:off x="1408176" y="4450612"/>
            <a:ext cx="731520" cy="219456"/>
          </a:xfrm>
          <a:prstGeom prst="rect">
            <a:avLst/>
          </a:prstGeom>
          <a:noFill/>
          <a:ln/>
        </p:spPr>
        <p:txBody>
          <a:bodyPr wrap="square" lIns="0" tIns="0" rIns="0" bIns="0" rtlCol="0" anchor="t"/>
          <a:lstStyle/>
          <a:p>
            <a:pPr algn="l" indent="0" marL="0">
              <a:buNone/>
            </a:pPr>
            <a:r>
              <a:rPr lang="en-US" sz="1100" dirty="0">
                <a:solidFill>
                  <a:srgbClr val="D64545"/>
                </a:solidFill>
                <a:latin typeface="Segoe UI Semibold" pitchFamily="34" charset="0"/>
                <a:ea typeface="Segoe UI Semibold" pitchFamily="34" charset="-122"/>
                <a:cs typeface="Segoe UI Semibold" pitchFamily="34" charset="-120"/>
              </a:rPr>
              <a:t>I</a:t>
            </a:r>
            <a:pPr algn="l" indent="0" marL="0">
              <a:buNone/>
            </a:pPr>
            <a:r>
              <a:rPr lang="en-US" sz="1100" baseline="-40000" dirty="0">
                <a:solidFill>
                  <a:srgbClr val="D64545"/>
                </a:solidFill>
                <a:latin typeface="Segoe UI Semibold" pitchFamily="34" charset="0"/>
                <a:ea typeface="Segoe UI Semibold" pitchFamily="34" charset="-122"/>
                <a:cs typeface="Segoe UI Semibold" pitchFamily="34" charset="-120"/>
              </a:rPr>
              <a:t>off</a:t>
            </a:r>
            <a:endParaRPr lang="en-US" sz="1100" dirty="0"/>
          </a:p>
        </p:txBody>
      </p:sp>
      <p:sp>
        <p:nvSpPr>
          <p:cNvPr id="31" name="!!rsOn"/>
          <p:cNvSpPr/>
          <p:nvPr/>
        </p:nvSpPr>
        <p:spPr>
          <a:xfrm>
            <a:off x="5952744" y="1778890"/>
            <a:ext cx="164592" cy="164592"/>
          </a:xfrm>
          <a:prstGeom prst="ellipse">
            <a:avLst/>
          </a:prstGeom>
          <a:solidFill>
            <a:srgbClr val="2E9E4F"/>
          </a:solidFill>
          <a:ln/>
        </p:spPr>
      </p:sp>
      <p:sp>
        <p:nvSpPr>
          <p:cNvPr id="32" name="!!rsOnL"/>
          <p:cNvSpPr txBox="1"/>
          <p:nvPr/>
        </p:nvSpPr>
        <p:spPr>
          <a:xfrm>
            <a:off x="5394960" y="1916050"/>
            <a:ext cx="548640" cy="219456"/>
          </a:xfrm>
          <a:prstGeom prst="rect">
            <a:avLst/>
          </a:prstGeom>
          <a:noFill/>
          <a:ln/>
        </p:spPr>
        <p:txBody>
          <a:bodyPr wrap="square" lIns="0" tIns="0" rIns="0" bIns="0" rtlCol="0" anchor="t"/>
          <a:lstStyle/>
          <a:p>
            <a:pPr algn="r" indent="0" marL="0">
              <a:buNone/>
            </a:pPr>
            <a:r>
              <a:rPr lang="en-US" sz="1100" dirty="0">
                <a:solidFill>
                  <a:srgbClr val="2E9E4F"/>
                </a:solidFill>
                <a:latin typeface="Segoe UI Semibold" pitchFamily="34" charset="0"/>
                <a:ea typeface="Segoe UI Semibold" pitchFamily="34" charset="-122"/>
                <a:cs typeface="Segoe UI Semibold" pitchFamily="34" charset="-120"/>
              </a:rPr>
              <a:t>I</a:t>
            </a:r>
            <a:pPr algn="r" indent="0" marL="0">
              <a:buNone/>
            </a:pPr>
            <a:r>
              <a:rPr lang="en-US" sz="1100" baseline="-40000" dirty="0">
                <a:solidFill>
                  <a:srgbClr val="2E9E4F"/>
                </a:solidFill>
                <a:latin typeface="Segoe UI Semibold" pitchFamily="34" charset="0"/>
                <a:ea typeface="Segoe UI Semibold" pitchFamily="34" charset="-122"/>
                <a:cs typeface="Segoe UI Semibold" pitchFamily="34" charset="-120"/>
              </a:rPr>
              <a:t>on</a:t>
            </a:r>
            <a:endParaRPr lang="en-US" sz="1100" dirty="0"/>
          </a:p>
        </p:txBody>
      </p:sp>
      <p:sp>
        <p:nvSpPr>
          <p:cNvPr id="33" name="!!rsH1"/>
          <p:cNvSpPr txBox="1"/>
          <p:nvPr/>
        </p:nvSpPr>
        <p:spPr>
          <a:xfrm>
            <a:off x="6858000" y="1554480"/>
            <a:ext cx="109728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Metric</a:t>
            </a:r>
            <a:endParaRPr lang="en-US" sz="1100" dirty="0"/>
          </a:p>
        </p:txBody>
      </p:sp>
      <p:sp>
        <p:nvSpPr>
          <p:cNvPr id="34" name="!!rsH2"/>
          <p:cNvSpPr txBox="1"/>
          <p:nvPr/>
        </p:nvSpPr>
        <p:spPr>
          <a:xfrm>
            <a:off x="7955280" y="1554480"/>
            <a:ext cx="237744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What it tells</a:t>
            </a:r>
            <a:endParaRPr lang="en-US" sz="1100" dirty="0"/>
          </a:p>
        </p:txBody>
      </p:sp>
      <p:sp>
        <p:nvSpPr>
          <p:cNvPr id="35" name="!!rsH3"/>
          <p:cNvSpPr txBox="1"/>
          <p:nvPr/>
        </p:nvSpPr>
        <p:spPr>
          <a:xfrm>
            <a:off x="10424160" y="1554480"/>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Good is</a:t>
            </a:r>
            <a:endParaRPr lang="en-US" sz="1100" dirty="0"/>
          </a:p>
        </p:txBody>
      </p:sp>
      <p:sp>
        <p:nvSpPr>
          <p:cNvPr id="36" name="!!rsR0"/>
          <p:cNvSpPr/>
          <p:nvPr/>
        </p:nvSpPr>
        <p:spPr>
          <a:xfrm>
            <a:off x="6766560" y="1874520"/>
            <a:ext cx="4873752" cy="548640"/>
          </a:xfrm>
          <a:prstGeom prst="roundRect">
            <a:avLst>
              <a:gd name="adj" fmla="val 10000"/>
            </a:avLst>
          </a:prstGeom>
          <a:solidFill>
            <a:srgbClr val="F4F5F7"/>
          </a:solidFill>
          <a:ln/>
        </p:spPr>
      </p:sp>
      <p:sp>
        <p:nvSpPr>
          <p:cNvPr id="37" name="!!rsM0"/>
          <p:cNvSpPr txBox="1"/>
          <p:nvPr/>
        </p:nvSpPr>
        <p:spPr>
          <a:xfrm>
            <a:off x="6903720" y="1993392"/>
            <a:ext cx="1005840" cy="310896"/>
          </a:xfrm>
          <a:prstGeom prst="rect">
            <a:avLst/>
          </a:prstGeom>
          <a:noFill/>
          <a:ln/>
        </p:spPr>
        <p:txBody>
          <a:bodyPr wrap="square" lIns="0" tIns="0" rIns="0" bIns="0" rtlCol="0" anchor="ctr"/>
          <a:lstStyle/>
          <a:p>
            <a:pPr algn="l" indent="0" marL="0">
              <a:buNone/>
            </a:pPr>
            <a:r>
              <a:rPr lang="en-US" sz="1600" dirty="0">
                <a:solidFill>
                  <a:srgbClr val="2E9E4F"/>
                </a:solidFill>
                <a:latin typeface="Segoe UI Semibold" pitchFamily="34" charset="0"/>
                <a:ea typeface="Segoe UI Semibold" pitchFamily="34" charset="-122"/>
                <a:cs typeface="Segoe UI Semibold" pitchFamily="34" charset="-120"/>
              </a:rPr>
              <a:t>I</a:t>
            </a:r>
            <a:pPr algn="l" indent="0" marL="0">
              <a:buNone/>
            </a:pPr>
            <a:r>
              <a:rPr lang="en-US" sz="1600" baseline="-40000" dirty="0">
                <a:solidFill>
                  <a:srgbClr val="2E9E4F"/>
                </a:solidFill>
                <a:latin typeface="Segoe UI Semibold" pitchFamily="34" charset="0"/>
                <a:ea typeface="Segoe UI Semibold" pitchFamily="34" charset="-122"/>
                <a:cs typeface="Segoe UI Semibold" pitchFamily="34" charset="-120"/>
              </a:rPr>
              <a:t>on</a:t>
            </a:r>
            <a:endParaRPr lang="en-US" sz="1600" dirty="0"/>
          </a:p>
        </p:txBody>
      </p:sp>
      <p:sp>
        <p:nvSpPr>
          <p:cNvPr id="38" name="!!rsT0"/>
          <p:cNvSpPr txBox="1"/>
          <p:nvPr/>
        </p:nvSpPr>
        <p:spPr>
          <a:xfrm>
            <a:off x="7955280" y="1993392"/>
            <a:ext cx="242316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pitchFamily="34" charset="0"/>
                <a:ea typeface="Segoe UI" pitchFamily="34" charset="-122"/>
                <a:cs typeface="Segoe UI" pitchFamily="34" charset="-120"/>
              </a:rPr>
              <a:t>current when on: speed</a:t>
            </a:r>
            <a:endParaRPr lang="en-US" sz="1200" dirty="0"/>
          </a:p>
        </p:txBody>
      </p:sp>
      <p:sp>
        <p:nvSpPr>
          <p:cNvPr id="39" name="!!rsG0"/>
          <p:cNvSpPr txBox="1"/>
          <p:nvPr/>
        </p:nvSpPr>
        <p:spPr>
          <a:xfrm>
            <a:off x="10424160" y="1993392"/>
            <a:ext cx="114300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Semibold" pitchFamily="34" charset="0"/>
                <a:ea typeface="Segoe UI Semibold" pitchFamily="34" charset="-122"/>
                <a:cs typeface="Segoe UI Semibold" pitchFamily="34" charset="-120"/>
              </a:rPr>
              <a:t>large</a:t>
            </a:r>
            <a:endParaRPr lang="en-US" sz="1200" dirty="0"/>
          </a:p>
        </p:txBody>
      </p:sp>
      <p:sp>
        <p:nvSpPr>
          <p:cNvPr id="40" name="!!rsR1"/>
          <p:cNvSpPr/>
          <p:nvPr/>
        </p:nvSpPr>
        <p:spPr>
          <a:xfrm>
            <a:off x="6766560" y="2532888"/>
            <a:ext cx="4873752" cy="548640"/>
          </a:xfrm>
          <a:prstGeom prst="roundRect">
            <a:avLst>
              <a:gd name="adj" fmla="val 10000"/>
            </a:avLst>
          </a:prstGeom>
          <a:solidFill>
            <a:srgbClr val="F4F5F7"/>
          </a:solidFill>
          <a:ln/>
        </p:spPr>
      </p:sp>
      <p:sp>
        <p:nvSpPr>
          <p:cNvPr id="41" name="!!rsM1"/>
          <p:cNvSpPr txBox="1"/>
          <p:nvPr/>
        </p:nvSpPr>
        <p:spPr>
          <a:xfrm>
            <a:off x="6903720" y="2651760"/>
            <a:ext cx="1005840" cy="310896"/>
          </a:xfrm>
          <a:prstGeom prst="rect">
            <a:avLst/>
          </a:prstGeom>
          <a:noFill/>
          <a:ln/>
        </p:spPr>
        <p:txBody>
          <a:bodyPr wrap="square" lIns="0" tIns="0" rIns="0" bIns="0" rtlCol="0" anchor="ctr"/>
          <a:lstStyle/>
          <a:p>
            <a:pPr algn="l" indent="0" marL="0">
              <a:buNone/>
            </a:pPr>
            <a:r>
              <a:rPr lang="en-US" sz="1600" dirty="0">
                <a:solidFill>
                  <a:srgbClr val="D64545"/>
                </a:solidFill>
                <a:latin typeface="Segoe UI Semibold" pitchFamily="34" charset="0"/>
                <a:ea typeface="Segoe UI Semibold" pitchFamily="34" charset="-122"/>
                <a:cs typeface="Segoe UI Semibold" pitchFamily="34" charset="-120"/>
              </a:rPr>
              <a:t>I</a:t>
            </a:r>
            <a:pPr algn="l" indent="0" marL="0">
              <a:buNone/>
            </a:pPr>
            <a:r>
              <a:rPr lang="en-US" sz="1600" baseline="-40000" dirty="0">
                <a:solidFill>
                  <a:srgbClr val="D64545"/>
                </a:solidFill>
                <a:latin typeface="Segoe UI Semibold" pitchFamily="34" charset="0"/>
                <a:ea typeface="Segoe UI Semibold" pitchFamily="34" charset="-122"/>
                <a:cs typeface="Segoe UI Semibold" pitchFamily="34" charset="-120"/>
              </a:rPr>
              <a:t>off</a:t>
            </a:r>
            <a:endParaRPr lang="en-US" sz="1600" dirty="0"/>
          </a:p>
        </p:txBody>
      </p:sp>
      <p:sp>
        <p:nvSpPr>
          <p:cNvPr id="42" name="!!rsT1"/>
          <p:cNvSpPr txBox="1"/>
          <p:nvPr/>
        </p:nvSpPr>
        <p:spPr>
          <a:xfrm>
            <a:off x="7955280" y="2651760"/>
            <a:ext cx="242316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pitchFamily="34" charset="0"/>
                <a:ea typeface="Segoe UI" pitchFamily="34" charset="-122"/>
                <a:cs typeface="Segoe UI" pitchFamily="34" charset="-120"/>
              </a:rPr>
              <a:t>leakage when off: standby power</a:t>
            </a:r>
            <a:endParaRPr lang="en-US" sz="1200" dirty="0"/>
          </a:p>
        </p:txBody>
      </p:sp>
      <p:sp>
        <p:nvSpPr>
          <p:cNvPr id="43" name="!!rsG1"/>
          <p:cNvSpPr txBox="1"/>
          <p:nvPr/>
        </p:nvSpPr>
        <p:spPr>
          <a:xfrm>
            <a:off x="10424160" y="2651760"/>
            <a:ext cx="114300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Semibold" pitchFamily="34" charset="0"/>
                <a:ea typeface="Segoe UI Semibold" pitchFamily="34" charset="-122"/>
                <a:cs typeface="Segoe UI Semibold" pitchFamily="34" charset="-120"/>
              </a:rPr>
              <a:t>small</a:t>
            </a:r>
            <a:endParaRPr lang="en-US" sz="1200" dirty="0"/>
          </a:p>
        </p:txBody>
      </p:sp>
      <p:sp>
        <p:nvSpPr>
          <p:cNvPr id="44" name="!!rsR2"/>
          <p:cNvSpPr/>
          <p:nvPr/>
        </p:nvSpPr>
        <p:spPr>
          <a:xfrm>
            <a:off x="6766560" y="3191256"/>
            <a:ext cx="4873752" cy="548640"/>
          </a:xfrm>
          <a:prstGeom prst="roundRect">
            <a:avLst>
              <a:gd name="adj" fmla="val 10000"/>
            </a:avLst>
          </a:prstGeom>
          <a:solidFill>
            <a:srgbClr val="FAFAFB"/>
          </a:solidFill>
          <a:ln/>
        </p:spPr>
      </p:sp>
      <p:sp>
        <p:nvSpPr>
          <p:cNvPr id="45" name="!!rsM2"/>
          <p:cNvSpPr txBox="1"/>
          <p:nvPr/>
        </p:nvSpPr>
        <p:spPr>
          <a:xfrm>
            <a:off x="6903720" y="3310128"/>
            <a:ext cx="1005840" cy="310896"/>
          </a:xfrm>
          <a:prstGeom prst="rect">
            <a:avLst/>
          </a:prstGeom>
          <a:noFill/>
          <a:ln/>
        </p:spPr>
        <p:txBody>
          <a:bodyPr wrap="square" lIns="0" tIns="0" rIns="0" bIns="0" rtlCol="0" anchor="ctr"/>
          <a:lstStyle/>
          <a:p>
            <a:pPr algn="l" indent="0" marL="0">
              <a:buNone/>
            </a:pPr>
            <a:r>
              <a:rPr lang="en-US" sz="1600" dirty="0">
                <a:solidFill>
                  <a:srgbClr val="C9CCD3"/>
                </a:solidFill>
                <a:latin typeface="Segoe UI Semibold" pitchFamily="34" charset="0"/>
                <a:ea typeface="Segoe UI Semibold" pitchFamily="34" charset="-122"/>
                <a:cs typeface="Segoe UI Semibold" pitchFamily="34" charset="-120"/>
              </a:rPr>
              <a:t>V</a:t>
            </a:r>
            <a:pPr algn="l" indent="0" marL="0">
              <a:buNone/>
            </a:pPr>
            <a:r>
              <a:rPr lang="en-US" sz="1600" baseline="-40000" dirty="0">
                <a:solidFill>
                  <a:srgbClr val="C9CCD3"/>
                </a:solidFill>
                <a:latin typeface="Segoe UI Semibold" pitchFamily="34" charset="0"/>
                <a:ea typeface="Segoe UI Semibold" pitchFamily="34" charset="-122"/>
                <a:cs typeface="Segoe UI Semibold" pitchFamily="34" charset="-120"/>
              </a:rPr>
              <a:t>T</a:t>
            </a:r>
            <a:endParaRPr lang="en-US" sz="1600" dirty="0"/>
          </a:p>
        </p:txBody>
      </p:sp>
      <p:sp>
        <p:nvSpPr>
          <p:cNvPr id="46" name="!!rsT2"/>
          <p:cNvSpPr txBox="1"/>
          <p:nvPr/>
        </p:nvSpPr>
        <p:spPr>
          <a:xfrm>
            <a:off x="7955280" y="3310128"/>
            <a:ext cx="2423160" cy="310896"/>
          </a:xfrm>
          <a:prstGeom prst="rect">
            <a:avLst/>
          </a:prstGeom>
          <a:noFill/>
          <a:ln/>
        </p:spPr>
        <p:txBody>
          <a:bodyPr wrap="square" lIns="0" tIns="0" rIns="0" bIns="0" rtlCol="0" anchor="ctr"/>
          <a:lstStyle/>
          <a:p>
            <a:pPr algn="l" indent="0" marL="0">
              <a:buNone/>
            </a:pPr>
            <a:r>
              <a:rPr lang="en-US" sz="1200" dirty="0">
                <a:solidFill>
                  <a:srgbClr val="C9CCD3"/>
                </a:solidFill>
                <a:latin typeface="Segoe UI" pitchFamily="34" charset="0"/>
                <a:ea typeface="Segoe UI" pitchFamily="34" charset="-122"/>
                <a:cs typeface="Segoe UI" pitchFamily="34" charset="-120"/>
              </a:rPr>
              <a:t>gate voltage where it turns on</a:t>
            </a:r>
            <a:endParaRPr lang="en-US" sz="1200" dirty="0"/>
          </a:p>
        </p:txBody>
      </p:sp>
      <p:sp>
        <p:nvSpPr>
          <p:cNvPr id="47" name="!!rsG2"/>
          <p:cNvSpPr txBox="1"/>
          <p:nvPr/>
        </p:nvSpPr>
        <p:spPr>
          <a:xfrm>
            <a:off x="10424160" y="3310128"/>
            <a:ext cx="1143000" cy="310896"/>
          </a:xfrm>
          <a:prstGeom prst="rect">
            <a:avLst/>
          </a:prstGeom>
          <a:noFill/>
          <a:ln/>
        </p:spPr>
        <p:txBody>
          <a:bodyPr wrap="square" lIns="0" tIns="0" rIns="0" bIns="0" rtlCol="0" anchor="ctr"/>
          <a:lstStyle/>
          <a:p>
            <a:pPr algn="l" indent="0" marL="0">
              <a:buNone/>
            </a:pPr>
            <a:r>
              <a:rPr lang="en-US" sz="1200" dirty="0">
                <a:solidFill>
                  <a:srgbClr val="C9CCD3"/>
                </a:solidFill>
                <a:latin typeface="Segoe UI Semibold" pitchFamily="34" charset="0"/>
                <a:ea typeface="Segoe UI Semibold" pitchFamily="34" charset="-122"/>
                <a:cs typeface="Segoe UI Semibold" pitchFamily="34" charset="-120"/>
              </a:rPr>
              <a:t>set by design</a:t>
            </a:r>
            <a:endParaRPr lang="en-US" sz="1200" dirty="0"/>
          </a:p>
        </p:txBody>
      </p:sp>
      <p:sp>
        <p:nvSpPr>
          <p:cNvPr id="48" name="!!rsR3"/>
          <p:cNvSpPr/>
          <p:nvPr/>
        </p:nvSpPr>
        <p:spPr>
          <a:xfrm>
            <a:off x="6766560" y="3849624"/>
            <a:ext cx="4873752" cy="548640"/>
          </a:xfrm>
          <a:prstGeom prst="roundRect">
            <a:avLst>
              <a:gd name="adj" fmla="val 10000"/>
            </a:avLst>
          </a:prstGeom>
          <a:solidFill>
            <a:srgbClr val="FAFAFB"/>
          </a:solidFill>
          <a:ln/>
        </p:spPr>
      </p:sp>
      <p:sp>
        <p:nvSpPr>
          <p:cNvPr id="49" name="!!rsM3"/>
          <p:cNvSpPr txBox="1"/>
          <p:nvPr/>
        </p:nvSpPr>
        <p:spPr>
          <a:xfrm>
            <a:off x="6903720" y="3968496"/>
            <a:ext cx="1005840" cy="310896"/>
          </a:xfrm>
          <a:prstGeom prst="rect">
            <a:avLst/>
          </a:prstGeom>
          <a:noFill/>
          <a:ln/>
        </p:spPr>
        <p:txBody>
          <a:bodyPr wrap="square" lIns="0" tIns="0" rIns="0" bIns="0" rtlCol="0" anchor="ctr"/>
          <a:lstStyle/>
          <a:p>
            <a:pPr algn="l" indent="0" marL="0">
              <a:buNone/>
            </a:pPr>
            <a:r>
              <a:rPr lang="en-US" sz="1600" dirty="0">
                <a:solidFill>
                  <a:srgbClr val="C9CCD3"/>
                </a:solidFill>
                <a:latin typeface="Segoe UI Semibold" pitchFamily="34" charset="0"/>
                <a:ea typeface="Segoe UI Semibold" pitchFamily="34" charset="-122"/>
                <a:cs typeface="Segoe UI Semibold" pitchFamily="34" charset="-120"/>
              </a:rPr>
              <a:t>SS</a:t>
            </a:r>
            <a:endParaRPr lang="en-US" sz="1600" dirty="0"/>
          </a:p>
        </p:txBody>
      </p:sp>
      <p:sp>
        <p:nvSpPr>
          <p:cNvPr id="50" name="!!rsT3"/>
          <p:cNvSpPr txBox="1"/>
          <p:nvPr/>
        </p:nvSpPr>
        <p:spPr>
          <a:xfrm>
            <a:off x="7955280" y="3968496"/>
            <a:ext cx="2423160" cy="310896"/>
          </a:xfrm>
          <a:prstGeom prst="rect">
            <a:avLst/>
          </a:prstGeom>
          <a:noFill/>
          <a:ln/>
        </p:spPr>
        <p:txBody>
          <a:bodyPr wrap="square" lIns="0" tIns="0" rIns="0" bIns="0" rtlCol="0" anchor="ctr"/>
          <a:lstStyle/>
          <a:p>
            <a:pPr algn="l" indent="0" marL="0">
              <a:buNone/>
            </a:pPr>
            <a:r>
              <a:rPr lang="en-US" sz="1200" dirty="0">
                <a:solidFill>
                  <a:srgbClr val="C9CCD3"/>
                </a:solidFill>
                <a:latin typeface="Segoe UI" pitchFamily="34" charset="0"/>
                <a:ea typeface="Segoe UI" pitchFamily="34" charset="-122"/>
                <a:cs typeface="Segoe UI" pitchFamily="34" charset="-120"/>
              </a:rPr>
              <a:t>mV of V</a:t>
            </a:r>
            <a:pPr algn="l" indent="0" marL="0">
              <a:buNone/>
            </a:pPr>
            <a:r>
              <a:rPr lang="en-US" sz="1200" baseline="-40000" dirty="0">
                <a:solidFill>
                  <a:srgbClr val="C9CCD3"/>
                </a:solidFill>
                <a:latin typeface="Segoe UI" pitchFamily="34" charset="0"/>
                <a:ea typeface="Segoe UI" pitchFamily="34" charset="-122"/>
                <a:cs typeface="Segoe UI" pitchFamily="34" charset="-120"/>
              </a:rPr>
              <a:t>G</a:t>
            </a:r>
            <a:pPr algn="l" indent="0" marL="0">
              <a:buNone/>
            </a:pPr>
            <a:r>
              <a:rPr lang="en-US" sz="1200" dirty="0">
                <a:solidFill>
                  <a:srgbClr val="C9CCD3"/>
                </a:solidFill>
                <a:latin typeface="Segoe UI" pitchFamily="34" charset="0"/>
                <a:ea typeface="Segoe UI" pitchFamily="34" charset="-122"/>
                <a:cs typeface="Segoe UI" pitchFamily="34" charset="-120"/>
              </a:rPr>
              <a:t> for 10× current</a:t>
            </a:r>
            <a:endParaRPr lang="en-US" sz="1200" dirty="0"/>
          </a:p>
        </p:txBody>
      </p:sp>
      <p:sp>
        <p:nvSpPr>
          <p:cNvPr id="51" name="!!rsG3"/>
          <p:cNvSpPr txBox="1"/>
          <p:nvPr/>
        </p:nvSpPr>
        <p:spPr>
          <a:xfrm>
            <a:off x="10424160" y="3968496"/>
            <a:ext cx="1143000" cy="310896"/>
          </a:xfrm>
          <a:prstGeom prst="rect">
            <a:avLst/>
          </a:prstGeom>
          <a:noFill/>
          <a:ln/>
        </p:spPr>
        <p:txBody>
          <a:bodyPr wrap="square" lIns="0" tIns="0" rIns="0" bIns="0" rtlCol="0" anchor="ctr"/>
          <a:lstStyle/>
          <a:p>
            <a:pPr algn="l" indent="0" marL="0">
              <a:buNone/>
            </a:pPr>
            <a:r>
              <a:rPr lang="en-US" sz="1200" dirty="0">
                <a:solidFill>
                  <a:srgbClr val="C9CCD3"/>
                </a:solidFill>
                <a:latin typeface="Segoe UI Semibold" pitchFamily="34" charset="0"/>
                <a:ea typeface="Segoe UI Semibold" pitchFamily="34" charset="-122"/>
                <a:cs typeface="Segoe UI Semibold" pitchFamily="34" charset="-120"/>
              </a:rPr>
              <a:t>→ 60 mV/dec</a:t>
            </a:r>
            <a:endParaRPr lang="en-US" sz="1200" dirty="0"/>
          </a:p>
        </p:txBody>
      </p:sp>
      <p:sp>
        <p:nvSpPr>
          <p:cNvPr id="52" name="!!rsR4"/>
          <p:cNvSpPr/>
          <p:nvPr/>
        </p:nvSpPr>
        <p:spPr>
          <a:xfrm>
            <a:off x="6766560" y="4507992"/>
            <a:ext cx="4873752" cy="548640"/>
          </a:xfrm>
          <a:prstGeom prst="roundRect">
            <a:avLst>
              <a:gd name="adj" fmla="val 10000"/>
            </a:avLst>
          </a:prstGeom>
          <a:solidFill>
            <a:srgbClr val="FAFAFB"/>
          </a:solidFill>
          <a:ln/>
        </p:spPr>
      </p:sp>
      <p:sp>
        <p:nvSpPr>
          <p:cNvPr id="53" name="!!rsM4"/>
          <p:cNvSpPr txBox="1"/>
          <p:nvPr/>
        </p:nvSpPr>
        <p:spPr>
          <a:xfrm>
            <a:off x="6903720" y="4626864"/>
            <a:ext cx="1005840" cy="310896"/>
          </a:xfrm>
          <a:prstGeom prst="rect">
            <a:avLst/>
          </a:prstGeom>
          <a:noFill/>
          <a:ln/>
        </p:spPr>
        <p:txBody>
          <a:bodyPr wrap="square" lIns="0" tIns="0" rIns="0" bIns="0" rtlCol="0" anchor="ctr"/>
          <a:lstStyle/>
          <a:p>
            <a:pPr algn="l" indent="0" marL="0">
              <a:buNone/>
            </a:pPr>
            <a:r>
              <a:rPr lang="en-US" sz="1600" dirty="0">
                <a:solidFill>
                  <a:srgbClr val="C9CCD3"/>
                </a:solidFill>
                <a:latin typeface="Segoe UI Semibold" pitchFamily="34" charset="0"/>
                <a:ea typeface="Segoe UI Semibold" pitchFamily="34" charset="-122"/>
                <a:cs typeface="Segoe UI Semibold" pitchFamily="34" charset="-120"/>
              </a:rPr>
              <a:t>DIBL</a:t>
            </a:r>
            <a:endParaRPr lang="en-US" sz="1600" dirty="0"/>
          </a:p>
        </p:txBody>
      </p:sp>
      <p:sp>
        <p:nvSpPr>
          <p:cNvPr id="54" name="!!rsT4"/>
          <p:cNvSpPr txBox="1"/>
          <p:nvPr/>
        </p:nvSpPr>
        <p:spPr>
          <a:xfrm>
            <a:off x="7955280" y="4626864"/>
            <a:ext cx="2423160" cy="310896"/>
          </a:xfrm>
          <a:prstGeom prst="rect">
            <a:avLst/>
          </a:prstGeom>
          <a:noFill/>
          <a:ln/>
        </p:spPr>
        <p:txBody>
          <a:bodyPr wrap="square" lIns="0" tIns="0" rIns="0" bIns="0" rtlCol="0" anchor="ctr"/>
          <a:lstStyle/>
          <a:p>
            <a:pPr algn="l" indent="0" marL="0">
              <a:buNone/>
            </a:pPr>
            <a:r>
              <a:rPr lang="en-US" sz="1200" dirty="0">
                <a:solidFill>
                  <a:srgbClr val="C9CCD3"/>
                </a:solidFill>
                <a:latin typeface="Segoe UI" pitchFamily="34" charset="0"/>
                <a:ea typeface="Segoe UI" pitchFamily="34" charset="-122"/>
                <a:cs typeface="Segoe UI" pitchFamily="34" charset="-120"/>
              </a:rPr>
              <a:t>how much the drain moves V</a:t>
            </a:r>
            <a:pPr algn="l" indent="0" marL="0">
              <a:buNone/>
            </a:pPr>
            <a:r>
              <a:rPr lang="en-US" sz="1200" baseline="-40000" dirty="0">
                <a:solidFill>
                  <a:srgbClr val="C9CCD3"/>
                </a:solidFill>
                <a:latin typeface="Segoe UI" pitchFamily="34" charset="0"/>
                <a:ea typeface="Segoe UI" pitchFamily="34" charset="-122"/>
                <a:cs typeface="Segoe UI" pitchFamily="34" charset="-120"/>
              </a:rPr>
              <a:t>T</a:t>
            </a:r>
            <a:endParaRPr lang="en-US" sz="1200" dirty="0"/>
          </a:p>
        </p:txBody>
      </p:sp>
      <p:sp>
        <p:nvSpPr>
          <p:cNvPr id="55" name="!!rsG4"/>
          <p:cNvSpPr txBox="1"/>
          <p:nvPr/>
        </p:nvSpPr>
        <p:spPr>
          <a:xfrm>
            <a:off x="10424160" y="4626864"/>
            <a:ext cx="1143000" cy="310896"/>
          </a:xfrm>
          <a:prstGeom prst="rect">
            <a:avLst/>
          </a:prstGeom>
          <a:noFill/>
          <a:ln/>
        </p:spPr>
        <p:txBody>
          <a:bodyPr wrap="square" lIns="0" tIns="0" rIns="0" bIns="0" rtlCol="0" anchor="ctr"/>
          <a:lstStyle/>
          <a:p>
            <a:pPr algn="l" indent="0" marL="0">
              <a:buNone/>
            </a:pPr>
            <a:r>
              <a:rPr lang="en-US" sz="1200" dirty="0">
                <a:solidFill>
                  <a:srgbClr val="C9CCD3"/>
                </a:solidFill>
                <a:latin typeface="Segoe UI Semibold" pitchFamily="34" charset="0"/>
                <a:ea typeface="Segoe UI Semibold" pitchFamily="34" charset="-122"/>
                <a:cs typeface="Segoe UI Semibold" pitchFamily="34" charset="-120"/>
              </a:rPr>
              <a:t>small</a:t>
            </a:r>
            <a:endParaRPr lang="en-US" sz="1200" dirty="0"/>
          </a:p>
        </p:txBody>
      </p:sp>
      <p:sp>
        <p:nvSpPr>
          <p:cNvPr id="56"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Two currents first: I</a:t>
            </a:r>
            <a:pPr algn="ctr" indent="0" marL="0">
              <a:buNone/>
            </a:pPr>
            <a:r>
              <a:rPr lang="en-US" sz="1600" baseline="-40000" dirty="0">
                <a:solidFill>
                  <a:srgbClr val="171A20"/>
                </a:solidFill>
                <a:latin typeface="Segoe UI" pitchFamily="34" charset="0"/>
                <a:ea typeface="Segoe UI" pitchFamily="34" charset="-122"/>
                <a:cs typeface="Segoe UI" pitchFamily="34" charset="-120"/>
              </a:rPr>
              <a:t>on</a:t>
            </a:r>
            <a:pPr algn="ctr" indent="0" marL="0">
              <a:buNone/>
            </a:pPr>
            <a:r>
              <a:rPr lang="en-US" sz="1600" dirty="0">
                <a:solidFill>
                  <a:srgbClr val="171A20"/>
                </a:solidFill>
                <a:latin typeface="Segoe UI" pitchFamily="34" charset="0"/>
                <a:ea typeface="Segoe UI" pitchFamily="34" charset="-122"/>
                <a:cs typeface="Segoe UI" pitchFamily="34" charset="-120"/>
              </a:rPr>
              <a:t> (speed) and I</a:t>
            </a:r>
            <a:pPr algn="ctr" indent="0" marL="0">
              <a:buNone/>
            </a:pPr>
            <a:r>
              <a:rPr lang="en-US" sz="1600" baseline="-40000" dirty="0">
                <a:solidFill>
                  <a:srgbClr val="171A20"/>
                </a:solidFill>
                <a:latin typeface="Segoe UI" pitchFamily="34" charset="0"/>
                <a:ea typeface="Segoe UI" pitchFamily="34" charset="-122"/>
                <a:cs typeface="Segoe UI" pitchFamily="34" charset="-120"/>
              </a:rPr>
              <a:t>off</a:t>
            </a:r>
            <a:pPr algn="ctr" indent="0" marL="0">
              <a:buNone/>
            </a:pPr>
            <a:r>
              <a:rPr lang="en-US" sz="1600" dirty="0">
                <a:solidFill>
                  <a:srgbClr val="171A20"/>
                </a:solidFill>
                <a:latin typeface="Segoe UI" pitchFamily="34" charset="0"/>
                <a:ea typeface="Segoe UI" pitchFamily="34" charset="-122"/>
                <a:cs typeface="Segoe UI" pitchFamily="34" charset="-120"/>
              </a:rPr>
              <a:t> (leakage). Their ratio is the switch quality.</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Reading the switch</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From the I</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curve we read the numbers that the rest of the project tracks</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171A20"/>
          </a:solidFill>
          <a:ln/>
        </p:spPr>
      </p:sp>
      <p:sp>
        <p:nvSpPr>
          <p:cNvPr id="6" name="!!sdot2"/>
          <p:cNvSpPr/>
          <p:nvPr/>
        </p:nvSpPr>
        <p:spPr>
          <a:xfrm>
            <a:off x="11599164" y="525780"/>
            <a:ext cx="82296" cy="82296"/>
          </a:xfrm>
          <a:prstGeom prst="ellipse">
            <a:avLst/>
          </a:prstGeom>
          <a:solidFill>
            <a:srgbClr val="E2E3E3"/>
          </a:solidFill>
          <a:ln/>
        </p:spPr>
      </p:sp>
      <p:sp>
        <p:nvSpPr>
          <p:cNvPr id="7" name="!!axg0"/>
          <p:cNvSpPr/>
          <p:nvPr/>
        </p:nvSpPr>
        <p:spPr>
          <a:xfrm>
            <a:off x="1280160" y="4578531"/>
            <a:ext cx="4754880" cy="91"/>
          </a:xfrm>
          <a:prstGeom prst="line">
            <a:avLst/>
          </a:prstGeom>
          <a:noFill/>
          <a:ln w="9525">
            <a:solidFill>
              <a:srgbClr val="EDEEF0"/>
            </a:solidFill>
            <a:prstDash val="solid"/>
          </a:ln>
        </p:spPr>
      </p:sp>
      <p:sp>
        <p:nvSpPr>
          <p:cNvPr id="8" name="!!axg1"/>
          <p:cNvSpPr/>
          <p:nvPr/>
        </p:nvSpPr>
        <p:spPr>
          <a:xfrm>
            <a:off x="1280160" y="3585754"/>
            <a:ext cx="4754880" cy="91"/>
          </a:xfrm>
          <a:prstGeom prst="line">
            <a:avLst/>
          </a:prstGeom>
          <a:noFill/>
          <a:ln w="9525">
            <a:solidFill>
              <a:srgbClr val="EDEEF0"/>
            </a:solidFill>
            <a:prstDash val="solid"/>
          </a:ln>
        </p:spPr>
      </p:sp>
      <p:sp>
        <p:nvSpPr>
          <p:cNvPr id="9" name="!!axg2"/>
          <p:cNvSpPr/>
          <p:nvPr/>
        </p:nvSpPr>
        <p:spPr>
          <a:xfrm>
            <a:off x="1280160" y="2592977"/>
            <a:ext cx="4754880" cy="91"/>
          </a:xfrm>
          <a:prstGeom prst="line">
            <a:avLst/>
          </a:prstGeom>
          <a:noFill/>
          <a:ln w="9525">
            <a:solidFill>
              <a:srgbClr val="EDEEF0"/>
            </a:solidFill>
            <a:prstDash val="solid"/>
          </a:ln>
        </p:spPr>
      </p:sp>
      <p:sp>
        <p:nvSpPr>
          <p:cNvPr id="10" name="!!axg3"/>
          <p:cNvSpPr/>
          <p:nvPr/>
        </p:nvSpPr>
        <p:spPr>
          <a:xfrm>
            <a:off x="1280160" y="1600200"/>
            <a:ext cx="4754880" cy="91"/>
          </a:xfrm>
          <a:prstGeom prst="line">
            <a:avLst/>
          </a:prstGeom>
          <a:noFill/>
          <a:ln w="9525">
            <a:solidFill>
              <a:srgbClr val="EDEEF0"/>
            </a:solidFill>
            <a:prstDash val="solid"/>
          </a:ln>
        </p:spPr>
      </p:sp>
      <p:sp>
        <p:nvSpPr>
          <p:cNvPr id="11" name="!!axxa"/>
          <p:cNvSpPr/>
          <p:nvPr/>
        </p:nvSpPr>
        <p:spPr>
          <a:xfrm>
            <a:off x="1280160" y="5074920"/>
            <a:ext cx="4754880" cy="91"/>
          </a:xfrm>
          <a:prstGeom prst="line">
            <a:avLst/>
          </a:prstGeom>
          <a:noFill/>
          <a:ln w="12700">
            <a:solidFill>
              <a:srgbClr val="8A8D93"/>
            </a:solidFill>
            <a:prstDash val="solid"/>
          </a:ln>
        </p:spPr>
      </p:sp>
      <p:sp>
        <p:nvSpPr>
          <p:cNvPr id="12" name="!!axya"/>
          <p:cNvSpPr/>
          <p:nvPr/>
        </p:nvSpPr>
        <p:spPr>
          <a:xfrm>
            <a:off x="1280160" y="1600200"/>
            <a:ext cx="91" cy="3474720"/>
          </a:xfrm>
          <a:prstGeom prst="line">
            <a:avLst/>
          </a:prstGeom>
          <a:noFill/>
          <a:ln w="12700">
            <a:solidFill>
              <a:srgbClr val="8A8D93"/>
            </a:solidFill>
            <a:prstDash val="solid"/>
          </a:ln>
        </p:spPr>
      </p:sp>
      <p:sp>
        <p:nvSpPr>
          <p:cNvPr id="13" name="!!axxt0"/>
          <p:cNvSpPr txBox="1"/>
          <p:nvPr/>
        </p:nvSpPr>
        <p:spPr>
          <a:xfrm>
            <a:off x="96012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14" name="!!axxt1"/>
          <p:cNvSpPr txBox="1"/>
          <p:nvPr/>
        </p:nvSpPr>
        <p:spPr>
          <a:xfrm>
            <a:off x="1639389"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15" name="!!axxt2"/>
          <p:cNvSpPr txBox="1"/>
          <p:nvPr/>
        </p:nvSpPr>
        <p:spPr>
          <a:xfrm>
            <a:off x="2318657"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16" name="!!axxt3"/>
          <p:cNvSpPr txBox="1"/>
          <p:nvPr/>
        </p:nvSpPr>
        <p:spPr>
          <a:xfrm>
            <a:off x="2997926"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17" name="!!axxt4"/>
          <p:cNvSpPr txBox="1"/>
          <p:nvPr/>
        </p:nvSpPr>
        <p:spPr>
          <a:xfrm>
            <a:off x="3677194"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18" name="!!axxt5"/>
          <p:cNvSpPr txBox="1"/>
          <p:nvPr/>
        </p:nvSpPr>
        <p:spPr>
          <a:xfrm>
            <a:off x="4356463"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0.5</a:t>
            </a:r>
            <a:endParaRPr lang="en-US" sz="900" dirty="0"/>
          </a:p>
        </p:txBody>
      </p:sp>
      <p:sp>
        <p:nvSpPr>
          <p:cNvPr id="19" name="!!axxt6"/>
          <p:cNvSpPr txBox="1"/>
          <p:nvPr/>
        </p:nvSpPr>
        <p:spPr>
          <a:xfrm>
            <a:off x="5035731"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20" name="!!axxt7"/>
          <p:cNvSpPr txBox="1"/>
          <p:nvPr/>
        </p:nvSpPr>
        <p:spPr>
          <a:xfrm>
            <a:off x="571500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0.7</a:t>
            </a:r>
            <a:endParaRPr lang="en-US" sz="900" dirty="0"/>
          </a:p>
        </p:txBody>
      </p:sp>
      <p:sp>
        <p:nvSpPr>
          <p:cNvPr id="21" name="!!axyt0"/>
          <p:cNvSpPr txBox="1"/>
          <p:nvPr/>
        </p:nvSpPr>
        <p:spPr>
          <a:xfrm>
            <a:off x="594360" y="4477947"/>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22" name="!!axyt1"/>
          <p:cNvSpPr txBox="1"/>
          <p:nvPr/>
        </p:nvSpPr>
        <p:spPr>
          <a:xfrm>
            <a:off x="594360" y="348517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23" name="!!axyt2"/>
          <p:cNvSpPr txBox="1"/>
          <p:nvPr/>
        </p:nvSpPr>
        <p:spPr>
          <a:xfrm>
            <a:off x="594360" y="2492393"/>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24" name="!!axyt3"/>
          <p:cNvSpPr txBox="1"/>
          <p:nvPr/>
        </p:nvSpPr>
        <p:spPr>
          <a:xfrm>
            <a:off x="594360" y="14996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25" name="!!axxl"/>
          <p:cNvSpPr txBox="1"/>
          <p:nvPr/>
        </p:nvSpPr>
        <p:spPr>
          <a:xfrm>
            <a:off x="1280160" y="5349240"/>
            <a:ext cx="475488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26" name="!!axyl"/>
          <p:cNvSpPr txBox="1"/>
          <p:nvPr/>
        </p:nvSpPr>
        <p:spPr>
          <a:xfrm>
            <a:off x="109728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a:t>
            </a:r>
            <a:endParaRPr lang="en-US" sz="1100" dirty="0"/>
          </a:p>
        </p:txBody>
      </p:sp>
      <p:sp>
        <p:nvSpPr>
          <p:cNvPr id="27" name="!!rsHi"/>
          <p:cNvSpPr/>
          <p:nvPr/>
        </p:nvSpPr>
        <p:spPr>
          <a:xfrm>
            <a:off x="1280160" y="1861186"/>
            <a:ext cx="4754880" cy="2607714"/>
          </a:xfrm>
          <a:custGeom>
            <a:avLst/>
            <a:gdLst/>
            <a:ahLst/>
            <a:cxnLst/>
            <a:rect l="l" t="t" r="r" b="b"/>
            <a:pathLst>
              <a:path w="4754880" h="2607714">
                <a:moveTo>
                  <a:pt x="0" y="2607714"/>
                </a:moveTo>
                <a:lnTo>
                  <a:pt x="121920" y="2483518"/>
                </a:lnTo>
                <a:lnTo>
                  <a:pt x="243840" y="2359732"/>
                </a:lnTo>
                <a:lnTo>
                  <a:pt x="365760" y="2236490"/>
                </a:lnTo>
                <a:lnTo>
                  <a:pt x="487680" y="2113960"/>
                </a:lnTo>
                <a:lnTo>
                  <a:pt x="609600" y="1992364"/>
                </a:lnTo>
                <a:lnTo>
                  <a:pt x="731520" y="1871979"/>
                </a:lnTo>
                <a:lnTo>
                  <a:pt x="853440" y="1753152"/>
                </a:lnTo>
                <a:lnTo>
                  <a:pt x="975360" y="1636305"/>
                </a:lnTo>
                <a:lnTo>
                  <a:pt x="1097280" y="1521941"/>
                </a:lnTo>
                <a:lnTo>
                  <a:pt x="1219200" y="1410631"/>
                </a:lnTo>
                <a:lnTo>
                  <a:pt x="1341120" y="1302999"/>
                </a:lnTo>
                <a:lnTo>
                  <a:pt x="1463040" y="1199686"/>
                </a:lnTo>
                <a:lnTo>
                  <a:pt x="1584960" y="1101300"/>
                </a:lnTo>
                <a:lnTo>
                  <a:pt x="1706880" y="1008364"/>
                </a:lnTo>
                <a:lnTo>
                  <a:pt x="1828800" y="921263"/>
                </a:lnTo>
                <a:lnTo>
                  <a:pt x="1950720" y="840207"/>
                </a:lnTo>
                <a:lnTo>
                  <a:pt x="2072640" y="765222"/>
                </a:lnTo>
                <a:lnTo>
                  <a:pt x="2194560" y="696163"/>
                </a:lnTo>
                <a:lnTo>
                  <a:pt x="2316480" y="632745"/>
                </a:lnTo>
                <a:lnTo>
                  <a:pt x="2438400" y="574585"/>
                </a:lnTo>
                <a:lnTo>
                  <a:pt x="2560320" y="521248"/>
                </a:lnTo>
                <a:lnTo>
                  <a:pt x="2682240" y="472279"/>
                </a:lnTo>
                <a:lnTo>
                  <a:pt x="2804160" y="427230"/>
                </a:lnTo>
                <a:lnTo>
                  <a:pt x="2926080" y="385681"/>
                </a:lnTo>
                <a:lnTo>
                  <a:pt x="3048000" y="347245"/>
                </a:lnTo>
                <a:lnTo>
                  <a:pt x="3169920" y="311574"/>
                </a:lnTo>
                <a:lnTo>
                  <a:pt x="3291840" y="278359"/>
                </a:lnTo>
                <a:lnTo>
                  <a:pt x="3413760" y="247331"/>
                </a:lnTo>
                <a:lnTo>
                  <a:pt x="3535680" y="218252"/>
                </a:lnTo>
                <a:lnTo>
                  <a:pt x="3657600" y="190915"/>
                </a:lnTo>
                <a:lnTo>
                  <a:pt x="3779520" y="165142"/>
                </a:lnTo>
                <a:lnTo>
                  <a:pt x="3901440" y="140774"/>
                </a:lnTo>
                <a:lnTo>
                  <a:pt x="4023360" y="117676"/>
                </a:lnTo>
                <a:lnTo>
                  <a:pt x="4145280" y="95729"/>
                </a:lnTo>
                <a:lnTo>
                  <a:pt x="4267200" y="74827"/>
                </a:lnTo>
                <a:lnTo>
                  <a:pt x="4389120" y="54880"/>
                </a:lnTo>
                <a:lnTo>
                  <a:pt x="4511040" y="35806"/>
                </a:lnTo>
                <a:lnTo>
                  <a:pt x="4632960" y="17534"/>
                </a:lnTo>
                <a:lnTo>
                  <a:pt x="4754880" y="0"/>
                </a:lnTo>
              </a:path>
            </a:pathLst>
          </a:custGeom>
          <a:ln w="38100">
            <a:solidFill>
              <a:srgbClr val="3E6AE1"/>
            </a:solidFill>
            <a:prstDash val="solid"/>
          </a:ln>
        </p:spPr>
      </p:sp>
      <p:sp>
        <p:nvSpPr>
          <p:cNvPr id="28" name="!!rsHiL"/>
          <p:cNvSpPr txBox="1"/>
          <p:nvPr/>
        </p:nvSpPr>
        <p:spPr>
          <a:xfrm>
            <a:off x="3725527" y="2048550"/>
            <a:ext cx="1097280" cy="201168"/>
          </a:xfrm>
          <a:prstGeom prst="rect">
            <a:avLst/>
          </a:prstGeom>
          <a:noFill/>
          <a:ln/>
        </p:spPr>
        <p:txBody>
          <a:bodyPr wrap="square" lIns="0" tIns="0" rIns="0" bIns="0" rtlCol="0" anchor="t"/>
          <a:lstStyle/>
          <a:p>
            <a:pPr algn="l" indent="0" marL="0">
              <a:buNone/>
            </a:pPr>
            <a:r>
              <a:rPr lang="en-US" sz="1000" dirty="0">
                <a:solidFill>
                  <a:srgbClr val="3E6AE1"/>
                </a:solidFill>
                <a:latin typeface="Segoe UI Semibold" pitchFamily="34" charset="0"/>
                <a:ea typeface="Segoe UI Semibold" pitchFamily="34" charset="-122"/>
                <a:cs typeface="Segoe UI Semibold" pitchFamily="34" charset="-120"/>
              </a:rPr>
              <a:t>V</a:t>
            </a:r>
            <a:pPr algn="l" indent="0" marL="0">
              <a:buNone/>
            </a:pPr>
            <a:r>
              <a:rPr lang="en-US" sz="1000" baseline="-40000" dirty="0">
                <a:solidFill>
                  <a:srgbClr val="3E6AE1"/>
                </a:solidFill>
                <a:latin typeface="Segoe UI Semibold" pitchFamily="34" charset="0"/>
                <a:ea typeface="Segoe UI Semibold" pitchFamily="34" charset="-122"/>
                <a:cs typeface="Segoe UI Semibold" pitchFamily="34" charset="-120"/>
              </a:rPr>
              <a:t>D</a:t>
            </a:r>
            <a:pPr algn="l" indent="0" marL="0">
              <a:buNone/>
            </a:pPr>
            <a:r>
              <a:rPr lang="en-US" sz="1000" dirty="0">
                <a:solidFill>
                  <a:srgbClr val="3E6AE1"/>
                </a:solidFill>
                <a:latin typeface="Segoe UI Semibold" pitchFamily="34" charset="0"/>
                <a:ea typeface="Segoe UI Semibold" pitchFamily="34" charset="-122"/>
                <a:cs typeface="Segoe UI Semibold" pitchFamily="34" charset="-120"/>
              </a:rPr>
              <a:t> = 0.7 V</a:t>
            </a:r>
            <a:endParaRPr lang="en-US" sz="1000" dirty="0"/>
          </a:p>
        </p:txBody>
      </p:sp>
      <p:sp>
        <p:nvSpPr>
          <p:cNvPr id="29" name="!!rsOff"/>
          <p:cNvSpPr/>
          <p:nvPr/>
        </p:nvSpPr>
        <p:spPr>
          <a:xfrm>
            <a:off x="1197864" y="4386604"/>
            <a:ext cx="164592" cy="164592"/>
          </a:xfrm>
          <a:prstGeom prst="ellipse">
            <a:avLst/>
          </a:prstGeom>
          <a:solidFill>
            <a:srgbClr val="D64545"/>
          </a:solidFill>
          <a:ln/>
        </p:spPr>
      </p:sp>
      <p:sp>
        <p:nvSpPr>
          <p:cNvPr id="30" name="!!rsOffL"/>
          <p:cNvSpPr txBox="1"/>
          <p:nvPr/>
        </p:nvSpPr>
        <p:spPr>
          <a:xfrm>
            <a:off x="1408176" y="4450612"/>
            <a:ext cx="731520" cy="219456"/>
          </a:xfrm>
          <a:prstGeom prst="rect">
            <a:avLst/>
          </a:prstGeom>
          <a:noFill/>
          <a:ln/>
        </p:spPr>
        <p:txBody>
          <a:bodyPr wrap="square" lIns="0" tIns="0" rIns="0" bIns="0" rtlCol="0" anchor="t"/>
          <a:lstStyle/>
          <a:p>
            <a:pPr algn="l" indent="0" marL="0">
              <a:buNone/>
            </a:pPr>
            <a:r>
              <a:rPr lang="en-US" sz="1100" dirty="0">
                <a:solidFill>
                  <a:srgbClr val="D64545"/>
                </a:solidFill>
                <a:latin typeface="Segoe UI Semibold" pitchFamily="34" charset="0"/>
                <a:ea typeface="Segoe UI Semibold" pitchFamily="34" charset="-122"/>
                <a:cs typeface="Segoe UI Semibold" pitchFamily="34" charset="-120"/>
              </a:rPr>
              <a:t>I</a:t>
            </a:r>
            <a:pPr algn="l" indent="0" marL="0">
              <a:buNone/>
            </a:pPr>
            <a:r>
              <a:rPr lang="en-US" sz="1100" baseline="-40000" dirty="0">
                <a:solidFill>
                  <a:srgbClr val="D64545"/>
                </a:solidFill>
                <a:latin typeface="Segoe UI Semibold" pitchFamily="34" charset="0"/>
                <a:ea typeface="Segoe UI Semibold" pitchFamily="34" charset="-122"/>
                <a:cs typeface="Segoe UI Semibold" pitchFamily="34" charset="-120"/>
              </a:rPr>
              <a:t>off</a:t>
            </a:r>
            <a:endParaRPr lang="en-US" sz="1100" dirty="0"/>
          </a:p>
        </p:txBody>
      </p:sp>
      <p:sp>
        <p:nvSpPr>
          <p:cNvPr id="31" name="!!rsOn"/>
          <p:cNvSpPr/>
          <p:nvPr/>
        </p:nvSpPr>
        <p:spPr>
          <a:xfrm>
            <a:off x="5952744" y="1778890"/>
            <a:ext cx="164592" cy="164592"/>
          </a:xfrm>
          <a:prstGeom prst="ellipse">
            <a:avLst/>
          </a:prstGeom>
          <a:solidFill>
            <a:srgbClr val="2E9E4F"/>
          </a:solidFill>
          <a:ln/>
        </p:spPr>
      </p:sp>
      <p:sp>
        <p:nvSpPr>
          <p:cNvPr id="32" name="!!rsOnL"/>
          <p:cNvSpPr txBox="1"/>
          <p:nvPr/>
        </p:nvSpPr>
        <p:spPr>
          <a:xfrm>
            <a:off x="5394960" y="1916050"/>
            <a:ext cx="548640" cy="219456"/>
          </a:xfrm>
          <a:prstGeom prst="rect">
            <a:avLst/>
          </a:prstGeom>
          <a:noFill/>
          <a:ln/>
        </p:spPr>
        <p:txBody>
          <a:bodyPr wrap="square" lIns="0" tIns="0" rIns="0" bIns="0" rtlCol="0" anchor="t"/>
          <a:lstStyle/>
          <a:p>
            <a:pPr algn="r" indent="0" marL="0">
              <a:buNone/>
            </a:pPr>
            <a:r>
              <a:rPr lang="en-US" sz="1100" dirty="0">
                <a:solidFill>
                  <a:srgbClr val="2E9E4F"/>
                </a:solidFill>
                <a:latin typeface="Segoe UI Semibold" pitchFamily="34" charset="0"/>
                <a:ea typeface="Segoe UI Semibold" pitchFamily="34" charset="-122"/>
                <a:cs typeface="Segoe UI Semibold" pitchFamily="34" charset="-120"/>
              </a:rPr>
              <a:t>I</a:t>
            </a:r>
            <a:pPr algn="r" indent="0" marL="0">
              <a:buNone/>
            </a:pPr>
            <a:r>
              <a:rPr lang="en-US" sz="1100" baseline="-40000" dirty="0">
                <a:solidFill>
                  <a:srgbClr val="2E9E4F"/>
                </a:solidFill>
                <a:latin typeface="Segoe UI Semibold" pitchFamily="34" charset="0"/>
                <a:ea typeface="Segoe UI Semibold" pitchFamily="34" charset="-122"/>
                <a:cs typeface="Segoe UI Semibold" pitchFamily="34" charset="-120"/>
              </a:rPr>
              <a:t>on</a:t>
            </a:r>
            <a:endParaRPr lang="en-US" sz="1100" dirty="0"/>
          </a:p>
        </p:txBody>
      </p:sp>
      <p:sp>
        <p:nvSpPr>
          <p:cNvPr id="33" name="!!rsVT"/>
          <p:cNvSpPr/>
          <p:nvPr/>
        </p:nvSpPr>
        <p:spPr>
          <a:xfrm>
            <a:off x="2896035" y="2793703"/>
            <a:ext cx="164592" cy="164592"/>
          </a:xfrm>
          <a:prstGeom prst="ellipse">
            <a:avLst/>
          </a:prstGeom>
          <a:solidFill>
            <a:srgbClr val="3E6AE1"/>
          </a:solidFill>
          <a:ln/>
        </p:spPr>
      </p:sp>
      <p:sp>
        <p:nvSpPr>
          <p:cNvPr id="34" name="!!rsVTL"/>
          <p:cNvSpPr txBox="1"/>
          <p:nvPr/>
        </p:nvSpPr>
        <p:spPr>
          <a:xfrm>
            <a:off x="3088059" y="2857711"/>
            <a:ext cx="548640" cy="219456"/>
          </a:xfrm>
          <a:prstGeom prst="rect">
            <a:avLst/>
          </a:prstGeom>
          <a:noFill/>
          <a:ln/>
        </p:spPr>
        <p:txBody>
          <a:bodyPr wrap="square" lIns="0" tIns="0" rIns="0" bIns="0" rtlCol="0" anchor="t"/>
          <a:lstStyle/>
          <a:p>
            <a:pPr algn="l" indent="0" marL="0">
              <a:buNone/>
            </a:pPr>
            <a:r>
              <a:rPr lang="en-US" sz="1100" dirty="0">
                <a:solidFill>
                  <a:srgbClr val="3E6AE1"/>
                </a:solidFill>
                <a:latin typeface="Segoe UI Semibold" pitchFamily="34" charset="0"/>
                <a:ea typeface="Segoe UI Semibold" pitchFamily="34" charset="-122"/>
                <a:cs typeface="Segoe UI Semibold" pitchFamily="34" charset="-120"/>
              </a:rPr>
              <a:t>V</a:t>
            </a:r>
            <a:pPr algn="l" indent="0" marL="0">
              <a:buNone/>
            </a:pPr>
            <a:r>
              <a:rPr lang="en-US" sz="1100" baseline="-40000" dirty="0">
                <a:solidFill>
                  <a:srgbClr val="3E6AE1"/>
                </a:solidFill>
                <a:latin typeface="Segoe UI Semibold" pitchFamily="34" charset="0"/>
                <a:ea typeface="Segoe UI Semibold" pitchFamily="34" charset="-122"/>
                <a:cs typeface="Segoe UI Semibold" pitchFamily="34" charset="-120"/>
              </a:rPr>
              <a:t>T</a:t>
            </a:r>
            <a:endParaRPr lang="en-US" sz="1100" dirty="0"/>
          </a:p>
        </p:txBody>
      </p:sp>
      <p:sp>
        <p:nvSpPr>
          <p:cNvPr id="35" name="!!rsSS"/>
          <p:cNvSpPr/>
          <p:nvPr/>
        </p:nvSpPr>
        <p:spPr>
          <a:xfrm>
            <a:off x="1823575" y="3449944"/>
            <a:ext cx="482281" cy="469485"/>
          </a:xfrm>
          <a:custGeom>
            <a:avLst/>
            <a:gdLst/>
            <a:ahLst/>
            <a:cxnLst/>
            <a:rect l="l" t="t" r="r" b="b"/>
            <a:pathLst>
              <a:path w="482281" h="469485">
                <a:moveTo>
                  <a:pt x="0" y="469485"/>
                </a:moveTo>
                <a:lnTo>
                  <a:pt x="482281" y="469485"/>
                </a:lnTo>
                <a:lnTo>
                  <a:pt x="482281" y="0"/>
                </a:lnTo>
              </a:path>
            </a:pathLst>
          </a:custGeom>
          <a:ln w="25400">
            <a:solidFill>
              <a:srgbClr val="E07B00"/>
            </a:solidFill>
            <a:prstDash val="solid"/>
          </a:ln>
        </p:spPr>
      </p:sp>
      <p:sp>
        <p:nvSpPr>
          <p:cNvPr id="36" name="!!rsSSL"/>
          <p:cNvSpPr txBox="1"/>
          <p:nvPr/>
        </p:nvSpPr>
        <p:spPr>
          <a:xfrm>
            <a:off x="2379008" y="3901141"/>
            <a:ext cx="1463040" cy="219456"/>
          </a:xfrm>
          <a:prstGeom prst="rect">
            <a:avLst/>
          </a:prstGeom>
          <a:noFill/>
          <a:ln/>
        </p:spPr>
        <p:txBody>
          <a:bodyPr wrap="square" lIns="0" tIns="0" rIns="0" bIns="0" rtlCol="0" anchor="t"/>
          <a:lstStyle/>
          <a:p>
            <a:pPr algn="l" indent="0" marL="0">
              <a:buNone/>
            </a:pPr>
            <a:r>
              <a:rPr lang="en-US" sz="1000" dirty="0">
                <a:solidFill>
                  <a:srgbClr val="E07B00"/>
                </a:solidFill>
                <a:latin typeface="Segoe UI Semibold" pitchFamily="34" charset="0"/>
                <a:ea typeface="Segoe UI Semibold" pitchFamily="34" charset="-122"/>
                <a:cs typeface="Segoe UI Semibold" pitchFamily="34" charset="-120"/>
              </a:rPr>
              <a:t>SS: mV per ×10</a:t>
            </a:r>
            <a:endParaRPr lang="en-US" sz="1000" dirty="0"/>
          </a:p>
        </p:txBody>
      </p:sp>
      <p:sp>
        <p:nvSpPr>
          <p:cNvPr id="37" name="!!rsH1"/>
          <p:cNvSpPr txBox="1"/>
          <p:nvPr/>
        </p:nvSpPr>
        <p:spPr>
          <a:xfrm>
            <a:off x="6858000" y="1554480"/>
            <a:ext cx="109728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Metric</a:t>
            </a:r>
            <a:endParaRPr lang="en-US" sz="1100" dirty="0"/>
          </a:p>
        </p:txBody>
      </p:sp>
      <p:sp>
        <p:nvSpPr>
          <p:cNvPr id="38" name="!!rsH2"/>
          <p:cNvSpPr txBox="1"/>
          <p:nvPr/>
        </p:nvSpPr>
        <p:spPr>
          <a:xfrm>
            <a:off x="7955280" y="1554480"/>
            <a:ext cx="237744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What it tells</a:t>
            </a:r>
            <a:endParaRPr lang="en-US" sz="1100" dirty="0"/>
          </a:p>
        </p:txBody>
      </p:sp>
      <p:sp>
        <p:nvSpPr>
          <p:cNvPr id="39" name="!!rsH3"/>
          <p:cNvSpPr txBox="1"/>
          <p:nvPr/>
        </p:nvSpPr>
        <p:spPr>
          <a:xfrm>
            <a:off x="10424160" y="1554480"/>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Good is</a:t>
            </a:r>
            <a:endParaRPr lang="en-US" sz="1100" dirty="0"/>
          </a:p>
        </p:txBody>
      </p:sp>
      <p:sp>
        <p:nvSpPr>
          <p:cNvPr id="40" name="!!rsR0"/>
          <p:cNvSpPr/>
          <p:nvPr/>
        </p:nvSpPr>
        <p:spPr>
          <a:xfrm>
            <a:off x="6766560" y="1874520"/>
            <a:ext cx="4873752" cy="548640"/>
          </a:xfrm>
          <a:prstGeom prst="roundRect">
            <a:avLst>
              <a:gd name="adj" fmla="val 10000"/>
            </a:avLst>
          </a:prstGeom>
          <a:solidFill>
            <a:srgbClr val="F4F5F7"/>
          </a:solidFill>
          <a:ln/>
        </p:spPr>
      </p:sp>
      <p:sp>
        <p:nvSpPr>
          <p:cNvPr id="41" name="!!rsM0"/>
          <p:cNvSpPr txBox="1"/>
          <p:nvPr/>
        </p:nvSpPr>
        <p:spPr>
          <a:xfrm>
            <a:off x="6903720" y="1993392"/>
            <a:ext cx="1005840" cy="310896"/>
          </a:xfrm>
          <a:prstGeom prst="rect">
            <a:avLst/>
          </a:prstGeom>
          <a:noFill/>
          <a:ln/>
        </p:spPr>
        <p:txBody>
          <a:bodyPr wrap="square" lIns="0" tIns="0" rIns="0" bIns="0" rtlCol="0" anchor="ctr"/>
          <a:lstStyle/>
          <a:p>
            <a:pPr algn="l" indent="0" marL="0">
              <a:buNone/>
            </a:pPr>
            <a:r>
              <a:rPr lang="en-US" sz="1600" dirty="0">
                <a:solidFill>
                  <a:srgbClr val="2E9E4F"/>
                </a:solidFill>
                <a:latin typeface="Segoe UI Semibold" pitchFamily="34" charset="0"/>
                <a:ea typeface="Segoe UI Semibold" pitchFamily="34" charset="-122"/>
                <a:cs typeface="Segoe UI Semibold" pitchFamily="34" charset="-120"/>
              </a:rPr>
              <a:t>I</a:t>
            </a:r>
            <a:pPr algn="l" indent="0" marL="0">
              <a:buNone/>
            </a:pPr>
            <a:r>
              <a:rPr lang="en-US" sz="1600" baseline="-40000" dirty="0">
                <a:solidFill>
                  <a:srgbClr val="2E9E4F"/>
                </a:solidFill>
                <a:latin typeface="Segoe UI Semibold" pitchFamily="34" charset="0"/>
                <a:ea typeface="Segoe UI Semibold" pitchFamily="34" charset="-122"/>
                <a:cs typeface="Segoe UI Semibold" pitchFamily="34" charset="-120"/>
              </a:rPr>
              <a:t>on</a:t>
            </a:r>
            <a:endParaRPr lang="en-US" sz="1600" dirty="0"/>
          </a:p>
        </p:txBody>
      </p:sp>
      <p:sp>
        <p:nvSpPr>
          <p:cNvPr id="42" name="!!rsT0"/>
          <p:cNvSpPr txBox="1"/>
          <p:nvPr/>
        </p:nvSpPr>
        <p:spPr>
          <a:xfrm>
            <a:off x="7955280" y="1993392"/>
            <a:ext cx="242316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pitchFamily="34" charset="0"/>
                <a:ea typeface="Segoe UI" pitchFamily="34" charset="-122"/>
                <a:cs typeface="Segoe UI" pitchFamily="34" charset="-120"/>
              </a:rPr>
              <a:t>current when on: speed</a:t>
            </a:r>
            <a:endParaRPr lang="en-US" sz="1200" dirty="0"/>
          </a:p>
        </p:txBody>
      </p:sp>
      <p:sp>
        <p:nvSpPr>
          <p:cNvPr id="43" name="!!rsG0"/>
          <p:cNvSpPr txBox="1"/>
          <p:nvPr/>
        </p:nvSpPr>
        <p:spPr>
          <a:xfrm>
            <a:off x="10424160" y="1993392"/>
            <a:ext cx="114300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Semibold" pitchFamily="34" charset="0"/>
                <a:ea typeface="Segoe UI Semibold" pitchFamily="34" charset="-122"/>
                <a:cs typeface="Segoe UI Semibold" pitchFamily="34" charset="-120"/>
              </a:rPr>
              <a:t>large</a:t>
            </a:r>
            <a:endParaRPr lang="en-US" sz="1200" dirty="0"/>
          </a:p>
        </p:txBody>
      </p:sp>
      <p:sp>
        <p:nvSpPr>
          <p:cNvPr id="44" name="!!rsR1"/>
          <p:cNvSpPr/>
          <p:nvPr/>
        </p:nvSpPr>
        <p:spPr>
          <a:xfrm>
            <a:off x="6766560" y="2532888"/>
            <a:ext cx="4873752" cy="548640"/>
          </a:xfrm>
          <a:prstGeom prst="roundRect">
            <a:avLst>
              <a:gd name="adj" fmla="val 10000"/>
            </a:avLst>
          </a:prstGeom>
          <a:solidFill>
            <a:srgbClr val="F4F5F7"/>
          </a:solidFill>
          <a:ln/>
        </p:spPr>
      </p:sp>
      <p:sp>
        <p:nvSpPr>
          <p:cNvPr id="45" name="!!rsM1"/>
          <p:cNvSpPr txBox="1"/>
          <p:nvPr/>
        </p:nvSpPr>
        <p:spPr>
          <a:xfrm>
            <a:off x="6903720" y="2651760"/>
            <a:ext cx="1005840" cy="310896"/>
          </a:xfrm>
          <a:prstGeom prst="rect">
            <a:avLst/>
          </a:prstGeom>
          <a:noFill/>
          <a:ln/>
        </p:spPr>
        <p:txBody>
          <a:bodyPr wrap="square" lIns="0" tIns="0" rIns="0" bIns="0" rtlCol="0" anchor="ctr"/>
          <a:lstStyle/>
          <a:p>
            <a:pPr algn="l" indent="0" marL="0">
              <a:buNone/>
            </a:pPr>
            <a:r>
              <a:rPr lang="en-US" sz="1600" dirty="0">
                <a:solidFill>
                  <a:srgbClr val="D64545"/>
                </a:solidFill>
                <a:latin typeface="Segoe UI Semibold" pitchFamily="34" charset="0"/>
                <a:ea typeface="Segoe UI Semibold" pitchFamily="34" charset="-122"/>
                <a:cs typeface="Segoe UI Semibold" pitchFamily="34" charset="-120"/>
              </a:rPr>
              <a:t>I</a:t>
            </a:r>
            <a:pPr algn="l" indent="0" marL="0">
              <a:buNone/>
            </a:pPr>
            <a:r>
              <a:rPr lang="en-US" sz="1600" baseline="-40000" dirty="0">
                <a:solidFill>
                  <a:srgbClr val="D64545"/>
                </a:solidFill>
                <a:latin typeface="Segoe UI Semibold" pitchFamily="34" charset="0"/>
                <a:ea typeface="Segoe UI Semibold" pitchFamily="34" charset="-122"/>
                <a:cs typeface="Segoe UI Semibold" pitchFamily="34" charset="-120"/>
              </a:rPr>
              <a:t>off</a:t>
            </a:r>
            <a:endParaRPr lang="en-US" sz="1600" dirty="0"/>
          </a:p>
        </p:txBody>
      </p:sp>
      <p:sp>
        <p:nvSpPr>
          <p:cNvPr id="46" name="!!rsT1"/>
          <p:cNvSpPr txBox="1"/>
          <p:nvPr/>
        </p:nvSpPr>
        <p:spPr>
          <a:xfrm>
            <a:off x="7955280" y="2651760"/>
            <a:ext cx="242316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pitchFamily="34" charset="0"/>
                <a:ea typeface="Segoe UI" pitchFamily="34" charset="-122"/>
                <a:cs typeface="Segoe UI" pitchFamily="34" charset="-120"/>
              </a:rPr>
              <a:t>leakage when off: standby power</a:t>
            </a:r>
            <a:endParaRPr lang="en-US" sz="1200" dirty="0"/>
          </a:p>
        </p:txBody>
      </p:sp>
      <p:sp>
        <p:nvSpPr>
          <p:cNvPr id="47" name="!!rsG1"/>
          <p:cNvSpPr txBox="1"/>
          <p:nvPr/>
        </p:nvSpPr>
        <p:spPr>
          <a:xfrm>
            <a:off x="10424160" y="2651760"/>
            <a:ext cx="114300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Semibold" pitchFamily="34" charset="0"/>
                <a:ea typeface="Segoe UI Semibold" pitchFamily="34" charset="-122"/>
                <a:cs typeface="Segoe UI Semibold" pitchFamily="34" charset="-120"/>
              </a:rPr>
              <a:t>small</a:t>
            </a:r>
            <a:endParaRPr lang="en-US" sz="1200" dirty="0"/>
          </a:p>
        </p:txBody>
      </p:sp>
      <p:sp>
        <p:nvSpPr>
          <p:cNvPr id="48" name="!!rsR2"/>
          <p:cNvSpPr/>
          <p:nvPr/>
        </p:nvSpPr>
        <p:spPr>
          <a:xfrm>
            <a:off x="6766560" y="3191256"/>
            <a:ext cx="4873752" cy="548640"/>
          </a:xfrm>
          <a:prstGeom prst="roundRect">
            <a:avLst>
              <a:gd name="adj" fmla="val 10000"/>
            </a:avLst>
          </a:prstGeom>
          <a:solidFill>
            <a:srgbClr val="F4F5F7"/>
          </a:solidFill>
          <a:ln/>
        </p:spPr>
      </p:sp>
      <p:sp>
        <p:nvSpPr>
          <p:cNvPr id="49" name="!!rsM2"/>
          <p:cNvSpPr txBox="1"/>
          <p:nvPr/>
        </p:nvSpPr>
        <p:spPr>
          <a:xfrm>
            <a:off x="6903720" y="3310128"/>
            <a:ext cx="1005840" cy="310896"/>
          </a:xfrm>
          <a:prstGeom prst="rect">
            <a:avLst/>
          </a:prstGeom>
          <a:noFill/>
          <a:ln/>
        </p:spPr>
        <p:txBody>
          <a:bodyPr wrap="square" lIns="0" tIns="0" rIns="0" bIns="0" rtlCol="0" anchor="ctr"/>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V</a:t>
            </a:r>
            <a:pPr algn="l" indent="0" marL="0">
              <a:buNone/>
            </a:pPr>
            <a:r>
              <a:rPr lang="en-US" sz="1600" baseline="-40000" dirty="0">
                <a:solidFill>
                  <a:srgbClr val="3E6AE1"/>
                </a:solidFill>
                <a:latin typeface="Segoe UI Semibold" pitchFamily="34" charset="0"/>
                <a:ea typeface="Segoe UI Semibold" pitchFamily="34" charset="-122"/>
                <a:cs typeface="Segoe UI Semibold" pitchFamily="34" charset="-120"/>
              </a:rPr>
              <a:t>T</a:t>
            </a:r>
            <a:endParaRPr lang="en-US" sz="1600" dirty="0"/>
          </a:p>
        </p:txBody>
      </p:sp>
      <p:sp>
        <p:nvSpPr>
          <p:cNvPr id="50" name="!!rsT2"/>
          <p:cNvSpPr txBox="1"/>
          <p:nvPr/>
        </p:nvSpPr>
        <p:spPr>
          <a:xfrm>
            <a:off x="7955280" y="3310128"/>
            <a:ext cx="242316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pitchFamily="34" charset="0"/>
                <a:ea typeface="Segoe UI" pitchFamily="34" charset="-122"/>
                <a:cs typeface="Segoe UI" pitchFamily="34" charset="-120"/>
              </a:rPr>
              <a:t>gate voltage where it turns on</a:t>
            </a:r>
            <a:endParaRPr lang="en-US" sz="1200" dirty="0"/>
          </a:p>
        </p:txBody>
      </p:sp>
      <p:sp>
        <p:nvSpPr>
          <p:cNvPr id="51" name="!!rsG2"/>
          <p:cNvSpPr txBox="1"/>
          <p:nvPr/>
        </p:nvSpPr>
        <p:spPr>
          <a:xfrm>
            <a:off x="10424160" y="3310128"/>
            <a:ext cx="114300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Semibold" pitchFamily="34" charset="0"/>
                <a:ea typeface="Segoe UI Semibold" pitchFamily="34" charset="-122"/>
                <a:cs typeface="Segoe UI Semibold" pitchFamily="34" charset="-120"/>
              </a:rPr>
              <a:t>set by design</a:t>
            </a:r>
            <a:endParaRPr lang="en-US" sz="1200" dirty="0"/>
          </a:p>
        </p:txBody>
      </p:sp>
      <p:sp>
        <p:nvSpPr>
          <p:cNvPr id="52" name="!!rsR3"/>
          <p:cNvSpPr/>
          <p:nvPr/>
        </p:nvSpPr>
        <p:spPr>
          <a:xfrm>
            <a:off x="6766560" y="3849624"/>
            <a:ext cx="4873752" cy="548640"/>
          </a:xfrm>
          <a:prstGeom prst="roundRect">
            <a:avLst>
              <a:gd name="adj" fmla="val 10000"/>
            </a:avLst>
          </a:prstGeom>
          <a:solidFill>
            <a:srgbClr val="F4F5F7"/>
          </a:solidFill>
          <a:ln/>
        </p:spPr>
      </p:sp>
      <p:sp>
        <p:nvSpPr>
          <p:cNvPr id="53" name="!!rsM3"/>
          <p:cNvSpPr txBox="1"/>
          <p:nvPr/>
        </p:nvSpPr>
        <p:spPr>
          <a:xfrm>
            <a:off x="6903720" y="3968496"/>
            <a:ext cx="1005840" cy="310896"/>
          </a:xfrm>
          <a:prstGeom prst="rect">
            <a:avLst/>
          </a:prstGeom>
          <a:noFill/>
          <a:ln/>
        </p:spPr>
        <p:txBody>
          <a:bodyPr wrap="square" lIns="0" tIns="0" rIns="0" bIns="0" rtlCol="0" anchor="ctr"/>
          <a:lstStyle/>
          <a:p>
            <a:pPr algn="l" indent="0" marL="0">
              <a:buNone/>
            </a:pPr>
            <a:r>
              <a:rPr lang="en-US" sz="1600" dirty="0">
                <a:solidFill>
                  <a:srgbClr val="E07B00"/>
                </a:solidFill>
                <a:latin typeface="Segoe UI Semibold" pitchFamily="34" charset="0"/>
                <a:ea typeface="Segoe UI Semibold" pitchFamily="34" charset="-122"/>
                <a:cs typeface="Segoe UI Semibold" pitchFamily="34" charset="-120"/>
              </a:rPr>
              <a:t>SS</a:t>
            </a:r>
            <a:endParaRPr lang="en-US" sz="1600" dirty="0"/>
          </a:p>
        </p:txBody>
      </p:sp>
      <p:sp>
        <p:nvSpPr>
          <p:cNvPr id="54" name="!!rsT3"/>
          <p:cNvSpPr txBox="1"/>
          <p:nvPr/>
        </p:nvSpPr>
        <p:spPr>
          <a:xfrm>
            <a:off x="7955280" y="3968496"/>
            <a:ext cx="242316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pitchFamily="34" charset="0"/>
                <a:ea typeface="Segoe UI" pitchFamily="34" charset="-122"/>
                <a:cs typeface="Segoe UI" pitchFamily="34" charset="-120"/>
              </a:rPr>
              <a:t>mV of V</a:t>
            </a:r>
            <a:pPr algn="l" indent="0" marL="0">
              <a:buNone/>
            </a:pPr>
            <a:r>
              <a:rPr lang="en-US" sz="1200" baseline="-40000" dirty="0">
                <a:solidFill>
                  <a:srgbClr val="171A20"/>
                </a:solidFill>
                <a:latin typeface="Segoe UI" pitchFamily="34" charset="0"/>
                <a:ea typeface="Segoe UI" pitchFamily="34" charset="-122"/>
                <a:cs typeface="Segoe UI" pitchFamily="34" charset="-120"/>
              </a:rPr>
              <a:t>G</a:t>
            </a:r>
            <a:pPr algn="l" indent="0" marL="0">
              <a:buNone/>
            </a:pPr>
            <a:r>
              <a:rPr lang="en-US" sz="1200" dirty="0">
                <a:solidFill>
                  <a:srgbClr val="171A20"/>
                </a:solidFill>
                <a:latin typeface="Segoe UI" pitchFamily="34" charset="0"/>
                <a:ea typeface="Segoe UI" pitchFamily="34" charset="-122"/>
                <a:cs typeface="Segoe UI" pitchFamily="34" charset="-120"/>
              </a:rPr>
              <a:t> for 10× current</a:t>
            </a:r>
            <a:endParaRPr lang="en-US" sz="1200" dirty="0"/>
          </a:p>
        </p:txBody>
      </p:sp>
      <p:sp>
        <p:nvSpPr>
          <p:cNvPr id="55" name="!!rsG3"/>
          <p:cNvSpPr txBox="1"/>
          <p:nvPr/>
        </p:nvSpPr>
        <p:spPr>
          <a:xfrm>
            <a:off x="10424160" y="3968496"/>
            <a:ext cx="114300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Semibold" pitchFamily="34" charset="0"/>
                <a:ea typeface="Segoe UI Semibold" pitchFamily="34" charset="-122"/>
                <a:cs typeface="Segoe UI Semibold" pitchFamily="34" charset="-120"/>
              </a:rPr>
              <a:t>→ 60 mV/dec</a:t>
            </a:r>
            <a:endParaRPr lang="en-US" sz="1200" dirty="0"/>
          </a:p>
        </p:txBody>
      </p:sp>
      <p:sp>
        <p:nvSpPr>
          <p:cNvPr id="56" name="!!rsR4"/>
          <p:cNvSpPr/>
          <p:nvPr/>
        </p:nvSpPr>
        <p:spPr>
          <a:xfrm>
            <a:off x="6766560" y="4507992"/>
            <a:ext cx="4873752" cy="548640"/>
          </a:xfrm>
          <a:prstGeom prst="roundRect">
            <a:avLst>
              <a:gd name="adj" fmla="val 10000"/>
            </a:avLst>
          </a:prstGeom>
          <a:solidFill>
            <a:srgbClr val="FAFAFB"/>
          </a:solidFill>
          <a:ln/>
        </p:spPr>
      </p:sp>
      <p:sp>
        <p:nvSpPr>
          <p:cNvPr id="57" name="!!rsM4"/>
          <p:cNvSpPr txBox="1"/>
          <p:nvPr/>
        </p:nvSpPr>
        <p:spPr>
          <a:xfrm>
            <a:off x="6903720" y="4626864"/>
            <a:ext cx="1005840" cy="310896"/>
          </a:xfrm>
          <a:prstGeom prst="rect">
            <a:avLst/>
          </a:prstGeom>
          <a:noFill/>
          <a:ln/>
        </p:spPr>
        <p:txBody>
          <a:bodyPr wrap="square" lIns="0" tIns="0" rIns="0" bIns="0" rtlCol="0" anchor="ctr"/>
          <a:lstStyle/>
          <a:p>
            <a:pPr algn="l" indent="0" marL="0">
              <a:buNone/>
            </a:pPr>
            <a:r>
              <a:rPr lang="en-US" sz="1600" dirty="0">
                <a:solidFill>
                  <a:srgbClr val="C9CCD3"/>
                </a:solidFill>
                <a:latin typeface="Segoe UI Semibold" pitchFamily="34" charset="0"/>
                <a:ea typeface="Segoe UI Semibold" pitchFamily="34" charset="-122"/>
                <a:cs typeface="Segoe UI Semibold" pitchFamily="34" charset="-120"/>
              </a:rPr>
              <a:t>DIBL</a:t>
            </a:r>
            <a:endParaRPr lang="en-US" sz="1600" dirty="0"/>
          </a:p>
        </p:txBody>
      </p:sp>
      <p:sp>
        <p:nvSpPr>
          <p:cNvPr id="58" name="!!rsT4"/>
          <p:cNvSpPr txBox="1"/>
          <p:nvPr/>
        </p:nvSpPr>
        <p:spPr>
          <a:xfrm>
            <a:off x="7955280" y="4626864"/>
            <a:ext cx="2423160" cy="310896"/>
          </a:xfrm>
          <a:prstGeom prst="rect">
            <a:avLst/>
          </a:prstGeom>
          <a:noFill/>
          <a:ln/>
        </p:spPr>
        <p:txBody>
          <a:bodyPr wrap="square" lIns="0" tIns="0" rIns="0" bIns="0" rtlCol="0" anchor="ctr"/>
          <a:lstStyle/>
          <a:p>
            <a:pPr algn="l" indent="0" marL="0">
              <a:buNone/>
            </a:pPr>
            <a:r>
              <a:rPr lang="en-US" sz="1200" dirty="0">
                <a:solidFill>
                  <a:srgbClr val="C9CCD3"/>
                </a:solidFill>
                <a:latin typeface="Segoe UI" pitchFamily="34" charset="0"/>
                <a:ea typeface="Segoe UI" pitchFamily="34" charset="-122"/>
                <a:cs typeface="Segoe UI" pitchFamily="34" charset="-120"/>
              </a:rPr>
              <a:t>how much the drain moves V</a:t>
            </a:r>
            <a:pPr algn="l" indent="0" marL="0">
              <a:buNone/>
            </a:pPr>
            <a:r>
              <a:rPr lang="en-US" sz="1200" baseline="-40000" dirty="0">
                <a:solidFill>
                  <a:srgbClr val="C9CCD3"/>
                </a:solidFill>
                <a:latin typeface="Segoe UI" pitchFamily="34" charset="0"/>
                <a:ea typeface="Segoe UI" pitchFamily="34" charset="-122"/>
                <a:cs typeface="Segoe UI" pitchFamily="34" charset="-120"/>
              </a:rPr>
              <a:t>T</a:t>
            </a:r>
            <a:endParaRPr lang="en-US" sz="1200" dirty="0"/>
          </a:p>
        </p:txBody>
      </p:sp>
      <p:sp>
        <p:nvSpPr>
          <p:cNvPr id="59" name="!!rsG4"/>
          <p:cNvSpPr txBox="1"/>
          <p:nvPr/>
        </p:nvSpPr>
        <p:spPr>
          <a:xfrm>
            <a:off x="10424160" y="4626864"/>
            <a:ext cx="1143000" cy="310896"/>
          </a:xfrm>
          <a:prstGeom prst="rect">
            <a:avLst/>
          </a:prstGeom>
          <a:noFill/>
          <a:ln/>
        </p:spPr>
        <p:txBody>
          <a:bodyPr wrap="square" lIns="0" tIns="0" rIns="0" bIns="0" rtlCol="0" anchor="ctr"/>
          <a:lstStyle/>
          <a:p>
            <a:pPr algn="l" indent="0" marL="0">
              <a:buNone/>
            </a:pPr>
            <a:r>
              <a:rPr lang="en-US" sz="1200" dirty="0">
                <a:solidFill>
                  <a:srgbClr val="C9CCD3"/>
                </a:solidFill>
                <a:latin typeface="Segoe UI Semibold" pitchFamily="34" charset="0"/>
                <a:ea typeface="Segoe UI Semibold" pitchFamily="34" charset="-122"/>
                <a:cs typeface="Segoe UI Semibold" pitchFamily="34" charset="-120"/>
              </a:rPr>
              <a:t>small</a:t>
            </a:r>
            <a:endParaRPr lang="en-US" sz="1200" dirty="0"/>
          </a:p>
        </p:txBody>
      </p:sp>
      <p:sp>
        <p:nvSpPr>
          <p:cNvPr id="60"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Then two voltages: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T</a:t>
            </a:r>
            <a:pPr algn="ctr" indent="0" marL="0">
              <a:buNone/>
            </a:pPr>
            <a:r>
              <a:rPr lang="en-US" sz="1600" dirty="0">
                <a:solidFill>
                  <a:srgbClr val="171A20"/>
                </a:solidFill>
                <a:latin typeface="Segoe UI" pitchFamily="34" charset="0"/>
                <a:ea typeface="Segoe UI" pitchFamily="34" charset="-122"/>
                <a:cs typeface="Segoe UI" pitchFamily="34" charset="-120"/>
              </a:rPr>
              <a:t> says where the switch turns on, SS how sharply.</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Reading the switch</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From the I</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curve we read the numbers that the rest of the project tracks</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171A20"/>
          </a:solidFill>
          <a:ln/>
        </p:spPr>
      </p:sp>
      <p:sp>
        <p:nvSpPr>
          <p:cNvPr id="6" name="!!sdot2"/>
          <p:cNvSpPr/>
          <p:nvPr/>
        </p:nvSpPr>
        <p:spPr>
          <a:xfrm>
            <a:off x="11599164" y="525780"/>
            <a:ext cx="82296" cy="82296"/>
          </a:xfrm>
          <a:prstGeom prst="ellipse">
            <a:avLst/>
          </a:prstGeom>
          <a:solidFill>
            <a:srgbClr val="171A20"/>
          </a:solidFill>
          <a:ln/>
        </p:spPr>
      </p:sp>
      <p:sp>
        <p:nvSpPr>
          <p:cNvPr id="7" name="!!axg0"/>
          <p:cNvSpPr/>
          <p:nvPr/>
        </p:nvSpPr>
        <p:spPr>
          <a:xfrm>
            <a:off x="1280160" y="4578531"/>
            <a:ext cx="4754880" cy="91"/>
          </a:xfrm>
          <a:prstGeom prst="line">
            <a:avLst/>
          </a:prstGeom>
          <a:noFill/>
          <a:ln w="9525">
            <a:solidFill>
              <a:srgbClr val="EDEEF0"/>
            </a:solidFill>
            <a:prstDash val="solid"/>
          </a:ln>
        </p:spPr>
      </p:sp>
      <p:sp>
        <p:nvSpPr>
          <p:cNvPr id="8" name="!!axg1"/>
          <p:cNvSpPr/>
          <p:nvPr/>
        </p:nvSpPr>
        <p:spPr>
          <a:xfrm>
            <a:off x="1280160" y="3585754"/>
            <a:ext cx="4754880" cy="91"/>
          </a:xfrm>
          <a:prstGeom prst="line">
            <a:avLst/>
          </a:prstGeom>
          <a:noFill/>
          <a:ln w="9525">
            <a:solidFill>
              <a:srgbClr val="EDEEF0"/>
            </a:solidFill>
            <a:prstDash val="solid"/>
          </a:ln>
        </p:spPr>
      </p:sp>
      <p:sp>
        <p:nvSpPr>
          <p:cNvPr id="9" name="!!axg2"/>
          <p:cNvSpPr/>
          <p:nvPr/>
        </p:nvSpPr>
        <p:spPr>
          <a:xfrm>
            <a:off x="1280160" y="2592977"/>
            <a:ext cx="4754880" cy="91"/>
          </a:xfrm>
          <a:prstGeom prst="line">
            <a:avLst/>
          </a:prstGeom>
          <a:noFill/>
          <a:ln w="9525">
            <a:solidFill>
              <a:srgbClr val="EDEEF0"/>
            </a:solidFill>
            <a:prstDash val="solid"/>
          </a:ln>
        </p:spPr>
      </p:sp>
      <p:sp>
        <p:nvSpPr>
          <p:cNvPr id="10" name="!!axg3"/>
          <p:cNvSpPr/>
          <p:nvPr/>
        </p:nvSpPr>
        <p:spPr>
          <a:xfrm>
            <a:off x="1280160" y="1600200"/>
            <a:ext cx="4754880" cy="91"/>
          </a:xfrm>
          <a:prstGeom prst="line">
            <a:avLst/>
          </a:prstGeom>
          <a:noFill/>
          <a:ln w="9525">
            <a:solidFill>
              <a:srgbClr val="EDEEF0"/>
            </a:solidFill>
            <a:prstDash val="solid"/>
          </a:ln>
        </p:spPr>
      </p:sp>
      <p:sp>
        <p:nvSpPr>
          <p:cNvPr id="11" name="!!axxa"/>
          <p:cNvSpPr/>
          <p:nvPr/>
        </p:nvSpPr>
        <p:spPr>
          <a:xfrm>
            <a:off x="1280160" y="5074920"/>
            <a:ext cx="4754880" cy="91"/>
          </a:xfrm>
          <a:prstGeom prst="line">
            <a:avLst/>
          </a:prstGeom>
          <a:noFill/>
          <a:ln w="12700">
            <a:solidFill>
              <a:srgbClr val="8A8D93"/>
            </a:solidFill>
            <a:prstDash val="solid"/>
          </a:ln>
        </p:spPr>
      </p:sp>
      <p:sp>
        <p:nvSpPr>
          <p:cNvPr id="12" name="!!axya"/>
          <p:cNvSpPr/>
          <p:nvPr/>
        </p:nvSpPr>
        <p:spPr>
          <a:xfrm>
            <a:off x="1280160" y="1600200"/>
            <a:ext cx="91" cy="3474720"/>
          </a:xfrm>
          <a:prstGeom prst="line">
            <a:avLst/>
          </a:prstGeom>
          <a:noFill/>
          <a:ln w="12700">
            <a:solidFill>
              <a:srgbClr val="8A8D93"/>
            </a:solidFill>
            <a:prstDash val="solid"/>
          </a:ln>
        </p:spPr>
      </p:sp>
      <p:sp>
        <p:nvSpPr>
          <p:cNvPr id="13" name="!!axxt0"/>
          <p:cNvSpPr txBox="1"/>
          <p:nvPr/>
        </p:nvSpPr>
        <p:spPr>
          <a:xfrm>
            <a:off x="96012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14" name="!!axxt1"/>
          <p:cNvSpPr txBox="1"/>
          <p:nvPr/>
        </p:nvSpPr>
        <p:spPr>
          <a:xfrm>
            <a:off x="1639389"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15" name="!!axxt2"/>
          <p:cNvSpPr txBox="1"/>
          <p:nvPr/>
        </p:nvSpPr>
        <p:spPr>
          <a:xfrm>
            <a:off x="2318657"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16" name="!!axxt3"/>
          <p:cNvSpPr txBox="1"/>
          <p:nvPr/>
        </p:nvSpPr>
        <p:spPr>
          <a:xfrm>
            <a:off x="2997926"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17" name="!!axxt4"/>
          <p:cNvSpPr txBox="1"/>
          <p:nvPr/>
        </p:nvSpPr>
        <p:spPr>
          <a:xfrm>
            <a:off x="3677194"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18" name="!!axxt5"/>
          <p:cNvSpPr txBox="1"/>
          <p:nvPr/>
        </p:nvSpPr>
        <p:spPr>
          <a:xfrm>
            <a:off x="4356463"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0.5</a:t>
            </a:r>
            <a:endParaRPr lang="en-US" sz="900" dirty="0"/>
          </a:p>
        </p:txBody>
      </p:sp>
      <p:sp>
        <p:nvSpPr>
          <p:cNvPr id="19" name="!!axxt6"/>
          <p:cNvSpPr txBox="1"/>
          <p:nvPr/>
        </p:nvSpPr>
        <p:spPr>
          <a:xfrm>
            <a:off x="5035731"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20" name="!!axxt7"/>
          <p:cNvSpPr txBox="1"/>
          <p:nvPr/>
        </p:nvSpPr>
        <p:spPr>
          <a:xfrm>
            <a:off x="571500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0.7</a:t>
            </a:r>
            <a:endParaRPr lang="en-US" sz="900" dirty="0"/>
          </a:p>
        </p:txBody>
      </p:sp>
      <p:sp>
        <p:nvSpPr>
          <p:cNvPr id="21" name="!!axyt0"/>
          <p:cNvSpPr txBox="1"/>
          <p:nvPr/>
        </p:nvSpPr>
        <p:spPr>
          <a:xfrm>
            <a:off x="594360" y="4477947"/>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22" name="!!axyt1"/>
          <p:cNvSpPr txBox="1"/>
          <p:nvPr/>
        </p:nvSpPr>
        <p:spPr>
          <a:xfrm>
            <a:off x="594360" y="348517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23" name="!!axyt2"/>
          <p:cNvSpPr txBox="1"/>
          <p:nvPr/>
        </p:nvSpPr>
        <p:spPr>
          <a:xfrm>
            <a:off x="594360" y="2492393"/>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24" name="!!axyt3"/>
          <p:cNvSpPr txBox="1"/>
          <p:nvPr/>
        </p:nvSpPr>
        <p:spPr>
          <a:xfrm>
            <a:off x="594360" y="14996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25" name="!!axxl"/>
          <p:cNvSpPr txBox="1"/>
          <p:nvPr/>
        </p:nvSpPr>
        <p:spPr>
          <a:xfrm>
            <a:off x="1280160" y="5349240"/>
            <a:ext cx="475488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26" name="!!axyl"/>
          <p:cNvSpPr txBox="1"/>
          <p:nvPr/>
        </p:nvSpPr>
        <p:spPr>
          <a:xfrm>
            <a:off x="109728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a:t>
            </a:r>
            <a:endParaRPr lang="en-US" sz="1100" dirty="0"/>
          </a:p>
        </p:txBody>
      </p:sp>
      <p:sp>
        <p:nvSpPr>
          <p:cNvPr id="27" name="!!rsHi"/>
          <p:cNvSpPr/>
          <p:nvPr/>
        </p:nvSpPr>
        <p:spPr>
          <a:xfrm>
            <a:off x="1280160" y="1861186"/>
            <a:ext cx="4754880" cy="2607714"/>
          </a:xfrm>
          <a:custGeom>
            <a:avLst/>
            <a:gdLst/>
            <a:ahLst/>
            <a:cxnLst/>
            <a:rect l="l" t="t" r="r" b="b"/>
            <a:pathLst>
              <a:path w="4754880" h="2607714">
                <a:moveTo>
                  <a:pt x="0" y="2607714"/>
                </a:moveTo>
                <a:lnTo>
                  <a:pt x="121920" y="2483518"/>
                </a:lnTo>
                <a:lnTo>
                  <a:pt x="243840" y="2359732"/>
                </a:lnTo>
                <a:lnTo>
                  <a:pt x="365760" y="2236490"/>
                </a:lnTo>
                <a:lnTo>
                  <a:pt x="487680" y="2113960"/>
                </a:lnTo>
                <a:lnTo>
                  <a:pt x="609600" y="1992364"/>
                </a:lnTo>
                <a:lnTo>
                  <a:pt x="731520" y="1871979"/>
                </a:lnTo>
                <a:lnTo>
                  <a:pt x="853440" y="1753152"/>
                </a:lnTo>
                <a:lnTo>
                  <a:pt x="975360" y="1636305"/>
                </a:lnTo>
                <a:lnTo>
                  <a:pt x="1097280" y="1521941"/>
                </a:lnTo>
                <a:lnTo>
                  <a:pt x="1219200" y="1410631"/>
                </a:lnTo>
                <a:lnTo>
                  <a:pt x="1341120" y="1302999"/>
                </a:lnTo>
                <a:lnTo>
                  <a:pt x="1463040" y="1199686"/>
                </a:lnTo>
                <a:lnTo>
                  <a:pt x="1584960" y="1101300"/>
                </a:lnTo>
                <a:lnTo>
                  <a:pt x="1706880" y="1008364"/>
                </a:lnTo>
                <a:lnTo>
                  <a:pt x="1828800" y="921263"/>
                </a:lnTo>
                <a:lnTo>
                  <a:pt x="1950720" y="840207"/>
                </a:lnTo>
                <a:lnTo>
                  <a:pt x="2072640" y="765222"/>
                </a:lnTo>
                <a:lnTo>
                  <a:pt x="2194560" y="696163"/>
                </a:lnTo>
                <a:lnTo>
                  <a:pt x="2316480" y="632745"/>
                </a:lnTo>
                <a:lnTo>
                  <a:pt x="2438400" y="574585"/>
                </a:lnTo>
                <a:lnTo>
                  <a:pt x="2560320" y="521248"/>
                </a:lnTo>
                <a:lnTo>
                  <a:pt x="2682240" y="472279"/>
                </a:lnTo>
                <a:lnTo>
                  <a:pt x="2804160" y="427230"/>
                </a:lnTo>
                <a:lnTo>
                  <a:pt x="2926080" y="385681"/>
                </a:lnTo>
                <a:lnTo>
                  <a:pt x="3048000" y="347245"/>
                </a:lnTo>
                <a:lnTo>
                  <a:pt x="3169920" y="311574"/>
                </a:lnTo>
                <a:lnTo>
                  <a:pt x="3291840" y="278359"/>
                </a:lnTo>
                <a:lnTo>
                  <a:pt x="3413760" y="247331"/>
                </a:lnTo>
                <a:lnTo>
                  <a:pt x="3535680" y="218252"/>
                </a:lnTo>
                <a:lnTo>
                  <a:pt x="3657600" y="190915"/>
                </a:lnTo>
                <a:lnTo>
                  <a:pt x="3779520" y="165142"/>
                </a:lnTo>
                <a:lnTo>
                  <a:pt x="3901440" y="140774"/>
                </a:lnTo>
                <a:lnTo>
                  <a:pt x="4023360" y="117676"/>
                </a:lnTo>
                <a:lnTo>
                  <a:pt x="4145280" y="95729"/>
                </a:lnTo>
                <a:lnTo>
                  <a:pt x="4267200" y="74827"/>
                </a:lnTo>
                <a:lnTo>
                  <a:pt x="4389120" y="54880"/>
                </a:lnTo>
                <a:lnTo>
                  <a:pt x="4511040" y="35806"/>
                </a:lnTo>
                <a:lnTo>
                  <a:pt x="4632960" y="17534"/>
                </a:lnTo>
                <a:lnTo>
                  <a:pt x="4754880" y="0"/>
                </a:lnTo>
              </a:path>
            </a:pathLst>
          </a:custGeom>
          <a:ln w="38100">
            <a:solidFill>
              <a:srgbClr val="3E6AE1"/>
            </a:solidFill>
            <a:prstDash val="solid"/>
          </a:ln>
        </p:spPr>
      </p:sp>
      <p:sp>
        <p:nvSpPr>
          <p:cNvPr id="28" name="!!rsHiL"/>
          <p:cNvSpPr txBox="1"/>
          <p:nvPr/>
        </p:nvSpPr>
        <p:spPr>
          <a:xfrm>
            <a:off x="3725527" y="2048550"/>
            <a:ext cx="1097280" cy="201168"/>
          </a:xfrm>
          <a:prstGeom prst="rect">
            <a:avLst/>
          </a:prstGeom>
          <a:noFill/>
          <a:ln/>
        </p:spPr>
        <p:txBody>
          <a:bodyPr wrap="square" lIns="0" tIns="0" rIns="0" bIns="0" rtlCol="0" anchor="t"/>
          <a:lstStyle/>
          <a:p>
            <a:pPr algn="l" indent="0" marL="0">
              <a:buNone/>
            </a:pPr>
            <a:r>
              <a:rPr lang="en-US" sz="1000" dirty="0">
                <a:solidFill>
                  <a:srgbClr val="3E6AE1"/>
                </a:solidFill>
                <a:latin typeface="Segoe UI Semibold" pitchFamily="34" charset="0"/>
                <a:ea typeface="Segoe UI Semibold" pitchFamily="34" charset="-122"/>
                <a:cs typeface="Segoe UI Semibold" pitchFamily="34" charset="-120"/>
              </a:rPr>
              <a:t>V</a:t>
            </a:r>
            <a:pPr algn="l" indent="0" marL="0">
              <a:buNone/>
            </a:pPr>
            <a:r>
              <a:rPr lang="en-US" sz="1000" baseline="-40000" dirty="0">
                <a:solidFill>
                  <a:srgbClr val="3E6AE1"/>
                </a:solidFill>
                <a:latin typeface="Segoe UI Semibold" pitchFamily="34" charset="0"/>
                <a:ea typeface="Segoe UI Semibold" pitchFamily="34" charset="-122"/>
                <a:cs typeface="Segoe UI Semibold" pitchFamily="34" charset="-120"/>
              </a:rPr>
              <a:t>D</a:t>
            </a:r>
            <a:pPr algn="l" indent="0" marL="0">
              <a:buNone/>
            </a:pPr>
            <a:r>
              <a:rPr lang="en-US" sz="1000" dirty="0">
                <a:solidFill>
                  <a:srgbClr val="3E6AE1"/>
                </a:solidFill>
                <a:latin typeface="Segoe UI Semibold" pitchFamily="34" charset="0"/>
                <a:ea typeface="Segoe UI Semibold" pitchFamily="34" charset="-122"/>
                <a:cs typeface="Segoe UI Semibold" pitchFamily="34" charset="-120"/>
              </a:rPr>
              <a:t> = 0.7 V</a:t>
            </a:r>
            <a:endParaRPr lang="en-US" sz="1000" dirty="0"/>
          </a:p>
        </p:txBody>
      </p:sp>
      <p:sp>
        <p:nvSpPr>
          <p:cNvPr id="29" name="!!rsLo"/>
          <p:cNvSpPr/>
          <p:nvPr/>
        </p:nvSpPr>
        <p:spPr>
          <a:xfrm>
            <a:off x="1280160" y="2149122"/>
            <a:ext cx="4754880" cy="2963119"/>
          </a:xfrm>
          <a:custGeom>
            <a:avLst/>
            <a:gdLst/>
            <a:ahLst/>
            <a:cxnLst/>
            <a:rect l="l" t="t" r="r" b="b"/>
            <a:pathLst>
              <a:path w="4754880" h="2963119">
                <a:moveTo>
                  <a:pt x="0" y="2963119"/>
                </a:moveTo>
                <a:lnTo>
                  <a:pt x="121920" y="2838154"/>
                </a:lnTo>
                <a:lnTo>
                  <a:pt x="243840" y="2713348"/>
                </a:lnTo>
                <a:lnTo>
                  <a:pt x="365760" y="2588754"/>
                </a:lnTo>
                <a:lnTo>
                  <a:pt x="487680" y="2464442"/>
                </a:lnTo>
                <a:lnTo>
                  <a:pt x="609600" y="2340503"/>
                </a:lnTo>
                <a:lnTo>
                  <a:pt x="731520" y="2217057"/>
                </a:lnTo>
                <a:lnTo>
                  <a:pt x="853440" y="2094261"/>
                </a:lnTo>
                <a:lnTo>
                  <a:pt x="975360" y="1972316"/>
                </a:lnTo>
                <a:lnTo>
                  <a:pt x="1097280" y="1851480"/>
                </a:lnTo>
                <a:lnTo>
                  <a:pt x="1219200" y="1732075"/>
                </a:lnTo>
                <a:lnTo>
                  <a:pt x="1341120" y="1614497"/>
                </a:lnTo>
                <a:lnTo>
                  <a:pt x="1463040" y="1499221"/>
                </a:lnTo>
                <a:lnTo>
                  <a:pt x="1584960" y="1386796"/>
                </a:lnTo>
                <a:lnTo>
                  <a:pt x="1706880" y="1277831"/>
                </a:lnTo>
                <a:lnTo>
                  <a:pt x="1828800" y="1172965"/>
                </a:lnTo>
                <a:lnTo>
                  <a:pt x="1950720" y="1072826"/>
                </a:lnTo>
                <a:lnTo>
                  <a:pt x="2072640" y="977970"/>
                </a:lnTo>
                <a:lnTo>
                  <a:pt x="2194560" y="888835"/>
                </a:lnTo>
                <a:lnTo>
                  <a:pt x="2316480" y="805694"/>
                </a:lnTo>
                <a:lnTo>
                  <a:pt x="2438400" y="728636"/>
                </a:lnTo>
                <a:lnTo>
                  <a:pt x="2560320" y="657572"/>
                </a:lnTo>
                <a:lnTo>
                  <a:pt x="2682240" y="592258"/>
                </a:lnTo>
                <a:lnTo>
                  <a:pt x="2804160" y="532343"/>
                </a:lnTo>
                <a:lnTo>
                  <a:pt x="2926080" y="477403"/>
                </a:lnTo>
                <a:lnTo>
                  <a:pt x="3048000" y="426987"/>
                </a:lnTo>
                <a:lnTo>
                  <a:pt x="3169920" y="380644"/>
                </a:lnTo>
                <a:lnTo>
                  <a:pt x="3291840" y="337940"/>
                </a:lnTo>
                <a:lnTo>
                  <a:pt x="3413760" y="298478"/>
                </a:lnTo>
                <a:lnTo>
                  <a:pt x="3535680" y="261896"/>
                </a:lnTo>
                <a:lnTo>
                  <a:pt x="3657600" y="227871"/>
                </a:lnTo>
                <a:lnTo>
                  <a:pt x="3779520" y="196122"/>
                </a:lnTo>
                <a:lnTo>
                  <a:pt x="3901440" y="166399"/>
                </a:lnTo>
                <a:lnTo>
                  <a:pt x="4023360" y="138487"/>
                </a:lnTo>
                <a:lnTo>
                  <a:pt x="4145280" y="112196"/>
                </a:lnTo>
                <a:lnTo>
                  <a:pt x="4267200" y="87362"/>
                </a:lnTo>
                <a:lnTo>
                  <a:pt x="4389120" y="63843"/>
                </a:lnTo>
                <a:lnTo>
                  <a:pt x="4511040" y="41514"/>
                </a:lnTo>
                <a:lnTo>
                  <a:pt x="4632960" y="20265"/>
                </a:lnTo>
                <a:lnTo>
                  <a:pt x="4754880" y="0"/>
                </a:lnTo>
              </a:path>
            </a:pathLst>
          </a:custGeom>
          <a:ln w="28575">
            <a:solidFill>
              <a:srgbClr val="11998E"/>
            </a:solidFill>
            <a:prstDash val="dash"/>
          </a:ln>
        </p:spPr>
      </p:sp>
      <p:sp>
        <p:nvSpPr>
          <p:cNvPr id="30" name="!!rsLoL"/>
          <p:cNvSpPr txBox="1"/>
          <p:nvPr/>
        </p:nvSpPr>
        <p:spPr>
          <a:xfrm>
            <a:off x="4812357" y="2526206"/>
            <a:ext cx="1097280" cy="201168"/>
          </a:xfrm>
          <a:prstGeom prst="rect">
            <a:avLst/>
          </a:prstGeom>
          <a:noFill/>
          <a:ln/>
        </p:spPr>
        <p:txBody>
          <a:bodyPr wrap="square" lIns="0" tIns="0" rIns="0" bIns="0" rtlCol="0" anchor="t"/>
          <a:lstStyle/>
          <a:p>
            <a:pPr algn="l" indent="0" marL="0">
              <a:buNone/>
            </a:pPr>
            <a:r>
              <a:rPr lang="en-US" sz="1000" dirty="0">
                <a:solidFill>
                  <a:srgbClr val="11998E"/>
                </a:solidFill>
                <a:latin typeface="Segoe UI Semibold" pitchFamily="34" charset="0"/>
                <a:ea typeface="Segoe UI Semibold" pitchFamily="34" charset="-122"/>
                <a:cs typeface="Segoe UI Semibold" pitchFamily="34" charset="-120"/>
              </a:rPr>
              <a:t>V</a:t>
            </a:r>
            <a:pPr algn="l" indent="0" marL="0">
              <a:buNone/>
            </a:pPr>
            <a:r>
              <a:rPr lang="en-US" sz="1000" baseline="-40000" dirty="0">
                <a:solidFill>
                  <a:srgbClr val="11998E"/>
                </a:solidFill>
                <a:latin typeface="Segoe UI Semibold" pitchFamily="34" charset="0"/>
                <a:ea typeface="Segoe UI Semibold" pitchFamily="34" charset="-122"/>
                <a:cs typeface="Segoe UI Semibold" pitchFamily="34" charset="-120"/>
              </a:rPr>
              <a:t>D</a:t>
            </a:r>
            <a:pPr algn="l" indent="0" marL="0">
              <a:buNone/>
            </a:pPr>
            <a:r>
              <a:rPr lang="en-US" sz="1000" dirty="0">
                <a:solidFill>
                  <a:srgbClr val="11998E"/>
                </a:solidFill>
                <a:latin typeface="Segoe UI Semibold" pitchFamily="34" charset="0"/>
                <a:ea typeface="Segoe UI Semibold" pitchFamily="34" charset="-122"/>
                <a:cs typeface="Segoe UI Semibold" pitchFamily="34" charset="-120"/>
              </a:rPr>
              <a:t> = 0.05 V</a:t>
            </a:r>
            <a:endParaRPr lang="en-US" sz="1000" dirty="0"/>
          </a:p>
        </p:txBody>
      </p:sp>
      <p:sp>
        <p:nvSpPr>
          <p:cNvPr id="31" name="!!rsDibl"/>
          <p:cNvSpPr/>
          <p:nvPr/>
        </p:nvSpPr>
        <p:spPr>
          <a:xfrm>
            <a:off x="1942447" y="3585754"/>
            <a:ext cx="645305" cy="91"/>
          </a:xfrm>
          <a:prstGeom prst="line">
            <a:avLst/>
          </a:prstGeom>
          <a:noFill/>
          <a:ln w="25400">
            <a:solidFill>
              <a:srgbClr val="6B5BC4"/>
            </a:solidFill>
            <a:prstDash val="solid"/>
            <a:headEnd type="triangle"/>
            <a:tailEnd type="triangle"/>
          </a:ln>
        </p:spPr>
      </p:sp>
      <p:sp>
        <p:nvSpPr>
          <p:cNvPr id="32" name="!!rsDiblL"/>
          <p:cNvSpPr txBox="1"/>
          <p:nvPr/>
        </p:nvSpPr>
        <p:spPr>
          <a:xfrm>
            <a:off x="2660904" y="3476026"/>
            <a:ext cx="1645920" cy="219456"/>
          </a:xfrm>
          <a:prstGeom prst="rect">
            <a:avLst/>
          </a:prstGeom>
          <a:noFill/>
          <a:ln/>
        </p:spPr>
        <p:txBody>
          <a:bodyPr wrap="square" lIns="0" tIns="0" rIns="0" bIns="0" rtlCol="0" anchor="t"/>
          <a:lstStyle/>
          <a:p>
            <a:pPr algn="l" indent="0" marL="0">
              <a:buNone/>
            </a:pPr>
            <a:r>
              <a:rPr lang="en-US" sz="1000" dirty="0">
                <a:solidFill>
                  <a:srgbClr val="6B5BC4"/>
                </a:solidFill>
                <a:latin typeface="Segoe UI Semibold" pitchFamily="34" charset="0"/>
                <a:ea typeface="Segoe UI Semibold" pitchFamily="34" charset="-122"/>
                <a:cs typeface="Segoe UI Semibold" pitchFamily="34" charset="-120"/>
              </a:rPr>
              <a:t>DIBL = shift ÷ ΔV</a:t>
            </a:r>
            <a:pPr algn="l" indent="0" marL="0">
              <a:buNone/>
            </a:pPr>
            <a:r>
              <a:rPr lang="en-US" sz="1000" baseline="-40000" dirty="0">
                <a:solidFill>
                  <a:srgbClr val="6B5BC4"/>
                </a:solidFill>
                <a:latin typeface="Segoe UI Semibold" pitchFamily="34" charset="0"/>
                <a:ea typeface="Segoe UI Semibold" pitchFamily="34" charset="-122"/>
                <a:cs typeface="Segoe UI Semibold" pitchFamily="34" charset="-120"/>
              </a:rPr>
              <a:t>D</a:t>
            </a:r>
            <a:endParaRPr lang="en-US" sz="1000" dirty="0"/>
          </a:p>
        </p:txBody>
      </p:sp>
      <p:sp>
        <p:nvSpPr>
          <p:cNvPr id="33" name="!!rsOff"/>
          <p:cNvSpPr/>
          <p:nvPr/>
        </p:nvSpPr>
        <p:spPr>
          <a:xfrm>
            <a:off x="1197864" y="4386604"/>
            <a:ext cx="164592" cy="164592"/>
          </a:xfrm>
          <a:prstGeom prst="ellipse">
            <a:avLst/>
          </a:prstGeom>
          <a:solidFill>
            <a:srgbClr val="D64545"/>
          </a:solidFill>
          <a:ln/>
        </p:spPr>
      </p:sp>
      <p:sp>
        <p:nvSpPr>
          <p:cNvPr id="34" name="!!rsOffL"/>
          <p:cNvSpPr txBox="1"/>
          <p:nvPr/>
        </p:nvSpPr>
        <p:spPr>
          <a:xfrm>
            <a:off x="1408176" y="4450612"/>
            <a:ext cx="731520" cy="219456"/>
          </a:xfrm>
          <a:prstGeom prst="rect">
            <a:avLst/>
          </a:prstGeom>
          <a:noFill/>
          <a:ln/>
        </p:spPr>
        <p:txBody>
          <a:bodyPr wrap="square" lIns="0" tIns="0" rIns="0" bIns="0" rtlCol="0" anchor="t"/>
          <a:lstStyle/>
          <a:p>
            <a:pPr algn="l" indent="0" marL="0">
              <a:buNone/>
            </a:pPr>
            <a:r>
              <a:rPr lang="en-US" sz="1100" dirty="0">
                <a:solidFill>
                  <a:srgbClr val="D64545"/>
                </a:solidFill>
                <a:latin typeface="Segoe UI Semibold" pitchFamily="34" charset="0"/>
                <a:ea typeface="Segoe UI Semibold" pitchFamily="34" charset="-122"/>
                <a:cs typeface="Segoe UI Semibold" pitchFamily="34" charset="-120"/>
              </a:rPr>
              <a:t>I</a:t>
            </a:r>
            <a:pPr algn="l" indent="0" marL="0">
              <a:buNone/>
            </a:pPr>
            <a:r>
              <a:rPr lang="en-US" sz="1100" baseline="-40000" dirty="0">
                <a:solidFill>
                  <a:srgbClr val="D64545"/>
                </a:solidFill>
                <a:latin typeface="Segoe UI Semibold" pitchFamily="34" charset="0"/>
                <a:ea typeface="Segoe UI Semibold" pitchFamily="34" charset="-122"/>
                <a:cs typeface="Segoe UI Semibold" pitchFamily="34" charset="-120"/>
              </a:rPr>
              <a:t>off</a:t>
            </a:r>
            <a:endParaRPr lang="en-US" sz="1100" dirty="0"/>
          </a:p>
        </p:txBody>
      </p:sp>
      <p:sp>
        <p:nvSpPr>
          <p:cNvPr id="35" name="!!rsOn"/>
          <p:cNvSpPr/>
          <p:nvPr/>
        </p:nvSpPr>
        <p:spPr>
          <a:xfrm>
            <a:off x="5952744" y="1778890"/>
            <a:ext cx="164592" cy="164592"/>
          </a:xfrm>
          <a:prstGeom prst="ellipse">
            <a:avLst/>
          </a:prstGeom>
          <a:solidFill>
            <a:srgbClr val="2E9E4F"/>
          </a:solidFill>
          <a:ln/>
        </p:spPr>
      </p:sp>
      <p:sp>
        <p:nvSpPr>
          <p:cNvPr id="36" name="!!rsOnL"/>
          <p:cNvSpPr txBox="1"/>
          <p:nvPr/>
        </p:nvSpPr>
        <p:spPr>
          <a:xfrm>
            <a:off x="5394960" y="1916050"/>
            <a:ext cx="548640" cy="219456"/>
          </a:xfrm>
          <a:prstGeom prst="rect">
            <a:avLst/>
          </a:prstGeom>
          <a:noFill/>
          <a:ln/>
        </p:spPr>
        <p:txBody>
          <a:bodyPr wrap="square" lIns="0" tIns="0" rIns="0" bIns="0" rtlCol="0" anchor="t"/>
          <a:lstStyle/>
          <a:p>
            <a:pPr algn="r" indent="0" marL="0">
              <a:buNone/>
            </a:pPr>
            <a:r>
              <a:rPr lang="en-US" sz="1100" dirty="0">
                <a:solidFill>
                  <a:srgbClr val="2E9E4F"/>
                </a:solidFill>
                <a:latin typeface="Segoe UI Semibold" pitchFamily="34" charset="0"/>
                <a:ea typeface="Segoe UI Semibold" pitchFamily="34" charset="-122"/>
                <a:cs typeface="Segoe UI Semibold" pitchFamily="34" charset="-120"/>
              </a:rPr>
              <a:t>I</a:t>
            </a:r>
            <a:pPr algn="r" indent="0" marL="0">
              <a:buNone/>
            </a:pPr>
            <a:r>
              <a:rPr lang="en-US" sz="1100" baseline="-40000" dirty="0">
                <a:solidFill>
                  <a:srgbClr val="2E9E4F"/>
                </a:solidFill>
                <a:latin typeface="Segoe UI Semibold" pitchFamily="34" charset="0"/>
                <a:ea typeface="Segoe UI Semibold" pitchFamily="34" charset="-122"/>
                <a:cs typeface="Segoe UI Semibold" pitchFamily="34" charset="-120"/>
              </a:rPr>
              <a:t>on</a:t>
            </a:r>
            <a:endParaRPr lang="en-US" sz="1100" dirty="0"/>
          </a:p>
        </p:txBody>
      </p:sp>
      <p:sp>
        <p:nvSpPr>
          <p:cNvPr id="37" name="!!rsVT"/>
          <p:cNvSpPr/>
          <p:nvPr/>
        </p:nvSpPr>
        <p:spPr>
          <a:xfrm>
            <a:off x="2896035" y="2793703"/>
            <a:ext cx="164592" cy="164592"/>
          </a:xfrm>
          <a:prstGeom prst="ellipse">
            <a:avLst/>
          </a:prstGeom>
          <a:solidFill>
            <a:srgbClr val="3E6AE1"/>
          </a:solidFill>
          <a:ln/>
        </p:spPr>
      </p:sp>
      <p:sp>
        <p:nvSpPr>
          <p:cNvPr id="38" name="!!rsVTL"/>
          <p:cNvSpPr txBox="1"/>
          <p:nvPr/>
        </p:nvSpPr>
        <p:spPr>
          <a:xfrm>
            <a:off x="3088059" y="2857711"/>
            <a:ext cx="548640" cy="219456"/>
          </a:xfrm>
          <a:prstGeom prst="rect">
            <a:avLst/>
          </a:prstGeom>
          <a:noFill/>
          <a:ln/>
        </p:spPr>
        <p:txBody>
          <a:bodyPr wrap="square" lIns="0" tIns="0" rIns="0" bIns="0" rtlCol="0" anchor="t"/>
          <a:lstStyle/>
          <a:p>
            <a:pPr algn="l" indent="0" marL="0">
              <a:buNone/>
            </a:pPr>
            <a:r>
              <a:rPr lang="en-US" sz="1100" dirty="0">
                <a:solidFill>
                  <a:srgbClr val="3E6AE1"/>
                </a:solidFill>
                <a:latin typeface="Segoe UI Semibold" pitchFamily="34" charset="0"/>
                <a:ea typeface="Segoe UI Semibold" pitchFamily="34" charset="-122"/>
                <a:cs typeface="Segoe UI Semibold" pitchFamily="34" charset="-120"/>
              </a:rPr>
              <a:t>V</a:t>
            </a:r>
            <a:pPr algn="l" indent="0" marL="0">
              <a:buNone/>
            </a:pPr>
            <a:r>
              <a:rPr lang="en-US" sz="1100" baseline="-40000" dirty="0">
                <a:solidFill>
                  <a:srgbClr val="3E6AE1"/>
                </a:solidFill>
                <a:latin typeface="Segoe UI Semibold" pitchFamily="34" charset="0"/>
                <a:ea typeface="Segoe UI Semibold" pitchFamily="34" charset="-122"/>
                <a:cs typeface="Segoe UI Semibold" pitchFamily="34" charset="-120"/>
              </a:rPr>
              <a:t>T</a:t>
            </a:r>
            <a:endParaRPr lang="en-US" sz="1100" dirty="0"/>
          </a:p>
        </p:txBody>
      </p:sp>
      <p:sp>
        <p:nvSpPr>
          <p:cNvPr id="39" name="!!rsSS"/>
          <p:cNvSpPr/>
          <p:nvPr/>
        </p:nvSpPr>
        <p:spPr>
          <a:xfrm>
            <a:off x="1823575" y="3449944"/>
            <a:ext cx="482281" cy="469485"/>
          </a:xfrm>
          <a:custGeom>
            <a:avLst/>
            <a:gdLst/>
            <a:ahLst/>
            <a:cxnLst/>
            <a:rect l="l" t="t" r="r" b="b"/>
            <a:pathLst>
              <a:path w="482281" h="469485">
                <a:moveTo>
                  <a:pt x="0" y="469485"/>
                </a:moveTo>
                <a:lnTo>
                  <a:pt x="482281" y="469485"/>
                </a:lnTo>
                <a:lnTo>
                  <a:pt x="482281" y="0"/>
                </a:lnTo>
              </a:path>
            </a:pathLst>
          </a:custGeom>
          <a:ln w="25400">
            <a:solidFill>
              <a:srgbClr val="E07B00"/>
            </a:solidFill>
            <a:prstDash val="solid"/>
          </a:ln>
        </p:spPr>
      </p:sp>
      <p:sp>
        <p:nvSpPr>
          <p:cNvPr id="40" name="!!rsSSL"/>
          <p:cNvSpPr txBox="1"/>
          <p:nvPr/>
        </p:nvSpPr>
        <p:spPr>
          <a:xfrm>
            <a:off x="2379008" y="3901141"/>
            <a:ext cx="1463040" cy="219456"/>
          </a:xfrm>
          <a:prstGeom prst="rect">
            <a:avLst/>
          </a:prstGeom>
          <a:noFill/>
          <a:ln/>
        </p:spPr>
        <p:txBody>
          <a:bodyPr wrap="square" lIns="0" tIns="0" rIns="0" bIns="0" rtlCol="0" anchor="t"/>
          <a:lstStyle/>
          <a:p>
            <a:pPr algn="l" indent="0" marL="0">
              <a:buNone/>
            </a:pPr>
            <a:r>
              <a:rPr lang="en-US" sz="1000" dirty="0">
                <a:solidFill>
                  <a:srgbClr val="E07B00"/>
                </a:solidFill>
                <a:latin typeface="Segoe UI Semibold" pitchFamily="34" charset="0"/>
                <a:ea typeface="Segoe UI Semibold" pitchFamily="34" charset="-122"/>
                <a:cs typeface="Segoe UI Semibold" pitchFamily="34" charset="-120"/>
              </a:rPr>
              <a:t>SS: mV per ×10</a:t>
            </a:r>
            <a:endParaRPr lang="en-US" sz="1000" dirty="0"/>
          </a:p>
        </p:txBody>
      </p:sp>
      <p:sp>
        <p:nvSpPr>
          <p:cNvPr id="41" name="!!rsH1"/>
          <p:cNvSpPr txBox="1"/>
          <p:nvPr/>
        </p:nvSpPr>
        <p:spPr>
          <a:xfrm>
            <a:off x="6858000" y="1554480"/>
            <a:ext cx="109728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Metric</a:t>
            </a:r>
            <a:endParaRPr lang="en-US" sz="1100" dirty="0"/>
          </a:p>
        </p:txBody>
      </p:sp>
      <p:sp>
        <p:nvSpPr>
          <p:cNvPr id="42" name="!!rsH2"/>
          <p:cNvSpPr txBox="1"/>
          <p:nvPr/>
        </p:nvSpPr>
        <p:spPr>
          <a:xfrm>
            <a:off x="7955280" y="1554480"/>
            <a:ext cx="237744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What it tells</a:t>
            </a:r>
            <a:endParaRPr lang="en-US" sz="1100" dirty="0"/>
          </a:p>
        </p:txBody>
      </p:sp>
      <p:sp>
        <p:nvSpPr>
          <p:cNvPr id="43" name="!!rsH3"/>
          <p:cNvSpPr txBox="1"/>
          <p:nvPr/>
        </p:nvSpPr>
        <p:spPr>
          <a:xfrm>
            <a:off x="10424160" y="1554480"/>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Good is</a:t>
            </a:r>
            <a:endParaRPr lang="en-US" sz="1100" dirty="0"/>
          </a:p>
        </p:txBody>
      </p:sp>
      <p:sp>
        <p:nvSpPr>
          <p:cNvPr id="44" name="!!rsR0"/>
          <p:cNvSpPr/>
          <p:nvPr/>
        </p:nvSpPr>
        <p:spPr>
          <a:xfrm>
            <a:off x="6766560" y="1874520"/>
            <a:ext cx="4873752" cy="548640"/>
          </a:xfrm>
          <a:prstGeom prst="roundRect">
            <a:avLst>
              <a:gd name="adj" fmla="val 10000"/>
            </a:avLst>
          </a:prstGeom>
          <a:solidFill>
            <a:srgbClr val="F4F5F7"/>
          </a:solidFill>
          <a:ln/>
        </p:spPr>
      </p:sp>
      <p:sp>
        <p:nvSpPr>
          <p:cNvPr id="45" name="!!rsM0"/>
          <p:cNvSpPr txBox="1"/>
          <p:nvPr/>
        </p:nvSpPr>
        <p:spPr>
          <a:xfrm>
            <a:off x="6903720" y="1993392"/>
            <a:ext cx="1005840" cy="310896"/>
          </a:xfrm>
          <a:prstGeom prst="rect">
            <a:avLst/>
          </a:prstGeom>
          <a:noFill/>
          <a:ln/>
        </p:spPr>
        <p:txBody>
          <a:bodyPr wrap="square" lIns="0" tIns="0" rIns="0" bIns="0" rtlCol="0" anchor="ctr"/>
          <a:lstStyle/>
          <a:p>
            <a:pPr algn="l" indent="0" marL="0">
              <a:buNone/>
            </a:pPr>
            <a:r>
              <a:rPr lang="en-US" sz="1600" dirty="0">
                <a:solidFill>
                  <a:srgbClr val="2E9E4F"/>
                </a:solidFill>
                <a:latin typeface="Segoe UI Semibold" pitchFamily="34" charset="0"/>
                <a:ea typeface="Segoe UI Semibold" pitchFamily="34" charset="-122"/>
                <a:cs typeface="Segoe UI Semibold" pitchFamily="34" charset="-120"/>
              </a:rPr>
              <a:t>I</a:t>
            </a:r>
            <a:pPr algn="l" indent="0" marL="0">
              <a:buNone/>
            </a:pPr>
            <a:r>
              <a:rPr lang="en-US" sz="1600" baseline="-40000" dirty="0">
                <a:solidFill>
                  <a:srgbClr val="2E9E4F"/>
                </a:solidFill>
                <a:latin typeface="Segoe UI Semibold" pitchFamily="34" charset="0"/>
                <a:ea typeface="Segoe UI Semibold" pitchFamily="34" charset="-122"/>
                <a:cs typeface="Segoe UI Semibold" pitchFamily="34" charset="-120"/>
              </a:rPr>
              <a:t>on</a:t>
            </a:r>
            <a:endParaRPr lang="en-US" sz="1600" dirty="0"/>
          </a:p>
        </p:txBody>
      </p:sp>
      <p:sp>
        <p:nvSpPr>
          <p:cNvPr id="46" name="!!rsT0"/>
          <p:cNvSpPr txBox="1"/>
          <p:nvPr/>
        </p:nvSpPr>
        <p:spPr>
          <a:xfrm>
            <a:off x="7955280" y="1993392"/>
            <a:ext cx="242316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pitchFamily="34" charset="0"/>
                <a:ea typeface="Segoe UI" pitchFamily="34" charset="-122"/>
                <a:cs typeface="Segoe UI" pitchFamily="34" charset="-120"/>
              </a:rPr>
              <a:t>current when on: speed</a:t>
            </a:r>
            <a:endParaRPr lang="en-US" sz="1200" dirty="0"/>
          </a:p>
        </p:txBody>
      </p:sp>
      <p:sp>
        <p:nvSpPr>
          <p:cNvPr id="47" name="!!rsG0"/>
          <p:cNvSpPr txBox="1"/>
          <p:nvPr/>
        </p:nvSpPr>
        <p:spPr>
          <a:xfrm>
            <a:off x="10424160" y="1993392"/>
            <a:ext cx="114300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Semibold" pitchFamily="34" charset="0"/>
                <a:ea typeface="Segoe UI Semibold" pitchFamily="34" charset="-122"/>
                <a:cs typeface="Segoe UI Semibold" pitchFamily="34" charset="-120"/>
              </a:rPr>
              <a:t>large</a:t>
            </a:r>
            <a:endParaRPr lang="en-US" sz="1200" dirty="0"/>
          </a:p>
        </p:txBody>
      </p:sp>
      <p:sp>
        <p:nvSpPr>
          <p:cNvPr id="48" name="!!rsR1"/>
          <p:cNvSpPr/>
          <p:nvPr/>
        </p:nvSpPr>
        <p:spPr>
          <a:xfrm>
            <a:off x="6766560" y="2532888"/>
            <a:ext cx="4873752" cy="548640"/>
          </a:xfrm>
          <a:prstGeom prst="roundRect">
            <a:avLst>
              <a:gd name="adj" fmla="val 10000"/>
            </a:avLst>
          </a:prstGeom>
          <a:solidFill>
            <a:srgbClr val="F4F5F7"/>
          </a:solidFill>
          <a:ln/>
        </p:spPr>
      </p:sp>
      <p:sp>
        <p:nvSpPr>
          <p:cNvPr id="49" name="!!rsM1"/>
          <p:cNvSpPr txBox="1"/>
          <p:nvPr/>
        </p:nvSpPr>
        <p:spPr>
          <a:xfrm>
            <a:off x="6903720" y="2651760"/>
            <a:ext cx="1005840" cy="310896"/>
          </a:xfrm>
          <a:prstGeom prst="rect">
            <a:avLst/>
          </a:prstGeom>
          <a:noFill/>
          <a:ln/>
        </p:spPr>
        <p:txBody>
          <a:bodyPr wrap="square" lIns="0" tIns="0" rIns="0" bIns="0" rtlCol="0" anchor="ctr"/>
          <a:lstStyle/>
          <a:p>
            <a:pPr algn="l" indent="0" marL="0">
              <a:buNone/>
            </a:pPr>
            <a:r>
              <a:rPr lang="en-US" sz="1600" dirty="0">
                <a:solidFill>
                  <a:srgbClr val="D64545"/>
                </a:solidFill>
                <a:latin typeface="Segoe UI Semibold" pitchFamily="34" charset="0"/>
                <a:ea typeface="Segoe UI Semibold" pitchFamily="34" charset="-122"/>
                <a:cs typeface="Segoe UI Semibold" pitchFamily="34" charset="-120"/>
              </a:rPr>
              <a:t>I</a:t>
            </a:r>
            <a:pPr algn="l" indent="0" marL="0">
              <a:buNone/>
            </a:pPr>
            <a:r>
              <a:rPr lang="en-US" sz="1600" baseline="-40000" dirty="0">
                <a:solidFill>
                  <a:srgbClr val="D64545"/>
                </a:solidFill>
                <a:latin typeface="Segoe UI Semibold" pitchFamily="34" charset="0"/>
                <a:ea typeface="Segoe UI Semibold" pitchFamily="34" charset="-122"/>
                <a:cs typeface="Segoe UI Semibold" pitchFamily="34" charset="-120"/>
              </a:rPr>
              <a:t>off</a:t>
            </a:r>
            <a:endParaRPr lang="en-US" sz="1600" dirty="0"/>
          </a:p>
        </p:txBody>
      </p:sp>
      <p:sp>
        <p:nvSpPr>
          <p:cNvPr id="50" name="!!rsT1"/>
          <p:cNvSpPr txBox="1"/>
          <p:nvPr/>
        </p:nvSpPr>
        <p:spPr>
          <a:xfrm>
            <a:off x="7955280" y="2651760"/>
            <a:ext cx="242316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pitchFamily="34" charset="0"/>
                <a:ea typeface="Segoe UI" pitchFamily="34" charset="-122"/>
                <a:cs typeface="Segoe UI" pitchFamily="34" charset="-120"/>
              </a:rPr>
              <a:t>leakage when off: standby power</a:t>
            </a:r>
            <a:endParaRPr lang="en-US" sz="1200" dirty="0"/>
          </a:p>
        </p:txBody>
      </p:sp>
      <p:sp>
        <p:nvSpPr>
          <p:cNvPr id="51" name="!!rsG1"/>
          <p:cNvSpPr txBox="1"/>
          <p:nvPr/>
        </p:nvSpPr>
        <p:spPr>
          <a:xfrm>
            <a:off x="10424160" y="2651760"/>
            <a:ext cx="114300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Semibold" pitchFamily="34" charset="0"/>
                <a:ea typeface="Segoe UI Semibold" pitchFamily="34" charset="-122"/>
                <a:cs typeface="Segoe UI Semibold" pitchFamily="34" charset="-120"/>
              </a:rPr>
              <a:t>small</a:t>
            </a:r>
            <a:endParaRPr lang="en-US" sz="1200" dirty="0"/>
          </a:p>
        </p:txBody>
      </p:sp>
      <p:sp>
        <p:nvSpPr>
          <p:cNvPr id="52" name="!!rsR2"/>
          <p:cNvSpPr/>
          <p:nvPr/>
        </p:nvSpPr>
        <p:spPr>
          <a:xfrm>
            <a:off x="6766560" y="3191256"/>
            <a:ext cx="4873752" cy="548640"/>
          </a:xfrm>
          <a:prstGeom prst="roundRect">
            <a:avLst>
              <a:gd name="adj" fmla="val 10000"/>
            </a:avLst>
          </a:prstGeom>
          <a:solidFill>
            <a:srgbClr val="F4F5F7"/>
          </a:solidFill>
          <a:ln/>
        </p:spPr>
      </p:sp>
      <p:sp>
        <p:nvSpPr>
          <p:cNvPr id="53" name="!!rsM2"/>
          <p:cNvSpPr txBox="1"/>
          <p:nvPr/>
        </p:nvSpPr>
        <p:spPr>
          <a:xfrm>
            <a:off x="6903720" y="3310128"/>
            <a:ext cx="1005840" cy="310896"/>
          </a:xfrm>
          <a:prstGeom prst="rect">
            <a:avLst/>
          </a:prstGeom>
          <a:noFill/>
          <a:ln/>
        </p:spPr>
        <p:txBody>
          <a:bodyPr wrap="square" lIns="0" tIns="0" rIns="0" bIns="0" rtlCol="0" anchor="ctr"/>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V</a:t>
            </a:r>
            <a:pPr algn="l" indent="0" marL="0">
              <a:buNone/>
            </a:pPr>
            <a:r>
              <a:rPr lang="en-US" sz="1600" baseline="-40000" dirty="0">
                <a:solidFill>
                  <a:srgbClr val="3E6AE1"/>
                </a:solidFill>
                <a:latin typeface="Segoe UI Semibold" pitchFamily="34" charset="0"/>
                <a:ea typeface="Segoe UI Semibold" pitchFamily="34" charset="-122"/>
                <a:cs typeface="Segoe UI Semibold" pitchFamily="34" charset="-120"/>
              </a:rPr>
              <a:t>T</a:t>
            </a:r>
            <a:endParaRPr lang="en-US" sz="1600" dirty="0"/>
          </a:p>
        </p:txBody>
      </p:sp>
      <p:sp>
        <p:nvSpPr>
          <p:cNvPr id="54" name="!!rsT2"/>
          <p:cNvSpPr txBox="1"/>
          <p:nvPr/>
        </p:nvSpPr>
        <p:spPr>
          <a:xfrm>
            <a:off x="7955280" y="3310128"/>
            <a:ext cx="242316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pitchFamily="34" charset="0"/>
                <a:ea typeface="Segoe UI" pitchFamily="34" charset="-122"/>
                <a:cs typeface="Segoe UI" pitchFamily="34" charset="-120"/>
              </a:rPr>
              <a:t>gate voltage where it turns on</a:t>
            </a:r>
            <a:endParaRPr lang="en-US" sz="1200" dirty="0"/>
          </a:p>
        </p:txBody>
      </p:sp>
      <p:sp>
        <p:nvSpPr>
          <p:cNvPr id="55" name="!!rsG2"/>
          <p:cNvSpPr txBox="1"/>
          <p:nvPr/>
        </p:nvSpPr>
        <p:spPr>
          <a:xfrm>
            <a:off x="10424160" y="3310128"/>
            <a:ext cx="114300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Semibold" pitchFamily="34" charset="0"/>
                <a:ea typeface="Segoe UI Semibold" pitchFamily="34" charset="-122"/>
                <a:cs typeface="Segoe UI Semibold" pitchFamily="34" charset="-120"/>
              </a:rPr>
              <a:t>set by design</a:t>
            </a:r>
            <a:endParaRPr lang="en-US" sz="1200" dirty="0"/>
          </a:p>
        </p:txBody>
      </p:sp>
      <p:sp>
        <p:nvSpPr>
          <p:cNvPr id="56" name="!!rsR3"/>
          <p:cNvSpPr/>
          <p:nvPr/>
        </p:nvSpPr>
        <p:spPr>
          <a:xfrm>
            <a:off x="6766560" y="3849624"/>
            <a:ext cx="4873752" cy="548640"/>
          </a:xfrm>
          <a:prstGeom prst="roundRect">
            <a:avLst>
              <a:gd name="adj" fmla="val 10000"/>
            </a:avLst>
          </a:prstGeom>
          <a:solidFill>
            <a:srgbClr val="F4F5F7"/>
          </a:solidFill>
          <a:ln/>
        </p:spPr>
      </p:sp>
      <p:sp>
        <p:nvSpPr>
          <p:cNvPr id="57" name="!!rsM3"/>
          <p:cNvSpPr txBox="1"/>
          <p:nvPr/>
        </p:nvSpPr>
        <p:spPr>
          <a:xfrm>
            <a:off x="6903720" y="3968496"/>
            <a:ext cx="1005840" cy="310896"/>
          </a:xfrm>
          <a:prstGeom prst="rect">
            <a:avLst/>
          </a:prstGeom>
          <a:noFill/>
          <a:ln/>
        </p:spPr>
        <p:txBody>
          <a:bodyPr wrap="square" lIns="0" tIns="0" rIns="0" bIns="0" rtlCol="0" anchor="ctr"/>
          <a:lstStyle/>
          <a:p>
            <a:pPr algn="l" indent="0" marL="0">
              <a:buNone/>
            </a:pPr>
            <a:r>
              <a:rPr lang="en-US" sz="1600" dirty="0">
                <a:solidFill>
                  <a:srgbClr val="E07B00"/>
                </a:solidFill>
                <a:latin typeface="Segoe UI Semibold" pitchFamily="34" charset="0"/>
                <a:ea typeface="Segoe UI Semibold" pitchFamily="34" charset="-122"/>
                <a:cs typeface="Segoe UI Semibold" pitchFamily="34" charset="-120"/>
              </a:rPr>
              <a:t>SS</a:t>
            </a:r>
            <a:endParaRPr lang="en-US" sz="1600" dirty="0"/>
          </a:p>
        </p:txBody>
      </p:sp>
      <p:sp>
        <p:nvSpPr>
          <p:cNvPr id="58" name="!!rsT3"/>
          <p:cNvSpPr txBox="1"/>
          <p:nvPr/>
        </p:nvSpPr>
        <p:spPr>
          <a:xfrm>
            <a:off x="7955280" y="3968496"/>
            <a:ext cx="242316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pitchFamily="34" charset="0"/>
                <a:ea typeface="Segoe UI" pitchFamily="34" charset="-122"/>
                <a:cs typeface="Segoe UI" pitchFamily="34" charset="-120"/>
              </a:rPr>
              <a:t>mV of V</a:t>
            </a:r>
            <a:pPr algn="l" indent="0" marL="0">
              <a:buNone/>
            </a:pPr>
            <a:r>
              <a:rPr lang="en-US" sz="1200" baseline="-40000" dirty="0">
                <a:solidFill>
                  <a:srgbClr val="171A20"/>
                </a:solidFill>
                <a:latin typeface="Segoe UI" pitchFamily="34" charset="0"/>
                <a:ea typeface="Segoe UI" pitchFamily="34" charset="-122"/>
                <a:cs typeface="Segoe UI" pitchFamily="34" charset="-120"/>
              </a:rPr>
              <a:t>G</a:t>
            </a:r>
            <a:pPr algn="l" indent="0" marL="0">
              <a:buNone/>
            </a:pPr>
            <a:r>
              <a:rPr lang="en-US" sz="1200" dirty="0">
                <a:solidFill>
                  <a:srgbClr val="171A20"/>
                </a:solidFill>
                <a:latin typeface="Segoe UI" pitchFamily="34" charset="0"/>
                <a:ea typeface="Segoe UI" pitchFamily="34" charset="-122"/>
                <a:cs typeface="Segoe UI" pitchFamily="34" charset="-120"/>
              </a:rPr>
              <a:t> for 10× current</a:t>
            </a:r>
            <a:endParaRPr lang="en-US" sz="1200" dirty="0"/>
          </a:p>
        </p:txBody>
      </p:sp>
      <p:sp>
        <p:nvSpPr>
          <p:cNvPr id="59" name="!!rsG3"/>
          <p:cNvSpPr txBox="1"/>
          <p:nvPr/>
        </p:nvSpPr>
        <p:spPr>
          <a:xfrm>
            <a:off x="10424160" y="3968496"/>
            <a:ext cx="114300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Semibold" pitchFamily="34" charset="0"/>
                <a:ea typeface="Segoe UI Semibold" pitchFamily="34" charset="-122"/>
                <a:cs typeface="Segoe UI Semibold" pitchFamily="34" charset="-120"/>
              </a:rPr>
              <a:t>→ 60 mV/dec</a:t>
            </a:r>
            <a:endParaRPr lang="en-US" sz="1200" dirty="0"/>
          </a:p>
        </p:txBody>
      </p:sp>
      <p:sp>
        <p:nvSpPr>
          <p:cNvPr id="60" name="!!rsR4"/>
          <p:cNvSpPr/>
          <p:nvPr/>
        </p:nvSpPr>
        <p:spPr>
          <a:xfrm>
            <a:off x="6766560" y="4507992"/>
            <a:ext cx="4873752" cy="548640"/>
          </a:xfrm>
          <a:prstGeom prst="roundRect">
            <a:avLst>
              <a:gd name="adj" fmla="val 10000"/>
            </a:avLst>
          </a:prstGeom>
          <a:solidFill>
            <a:srgbClr val="F4F5F7"/>
          </a:solidFill>
          <a:ln/>
        </p:spPr>
      </p:sp>
      <p:sp>
        <p:nvSpPr>
          <p:cNvPr id="61" name="!!rsM4"/>
          <p:cNvSpPr txBox="1"/>
          <p:nvPr/>
        </p:nvSpPr>
        <p:spPr>
          <a:xfrm>
            <a:off x="6903720" y="4626864"/>
            <a:ext cx="1005840" cy="310896"/>
          </a:xfrm>
          <a:prstGeom prst="rect">
            <a:avLst/>
          </a:prstGeom>
          <a:noFill/>
          <a:ln/>
        </p:spPr>
        <p:txBody>
          <a:bodyPr wrap="square" lIns="0" tIns="0" rIns="0" bIns="0" rtlCol="0" anchor="ctr"/>
          <a:lstStyle/>
          <a:p>
            <a:pPr algn="l" indent="0" marL="0">
              <a:buNone/>
            </a:pPr>
            <a:r>
              <a:rPr lang="en-US" sz="1600" dirty="0">
                <a:solidFill>
                  <a:srgbClr val="6B5BC4"/>
                </a:solidFill>
                <a:latin typeface="Segoe UI Semibold" pitchFamily="34" charset="0"/>
                <a:ea typeface="Segoe UI Semibold" pitchFamily="34" charset="-122"/>
                <a:cs typeface="Segoe UI Semibold" pitchFamily="34" charset="-120"/>
              </a:rPr>
              <a:t>DIBL</a:t>
            </a:r>
            <a:endParaRPr lang="en-US" sz="1600" dirty="0"/>
          </a:p>
        </p:txBody>
      </p:sp>
      <p:sp>
        <p:nvSpPr>
          <p:cNvPr id="62" name="!!rsT4"/>
          <p:cNvSpPr txBox="1"/>
          <p:nvPr/>
        </p:nvSpPr>
        <p:spPr>
          <a:xfrm>
            <a:off x="7955280" y="4626864"/>
            <a:ext cx="242316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pitchFamily="34" charset="0"/>
                <a:ea typeface="Segoe UI" pitchFamily="34" charset="-122"/>
                <a:cs typeface="Segoe UI" pitchFamily="34" charset="-120"/>
              </a:rPr>
              <a:t>how much the drain moves V</a:t>
            </a:r>
            <a:pPr algn="l" indent="0" marL="0">
              <a:buNone/>
            </a:pPr>
            <a:r>
              <a:rPr lang="en-US" sz="1200" baseline="-40000" dirty="0">
                <a:solidFill>
                  <a:srgbClr val="171A20"/>
                </a:solidFill>
                <a:latin typeface="Segoe UI" pitchFamily="34" charset="0"/>
                <a:ea typeface="Segoe UI" pitchFamily="34" charset="-122"/>
                <a:cs typeface="Segoe UI" pitchFamily="34" charset="-120"/>
              </a:rPr>
              <a:t>T</a:t>
            </a:r>
            <a:endParaRPr lang="en-US" sz="1200" dirty="0"/>
          </a:p>
        </p:txBody>
      </p:sp>
      <p:sp>
        <p:nvSpPr>
          <p:cNvPr id="63" name="!!rsG4"/>
          <p:cNvSpPr txBox="1"/>
          <p:nvPr/>
        </p:nvSpPr>
        <p:spPr>
          <a:xfrm>
            <a:off x="10424160" y="4626864"/>
            <a:ext cx="1143000" cy="310896"/>
          </a:xfrm>
          <a:prstGeom prst="rect">
            <a:avLst/>
          </a:prstGeom>
          <a:noFill/>
          <a:ln/>
        </p:spPr>
        <p:txBody>
          <a:bodyPr wrap="square" lIns="0" tIns="0" rIns="0" bIns="0" rtlCol="0" anchor="ctr"/>
          <a:lstStyle/>
          <a:p>
            <a:pPr algn="l" indent="0" marL="0">
              <a:buNone/>
            </a:pPr>
            <a:r>
              <a:rPr lang="en-US" sz="1200" dirty="0">
                <a:solidFill>
                  <a:srgbClr val="171A20"/>
                </a:solidFill>
                <a:latin typeface="Segoe UI Semibold" pitchFamily="34" charset="0"/>
                <a:ea typeface="Segoe UI Semibold" pitchFamily="34" charset="-122"/>
                <a:cs typeface="Segoe UI Semibold" pitchFamily="34" charset="-120"/>
              </a:rPr>
              <a:t>small</a:t>
            </a:r>
            <a:endParaRPr lang="en-US" sz="1200" dirty="0"/>
          </a:p>
        </p:txBody>
      </p:sp>
      <p:sp>
        <p:nvSpPr>
          <p:cNvPr id="64"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DIBL compares two drain voltages: it shows if the drain is stealing control from the gate.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What sets V</a:t>
            </a:r>
            <a:pPr algn="l" indent="0" marL="0">
              <a:buNone/>
            </a:pPr>
            <a:r>
              <a:rPr lang="en-US" sz="3000" baseline="-40000" dirty="0">
                <a:solidFill>
                  <a:srgbClr val="171A20"/>
                </a:solidFill>
                <a:latin typeface="Segoe UI" pitchFamily="34" charset="0"/>
                <a:ea typeface="Segoe UI" pitchFamily="34" charset="-122"/>
                <a:cs typeface="Segoe UI" pitchFamily="34" charset="-120"/>
              </a:rPr>
              <a:t>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Energy bands from the gate (left) through the oxide into the p-type silicon (right)</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E2E3E3"/>
          </a:solidFill>
          <a:ln/>
        </p:spPr>
      </p:sp>
      <p:sp>
        <p:nvSpPr>
          <p:cNvPr id="6" name="!!sdot2"/>
          <p:cNvSpPr/>
          <p:nvPr/>
        </p:nvSpPr>
        <p:spPr>
          <a:xfrm>
            <a:off x="11288268" y="525780"/>
            <a:ext cx="82296" cy="82296"/>
          </a:xfrm>
          <a:prstGeom prst="ellipse">
            <a:avLst/>
          </a:prstGeom>
          <a:solidFill>
            <a:srgbClr val="E2E3E3"/>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vbM"/>
          <p:cNvSpPr/>
          <p:nvPr/>
        </p:nvSpPr>
        <p:spPr>
          <a:xfrm>
            <a:off x="731520" y="1600200"/>
            <a:ext cx="1280160" cy="3291840"/>
          </a:xfrm>
          <a:prstGeom prst="rect">
            <a:avLst/>
          </a:prstGeom>
          <a:solidFill>
            <a:srgbClr val="B3A6E6">
              <a:alpha val="60000"/>
            </a:srgbClr>
          </a:solidFill>
          <a:ln/>
        </p:spPr>
      </p:sp>
      <p:sp>
        <p:nvSpPr>
          <p:cNvPr id="10" name="!!vbO"/>
          <p:cNvSpPr/>
          <p:nvPr/>
        </p:nvSpPr>
        <p:spPr>
          <a:xfrm>
            <a:off x="2011680" y="1600200"/>
            <a:ext cx="365760" cy="3291840"/>
          </a:xfrm>
          <a:prstGeom prst="rect">
            <a:avLst/>
          </a:prstGeom>
          <a:solidFill>
            <a:srgbClr val="CDEBF5"/>
          </a:solidFill>
          <a:ln/>
        </p:spPr>
      </p:sp>
      <p:sp>
        <p:nvSpPr>
          <p:cNvPr id="11" name="!!vbML"/>
          <p:cNvSpPr txBox="1"/>
          <p:nvPr/>
        </p:nvSpPr>
        <p:spPr>
          <a:xfrm>
            <a:off x="731520" y="4937760"/>
            <a:ext cx="12801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gate metal</a:t>
            </a:r>
            <a:endParaRPr lang="en-US" sz="1000" dirty="0"/>
          </a:p>
        </p:txBody>
      </p:sp>
      <p:sp>
        <p:nvSpPr>
          <p:cNvPr id="12" name="!!vbOL"/>
          <p:cNvSpPr txBox="1"/>
          <p:nvPr/>
        </p:nvSpPr>
        <p:spPr>
          <a:xfrm>
            <a:off x="1920240" y="4937760"/>
            <a:ext cx="54864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oxide</a:t>
            </a:r>
            <a:endParaRPr lang="en-US" sz="1000" dirty="0"/>
          </a:p>
        </p:txBody>
      </p:sp>
      <p:sp>
        <p:nvSpPr>
          <p:cNvPr id="13" name="!!vbSL"/>
          <p:cNvSpPr txBox="1"/>
          <p:nvPr/>
        </p:nvSpPr>
        <p:spPr>
          <a:xfrm>
            <a:off x="4389120" y="4937760"/>
            <a:ext cx="2011680" cy="219456"/>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a:t>
            </a:r>
            <a:endParaRPr lang="en-US" sz="1000" dirty="0"/>
          </a:p>
        </p:txBody>
      </p:sp>
      <p:sp>
        <p:nvSpPr>
          <p:cNvPr id="14" name="!!vbL0"/>
          <p:cNvSpPr/>
          <p:nvPr/>
        </p:nvSpPr>
        <p:spPr>
          <a:xfrm>
            <a:off x="2377440" y="2728570"/>
            <a:ext cx="4023360" cy="9144"/>
          </a:xfrm>
          <a:custGeom>
            <a:avLst/>
            <a:gdLst/>
            <a:ahLst/>
            <a:cxnLst/>
            <a:rect l="l" t="t" r="r" b="b"/>
            <a:pathLst>
              <a:path w="4023360" h="9144">
                <a:moveTo>
                  <a:pt x="0" y="0"/>
                </a:moveTo>
                <a:lnTo>
                  <a:pt x="138737" y="0"/>
                </a:lnTo>
                <a:lnTo>
                  <a:pt x="277473" y="0"/>
                </a:lnTo>
                <a:lnTo>
                  <a:pt x="416210" y="0"/>
                </a:lnTo>
                <a:lnTo>
                  <a:pt x="554946" y="0"/>
                </a:lnTo>
                <a:lnTo>
                  <a:pt x="693683" y="0"/>
                </a:lnTo>
                <a:lnTo>
                  <a:pt x="832419" y="0"/>
                </a:lnTo>
                <a:lnTo>
                  <a:pt x="971156" y="0"/>
                </a:lnTo>
                <a:lnTo>
                  <a:pt x="1109892" y="0"/>
                </a:lnTo>
                <a:lnTo>
                  <a:pt x="1248629" y="0"/>
                </a:lnTo>
                <a:lnTo>
                  <a:pt x="1387366" y="0"/>
                </a:lnTo>
                <a:lnTo>
                  <a:pt x="1526102" y="0"/>
                </a:lnTo>
                <a:lnTo>
                  <a:pt x="1664839" y="0"/>
                </a:lnTo>
                <a:lnTo>
                  <a:pt x="1803575" y="0"/>
                </a:lnTo>
                <a:lnTo>
                  <a:pt x="1942312" y="0"/>
                </a:lnTo>
                <a:lnTo>
                  <a:pt x="2081048" y="0"/>
                </a:lnTo>
                <a:lnTo>
                  <a:pt x="2219785" y="0"/>
                </a:lnTo>
                <a:lnTo>
                  <a:pt x="2358521" y="0"/>
                </a:lnTo>
                <a:lnTo>
                  <a:pt x="2497258" y="0"/>
                </a:lnTo>
                <a:lnTo>
                  <a:pt x="2635994" y="0"/>
                </a:lnTo>
                <a:lnTo>
                  <a:pt x="2774731" y="0"/>
                </a:lnTo>
                <a:lnTo>
                  <a:pt x="2913468" y="0"/>
                </a:lnTo>
                <a:lnTo>
                  <a:pt x="3052204" y="0"/>
                </a:lnTo>
                <a:lnTo>
                  <a:pt x="3190941" y="0"/>
                </a:lnTo>
                <a:lnTo>
                  <a:pt x="3329677" y="0"/>
                </a:lnTo>
                <a:lnTo>
                  <a:pt x="3468414" y="0"/>
                </a:lnTo>
                <a:lnTo>
                  <a:pt x="3607150" y="0"/>
                </a:lnTo>
                <a:lnTo>
                  <a:pt x="3745887" y="0"/>
                </a:lnTo>
                <a:lnTo>
                  <a:pt x="3884623" y="0"/>
                </a:lnTo>
                <a:lnTo>
                  <a:pt x="4023360" y="0"/>
                </a:lnTo>
              </a:path>
            </a:pathLst>
          </a:custGeom>
          <a:ln w="28575">
            <a:solidFill>
              <a:srgbClr val="171A20"/>
            </a:solidFill>
            <a:prstDash val="solid"/>
          </a:ln>
        </p:spPr>
      </p:sp>
      <p:sp>
        <p:nvSpPr>
          <p:cNvPr id="15" name="!!vbLl0"/>
          <p:cNvSpPr txBox="1"/>
          <p:nvPr/>
        </p:nvSpPr>
        <p:spPr>
          <a:xfrm>
            <a:off x="6446520" y="2618842"/>
            <a:ext cx="457200" cy="219456"/>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E</a:t>
            </a:r>
            <a:pPr algn="l" indent="0" marL="0">
              <a:buNone/>
            </a:pPr>
            <a:r>
              <a:rPr lang="en-US" sz="1100" baseline="-40000" dirty="0">
                <a:solidFill>
                  <a:srgbClr val="171A20"/>
                </a:solidFill>
                <a:latin typeface="Segoe UI" pitchFamily="34" charset="0"/>
                <a:ea typeface="Segoe UI" pitchFamily="34" charset="-122"/>
                <a:cs typeface="Segoe UI" pitchFamily="34" charset="-120"/>
              </a:rPr>
              <a:t>C</a:t>
            </a:r>
            <a:endParaRPr lang="en-US" sz="1100" dirty="0"/>
          </a:p>
        </p:txBody>
      </p:sp>
      <p:sp>
        <p:nvSpPr>
          <p:cNvPr id="16" name="!!vbL1"/>
          <p:cNvSpPr/>
          <p:nvPr/>
        </p:nvSpPr>
        <p:spPr>
          <a:xfrm>
            <a:off x="2377440" y="3266237"/>
            <a:ext cx="4023360" cy="9144"/>
          </a:xfrm>
          <a:custGeom>
            <a:avLst/>
            <a:gdLst/>
            <a:ahLst/>
            <a:cxnLst/>
            <a:rect l="l" t="t" r="r" b="b"/>
            <a:pathLst>
              <a:path w="4023360" h="9144">
                <a:moveTo>
                  <a:pt x="0" y="0"/>
                </a:moveTo>
                <a:lnTo>
                  <a:pt x="138737" y="0"/>
                </a:lnTo>
                <a:lnTo>
                  <a:pt x="277473" y="0"/>
                </a:lnTo>
                <a:lnTo>
                  <a:pt x="416210" y="0"/>
                </a:lnTo>
                <a:lnTo>
                  <a:pt x="554946" y="0"/>
                </a:lnTo>
                <a:lnTo>
                  <a:pt x="693683" y="0"/>
                </a:lnTo>
                <a:lnTo>
                  <a:pt x="832419" y="0"/>
                </a:lnTo>
                <a:lnTo>
                  <a:pt x="971156" y="0"/>
                </a:lnTo>
                <a:lnTo>
                  <a:pt x="1109892" y="0"/>
                </a:lnTo>
                <a:lnTo>
                  <a:pt x="1248629" y="0"/>
                </a:lnTo>
                <a:lnTo>
                  <a:pt x="1387366" y="0"/>
                </a:lnTo>
                <a:lnTo>
                  <a:pt x="1526102" y="0"/>
                </a:lnTo>
                <a:lnTo>
                  <a:pt x="1664839" y="0"/>
                </a:lnTo>
                <a:lnTo>
                  <a:pt x="1803575" y="0"/>
                </a:lnTo>
                <a:lnTo>
                  <a:pt x="1942312" y="0"/>
                </a:lnTo>
                <a:lnTo>
                  <a:pt x="2081048" y="0"/>
                </a:lnTo>
                <a:lnTo>
                  <a:pt x="2219785" y="0"/>
                </a:lnTo>
                <a:lnTo>
                  <a:pt x="2358521" y="0"/>
                </a:lnTo>
                <a:lnTo>
                  <a:pt x="2497258" y="0"/>
                </a:lnTo>
                <a:lnTo>
                  <a:pt x="2635994" y="0"/>
                </a:lnTo>
                <a:lnTo>
                  <a:pt x="2774731" y="0"/>
                </a:lnTo>
                <a:lnTo>
                  <a:pt x="2913468" y="0"/>
                </a:lnTo>
                <a:lnTo>
                  <a:pt x="3052204" y="0"/>
                </a:lnTo>
                <a:lnTo>
                  <a:pt x="3190941" y="0"/>
                </a:lnTo>
                <a:lnTo>
                  <a:pt x="3329677" y="0"/>
                </a:lnTo>
                <a:lnTo>
                  <a:pt x="3468414" y="0"/>
                </a:lnTo>
                <a:lnTo>
                  <a:pt x="3607150" y="0"/>
                </a:lnTo>
                <a:lnTo>
                  <a:pt x="3745887" y="0"/>
                </a:lnTo>
                <a:lnTo>
                  <a:pt x="3884623" y="0"/>
                </a:lnTo>
                <a:lnTo>
                  <a:pt x="4023360" y="0"/>
                </a:lnTo>
              </a:path>
            </a:pathLst>
          </a:custGeom>
          <a:ln w="15875">
            <a:solidFill>
              <a:srgbClr val="8A8D93"/>
            </a:solidFill>
            <a:prstDash val="dash"/>
          </a:ln>
        </p:spPr>
      </p:sp>
      <p:sp>
        <p:nvSpPr>
          <p:cNvPr id="17" name="!!vbLl1"/>
          <p:cNvSpPr txBox="1"/>
          <p:nvPr/>
        </p:nvSpPr>
        <p:spPr>
          <a:xfrm>
            <a:off x="6446520" y="3156509"/>
            <a:ext cx="457200" cy="219456"/>
          </a:xfrm>
          <a:prstGeom prst="rect">
            <a:avLst/>
          </a:prstGeom>
          <a:noFill/>
          <a:ln/>
        </p:spPr>
        <p:txBody>
          <a:bodyPr wrap="square" lIns="0" tIns="0" rIns="0" bIns="0" rtlCol="0" anchor="t"/>
          <a:lstStyle/>
          <a:p>
            <a:pPr algn="l" indent="0" marL="0">
              <a:buNone/>
            </a:pPr>
            <a:r>
              <a:rPr lang="en-US" sz="1100" dirty="0">
                <a:solidFill>
                  <a:srgbClr val="8A8D93"/>
                </a:solidFill>
                <a:latin typeface="Segoe UI" pitchFamily="34" charset="0"/>
                <a:ea typeface="Segoe UI" pitchFamily="34" charset="-122"/>
                <a:cs typeface="Segoe UI" pitchFamily="34" charset="-120"/>
              </a:rPr>
              <a:t>E</a:t>
            </a:r>
            <a:pPr algn="l" indent="0" marL="0">
              <a:buNone/>
            </a:pPr>
            <a:r>
              <a:rPr lang="en-US" sz="1100" baseline="-40000" dirty="0">
                <a:solidFill>
                  <a:srgbClr val="8A8D93"/>
                </a:solidFill>
                <a:latin typeface="Segoe UI" pitchFamily="34" charset="0"/>
                <a:ea typeface="Segoe UI" pitchFamily="34" charset="-122"/>
                <a:cs typeface="Segoe UI" pitchFamily="34" charset="-120"/>
              </a:rPr>
              <a:t>i</a:t>
            </a:r>
            <a:endParaRPr lang="en-US" sz="1100" dirty="0"/>
          </a:p>
        </p:txBody>
      </p:sp>
      <p:sp>
        <p:nvSpPr>
          <p:cNvPr id="18" name="!!vbL2"/>
          <p:cNvSpPr/>
          <p:nvPr/>
        </p:nvSpPr>
        <p:spPr>
          <a:xfrm>
            <a:off x="2377440" y="3803904"/>
            <a:ext cx="4023360" cy="9144"/>
          </a:xfrm>
          <a:custGeom>
            <a:avLst/>
            <a:gdLst/>
            <a:ahLst/>
            <a:cxnLst/>
            <a:rect l="l" t="t" r="r" b="b"/>
            <a:pathLst>
              <a:path w="4023360" h="9144">
                <a:moveTo>
                  <a:pt x="0" y="0"/>
                </a:moveTo>
                <a:lnTo>
                  <a:pt x="138737" y="0"/>
                </a:lnTo>
                <a:lnTo>
                  <a:pt x="277473" y="0"/>
                </a:lnTo>
                <a:lnTo>
                  <a:pt x="416210" y="0"/>
                </a:lnTo>
                <a:lnTo>
                  <a:pt x="554946" y="0"/>
                </a:lnTo>
                <a:lnTo>
                  <a:pt x="693683" y="0"/>
                </a:lnTo>
                <a:lnTo>
                  <a:pt x="832419" y="0"/>
                </a:lnTo>
                <a:lnTo>
                  <a:pt x="971156" y="0"/>
                </a:lnTo>
                <a:lnTo>
                  <a:pt x="1109892" y="0"/>
                </a:lnTo>
                <a:lnTo>
                  <a:pt x="1248629" y="0"/>
                </a:lnTo>
                <a:lnTo>
                  <a:pt x="1387366" y="0"/>
                </a:lnTo>
                <a:lnTo>
                  <a:pt x="1526102" y="0"/>
                </a:lnTo>
                <a:lnTo>
                  <a:pt x="1664839" y="0"/>
                </a:lnTo>
                <a:lnTo>
                  <a:pt x="1803575" y="0"/>
                </a:lnTo>
                <a:lnTo>
                  <a:pt x="1942312" y="0"/>
                </a:lnTo>
                <a:lnTo>
                  <a:pt x="2081048" y="0"/>
                </a:lnTo>
                <a:lnTo>
                  <a:pt x="2219785" y="0"/>
                </a:lnTo>
                <a:lnTo>
                  <a:pt x="2358521" y="0"/>
                </a:lnTo>
                <a:lnTo>
                  <a:pt x="2497258" y="0"/>
                </a:lnTo>
                <a:lnTo>
                  <a:pt x="2635994" y="0"/>
                </a:lnTo>
                <a:lnTo>
                  <a:pt x="2774731" y="0"/>
                </a:lnTo>
                <a:lnTo>
                  <a:pt x="2913468" y="0"/>
                </a:lnTo>
                <a:lnTo>
                  <a:pt x="3052204" y="0"/>
                </a:lnTo>
                <a:lnTo>
                  <a:pt x="3190941" y="0"/>
                </a:lnTo>
                <a:lnTo>
                  <a:pt x="3329677" y="0"/>
                </a:lnTo>
                <a:lnTo>
                  <a:pt x="3468414" y="0"/>
                </a:lnTo>
                <a:lnTo>
                  <a:pt x="3607150" y="0"/>
                </a:lnTo>
                <a:lnTo>
                  <a:pt x="3745887" y="0"/>
                </a:lnTo>
                <a:lnTo>
                  <a:pt x="3884623" y="0"/>
                </a:lnTo>
                <a:lnTo>
                  <a:pt x="4023360" y="0"/>
                </a:lnTo>
              </a:path>
            </a:pathLst>
          </a:custGeom>
          <a:ln w="28575">
            <a:solidFill>
              <a:srgbClr val="171A20"/>
            </a:solidFill>
            <a:prstDash val="solid"/>
          </a:ln>
        </p:spPr>
      </p:sp>
      <p:sp>
        <p:nvSpPr>
          <p:cNvPr id="19" name="!!vbLl2"/>
          <p:cNvSpPr txBox="1"/>
          <p:nvPr/>
        </p:nvSpPr>
        <p:spPr>
          <a:xfrm>
            <a:off x="6446520" y="3694176"/>
            <a:ext cx="457200" cy="219456"/>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E</a:t>
            </a:r>
            <a:pPr algn="l" indent="0" marL="0">
              <a:buNone/>
            </a:pPr>
            <a:r>
              <a:rPr lang="en-US" sz="1100" baseline="-40000" dirty="0">
                <a:solidFill>
                  <a:srgbClr val="171A20"/>
                </a:solidFill>
                <a:latin typeface="Segoe UI" pitchFamily="34" charset="0"/>
                <a:ea typeface="Segoe UI" pitchFamily="34" charset="-122"/>
                <a:cs typeface="Segoe UI" pitchFamily="34" charset="-120"/>
              </a:rPr>
              <a:t>V</a:t>
            </a:r>
            <a:endParaRPr lang="en-US" sz="1100" dirty="0"/>
          </a:p>
        </p:txBody>
      </p:sp>
      <p:sp>
        <p:nvSpPr>
          <p:cNvPr id="20" name="!!vbEF"/>
          <p:cNvSpPr/>
          <p:nvPr/>
        </p:nvSpPr>
        <p:spPr>
          <a:xfrm>
            <a:off x="2377440" y="3611880"/>
            <a:ext cx="4023360" cy="91"/>
          </a:xfrm>
          <a:prstGeom prst="line">
            <a:avLst/>
          </a:prstGeom>
          <a:noFill/>
          <a:ln w="19050">
            <a:solidFill>
              <a:srgbClr val="D64545"/>
            </a:solidFill>
            <a:prstDash val="solid"/>
          </a:ln>
        </p:spPr>
      </p:sp>
      <p:sp>
        <p:nvSpPr>
          <p:cNvPr id="21" name="!!vbEFl"/>
          <p:cNvSpPr txBox="1"/>
          <p:nvPr/>
        </p:nvSpPr>
        <p:spPr>
          <a:xfrm>
            <a:off x="6446520" y="3502152"/>
            <a:ext cx="457200" cy="219456"/>
          </a:xfrm>
          <a:prstGeom prst="rect">
            <a:avLst/>
          </a:prstGeom>
          <a:noFill/>
          <a:ln/>
        </p:spPr>
        <p:txBody>
          <a:bodyPr wrap="square" lIns="0" tIns="0" rIns="0" bIns="0" rtlCol="0" anchor="t"/>
          <a:lstStyle/>
          <a:p>
            <a:pPr algn="l" indent="0" marL="0">
              <a:buNone/>
            </a:pPr>
            <a:r>
              <a:rPr lang="en-US" sz="1100" dirty="0">
                <a:solidFill>
                  <a:srgbClr val="D64545"/>
                </a:solidFill>
                <a:latin typeface="Segoe UI" pitchFamily="34" charset="0"/>
                <a:ea typeface="Segoe UI" pitchFamily="34" charset="-122"/>
                <a:cs typeface="Segoe UI" pitchFamily="34" charset="-120"/>
              </a:rPr>
              <a:t>E</a:t>
            </a:r>
            <a:pPr algn="l" indent="0" marL="0">
              <a:buNone/>
            </a:pPr>
            <a:r>
              <a:rPr lang="en-US" sz="1100" baseline="-40000" dirty="0">
                <a:solidFill>
                  <a:srgbClr val="D64545"/>
                </a:solidFill>
                <a:latin typeface="Segoe UI" pitchFamily="34" charset="0"/>
                <a:ea typeface="Segoe UI" pitchFamily="34" charset="-122"/>
                <a:cs typeface="Segoe UI" pitchFamily="34" charset="-120"/>
              </a:rPr>
              <a:t>F</a:t>
            </a:r>
            <a:endParaRPr lang="en-US" sz="1100" dirty="0"/>
          </a:p>
        </p:txBody>
      </p:sp>
      <p:sp>
        <p:nvSpPr>
          <p:cNvPr id="22" name="!!vbEFm"/>
          <p:cNvSpPr/>
          <p:nvPr/>
        </p:nvSpPr>
        <p:spPr>
          <a:xfrm>
            <a:off x="731520" y="3160624"/>
            <a:ext cx="1280160" cy="91"/>
          </a:xfrm>
          <a:prstGeom prst="line">
            <a:avLst/>
          </a:prstGeom>
          <a:noFill/>
          <a:ln w="25400">
            <a:solidFill>
              <a:srgbClr val="D64545"/>
            </a:solidFill>
            <a:prstDash val="solid"/>
          </a:ln>
        </p:spPr>
      </p:sp>
      <p:sp>
        <p:nvSpPr>
          <p:cNvPr id="23" name="!!vbEFml"/>
          <p:cNvSpPr txBox="1"/>
          <p:nvPr/>
        </p:nvSpPr>
        <p:spPr>
          <a:xfrm>
            <a:off x="731520" y="2886304"/>
            <a:ext cx="1280160" cy="219456"/>
          </a:xfrm>
          <a:prstGeom prst="rect">
            <a:avLst/>
          </a:prstGeom>
          <a:noFill/>
          <a:ln/>
        </p:spPr>
        <p:txBody>
          <a:bodyPr wrap="square" lIns="0" tIns="0" rIns="0" bIns="0" rtlCol="0" anchor="t"/>
          <a:lstStyle/>
          <a:p>
            <a:pPr algn="ctr" indent="0" marL="0">
              <a:buNone/>
            </a:pPr>
            <a:r>
              <a:rPr lang="en-US" sz="1000" dirty="0">
                <a:solidFill>
                  <a:srgbClr val="D64545"/>
                </a:solidFill>
                <a:latin typeface="Segoe UI" pitchFamily="34" charset="0"/>
                <a:ea typeface="Segoe UI" pitchFamily="34" charset="-122"/>
                <a:cs typeface="Segoe UI" pitchFamily="34" charset="-120"/>
              </a:rPr>
              <a:t>E</a:t>
            </a:r>
            <a:pPr algn="ctr" indent="0" marL="0">
              <a:buNone/>
            </a:pPr>
            <a:r>
              <a:rPr lang="en-US" sz="1000" baseline="-40000" dirty="0">
                <a:solidFill>
                  <a:srgbClr val="D64545"/>
                </a:solidFill>
                <a:latin typeface="Segoe UI" pitchFamily="34" charset="0"/>
                <a:ea typeface="Segoe UI" pitchFamily="34" charset="-122"/>
                <a:cs typeface="Segoe UI" pitchFamily="34" charset="-120"/>
              </a:rPr>
              <a:t>F</a:t>
            </a:r>
            <a:pPr algn="ctr" indent="0" marL="0">
              <a:buNone/>
            </a:pPr>
            <a:r>
              <a:rPr lang="en-US" sz="1000" dirty="0">
                <a:solidFill>
                  <a:srgbClr val="D64545"/>
                </a:solidFill>
                <a:latin typeface="Segoe UI" pitchFamily="34" charset="0"/>
                <a:ea typeface="Segoe UI" pitchFamily="34" charset="-122"/>
                <a:cs typeface="Segoe UI" pitchFamily="34" charset="-120"/>
              </a:rPr>
              <a:t> (metal)</a:t>
            </a:r>
            <a:endParaRPr lang="en-US" sz="1000" dirty="0"/>
          </a:p>
        </p:txBody>
      </p:sp>
      <p:sp>
        <p:nvSpPr>
          <p:cNvPr id="24" name="!!vbVG"/>
          <p:cNvSpPr txBox="1"/>
          <p:nvPr/>
        </p:nvSpPr>
        <p:spPr>
          <a:xfrm>
            <a:off x="731520" y="1298448"/>
            <a:ext cx="1463040" cy="237744"/>
          </a:xfrm>
          <a:prstGeom prst="rect">
            <a:avLst/>
          </a:prstGeom>
          <a:noFill/>
          <a:ln/>
        </p:spPr>
        <p:txBody>
          <a:bodyPr wrap="square" lIns="0" tIns="0" rIns="0" bIns="0" rtlCol="0" anchor="t"/>
          <a:lstStyle/>
          <a:p>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l"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 = -0.47 V</a:t>
            </a:r>
            <a:endParaRPr lang="en-US" sz="1200" dirty="0"/>
          </a:p>
        </p:txBody>
      </p:sp>
      <p:sp>
        <p:nvSpPr>
          <p:cNvPr id="25" name="!!vbPsi"/>
          <p:cNvSpPr txBox="1"/>
          <p:nvPr/>
        </p:nvSpPr>
        <p:spPr>
          <a:xfrm>
            <a:off x="3840480" y="1298448"/>
            <a:ext cx="2560320" cy="237744"/>
          </a:xfrm>
          <a:prstGeom prst="rect">
            <a:avLst/>
          </a:prstGeom>
          <a:noFill/>
          <a:ln/>
        </p:spPr>
        <p:txBody>
          <a:bodyPr wrap="square" lIns="0" tIns="0" rIns="0" bIns="0" rtlCol="0" anchor="t"/>
          <a:lstStyle/>
          <a:p>
            <a:pPr algn="r" indent="0" marL="0">
              <a:buNone/>
            </a:pPr>
            <a:r>
              <a:rPr lang="en-US" sz="1200" dirty="0">
                <a:solidFill>
                  <a:srgbClr val="5C5E62"/>
                </a:solidFill>
                <a:latin typeface="Segoe UI Semibold" pitchFamily="34" charset="0"/>
                <a:ea typeface="Segoe UI Semibold" pitchFamily="34" charset="-122"/>
                <a:cs typeface="Segoe UI Semibold" pitchFamily="34" charset="-120"/>
              </a:rPr>
              <a:t>band bending ψs = 0.00 V</a:t>
            </a:r>
            <a:endParaRPr lang="en-US" sz="1200" dirty="0"/>
          </a:p>
        </p:txBody>
      </p:sp>
      <p:sp>
        <p:nvSpPr>
          <p:cNvPr id="26" name="!!card"/>
          <p:cNvSpPr/>
          <p:nvPr/>
        </p:nvSpPr>
        <p:spPr>
          <a:xfrm>
            <a:off x="7086600" y="1554480"/>
            <a:ext cx="4553712" cy="2606040"/>
          </a:xfrm>
          <a:prstGeom prst="roundRect">
            <a:avLst>
              <a:gd name="adj" fmla="val 2807"/>
            </a:avLst>
          </a:prstGeom>
          <a:solidFill>
            <a:srgbClr val="F4F5F7"/>
          </a:solidFill>
          <a:ln/>
        </p:spPr>
      </p:sp>
      <p:sp>
        <p:nvSpPr>
          <p:cNvPr id="27" name="!!cardn"/>
          <p:cNvSpPr/>
          <p:nvPr/>
        </p:nvSpPr>
        <p:spPr>
          <a:xfrm>
            <a:off x="7296912" y="1764792"/>
            <a:ext cx="347472" cy="347472"/>
          </a:xfrm>
          <a:prstGeom prst="ellipse">
            <a:avLst/>
          </a:prstGeom>
          <a:solidFill>
            <a:srgbClr val="3E6AE1"/>
          </a:solidFill>
          <a:ln/>
        </p:spPr>
      </p:sp>
      <p:sp>
        <p:nvSpPr>
          <p:cNvPr id="28" name="!!cardnt"/>
          <p:cNvSpPr txBox="1"/>
          <p:nvPr/>
        </p:nvSpPr>
        <p:spPr>
          <a:xfrm>
            <a:off x="729691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9" name="!!cardh"/>
          <p:cNvSpPr txBox="1"/>
          <p:nvPr/>
        </p:nvSpPr>
        <p:spPr>
          <a:xfrm>
            <a:off x="7772400" y="1773936"/>
            <a:ext cx="3685032" cy="347472"/>
          </a:xfrm>
          <a:prstGeom prst="rect">
            <a:avLst/>
          </a:prstGeom>
          <a:noFill/>
          <a:ln/>
        </p:spPr>
        <p:txBody>
          <a:bodyPr wrap="square" lIns="0" tIns="0" rIns="0" bIns="0" rtlCol="0" anchor="ctr"/>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Term 1: flat-band voltage V</a:t>
            </a:r>
            <a:pPr algn="l" indent="0" marL="0">
              <a:buNone/>
            </a:pPr>
            <a:r>
              <a:rPr lang="en-US" sz="1600" baseline="-40000" dirty="0">
                <a:solidFill>
                  <a:srgbClr val="3E6AE1"/>
                </a:solidFill>
                <a:latin typeface="Segoe UI Semibold" pitchFamily="34" charset="0"/>
                <a:ea typeface="Segoe UI Semibold" pitchFamily="34" charset="-122"/>
                <a:cs typeface="Segoe UI Semibold" pitchFamily="34" charset="-120"/>
              </a:rPr>
              <a:t>FB</a:t>
            </a:r>
            <a:endParaRPr lang="en-US" sz="1600" dirty="0"/>
          </a:p>
        </p:txBody>
      </p:sp>
      <p:sp>
        <p:nvSpPr>
          <p:cNvPr id="30" name="!!cardb"/>
          <p:cNvSpPr txBox="1"/>
          <p:nvPr/>
        </p:nvSpPr>
        <p:spPr>
          <a:xfrm>
            <a:off x="7315200" y="2267712"/>
            <a:ext cx="4096512" cy="173736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Gate metal and silicon have different work functions: φm = 4.50 eV, φs = 4.97 eV.</a:t>
            </a:r>
            <a:endParaRPr lang="en-US" sz="1300" dirty="0"/>
          </a:p>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V</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FB</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 φm − φs = −0.47 V keeps the bands flat.</a:t>
            </a:r>
            <a:endParaRPr lang="en-US" sz="1300" dirty="0"/>
          </a:p>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Higher φm → higher V</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T</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one to one.</a:t>
            </a:r>
            <a:endParaRPr lang="en-US" sz="1300" dirty="0"/>
          </a:p>
        </p:txBody>
      </p:sp>
      <p:sp>
        <p:nvSpPr>
          <p:cNvPr id="31" name="!!vbEq"/>
          <p:cNvSpPr txBox="1"/>
          <p:nvPr/>
        </p:nvSpPr>
        <p:spPr>
          <a:xfrm>
            <a:off x="7086600" y="4526280"/>
            <a:ext cx="914400" cy="457200"/>
          </a:xfrm>
          <a:prstGeom prst="rect">
            <a:avLst/>
          </a:prstGeom>
          <a:noFill/>
          <a:ln/>
        </p:spPr>
        <p:txBody>
          <a:bodyPr wrap="square" lIns="0" tIns="0" rIns="0" bIns="0" rtlCol="0" anchor="ctr"/>
          <a:lstStyle/>
          <a:p>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800" baseline="-40000" dirty="0">
                <a:solidFill>
                  <a:srgbClr val="171A20"/>
                </a:solidFill>
                <a:latin typeface="Segoe UI Semibold" pitchFamily="34" charset="0"/>
                <a:ea typeface="Segoe UI Semibold" pitchFamily="34" charset="-122"/>
                <a:cs typeface="Segoe UI Semibold" pitchFamily="34" charset="-120"/>
              </a:rPr>
              <a:t>T</a:t>
            </a:r>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  =</a:t>
            </a:r>
            <a:endParaRPr lang="en-US" sz="1800" dirty="0"/>
          </a:p>
        </p:txBody>
      </p:sp>
      <p:sp>
        <p:nvSpPr>
          <p:cNvPr id="32" name="!!vbT0"/>
          <p:cNvSpPr/>
          <p:nvPr/>
        </p:nvSpPr>
        <p:spPr>
          <a:xfrm>
            <a:off x="8001000" y="4526280"/>
            <a:ext cx="914400" cy="457200"/>
          </a:xfrm>
          <a:prstGeom prst="roundRect">
            <a:avLst>
              <a:gd name="adj" fmla="val 16000"/>
            </a:avLst>
          </a:prstGeom>
          <a:solidFill>
            <a:srgbClr val="3E6AE1"/>
          </a:solidFill>
          <a:ln/>
        </p:spPr>
      </p:sp>
      <p:sp>
        <p:nvSpPr>
          <p:cNvPr id="33" name="!!vbTt0"/>
          <p:cNvSpPr txBox="1"/>
          <p:nvPr/>
        </p:nvSpPr>
        <p:spPr>
          <a:xfrm>
            <a:off x="8001000" y="4526280"/>
            <a:ext cx="91440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V</a:t>
            </a:r>
            <a:pPr algn="ctr" indent="0" marL="0">
              <a:buNone/>
            </a:pPr>
            <a:r>
              <a:rPr lang="en-US" sz="1400" baseline="-40000" dirty="0">
                <a:solidFill>
                  <a:srgbClr val="FFFFFF"/>
                </a:solidFill>
                <a:latin typeface="Segoe UI Semibold" pitchFamily="34" charset="0"/>
                <a:ea typeface="Segoe UI Semibold" pitchFamily="34" charset="-122"/>
                <a:cs typeface="Segoe UI Semibold" pitchFamily="34" charset="-120"/>
              </a:rPr>
              <a:t>FB</a:t>
            </a:r>
            <a:endParaRPr lang="en-US" sz="1400" dirty="0"/>
          </a:p>
        </p:txBody>
      </p:sp>
      <p:sp>
        <p:nvSpPr>
          <p:cNvPr id="34" name="!!vbPl0"/>
          <p:cNvSpPr txBox="1"/>
          <p:nvPr/>
        </p:nvSpPr>
        <p:spPr>
          <a:xfrm>
            <a:off x="8915400" y="4526280"/>
            <a:ext cx="274320" cy="45720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Semibold" pitchFamily="34" charset="0"/>
                <a:ea typeface="Segoe UI Semibold" pitchFamily="34" charset="-122"/>
                <a:cs typeface="Segoe UI Semibold" pitchFamily="34" charset="-120"/>
              </a:rPr>
              <a:t>+</a:t>
            </a:r>
            <a:endParaRPr lang="en-US" sz="1600" dirty="0"/>
          </a:p>
        </p:txBody>
      </p:sp>
      <p:sp>
        <p:nvSpPr>
          <p:cNvPr id="35" name="!!vbT1"/>
          <p:cNvSpPr/>
          <p:nvPr/>
        </p:nvSpPr>
        <p:spPr>
          <a:xfrm>
            <a:off x="9189720" y="4526280"/>
            <a:ext cx="914400" cy="457200"/>
          </a:xfrm>
          <a:prstGeom prst="roundRect">
            <a:avLst>
              <a:gd name="adj" fmla="val 16000"/>
            </a:avLst>
          </a:prstGeom>
          <a:solidFill>
            <a:srgbClr val="F4F5F7"/>
          </a:solidFill>
          <a:ln/>
        </p:spPr>
      </p:sp>
      <p:sp>
        <p:nvSpPr>
          <p:cNvPr id="36" name="!!vbTt1"/>
          <p:cNvSpPr txBox="1"/>
          <p:nvPr/>
        </p:nvSpPr>
        <p:spPr>
          <a:xfrm>
            <a:off x="9189720" y="4526280"/>
            <a:ext cx="914400" cy="457200"/>
          </a:xfrm>
          <a:prstGeom prst="rect">
            <a:avLst/>
          </a:prstGeom>
          <a:noFill/>
          <a:ln/>
        </p:spPr>
        <p:txBody>
          <a:bodyPr wrap="square" lIns="0" tIns="0" rIns="0" bIns="0" rtlCol="0" anchor="ctr"/>
          <a:lstStyle/>
          <a:p>
            <a:pPr algn="ctr" indent="0" marL="0">
              <a:buNone/>
            </a:pPr>
            <a:r>
              <a:rPr lang="en-US" sz="1400" dirty="0">
                <a:solidFill>
                  <a:srgbClr val="5C5E62"/>
                </a:solidFill>
                <a:latin typeface="Segoe UI Semibold" pitchFamily="34" charset="0"/>
                <a:ea typeface="Segoe UI Semibold" pitchFamily="34" charset="-122"/>
                <a:cs typeface="Segoe UI Semibold" pitchFamily="34" charset="-120"/>
              </a:rPr>
              <a:t>2φF</a:t>
            </a:r>
            <a:endParaRPr lang="en-US" sz="1400" dirty="0"/>
          </a:p>
        </p:txBody>
      </p:sp>
      <p:sp>
        <p:nvSpPr>
          <p:cNvPr id="37" name="!!vbPl1"/>
          <p:cNvSpPr txBox="1"/>
          <p:nvPr/>
        </p:nvSpPr>
        <p:spPr>
          <a:xfrm>
            <a:off x="10104120" y="4526280"/>
            <a:ext cx="274320" cy="45720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Semibold" pitchFamily="34" charset="0"/>
                <a:ea typeface="Segoe UI Semibold" pitchFamily="34" charset="-122"/>
                <a:cs typeface="Segoe UI Semibold" pitchFamily="34" charset="-120"/>
              </a:rPr>
              <a:t>+</a:t>
            </a:r>
            <a:endParaRPr lang="en-US" sz="1600" dirty="0"/>
          </a:p>
        </p:txBody>
      </p:sp>
      <p:sp>
        <p:nvSpPr>
          <p:cNvPr id="38" name="!!vbT2"/>
          <p:cNvSpPr/>
          <p:nvPr/>
        </p:nvSpPr>
        <p:spPr>
          <a:xfrm>
            <a:off x="10378440" y="4526280"/>
            <a:ext cx="1463040" cy="457200"/>
          </a:xfrm>
          <a:prstGeom prst="roundRect">
            <a:avLst>
              <a:gd name="adj" fmla="val 16000"/>
            </a:avLst>
          </a:prstGeom>
          <a:solidFill>
            <a:srgbClr val="F4F5F7"/>
          </a:solidFill>
          <a:ln/>
        </p:spPr>
      </p:sp>
      <p:sp>
        <p:nvSpPr>
          <p:cNvPr id="39" name="!!vbTt2"/>
          <p:cNvSpPr txBox="1"/>
          <p:nvPr/>
        </p:nvSpPr>
        <p:spPr>
          <a:xfrm>
            <a:off x="10378440" y="4526280"/>
            <a:ext cx="1463040" cy="457200"/>
          </a:xfrm>
          <a:prstGeom prst="rect">
            <a:avLst/>
          </a:prstGeom>
          <a:noFill/>
          <a:ln/>
        </p:spPr>
        <p:txBody>
          <a:bodyPr wrap="square" lIns="0" tIns="0" rIns="0" bIns="0" rtlCol="0" anchor="ctr"/>
          <a:lstStyle/>
          <a:p>
            <a:pPr algn="ctr" indent="0" marL="0">
              <a:buNone/>
            </a:pPr>
            <a:r>
              <a:rPr lang="en-US" sz="1400" dirty="0">
                <a:solidFill>
                  <a:srgbClr val="5C5E62"/>
                </a:solidFill>
                <a:latin typeface="Segoe UI Semibold" pitchFamily="34" charset="0"/>
                <a:ea typeface="Segoe UI Semibold" pitchFamily="34" charset="-122"/>
                <a:cs typeface="Segoe UI Semibold" pitchFamily="34" charset="-120"/>
              </a:rPr>
              <a:t>Q</a:t>
            </a:r>
            <a:pPr algn="ctr" indent="0" marL="0">
              <a:buNone/>
            </a:pPr>
            <a:r>
              <a:rPr lang="en-US" sz="1400" baseline="-40000" dirty="0">
                <a:solidFill>
                  <a:srgbClr val="5C5E62"/>
                </a:solidFill>
                <a:latin typeface="Segoe UI Semibold" pitchFamily="34" charset="0"/>
                <a:ea typeface="Segoe UI Semibold" pitchFamily="34" charset="-122"/>
                <a:cs typeface="Segoe UI Semibold" pitchFamily="34" charset="-120"/>
              </a:rPr>
              <a:t>dep</a:t>
            </a:r>
            <a:pPr algn="ctr" indent="0" marL="0">
              <a:buNone/>
            </a:pPr>
            <a:r>
              <a:rPr lang="en-US" sz="1400" dirty="0">
                <a:solidFill>
                  <a:srgbClr val="5C5E62"/>
                </a:solidFill>
                <a:latin typeface="Segoe UI Semibold" pitchFamily="34" charset="0"/>
                <a:ea typeface="Segoe UI Semibold" pitchFamily="34" charset="-122"/>
                <a:cs typeface="Segoe UI Semibold" pitchFamily="34" charset="-120"/>
              </a:rPr>
              <a:t> / C</a:t>
            </a:r>
            <a:pPr algn="ctr" indent="0" marL="0">
              <a:buNone/>
            </a:pPr>
            <a:r>
              <a:rPr lang="en-US" sz="1400" baseline="-40000" dirty="0">
                <a:solidFill>
                  <a:srgbClr val="5C5E62"/>
                </a:solidFill>
                <a:latin typeface="Segoe UI Semibold" pitchFamily="34" charset="0"/>
                <a:ea typeface="Segoe UI Semibold" pitchFamily="34" charset="-122"/>
                <a:cs typeface="Segoe UI Semibold" pitchFamily="34" charset="-120"/>
              </a:rPr>
              <a:t>ox</a:t>
            </a:r>
            <a:endParaRPr lang="en-US" sz="1400" dirty="0"/>
          </a:p>
        </p:txBody>
      </p:sp>
      <p:sp>
        <p:nvSpPr>
          <p:cNvPr id="40"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V</a:t>
            </a:r>
            <a:pPr algn="ctr" indent="0" marL="0">
              <a:buNone/>
            </a:pPr>
            <a:r>
              <a:rPr lang="en-US" sz="1600" baseline="-40000" dirty="0">
                <a:solidFill>
                  <a:srgbClr val="171A20"/>
                </a:solidFill>
                <a:latin typeface="Segoe UI" pitchFamily="34" charset="0"/>
                <a:ea typeface="Segoe UI" pitchFamily="34" charset="-122"/>
                <a:cs typeface="Segoe UI" pitchFamily="34" charset="-120"/>
              </a:rPr>
              <a:t>FB</a:t>
            </a:r>
            <a:pPr algn="ctr" indent="0" marL="0">
              <a:buNone/>
            </a:pPr>
            <a:r>
              <a:rPr lang="en-US" sz="1600" dirty="0">
                <a:solidFill>
                  <a:srgbClr val="171A20"/>
                </a:solidFill>
                <a:latin typeface="Segoe UI" pitchFamily="34" charset="0"/>
                <a:ea typeface="Segoe UI" pitchFamily="34" charset="-122"/>
                <a:cs typeface="Segoe UI" pitchFamily="34" charset="-120"/>
              </a:rPr>
              <a:t> is set by the gate metal: it is the gate voltage that keeps the bands flat.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What sets V</a:t>
            </a:r>
            <a:pPr algn="l" indent="0" marL="0">
              <a:buNone/>
            </a:pPr>
            <a:r>
              <a:rPr lang="en-US" sz="3000" baseline="-40000" dirty="0">
                <a:solidFill>
                  <a:srgbClr val="171A20"/>
                </a:solidFill>
                <a:latin typeface="Segoe UI" pitchFamily="34" charset="0"/>
                <a:ea typeface="Segoe UI" pitchFamily="34" charset="-122"/>
                <a:cs typeface="Segoe UI" pitchFamily="34" charset="-120"/>
              </a:rPr>
              <a:t>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Energy bands from the gate (left) through the oxide into the p-type silicon (right)</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E2E3E3"/>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vbM"/>
          <p:cNvSpPr/>
          <p:nvPr/>
        </p:nvSpPr>
        <p:spPr>
          <a:xfrm>
            <a:off x="731520" y="1600200"/>
            <a:ext cx="1280160" cy="3291840"/>
          </a:xfrm>
          <a:prstGeom prst="rect">
            <a:avLst/>
          </a:prstGeom>
          <a:solidFill>
            <a:srgbClr val="B3A6E6">
              <a:alpha val="60000"/>
            </a:srgbClr>
          </a:solidFill>
          <a:ln/>
        </p:spPr>
      </p:sp>
      <p:sp>
        <p:nvSpPr>
          <p:cNvPr id="10" name="!!vbO"/>
          <p:cNvSpPr/>
          <p:nvPr/>
        </p:nvSpPr>
        <p:spPr>
          <a:xfrm>
            <a:off x="2011680" y="1600200"/>
            <a:ext cx="365760" cy="3291840"/>
          </a:xfrm>
          <a:prstGeom prst="rect">
            <a:avLst/>
          </a:prstGeom>
          <a:solidFill>
            <a:srgbClr val="CDEBF5"/>
          </a:solidFill>
          <a:ln/>
        </p:spPr>
      </p:sp>
      <p:sp>
        <p:nvSpPr>
          <p:cNvPr id="11" name="!!vbD"/>
          <p:cNvSpPr/>
          <p:nvPr/>
        </p:nvSpPr>
        <p:spPr>
          <a:xfrm>
            <a:off x="2377440" y="1600200"/>
            <a:ext cx="989288" cy="3291840"/>
          </a:xfrm>
          <a:prstGeom prst="rect">
            <a:avLst/>
          </a:prstGeom>
          <a:solidFill>
            <a:srgbClr val="F7D4D9">
              <a:alpha val="70000"/>
            </a:srgbClr>
          </a:solidFill>
          <a:ln/>
        </p:spPr>
      </p:sp>
      <p:sp>
        <p:nvSpPr>
          <p:cNvPr id="12" name="!!vbML"/>
          <p:cNvSpPr txBox="1"/>
          <p:nvPr/>
        </p:nvSpPr>
        <p:spPr>
          <a:xfrm>
            <a:off x="731520" y="4937760"/>
            <a:ext cx="12801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gate metal</a:t>
            </a:r>
            <a:endParaRPr lang="en-US" sz="1000" dirty="0"/>
          </a:p>
        </p:txBody>
      </p:sp>
      <p:sp>
        <p:nvSpPr>
          <p:cNvPr id="13" name="!!vbOL"/>
          <p:cNvSpPr txBox="1"/>
          <p:nvPr/>
        </p:nvSpPr>
        <p:spPr>
          <a:xfrm>
            <a:off x="1920240" y="4937760"/>
            <a:ext cx="54864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oxide</a:t>
            </a:r>
            <a:endParaRPr lang="en-US" sz="1000" dirty="0"/>
          </a:p>
        </p:txBody>
      </p:sp>
      <p:sp>
        <p:nvSpPr>
          <p:cNvPr id="14" name="!!vbSL"/>
          <p:cNvSpPr txBox="1"/>
          <p:nvPr/>
        </p:nvSpPr>
        <p:spPr>
          <a:xfrm>
            <a:off x="4389120" y="4937760"/>
            <a:ext cx="2011680" cy="219456"/>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a:t>
            </a:r>
            <a:endParaRPr lang="en-US" sz="1000" dirty="0"/>
          </a:p>
        </p:txBody>
      </p:sp>
      <p:sp>
        <p:nvSpPr>
          <p:cNvPr id="15" name="!!vbL0"/>
          <p:cNvSpPr/>
          <p:nvPr/>
        </p:nvSpPr>
        <p:spPr>
          <a:xfrm>
            <a:off x="2377440" y="2728610"/>
            <a:ext cx="4023360" cy="336002"/>
          </a:xfrm>
          <a:custGeom>
            <a:avLst/>
            <a:gdLst/>
            <a:ahLst/>
            <a:cxnLst/>
            <a:rect l="l" t="t" r="r" b="b"/>
            <a:pathLst>
              <a:path w="4023360" h="336002">
                <a:moveTo>
                  <a:pt x="0" y="336002"/>
                </a:moveTo>
                <a:lnTo>
                  <a:pt x="138737" y="246025"/>
                </a:lnTo>
                <a:lnTo>
                  <a:pt x="277473" y="180139"/>
                </a:lnTo>
                <a:lnTo>
                  <a:pt x="416210" y="131895"/>
                </a:lnTo>
                <a:lnTo>
                  <a:pt x="554946" y="96569"/>
                </a:lnTo>
                <a:lnTo>
                  <a:pt x="693683" y="70701"/>
                </a:lnTo>
                <a:lnTo>
                  <a:pt x="832419" y="51760"/>
                </a:lnTo>
                <a:lnTo>
                  <a:pt x="971156" y="37890"/>
                </a:lnTo>
                <a:lnTo>
                  <a:pt x="1109892" y="27734"/>
                </a:lnTo>
                <a:lnTo>
                  <a:pt x="1248629" y="20297"/>
                </a:lnTo>
                <a:lnTo>
                  <a:pt x="1387366" y="14852"/>
                </a:lnTo>
                <a:lnTo>
                  <a:pt x="1526102" y="10865"/>
                </a:lnTo>
                <a:lnTo>
                  <a:pt x="1664839" y="7945"/>
                </a:lnTo>
                <a:lnTo>
                  <a:pt x="1803575" y="5807"/>
                </a:lnTo>
                <a:lnTo>
                  <a:pt x="1942312" y="4241"/>
                </a:lnTo>
                <a:lnTo>
                  <a:pt x="2081048" y="3095"/>
                </a:lnTo>
                <a:lnTo>
                  <a:pt x="2219785" y="2256"/>
                </a:lnTo>
                <a:lnTo>
                  <a:pt x="2358521" y="1641"/>
                </a:lnTo>
                <a:lnTo>
                  <a:pt x="2497258" y="1191"/>
                </a:lnTo>
                <a:lnTo>
                  <a:pt x="2635994" y="861"/>
                </a:lnTo>
                <a:lnTo>
                  <a:pt x="2774731" y="620"/>
                </a:lnTo>
                <a:lnTo>
                  <a:pt x="2913468" y="443"/>
                </a:lnTo>
                <a:lnTo>
                  <a:pt x="3052204" y="314"/>
                </a:lnTo>
                <a:lnTo>
                  <a:pt x="3190941" y="219"/>
                </a:lnTo>
                <a:lnTo>
                  <a:pt x="3329677" y="150"/>
                </a:lnTo>
                <a:lnTo>
                  <a:pt x="3468414" y="99"/>
                </a:lnTo>
                <a:lnTo>
                  <a:pt x="3607150" y="62"/>
                </a:lnTo>
                <a:lnTo>
                  <a:pt x="3745887" y="35"/>
                </a:lnTo>
                <a:lnTo>
                  <a:pt x="3884623" y="15"/>
                </a:lnTo>
                <a:lnTo>
                  <a:pt x="4023360" y="0"/>
                </a:lnTo>
              </a:path>
            </a:pathLst>
          </a:custGeom>
          <a:ln w="28575">
            <a:solidFill>
              <a:srgbClr val="171A20"/>
            </a:solidFill>
            <a:prstDash val="solid"/>
          </a:ln>
        </p:spPr>
      </p:sp>
      <p:sp>
        <p:nvSpPr>
          <p:cNvPr id="16" name="!!vbLl0"/>
          <p:cNvSpPr txBox="1"/>
          <p:nvPr/>
        </p:nvSpPr>
        <p:spPr>
          <a:xfrm>
            <a:off x="6446520" y="2618842"/>
            <a:ext cx="457200" cy="219456"/>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E</a:t>
            </a:r>
            <a:pPr algn="l" indent="0" marL="0">
              <a:buNone/>
            </a:pPr>
            <a:r>
              <a:rPr lang="en-US" sz="1100" baseline="-40000" dirty="0">
                <a:solidFill>
                  <a:srgbClr val="171A20"/>
                </a:solidFill>
                <a:latin typeface="Segoe UI" pitchFamily="34" charset="0"/>
                <a:ea typeface="Segoe UI" pitchFamily="34" charset="-122"/>
                <a:cs typeface="Segoe UI" pitchFamily="34" charset="-120"/>
              </a:rPr>
              <a:t>C</a:t>
            </a:r>
            <a:endParaRPr lang="en-US" sz="1100" dirty="0"/>
          </a:p>
        </p:txBody>
      </p:sp>
      <p:sp>
        <p:nvSpPr>
          <p:cNvPr id="17" name="!!vbL1"/>
          <p:cNvSpPr/>
          <p:nvPr/>
        </p:nvSpPr>
        <p:spPr>
          <a:xfrm>
            <a:off x="2377440" y="3266277"/>
            <a:ext cx="4023360" cy="336002"/>
          </a:xfrm>
          <a:custGeom>
            <a:avLst/>
            <a:gdLst/>
            <a:ahLst/>
            <a:cxnLst/>
            <a:rect l="l" t="t" r="r" b="b"/>
            <a:pathLst>
              <a:path w="4023360" h="336002">
                <a:moveTo>
                  <a:pt x="0" y="336002"/>
                </a:moveTo>
                <a:lnTo>
                  <a:pt x="138737" y="246025"/>
                </a:lnTo>
                <a:lnTo>
                  <a:pt x="277473" y="180139"/>
                </a:lnTo>
                <a:lnTo>
                  <a:pt x="416210" y="131895"/>
                </a:lnTo>
                <a:lnTo>
                  <a:pt x="554946" y="96569"/>
                </a:lnTo>
                <a:lnTo>
                  <a:pt x="693683" y="70701"/>
                </a:lnTo>
                <a:lnTo>
                  <a:pt x="832419" y="51760"/>
                </a:lnTo>
                <a:lnTo>
                  <a:pt x="971156" y="37890"/>
                </a:lnTo>
                <a:lnTo>
                  <a:pt x="1109892" y="27734"/>
                </a:lnTo>
                <a:lnTo>
                  <a:pt x="1248629" y="20297"/>
                </a:lnTo>
                <a:lnTo>
                  <a:pt x="1387366" y="14852"/>
                </a:lnTo>
                <a:lnTo>
                  <a:pt x="1526102" y="10865"/>
                </a:lnTo>
                <a:lnTo>
                  <a:pt x="1664839" y="7945"/>
                </a:lnTo>
                <a:lnTo>
                  <a:pt x="1803575" y="5807"/>
                </a:lnTo>
                <a:lnTo>
                  <a:pt x="1942312" y="4241"/>
                </a:lnTo>
                <a:lnTo>
                  <a:pt x="2081048" y="3095"/>
                </a:lnTo>
                <a:lnTo>
                  <a:pt x="2219785" y="2256"/>
                </a:lnTo>
                <a:lnTo>
                  <a:pt x="2358521" y="1641"/>
                </a:lnTo>
                <a:lnTo>
                  <a:pt x="2497258" y="1191"/>
                </a:lnTo>
                <a:lnTo>
                  <a:pt x="2635994" y="861"/>
                </a:lnTo>
                <a:lnTo>
                  <a:pt x="2774731" y="620"/>
                </a:lnTo>
                <a:lnTo>
                  <a:pt x="2913468" y="443"/>
                </a:lnTo>
                <a:lnTo>
                  <a:pt x="3052204" y="314"/>
                </a:lnTo>
                <a:lnTo>
                  <a:pt x="3190941" y="219"/>
                </a:lnTo>
                <a:lnTo>
                  <a:pt x="3329677" y="150"/>
                </a:lnTo>
                <a:lnTo>
                  <a:pt x="3468414" y="99"/>
                </a:lnTo>
                <a:lnTo>
                  <a:pt x="3607150" y="62"/>
                </a:lnTo>
                <a:lnTo>
                  <a:pt x="3745887" y="35"/>
                </a:lnTo>
                <a:lnTo>
                  <a:pt x="3884623" y="15"/>
                </a:lnTo>
                <a:lnTo>
                  <a:pt x="4023360" y="0"/>
                </a:lnTo>
              </a:path>
            </a:pathLst>
          </a:custGeom>
          <a:ln w="15875">
            <a:solidFill>
              <a:srgbClr val="8A8D93"/>
            </a:solidFill>
            <a:prstDash val="dash"/>
          </a:ln>
        </p:spPr>
      </p:sp>
      <p:sp>
        <p:nvSpPr>
          <p:cNvPr id="18" name="!!vbLl1"/>
          <p:cNvSpPr txBox="1"/>
          <p:nvPr/>
        </p:nvSpPr>
        <p:spPr>
          <a:xfrm>
            <a:off x="6446520" y="3156509"/>
            <a:ext cx="457200" cy="219456"/>
          </a:xfrm>
          <a:prstGeom prst="rect">
            <a:avLst/>
          </a:prstGeom>
          <a:noFill/>
          <a:ln/>
        </p:spPr>
        <p:txBody>
          <a:bodyPr wrap="square" lIns="0" tIns="0" rIns="0" bIns="0" rtlCol="0" anchor="t"/>
          <a:lstStyle/>
          <a:p>
            <a:pPr algn="l" indent="0" marL="0">
              <a:buNone/>
            </a:pPr>
            <a:r>
              <a:rPr lang="en-US" sz="1100" dirty="0">
                <a:solidFill>
                  <a:srgbClr val="8A8D93"/>
                </a:solidFill>
                <a:latin typeface="Segoe UI" pitchFamily="34" charset="0"/>
                <a:ea typeface="Segoe UI" pitchFamily="34" charset="-122"/>
                <a:cs typeface="Segoe UI" pitchFamily="34" charset="-120"/>
              </a:rPr>
              <a:t>E</a:t>
            </a:r>
            <a:pPr algn="l" indent="0" marL="0">
              <a:buNone/>
            </a:pPr>
            <a:r>
              <a:rPr lang="en-US" sz="1100" baseline="-40000" dirty="0">
                <a:solidFill>
                  <a:srgbClr val="8A8D93"/>
                </a:solidFill>
                <a:latin typeface="Segoe UI" pitchFamily="34" charset="0"/>
                <a:ea typeface="Segoe UI" pitchFamily="34" charset="-122"/>
                <a:cs typeface="Segoe UI" pitchFamily="34" charset="-120"/>
              </a:rPr>
              <a:t>i</a:t>
            </a:r>
            <a:endParaRPr lang="en-US" sz="1100" dirty="0"/>
          </a:p>
        </p:txBody>
      </p:sp>
      <p:sp>
        <p:nvSpPr>
          <p:cNvPr id="19" name="!!vbL2"/>
          <p:cNvSpPr/>
          <p:nvPr/>
        </p:nvSpPr>
        <p:spPr>
          <a:xfrm>
            <a:off x="2377440" y="3803944"/>
            <a:ext cx="4023360" cy="336002"/>
          </a:xfrm>
          <a:custGeom>
            <a:avLst/>
            <a:gdLst/>
            <a:ahLst/>
            <a:cxnLst/>
            <a:rect l="l" t="t" r="r" b="b"/>
            <a:pathLst>
              <a:path w="4023360" h="336002">
                <a:moveTo>
                  <a:pt x="0" y="336002"/>
                </a:moveTo>
                <a:lnTo>
                  <a:pt x="138737" y="246025"/>
                </a:lnTo>
                <a:lnTo>
                  <a:pt x="277473" y="180139"/>
                </a:lnTo>
                <a:lnTo>
                  <a:pt x="416210" y="131895"/>
                </a:lnTo>
                <a:lnTo>
                  <a:pt x="554946" y="96569"/>
                </a:lnTo>
                <a:lnTo>
                  <a:pt x="693683" y="70701"/>
                </a:lnTo>
                <a:lnTo>
                  <a:pt x="832419" y="51760"/>
                </a:lnTo>
                <a:lnTo>
                  <a:pt x="971156" y="37890"/>
                </a:lnTo>
                <a:lnTo>
                  <a:pt x="1109892" y="27734"/>
                </a:lnTo>
                <a:lnTo>
                  <a:pt x="1248629" y="20297"/>
                </a:lnTo>
                <a:lnTo>
                  <a:pt x="1387366" y="14852"/>
                </a:lnTo>
                <a:lnTo>
                  <a:pt x="1526102" y="10865"/>
                </a:lnTo>
                <a:lnTo>
                  <a:pt x="1664839" y="7945"/>
                </a:lnTo>
                <a:lnTo>
                  <a:pt x="1803575" y="5807"/>
                </a:lnTo>
                <a:lnTo>
                  <a:pt x="1942312" y="4241"/>
                </a:lnTo>
                <a:lnTo>
                  <a:pt x="2081048" y="3095"/>
                </a:lnTo>
                <a:lnTo>
                  <a:pt x="2219785" y="2256"/>
                </a:lnTo>
                <a:lnTo>
                  <a:pt x="2358521" y="1641"/>
                </a:lnTo>
                <a:lnTo>
                  <a:pt x="2497258" y="1191"/>
                </a:lnTo>
                <a:lnTo>
                  <a:pt x="2635994" y="861"/>
                </a:lnTo>
                <a:lnTo>
                  <a:pt x="2774731" y="620"/>
                </a:lnTo>
                <a:lnTo>
                  <a:pt x="2913468" y="443"/>
                </a:lnTo>
                <a:lnTo>
                  <a:pt x="3052204" y="314"/>
                </a:lnTo>
                <a:lnTo>
                  <a:pt x="3190941" y="219"/>
                </a:lnTo>
                <a:lnTo>
                  <a:pt x="3329677" y="150"/>
                </a:lnTo>
                <a:lnTo>
                  <a:pt x="3468414" y="99"/>
                </a:lnTo>
                <a:lnTo>
                  <a:pt x="3607150" y="62"/>
                </a:lnTo>
                <a:lnTo>
                  <a:pt x="3745887" y="35"/>
                </a:lnTo>
                <a:lnTo>
                  <a:pt x="3884623" y="15"/>
                </a:lnTo>
                <a:lnTo>
                  <a:pt x="4023360" y="0"/>
                </a:lnTo>
              </a:path>
            </a:pathLst>
          </a:custGeom>
          <a:ln w="28575">
            <a:solidFill>
              <a:srgbClr val="171A20"/>
            </a:solidFill>
            <a:prstDash val="solid"/>
          </a:ln>
        </p:spPr>
      </p:sp>
      <p:sp>
        <p:nvSpPr>
          <p:cNvPr id="20" name="!!vbLl2"/>
          <p:cNvSpPr txBox="1"/>
          <p:nvPr/>
        </p:nvSpPr>
        <p:spPr>
          <a:xfrm>
            <a:off x="6446520" y="3694176"/>
            <a:ext cx="457200" cy="219456"/>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E</a:t>
            </a:r>
            <a:pPr algn="l" indent="0" marL="0">
              <a:buNone/>
            </a:pPr>
            <a:r>
              <a:rPr lang="en-US" sz="1100" baseline="-40000" dirty="0">
                <a:solidFill>
                  <a:srgbClr val="171A20"/>
                </a:solidFill>
                <a:latin typeface="Segoe UI" pitchFamily="34" charset="0"/>
                <a:ea typeface="Segoe UI" pitchFamily="34" charset="-122"/>
                <a:cs typeface="Segoe UI" pitchFamily="34" charset="-120"/>
              </a:rPr>
              <a:t>V</a:t>
            </a:r>
            <a:endParaRPr lang="en-US" sz="1100" dirty="0"/>
          </a:p>
        </p:txBody>
      </p:sp>
      <p:sp>
        <p:nvSpPr>
          <p:cNvPr id="21" name="!!vbEF"/>
          <p:cNvSpPr/>
          <p:nvPr/>
        </p:nvSpPr>
        <p:spPr>
          <a:xfrm>
            <a:off x="2377440" y="3611880"/>
            <a:ext cx="4023360" cy="91"/>
          </a:xfrm>
          <a:prstGeom prst="line">
            <a:avLst/>
          </a:prstGeom>
          <a:noFill/>
          <a:ln w="19050">
            <a:solidFill>
              <a:srgbClr val="D64545"/>
            </a:solidFill>
            <a:prstDash val="solid"/>
          </a:ln>
        </p:spPr>
      </p:sp>
      <p:sp>
        <p:nvSpPr>
          <p:cNvPr id="22" name="!!vbEFl"/>
          <p:cNvSpPr txBox="1"/>
          <p:nvPr/>
        </p:nvSpPr>
        <p:spPr>
          <a:xfrm>
            <a:off x="6446520" y="3502152"/>
            <a:ext cx="457200" cy="219456"/>
          </a:xfrm>
          <a:prstGeom prst="rect">
            <a:avLst/>
          </a:prstGeom>
          <a:noFill/>
          <a:ln/>
        </p:spPr>
        <p:txBody>
          <a:bodyPr wrap="square" lIns="0" tIns="0" rIns="0" bIns="0" rtlCol="0" anchor="t"/>
          <a:lstStyle/>
          <a:p>
            <a:pPr algn="l" indent="0" marL="0">
              <a:buNone/>
            </a:pPr>
            <a:r>
              <a:rPr lang="en-US" sz="1100" dirty="0">
                <a:solidFill>
                  <a:srgbClr val="D64545"/>
                </a:solidFill>
                <a:latin typeface="Segoe UI" pitchFamily="34" charset="0"/>
                <a:ea typeface="Segoe UI" pitchFamily="34" charset="-122"/>
                <a:cs typeface="Segoe UI" pitchFamily="34" charset="-120"/>
              </a:rPr>
              <a:t>E</a:t>
            </a:r>
            <a:pPr algn="l" indent="0" marL="0">
              <a:buNone/>
            </a:pPr>
            <a:r>
              <a:rPr lang="en-US" sz="1100" baseline="-40000" dirty="0">
                <a:solidFill>
                  <a:srgbClr val="D64545"/>
                </a:solidFill>
                <a:latin typeface="Segoe UI" pitchFamily="34" charset="0"/>
                <a:ea typeface="Segoe UI" pitchFamily="34" charset="-122"/>
                <a:cs typeface="Segoe UI" pitchFamily="34" charset="-120"/>
              </a:rPr>
              <a:t>F</a:t>
            </a:r>
            <a:endParaRPr lang="en-US" sz="1100" dirty="0"/>
          </a:p>
        </p:txBody>
      </p:sp>
      <p:sp>
        <p:nvSpPr>
          <p:cNvPr id="23" name="!!vbEFm"/>
          <p:cNvSpPr/>
          <p:nvPr/>
        </p:nvSpPr>
        <p:spPr>
          <a:xfrm>
            <a:off x="731520" y="3611880"/>
            <a:ext cx="1280160" cy="91"/>
          </a:xfrm>
          <a:prstGeom prst="line">
            <a:avLst/>
          </a:prstGeom>
          <a:noFill/>
          <a:ln w="25400">
            <a:solidFill>
              <a:srgbClr val="D64545"/>
            </a:solidFill>
            <a:prstDash val="solid"/>
          </a:ln>
        </p:spPr>
      </p:sp>
      <p:sp>
        <p:nvSpPr>
          <p:cNvPr id="24" name="!!vbEFml"/>
          <p:cNvSpPr txBox="1"/>
          <p:nvPr/>
        </p:nvSpPr>
        <p:spPr>
          <a:xfrm>
            <a:off x="731520" y="3337560"/>
            <a:ext cx="1280160" cy="219456"/>
          </a:xfrm>
          <a:prstGeom prst="rect">
            <a:avLst/>
          </a:prstGeom>
          <a:noFill/>
          <a:ln/>
        </p:spPr>
        <p:txBody>
          <a:bodyPr wrap="square" lIns="0" tIns="0" rIns="0" bIns="0" rtlCol="0" anchor="t"/>
          <a:lstStyle/>
          <a:p>
            <a:pPr algn="ctr" indent="0" marL="0">
              <a:buNone/>
            </a:pPr>
            <a:r>
              <a:rPr lang="en-US" sz="1000" dirty="0">
                <a:solidFill>
                  <a:srgbClr val="D64545"/>
                </a:solidFill>
                <a:latin typeface="Segoe UI" pitchFamily="34" charset="0"/>
                <a:ea typeface="Segoe UI" pitchFamily="34" charset="-122"/>
                <a:cs typeface="Segoe UI" pitchFamily="34" charset="-120"/>
              </a:rPr>
              <a:t>E</a:t>
            </a:r>
            <a:pPr algn="ctr" indent="0" marL="0">
              <a:buNone/>
            </a:pPr>
            <a:r>
              <a:rPr lang="en-US" sz="1000" baseline="-40000" dirty="0">
                <a:solidFill>
                  <a:srgbClr val="D64545"/>
                </a:solidFill>
                <a:latin typeface="Segoe UI" pitchFamily="34" charset="0"/>
                <a:ea typeface="Segoe UI" pitchFamily="34" charset="-122"/>
                <a:cs typeface="Segoe UI" pitchFamily="34" charset="-120"/>
              </a:rPr>
              <a:t>F</a:t>
            </a:r>
            <a:pPr algn="ctr" indent="0" marL="0">
              <a:buNone/>
            </a:pPr>
            <a:r>
              <a:rPr lang="en-US" sz="1000" dirty="0">
                <a:solidFill>
                  <a:srgbClr val="D64545"/>
                </a:solidFill>
                <a:latin typeface="Segoe UI" pitchFamily="34" charset="0"/>
                <a:ea typeface="Segoe UI" pitchFamily="34" charset="-122"/>
                <a:cs typeface="Segoe UI" pitchFamily="34" charset="-120"/>
              </a:rPr>
              <a:t> (metal)</a:t>
            </a:r>
            <a:endParaRPr lang="en-US" sz="1000" dirty="0"/>
          </a:p>
        </p:txBody>
      </p:sp>
      <p:sp>
        <p:nvSpPr>
          <p:cNvPr id="25" name="!!vbVG"/>
          <p:cNvSpPr txBox="1"/>
          <p:nvPr/>
        </p:nvSpPr>
        <p:spPr>
          <a:xfrm>
            <a:off x="731520" y="1298448"/>
            <a:ext cx="1463040" cy="237744"/>
          </a:xfrm>
          <a:prstGeom prst="rect">
            <a:avLst/>
          </a:prstGeom>
          <a:noFill/>
          <a:ln/>
        </p:spPr>
        <p:txBody>
          <a:bodyPr wrap="square" lIns="0" tIns="0" rIns="0" bIns="0" rtlCol="0" anchor="t"/>
          <a:lstStyle/>
          <a:p>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l"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 = 0.00 V</a:t>
            </a:r>
            <a:endParaRPr lang="en-US" sz="1200" dirty="0"/>
          </a:p>
        </p:txBody>
      </p:sp>
      <p:sp>
        <p:nvSpPr>
          <p:cNvPr id="26" name="!!vbPsi"/>
          <p:cNvSpPr txBox="1"/>
          <p:nvPr/>
        </p:nvSpPr>
        <p:spPr>
          <a:xfrm>
            <a:off x="3840480" y="1298448"/>
            <a:ext cx="2560320" cy="237744"/>
          </a:xfrm>
          <a:prstGeom prst="rect">
            <a:avLst/>
          </a:prstGeom>
          <a:noFill/>
          <a:ln/>
        </p:spPr>
        <p:txBody>
          <a:bodyPr wrap="square" lIns="0" tIns="0" rIns="0" bIns="0" rtlCol="0" anchor="t"/>
          <a:lstStyle/>
          <a:p>
            <a:pPr algn="r" indent="0" marL="0">
              <a:buNone/>
            </a:pPr>
            <a:r>
              <a:rPr lang="en-US" sz="1200" dirty="0">
                <a:solidFill>
                  <a:srgbClr val="5C5E62"/>
                </a:solidFill>
                <a:latin typeface="Segoe UI Semibold" pitchFamily="34" charset="0"/>
                <a:ea typeface="Segoe UI Semibold" pitchFamily="34" charset="-122"/>
                <a:cs typeface="Segoe UI Semibold" pitchFamily="34" charset="-120"/>
              </a:rPr>
              <a:t>band bending ψs = 0.35 V</a:t>
            </a:r>
            <a:endParaRPr lang="en-US" sz="1200" dirty="0"/>
          </a:p>
        </p:txBody>
      </p:sp>
      <p:sp>
        <p:nvSpPr>
          <p:cNvPr id="27" name="!!card"/>
          <p:cNvSpPr/>
          <p:nvPr/>
        </p:nvSpPr>
        <p:spPr>
          <a:xfrm>
            <a:off x="7086600" y="1554480"/>
            <a:ext cx="4553712" cy="2606040"/>
          </a:xfrm>
          <a:prstGeom prst="roundRect">
            <a:avLst>
              <a:gd name="adj" fmla="val 2807"/>
            </a:avLst>
          </a:prstGeom>
          <a:solidFill>
            <a:srgbClr val="F4F5F7"/>
          </a:solidFill>
          <a:ln/>
        </p:spPr>
      </p:sp>
      <p:sp>
        <p:nvSpPr>
          <p:cNvPr id="28" name="!!cardn"/>
          <p:cNvSpPr/>
          <p:nvPr/>
        </p:nvSpPr>
        <p:spPr>
          <a:xfrm>
            <a:off x="7296912" y="1764792"/>
            <a:ext cx="347472" cy="347472"/>
          </a:xfrm>
          <a:prstGeom prst="ellipse">
            <a:avLst/>
          </a:prstGeom>
          <a:solidFill>
            <a:srgbClr val="5C5E62"/>
          </a:solidFill>
          <a:ln/>
        </p:spPr>
      </p:sp>
      <p:sp>
        <p:nvSpPr>
          <p:cNvPr id="29" name="!!cardnt"/>
          <p:cNvSpPr txBox="1"/>
          <p:nvPr/>
        </p:nvSpPr>
        <p:spPr>
          <a:xfrm>
            <a:off x="729691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30" name="!!cardh"/>
          <p:cNvSpPr txBox="1"/>
          <p:nvPr/>
        </p:nvSpPr>
        <p:spPr>
          <a:xfrm>
            <a:off x="7772400" y="1773936"/>
            <a:ext cx="3685032" cy="347472"/>
          </a:xfrm>
          <a:prstGeom prst="rect">
            <a:avLst/>
          </a:prstGeom>
          <a:noFill/>
          <a:ln/>
        </p:spPr>
        <p:txBody>
          <a:bodyPr wrap="square" lIns="0" tIns="0" rIns="0" bIns="0" rtlCol="0" anchor="ctr"/>
          <a:lstStyle/>
          <a:p>
            <a:pPr algn="l" indent="0" marL="0">
              <a:buNone/>
            </a:pPr>
            <a:r>
              <a:rPr lang="en-US" sz="1600" dirty="0">
                <a:solidFill>
                  <a:srgbClr val="5C5E62"/>
                </a:solidFill>
                <a:latin typeface="Segoe UI Semibold" pitchFamily="34" charset="0"/>
                <a:ea typeface="Segoe UI Semibold" pitchFamily="34" charset="-122"/>
                <a:cs typeface="Segoe UI Semibold" pitchFamily="34" charset="-120"/>
              </a:rPr>
              <a:t>Raise V</a:t>
            </a:r>
            <a:pPr algn="l" indent="0" marL="0">
              <a:buNone/>
            </a:pPr>
            <a:r>
              <a:rPr lang="en-US" sz="16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600" dirty="0">
                <a:solidFill>
                  <a:srgbClr val="5C5E62"/>
                </a:solidFill>
                <a:latin typeface="Segoe UI Semibold" pitchFamily="34" charset="0"/>
                <a:ea typeface="Segoe UI Semibold" pitchFamily="34" charset="-122"/>
                <a:cs typeface="Segoe UI Semibold" pitchFamily="34" charset="-120"/>
              </a:rPr>
              <a:t>: the bands bend</a:t>
            </a:r>
            <a:endParaRPr lang="en-US" sz="1600" dirty="0"/>
          </a:p>
        </p:txBody>
      </p:sp>
      <p:sp>
        <p:nvSpPr>
          <p:cNvPr id="31" name="!!cardb"/>
          <p:cNvSpPr txBox="1"/>
          <p:nvPr/>
        </p:nvSpPr>
        <p:spPr>
          <a:xfrm>
            <a:off x="7315200" y="2267712"/>
            <a:ext cx="4096512" cy="173736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A positive gate pulls the bands down at the surface.</a:t>
            </a:r>
            <a:endParaRPr lang="en-US" sz="1300" dirty="0"/>
          </a:p>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Holes are pushed away: a depletion layer (pink) of fixed negative ions grows.</a:t>
            </a:r>
            <a:endParaRPr lang="en-US" sz="1300" dirty="0"/>
          </a:p>
        </p:txBody>
      </p:sp>
      <p:sp>
        <p:nvSpPr>
          <p:cNvPr id="32" name="!!vbEq"/>
          <p:cNvSpPr txBox="1"/>
          <p:nvPr/>
        </p:nvSpPr>
        <p:spPr>
          <a:xfrm>
            <a:off x="7086600" y="4526280"/>
            <a:ext cx="914400" cy="457200"/>
          </a:xfrm>
          <a:prstGeom prst="rect">
            <a:avLst/>
          </a:prstGeom>
          <a:noFill/>
          <a:ln/>
        </p:spPr>
        <p:txBody>
          <a:bodyPr wrap="square" lIns="0" tIns="0" rIns="0" bIns="0" rtlCol="0" anchor="ctr"/>
          <a:lstStyle/>
          <a:p>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800" baseline="-40000" dirty="0">
                <a:solidFill>
                  <a:srgbClr val="171A20"/>
                </a:solidFill>
                <a:latin typeface="Segoe UI Semibold" pitchFamily="34" charset="0"/>
                <a:ea typeface="Segoe UI Semibold" pitchFamily="34" charset="-122"/>
                <a:cs typeface="Segoe UI Semibold" pitchFamily="34" charset="-120"/>
              </a:rPr>
              <a:t>T</a:t>
            </a:r>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  =</a:t>
            </a:r>
            <a:endParaRPr lang="en-US" sz="1800" dirty="0"/>
          </a:p>
        </p:txBody>
      </p:sp>
      <p:sp>
        <p:nvSpPr>
          <p:cNvPr id="33" name="!!vbT0"/>
          <p:cNvSpPr/>
          <p:nvPr/>
        </p:nvSpPr>
        <p:spPr>
          <a:xfrm>
            <a:off x="8001000" y="4526280"/>
            <a:ext cx="914400" cy="457200"/>
          </a:xfrm>
          <a:prstGeom prst="roundRect">
            <a:avLst>
              <a:gd name="adj" fmla="val 16000"/>
            </a:avLst>
          </a:prstGeom>
          <a:solidFill>
            <a:srgbClr val="F4F5F7"/>
          </a:solidFill>
          <a:ln/>
        </p:spPr>
      </p:sp>
      <p:sp>
        <p:nvSpPr>
          <p:cNvPr id="34" name="!!vbTt0"/>
          <p:cNvSpPr txBox="1"/>
          <p:nvPr/>
        </p:nvSpPr>
        <p:spPr>
          <a:xfrm>
            <a:off x="8001000" y="4526280"/>
            <a:ext cx="914400" cy="457200"/>
          </a:xfrm>
          <a:prstGeom prst="rect">
            <a:avLst/>
          </a:prstGeom>
          <a:noFill/>
          <a:ln/>
        </p:spPr>
        <p:txBody>
          <a:bodyPr wrap="square" lIns="0" tIns="0" rIns="0" bIns="0" rtlCol="0" anchor="ctr"/>
          <a:lstStyle/>
          <a:p>
            <a:pPr algn="ctr" indent="0" marL="0">
              <a:buNone/>
            </a:pPr>
            <a:r>
              <a:rPr lang="en-US" sz="1400" dirty="0">
                <a:solidFill>
                  <a:srgbClr val="5C5E62"/>
                </a:solidFill>
                <a:latin typeface="Segoe UI Semibold" pitchFamily="34" charset="0"/>
                <a:ea typeface="Segoe UI Semibold" pitchFamily="34" charset="-122"/>
                <a:cs typeface="Segoe UI Semibold" pitchFamily="34" charset="-120"/>
              </a:rPr>
              <a:t>V</a:t>
            </a:r>
            <a:pPr algn="ctr" indent="0" marL="0">
              <a:buNone/>
            </a:pPr>
            <a:r>
              <a:rPr lang="en-US" sz="1400" baseline="-40000" dirty="0">
                <a:solidFill>
                  <a:srgbClr val="5C5E62"/>
                </a:solidFill>
                <a:latin typeface="Segoe UI Semibold" pitchFamily="34" charset="0"/>
                <a:ea typeface="Segoe UI Semibold" pitchFamily="34" charset="-122"/>
                <a:cs typeface="Segoe UI Semibold" pitchFamily="34" charset="-120"/>
              </a:rPr>
              <a:t>FB</a:t>
            </a:r>
            <a:endParaRPr lang="en-US" sz="1400" dirty="0"/>
          </a:p>
        </p:txBody>
      </p:sp>
      <p:sp>
        <p:nvSpPr>
          <p:cNvPr id="35" name="!!vbPl0"/>
          <p:cNvSpPr txBox="1"/>
          <p:nvPr/>
        </p:nvSpPr>
        <p:spPr>
          <a:xfrm>
            <a:off x="8915400" y="4526280"/>
            <a:ext cx="274320" cy="45720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Semibold" pitchFamily="34" charset="0"/>
                <a:ea typeface="Segoe UI Semibold" pitchFamily="34" charset="-122"/>
                <a:cs typeface="Segoe UI Semibold" pitchFamily="34" charset="-120"/>
              </a:rPr>
              <a:t>+</a:t>
            </a:r>
            <a:endParaRPr lang="en-US" sz="1600" dirty="0"/>
          </a:p>
        </p:txBody>
      </p:sp>
      <p:sp>
        <p:nvSpPr>
          <p:cNvPr id="36" name="!!vbT1"/>
          <p:cNvSpPr/>
          <p:nvPr/>
        </p:nvSpPr>
        <p:spPr>
          <a:xfrm>
            <a:off x="9189720" y="4526280"/>
            <a:ext cx="914400" cy="457200"/>
          </a:xfrm>
          <a:prstGeom prst="roundRect">
            <a:avLst>
              <a:gd name="adj" fmla="val 16000"/>
            </a:avLst>
          </a:prstGeom>
          <a:solidFill>
            <a:srgbClr val="F4F5F7"/>
          </a:solidFill>
          <a:ln/>
        </p:spPr>
      </p:sp>
      <p:sp>
        <p:nvSpPr>
          <p:cNvPr id="37" name="!!vbTt1"/>
          <p:cNvSpPr txBox="1"/>
          <p:nvPr/>
        </p:nvSpPr>
        <p:spPr>
          <a:xfrm>
            <a:off x="9189720" y="4526280"/>
            <a:ext cx="914400" cy="457200"/>
          </a:xfrm>
          <a:prstGeom prst="rect">
            <a:avLst/>
          </a:prstGeom>
          <a:noFill/>
          <a:ln/>
        </p:spPr>
        <p:txBody>
          <a:bodyPr wrap="square" lIns="0" tIns="0" rIns="0" bIns="0" rtlCol="0" anchor="ctr"/>
          <a:lstStyle/>
          <a:p>
            <a:pPr algn="ctr" indent="0" marL="0">
              <a:buNone/>
            </a:pPr>
            <a:r>
              <a:rPr lang="en-US" sz="1400" dirty="0">
                <a:solidFill>
                  <a:srgbClr val="5C5E62"/>
                </a:solidFill>
                <a:latin typeface="Segoe UI Semibold" pitchFamily="34" charset="0"/>
                <a:ea typeface="Segoe UI Semibold" pitchFamily="34" charset="-122"/>
                <a:cs typeface="Segoe UI Semibold" pitchFamily="34" charset="-120"/>
              </a:rPr>
              <a:t>2φF</a:t>
            </a:r>
            <a:endParaRPr lang="en-US" sz="1400" dirty="0"/>
          </a:p>
        </p:txBody>
      </p:sp>
      <p:sp>
        <p:nvSpPr>
          <p:cNvPr id="38" name="!!vbPl1"/>
          <p:cNvSpPr txBox="1"/>
          <p:nvPr/>
        </p:nvSpPr>
        <p:spPr>
          <a:xfrm>
            <a:off x="10104120" y="4526280"/>
            <a:ext cx="274320" cy="45720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Semibold" pitchFamily="34" charset="0"/>
                <a:ea typeface="Segoe UI Semibold" pitchFamily="34" charset="-122"/>
                <a:cs typeface="Segoe UI Semibold" pitchFamily="34" charset="-120"/>
              </a:rPr>
              <a:t>+</a:t>
            </a:r>
            <a:endParaRPr lang="en-US" sz="1600" dirty="0"/>
          </a:p>
        </p:txBody>
      </p:sp>
      <p:sp>
        <p:nvSpPr>
          <p:cNvPr id="39" name="!!vbT2"/>
          <p:cNvSpPr/>
          <p:nvPr/>
        </p:nvSpPr>
        <p:spPr>
          <a:xfrm>
            <a:off x="10378440" y="4526280"/>
            <a:ext cx="1463040" cy="457200"/>
          </a:xfrm>
          <a:prstGeom prst="roundRect">
            <a:avLst>
              <a:gd name="adj" fmla="val 16000"/>
            </a:avLst>
          </a:prstGeom>
          <a:solidFill>
            <a:srgbClr val="F4F5F7"/>
          </a:solidFill>
          <a:ln/>
        </p:spPr>
      </p:sp>
      <p:sp>
        <p:nvSpPr>
          <p:cNvPr id="40" name="!!vbTt2"/>
          <p:cNvSpPr txBox="1"/>
          <p:nvPr/>
        </p:nvSpPr>
        <p:spPr>
          <a:xfrm>
            <a:off x="10378440" y="4526280"/>
            <a:ext cx="1463040" cy="457200"/>
          </a:xfrm>
          <a:prstGeom prst="rect">
            <a:avLst/>
          </a:prstGeom>
          <a:noFill/>
          <a:ln/>
        </p:spPr>
        <p:txBody>
          <a:bodyPr wrap="square" lIns="0" tIns="0" rIns="0" bIns="0" rtlCol="0" anchor="ctr"/>
          <a:lstStyle/>
          <a:p>
            <a:pPr algn="ctr" indent="0" marL="0">
              <a:buNone/>
            </a:pPr>
            <a:r>
              <a:rPr lang="en-US" sz="1400" dirty="0">
                <a:solidFill>
                  <a:srgbClr val="5C5E62"/>
                </a:solidFill>
                <a:latin typeface="Segoe UI Semibold" pitchFamily="34" charset="0"/>
                <a:ea typeface="Segoe UI Semibold" pitchFamily="34" charset="-122"/>
                <a:cs typeface="Segoe UI Semibold" pitchFamily="34" charset="-120"/>
              </a:rPr>
              <a:t>Q</a:t>
            </a:r>
            <a:pPr algn="ctr" indent="0" marL="0">
              <a:buNone/>
            </a:pPr>
            <a:r>
              <a:rPr lang="en-US" sz="1400" baseline="-40000" dirty="0">
                <a:solidFill>
                  <a:srgbClr val="5C5E62"/>
                </a:solidFill>
                <a:latin typeface="Segoe UI Semibold" pitchFamily="34" charset="0"/>
                <a:ea typeface="Segoe UI Semibold" pitchFamily="34" charset="-122"/>
                <a:cs typeface="Segoe UI Semibold" pitchFamily="34" charset="-120"/>
              </a:rPr>
              <a:t>dep</a:t>
            </a:r>
            <a:pPr algn="ctr" indent="0" marL="0">
              <a:buNone/>
            </a:pPr>
            <a:r>
              <a:rPr lang="en-US" sz="1400" dirty="0">
                <a:solidFill>
                  <a:srgbClr val="5C5E62"/>
                </a:solidFill>
                <a:latin typeface="Segoe UI Semibold" pitchFamily="34" charset="0"/>
                <a:ea typeface="Segoe UI Semibold" pitchFamily="34" charset="-122"/>
                <a:cs typeface="Segoe UI Semibold" pitchFamily="34" charset="-120"/>
              </a:rPr>
              <a:t> / C</a:t>
            </a:r>
            <a:pPr algn="ctr" indent="0" marL="0">
              <a:buNone/>
            </a:pPr>
            <a:r>
              <a:rPr lang="en-US" sz="1400" baseline="-40000" dirty="0">
                <a:solidFill>
                  <a:srgbClr val="5C5E62"/>
                </a:solidFill>
                <a:latin typeface="Segoe UI Semibold" pitchFamily="34" charset="0"/>
                <a:ea typeface="Segoe UI Semibold" pitchFamily="34" charset="-122"/>
                <a:cs typeface="Segoe UI Semibold" pitchFamily="34" charset="-120"/>
              </a:rPr>
              <a:t>ox</a:t>
            </a:r>
            <a:endParaRPr lang="en-US" sz="1400" dirty="0"/>
          </a:p>
        </p:txBody>
      </p:sp>
      <p:sp>
        <p:nvSpPr>
          <p:cNvPr id="41"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Raising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G</a:t>
            </a:r>
            <a:pPr algn="ctr" indent="0" marL="0">
              <a:buNone/>
            </a:pPr>
            <a:r>
              <a:rPr lang="en-US" sz="1600" dirty="0">
                <a:solidFill>
                  <a:srgbClr val="171A20"/>
                </a:solidFill>
                <a:latin typeface="Segoe UI" pitchFamily="34" charset="0"/>
                <a:ea typeface="Segoe UI" pitchFamily="34" charset="-122"/>
                <a:cs typeface="Segoe UI" pitchFamily="34" charset="-120"/>
              </a:rPr>
              <a:t> bends the bands; the surface loses its holes.</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What sets V</a:t>
            </a:r>
            <a:pPr algn="l" indent="0" marL="0">
              <a:buNone/>
            </a:pPr>
            <a:r>
              <a:rPr lang="en-US" sz="3000" baseline="-40000" dirty="0">
                <a:solidFill>
                  <a:srgbClr val="171A20"/>
                </a:solidFill>
                <a:latin typeface="Segoe UI" pitchFamily="34" charset="0"/>
                <a:ea typeface="Segoe UI" pitchFamily="34" charset="-122"/>
                <a:cs typeface="Segoe UI" pitchFamily="34" charset="-120"/>
              </a:rPr>
              <a:t>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Energy bands from the gate (left) through the oxide into the p-type silicon (right)</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vbM"/>
          <p:cNvSpPr/>
          <p:nvPr/>
        </p:nvSpPr>
        <p:spPr>
          <a:xfrm>
            <a:off x="731520" y="1600200"/>
            <a:ext cx="1280160" cy="3291840"/>
          </a:xfrm>
          <a:prstGeom prst="rect">
            <a:avLst/>
          </a:prstGeom>
          <a:solidFill>
            <a:srgbClr val="B3A6E6">
              <a:alpha val="60000"/>
            </a:srgbClr>
          </a:solidFill>
          <a:ln/>
        </p:spPr>
      </p:sp>
      <p:sp>
        <p:nvSpPr>
          <p:cNvPr id="10" name="!!vbO"/>
          <p:cNvSpPr/>
          <p:nvPr/>
        </p:nvSpPr>
        <p:spPr>
          <a:xfrm>
            <a:off x="2011680" y="1600200"/>
            <a:ext cx="365760" cy="3291840"/>
          </a:xfrm>
          <a:prstGeom prst="rect">
            <a:avLst/>
          </a:prstGeom>
          <a:solidFill>
            <a:srgbClr val="CDEBF5"/>
          </a:solidFill>
          <a:ln/>
        </p:spPr>
      </p:sp>
      <p:sp>
        <p:nvSpPr>
          <p:cNvPr id="11" name="!!vbD"/>
          <p:cNvSpPr/>
          <p:nvPr/>
        </p:nvSpPr>
        <p:spPr>
          <a:xfrm>
            <a:off x="2377440" y="1600200"/>
            <a:ext cx="1234440" cy="3291840"/>
          </a:xfrm>
          <a:prstGeom prst="rect">
            <a:avLst/>
          </a:prstGeom>
          <a:solidFill>
            <a:srgbClr val="F7D4D9">
              <a:alpha val="70000"/>
            </a:srgbClr>
          </a:solidFill>
          <a:ln/>
        </p:spPr>
      </p:sp>
      <p:sp>
        <p:nvSpPr>
          <p:cNvPr id="12" name="!!vbML"/>
          <p:cNvSpPr txBox="1"/>
          <p:nvPr/>
        </p:nvSpPr>
        <p:spPr>
          <a:xfrm>
            <a:off x="731520" y="4937760"/>
            <a:ext cx="12801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gate metal</a:t>
            </a:r>
            <a:endParaRPr lang="en-US" sz="1000" dirty="0"/>
          </a:p>
        </p:txBody>
      </p:sp>
      <p:sp>
        <p:nvSpPr>
          <p:cNvPr id="13" name="!!vbOL"/>
          <p:cNvSpPr txBox="1"/>
          <p:nvPr/>
        </p:nvSpPr>
        <p:spPr>
          <a:xfrm>
            <a:off x="1920240" y="4937760"/>
            <a:ext cx="54864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oxide</a:t>
            </a:r>
            <a:endParaRPr lang="en-US" sz="1000" dirty="0"/>
          </a:p>
        </p:txBody>
      </p:sp>
      <p:sp>
        <p:nvSpPr>
          <p:cNvPr id="14" name="!!vbSL"/>
          <p:cNvSpPr txBox="1"/>
          <p:nvPr/>
        </p:nvSpPr>
        <p:spPr>
          <a:xfrm>
            <a:off x="4389120" y="4937760"/>
            <a:ext cx="2011680" cy="219456"/>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a:t>
            </a:r>
            <a:endParaRPr lang="en-US" sz="1000" dirty="0"/>
          </a:p>
        </p:txBody>
      </p:sp>
      <p:sp>
        <p:nvSpPr>
          <p:cNvPr id="15" name="!!vbL0"/>
          <p:cNvSpPr/>
          <p:nvPr/>
        </p:nvSpPr>
        <p:spPr>
          <a:xfrm>
            <a:off x="2377440" y="2729057"/>
            <a:ext cx="4023360" cy="681198"/>
          </a:xfrm>
          <a:custGeom>
            <a:avLst/>
            <a:gdLst/>
            <a:ahLst/>
            <a:cxnLst/>
            <a:rect l="l" t="t" r="r" b="b"/>
            <a:pathLst>
              <a:path w="4023360" h="681198">
                <a:moveTo>
                  <a:pt x="0" y="681198"/>
                </a:moveTo>
                <a:lnTo>
                  <a:pt x="138737" y="530541"/>
                </a:lnTo>
                <a:lnTo>
                  <a:pt x="277473" y="413181"/>
                </a:lnTo>
                <a:lnTo>
                  <a:pt x="416210" y="321758"/>
                </a:lnTo>
                <a:lnTo>
                  <a:pt x="554946" y="250540"/>
                </a:lnTo>
                <a:lnTo>
                  <a:pt x="693683" y="195061"/>
                </a:lnTo>
                <a:lnTo>
                  <a:pt x="832419" y="151844"/>
                </a:lnTo>
                <a:lnTo>
                  <a:pt x="971156" y="118178"/>
                </a:lnTo>
                <a:lnTo>
                  <a:pt x="1109892" y="91952"/>
                </a:lnTo>
                <a:lnTo>
                  <a:pt x="1248629" y="71522"/>
                </a:lnTo>
                <a:lnTo>
                  <a:pt x="1387366" y="55608"/>
                </a:lnTo>
                <a:lnTo>
                  <a:pt x="1526102" y="43210"/>
                </a:lnTo>
                <a:lnTo>
                  <a:pt x="1664839" y="33553"/>
                </a:lnTo>
                <a:lnTo>
                  <a:pt x="1803575" y="26030"/>
                </a:lnTo>
                <a:lnTo>
                  <a:pt x="1942312" y="20169"/>
                </a:lnTo>
                <a:lnTo>
                  <a:pt x="2081048" y="15604"/>
                </a:lnTo>
                <a:lnTo>
                  <a:pt x="2219785" y="12048"/>
                </a:lnTo>
                <a:lnTo>
                  <a:pt x="2358521" y="9277"/>
                </a:lnTo>
                <a:lnTo>
                  <a:pt x="2497258" y="7119"/>
                </a:lnTo>
                <a:lnTo>
                  <a:pt x="2635994" y="5438"/>
                </a:lnTo>
                <a:lnTo>
                  <a:pt x="2774731" y="4128"/>
                </a:lnTo>
                <a:lnTo>
                  <a:pt x="2913468" y="3108"/>
                </a:lnTo>
                <a:lnTo>
                  <a:pt x="3052204" y="2314"/>
                </a:lnTo>
                <a:lnTo>
                  <a:pt x="3190941" y="1694"/>
                </a:lnTo>
                <a:lnTo>
                  <a:pt x="3329677" y="1212"/>
                </a:lnTo>
                <a:lnTo>
                  <a:pt x="3468414" y="837"/>
                </a:lnTo>
                <a:lnTo>
                  <a:pt x="3607150" y="544"/>
                </a:lnTo>
                <a:lnTo>
                  <a:pt x="3745887" y="316"/>
                </a:lnTo>
                <a:lnTo>
                  <a:pt x="3884623" y="138"/>
                </a:lnTo>
                <a:lnTo>
                  <a:pt x="4023360" y="0"/>
                </a:lnTo>
              </a:path>
            </a:pathLst>
          </a:custGeom>
          <a:ln w="28575">
            <a:solidFill>
              <a:srgbClr val="171A20"/>
            </a:solidFill>
            <a:prstDash val="solid"/>
          </a:ln>
        </p:spPr>
      </p:sp>
      <p:sp>
        <p:nvSpPr>
          <p:cNvPr id="16" name="!!vbLl0"/>
          <p:cNvSpPr txBox="1"/>
          <p:nvPr/>
        </p:nvSpPr>
        <p:spPr>
          <a:xfrm>
            <a:off x="6446520" y="2618842"/>
            <a:ext cx="457200" cy="219456"/>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E</a:t>
            </a:r>
            <a:pPr algn="l" indent="0" marL="0">
              <a:buNone/>
            </a:pPr>
            <a:r>
              <a:rPr lang="en-US" sz="1100" baseline="-40000" dirty="0">
                <a:solidFill>
                  <a:srgbClr val="171A20"/>
                </a:solidFill>
                <a:latin typeface="Segoe UI" pitchFamily="34" charset="0"/>
                <a:ea typeface="Segoe UI" pitchFamily="34" charset="-122"/>
                <a:cs typeface="Segoe UI" pitchFamily="34" charset="-120"/>
              </a:rPr>
              <a:t>C</a:t>
            </a:r>
            <a:endParaRPr lang="en-US" sz="1100" dirty="0"/>
          </a:p>
        </p:txBody>
      </p:sp>
      <p:sp>
        <p:nvSpPr>
          <p:cNvPr id="17" name="!!vbL1"/>
          <p:cNvSpPr/>
          <p:nvPr/>
        </p:nvSpPr>
        <p:spPr>
          <a:xfrm>
            <a:off x="2377440" y="3266724"/>
            <a:ext cx="4023360" cy="681198"/>
          </a:xfrm>
          <a:custGeom>
            <a:avLst/>
            <a:gdLst/>
            <a:ahLst/>
            <a:cxnLst/>
            <a:rect l="l" t="t" r="r" b="b"/>
            <a:pathLst>
              <a:path w="4023360" h="681198">
                <a:moveTo>
                  <a:pt x="0" y="681198"/>
                </a:moveTo>
                <a:lnTo>
                  <a:pt x="138737" y="530541"/>
                </a:lnTo>
                <a:lnTo>
                  <a:pt x="277473" y="413181"/>
                </a:lnTo>
                <a:lnTo>
                  <a:pt x="416210" y="321758"/>
                </a:lnTo>
                <a:lnTo>
                  <a:pt x="554946" y="250540"/>
                </a:lnTo>
                <a:lnTo>
                  <a:pt x="693683" y="195061"/>
                </a:lnTo>
                <a:lnTo>
                  <a:pt x="832419" y="151844"/>
                </a:lnTo>
                <a:lnTo>
                  <a:pt x="971156" y="118178"/>
                </a:lnTo>
                <a:lnTo>
                  <a:pt x="1109892" y="91952"/>
                </a:lnTo>
                <a:lnTo>
                  <a:pt x="1248629" y="71522"/>
                </a:lnTo>
                <a:lnTo>
                  <a:pt x="1387366" y="55608"/>
                </a:lnTo>
                <a:lnTo>
                  <a:pt x="1526102" y="43210"/>
                </a:lnTo>
                <a:lnTo>
                  <a:pt x="1664839" y="33553"/>
                </a:lnTo>
                <a:lnTo>
                  <a:pt x="1803575" y="26030"/>
                </a:lnTo>
                <a:lnTo>
                  <a:pt x="1942312" y="20169"/>
                </a:lnTo>
                <a:lnTo>
                  <a:pt x="2081048" y="15604"/>
                </a:lnTo>
                <a:lnTo>
                  <a:pt x="2219785" y="12048"/>
                </a:lnTo>
                <a:lnTo>
                  <a:pt x="2358521" y="9277"/>
                </a:lnTo>
                <a:lnTo>
                  <a:pt x="2497258" y="7119"/>
                </a:lnTo>
                <a:lnTo>
                  <a:pt x="2635994" y="5438"/>
                </a:lnTo>
                <a:lnTo>
                  <a:pt x="2774731" y="4128"/>
                </a:lnTo>
                <a:lnTo>
                  <a:pt x="2913468" y="3108"/>
                </a:lnTo>
                <a:lnTo>
                  <a:pt x="3052204" y="2314"/>
                </a:lnTo>
                <a:lnTo>
                  <a:pt x="3190941" y="1694"/>
                </a:lnTo>
                <a:lnTo>
                  <a:pt x="3329677" y="1212"/>
                </a:lnTo>
                <a:lnTo>
                  <a:pt x="3468414" y="837"/>
                </a:lnTo>
                <a:lnTo>
                  <a:pt x="3607150" y="544"/>
                </a:lnTo>
                <a:lnTo>
                  <a:pt x="3745887" y="316"/>
                </a:lnTo>
                <a:lnTo>
                  <a:pt x="3884623" y="138"/>
                </a:lnTo>
                <a:lnTo>
                  <a:pt x="4023360" y="0"/>
                </a:lnTo>
              </a:path>
            </a:pathLst>
          </a:custGeom>
          <a:ln w="15875">
            <a:solidFill>
              <a:srgbClr val="8A8D93"/>
            </a:solidFill>
            <a:prstDash val="dash"/>
          </a:ln>
        </p:spPr>
      </p:sp>
      <p:sp>
        <p:nvSpPr>
          <p:cNvPr id="18" name="!!vbLl1"/>
          <p:cNvSpPr txBox="1"/>
          <p:nvPr/>
        </p:nvSpPr>
        <p:spPr>
          <a:xfrm>
            <a:off x="6446520" y="3156509"/>
            <a:ext cx="457200" cy="219456"/>
          </a:xfrm>
          <a:prstGeom prst="rect">
            <a:avLst/>
          </a:prstGeom>
          <a:noFill/>
          <a:ln/>
        </p:spPr>
        <p:txBody>
          <a:bodyPr wrap="square" lIns="0" tIns="0" rIns="0" bIns="0" rtlCol="0" anchor="t"/>
          <a:lstStyle/>
          <a:p>
            <a:pPr algn="l" indent="0" marL="0">
              <a:buNone/>
            </a:pPr>
            <a:r>
              <a:rPr lang="en-US" sz="1100" dirty="0">
                <a:solidFill>
                  <a:srgbClr val="8A8D93"/>
                </a:solidFill>
                <a:latin typeface="Segoe UI" pitchFamily="34" charset="0"/>
                <a:ea typeface="Segoe UI" pitchFamily="34" charset="-122"/>
                <a:cs typeface="Segoe UI" pitchFamily="34" charset="-120"/>
              </a:rPr>
              <a:t>E</a:t>
            </a:r>
            <a:pPr algn="l" indent="0" marL="0">
              <a:buNone/>
            </a:pPr>
            <a:r>
              <a:rPr lang="en-US" sz="1100" baseline="-40000" dirty="0">
                <a:solidFill>
                  <a:srgbClr val="8A8D93"/>
                </a:solidFill>
                <a:latin typeface="Segoe UI" pitchFamily="34" charset="0"/>
                <a:ea typeface="Segoe UI" pitchFamily="34" charset="-122"/>
                <a:cs typeface="Segoe UI" pitchFamily="34" charset="-120"/>
              </a:rPr>
              <a:t>i</a:t>
            </a:r>
            <a:endParaRPr lang="en-US" sz="1100" dirty="0"/>
          </a:p>
        </p:txBody>
      </p:sp>
      <p:sp>
        <p:nvSpPr>
          <p:cNvPr id="19" name="!!vbL2"/>
          <p:cNvSpPr/>
          <p:nvPr/>
        </p:nvSpPr>
        <p:spPr>
          <a:xfrm>
            <a:off x="2377440" y="3804392"/>
            <a:ext cx="4023360" cy="681198"/>
          </a:xfrm>
          <a:custGeom>
            <a:avLst/>
            <a:gdLst/>
            <a:ahLst/>
            <a:cxnLst/>
            <a:rect l="l" t="t" r="r" b="b"/>
            <a:pathLst>
              <a:path w="4023360" h="681198">
                <a:moveTo>
                  <a:pt x="0" y="681198"/>
                </a:moveTo>
                <a:lnTo>
                  <a:pt x="138737" y="530541"/>
                </a:lnTo>
                <a:lnTo>
                  <a:pt x="277473" y="413181"/>
                </a:lnTo>
                <a:lnTo>
                  <a:pt x="416210" y="321758"/>
                </a:lnTo>
                <a:lnTo>
                  <a:pt x="554946" y="250540"/>
                </a:lnTo>
                <a:lnTo>
                  <a:pt x="693683" y="195061"/>
                </a:lnTo>
                <a:lnTo>
                  <a:pt x="832419" y="151844"/>
                </a:lnTo>
                <a:lnTo>
                  <a:pt x="971156" y="118178"/>
                </a:lnTo>
                <a:lnTo>
                  <a:pt x="1109892" y="91952"/>
                </a:lnTo>
                <a:lnTo>
                  <a:pt x="1248629" y="71522"/>
                </a:lnTo>
                <a:lnTo>
                  <a:pt x="1387366" y="55608"/>
                </a:lnTo>
                <a:lnTo>
                  <a:pt x="1526102" y="43210"/>
                </a:lnTo>
                <a:lnTo>
                  <a:pt x="1664839" y="33553"/>
                </a:lnTo>
                <a:lnTo>
                  <a:pt x="1803575" y="26030"/>
                </a:lnTo>
                <a:lnTo>
                  <a:pt x="1942312" y="20169"/>
                </a:lnTo>
                <a:lnTo>
                  <a:pt x="2081048" y="15604"/>
                </a:lnTo>
                <a:lnTo>
                  <a:pt x="2219785" y="12048"/>
                </a:lnTo>
                <a:lnTo>
                  <a:pt x="2358521" y="9277"/>
                </a:lnTo>
                <a:lnTo>
                  <a:pt x="2497258" y="7119"/>
                </a:lnTo>
                <a:lnTo>
                  <a:pt x="2635994" y="5438"/>
                </a:lnTo>
                <a:lnTo>
                  <a:pt x="2774731" y="4128"/>
                </a:lnTo>
                <a:lnTo>
                  <a:pt x="2913468" y="3108"/>
                </a:lnTo>
                <a:lnTo>
                  <a:pt x="3052204" y="2314"/>
                </a:lnTo>
                <a:lnTo>
                  <a:pt x="3190941" y="1694"/>
                </a:lnTo>
                <a:lnTo>
                  <a:pt x="3329677" y="1212"/>
                </a:lnTo>
                <a:lnTo>
                  <a:pt x="3468414" y="837"/>
                </a:lnTo>
                <a:lnTo>
                  <a:pt x="3607150" y="544"/>
                </a:lnTo>
                <a:lnTo>
                  <a:pt x="3745887" y="316"/>
                </a:lnTo>
                <a:lnTo>
                  <a:pt x="3884623" y="138"/>
                </a:lnTo>
                <a:lnTo>
                  <a:pt x="4023360" y="0"/>
                </a:lnTo>
              </a:path>
            </a:pathLst>
          </a:custGeom>
          <a:ln w="28575">
            <a:solidFill>
              <a:srgbClr val="171A20"/>
            </a:solidFill>
            <a:prstDash val="solid"/>
          </a:ln>
        </p:spPr>
      </p:sp>
      <p:sp>
        <p:nvSpPr>
          <p:cNvPr id="20" name="!!vbLl2"/>
          <p:cNvSpPr txBox="1"/>
          <p:nvPr/>
        </p:nvSpPr>
        <p:spPr>
          <a:xfrm>
            <a:off x="6446520" y="3694176"/>
            <a:ext cx="457200" cy="219456"/>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E</a:t>
            </a:r>
            <a:pPr algn="l" indent="0" marL="0">
              <a:buNone/>
            </a:pPr>
            <a:r>
              <a:rPr lang="en-US" sz="1100" baseline="-40000" dirty="0">
                <a:solidFill>
                  <a:srgbClr val="171A20"/>
                </a:solidFill>
                <a:latin typeface="Segoe UI" pitchFamily="34" charset="0"/>
                <a:ea typeface="Segoe UI" pitchFamily="34" charset="-122"/>
                <a:cs typeface="Segoe UI" pitchFamily="34" charset="-120"/>
              </a:rPr>
              <a:t>V</a:t>
            </a:r>
            <a:endParaRPr lang="en-US" sz="1100" dirty="0"/>
          </a:p>
        </p:txBody>
      </p:sp>
      <p:sp>
        <p:nvSpPr>
          <p:cNvPr id="21" name="!!vbEF"/>
          <p:cNvSpPr/>
          <p:nvPr/>
        </p:nvSpPr>
        <p:spPr>
          <a:xfrm>
            <a:off x="2377440" y="3611880"/>
            <a:ext cx="4023360" cy="91"/>
          </a:xfrm>
          <a:prstGeom prst="line">
            <a:avLst/>
          </a:prstGeom>
          <a:noFill/>
          <a:ln w="19050">
            <a:solidFill>
              <a:srgbClr val="D64545"/>
            </a:solidFill>
            <a:prstDash val="solid"/>
          </a:ln>
        </p:spPr>
      </p:sp>
      <p:sp>
        <p:nvSpPr>
          <p:cNvPr id="22" name="!!vbEFl"/>
          <p:cNvSpPr txBox="1"/>
          <p:nvPr/>
        </p:nvSpPr>
        <p:spPr>
          <a:xfrm>
            <a:off x="6446520" y="3502152"/>
            <a:ext cx="457200" cy="219456"/>
          </a:xfrm>
          <a:prstGeom prst="rect">
            <a:avLst/>
          </a:prstGeom>
          <a:noFill/>
          <a:ln/>
        </p:spPr>
        <p:txBody>
          <a:bodyPr wrap="square" lIns="0" tIns="0" rIns="0" bIns="0" rtlCol="0" anchor="t"/>
          <a:lstStyle/>
          <a:p>
            <a:pPr algn="l" indent="0" marL="0">
              <a:buNone/>
            </a:pPr>
            <a:r>
              <a:rPr lang="en-US" sz="1100" dirty="0">
                <a:solidFill>
                  <a:srgbClr val="D64545"/>
                </a:solidFill>
                <a:latin typeface="Segoe UI" pitchFamily="34" charset="0"/>
                <a:ea typeface="Segoe UI" pitchFamily="34" charset="-122"/>
                <a:cs typeface="Segoe UI" pitchFamily="34" charset="-120"/>
              </a:rPr>
              <a:t>E</a:t>
            </a:r>
            <a:pPr algn="l" indent="0" marL="0">
              <a:buNone/>
            </a:pPr>
            <a:r>
              <a:rPr lang="en-US" sz="1100" baseline="-40000" dirty="0">
                <a:solidFill>
                  <a:srgbClr val="D64545"/>
                </a:solidFill>
                <a:latin typeface="Segoe UI" pitchFamily="34" charset="0"/>
                <a:ea typeface="Segoe UI" pitchFamily="34" charset="-122"/>
                <a:cs typeface="Segoe UI" pitchFamily="34" charset="-120"/>
              </a:rPr>
              <a:t>F</a:t>
            </a:r>
            <a:endParaRPr lang="en-US" sz="1100" dirty="0"/>
          </a:p>
        </p:txBody>
      </p:sp>
      <p:sp>
        <p:nvSpPr>
          <p:cNvPr id="23" name="!!vbEFm"/>
          <p:cNvSpPr/>
          <p:nvPr/>
        </p:nvSpPr>
        <p:spPr>
          <a:xfrm>
            <a:off x="731520" y="3851910"/>
            <a:ext cx="1280160" cy="91"/>
          </a:xfrm>
          <a:prstGeom prst="line">
            <a:avLst/>
          </a:prstGeom>
          <a:noFill/>
          <a:ln w="25400">
            <a:solidFill>
              <a:srgbClr val="D64545"/>
            </a:solidFill>
            <a:prstDash val="solid"/>
          </a:ln>
        </p:spPr>
      </p:sp>
      <p:sp>
        <p:nvSpPr>
          <p:cNvPr id="24" name="!!vbEFml"/>
          <p:cNvSpPr txBox="1"/>
          <p:nvPr/>
        </p:nvSpPr>
        <p:spPr>
          <a:xfrm>
            <a:off x="731520" y="3577590"/>
            <a:ext cx="1280160" cy="219456"/>
          </a:xfrm>
          <a:prstGeom prst="rect">
            <a:avLst/>
          </a:prstGeom>
          <a:noFill/>
          <a:ln/>
        </p:spPr>
        <p:txBody>
          <a:bodyPr wrap="square" lIns="0" tIns="0" rIns="0" bIns="0" rtlCol="0" anchor="t"/>
          <a:lstStyle/>
          <a:p>
            <a:pPr algn="ctr" indent="0" marL="0">
              <a:buNone/>
            </a:pPr>
            <a:r>
              <a:rPr lang="en-US" sz="1000" dirty="0">
                <a:solidFill>
                  <a:srgbClr val="D64545"/>
                </a:solidFill>
                <a:latin typeface="Segoe UI" pitchFamily="34" charset="0"/>
                <a:ea typeface="Segoe UI" pitchFamily="34" charset="-122"/>
                <a:cs typeface="Segoe UI" pitchFamily="34" charset="-120"/>
              </a:rPr>
              <a:t>E</a:t>
            </a:r>
            <a:pPr algn="ctr" indent="0" marL="0">
              <a:buNone/>
            </a:pPr>
            <a:r>
              <a:rPr lang="en-US" sz="1000" baseline="-40000" dirty="0">
                <a:solidFill>
                  <a:srgbClr val="D64545"/>
                </a:solidFill>
                <a:latin typeface="Segoe UI" pitchFamily="34" charset="0"/>
                <a:ea typeface="Segoe UI" pitchFamily="34" charset="-122"/>
                <a:cs typeface="Segoe UI" pitchFamily="34" charset="-120"/>
              </a:rPr>
              <a:t>F</a:t>
            </a:r>
            <a:pPr algn="ctr" indent="0" marL="0">
              <a:buNone/>
            </a:pPr>
            <a:r>
              <a:rPr lang="en-US" sz="1000" dirty="0">
                <a:solidFill>
                  <a:srgbClr val="D64545"/>
                </a:solidFill>
                <a:latin typeface="Segoe UI" pitchFamily="34" charset="0"/>
                <a:ea typeface="Segoe UI" pitchFamily="34" charset="-122"/>
                <a:cs typeface="Segoe UI" pitchFamily="34" charset="-120"/>
              </a:rPr>
              <a:t> (metal)</a:t>
            </a:r>
            <a:endParaRPr lang="en-US" sz="1000" dirty="0"/>
          </a:p>
        </p:txBody>
      </p:sp>
      <p:sp>
        <p:nvSpPr>
          <p:cNvPr id="25" name="!!vbE0"/>
          <p:cNvSpPr/>
          <p:nvPr/>
        </p:nvSpPr>
        <p:spPr>
          <a:xfrm>
            <a:off x="2423160" y="3325080"/>
            <a:ext cx="91440" cy="91440"/>
          </a:xfrm>
          <a:prstGeom prst="ellipse">
            <a:avLst/>
          </a:prstGeom>
          <a:solidFill>
            <a:srgbClr val="1F2F6B"/>
          </a:solidFill>
          <a:ln/>
        </p:spPr>
      </p:sp>
      <p:sp>
        <p:nvSpPr>
          <p:cNvPr id="26" name="!!vbE1"/>
          <p:cNvSpPr/>
          <p:nvPr/>
        </p:nvSpPr>
        <p:spPr>
          <a:xfrm>
            <a:off x="2542032" y="3213689"/>
            <a:ext cx="91440" cy="91440"/>
          </a:xfrm>
          <a:prstGeom prst="ellipse">
            <a:avLst/>
          </a:prstGeom>
          <a:solidFill>
            <a:srgbClr val="1F2F6B"/>
          </a:solidFill>
          <a:ln/>
        </p:spPr>
      </p:sp>
      <p:sp>
        <p:nvSpPr>
          <p:cNvPr id="27" name="!!vbE2"/>
          <p:cNvSpPr/>
          <p:nvPr/>
        </p:nvSpPr>
        <p:spPr>
          <a:xfrm>
            <a:off x="2660904" y="3123756"/>
            <a:ext cx="91440" cy="91440"/>
          </a:xfrm>
          <a:prstGeom prst="ellipse">
            <a:avLst/>
          </a:prstGeom>
          <a:solidFill>
            <a:srgbClr val="1F2F6B"/>
          </a:solidFill>
          <a:ln/>
        </p:spPr>
      </p:sp>
      <p:sp>
        <p:nvSpPr>
          <p:cNvPr id="28" name="!!vbE3"/>
          <p:cNvSpPr/>
          <p:nvPr/>
        </p:nvSpPr>
        <p:spPr>
          <a:xfrm>
            <a:off x="2779776" y="3051148"/>
            <a:ext cx="91440" cy="91440"/>
          </a:xfrm>
          <a:prstGeom prst="ellipse">
            <a:avLst/>
          </a:prstGeom>
          <a:solidFill>
            <a:srgbClr val="1F2F6B"/>
          </a:solidFill>
          <a:ln/>
        </p:spPr>
      </p:sp>
      <p:sp>
        <p:nvSpPr>
          <p:cNvPr id="29" name="!!vbVG"/>
          <p:cNvSpPr txBox="1"/>
          <p:nvPr/>
        </p:nvSpPr>
        <p:spPr>
          <a:xfrm>
            <a:off x="731520" y="1298448"/>
            <a:ext cx="1463040" cy="237744"/>
          </a:xfrm>
          <a:prstGeom prst="rect">
            <a:avLst/>
          </a:prstGeom>
          <a:noFill/>
          <a:ln/>
        </p:spPr>
        <p:txBody>
          <a:bodyPr wrap="square" lIns="0" tIns="0" rIns="0" bIns="0" rtlCol="0" anchor="t"/>
          <a:lstStyle/>
          <a:p>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l"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 = 0.25 V</a:t>
            </a:r>
            <a:endParaRPr lang="en-US" sz="1200" dirty="0"/>
          </a:p>
        </p:txBody>
      </p:sp>
      <p:sp>
        <p:nvSpPr>
          <p:cNvPr id="30" name="!!vbPsi"/>
          <p:cNvSpPr txBox="1"/>
          <p:nvPr/>
        </p:nvSpPr>
        <p:spPr>
          <a:xfrm>
            <a:off x="3840480" y="1298448"/>
            <a:ext cx="2560320" cy="237744"/>
          </a:xfrm>
          <a:prstGeom prst="rect">
            <a:avLst/>
          </a:prstGeom>
          <a:noFill/>
          <a:ln/>
        </p:spPr>
        <p:txBody>
          <a:bodyPr wrap="square" lIns="0" tIns="0" rIns="0" bIns="0" rtlCol="0" anchor="t"/>
          <a:lstStyle/>
          <a:p>
            <a:pPr algn="r" indent="0" marL="0">
              <a:buNone/>
            </a:pPr>
            <a:r>
              <a:rPr lang="en-US" sz="1200" dirty="0">
                <a:solidFill>
                  <a:srgbClr val="5C5E62"/>
                </a:solidFill>
                <a:latin typeface="Segoe UI Semibold" pitchFamily="34" charset="0"/>
                <a:ea typeface="Segoe UI Semibold" pitchFamily="34" charset="-122"/>
                <a:cs typeface="Segoe UI Semibold" pitchFamily="34" charset="-120"/>
              </a:rPr>
              <a:t>band bending ψs = 0.71 V</a:t>
            </a:r>
            <a:endParaRPr lang="en-US" sz="1200" dirty="0"/>
          </a:p>
        </p:txBody>
      </p:sp>
      <p:sp>
        <p:nvSpPr>
          <p:cNvPr id="31" name="!!card"/>
          <p:cNvSpPr/>
          <p:nvPr/>
        </p:nvSpPr>
        <p:spPr>
          <a:xfrm>
            <a:off x="7086600" y="1554480"/>
            <a:ext cx="4553712" cy="2606040"/>
          </a:xfrm>
          <a:prstGeom prst="roundRect">
            <a:avLst>
              <a:gd name="adj" fmla="val 2807"/>
            </a:avLst>
          </a:prstGeom>
          <a:solidFill>
            <a:srgbClr val="F4F5F7"/>
          </a:solidFill>
          <a:ln/>
        </p:spPr>
      </p:sp>
      <p:sp>
        <p:nvSpPr>
          <p:cNvPr id="32" name="!!cardn"/>
          <p:cNvSpPr/>
          <p:nvPr/>
        </p:nvSpPr>
        <p:spPr>
          <a:xfrm>
            <a:off x="7296912" y="1764792"/>
            <a:ext cx="347472" cy="347472"/>
          </a:xfrm>
          <a:prstGeom prst="ellipse">
            <a:avLst/>
          </a:prstGeom>
          <a:solidFill>
            <a:srgbClr val="E07B00"/>
          </a:solidFill>
          <a:ln/>
        </p:spPr>
      </p:sp>
      <p:sp>
        <p:nvSpPr>
          <p:cNvPr id="33" name="!!cardnt"/>
          <p:cNvSpPr txBox="1"/>
          <p:nvPr/>
        </p:nvSpPr>
        <p:spPr>
          <a:xfrm>
            <a:off x="729691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4" name="!!cardh"/>
          <p:cNvSpPr txBox="1"/>
          <p:nvPr/>
        </p:nvSpPr>
        <p:spPr>
          <a:xfrm>
            <a:off x="7772400" y="1773936"/>
            <a:ext cx="3685032" cy="347472"/>
          </a:xfrm>
          <a:prstGeom prst="rect">
            <a:avLst/>
          </a:prstGeom>
          <a:noFill/>
          <a:ln/>
        </p:spPr>
        <p:txBody>
          <a:bodyPr wrap="square" lIns="0" tIns="0" rIns="0" bIns="0" rtlCol="0" anchor="ctr"/>
          <a:lstStyle/>
          <a:p>
            <a:pPr algn="l" indent="0" marL="0">
              <a:buNone/>
            </a:pPr>
            <a:r>
              <a:rPr lang="en-US" sz="1600" dirty="0">
                <a:solidFill>
                  <a:srgbClr val="E07B00"/>
                </a:solidFill>
                <a:latin typeface="Segoe UI Semibold" pitchFamily="34" charset="0"/>
                <a:ea typeface="Segoe UI Semibold" pitchFamily="34" charset="-122"/>
                <a:cs typeface="Segoe UI Semibold" pitchFamily="34" charset="-120"/>
              </a:rPr>
              <a:t>Term 2: invert the surface, 2φF</a:t>
            </a:r>
            <a:endParaRPr lang="en-US" sz="1600" dirty="0"/>
          </a:p>
        </p:txBody>
      </p:sp>
      <p:sp>
        <p:nvSpPr>
          <p:cNvPr id="35" name="!!cardb"/>
          <p:cNvSpPr txBox="1"/>
          <p:nvPr/>
        </p:nvSpPr>
        <p:spPr>
          <a:xfrm>
            <a:off x="7315200" y="2267712"/>
            <a:ext cx="4096512" cy="173736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φF = (kT/q)·ln(N</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A</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/n</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i</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 0.357 V for N</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A</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 10¹⁶ cm⁻³.</a:t>
            </a:r>
            <a:endParaRPr lang="en-US" sz="1300" dirty="0"/>
          </a:p>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Bend by 2φF = 0.71 V: the surface is as n-type as the body is p-type.</a:t>
            </a:r>
            <a:endParaRPr lang="en-US" sz="1300" dirty="0"/>
          </a:p>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Electrons fill the surface: threshold.</a:t>
            </a:r>
            <a:endParaRPr lang="en-US" sz="1300" dirty="0"/>
          </a:p>
        </p:txBody>
      </p:sp>
      <p:sp>
        <p:nvSpPr>
          <p:cNvPr id="36" name="!!vbEq"/>
          <p:cNvSpPr txBox="1"/>
          <p:nvPr/>
        </p:nvSpPr>
        <p:spPr>
          <a:xfrm>
            <a:off x="7086600" y="4526280"/>
            <a:ext cx="914400" cy="457200"/>
          </a:xfrm>
          <a:prstGeom prst="rect">
            <a:avLst/>
          </a:prstGeom>
          <a:noFill/>
          <a:ln/>
        </p:spPr>
        <p:txBody>
          <a:bodyPr wrap="square" lIns="0" tIns="0" rIns="0" bIns="0" rtlCol="0" anchor="ctr"/>
          <a:lstStyle/>
          <a:p>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800" baseline="-40000" dirty="0">
                <a:solidFill>
                  <a:srgbClr val="171A20"/>
                </a:solidFill>
                <a:latin typeface="Segoe UI Semibold" pitchFamily="34" charset="0"/>
                <a:ea typeface="Segoe UI Semibold" pitchFamily="34" charset="-122"/>
                <a:cs typeface="Segoe UI Semibold" pitchFamily="34" charset="-120"/>
              </a:rPr>
              <a:t>T</a:t>
            </a:r>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  =</a:t>
            </a:r>
            <a:endParaRPr lang="en-US" sz="1800" dirty="0"/>
          </a:p>
        </p:txBody>
      </p:sp>
      <p:sp>
        <p:nvSpPr>
          <p:cNvPr id="37" name="!!vbT0"/>
          <p:cNvSpPr/>
          <p:nvPr/>
        </p:nvSpPr>
        <p:spPr>
          <a:xfrm>
            <a:off x="8001000" y="4526280"/>
            <a:ext cx="914400" cy="457200"/>
          </a:xfrm>
          <a:prstGeom prst="roundRect">
            <a:avLst>
              <a:gd name="adj" fmla="val 16000"/>
            </a:avLst>
          </a:prstGeom>
          <a:solidFill>
            <a:srgbClr val="F4F5F7"/>
          </a:solidFill>
          <a:ln/>
        </p:spPr>
      </p:sp>
      <p:sp>
        <p:nvSpPr>
          <p:cNvPr id="38" name="!!vbTt0"/>
          <p:cNvSpPr txBox="1"/>
          <p:nvPr/>
        </p:nvSpPr>
        <p:spPr>
          <a:xfrm>
            <a:off x="8001000" y="4526280"/>
            <a:ext cx="914400" cy="457200"/>
          </a:xfrm>
          <a:prstGeom prst="rect">
            <a:avLst/>
          </a:prstGeom>
          <a:noFill/>
          <a:ln/>
        </p:spPr>
        <p:txBody>
          <a:bodyPr wrap="square" lIns="0" tIns="0" rIns="0" bIns="0" rtlCol="0" anchor="ctr"/>
          <a:lstStyle/>
          <a:p>
            <a:pPr algn="ctr" indent="0" marL="0">
              <a:buNone/>
            </a:pPr>
            <a:r>
              <a:rPr lang="en-US" sz="1400" dirty="0">
                <a:solidFill>
                  <a:srgbClr val="5C5E62"/>
                </a:solidFill>
                <a:latin typeface="Segoe UI Semibold" pitchFamily="34" charset="0"/>
                <a:ea typeface="Segoe UI Semibold" pitchFamily="34" charset="-122"/>
                <a:cs typeface="Segoe UI Semibold" pitchFamily="34" charset="-120"/>
              </a:rPr>
              <a:t>V</a:t>
            </a:r>
            <a:pPr algn="ctr" indent="0" marL="0">
              <a:buNone/>
            </a:pPr>
            <a:r>
              <a:rPr lang="en-US" sz="1400" baseline="-40000" dirty="0">
                <a:solidFill>
                  <a:srgbClr val="5C5E62"/>
                </a:solidFill>
                <a:latin typeface="Segoe UI Semibold" pitchFamily="34" charset="0"/>
                <a:ea typeface="Segoe UI Semibold" pitchFamily="34" charset="-122"/>
                <a:cs typeface="Segoe UI Semibold" pitchFamily="34" charset="-120"/>
              </a:rPr>
              <a:t>FB</a:t>
            </a:r>
            <a:endParaRPr lang="en-US" sz="1400" dirty="0"/>
          </a:p>
        </p:txBody>
      </p:sp>
      <p:sp>
        <p:nvSpPr>
          <p:cNvPr id="39" name="!!vbPl0"/>
          <p:cNvSpPr txBox="1"/>
          <p:nvPr/>
        </p:nvSpPr>
        <p:spPr>
          <a:xfrm>
            <a:off x="8915400" y="4526280"/>
            <a:ext cx="274320" cy="45720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Semibold" pitchFamily="34" charset="0"/>
                <a:ea typeface="Segoe UI Semibold" pitchFamily="34" charset="-122"/>
                <a:cs typeface="Segoe UI Semibold" pitchFamily="34" charset="-120"/>
              </a:rPr>
              <a:t>+</a:t>
            </a:r>
            <a:endParaRPr lang="en-US" sz="1600" dirty="0"/>
          </a:p>
        </p:txBody>
      </p:sp>
      <p:sp>
        <p:nvSpPr>
          <p:cNvPr id="40" name="!!vbT1"/>
          <p:cNvSpPr/>
          <p:nvPr/>
        </p:nvSpPr>
        <p:spPr>
          <a:xfrm>
            <a:off x="9189720" y="4526280"/>
            <a:ext cx="914400" cy="457200"/>
          </a:xfrm>
          <a:prstGeom prst="roundRect">
            <a:avLst>
              <a:gd name="adj" fmla="val 16000"/>
            </a:avLst>
          </a:prstGeom>
          <a:solidFill>
            <a:srgbClr val="E07B00"/>
          </a:solidFill>
          <a:ln/>
        </p:spPr>
      </p:sp>
      <p:sp>
        <p:nvSpPr>
          <p:cNvPr id="41" name="!!vbTt1"/>
          <p:cNvSpPr txBox="1"/>
          <p:nvPr/>
        </p:nvSpPr>
        <p:spPr>
          <a:xfrm>
            <a:off x="9189720" y="4526280"/>
            <a:ext cx="91440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2φF</a:t>
            </a:r>
            <a:endParaRPr lang="en-US" sz="1400" dirty="0"/>
          </a:p>
        </p:txBody>
      </p:sp>
      <p:sp>
        <p:nvSpPr>
          <p:cNvPr id="42" name="!!vbPl1"/>
          <p:cNvSpPr txBox="1"/>
          <p:nvPr/>
        </p:nvSpPr>
        <p:spPr>
          <a:xfrm>
            <a:off x="10104120" y="4526280"/>
            <a:ext cx="274320" cy="45720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Semibold" pitchFamily="34" charset="0"/>
                <a:ea typeface="Segoe UI Semibold" pitchFamily="34" charset="-122"/>
                <a:cs typeface="Segoe UI Semibold" pitchFamily="34" charset="-120"/>
              </a:rPr>
              <a:t>+</a:t>
            </a:r>
            <a:endParaRPr lang="en-US" sz="1600" dirty="0"/>
          </a:p>
        </p:txBody>
      </p:sp>
      <p:sp>
        <p:nvSpPr>
          <p:cNvPr id="43" name="!!vbT2"/>
          <p:cNvSpPr/>
          <p:nvPr/>
        </p:nvSpPr>
        <p:spPr>
          <a:xfrm>
            <a:off x="10378440" y="4526280"/>
            <a:ext cx="1463040" cy="457200"/>
          </a:xfrm>
          <a:prstGeom prst="roundRect">
            <a:avLst>
              <a:gd name="adj" fmla="val 16000"/>
            </a:avLst>
          </a:prstGeom>
          <a:solidFill>
            <a:srgbClr val="F4F5F7"/>
          </a:solidFill>
          <a:ln/>
        </p:spPr>
      </p:sp>
      <p:sp>
        <p:nvSpPr>
          <p:cNvPr id="44" name="!!vbTt2"/>
          <p:cNvSpPr txBox="1"/>
          <p:nvPr/>
        </p:nvSpPr>
        <p:spPr>
          <a:xfrm>
            <a:off x="10378440" y="4526280"/>
            <a:ext cx="1463040" cy="457200"/>
          </a:xfrm>
          <a:prstGeom prst="rect">
            <a:avLst/>
          </a:prstGeom>
          <a:noFill/>
          <a:ln/>
        </p:spPr>
        <p:txBody>
          <a:bodyPr wrap="square" lIns="0" tIns="0" rIns="0" bIns="0" rtlCol="0" anchor="ctr"/>
          <a:lstStyle/>
          <a:p>
            <a:pPr algn="ctr" indent="0" marL="0">
              <a:buNone/>
            </a:pPr>
            <a:r>
              <a:rPr lang="en-US" sz="1400" dirty="0">
                <a:solidFill>
                  <a:srgbClr val="5C5E62"/>
                </a:solidFill>
                <a:latin typeface="Segoe UI Semibold" pitchFamily="34" charset="0"/>
                <a:ea typeface="Segoe UI Semibold" pitchFamily="34" charset="-122"/>
                <a:cs typeface="Segoe UI Semibold" pitchFamily="34" charset="-120"/>
              </a:rPr>
              <a:t>Q</a:t>
            </a:r>
            <a:pPr algn="ctr" indent="0" marL="0">
              <a:buNone/>
            </a:pPr>
            <a:r>
              <a:rPr lang="en-US" sz="1400" baseline="-40000" dirty="0">
                <a:solidFill>
                  <a:srgbClr val="5C5E62"/>
                </a:solidFill>
                <a:latin typeface="Segoe UI Semibold" pitchFamily="34" charset="0"/>
                <a:ea typeface="Segoe UI Semibold" pitchFamily="34" charset="-122"/>
                <a:cs typeface="Segoe UI Semibold" pitchFamily="34" charset="-120"/>
              </a:rPr>
              <a:t>dep</a:t>
            </a:r>
            <a:pPr algn="ctr" indent="0" marL="0">
              <a:buNone/>
            </a:pPr>
            <a:r>
              <a:rPr lang="en-US" sz="1400" dirty="0">
                <a:solidFill>
                  <a:srgbClr val="5C5E62"/>
                </a:solidFill>
                <a:latin typeface="Segoe UI Semibold" pitchFamily="34" charset="0"/>
                <a:ea typeface="Segoe UI Semibold" pitchFamily="34" charset="-122"/>
                <a:cs typeface="Segoe UI Semibold" pitchFamily="34" charset="-120"/>
              </a:rPr>
              <a:t> / C</a:t>
            </a:r>
            <a:pPr algn="ctr" indent="0" marL="0">
              <a:buNone/>
            </a:pPr>
            <a:r>
              <a:rPr lang="en-US" sz="1400" baseline="-40000" dirty="0">
                <a:solidFill>
                  <a:srgbClr val="5C5E62"/>
                </a:solidFill>
                <a:latin typeface="Segoe UI Semibold" pitchFamily="34" charset="0"/>
                <a:ea typeface="Segoe UI Semibold" pitchFamily="34" charset="-122"/>
                <a:cs typeface="Segoe UI Semibold" pitchFamily="34" charset="-120"/>
              </a:rPr>
              <a:t>ox</a:t>
            </a:r>
            <a:endParaRPr lang="en-US" sz="1400" dirty="0"/>
          </a:p>
        </p:txBody>
      </p:sp>
      <p:sp>
        <p:nvSpPr>
          <p:cNvPr id="45"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At 2φF of band bending electrons gather at the surface: that is threshold.</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What sets V</a:t>
            </a:r>
            <a:pPr algn="l" indent="0" marL="0">
              <a:buNone/>
            </a:pPr>
            <a:r>
              <a:rPr lang="en-US" sz="3000" baseline="-40000" dirty="0">
                <a:solidFill>
                  <a:srgbClr val="171A20"/>
                </a:solidFill>
                <a:latin typeface="Segoe UI" pitchFamily="34" charset="0"/>
                <a:ea typeface="Segoe UI" pitchFamily="34" charset="-122"/>
                <a:cs typeface="Segoe UI" pitchFamily="34" charset="-120"/>
              </a:rPr>
              <a:t>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Energy bands from the gate (left) through the oxide into the p-type silicon (right)</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171A20"/>
          </a:solidFill>
          <a:ln/>
        </p:spPr>
      </p:sp>
      <p:sp>
        <p:nvSpPr>
          <p:cNvPr id="8" name="!!sdot4"/>
          <p:cNvSpPr/>
          <p:nvPr/>
        </p:nvSpPr>
        <p:spPr>
          <a:xfrm>
            <a:off x="11599164" y="525780"/>
            <a:ext cx="82296" cy="82296"/>
          </a:xfrm>
          <a:prstGeom prst="ellipse">
            <a:avLst/>
          </a:prstGeom>
          <a:solidFill>
            <a:srgbClr val="E2E3E3"/>
          </a:solidFill>
          <a:ln/>
        </p:spPr>
      </p:sp>
      <p:sp>
        <p:nvSpPr>
          <p:cNvPr id="9" name="!!vbM"/>
          <p:cNvSpPr/>
          <p:nvPr/>
        </p:nvSpPr>
        <p:spPr>
          <a:xfrm>
            <a:off x="731520" y="1600200"/>
            <a:ext cx="1280160" cy="3291840"/>
          </a:xfrm>
          <a:prstGeom prst="rect">
            <a:avLst/>
          </a:prstGeom>
          <a:solidFill>
            <a:srgbClr val="B3A6E6">
              <a:alpha val="60000"/>
            </a:srgbClr>
          </a:solidFill>
          <a:ln/>
        </p:spPr>
      </p:sp>
      <p:sp>
        <p:nvSpPr>
          <p:cNvPr id="10" name="!!vbO"/>
          <p:cNvSpPr/>
          <p:nvPr/>
        </p:nvSpPr>
        <p:spPr>
          <a:xfrm>
            <a:off x="2011680" y="1600200"/>
            <a:ext cx="365760" cy="3291840"/>
          </a:xfrm>
          <a:prstGeom prst="rect">
            <a:avLst/>
          </a:prstGeom>
          <a:solidFill>
            <a:srgbClr val="CDEBF5"/>
          </a:solidFill>
          <a:ln/>
        </p:spPr>
      </p:sp>
      <p:sp>
        <p:nvSpPr>
          <p:cNvPr id="11" name="!!vbD"/>
          <p:cNvSpPr/>
          <p:nvPr/>
        </p:nvSpPr>
        <p:spPr>
          <a:xfrm>
            <a:off x="2377440" y="1600200"/>
            <a:ext cx="1234440" cy="3291840"/>
          </a:xfrm>
          <a:prstGeom prst="rect">
            <a:avLst/>
          </a:prstGeom>
          <a:solidFill>
            <a:srgbClr val="F7D4D9">
              <a:alpha val="70000"/>
            </a:srgbClr>
          </a:solidFill>
          <a:ln/>
        </p:spPr>
      </p:sp>
      <p:sp>
        <p:nvSpPr>
          <p:cNvPr id="12" name="!!vbML"/>
          <p:cNvSpPr txBox="1"/>
          <p:nvPr/>
        </p:nvSpPr>
        <p:spPr>
          <a:xfrm>
            <a:off x="731520" y="4937760"/>
            <a:ext cx="12801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gate metal</a:t>
            </a:r>
            <a:endParaRPr lang="en-US" sz="1000" dirty="0"/>
          </a:p>
        </p:txBody>
      </p:sp>
      <p:sp>
        <p:nvSpPr>
          <p:cNvPr id="13" name="!!vbOL"/>
          <p:cNvSpPr txBox="1"/>
          <p:nvPr/>
        </p:nvSpPr>
        <p:spPr>
          <a:xfrm>
            <a:off x="1920240" y="4937760"/>
            <a:ext cx="54864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oxide</a:t>
            </a:r>
            <a:endParaRPr lang="en-US" sz="1000" dirty="0"/>
          </a:p>
        </p:txBody>
      </p:sp>
      <p:sp>
        <p:nvSpPr>
          <p:cNvPr id="14" name="!!vbSL"/>
          <p:cNvSpPr txBox="1"/>
          <p:nvPr/>
        </p:nvSpPr>
        <p:spPr>
          <a:xfrm>
            <a:off x="4389120" y="4937760"/>
            <a:ext cx="2011680" cy="219456"/>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a:t>
            </a:r>
            <a:endParaRPr lang="en-US" sz="1000" dirty="0"/>
          </a:p>
        </p:txBody>
      </p:sp>
      <p:sp>
        <p:nvSpPr>
          <p:cNvPr id="15" name="!!vbL0"/>
          <p:cNvSpPr/>
          <p:nvPr/>
        </p:nvSpPr>
        <p:spPr>
          <a:xfrm>
            <a:off x="2377440" y="2729057"/>
            <a:ext cx="4023360" cy="681198"/>
          </a:xfrm>
          <a:custGeom>
            <a:avLst/>
            <a:gdLst/>
            <a:ahLst/>
            <a:cxnLst/>
            <a:rect l="l" t="t" r="r" b="b"/>
            <a:pathLst>
              <a:path w="4023360" h="681198">
                <a:moveTo>
                  <a:pt x="0" y="681198"/>
                </a:moveTo>
                <a:lnTo>
                  <a:pt x="138737" y="530541"/>
                </a:lnTo>
                <a:lnTo>
                  <a:pt x="277473" y="413181"/>
                </a:lnTo>
                <a:lnTo>
                  <a:pt x="416210" y="321758"/>
                </a:lnTo>
                <a:lnTo>
                  <a:pt x="554946" y="250540"/>
                </a:lnTo>
                <a:lnTo>
                  <a:pt x="693683" y="195061"/>
                </a:lnTo>
                <a:lnTo>
                  <a:pt x="832419" y="151844"/>
                </a:lnTo>
                <a:lnTo>
                  <a:pt x="971156" y="118178"/>
                </a:lnTo>
                <a:lnTo>
                  <a:pt x="1109892" y="91952"/>
                </a:lnTo>
                <a:lnTo>
                  <a:pt x="1248629" y="71522"/>
                </a:lnTo>
                <a:lnTo>
                  <a:pt x="1387366" y="55608"/>
                </a:lnTo>
                <a:lnTo>
                  <a:pt x="1526102" y="43210"/>
                </a:lnTo>
                <a:lnTo>
                  <a:pt x="1664839" y="33553"/>
                </a:lnTo>
                <a:lnTo>
                  <a:pt x="1803575" y="26030"/>
                </a:lnTo>
                <a:lnTo>
                  <a:pt x="1942312" y="20169"/>
                </a:lnTo>
                <a:lnTo>
                  <a:pt x="2081048" y="15604"/>
                </a:lnTo>
                <a:lnTo>
                  <a:pt x="2219785" y="12048"/>
                </a:lnTo>
                <a:lnTo>
                  <a:pt x="2358521" y="9277"/>
                </a:lnTo>
                <a:lnTo>
                  <a:pt x="2497258" y="7119"/>
                </a:lnTo>
                <a:lnTo>
                  <a:pt x="2635994" y="5438"/>
                </a:lnTo>
                <a:lnTo>
                  <a:pt x="2774731" y="4128"/>
                </a:lnTo>
                <a:lnTo>
                  <a:pt x="2913468" y="3108"/>
                </a:lnTo>
                <a:lnTo>
                  <a:pt x="3052204" y="2314"/>
                </a:lnTo>
                <a:lnTo>
                  <a:pt x="3190941" y="1694"/>
                </a:lnTo>
                <a:lnTo>
                  <a:pt x="3329677" y="1212"/>
                </a:lnTo>
                <a:lnTo>
                  <a:pt x="3468414" y="837"/>
                </a:lnTo>
                <a:lnTo>
                  <a:pt x="3607150" y="544"/>
                </a:lnTo>
                <a:lnTo>
                  <a:pt x="3745887" y="316"/>
                </a:lnTo>
                <a:lnTo>
                  <a:pt x="3884623" y="138"/>
                </a:lnTo>
                <a:lnTo>
                  <a:pt x="4023360" y="0"/>
                </a:lnTo>
              </a:path>
            </a:pathLst>
          </a:custGeom>
          <a:ln w="28575">
            <a:solidFill>
              <a:srgbClr val="171A20"/>
            </a:solidFill>
            <a:prstDash val="solid"/>
          </a:ln>
        </p:spPr>
      </p:sp>
      <p:sp>
        <p:nvSpPr>
          <p:cNvPr id="16" name="!!vbLl0"/>
          <p:cNvSpPr txBox="1"/>
          <p:nvPr/>
        </p:nvSpPr>
        <p:spPr>
          <a:xfrm>
            <a:off x="6446520" y="2618842"/>
            <a:ext cx="457200" cy="219456"/>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E</a:t>
            </a:r>
            <a:pPr algn="l" indent="0" marL="0">
              <a:buNone/>
            </a:pPr>
            <a:r>
              <a:rPr lang="en-US" sz="1100" baseline="-40000" dirty="0">
                <a:solidFill>
                  <a:srgbClr val="171A20"/>
                </a:solidFill>
                <a:latin typeface="Segoe UI" pitchFamily="34" charset="0"/>
                <a:ea typeface="Segoe UI" pitchFamily="34" charset="-122"/>
                <a:cs typeface="Segoe UI" pitchFamily="34" charset="-120"/>
              </a:rPr>
              <a:t>C</a:t>
            </a:r>
            <a:endParaRPr lang="en-US" sz="1100" dirty="0"/>
          </a:p>
        </p:txBody>
      </p:sp>
      <p:sp>
        <p:nvSpPr>
          <p:cNvPr id="17" name="!!vbL1"/>
          <p:cNvSpPr/>
          <p:nvPr/>
        </p:nvSpPr>
        <p:spPr>
          <a:xfrm>
            <a:off x="2377440" y="3266724"/>
            <a:ext cx="4023360" cy="681198"/>
          </a:xfrm>
          <a:custGeom>
            <a:avLst/>
            <a:gdLst/>
            <a:ahLst/>
            <a:cxnLst/>
            <a:rect l="l" t="t" r="r" b="b"/>
            <a:pathLst>
              <a:path w="4023360" h="681198">
                <a:moveTo>
                  <a:pt x="0" y="681198"/>
                </a:moveTo>
                <a:lnTo>
                  <a:pt x="138737" y="530541"/>
                </a:lnTo>
                <a:lnTo>
                  <a:pt x="277473" y="413181"/>
                </a:lnTo>
                <a:lnTo>
                  <a:pt x="416210" y="321758"/>
                </a:lnTo>
                <a:lnTo>
                  <a:pt x="554946" y="250540"/>
                </a:lnTo>
                <a:lnTo>
                  <a:pt x="693683" y="195061"/>
                </a:lnTo>
                <a:lnTo>
                  <a:pt x="832419" y="151844"/>
                </a:lnTo>
                <a:lnTo>
                  <a:pt x="971156" y="118178"/>
                </a:lnTo>
                <a:lnTo>
                  <a:pt x="1109892" y="91952"/>
                </a:lnTo>
                <a:lnTo>
                  <a:pt x="1248629" y="71522"/>
                </a:lnTo>
                <a:lnTo>
                  <a:pt x="1387366" y="55608"/>
                </a:lnTo>
                <a:lnTo>
                  <a:pt x="1526102" y="43210"/>
                </a:lnTo>
                <a:lnTo>
                  <a:pt x="1664839" y="33553"/>
                </a:lnTo>
                <a:lnTo>
                  <a:pt x="1803575" y="26030"/>
                </a:lnTo>
                <a:lnTo>
                  <a:pt x="1942312" y="20169"/>
                </a:lnTo>
                <a:lnTo>
                  <a:pt x="2081048" y="15604"/>
                </a:lnTo>
                <a:lnTo>
                  <a:pt x="2219785" y="12048"/>
                </a:lnTo>
                <a:lnTo>
                  <a:pt x="2358521" y="9277"/>
                </a:lnTo>
                <a:lnTo>
                  <a:pt x="2497258" y="7119"/>
                </a:lnTo>
                <a:lnTo>
                  <a:pt x="2635994" y="5438"/>
                </a:lnTo>
                <a:lnTo>
                  <a:pt x="2774731" y="4128"/>
                </a:lnTo>
                <a:lnTo>
                  <a:pt x="2913468" y="3108"/>
                </a:lnTo>
                <a:lnTo>
                  <a:pt x="3052204" y="2314"/>
                </a:lnTo>
                <a:lnTo>
                  <a:pt x="3190941" y="1694"/>
                </a:lnTo>
                <a:lnTo>
                  <a:pt x="3329677" y="1212"/>
                </a:lnTo>
                <a:lnTo>
                  <a:pt x="3468414" y="837"/>
                </a:lnTo>
                <a:lnTo>
                  <a:pt x="3607150" y="544"/>
                </a:lnTo>
                <a:lnTo>
                  <a:pt x="3745887" y="316"/>
                </a:lnTo>
                <a:lnTo>
                  <a:pt x="3884623" y="138"/>
                </a:lnTo>
                <a:lnTo>
                  <a:pt x="4023360" y="0"/>
                </a:lnTo>
              </a:path>
            </a:pathLst>
          </a:custGeom>
          <a:ln w="15875">
            <a:solidFill>
              <a:srgbClr val="8A8D93"/>
            </a:solidFill>
            <a:prstDash val="dash"/>
          </a:ln>
        </p:spPr>
      </p:sp>
      <p:sp>
        <p:nvSpPr>
          <p:cNvPr id="18" name="!!vbLl1"/>
          <p:cNvSpPr txBox="1"/>
          <p:nvPr/>
        </p:nvSpPr>
        <p:spPr>
          <a:xfrm>
            <a:off x="6446520" y="3156509"/>
            <a:ext cx="457200" cy="219456"/>
          </a:xfrm>
          <a:prstGeom prst="rect">
            <a:avLst/>
          </a:prstGeom>
          <a:noFill/>
          <a:ln/>
        </p:spPr>
        <p:txBody>
          <a:bodyPr wrap="square" lIns="0" tIns="0" rIns="0" bIns="0" rtlCol="0" anchor="t"/>
          <a:lstStyle/>
          <a:p>
            <a:pPr algn="l" indent="0" marL="0">
              <a:buNone/>
            </a:pPr>
            <a:r>
              <a:rPr lang="en-US" sz="1100" dirty="0">
                <a:solidFill>
                  <a:srgbClr val="8A8D93"/>
                </a:solidFill>
                <a:latin typeface="Segoe UI" pitchFamily="34" charset="0"/>
                <a:ea typeface="Segoe UI" pitchFamily="34" charset="-122"/>
                <a:cs typeface="Segoe UI" pitchFamily="34" charset="-120"/>
              </a:rPr>
              <a:t>E</a:t>
            </a:r>
            <a:pPr algn="l" indent="0" marL="0">
              <a:buNone/>
            </a:pPr>
            <a:r>
              <a:rPr lang="en-US" sz="1100" baseline="-40000" dirty="0">
                <a:solidFill>
                  <a:srgbClr val="8A8D93"/>
                </a:solidFill>
                <a:latin typeface="Segoe UI" pitchFamily="34" charset="0"/>
                <a:ea typeface="Segoe UI" pitchFamily="34" charset="-122"/>
                <a:cs typeface="Segoe UI" pitchFamily="34" charset="-120"/>
              </a:rPr>
              <a:t>i</a:t>
            </a:r>
            <a:endParaRPr lang="en-US" sz="1100" dirty="0"/>
          </a:p>
        </p:txBody>
      </p:sp>
      <p:sp>
        <p:nvSpPr>
          <p:cNvPr id="19" name="!!vbL2"/>
          <p:cNvSpPr/>
          <p:nvPr/>
        </p:nvSpPr>
        <p:spPr>
          <a:xfrm>
            <a:off x="2377440" y="3804392"/>
            <a:ext cx="4023360" cy="681198"/>
          </a:xfrm>
          <a:custGeom>
            <a:avLst/>
            <a:gdLst/>
            <a:ahLst/>
            <a:cxnLst/>
            <a:rect l="l" t="t" r="r" b="b"/>
            <a:pathLst>
              <a:path w="4023360" h="681198">
                <a:moveTo>
                  <a:pt x="0" y="681198"/>
                </a:moveTo>
                <a:lnTo>
                  <a:pt x="138737" y="530541"/>
                </a:lnTo>
                <a:lnTo>
                  <a:pt x="277473" y="413181"/>
                </a:lnTo>
                <a:lnTo>
                  <a:pt x="416210" y="321758"/>
                </a:lnTo>
                <a:lnTo>
                  <a:pt x="554946" y="250540"/>
                </a:lnTo>
                <a:lnTo>
                  <a:pt x="693683" y="195061"/>
                </a:lnTo>
                <a:lnTo>
                  <a:pt x="832419" y="151844"/>
                </a:lnTo>
                <a:lnTo>
                  <a:pt x="971156" y="118178"/>
                </a:lnTo>
                <a:lnTo>
                  <a:pt x="1109892" y="91952"/>
                </a:lnTo>
                <a:lnTo>
                  <a:pt x="1248629" y="71522"/>
                </a:lnTo>
                <a:lnTo>
                  <a:pt x="1387366" y="55608"/>
                </a:lnTo>
                <a:lnTo>
                  <a:pt x="1526102" y="43210"/>
                </a:lnTo>
                <a:lnTo>
                  <a:pt x="1664839" y="33553"/>
                </a:lnTo>
                <a:lnTo>
                  <a:pt x="1803575" y="26030"/>
                </a:lnTo>
                <a:lnTo>
                  <a:pt x="1942312" y="20169"/>
                </a:lnTo>
                <a:lnTo>
                  <a:pt x="2081048" y="15604"/>
                </a:lnTo>
                <a:lnTo>
                  <a:pt x="2219785" y="12048"/>
                </a:lnTo>
                <a:lnTo>
                  <a:pt x="2358521" y="9277"/>
                </a:lnTo>
                <a:lnTo>
                  <a:pt x="2497258" y="7119"/>
                </a:lnTo>
                <a:lnTo>
                  <a:pt x="2635994" y="5438"/>
                </a:lnTo>
                <a:lnTo>
                  <a:pt x="2774731" y="4128"/>
                </a:lnTo>
                <a:lnTo>
                  <a:pt x="2913468" y="3108"/>
                </a:lnTo>
                <a:lnTo>
                  <a:pt x="3052204" y="2314"/>
                </a:lnTo>
                <a:lnTo>
                  <a:pt x="3190941" y="1694"/>
                </a:lnTo>
                <a:lnTo>
                  <a:pt x="3329677" y="1212"/>
                </a:lnTo>
                <a:lnTo>
                  <a:pt x="3468414" y="837"/>
                </a:lnTo>
                <a:lnTo>
                  <a:pt x="3607150" y="544"/>
                </a:lnTo>
                <a:lnTo>
                  <a:pt x="3745887" y="316"/>
                </a:lnTo>
                <a:lnTo>
                  <a:pt x="3884623" y="138"/>
                </a:lnTo>
                <a:lnTo>
                  <a:pt x="4023360" y="0"/>
                </a:lnTo>
              </a:path>
            </a:pathLst>
          </a:custGeom>
          <a:ln w="28575">
            <a:solidFill>
              <a:srgbClr val="171A20"/>
            </a:solidFill>
            <a:prstDash val="solid"/>
          </a:ln>
        </p:spPr>
      </p:sp>
      <p:sp>
        <p:nvSpPr>
          <p:cNvPr id="20" name="!!vbLl2"/>
          <p:cNvSpPr txBox="1"/>
          <p:nvPr/>
        </p:nvSpPr>
        <p:spPr>
          <a:xfrm>
            <a:off x="6446520" y="3694176"/>
            <a:ext cx="457200" cy="219456"/>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E</a:t>
            </a:r>
            <a:pPr algn="l" indent="0" marL="0">
              <a:buNone/>
            </a:pPr>
            <a:r>
              <a:rPr lang="en-US" sz="1100" baseline="-40000" dirty="0">
                <a:solidFill>
                  <a:srgbClr val="171A20"/>
                </a:solidFill>
                <a:latin typeface="Segoe UI" pitchFamily="34" charset="0"/>
                <a:ea typeface="Segoe UI" pitchFamily="34" charset="-122"/>
                <a:cs typeface="Segoe UI" pitchFamily="34" charset="-120"/>
              </a:rPr>
              <a:t>V</a:t>
            </a:r>
            <a:endParaRPr lang="en-US" sz="1100" dirty="0"/>
          </a:p>
        </p:txBody>
      </p:sp>
      <p:sp>
        <p:nvSpPr>
          <p:cNvPr id="21" name="!!vbEF"/>
          <p:cNvSpPr/>
          <p:nvPr/>
        </p:nvSpPr>
        <p:spPr>
          <a:xfrm>
            <a:off x="2377440" y="3611880"/>
            <a:ext cx="4023360" cy="91"/>
          </a:xfrm>
          <a:prstGeom prst="line">
            <a:avLst/>
          </a:prstGeom>
          <a:noFill/>
          <a:ln w="19050">
            <a:solidFill>
              <a:srgbClr val="D64545"/>
            </a:solidFill>
            <a:prstDash val="solid"/>
          </a:ln>
        </p:spPr>
      </p:sp>
      <p:sp>
        <p:nvSpPr>
          <p:cNvPr id="22" name="!!vbEFl"/>
          <p:cNvSpPr txBox="1"/>
          <p:nvPr/>
        </p:nvSpPr>
        <p:spPr>
          <a:xfrm>
            <a:off x="6446520" y="3502152"/>
            <a:ext cx="457200" cy="219456"/>
          </a:xfrm>
          <a:prstGeom prst="rect">
            <a:avLst/>
          </a:prstGeom>
          <a:noFill/>
          <a:ln/>
        </p:spPr>
        <p:txBody>
          <a:bodyPr wrap="square" lIns="0" tIns="0" rIns="0" bIns="0" rtlCol="0" anchor="t"/>
          <a:lstStyle/>
          <a:p>
            <a:pPr algn="l" indent="0" marL="0">
              <a:buNone/>
            </a:pPr>
            <a:r>
              <a:rPr lang="en-US" sz="1100" dirty="0">
                <a:solidFill>
                  <a:srgbClr val="D64545"/>
                </a:solidFill>
                <a:latin typeface="Segoe UI" pitchFamily="34" charset="0"/>
                <a:ea typeface="Segoe UI" pitchFamily="34" charset="-122"/>
                <a:cs typeface="Segoe UI" pitchFamily="34" charset="-120"/>
              </a:rPr>
              <a:t>E</a:t>
            </a:r>
            <a:pPr algn="l" indent="0" marL="0">
              <a:buNone/>
            </a:pPr>
            <a:r>
              <a:rPr lang="en-US" sz="1100" baseline="-40000" dirty="0">
                <a:solidFill>
                  <a:srgbClr val="D64545"/>
                </a:solidFill>
                <a:latin typeface="Segoe UI" pitchFamily="34" charset="0"/>
                <a:ea typeface="Segoe UI" pitchFamily="34" charset="-122"/>
                <a:cs typeface="Segoe UI" pitchFamily="34" charset="-120"/>
              </a:rPr>
              <a:t>F</a:t>
            </a:r>
            <a:endParaRPr lang="en-US" sz="1100" dirty="0"/>
          </a:p>
        </p:txBody>
      </p:sp>
      <p:sp>
        <p:nvSpPr>
          <p:cNvPr id="23" name="!!vbEFm"/>
          <p:cNvSpPr/>
          <p:nvPr/>
        </p:nvSpPr>
        <p:spPr>
          <a:xfrm>
            <a:off x="731520" y="3851910"/>
            <a:ext cx="1280160" cy="91"/>
          </a:xfrm>
          <a:prstGeom prst="line">
            <a:avLst/>
          </a:prstGeom>
          <a:noFill/>
          <a:ln w="25400">
            <a:solidFill>
              <a:srgbClr val="D64545"/>
            </a:solidFill>
            <a:prstDash val="solid"/>
          </a:ln>
        </p:spPr>
      </p:sp>
      <p:sp>
        <p:nvSpPr>
          <p:cNvPr id="24" name="!!vbEFml"/>
          <p:cNvSpPr txBox="1"/>
          <p:nvPr/>
        </p:nvSpPr>
        <p:spPr>
          <a:xfrm>
            <a:off x="731520" y="3577590"/>
            <a:ext cx="1280160" cy="219456"/>
          </a:xfrm>
          <a:prstGeom prst="rect">
            <a:avLst/>
          </a:prstGeom>
          <a:noFill/>
          <a:ln/>
        </p:spPr>
        <p:txBody>
          <a:bodyPr wrap="square" lIns="0" tIns="0" rIns="0" bIns="0" rtlCol="0" anchor="t"/>
          <a:lstStyle/>
          <a:p>
            <a:pPr algn="ctr" indent="0" marL="0">
              <a:buNone/>
            </a:pPr>
            <a:r>
              <a:rPr lang="en-US" sz="1000" dirty="0">
                <a:solidFill>
                  <a:srgbClr val="D64545"/>
                </a:solidFill>
                <a:latin typeface="Segoe UI" pitchFamily="34" charset="0"/>
                <a:ea typeface="Segoe UI" pitchFamily="34" charset="-122"/>
                <a:cs typeface="Segoe UI" pitchFamily="34" charset="-120"/>
              </a:rPr>
              <a:t>E</a:t>
            </a:r>
            <a:pPr algn="ctr" indent="0" marL="0">
              <a:buNone/>
            </a:pPr>
            <a:r>
              <a:rPr lang="en-US" sz="1000" baseline="-40000" dirty="0">
                <a:solidFill>
                  <a:srgbClr val="D64545"/>
                </a:solidFill>
                <a:latin typeface="Segoe UI" pitchFamily="34" charset="0"/>
                <a:ea typeface="Segoe UI" pitchFamily="34" charset="-122"/>
                <a:cs typeface="Segoe UI" pitchFamily="34" charset="-120"/>
              </a:rPr>
              <a:t>F</a:t>
            </a:r>
            <a:pPr algn="ctr" indent="0" marL="0">
              <a:buNone/>
            </a:pPr>
            <a:r>
              <a:rPr lang="en-US" sz="1000" dirty="0">
                <a:solidFill>
                  <a:srgbClr val="D64545"/>
                </a:solidFill>
                <a:latin typeface="Segoe UI" pitchFamily="34" charset="0"/>
                <a:ea typeface="Segoe UI" pitchFamily="34" charset="-122"/>
                <a:cs typeface="Segoe UI" pitchFamily="34" charset="-120"/>
              </a:rPr>
              <a:t> (metal)</a:t>
            </a:r>
            <a:endParaRPr lang="en-US" sz="1000" dirty="0"/>
          </a:p>
        </p:txBody>
      </p:sp>
      <p:sp>
        <p:nvSpPr>
          <p:cNvPr id="25" name="!!vbE0"/>
          <p:cNvSpPr/>
          <p:nvPr/>
        </p:nvSpPr>
        <p:spPr>
          <a:xfrm>
            <a:off x="2423160" y="3325080"/>
            <a:ext cx="91440" cy="91440"/>
          </a:xfrm>
          <a:prstGeom prst="ellipse">
            <a:avLst/>
          </a:prstGeom>
          <a:solidFill>
            <a:srgbClr val="1F2F6B"/>
          </a:solidFill>
          <a:ln/>
        </p:spPr>
      </p:sp>
      <p:sp>
        <p:nvSpPr>
          <p:cNvPr id="26" name="!!vbE1"/>
          <p:cNvSpPr/>
          <p:nvPr/>
        </p:nvSpPr>
        <p:spPr>
          <a:xfrm>
            <a:off x="2542032" y="3213689"/>
            <a:ext cx="91440" cy="91440"/>
          </a:xfrm>
          <a:prstGeom prst="ellipse">
            <a:avLst/>
          </a:prstGeom>
          <a:solidFill>
            <a:srgbClr val="1F2F6B"/>
          </a:solidFill>
          <a:ln/>
        </p:spPr>
      </p:sp>
      <p:sp>
        <p:nvSpPr>
          <p:cNvPr id="27" name="!!vbE2"/>
          <p:cNvSpPr/>
          <p:nvPr/>
        </p:nvSpPr>
        <p:spPr>
          <a:xfrm>
            <a:off x="2660904" y="3123756"/>
            <a:ext cx="91440" cy="91440"/>
          </a:xfrm>
          <a:prstGeom prst="ellipse">
            <a:avLst/>
          </a:prstGeom>
          <a:solidFill>
            <a:srgbClr val="1F2F6B"/>
          </a:solidFill>
          <a:ln/>
        </p:spPr>
      </p:sp>
      <p:sp>
        <p:nvSpPr>
          <p:cNvPr id="28" name="!!vbE3"/>
          <p:cNvSpPr/>
          <p:nvPr/>
        </p:nvSpPr>
        <p:spPr>
          <a:xfrm>
            <a:off x="2779776" y="3051148"/>
            <a:ext cx="91440" cy="91440"/>
          </a:xfrm>
          <a:prstGeom prst="ellipse">
            <a:avLst/>
          </a:prstGeom>
          <a:solidFill>
            <a:srgbClr val="1F2F6B"/>
          </a:solidFill>
          <a:ln/>
        </p:spPr>
      </p:sp>
      <p:sp>
        <p:nvSpPr>
          <p:cNvPr id="29" name="!!vbQp0"/>
          <p:cNvSpPr txBox="1"/>
          <p:nvPr/>
        </p:nvSpPr>
        <p:spPr>
          <a:xfrm>
            <a:off x="1737360" y="2011680"/>
            <a:ext cx="228600" cy="274320"/>
          </a:xfrm>
          <a:prstGeom prst="rect">
            <a:avLst/>
          </a:prstGeom>
          <a:noFill/>
          <a:ln/>
        </p:spPr>
        <p:txBody>
          <a:bodyPr wrap="square" lIns="0" tIns="0" rIns="0" bIns="0" rtlCol="0" anchor="t"/>
          <a:lstStyle/>
          <a:p>
            <a:pPr algn="ctr" indent="0" marL="0">
              <a:buNone/>
            </a:pPr>
            <a:r>
              <a:rPr lang="en-US" sz="1600" dirty="0">
                <a:solidFill>
                  <a:srgbClr val="D64545"/>
                </a:solidFill>
                <a:latin typeface="Segoe UI Semibold" pitchFamily="34" charset="0"/>
                <a:ea typeface="Segoe UI Semibold" pitchFamily="34" charset="-122"/>
                <a:cs typeface="Segoe UI Semibold" pitchFamily="34" charset="-120"/>
              </a:rPr>
              <a:t>+</a:t>
            </a:r>
            <a:endParaRPr lang="en-US" sz="1600" dirty="0"/>
          </a:p>
        </p:txBody>
      </p:sp>
      <p:sp>
        <p:nvSpPr>
          <p:cNvPr id="30" name="!!vbQp1"/>
          <p:cNvSpPr txBox="1"/>
          <p:nvPr/>
        </p:nvSpPr>
        <p:spPr>
          <a:xfrm>
            <a:off x="1737360" y="2651760"/>
            <a:ext cx="228600" cy="274320"/>
          </a:xfrm>
          <a:prstGeom prst="rect">
            <a:avLst/>
          </a:prstGeom>
          <a:noFill/>
          <a:ln/>
        </p:spPr>
        <p:txBody>
          <a:bodyPr wrap="square" lIns="0" tIns="0" rIns="0" bIns="0" rtlCol="0" anchor="t"/>
          <a:lstStyle/>
          <a:p>
            <a:pPr algn="ctr" indent="0" marL="0">
              <a:buNone/>
            </a:pPr>
            <a:r>
              <a:rPr lang="en-US" sz="1600" dirty="0">
                <a:solidFill>
                  <a:srgbClr val="D64545"/>
                </a:solidFill>
                <a:latin typeface="Segoe UI Semibold" pitchFamily="34" charset="0"/>
                <a:ea typeface="Segoe UI Semibold" pitchFamily="34" charset="-122"/>
                <a:cs typeface="Segoe UI Semibold" pitchFamily="34" charset="-120"/>
              </a:rPr>
              <a:t>+</a:t>
            </a:r>
            <a:endParaRPr lang="en-US" sz="1600" dirty="0"/>
          </a:p>
        </p:txBody>
      </p:sp>
      <p:sp>
        <p:nvSpPr>
          <p:cNvPr id="31" name="!!vbQp2"/>
          <p:cNvSpPr txBox="1"/>
          <p:nvPr/>
        </p:nvSpPr>
        <p:spPr>
          <a:xfrm>
            <a:off x="1737360" y="3291840"/>
            <a:ext cx="228600" cy="274320"/>
          </a:xfrm>
          <a:prstGeom prst="rect">
            <a:avLst/>
          </a:prstGeom>
          <a:noFill/>
          <a:ln/>
        </p:spPr>
        <p:txBody>
          <a:bodyPr wrap="square" lIns="0" tIns="0" rIns="0" bIns="0" rtlCol="0" anchor="t"/>
          <a:lstStyle/>
          <a:p>
            <a:pPr algn="ctr" indent="0" marL="0">
              <a:buNone/>
            </a:pPr>
            <a:r>
              <a:rPr lang="en-US" sz="1600" dirty="0">
                <a:solidFill>
                  <a:srgbClr val="D64545"/>
                </a:solidFill>
                <a:latin typeface="Segoe UI Semibold" pitchFamily="34" charset="0"/>
                <a:ea typeface="Segoe UI Semibold" pitchFamily="34" charset="-122"/>
                <a:cs typeface="Segoe UI Semibold" pitchFamily="34" charset="-120"/>
              </a:rPr>
              <a:t>+</a:t>
            </a:r>
            <a:endParaRPr lang="en-US" sz="1600" dirty="0"/>
          </a:p>
        </p:txBody>
      </p:sp>
      <p:sp>
        <p:nvSpPr>
          <p:cNvPr id="32" name="!!vbQp3"/>
          <p:cNvSpPr txBox="1"/>
          <p:nvPr/>
        </p:nvSpPr>
        <p:spPr>
          <a:xfrm>
            <a:off x="1737360" y="3931920"/>
            <a:ext cx="228600" cy="274320"/>
          </a:xfrm>
          <a:prstGeom prst="rect">
            <a:avLst/>
          </a:prstGeom>
          <a:noFill/>
          <a:ln/>
        </p:spPr>
        <p:txBody>
          <a:bodyPr wrap="square" lIns="0" tIns="0" rIns="0" bIns="0" rtlCol="0" anchor="t"/>
          <a:lstStyle/>
          <a:p>
            <a:pPr algn="ctr" indent="0" marL="0">
              <a:buNone/>
            </a:pPr>
            <a:r>
              <a:rPr lang="en-US" sz="1600" dirty="0">
                <a:solidFill>
                  <a:srgbClr val="D64545"/>
                </a:solidFill>
                <a:latin typeface="Segoe UI Semibold" pitchFamily="34" charset="0"/>
                <a:ea typeface="Segoe UI Semibold" pitchFamily="34" charset="-122"/>
                <a:cs typeface="Segoe UI Semibold" pitchFamily="34" charset="-120"/>
              </a:rPr>
              <a:t>+</a:t>
            </a:r>
            <a:endParaRPr lang="en-US" sz="1600" dirty="0"/>
          </a:p>
        </p:txBody>
      </p:sp>
      <p:sp>
        <p:nvSpPr>
          <p:cNvPr id="33" name="!!vbQn0"/>
          <p:cNvSpPr txBox="1"/>
          <p:nvPr/>
        </p:nvSpPr>
        <p:spPr>
          <a:xfrm>
            <a:off x="2606040" y="2103120"/>
            <a:ext cx="228600" cy="274320"/>
          </a:xfrm>
          <a:prstGeom prst="rect">
            <a:avLst/>
          </a:prstGeom>
          <a:noFill/>
          <a:ln/>
        </p:spPr>
        <p:txBody>
          <a:bodyPr wrap="square" lIns="0" tIns="0" rIns="0" bIns="0" rtlCol="0" anchor="t"/>
          <a:lstStyle/>
          <a:p>
            <a:pPr algn="ctr" indent="0" marL="0">
              <a:buNone/>
            </a:pPr>
            <a:r>
              <a:rPr lang="en-US" sz="1600" dirty="0">
                <a:solidFill>
                  <a:srgbClr val="1F2F6B"/>
                </a:solidFill>
                <a:latin typeface="Segoe UI Semibold" pitchFamily="34" charset="0"/>
                <a:ea typeface="Segoe UI Semibold" pitchFamily="34" charset="-122"/>
                <a:cs typeface="Segoe UI Semibold" pitchFamily="34" charset="-120"/>
              </a:rPr>
              <a:t>−</a:t>
            </a:r>
            <a:endParaRPr lang="en-US" sz="1600" dirty="0"/>
          </a:p>
        </p:txBody>
      </p:sp>
      <p:sp>
        <p:nvSpPr>
          <p:cNvPr id="34" name="!!vbQn1"/>
          <p:cNvSpPr txBox="1"/>
          <p:nvPr/>
        </p:nvSpPr>
        <p:spPr>
          <a:xfrm>
            <a:off x="3017520" y="2743200"/>
            <a:ext cx="228600" cy="274320"/>
          </a:xfrm>
          <a:prstGeom prst="rect">
            <a:avLst/>
          </a:prstGeom>
          <a:noFill/>
          <a:ln/>
        </p:spPr>
        <p:txBody>
          <a:bodyPr wrap="square" lIns="0" tIns="0" rIns="0" bIns="0" rtlCol="0" anchor="t"/>
          <a:lstStyle/>
          <a:p>
            <a:pPr algn="ctr" indent="0" marL="0">
              <a:buNone/>
            </a:pPr>
            <a:r>
              <a:rPr lang="en-US" sz="1600" dirty="0">
                <a:solidFill>
                  <a:srgbClr val="1F2F6B"/>
                </a:solidFill>
                <a:latin typeface="Segoe UI Semibold" pitchFamily="34" charset="0"/>
                <a:ea typeface="Segoe UI Semibold" pitchFamily="34" charset="-122"/>
                <a:cs typeface="Segoe UI Semibold" pitchFamily="34" charset="-120"/>
              </a:rPr>
              <a:t>−</a:t>
            </a:r>
            <a:endParaRPr lang="en-US" sz="1600" dirty="0"/>
          </a:p>
        </p:txBody>
      </p:sp>
      <p:sp>
        <p:nvSpPr>
          <p:cNvPr id="35" name="!!vbQn2"/>
          <p:cNvSpPr txBox="1"/>
          <p:nvPr/>
        </p:nvSpPr>
        <p:spPr>
          <a:xfrm>
            <a:off x="2606040" y="3383280"/>
            <a:ext cx="228600" cy="274320"/>
          </a:xfrm>
          <a:prstGeom prst="rect">
            <a:avLst/>
          </a:prstGeom>
          <a:noFill/>
          <a:ln/>
        </p:spPr>
        <p:txBody>
          <a:bodyPr wrap="square" lIns="0" tIns="0" rIns="0" bIns="0" rtlCol="0" anchor="t"/>
          <a:lstStyle/>
          <a:p>
            <a:pPr algn="ctr" indent="0" marL="0">
              <a:buNone/>
            </a:pPr>
            <a:r>
              <a:rPr lang="en-US" sz="1600" dirty="0">
                <a:solidFill>
                  <a:srgbClr val="1F2F6B"/>
                </a:solidFill>
                <a:latin typeface="Segoe UI Semibold" pitchFamily="34" charset="0"/>
                <a:ea typeface="Segoe UI Semibold" pitchFamily="34" charset="-122"/>
                <a:cs typeface="Segoe UI Semibold" pitchFamily="34" charset="-120"/>
              </a:rPr>
              <a:t>−</a:t>
            </a:r>
            <a:endParaRPr lang="en-US" sz="1600" dirty="0"/>
          </a:p>
        </p:txBody>
      </p:sp>
      <p:sp>
        <p:nvSpPr>
          <p:cNvPr id="36" name="!!vbQn3"/>
          <p:cNvSpPr txBox="1"/>
          <p:nvPr/>
        </p:nvSpPr>
        <p:spPr>
          <a:xfrm>
            <a:off x="3017520" y="4023360"/>
            <a:ext cx="228600" cy="274320"/>
          </a:xfrm>
          <a:prstGeom prst="rect">
            <a:avLst/>
          </a:prstGeom>
          <a:noFill/>
          <a:ln/>
        </p:spPr>
        <p:txBody>
          <a:bodyPr wrap="square" lIns="0" tIns="0" rIns="0" bIns="0" rtlCol="0" anchor="t"/>
          <a:lstStyle/>
          <a:p>
            <a:pPr algn="ctr" indent="0" marL="0">
              <a:buNone/>
            </a:pPr>
            <a:r>
              <a:rPr lang="en-US" sz="1600" dirty="0">
                <a:solidFill>
                  <a:srgbClr val="1F2F6B"/>
                </a:solidFill>
                <a:latin typeface="Segoe UI Semibold" pitchFamily="34" charset="0"/>
                <a:ea typeface="Segoe UI Semibold" pitchFamily="34" charset="-122"/>
                <a:cs typeface="Segoe UI Semibold" pitchFamily="34" charset="-120"/>
              </a:rPr>
              <a:t>−</a:t>
            </a:r>
            <a:endParaRPr lang="en-US" sz="1600" dirty="0"/>
          </a:p>
        </p:txBody>
      </p:sp>
      <p:sp>
        <p:nvSpPr>
          <p:cNvPr id="37" name="!!vbVG"/>
          <p:cNvSpPr txBox="1"/>
          <p:nvPr/>
        </p:nvSpPr>
        <p:spPr>
          <a:xfrm>
            <a:off x="731520" y="1298448"/>
            <a:ext cx="1463040" cy="237744"/>
          </a:xfrm>
          <a:prstGeom prst="rect">
            <a:avLst/>
          </a:prstGeom>
          <a:noFill/>
          <a:ln/>
        </p:spPr>
        <p:txBody>
          <a:bodyPr wrap="square" lIns="0" tIns="0" rIns="0" bIns="0" rtlCol="0" anchor="t"/>
          <a:lstStyle/>
          <a:p>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l"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 = 0.25 V</a:t>
            </a:r>
            <a:endParaRPr lang="en-US" sz="1200" dirty="0"/>
          </a:p>
        </p:txBody>
      </p:sp>
      <p:sp>
        <p:nvSpPr>
          <p:cNvPr id="38" name="!!vbPsi"/>
          <p:cNvSpPr txBox="1"/>
          <p:nvPr/>
        </p:nvSpPr>
        <p:spPr>
          <a:xfrm>
            <a:off x="3840480" y="1298448"/>
            <a:ext cx="2560320" cy="237744"/>
          </a:xfrm>
          <a:prstGeom prst="rect">
            <a:avLst/>
          </a:prstGeom>
          <a:noFill/>
          <a:ln/>
        </p:spPr>
        <p:txBody>
          <a:bodyPr wrap="square" lIns="0" tIns="0" rIns="0" bIns="0" rtlCol="0" anchor="t"/>
          <a:lstStyle/>
          <a:p>
            <a:pPr algn="r" indent="0" marL="0">
              <a:buNone/>
            </a:pPr>
            <a:r>
              <a:rPr lang="en-US" sz="1200" dirty="0">
                <a:solidFill>
                  <a:srgbClr val="5C5E62"/>
                </a:solidFill>
                <a:latin typeface="Segoe UI Semibold" pitchFamily="34" charset="0"/>
                <a:ea typeface="Segoe UI Semibold" pitchFamily="34" charset="-122"/>
                <a:cs typeface="Segoe UI Semibold" pitchFamily="34" charset="-120"/>
              </a:rPr>
              <a:t>band bending ψs = 0.71 V</a:t>
            </a:r>
            <a:endParaRPr lang="en-US" sz="1200" dirty="0"/>
          </a:p>
        </p:txBody>
      </p:sp>
      <p:sp>
        <p:nvSpPr>
          <p:cNvPr id="39" name="!!card"/>
          <p:cNvSpPr/>
          <p:nvPr/>
        </p:nvSpPr>
        <p:spPr>
          <a:xfrm>
            <a:off x="7086600" y="1554480"/>
            <a:ext cx="4553712" cy="2606040"/>
          </a:xfrm>
          <a:prstGeom prst="roundRect">
            <a:avLst>
              <a:gd name="adj" fmla="val 2807"/>
            </a:avLst>
          </a:prstGeom>
          <a:solidFill>
            <a:srgbClr val="F4F5F7"/>
          </a:solidFill>
          <a:ln/>
        </p:spPr>
      </p:sp>
      <p:sp>
        <p:nvSpPr>
          <p:cNvPr id="40" name="!!cardn"/>
          <p:cNvSpPr/>
          <p:nvPr/>
        </p:nvSpPr>
        <p:spPr>
          <a:xfrm>
            <a:off x="7296912" y="1764792"/>
            <a:ext cx="347472" cy="347472"/>
          </a:xfrm>
          <a:prstGeom prst="ellipse">
            <a:avLst/>
          </a:prstGeom>
          <a:solidFill>
            <a:srgbClr val="6B5BC4"/>
          </a:solidFill>
          <a:ln/>
        </p:spPr>
      </p:sp>
      <p:sp>
        <p:nvSpPr>
          <p:cNvPr id="41" name="!!cardnt"/>
          <p:cNvSpPr txBox="1"/>
          <p:nvPr/>
        </p:nvSpPr>
        <p:spPr>
          <a:xfrm>
            <a:off x="729691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42" name="!!cardh"/>
          <p:cNvSpPr txBox="1"/>
          <p:nvPr/>
        </p:nvSpPr>
        <p:spPr>
          <a:xfrm>
            <a:off x="7772400" y="1773936"/>
            <a:ext cx="3685032" cy="347472"/>
          </a:xfrm>
          <a:prstGeom prst="rect">
            <a:avLst/>
          </a:prstGeom>
          <a:noFill/>
          <a:ln/>
        </p:spPr>
        <p:txBody>
          <a:bodyPr wrap="square" lIns="0" tIns="0" rIns="0" bIns="0" rtlCol="0" anchor="ctr"/>
          <a:lstStyle/>
          <a:p>
            <a:pPr algn="l" indent="0" marL="0">
              <a:buNone/>
            </a:pPr>
            <a:r>
              <a:rPr lang="en-US" sz="1600" dirty="0">
                <a:solidFill>
                  <a:srgbClr val="6B5BC4"/>
                </a:solidFill>
                <a:latin typeface="Segoe UI Semibold" pitchFamily="34" charset="0"/>
                <a:ea typeface="Segoe UI Semibold" pitchFamily="34" charset="-122"/>
                <a:cs typeface="Segoe UI Semibold" pitchFamily="34" charset="-120"/>
              </a:rPr>
              <a:t>Term 3: charge on the capacitor</a:t>
            </a:r>
            <a:endParaRPr lang="en-US" sz="1600" dirty="0"/>
          </a:p>
        </p:txBody>
      </p:sp>
      <p:sp>
        <p:nvSpPr>
          <p:cNvPr id="43" name="!!cardb"/>
          <p:cNvSpPr txBox="1"/>
          <p:nvPr/>
        </p:nvSpPr>
        <p:spPr>
          <a:xfrm>
            <a:off x="7315200" y="2267712"/>
            <a:ext cx="4096512" cy="173736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The depletion layer holds negative ions; the gate must hold the same + charge.</a:t>
            </a:r>
            <a:endParaRPr lang="en-US" sz="1300" dirty="0"/>
          </a:p>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V</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ox</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 Q</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dep</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 C</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ox</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planar 11 mV, our GAA wire only 0.1 mV (tiny body).</a:t>
            </a:r>
            <a:endParaRPr lang="en-US" sz="1300" dirty="0"/>
          </a:p>
        </p:txBody>
      </p:sp>
      <p:sp>
        <p:nvSpPr>
          <p:cNvPr id="44" name="!!vbEq"/>
          <p:cNvSpPr txBox="1"/>
          <p:nvPr/>
        </p:nvSpPr>
        <p:spPr>
          <a:xfrm>
            <a:off x="7086600" y="4526280"/>
            <a:ext cx="914400" cy="457200"/>
          </a:xfrm>
          <a:prstGeom prst="rect">
            <a:avLst/>
          </a:prstGeom>
          <a:noFill/>
          <a:ln/>
        </p:spPr>
        <p:txBody>
          <a:bodyPr wrap="square" lIns="0" tIns="0" rIns="0" bIns="0" rtlCol="0" anchor="ctr"/>
          <a:lstStyle/>
          <a:p>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800" baseline="-40000" dirty="0">
                <a:solidFill>
                  <a:srgbClr val="171A20"/>
                </a:solidFill>
                <a:latin typeface="Segoe UI Semibold" pitchFamily="34" charset="0"/>
                <a:ea typeface="Segoe UI Semibold" pitchFamily="34" charset="-122"/>
                <a:cs typeface="Segoe UI Semibold" pitchFamily="34" charset="-120"/>
              </a:rPr>
              <a:t>T</a:t>
            </a:r>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  =</a:t>
            </a:r>
            <a:endParaRPr lang="en-US" sz="1800" dirty="0"/>
          </a:p>
        </p:txBody>
      </p:sp>
      <p:sp>
        <p:nvSpPr>
          <p:cNvPr id="45" name="!!vbT0"/>
          <p:cNvSpPr/>
          <p:nvPr/>
        </p:nvSpPr>
        <p:spPr>
          <a:xfrm>
            <a:off x="8001000" y="4526280"/>
            <a:ext cx="914400" cy="457200"/>
          </a:xfrm>
          <a:prstGeom prst="roundRect">
            <a:avLst>
              <a:gd name="adj" fmla="val 16000"/>
            </a:avLst>
          </a:prstGeom>
          <a:solidFill>
            <a:srgbClr val="F4F5F7"/>
          </a:solidFill>
          <a:ln/>
        </p:spPr>
      </p:sp>
      <p:sp>
        <p:nvSpPr>
          <p:cNvPr id="46" name="!!vbTt0"/>
          <p:cNvSpPr txBox="1"/>
          <p:nvPr/>
        </p:nvSpPr>
        <p:spPr>
          <a:xfrm>
            <a:off x="8001000" y="4526280"/>
            <a:ext cx="914400" cy="457200"/>
          </a:xfrm>
          <a:prstGeom prst="rect">
            <a:avLst/>
          </a:prstGeom>
          <a:noFill/>
          <a:ln/>
        </p:spPr>
        <p:txBody>
          <a:bodyPr wrap="square" lIns="0" tIns="0" rIns="0" bIns="0" rtlCol="0" anchor="ctr"/>
          <a:lstStyle/>
          <a:p>
            <a:pPr algn="ctr" indent="0" marL="0">
              <a:buNone/>
            </a:pPr>
            <a:r>
              <a:rPr lang="en-US" sz="1400" dirty="0">
                <a:solidFill>
                  <a:srgbClr val="5C5E62"/>
                </a:solidFill>
                <a:latin typeface="Segoe UI Semibold" pitchFamily="34" charset="0"/>
                <a:ea typeface="Segoe UI Semibold" pitchFamily="34" charset="-122"/>
                <a:cs typeface="Segoe UI Semibold" pitchFamily="34" charset="-120"/>
              </a:rPr>
              <a:t>V</a:t>
            </a:r>
            <a:pPr algn="ctr" indent="0" marL="0">
              <a:buNone/>
            </a:pPr>
            <a:r>
              <a:rPr lang="en-US" sz="1400" baseline="-40000" dirty="0">
                <a:solidFill>
                  <a:srgbClr val="5C5E62"/>
                </a:solidFill>
                <a:latin typeface="Segoe UI Semibold" pitchFamily="34" charset="0"/>
                <a:ea typeface="Segoe UI Semibold" pitchFamily="34" charset="-122"/>
                <a:cs typeface="Segoe UI Semibold" pitchFamily="34" charset="-120"/>
              </a:rPr>
              <a:t>FB</a:t>
            </a:r>
            <a:endParaRPr lang="en-US" sz="1400" dirty="0"/>
          </a:p>
        </p:txBody>
      </p:sp>
      <p:sp>
        <p:nvSpPr>
          <p:cNvPr id="47" name="!!vbPl0"/>
          <p:cNvSpPr txBox="1"/>
          <p:nvPr/>
        </p:nvSpPr>
        <p:spPr>
          <a:xfrm>
            <a:off x="8915400" y="4526280"/>
            <a:ext cx="274320" cy="45720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Semibold" pitchFamily="34" charset="0"/>
                <a:ea typeface="Segoe UI Semibold" pitchFamily="34" charset="-122"/>
                <a:cs typeface="Segoe UI Semibold" pitchFamily="34" charset="-120"/>
              </a:rPr>
              <a:t>+</a:t>
            </a:r>
            <a:endParaRPr lang="en-US" sz="1600" dirty="0"/>
          </a:p>
        </p:txBody>
      </p:sp>
      <p:sp>
        <p:nvSpPr>
          <p:cNvPr id="48" name="!!vbT1"/>
          <p:cNvSpPr/>
          <p:nvPr/>
        </p:nvSpPr>
        <p:spPr>
          <a:xfrm>
            <a:off x="9189720" y="4526280"/>
            <a:ext cx="914400" cy="457200"/>
          </a:xfrm>
          <a:prstGeom prst="roundRect">
            <a:avLst>
              <a:gd name="adj" fmla="val 16000"/>
            </a:avLst>
          </a:prstGeom>
          <a:solidFill>
            <a:srgbClr val="F4F5F7"/>
          </a:solidFill>
          <a:ln/>
        </p:spPr>
      </p:sp>
      <p:sp>
        <p:nvSpPr>
          <p:cNvPr id="49" name="!!vbTt1"/>
          <p:cNvSpPr txBox="1"/>
          <p:nvPr/>
        </p:nvSpPr>
        <p:spPr>
          <a:xfrm>
            <a:off x="9189720" y="4526280"/>
            <a:ext cx="914400" cy="457200"/>
          </a:xfrm>
          <a:prstGeom prst="rect">
            <a:avLst/>
          </a:prstGeom>
          <a:noFill/>
          <a:ln/>
        </p:spPr>
        <p:txBody>
          <a:bodyPr wrap="square" lIns="0" tIns="0" rIns="0" bIns="0" rtlCol="0" anchor="ctr"/>
          <a:lstStyle/>
          <a:p>
            <a:pPr algn="ctr" indent="0" marL="0">
              <a:buNone/>
            </a:pPr>
            <a:r>
              <a:rPr lang="en-US" sz="1400" dirty="0">
                <a:solidFill>
                  <a:srgbClr val="5C5E62"/>
                </a:solidFill>
                <a:latin typeface="Segoe UI Semibold" pitchFamily="34" charset="0"/>
                <a:ea typeface="Segoe UI Semibold" pitchFamily="34" charset="-122"/>
                <a:cs typeface="Segoe UI Semibold" pitchFamily="34" charset="-120"/>
              </a:rPr>
              <a:t>2φF</a:t>
            </a:r>
            <a:endParaRPr lang="en-US" sz="1400" dirty="0"/>
          </a:p>
        </p:txBody>
      </p:sp>
      <p:sp>
        <p:nvSpPr>
          <p:cNvPr id="50" name="!!vbPl1"/>
          <p:cNvSpPr txBox="1"/>
          <p:nvPr/>
        </p:nvSpPr>
        <p:spPr>
          <a:xfrm>
            <a:off x="10104120" y="4526280"/>
            <a:ext cx="274320" cy="45720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Semibold" pitchFamily="34" charset="0"/>
                <a:ea typeface="Segoe UI Semibold" pitchFamily="34" charset="-122"/>
                <a:cs typeface="Segoe UI Semibold" pitchFamily="34" charset="-120"/>
              </a:rPr>
              <a:t>+</a:t>
            </a:r>
            <a:endParaRPr lang="en-US" sz="1600" dirty="0"/>
          </a:p>
        </p:txBody>
      </p:sp>
      <p:sp>
        <p:nvSpPr>
          <p:cNvPr id="51" name="!!vbT2"/>
          <p:cNvSpPr/>
          <p:nvPr/>
        </p:nvSpPr>
        <p:spPr>
          <a:xfrm>
            <a:off x="10378440" y="4526280"/>
            <a:ext cx="1463040" cy="457200"/>
          </a:xfrm>
          <a:prstGeom prst="roundRect">
            <a:avLst>
              <a:gd name="adj" fmla="val 16000"/>
            </a:avLst>
          </a:prstGeom>
          <a:solidFill>
            <a:srgbClr val="6B5BC4"/>
          </a:solidFill>
          <a:ln/>
        </p:spPr>
      </p:sp>
      <p:sp>
        <p:nvSpPr>
          <p:cNvPr id="52" name="!!vbTt2"/>
          <p:cNvSpPr txBox="1"/>
          <p:nvPr/>
        </p:nvSpPr>
        <p:spPr>
          <a:xfrm>
            <a:off x="10378440" y="4526280"/>
            <a:ext cx="146304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Q</a:t>
            </a:r>
            <a:pPr algn="ctr" indent="0" marL="0">
              <a:buNone/>
            </a:pPr>
            <a:r>
              <a:rPr lang="en-US" sz="1400" baseline="-40000" dirty="0">
                <a:solidFill>
                  <a:srgbClr val="FFFFFF"/>
                </a:solidFill>
                <a:latin typeface="Segoe UI Semibold" pitchFamily="34" charset="0"/>
                <a:ea typeface="Segoe UI Semibold" pitchFamily="34" charset="-122"/>
                <a:cs typeface="Segoe UI Semibold" pitchFamily="34" charset="-120"/>
              </a:rPr>
              <a:t>dep</a:t>
            </a:r>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 / C</a:t>
            </a:r>
            <a:pPr algn="ctr" indent="0" marL="0">
              <a:buNone/>
            </a:pPr>
            <a:r>
              <a:rPr lang="en-US" sz="1400" baseline="-40000" dirty="0">
                <a:solidFill>
                  <a:srgbClr val="FFFFFF"/>
                </a:solidFill>
                <a:latin typeface="Segoe UI Semibold" pitchFamily="34" charset="0"/>
                <a:ea typeface="Segoe UI Semibold" pitchFamily="34" charset="-122"/>
                <a:cs typeface="Segoe UI Semibold" pitchFamily="34" charset="-120"/>
              </a:rPr>
              <a:t>ox</a:t>
            </a:r>
            <a:endParaRPr lang="en-US" sz="1400" dirty="0"/>
          </a:p>
        </p:txBody>
      </p:sp>
      <p:sp>
        <p:nvSpPr>
          <p:cNvPr id="5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Gate and silicon form a capacitor; holding the depletion charge costs Q</a:t>
            </a:r>
            <a:pPr algn="ctr" indent="0" marL="0">
              <a:buNone/>
            </a:pPr>
            <a:r>
              <a:rPr lang="en-US" sz="1600" baseline="-40000" dirty="0">
                <a:solidFill>
                  <a:srgbClr val="171A20"/>
                </a:solidFill>
                <a:latin typeface="Segoe UI" pitchFamily="34" charset="0"/>
                <a:ea typeface="Segoe UI" pitchFamily="34" charset="-122"/>
                <a:cs typeface="Segoe UI" pitchFamily="34" charset="-120"/>
              </a:rPr>
              <a:t>dep</a:t>
            </a:r>
            <a:pPr algn="ctr" indent="0" marL="0">
              <a:buNone/>
            </a:pPr>
            <a:r>
              <a:rPr lang="en-US" sz="1600" dirty="0">
                <a:solidFill>
                  <a:srgbClr val="171A20"/>
                </a:solidFill>
                <a:latin typeface="Segoe UI" pitchFamily="34" charset="0"/>
                <a:ea typeface="Segoe UI" pitchFamily="34" charset="-122"/>
                <a:cs typeface="Segoe UI" pitchFamily="34" charset="-120"/>
              </a:rPr>
              <a:t>/C</a:t>
            </a:r>
            <a:pPr algn="ctr" indent="0" marL="0">
              <a:buNone/>
            </a:pPr>
            <a:r>
              <a:rPr lang="en-US" sz="1600" baseline="-40000" dirty="0">
                <a:solidFill>
                  <a:srgbClr val="171A20"/>
                </a:solidFill>
                <a:latin typeface="Segoe UI" pitchFamily="34" charset="0"/>
                <a:ea typeface="Segoe UI" pitchFamily="34" charset="-122"/>
                <a:cs typeface="Segoe UI" pitchFamily="34" charset="-120"/>
              </a:rPr>
              <a:t>ox</a:t>
            </a:r>
            <a:pPr algn="ctr" indent="0" marL="0">
              <a:buNone/>
            </a:pPr>
            <a:r>
              <a:rPr lang="en-US" sz="1600" dirty="0">
                <a:solidFill>
                  <a:srgbClr val="171A20"/>
                </a:solidFill>
                <a:latin typeface="Segoe UI" pitchFamily="34" charset="0"/>
                <a:ea typeface="Segoe UI" pitchFamily="34" charset="-122"/>
                <a:cs typeface="Segoe UI" pitchFamily="34" charset="-120"/>
              </a:rPr>
              <a: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What sets V</a:t>
            </a:r>
            <a:pPr algn="l" indent="0" marL="0">
              <a:buNone/>
            </a:pPr>
            <a:r>
              <a:rPr lang="en-US" sz="3000" baseline="-40000" dirty="0">
                <a:solidFill>
                  <a:srgbClr val="171A20"/>
                </a:solidFill>
                <a:latin typeface="Segoe UI" pitchFamily="34" charset="0"/>
                <a:ea typeface="Segoe UI" pitchFamily="34" charset="-122"/>
                <a:cs typeface="Segoe UI" pitchFamily="34" charset="-120"/>
              </a:rPr>
              <a:t>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Energy bands from the gate (left) through the oxide into the p-type silicon (right)</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171A20"/>
          </a:solidFill>
          <a:ln/>
        </p:spPr>
      </p:sp>
      <p:sp>
        <p:nvSpPr>
          <p:cNvPr id="8" name="!!sdot4"/>
          <p:cNvSpPr/>
          <p:nvPr/>
        </p:nvSpPr>
        <p:spPr>
          <a:xfrm>
            <a:off x="11599164" y="525780"/>
            <a:ext cx="82296" cy="82296"/>
          </a:xfrm>
          <a:prstGeom prst="ellipse">
            <a:avLst/>
          </a:prstGeom>
          <a:solidFill>
            <a:srgbClr val="171A20"/>
          </a:solidFill>
          <a:ln/>
        </p:spPr>
      </p:sp>
      <p:sp>
        <p:nvSpPr>
          <p:cNvPr id="9" name="!!vbM"/>
          <p:cNvSpPr/>
          <p:nvPr/>
        </p:nvSpPr>
        <p:spPr>
          <a:xfrm>
            <a:off x="731520" y="1600200"/>
            <a:ext cx="1280160" cy="3291840"/>
          </a:xfrm>
          <a:prstGeom prst="rect">
            <a:avLst/>
          </a:prstGeom>
          <a:solidFill>
            <a:srgbClr val="B3A6E6">
              <a:alpha val="60000"/>
            </a:srgbClr>
          </a:solidFill>
          <a:ln/>
        </p:spPr>
      </p:sp>
      <p:sp>
        <p:nvSpPr>
          <p:cNvPr id="10" name="!!vbO"/>
          <p:cNvSpPr/>
          <p:nvPr/>
        </p:nvSpPr>
        <p:spPr>
          <a:xfrm>
            <a:off x="2011680" y="1600200"/>
            <a:ext cx="365760" cy="3291840"/>
          </a:xfrm>
          <a:prstGeom prst="rect">
            <a:avLst/>
          </a:prstGeom>
          <a:solidFill>
            <a:srgbClr val="CDEBF5"/>
          </a:solidFill>
          <a:ln/>
        </p:spPr>
      </p:sp>
      <p:sp>
        <p:nvSpPr>
          <p:cNvPr id="11" name="!!vbD"/>
          <p:cNvSpPr/>
          <p:nvPr/>
        </p:nvSpPr>
        <p:spPr>
          <a:xfrm>
            <a:off x="2377440" y="1600200"/>
            <a:ext cx="1234440" cy="3291840"/>
          </a:xfrm>
          <a:prstGeom prst="rect">
            <a:avLst/>
          </a:prstGeom>
          <a:solidFill>
            <a:srgbClr val="F7D4D9">
              <a:alpha val="70000"/>
            </a:srgbClr>
          </a:solidFill>
          <a:ln/>
        </p:spPr>
      </p:sp>
      <p:sp>
        <p:nvSpPr>
          <p:cNvPr id="12" name="!!vbML"/>
          <p:cNvSpPr txBox="1"/>
          <p:nvPr/>
        </p:nvSpPr>
        <p:spPr>
          <a:xfrm>
            <a:off x="731520" y="4937760"/>
            <a:ext cx="12801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gate metal</a:t>
            </a:r>
            <a:endParaRPr lang="en-US" sz="1000" dirty="0"/>
          </a:p>
        </p:txBody>
      </p:sp>
      <p:sp>
        <p:nvSpPr>
          <p:cNvPr id="13" name="!!vbOL"/>
          <p:cNvSpPr txBox="1"/>
          <p:nvPr/>
        </p:nvSpPr>
        <p:spPr>
          <a:xfrm>
            <a:off x="1920240" y="4937760"/>
            <a:ext cx="54864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oxide</a:t>
            </a:r>
            <a:endParaRPr lang="en-US" sz="1000" dirty="0"/>
          </a:p>
        </p:txBody>
      </p:sp>
      <p:sp>
        <p:nvSpPr>
          <p:cNvPr id="14" name="!!vbSL"/>
          <p:cNvSpPr txBox="1"/>
          <p:nvPr/>
        </p:nvSpPr>
        <p:spPr>
          <a:xfrm>
            <a:off x="4389120" y="4937760"/>
            <a:ext cx="2011680" cy="219456"/>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a:t>
            </a:r>
            <a:endParaRPr lang="en-US" sz="1000" dirty="0"/>
          </a:p>
        </p:txBody>
      </p:sp>
      <p:sp>
        <p:nvSpPr>
          <p:cNvPr id="15" name="!!vbL0"/>
          <p:cNvSpPr/>
          <p:nvPr/>
        </p:nvSpPr>
        <p:spPr>
          <a:xfrm>
            <a:off x="2377440" y="2729057"/>
            <a:ext cx="4023360" cy="681198"/>
          </a:xfrm>
          <a:custGeom>
            <a:avLst/>
            <a:gdLst/>
            <a:ahLst/>
            <a:cxnLst/>
            <a:rect l="l" t="t" r="r" b="b"/>
            <a:pathLst>
              <a:path w="4023360" h="681198">
                <a:moveTo>
                  <a:pt x="0" y="681198"/>
                </a:moveTo>
                <a:lnTo>
                  <a:pt x="138737" y="530541"/>
                </a:lnTo>
                <a:lnTo>
                  <a:pt x="277473" y="413181"/>
                </a:lnTo>
                <a:lnTo>
                  <a:pt x="416210" y="321758"/>
                </a:lnTo>
                <a:lnTo>
                  <a:pt x="554946" y="250540"/>
                </a:lnTo>
                <a:lnTo>
                  <a:pt x="693683" y="195061"/>
                </a:lnTo>
                <a:lnTo>
                  <a:pt x="832419" y="151844"/>
                </a:lnTo>
                <a:lnTo>
                  <a:pt x="971156" y="118178"/>
                </a:lnTo>
                <a:lnTo>
                  <a:pt x="1109892" y="91952"/>
                </a:lnTo>
                <a:lnTo>
                  <a:pt x="1248629" y="71522"/>
                </a:lnTo>
                <a:lnTo>
                  <a:pt x="1387366" y="55608"/>
                </a:lnTo>
                <a:lnTo>
                  <a:pt x="1526102" y="43210"/>
                </a:lnTo>
                <a:lnTo>
                  <a:pt x="1664839" y="33553"/>
                </a:lnTo>
                <a:lnTo>
                  <a:pt x="1803575" y="26030"/>
                </a:lnTo>
                <a:lnTo>
                  <a:pt x="1942312" y="20169"/>
                </a:lnTo>
                <a:lnTo>
                  <a:pt x="2081048" y="15604"/>
                </a:lnTo>
                <a:lnTo>
                  <a:pt x="2219785" y="12048"/>
                </a:lnTo>
                <a:lnTo>
                  <a:pt x="2358521" y="9277"/>
                </a:lnTo>
                <a:lnTo>
                  <a:pt x="2497258" y="7119"/>
                </a:lnTo>
                <a:lnTo>
                  <a:pt x="2635994" y="5438"/>
                </a:lnTo>
                <a:lnTo>
                  <a:pt x="2774731" y="4128"/>
                </a:lnTo>
                <a:lnTo>
                  <a:pt x="2913468" y="3108"/>
                </a:lnTo>
                <a:lnTo>
                  <a:pt x="3052204" y="2314"/>
                </a:lnTo>
                <a:lnTo>
                  <a:pt x="3190941" y="1694"/>
                </a:lnTo>
                <a:lnTo>
                  <a:pt x="3329677" y="1212"/>
                </a:lnTo>
                <a:lnTo>
                  <a:pt x="3468414" y="837"/>
                </a:lnTo>
                <a:lnTo>
                  <a:pt x="3607150" y="544"/>
                </a:lnTo>
                <a:lnTo>
                  <a:pt x="3745887" y="316"/>
                </a:lnTo>
                <a:lnTo>
                  <a:pt x="3884623" y="138"/>
                </a:lnTo>
                <a:lnTo>
                  <a:pt x="4023360" y="0"/>
                </a:lnTo>
              </a:path>
            </a:pathLst>
          </a:custGeom>
          <a:ln w="28575">
            <a:solidFill>
              <a:srgbClr val="171A20"/>
            </a:solidFill>
            <a:prstDash val="solid"/>
          </a:ln>
        </p:spPr>
      </p:sp>
      <p:sp>
        <p:nvSpPr>
          <p:cNvPr id="16" name="!!vbLl0"/>
          <p:cNvSpPr txBox="1"/>
          <p:nvPr/>
        </p:nvSpPr>
        <p:spPr>
          <a:xfrm>
            <a:off x="6446520" y="2618842"/>
            <a:ext cx="457200" cy="219456"/>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E</a:t>
            </a:r>
            <a:pPr algn="l" indent="0" marL="0">
              <a:buNone/>
            </a:pPr>
            <a:r>
              <a:rPr lang="en-US" sz="1100" baseline="-40000" dirty="0">
                <a:solidFill>
                  <a:srgbClr val="171A20"/>
                </a:solidFill>
                <a:latin typeface="Segoe UI" pitchFamily="34" charset="0"/>
                <a:ea typeface="Segoe UI" pitchFamily="34" charset="-122"/>
                <a:cs typeface="Segoe UI" pitchFamily="34" charset="-120"/>
              </a:rPr>
              <a:t>C</a:t>
            </a:r>
            <a:endParaRPr lang="en-US" sz="1100" dirty="0"/>
          </a:p>
        </p:txBody>
      </p:sp>
      <p:sp>
        <p:nvSpPr>
          <p:cNvPr id="17" name="!!vbL1"/>
          <p:cNvSpPr/>
          <p:nvPr/>
        </p:nvSpPr>
        <p:spPr>
          <a:xfrm>
            <a:off x="2377440" y="3266724"/>
            <a:ext cx="4023360" cy="681198"/>
          </a:xfrm>
          <a:custGeom>
            <a:avLst/>
            <a:gdLst/>
            <a:ahLst/>
            <a:cxnLst/>
            <a:rect l="l" t="t" r="r" b="b"/>
            <a:pathLst>
              <a:path w="4023360" h="681198">
                <a:moveTo>
                  <a:pt x="0" y="681198"/>
                </a:moveTo>
                <a:lnTo>
                  <a:pt x="138737" y="530541"/>
                </a:lnTo>
                <a:lnTo>
                  <a:pt x="277473" y="413181"/>
                </a:lnTo>
                <a:lnTo>
                  <a:pt x="416210" y="321758"/>
                </a:lnTo>
                <a:lnTo>
                  <a:pt x="554946" y="250540"/>
                </a:lnTo>
                <a:lnTo>
                  <a:pt x="693683" y="195061"/>
                </a:lnTo>
                <a:lnTo>
                  <a:pt x="832419" y="151844"/>
                </a:lnTo>
                <a:lnTo>
                  <a:pt x="971156" y="118178"/>
                </a:lnTo>
                <a:lnTo>
                  <a:pt x="1109892" y="91952"/>
                </a:lnTo>
                <a:lnTo>
                  <a:pt x="1248629" y="71522"/>
                </a:lnTo>
                <a:lnTo>
                  <a:pt x="1387366" y="55608"/>
                </a:lnTo>
                <a:lnTo>
                  <a:pt x="1526102" y="43210"/>
                </a:lnTo>
                <a:lnTo>
                  <a:pt x="1664839" y="33553"/>
                </a:lnTo>
                <a:lnTo>
                  <a:pt x="1803575" y="26030"/>
                </a:lnTo>
                <a:lnTo>
                  <a:pt x="1942312" y="20169"/>
                </a:lnTo>
                <a:lnTo>
                  <a:pt x="2081048" y="15604"/>
                </a:lnTo>
                <a:lnTo>
                  <a:pt x="2219785" y="12048"/>
                </a:lnTo>
                <a:lnTo>
                  <a:pt x="2358521" y="9277"/>
                </a:lnTo>
                <a:lnTo>
                  <a:pt x="2497258" y="7119"/>
                </a:lnTo>
                <a:lnTo>
                  <a:pt x="2635994" y="5438"/>
                </a:lnTo>
                <a:lnTo>
                  <a:pt x="2774731" y="4128"/>
                </a:lnTo>
                <a:lnTo>
                  <a:pt x="2913468" y="3108"/>
                </a:lnTo>
                <a:lnTo>
                  <a:pt x="3052204" y="2314"/>
                </a:lnTo>
                <a:lnTo>
                  <a:pt x="3190941" y="1694"/>
                </a:lnTo>
                <a:lnTo>
                  <a:pt x="3329677" y="1212"/>
                </a:lnTo>
                <a:lnTo>
                  <a:pt x="3468414" y="837"/>
                </a:lnTo>
                <a:lnTo>
                  <a:pt x="3607150" y="544"/>
                </a:lnTo>
                <a:lnTo>
                  <a:pt x="3745887" y="316"/>
                </a:lnTo>
                <a:lnTo>
                  <a:pt x="3884623" y="138"/>
                </a:lnTo>
                <a:lnTo>
                  <a:pt x="4023360" y="0"/>
                </a:lnTo>
              </a:path>
            </a:pathLst>
          </a:custGeom>
          <a:ln w="15875">
            <a:solidFill>
              <a:srgbClr val="8A8D93"/>
            </a:solidFill>
            <a:prstDash val="dash"/>
          </a:ln>
        </p:spPr>
      </p:sp>
      <p:sp>
        <p:nvSpPr>
          <p:cNvPr id="18" name="!!vbLl1"/>
          <p:cNvSpPr txBox="1"/>
          <p:nvPr/>
        </p:nvSpPr>
        <p:spPr>
          <a:xfrm>
            <a:off x="6446520" y="3156509"/>
            <a:ext cx="457200" cy="219456"/>
          </a:xfrm>
          <a:prstGeom prst="rect">
            <a:avLst/>
          </a:prstGeom>
          <a:noFill/>
          <a:ln/>
        </p:spPr>
        <p:txBody>
          <a:bodyPr wrap="square" lIns="0" tIns="0" rIns="0" bIns="0" rtlCol="0" anchor="t"/>
          <a:lstStyle/>
          <a:p>
            <a:pPr algn="l" indent="0" marL="0">
              <a:buNone/>
            </a:pPr>
            <a:r>
              <a:rPr lang="en-US" sz="1100" dirty="0">
                <a:solidFill>
                  <a:srgbClr val="8A8D93"/>
                </a:solidFill>
                <a:latin typeface="Segoe UI" pitchFamily="34" charset="0"/>
                <a:ea typeface="Segoe UI" pitchFamily="34" charset="-122"/>
                <a:cs typeface="Segoe UI" pitchFamily="34" charset="-120"/>
              </a:rPr>
              <a:t>E</a:t>
            </a:r>
            <a:pPr algn="l" indent="0" marL="0">
              <a:buNone/>
            </a:pPr>
            <a:r>
              <a:rPr lang="en-US" sz="1100" baseline="-40000" dirty="0">
                <a:solidFill>
                  <a:srgbClr val="8A8D93"/>
                </a:solidFill>
                <a:latin typeface="Segoe UI" pitchFamily="34" charset="0"/>
                <a:ea typeface="Segoe UI" pitchFamily="34" charset="-122"/>
                <a:cs typeface="Segoe UI" pitchFamily="34" charset="-120"/>
              </a:rPr>
              <a:t>i</a:t>
            </a:r>
            <a:endParaRPr lang="en-US" sz="1100" dirty="0"/>
          </a:p>
        </p:txBody>
      </p:sp>
      <p:sp>
        <p:nvSpPr>
          <p:cNvPr id="19" name="!!vbL2"/>
          <p:cNvSpPr/>
          <p:nvPr/>
        </p:nvSpPr>
        <p:spPr>
          <a:xfrm>
            <a:off x="2377440" y="3804392"/>
            <a:ext cx="4023360" cy="681198"/>
          </a:xfrm>
          <a:custGeom>
            <a:avLst/>
            <a:gdLst/>
            <a:ahLst/>
            <a:cxnLst/>
            <a:rect l="l" t="t" r="r" b="b"/>
            <a:pathLst>
              <a:path w="4023360" h="681198">
                <a:moveTo>
                  <a:pt x="0" y="681198"/>
                </a:moveTo>
                <a:lnTo>
                  <a:pt x="138737" y="530541"/>
                </a:lnTo>
                <a:lnTo>
                  <a:pt x="277473" y="413181"/>
                </a:lnTo>
                <a:lnTo>
                  <a:pt x="416210" y="321758"/>
                </a:lnTo>
                <a:lnTo>
                  <a:pt x="554946" y="250540"/>
                </a:lnTo>
                <a:lnTo>
                  <a:pt x="693683" y="195061"/>
                </a:lnTo>
                <a:lnTo>
                  <a:pt x="832419" y="151844"/>
                </a:lnTo>
                <a:lnTo>
                  <a:pt x="971156" y="118178"/>
                </a:lnTo>
                <a:lnTo>
                  <a:pt x="1109892" y="91952"/>
                </a:lnTo>
                <a:lnTo>
                  <a:pt x="1248629" y="71522"/>
                </a:lnTo>
                <a:lnTo>
                  <a:pt x="1387366" y="55608"/>
                </a:lnTo>
                <a:lnTo>
                  <a:pt x="1526102" y="43210"/>
                </a:lnTo>
                <a:lnTo>
                  <a:pt x="1664839" y="33553"/>
                </a:lnTo>
                <a:lnTo>
                  <a:pt x="1803575" y="26030"/>
                </a:lnTo>
                <a:lnTo>
                  <a:pt x="1942312" y="20169"/>
                </a:lnTo>
                <a:lnTo>
                  <a:pt x="2081048" y="15604"/>
                </a:lnTo>
                <a:lnTo>
                  <a:pt x="2219785" y="12048"/>
                </a:lnTo>
                <a:lnTo>
                  <a:pt x="2358521" y="9277"/>
                </a:lnTo>
                <a:lnTo>
                  <a:pt x="2497258" y="7119"/>
                </a:lnTo>
                <a:lnTo>
                  <a:pt x="2635994" y="5438"/>
                </a:lnTo>
                <a:lnTo>
                  <a:pt x="2774731" y="4128"/>
                </a:lnTo>
                <a:lnTo>
                  <a:pt x="2913468" y="3108"/>
                </a:lnTo>
                <a:lnTo>
                  <a:pt x="3052204" y="2314"/>
                </a:lnTo>
                <a:lnTo>
                  <a:pt x="3190941" y="1694"/>
                </a:lnTo>
                <a:lnTo>
                  <a:pt x="3329677" y="1212"/>
                </a:lnTo>
                <a:lnTo>
                  <a:pt x="3468414" y="837"/>
                </a:lnTo>
                <a:lnTo>
                  <a:pt x="3607150" y="544"/>
                </a:lnTo>
                <a:lnTo>
                  <a:pt x="3745887" y="316"/>
                </a:lnTo>
                <a:lnTo>
                  <a:pt x="3884623" y="138"/>
                </a:lnTo>
                <a:lnTo>
                  <a:pt x="4023360" y="0"/>
                </a:lnTo>
              </a:path>
            </a:pathLst>
          </a:custGeom>
          <a:ln w="28575">
            <a:solidFill>
              <a:srgbClr val="171A20"/>
            </a:solidFill>
            <a:prstDash val="solid"/>
          </a:ln>
        </p:spPr>
      </p:sp>
      <p:sp>
        <p:nvSpPr>
          <p:cNvPr id="20" name="!!vbLl2"/>
          <p:cNvSpPr txBox="1"/>
          <p:nvPr/>
        </p:nvSpPr>
        <p:spPr>
          <a:xfrm>
            <a:off x="6446520" y="3694176"/>
            <a:ext cx="457200" cy="219456"/>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E</a:t>
            </a:r>
            <a:pPr algn="l" indent="0" marL="0">
              <a:buNone/>
            </a:pPr>
            <a:r>
              <a:rPr lang="en-US" sz="1100" baseline="-40000" dirty="0">
                <a:solidFill>
                  <a:srgbClr val="171A20"/>
                </a:solidFill>
                <a:latin typeface="Segoe UI" pitchFamily="34" charset="0"/>
                <a:ea typeface="Segoe UI" pitchFamily="34" charset="-122"/>
                <a:cs typeface="Segoe UI" pitchFamily="34" charset="-120"/>
              </a:rPr>
              <a:t>V</a:t>
            </a:r>
            <a:endParaRPr lang="en-US" sz="1100" dirty="0"/>
          </a:p>
        </p:txBody>
      </p:sp>
      <p:sp>
        <p:nvSpPr>
          <p:cNvPr id="21" name="!!vbEF"/>
          <p:cNvSpPr/>
          <p:nvPr/>
        </p:nvSpPr>
        <p:spPr>
          <a:xfrm>
            <a:off x="2377440" y="3611880"/>
            <a:ext cx="4023360" cy="91"/>
          </a:xfrm>
          <a:prstGeom prst="line">
            <a:avLst/>
          </a:prstGeom>
          <a:noFill/>
          <a:ln w="19050">
            <a:solidFill>
              <a:srgbClr val="D64545"/>
            </a:solidFill>
            <a:prstDash val="solid"/>
          </a:ln>
        </p:spPr>
      </p:sp>
      <p:sp>
        <p:nvSpPr>
          <p:cNvPr id="22" name="!!vbEFl"/>
          <p:cNvSpPr txBox="1"/>
          <p:nvPr/>
        </p:nvSpPr>
        <p:spPr>
          <a:xfrm>
            <a:off x="6446520" y="3502152"/>
            <a:ext cx="457200" cy="219456"/>
          </a:xfrm>
          <a:prstGeom prst="rect">
            <a:avLst/>
          </a:prstGeom>
          <a:noFill/>
          <a:ln/>
        </p:spPr>
        <p:txBody>
          <a:bodyPr wrap="square" lIns="0" tIns="0" rIns="0" bIns="0" rtlCol="0" anchor="t"/>
          <a:lstStyle/>
          <a:p>
            <a:pPr algn="l" indent="0" marL="0">
              <a:buNone/>
            </a:pPr>
            <a:r>
              <a:rPr lang="en-US" sz="1100" dirty="0">
                <a:solidFill>
                  <a:srgbClr val="D64545"/>
                </a:solidFill>
                <a:latin typeface="Segoe UI" pitchFamily="34" charset="0"/>
                <a:ea typeface="Segoe UI" pitchFamily="34" charset="-122"/>
                <a:cs typeface="Segoe UI" pitchFamily="34" charset="-120"/>
              </a:rPr>
              <a:t>E</a:t>
            </a:r>
            <a:pPr algn="l" indent="0" marL="0">
              <a:buNone/>
            </a:pPr>
            <a:r>
              <a:rPr lang="en-US" sz="1100" baseline="-40000" dirty="0">
                <a:solidFill>
                  <a:srgbClr val="D64545"/>
                </a:solidFill>
                <a:latin typeface="Segoe UI" pitchFamily="34" charset="0"/>
                <a:ea typeface="Segoe UI" pitchFamily="34" charset="-122"/>
                <a:cs typeface="Segoe UI" pitchFamily="34" charset="-120"/>
              </a:rPr>
              <a:t>F</a:t>
            </a:r>
            <a:endParaRPr lang="en-US" sz="1100" dirty="0"/>
          </a:p>
        </p:txBody>
      </p:sp>
      <p:sp>
        <p:nvSpPr>
          <p:cNvPr id="23" name="!!vbEFm"/>
          <p:cNvSpPr/>
          <p:nvPr/>
        </p:nvSpPr>
        <p:spPr>
          <a:xfrm>
            <a:off x="731520" y="3851910"/>
            <a:ext cx="1280160" cy="91"/>
          </a:xfrm>
          <a:prstGeom prst="line">
            <a:avLst/>
          </a:prstGeom>
          <a:noFill/>
          <a:ln w="25400">
            <a:solidFill>
              <a:srgbClr val="D64545"/>
            </a:solidFill>
            <a:prstDash val="solid"/>
          </a:ln>
        </p:spPr>
      </p:sp>
      <p:sp>
        <p:nvSpPr>
          <p:cNvPr id="24" name="!!vbEFml"/>
          <p:cNvSpPr txBox="1"/>
          <p:nvPr/>
        </p:nvSpPr>
        <p:spPr>
          <a:xfrm>
            <a:off x="731520" y="3577590"/>
            <a:ext cx="1280160" cy="219456"/>
          </a:xfrm>
          <a:prstGeom prst="rect">
            <a:avLst/>
          </a:prstGeom>
          <a:noFill/>
          <a:ln/>
        </p:spPr>
        <p:txBody>
          <a:bodyPr wrap="square" lIns="0" tIns="0" rIns="0" bIns="0" rtlCol="0" anchor="t"/>
          <a:lstStyle/>
          <a:p>
            <a:pPr algn="ctr" indent="0" marL="0">
              <a:buNone/>
            </a:pPr>
            <a:r>
              <a:rPr lang="en-US" sz="1000" dirty="0">
                <a:solidFill>
                  <a:srgbClr val="D64545"/>
                </a:solidFill>
                <a:latin typeface="Segoe UI" pitchFamily="34" charset="0"/>
                <a:ea typeface="Segoe UI" pitchFamily="34" charset="-122"/>
                <a:cs typeface="Segoe UI" pitchFamily="34" charset="-120"/>
              </a:rPr>
              <a:t>E</a:t>
            </a:r>
            <a:pPr algn="ctr" indent="0" marL="0">
              <a:buNone/>
            </a:pPr>
            <a:r>
              <a:rPr lang="en-US" sz="1000" baseline="-40000" dirty="0">
                <a:solidFill>
                  <a:srgbClr val="D64545"/>
                </a:solidFill>
                <a:latin typeface="Segoe UI" pitchFamily="34" charset="0"/>
                <a:ea typeface="Segoe UI" pitchFamily="34" charset="-122"/>
                <a:cs typeface="Segoe UI" pitchFamily="34" charset="-120"/>
              </a:rPr>
              <a:t>F</a:t>
            </a:r>
            <a:pPr algn="ctr" indent="0" marL="0">
              <a:buNone/>
            </a:pPr>
            <a:r>
              <a:rPr lang="en-US" sz="1000" dirty="0">
                <a:solidFill>
                  <a:srgbClr val="D64545"/>
                </a:solidFill>
                <a:latin typeface="Segoe UI" pitchFamily="34" charset="0"/>
                <a:ea typeface="Segoe UI" pitchFamily="34" charset="-122"/>
                <a:cs typeface="Segoe UI" pitchFamily="34" charset="-120"/>
              </a:rPr>
              <a:t> (metal)</a:t>
            </a:r>
            <a:endParaRPr lang="en-US" sz="1000" dirty="0"/>
          </a:p>
        </p:txBody>
      </p:sp>
      <p:sp>
        <p:nvSpPr>
          <p:cNvPr id="25" name="!!vbE0"/>
          <p:cNvSpPr/>
          <p:nvPr/>
        </p:nvSpPr>
        <p:spPr>
          <a:xfrm>
            <a:off x="2423160" y="3325080"/>
            <a:ext cx="91440" cy="91440"/>
          </a:xfrm>
          <a:prstGeom prst="ellipse">
            <a:avLst/>
          </a:prstGeom>
          <a:solidFill>
            <a:srgbClr val="1F2F6B"/>
          </a:solidFill>
          <a:ln/>
        </p:spPr>
      </p:sp>
      <p:sp>
        <p:nvSpPr>
          <p:cNvPr id="26" name="!!vbE1"/>
          <p:cNvSpPr/>
          <p:nvPr/>
        </p:nvSpPr>
        <p:spPr>
          <a:xfrm>
            <a:off x="2542032" y="3213689"/>
            <a:ext cx="91440" cy="91440"/>
          </a:xfrm>
          <a:prstGeom prst="ellipse">
            <a:avLst/>
          </a:prstGeom>
          <a:solidFill>
            <a:srgbClr val="1F2F6B"/>
          </a:solidFill>
          <a:ln/>
        </p:spPr>
      </p:sp>
      <p:sp>
        <p:nvSpPr>
          <p:cNvPr id="27" name="!!vbE2"/>
          <p:cNvSpPr/>
          <p:nvPr/>
        </p:nvSpPr>
        <p:spPr>
          <a:xfrm>
            <a:off x="2660904" y="3123756"/>
            <a:ext cx="91440" cy="91440"/>
          </a:xfrm>
          <a:prstGeom prst="ellipse">
            <a:avLst/>
          </a:prstGeom>
          <a:solidFill>
            <a:srgbClr val="1F2F6B"/>
          </a:solidFill>
          <a:ln/>
        </p:spPr>
      </p:sp>
      <p:sp>
        <p:nvSpPr>
          <p:cNvPr id="28" name="!!vbE3"/>
          <p:cNvSpPr/>
          <p:nvPr/>
        </p:nvSpPr>
        <p:spPr>
          <a:xfrm>
            <a:off x="2779776" y="3051148"/>
            <a:ext cx="91440" cy="91440"/>
          </a:xfrm>
          <a:prstGeom prst="ellipse">
            <a:avLst/>
          </a:prstGeom>
          <a:solidFill>
            <a:srgbClr val="1F2F6B"/>
          </a:solidFill>
          <a:ln/>
        </p:spPr>
      </p:sp>
      <p:sp>
        <p:nvSpPr>
          <p:cNvPr id="29" name="!!vbQp0"/>
          <p:cNvSpPr txBox="1"/>
          <p:nvPr/>
        </p:nvSpPr>
        <p:spPr>
          <a:xfrm>
            <a:off x="1737360" y="2011680"/>
            <a:ext cx="228600" cy="274320"/>
          </a:xfrm>
          <a:prstGeom prst="rect">
            <a:avLst/>
          </a:prstGeom>
          <a:noFill/>
          <a:ln/>
        </p:spPr>
        <p:txBody>
          <a:bodyPr wrap="square" lIns="0" tIns="0" rIns="0" bIns="0" rtlCol="0" anchor="t"/>
          <a:lstStyle/>
          <a:p>
            <a:pPr algn="ctr" indent="0" marL="0">
              <a:buNone/>
            </a:pPr>
            <a:r>
              <a:rPr lang="en-US" sz="1600" dirty="0">
                <a:solidFill>
                  <a:srgbClr val="D64545"/>
                </a:solidFill>
                <a:latin typeface="Segoe UI Semibold" pitchFamily="34" charset="0"/>
                <a:ea typeface="Segoe UI Semibold" pitchFamily="34" charset="-122"/>
                <a:cs typeface="Segoe UI Semibold" pitchFamily="34" charset="-120"/>
              </a:rPr>
              <a:t>+</a:t>
            </a:r>
            <a:endParaRPr lang="en-US" sz="1600" dirty="0"/>
          </a:p>
        </p:txBody>
      </p:sp>
      <p:sp>
        <p:nvSpPr>
          <p:cNvPr id="30" name="!!vbQp1"/>
          <p:cNvSpPr txBox="1"/>
          <p:nvPr/>
        </p:nvSpPr>
        <p:spPr>
          <a:xfrm>
            <a:off x="1737360" y="2651760"/>
            <a:ext cx="228600" cy="274320"/>
          </a:xfrm>
          <a:prstGeom prst="rect">
            <a:avLst/>
          </a:prstGeom>
          <a:noFill/>
          <a:ln/>
        </p:spPr>
        <p:txBody>
          <a:bodyPr wrap="square" lIns="0" tIns="0" rIns="0" bIns="0" rtlCol="0" anchor="t"/>
          <a:lstStyle/>
          <a:p>
            <a:pPr algn="ctr" indent="0" marL="0">
              <a:buNone/>
            </a:pPr>
            <a:r>
              <a:rPr lang="en-US" sz="1600" dirty="0">
                <a:solidFill>
                  <a:srgbClr val="D64545"/>
                </a:solidFill>
                <a:latin typeface="Segoe UI Semibold" pitchFamily="34" charset="0"/>
                <a:ea typeface="Segoe UI Semibold" pitchFamily="34" charset="-122"/>
                <a:cs typeface="Segoe UI Semibold" pitchFamily="34" charset="-120"/>
              </a:rPr>
              <a:t>+</a:t>
            </a:r>
            <a:endParaRPr lang="en-US" sz="1600" dirty="0"/>
          </a:p>
        </p:txBody>
      </p:sp>
      <p:sp>
        <p:nvSpPr>
          <p:cNvPr id="31" name="!!vbQp2"/>
          <p:cNvSpPr txBox="1"/>
          <p:nvPr/>
        </p:nvSpPr>
        <p:spPr>
          <a:xfrm>
            <a:off x="1737360" y="3291840"/>
            <a:ext cx="228600" cy="274320"/>
          </a:xfrm>
          <a:prstGeom prst="rect">
            <a:avLst/>
          </a:prstGeom>
          <a:noFill/>
          <a:ln/>
        </p:spPr>
        <p:txBody>
          <a:bodyPr wrap="square" lIns="0" tIns="0" rIns="0" bIns="0" rtlCol="0" anchor="t"/>
          <a:lstStyle/>
          <a:p>
            <a:pPr algn="ctr" indent="0" marL="0">
              <a:buNone/>
            </a:pPr>
            <a:r>
              <a:rPr lang="en-US" sz="1600" dirty="0">
                <a:solidFill>
                  <a:srgbClr val="D64545"/>
                </a:solidFill>
                <a:latin typeface="Segoe UI Semibold" pitchFamily="34" charset="0"/>
                <a:ea typeface="Segoe UI Semibold" pitchFamily="34" charset="-122"/>
                <a:cs typeface="Segoe UI Semibold" pitchFamily="34" charset="-120"/>
              </a:rPr>
              <a:t>+</a:t>
            </a:r>
            <a:endParaRPr lang="en-US" sz="1600" dirty="0"/>
          </a:p>
        </p:txBody>
      </p:sp>
      <p:sp>
        <p:nvSpPr>
          <p:cNvPr id="32" name="!!vbQp3"/>
          <p:cNvSpPr txBox="1"/>
          <p:nvPr/>
        </p:nvSpPr>
        <p:spPr>
          <a:xfrm>
            <a:off x="1737360" y="3931920"/>
            <a:ext cx="228600" cy="274320"/>
          </a:xfrm>
          <a:prstGeom prst="rect">
            <a:avLst/>
          </a:prstGeom>
          <a:noFill/>
          <a:ln/>
        </p:spPr>
        <p:txBody>
          <a:bodyPr wrap="square" lIns="0" tIns="0" rIns="0" bIns="0" rtlCol="0" anchor="t"/>
          <a:lstStyle/>
          <a:p>
            <a:pPr algn="ctr" indent="0" marL="0">
              <a:buNone/>
            </a:pPr>
            <a:r>
              <a:rPr lang="en-US" sz="1600" dirty="0">
                <a:solidFill>
                  <a:srgbClr val="D64545"/>
                </a:solidFill>
                <a:latin typeface="Segoe UI Semibold" pitchFamily="34" charset="0"/>
                <a:ea typeface="Segoe UI Semibold" pitchFamily="34" charset="-122"/>
                <a:cs typeface="Segoe UI Semibold" pitchFamily="34" charset="-120"/>
              </a:rPr>
              <a:t>+</a:t>
            </a:r>
            <a:endParaRPr lang="en-US" sz="1600" dirty="0"/>
          </a:p>
        </p:txBody>
      </p:sp>
      <p:sp>
        <p:nvSpPr>
          <p:cNvPr id="33" name="!!vbQn0"/>
          <p:cNvSpPr txBox="1"/>
          <p:nvPr/>
        </p:nvSpPr>
        <p:spPr>
          <a:xfrm>
            <a:off x="2606040" y="2103120"/>
            <a:ext cx="228600" cy="274320"/>
          </a:xfrm>
          <a:prstGeom prst="rect">
            <a:avLst/>
          </a:prstGeom>
          <a:noFill/>
          <a:ln/>
        </p:spPr>
        <p:txBody>
          <a:bodyPr wrap="square" lIns="0" tIns="0" rIns="0" bIns="0" rtlCol="0" anchor="t"/>
          <a:lstStyle/>
          <a:p>
            <a:pPr algn="ctr" indent="0" marL="0">
              <a:buNone/>
            </a:pPr>
            <a:r>
              <a:rPr lang="en-US" sz="1600" dirty="0">
                <a:solidFill>
                  <a:srgbClr val="1F2F6B"/>
                </a:solidFill>
                <a:latin typeface="Segoe UI Semibold" pitchFamily="34" charset="0"/>
                <a:ea typeface="Segoe UI Semibold" pitchFamily="34" charset="-122"/>
                <a:cs typeface="Segoe UI Semibold" pitchFamily="34" charset="-120"/>
              </a:rPr>
              <a:t>−</a:t>
            </a:r>
            <a:endParaRPr lang="en-US" sz="1600" dirty="0"/>
          </a:p>
        </p:txBody>
      </p:sp>
      <p:sp>
        <p:nvSpPr>
          <p:cNvPr id="34" name="!!vbQn1"/>
          <p:cNvSpPr txBox="1"/>
          <p:nvPr/>
        </p:nvSpPr>
        <p:spPr>
          <a:xfrm>
            <a:off x="3017520" y="2743200"/>
            <a:ext cx="228600" cy="274320"/>
          </a:xfrm>
          <a:prstGeom prst="rect">
            <a:avLst/>
          </a:prstGeom>
          <a:noFill/>
          <a:ln/>
        </p:spPr>
        <p:txBody>
          <a:bodyPr wrap="square" lIns="0" tIns="0" rIns="0" bIns="0" rtlCol="0" anchor="t"/>
          <a:lstStyle/>
          <a:p>
            <a:pPr algn="ctr" indent="0" marL="0">
              <a:buNone/>
            </a:pPr>
            <a:r>
              <a:rPr lang="en-US" sz="1600" dirty="0">
                <a:solidFill>
                  <a:srgbClr val="1F2F6B"/>
                </a:solidFill>
                <a:latin typeface="Segoe UI Semibold" pitchFamily="34" charset="0"/>
                <a:ea typeface="Segoe UI Semibold" pitchFamily="34" charset="-122"/>
                <a:cs typeface="Segoe UI Semibold" pitchFamily="34" charset="-120"/>
              </a:rPr>
              <a:t>−</a:t>
            </a:r>
            <a:endParaRPr lang="en-US" sz="1600" dirty="0"/>
          </a:p>
        </p:txBody>
      </p:sp>
      <p:sp>
        <p:nvSpPr>
          <p:cNvPr id="35" name="!!vbQn2"/>
          <p:cNvSpPr txBox="1"/>
          <p:nvPr/>
        </p:nvSpPr>
        <p:spPr>
          <a:xfrm>
            <a:off x="2606040" y="3383280"/>
            <a:ext cx="228600" cy="274320"/>
          </a:xfrm>
          <a:prstGeom prst="rect">
            <a:avLst/>
          </a:prstGeom>
          <a:noFill/>
          <a:ln/>
        </p:spPr>
        <p:txBody>
          <a:bodyPr wrap="square" lIns="0" tIns="0" rIns="0" bIns="0" rtlCol="0" anchor="t"/>
          <a:lstStyle/>
          <a:p>
            <a:pPr algn="ctr" indent="0" marL="0">
              <a:buNone/>
            </a:pPr>
            <a:r>
              <a:rPr lang="en-US" sz="1600" dirty="0">
                <a:solidFill>
                  <a:srgbClr val="1F2F6B"/>
                </a:solidFill>
                <a:latin typeface="Segoe UI Semibold" pitchFamily="34" charset="0"/>
                <a:ea typeface="Segoe UI Semibold" pitchFamily="34" charset="-122"/>
                <a:cs typeface="Segoe UI Semibold" pitchFamily="34" charset="-120"/>
              </a:rPr>
              <a:t>−</a:t>
            </a:r>
            <a:endParaRPr lang="en-US" sz="1600" dirty="0"/>
          </a:p>
        </p:txBody>
      </p:sp>
      <p:sp>
        <p:nvSpPr>
          <p:cNvPr id="36" name="!!vbQn3"/>
          <p:cNvSpPr txBox="1"/>
          <p:nvPr/>
        </p:nvSpPr>
        <p:spPr>
          <a:xfrm>
            <a:off x="3017520" y="4023360"/>
            <a:ext cx="228600" cy="274320"/>
          </a:xfrm>
          <a:prstGeom prst="rect">
            <a:avLst/>
          </a:prstGeom>
          <a:noFill/>
          <a:ln/>
        </p:spPr>
        <p:txBody>
          <a:bodyPr wrap="square" lIns="0" tIns="0" rIns="0" bIns="0" rtlCol="0" anchor="t"/>
          <a:lstStyle/>
          <a:p>
            <a:pPr algn="ctr" indent="0" marL="0">
              <a:buNone/>
            </a:pPr>
            <a:r>
              <a:rPr lang="en-US" sz="1600" dirty="0">
                <a:solidFill>
                  <a:srgbClr val="1F2F6B"/>
                </a:solidFill>
                <a:latin typeface="Segoe UI Semibold" pitchFamily="34" charset="0"/>
                <a:ea typeface="Segoe UI Semibold" pitchFamily="34" charset="-122"/>
                <a:cs typeface="Segoe UI Semibold" pitchFamily="34" charset="-120"/>
              </a:rPr>
              <a:t>−</a:t>
            </a:r>
            <a:endParaRPr lang="en-US" sz="1600" dirty="0"/>
          </a:p>
        </p:txBody>
      </p:sp>
      <p:sp>
        <p:nvSpPr>
          <p:cNvPr id="37" name="!!vbVG"/>
          <p:cNvSpPr txBox="1"/>
          <p:nvPr/>
        </p:nvSpPr>
        <p:spPr>
          <a:xfrm>
            <a:off x="731520" y="1298448"/>
            <a:ext cx="1463040" cy="237744"/>
          </a:xfrm>
          <a:prstGeom prst="rect">
            <a:avLst/>
          </a:prstGeom>
          <a:noFill/>
          <a:ln/>
        </p:spPr>
        <p:txBody>
          <a:bodyPr wrap="square" lIns="0" tIns="0" rIns="0" bIns="0" rtlCol="0" anchor="t"/>
          <a:lstStyle/>
          <a:p>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l"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 = 0.25 V</a:t>
            </a:r>
            <a:endParaRPr lang="en-US" sz="1200" dirty="0"/>
          </a:p>
        </p:txBody>
      </p:sp>
      <p:sp>
        <p:nvSpPr>
          <p:cNvPr id="38" name="!!vbPsi"/>
          <p:cNvSpPr txBox="1"/>
          <p:nvPr/>
        </p:nvSpPr>
        <p:spPr>
          <a:xfrm>
            <a:off x="3840480" y="1298448"/>
            <a:ext cx="2560320" cy="237744"/>
          </a:xfrm>
          <a:prstGeom prst="rect">
            <a:avLst/>
          </a:prstGeom>
          <a:noFill/>
          <a:ln/>
        </p:spPr>
        <p:txBody>
          <a:bodyPr wrap="square" lIns="0" tIns="0" rIns="0" bIns="0" rtlCol="0" anchor="t"/>
          <a:lstStyle/>
          <a:p>
            <a:pPr algn="r" indent="0" marL="0">
              <a:buNone/>
            </a:pPr>
            <a:r>
              <a:rPr lang="en-US" sz="1200" dirty="0">
                <a:solidFill>
                  <a:srgbClr val="5C5E62"/>
                </a:solidFill>
                <a:latin typeface="Segoe UI Semibold" pitchFamily="34" charset="0"/>
                <a:ea typeface="Segoe UI Semibold" pitchFamily="34" charset="-122"/>
                <a:cs typeface="Segoe UI Semibold" pitchFamily="34" charset="-120"/>
              </a:rPr>
              <a:t>band bending ψs = 0.71 V</a:t>
            </a:r>
            <a:endParaRPr lang="en-US" sz="1200" dirty="0"/>
          </a:p>
        </p:txBody>
      </p:sp>
      <p:sp>
        <p:nvSpPr>
          <p:cNvPr id="39" name="!!card"/>
          <p:cNvSpPr/>
          <p:nvPr/>
        </p:nvSpPr>
        <p:spPr>
          <a:xfrm>
            <a:off x="7086600" y="1554480"/>
            <a:ext cx="4553712" cy="2606040"/>
          </a:xfrm>
          <a:prstGeom prst="roundRect">
            <a:avLst>
              <a:gd name="adj" fmla="val 2807"/>
            </a:avLst>
          </a:prstGeom>
          <a:solidFill>
            <a:srgbClr val="F4F5F7"/>
          </a:solidFill>
          <a:ln/>
        </p:spPr>
      </p:sp>
      <p:sp>
        <p:nvSpPr>
          <p:cNvPr id="40" name="!!cardn"/>
          <p:cNvSpPr/>
          <p:nvPr/>
        </p:nvSpPr>
        <p:spPr>
          <a:xfrm>
            <a:off x="7296912" y="1764792"/>
            <a:ext cx="347472" cy="347472"/>
          </a:xfrm>
          <a:prstGeom prst="ellipse">
            <a:avLst/>
          </a:prstGeom>
          <a:solidFill>
            <a:srgbClr val="2E9E4F"/>
          </a:solidFill>
          <a:ln/>
        </p:spPr>
      </p:sp>
      <p:sp>
        <p:nvSpPr>
          <p:cNvPr id="41" name="!!cardnt"/>
          <p:cNvSpPr txBox="1"/>
          <p:nvPr/>
        </p:nvSpPr>
        <p:spPr>
          <a:xfrm>
            <a:off x="729691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2" name="!!cardh"/>
          <p:cNvSpPr txBox="1"/>
          <p:nvPr/>
        </p:nvSpPr>
        <p:spPr>
          <a:xfrm>
            <a:off x="7772400" y="1773936"/>
            <a:ext cx="3685032" cy="347472"/>
          </a:xfrm>
          <a:prstGeom prst="rect">
            <a:avLst/>
          </a:prstGeom>
          <a:noFill/>
          <a:ln/>
        </p:spPr>
        <p:txBody>
          <a:bodyPr wrap="square" lIns="0" tIns="0" rIns="0" bIns="0" rtlCol="0" anchor="ctr"/>
          <a:lstStyle/>
          <a:p>
            <a:pPr algn="l" indent="0" marL="0">
              <a:buNone/>
            </a:pPr>
            <a:r>
              <a:rPr lang="en-US" sz="1600" dirty="0">
                <a:solidFill>
                  <a:srgbClr val="2E9E4F"/>
                </a:solidFill>
                <a:latin typeface="Segoe UI Semibold" pitchFamily="34" charset="0"/>
                <a:ea typeface="Segoe UI Semibold" pitchFamily="34" charset="-122"/>
                <a:cs typeface="Segoe UI Semibold" pitchFamily="34" charset="-120"/>
              </a:rPr>
              <a:t>Add them up</a:t>
            </a:r>
            <a:endParaRPr lang="en-US" sz="1600" dirty="0"/>
          </a:p>
        </p:txBody>
      </p:sp>
      <p:sp>
        <p:nvSpPr>
          <p:cNvPr id="43" name="!!cardb"/>
          <p:cNvSpPr txBox="1"/>
          <p:nvPr/>
        </p:nvSpPr>
        <p:spPr>
          <a:xfrm>
            <a:off x="7315200" y="2267712"/>
            <a:ext cx="4096512" cy="173736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V</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T</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 −0.47 + 0.71 + 0.011 = 0.26 V (long-channel estimate).</a:t>
            </a:r>
            <a:endParaRPr lang="en-US" sz="1300" dirty="0"/>
          </a:p>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Atlas, our GAAFET: 0.204–0.209 V.</a:t>
            </a:r>
            <a:endParaRPr lang="en-US" sz="1300" dirty="0"/>
          </a:p>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Short-channel effects (DIBL) pull it a little lower.</a:t>
            </a:r>
            <a:endParaRPr lang="en-US" sz="1300" dirty="0"/>
          </a:p>
        </p:txBody>
      </p:sp>
      <p:sp>
        <p:nvSpPr>
          <p:cNvPr id="44" name="!!vbEq"/>
          <p:cNvSpPr txBox="1"/>
          <p:nvPr/>
        </p:nvSpPr>
        <p:spPr>
          <a:xfrm>
            <a:off x="7086600" y="4526280"/>
            <a:ext cx="914400" cy="457200"/>
          </a:xfrm>
          <a:prstGeom prst="rect">
            <a:avLst/>
          </a:prstGeom>
          <a:noFill/>
          <a:ln/>
        </p:spPr>
        <p:txBody>
          <a:bodyPr wrap="square" lIns="0" tIns="0" rIns="0" bIns="0" rtlCol="0" anchor="ctr"/>
          <a:lstStyle/>
          <a:p>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800" baseline="-40000" dirty="0">
                <a:solidFill>
                  <a:srgbClr val="171A20"/>
                </a:solidFill>
                <a:latin typeface="Segoe UI Semibold" pitchFamily="34" charset="0"/>
                <a:ea typeface="Segoe UI Semibold" pitchFamily="34" charset="-122"/>
                <a:cs typeface="Segoe UI Semibold" pitchFamily="34" charset="-120"/>
              </a:rPr>
              <a:t>T</a:t>
            </a:r>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  =</a:t>
            </a:r>
            <a:endParaRPr lang="en-US" sz="1800" dirty="0"/>
          </a:p>
        </p:txBody>
      </p:sp>
      <p:sp>
        <p:nvSpPr>
          <p:cNvPr id="45" name="!!vbT0"/>
          <p:cNvSpPr/>
          <p:nvPr/>
        </p:nvSpPr>
        <p:spPr>
          <a:xfrm>
            <a:off x="8001000" y="4526280"/>
            <a:ext cx="914400" cy="457200"/>
          </a:xfrm>
          <a:prstGeom prst="roundRect">
            <a:avLst>
              <a:gd name="adj" fmla="val 16000"/>
            </a:avLst>
          </a:prstGeom>
          <a:solidFill>
            <a:srgbClr val="3E6AE1"/>
          </a:solidFill>
          <a:ln/>
        </p:spPr>
      </p:sp>
      <p:sp>
        <p:nvSpPr>
          <p:cNvPr id="46" name="!!vbTt0"/>
          <p:cNvSpPr txBox="1"/>
          <p:nvPr/>
        </p:nvSpPr>
        <p:spPr>
          <a:xfrm>
            <a:off x="8001000" y="4526280"/>
            <a:ext cx="91440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V</a:t>
            </a:r>
            <a:pPr algn="ctr" indent="0" marL="0">
              <a:buNone/>
            </a:pPr>
            <a:r>
              <a:rPr lang="en-US" sz="1400" baseline="-40000" dirty="0">
                <a:solidFill>
                  <a:srgbClr val="FFFFFF"/>
                </a:solidFill>
                <a:latin typeface="Segoe UI Semibold" pitchFamily="34" charset="0"/>
                <a:ea typeface="Segoe UI Semibold" pitchFamily="34" charset="-122"/>
                <a:cs typeface="Segoe UI Semibold" pitchFamily="34" charset="-120"/>
              </a:rPr>
              <a:t>FB</a:t>
            </a:r>
            <a:endParaRPr lang="en-US" sz="1400" dirty="0"/>
          </a:p>
        </p:txBody>
      </p:sp>
      <p:sp>
        <p:nvSpPr>
          <p:cNvPr id="47" name="!!vbPl0"/>
          <p:cNvSpPr txBox="1"/>
          <p:nvPr/>
        </p:nvSpPr>
        <p:spPr>
          <a:xfrm>
            <a:off x="8915400" y="4526280"/>
            <a:ext cx="274320" cy="45720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Semibold" pitchFamily="34" charset="0"/>
                <a:ea typeface="Segoe UI Semibold" pitchFamily="34" charset="-122"/>
                <a:cs typeface="Segoe UI Semibold" pitchFamily="34" charset="-120"/>
              </a:rPr>
              <a:t>+</a:t>
            </a:r>
            <a:endParaRPr lang="en-US" sz="1600" dirty="0"/>
          </a:p>
        </p:txBody>
      </p:sp>
      <p:sp>
        <p:nvSpPr>
          <p:cNvPr id="48" name="!!vbT1"/>
          <p:cNvSpPr/>
          <p:nvPr/>
        </p:nvSpPr>
        <p:spPr>
          <a:xfrm>
            <a:off x="9189720" y="4526280"/>
            <a:ext cx="914400" cy="457200"/>
          </a:xfrm>
          <a:prstGeom prst="roundRect">
            <a:avLst>
              <a:gd name="adj" fmla="val 16000"/>
            </a:avLst>
          </a:prstGeom>
          <a:solidFill>
            <a:srgbClr val="E07B00"/>
          </a:solidFill>
          <a:ln/>
        </p:spPr>
      </p:sp>
      <p:sp>
        <p:nvSpPr>
          <p:cNvPr id="49" name="!!vbTt1"/>
          <p:cNvSpPr txBox="1"/>
          <p:nvPr/>
        </p:nvSpPr>
        <p:spPr>
          <a:xfrm>
            <a:off x="9189720" y="4526280"/>
            <a:ext cx="91440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2φF</a:t>
            </a:r>
            <a:endParaRPr lang="en-US" sz="1400" dirty="0"/>
          </a:p>
        </p:txBody>
      </p:sp>
      <p:sp>
        <p:nvSpPr>
          <p:cNvPr id="50" name="!!vbPl1"/>
          <p:cNvSpPr txBox="1"/>
          <p:nvPr/>
        </p:nvSpPr>
        <p:spPr>
          <a:xfrm>
            <a:off x="10104120" y="4526280"/>
            <a:ext cx="274320" cy="45720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Semibold" pitchFamily="34" charset="0"/>
                <a:ea typeface="Segoe UI Semibold" pitchFamily="34" charset="-122"/>
                <a:cs typeface="Segoe UI Semibold" pitchFamily="34" charset="-120"/>
              </a:rPr>
              <a:t>+</a:t>
            </a:r>
            <a:endParaRPr lang="en-US" sz="1600" dirty="0"/>
          </a:p>
        </p:txBody>
      </p:sp>
      <p:sp>
        <p:nvSpPr>
          <p:cNvPr id="51" name="!!vbT2"/>
          <p:cNvSpPr/>
          <p:nvPr/>
        </p:nvSpPr>
        <p:spPr>
          <a:xfrm>
            <a:off x="10378440" y="4526280"/>
            <a:ext cx="1463040" cy="457200"/>
          </a:xfrm>
          <a:prstGeom prst="roundRect">
            <a:avLst>
              <a:gd name="adj" fmla="val 16000"/>
            </a:avLst>
          </a:prstGeom>
          <a:solidFill>
            <a:srgbClr val="6B5BC4"/>
          </a:solidFill>
          <a:ln/>
        </p:spPr>
      </p:sp>
      <p:sp>
        <p:nvSpPr>
          <p:cNvPr id="52" name="!!vbTt2"/>
          <p:cNvSpPr txBox="1"/>
          <p:nvPr/>
        </p:nvSpPr>
        <p:spPr>
          <a:xfrm>
            <a:off x="10378440" y="4526280"/>
            <a:ext cx="146304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Q</a:t>
            </a:r>
            <a:pPr algn="ctr" indent="0" marL="0">
              <a:buNone/>
            </a:pPr>
            <a:r>
              <a:rPr lang="en-US" sz="1400" baseline="-40000" dirty="0">
                <a:solidFill>
                  <a:srgbClr val="FFFFFF"/>
                </a:solidFill>
                <a:latin typeface="Segoe UI Semibold" pitchFamily="34" charset="0"/>
                <a:ea typeface="Segoe UI Semibold" pitchFamily="34" charset="-122"/>
                <a:cs typeface="Segoe UI Semibold" pitchFamily="34" charset="-120"/>
              </a:rPr>
              <a:t>dep</a:t>
            </a:r>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 / C</a:t>
            </a:r>
            <a:pPr algn="ctr" indent="0" marL="0">
              <a:buNone/>
            </a:pPr>
            <a:r>
              <a:rPr lang="en-US" sz="1400" baseline="-40000" dirty="0">
                <a:solidFill>
                  <a:srgbClr val="FFFFFF"/>
                </a:solidFill>
                <a:latin typeface="Segoe UI Semibold" pitchFamily="34" charset="0"/>
                <a:ea typeface="Segoe UI Semibold" pitchFamily="34" charset="-122"/>
                <a:cs typeface="Segoe UI Semibold" pitchFamily="34" charset="-120"/>
              </a:rPr>
              <a:t>ox</a:t>
            </a:r>
            <a:endParaRPr lang="en-US" sz="1400" dirty="0"/>
          </a:p>
        </p:txBody>
      </p:sp>
      <p:sp>
        <p:nvSpPr>
          <p:cNvPr id="5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Long-channel estimate 0.26 V vs Atlas 0.20 V: the physics checks out.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What moves V</a:t>
            </a:r>
            <a:pPr algn="l" indent="0" marL="0">
              <a:buNone/>
            </a:pPr>
            <a:r>
              <a:rPr lang="en-US" sz="3000" baseline="-40000" dirty="0">
                <a:solidFill>
                  <a:srgbClr val="171A20"/>
                </a:solidFill>
                <a:latin typeface="Segoe UI" pitchFamily="34" charset="0"/>
                <a:ea typeface="Segoe UI" pitchFamily="34" charset="-122"/>
                <a:cs typeface="Segoe UI" pitchFamily="34" charset="-120"/>
              </a:rPr>
              <a:t>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Five knobs in our project, which way each one pushes V</a:t>
            </a:r>
            <a:pPr algn="l" indent="0" marL="0">
              <a:buNone/>
            </a:pPr>
            <a:r>
              <a:rPr lang="en-US" sz="1600" baseline="-40000" dirty="0">
                <a:solidFill>
                  <a:srgbClr val="5C5E62"/>
                </a:solidFill>
                <a:latin typeface="Segoe UI" pitchFamily="34" charset="0"/>
                <a:ea typeface="Segoe UI" pitchFamily="34" charset="-122"/>
                <a:cs typeface="Segoe UI" pitchFamily="34" charset="-120"/>
              </a:rPr>
              <a:t>T</a:t>
            </a:r>
            <a:pPr algn="l" indent="0" marL="0">
              <a:buNone/>
            </a:pPr>
            <a:r>
              <a:rPr lang="en-US" sz="1600" dirty="0">
                <a:solidFill>
                  <a:srgbClr val="5C5E62"/>
                </a:solidFill>
                <a:latin typeface="Segoe UI" pitchFamily="34" charset="0"/>
                <a:ea typeface="Segoe UI" pitchFamily="34" charset="-122"/>
                <a:cs typeface="Segoe UI" pitchFamily="34" charset="-120"/>
              </a:rPr>
              <a:t>, and by how much</a:t>
            </a:r>
            <a:endParaRPr lang="en-US" sz="1600" dirty="0"/>
          </a:p>
        </p:txBody>
      </p:sp>
      <p:sp>
        <p:nvSpPr>
          <p:cNvPr id="4" name="Shape 2"/>
          <p:cNvSpPr/>
          <p:nvPr/>
        </p:nvSpPr>
        <p:spPr>
          <a:xfrm>
            <a:off x="548640" y="1508760"/>
            <a:ext cx="3520440" cy="1783080"/>
          </a:xfrm>
          <a:prstGeom prst="roundRect">
            <a:avLst>
              <a:gd name="adj" fmla="val 4103"/>
            </a:avLst>
          </a:prstGeom>
          <a:solidFill>
            <a:srgbClr val="F4F5F7"/>
          </a:solidFill>
          <a:ln/>
        </p:spPr>
      </p:sp>
      <p:sp>
        <p:nvSpPr>
          <p:cNvPr id="5" name="Shape 3"/>
          <p:cNvSpPr/>
          <p:nvPr/>
        </p:nvSpPr>
        <p:spPr>
          <a:xfrm>
            <a:off x="740664" y="1700784"/>
            <a:ext cx="438912" cy="438912"/>
          </a:xfrm>
          <a:prstGeom prst="ellipse">
            <a:avLst/>
          </a:prstGeom>
          <a:solidFill>
            <a:srgbClr val="2E9E4F"/>
          </a:solidFill>
          <a:ln/>
        </p:spPr>
      </p:sp>
      <p:sp>
        <p:nvSpPr>
          <p:cNvPr id="6" name="Text 4"/>
          <p:cNvSpPr txBox="1"/>
          <p:nvPr/>
        </p:nvSpPr>
        <p:spPr>
          <a:xfrm>
            <a:off x="740664" y="1700784"/>
            <a:ext cx="438912" cy="43891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pitchFamily="34" charset="0"/>
                <a:ea typeface="Segoe UI" pitchFamily="34" charset="-122"/>
                <a:cs typeface="Segoe UI" pitchFamily="34" charset="-120"/>
              </a:rPr>
              <a:t>▲</a:t>
            </a:r>
            <a:endParaRPr lang="en-US" sz="1400" dirty="0"/>
          </a:p>
        </p:txBody>
      </p:sp>
      <p:sp>
        <p:nvSpPr>
          <p:cNvPr id="7" name="Text 5"/>
          <p:cNvSpPr txBox="1"/>
          <p:nvPr/>
        </p:nvSpPr>
        <p:spPr>
          <a:xfrm>
            <a:off x="1261872" y="1764792"/>
            <a:ext cx="548640" cy="310896"/>
          </a:xfrm>
          <a:prstGeom prst="rect">
            <a:avLst/>
          </a:prstGeom>
          <a:noFill/>
          <a:ln/>
        </p:spPr>
        <p:txBody>
          <a:bodyPr wrap="square" lIns="0" tIns="0" rIns="0" bIns="0" rtlCol="0" anchor="ctr"/>
          <a:lstStyle/>
          <a:p>
            <a:pPr algn="l" indent="0" marL="0">
              <a:buNone/>
            </a:pPr>
            <a:r>
              <a:rPr lang="en-US" sz="1500" dirty="0">
                <a:solidFill>
                  <a:srgbClr val="2E9E4F"/>
                </a:solidFill>
                <a:latin typeface="Segoe UI Semibold" pitchFamily="34" charset="0"/>
                <a:ea typeface="Segoe UI Semibold" pitchFamily="34" charset="-122"/>
                <a:cs typeface="Segoe UI Semibold" pitchFamily="34" charset="-120"/>
              </a:rPr>
              <a:t>V</a:t>
            </a:r>
            <a:pPr algn="l" indent="0" marL="0">
              <a:buNone/>
            </a:pPr>
            <a:r>
              <a:rPr lang="en-US" sz="1500" baseline="-40000" dirty="0">
                <a:solidFill>
                  <a:srgbClr val="2E9E4F"/>
                </a:solidFill>
                <a:latin typeface="Segoe UI Semibold" pitchFamily="34" charset="0"/>
                <a:ea typeface="Segoe UI Semibold" pitchFamily="34" charset="-122"/>
                <a:cs typeface="Segoe UI Semibold" pitchFamily="34" charset="-120"/>
              </a:rPr>
              <a:t>T</a:t>
            </a:r>
            <a:endParaRPr lang="en-US" sz="1500" dirty="0"/>
          </a:p>
        </p:txBody>
      </p:sp>
      <p:sp>
        <p:nvSpPr>
          <p:cNvPr id="8" name="Text 6"/>
          <p:cNvSpPr txBox="1"/>
          <p:nvPr/>
        </p:nvSpPr>
        <p:spPr>
          <a:xfrm>
            <a:off x="1737360" y="1764792"/>
            <a:ext cx="2240280" cy="310896"/>
          </a:xfrm>
          <a:prstGeom prst="rect">
            <a:avLst/>
          </a:prstGeom>
          <a:noFill/>
          <a:ln/>
        </p:spPr>
        <p:txBody>
          <a:bodyPr wrap="square" lIns="0" tIns="0" rIns="0" bIns="0" rtlCol="0" anchor="ctr"/>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Gate work function φm</a:t>
            </a:r>
            <a:endParaRPr lang="en-US" sz="1400" dirty="0"/>
          </a:p>
        </p:txBody>
      </p:sp>
      <p:sp>
        <p:nvSpPr>
          <p:cNvPr id="9" name="Text 7"/>
          <p:cNvSpPr txBox="1"/>
          <p:nvPr/>
        </p:nvSpPr>
        <p:spPr>
          <a:xfrm>
            <a:off x="822960" y="2313432"/>
            <a:ext cx="3108960" cy="292608"/>
          </a:xfrm>
          <a:prstGeom prst="rect">
            <a:avLst/>
          </a:prstGeom>
          <a:noFill/>
          <a:ln/>
        </p:spPr>
        <p:txBody>
          <a:bodyPr wrap="square" lIns="0" tIns="0" rIns="0" bIns="0" rtlCol="0" anchor="t"/>
          <a:lstStyle/>
          <a:p>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+0.03 eV → V</a:t>
            </a:r>
            <a:pPr algn="l"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T</a:t>
            </a:r>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 +30 mV</a:t>
            </a:r>
            <a:endParaRPr lang="en-US" sz="1300" dirty="0"/>
          </a:p>
        </p:txBody>
      </p:sp>
      <p:sp>
        <p:nvSpPr>
          <p:cNvPr id="10" name="Text 8"/>
          <p:cNvSpPr txBox="1"/>
          <p:nvPr/>
        </p:nvSpPr>
        <p:spPr>
          <a:xfrm>
            <a:off x="822960" y="2624328"/>
            <a:ext cx="3108960" cy="54864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Atlas: 0.204 → 0.233 V. Our stage-3 knob.</a:t>
            </a:r>
            <a:endParaRPr lang="en-US" sz="1200" dirty="0"/>
          </a:p>
        </p:txBody>
      </p:sp>
      <p:sp>
        <p:nvSpPr>
          <p:cNvPr id="11" name="Shape 9"/>
          <p:cNvSpPr/>
          <p:nvPr/>
        </p:nvSpPr>
        <p:spPr>
          <a:xfrm>
            <a:off x="4297680" y="1508760"/>
            <a:ext cx="3520440" cy="1783080"/>
          </a:xfrm>
          <a:prstGeom prst="roundRect">
            <a:avLst>
              <a:gd name="adj" fmla="val 4103"/>
            </a:avLst>
          </a:prstGeom>
          <a:solidFill>
            <a:srgbClr val="F4F5F7"/>
          </a:solidFill>
          <a:ln/>
        </p:spPr>
      </p:sp>
      <p:sp>
        <p:nvSpPr>
          <p:cNvPr id="12" name="Shape 10"/>
          <p:cNvSpPr/>
          <p:nvPr/>
        </p:nvSpPr>
        <p:spPr>
          <a:xfrm>
            <a:off x="4489704" y="1700784"/>
            <a:ext cx="438912" cy="438912"/>
          </a:xfrm>
          <a:prstGeom prst="ellipse">
            <a:avLst/>
          </a:prstGeom>
          <a:solidFill>
            <a:srgbClr val="2E9E4F"/>
          </a:solidFill>
          <a:ln/>
        </p:spPr>
      </p:sp>
      <p:sp>
        <p:nvSpPr>
          <p:cNvPr id="13" name="Text 11"/>
          <p:cNvSpPr txBox="1"/>
          <p:nvPr/>
        </p:nvSpPr>
        <p:spPr>
          <a:xfrm>
            <a:off x="4489704" y="1700784"/>
            <a:ext cx="438912" cy="43891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pitchFamily="34" charset="0"/>
                <a:ea typeface="Segoe UI" pitchFamily="34" charset="-122"/>
                <a:cs typeface="Segoe UI" pitchFamily="34" charset="-120"/>
              </a:rPr>
              <a:t>▲</a:t>
            </a:r>
            <a:endParaRPr lang="en-US" sz="1400" dirty="0"/>
          </a:p>
        </p:txBody>
      </p:sp>
      <p:sp>
        <p:nvSpPr>
          <p:cNvPr id="14" name="Text 12"/>
          <p:cNvSpPr txBox="1"/>
          <p:nvPr/>
        </p:nvSpPr>
        <p:spPr>
          <a:xfrm>
            <a:off x="5010912" y="1764792"/>
            <a:ext cx="548640" cy="310896"/>
          </a:xfrm>
          <a:prstGeom prst="rect">
            <a:avLst/>
          </a:prstGeom>
          <a:noFill/>
          <a:ln/>
        </p:spPr>
        <p:txBody>
          <a:bodyPr wrap="square" lIns="0" tIns="0" rIns="0" bIns="0" rtlCol="0" anchor="ctr"/>
          <a:lstStyle/>
          <a:p>
            <a:pPr algn="l" indent="0" marL="0">
              <a:buNone/>
            </a:pPr>
            <a:r>
              <a:rPr lang="en-US" sz="1500" dirty="0">
                <a:solidFill>
                  <a:srgbClr val="2E9E4F"/>
                </a:solidFill>
                <a:latin typeface="Segoe UI Semibold" pitchFamily="34" charset="0"/>
                <a:ea typeface="Segoe UI Semibold" pitchFamily="34" charset="-122"/>
                <a:cs typeface="Segoe UI Semibold" pitchFamily="34" charset="-120"/>
              </a:rPr>
              <a:t>V</a:t>
            </a:r>
            <a:pPr algn="l" indent="0" marL="0">
              <a:buNone/>
            </a:pPr>
            <a:r>
              <a:rPr lang="en-US" sz="1500" baseline="-40000" dirty="0">
                <a:solidFill>
                  <a:srgbClr val="2E9E4F"/>
                </a:solidFill>
                <a:latin typeface="Segoe UI Semibold" pitchFamily="34" charset="0"/>
                <a:ea typeface="Segoe UI Semibold" pitchFamily="34" charset="-122"/>
                <a:cs typeface="Segoe UI Semibold" pitchFamily="34" charset="-120"/>
              </a:rPr>
              <a:t>T</a:t>
            </a:r>
            <a:endParaRPr lang="en-US" sz="1500" dirty="0"/>
          </a:p>
        </p:txBody>
      </p:sp>
      <p:sp>
        <p:nvSpPr>
          <p:cNvPr id="15" name="Text 13"/>
          <p:cNvSpPr txBox="1"/>
          <p:nvPr/>
        </p:nvSpPr>
        <p:spPr>
          <a:xfrm>
            <a:off x="5486400" y="1764792"/>
            <a:ext cx="2240280" cy="310896"/>
          </a:xfrm>
          <a:prstGeom prst="rect">
            <a:avLst/>
          </a:prstGeom>
          <a:noFill/>
          <a:ln/>
        </p:spPr>
        <p:txBody>
          <a:bodyPr wrap="square" lIns="0" tIns="0" rIns="0" bIns="0" rtlCol="0" anchor="ctr"/>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Channel doping N</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A</a:t>
            </a:r>
            <a:endParaRPr lang="en-US" sz="1400" dirty="0"/>
          </a:p>
        </p:txBody>
      </p:sp>
      <p:sp>
        <p:nvSpPr>
          <p:cNvPr id="16" name="Text 14"/>
          <p:cNvSpPr txBox="1"/>
          <p:nvPr/>
        </p:nvSpPr>
        <p:spPr>
          <a:xfrm>
            <a:off x="4572000" y="2313432"/>
            <a:ext cx="3108960" cy="292608"/>
          </a:xfrm>
          <a:prstGeom prst="rect">
            <a:avLst/>
          </a:prstGeom>
          <a:noFill/>
          <a:ln/>
        </p:spPr>
        <p:txBody>
          <a:bodyPr wrap="square" lIns="0" tIns="0" rIns="0" bIns="0" rtlCol="0" anchor="t"/>
          <a:lstStyle/>
          <a:p>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more doping → higher V</a:t>
            </a:r>
            <a:pPr algn="l"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T</a:t>
            </a:r>
            <a:endParaRPr lang="en-US" sz="1300" dirty="0"/>
          </a:p>
        </p:txBody>
      </p:sp>
      <p:sp>
        <p:nvSpPr>
          <p:cNvPr id="17" name="Text 15"/>
          <p:cNvSpPr txBox="1"/>
          <p:nvPr/>
        </p:nvSpPr>
        <p:spPr>
          <a:xfrm>
            <a:off x="4572000" y="2624328"/>
            <a:ext cx="3108960" cy="54864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Our wire is light: 10¹⁶ cm⁻³.</a:t>
            </a:r>
            <a:endParaRPr lang="en-US" sz="1200" dirty="0"/>
          </a:p>
        </p:txBody>
      </p:sp>
      <p:sp>
        <p:nvSpPr>
          <p:cNvPr id="18" name="Shape 16"/>
          <p:cNvSpPr/>
          <p:nvPr/>
        </p:nvSpPr>
        <p:spPr>
          <a:xfrm>
            <a:off x="8046720" y="1508760"/>
            <a:ext cx="3520440" cy="1783080"/>
          </a:xfrm>
          <a:prstGeom prst="roundRect">
            <a:avLst>
              <a:gd name="adj" fmla="val 4103"/>
            </a:avLst>
          </a:prstGeom>
          <a:solidFill>
            <a:srgbClr val="F4F5F7"/>
          </a:solidFill>
          <a:ln/>
        </p:spPr>
      </p:sp>
      <p:sp>
        <p:nvSpPr>
          <p:cNvPr id="19" name="Shape 17"/>
          <p:cNvSpPr/>
          <p:nvPr/>
        </p:nvSpPr>
        <p:spPr>
          <a:xfrm>
            <a:off x="8238744" y="1700784"/>
            <a:ext cx="438912" cy="438912"/>
          </a:xfrm>
          <a:prstGeom prst="ellipse">
            <a:avLst/>
          </a:prstGeom>
          <a:solidFill>
            <a:srgbClr val="D64545"/>
          </a:solidFill>
          <a:ln/>
        </p:spPr>
      </p:sp>
      <p:sp>
        <p:nvSpPr>
          <p:cNvPr id="20" name="Text 18"/>
          <p:cNvSpPr txBox="1"/>
          <p:nvPr/>
        </p:nvSpPr>
        <p:spPr>
          <a:xfrm>
            <a:off x="8238744" y="1700784"/>
            <a:ext cx="438912" cy="43891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pitchFamily="34" charset="0"/>
                <a:ea typeface="Segoe UI" pitchFamily="34" charset="-122"/>
                <a:cs typeface="Segoe UI" pitchFamily="34" charset="-120"/>
              </a:rPr>
              <a:t>▼</a:t>
            </a:r>
            <a:endParaRPr lang="en-US" sz="1400" dirty="0"/>
          </a:p>
        </p:txBody>
      </p:sp>
      <p:sp>
        <p:nvSpPr>
          <p:cNvPr id="21" name="Text 19"/>
          <p:cNvSpPr txBox="1"/>
          <p:nvPr/>
        </p:nvSpPr>
        <p:spPr>
          <a:xfrm>
            <a:off x="8759952" y="1764792"/>
            <a:ext cx="548640" cy="310896"/>
          </a:xfrm>
          <a:prstGeom prst="rect">
            <a:avLst/>
          </a:prstGeom>
          <a:noFill/>
          <a:ln/>
        </p:spPr>
        <p:txBody>
          <a:bodyPr wrap="square" lIns="0" tIns="0" rIns="0" bIns="0" rtlCol="0" anchor="ctr"/>
          <a:lstStyle/>
          <a:p>
            <a:pPr algn="l" indent="0" marL="0">
              <a:buNone/>
            </a:pPr>
            <a:r>
              <a:rPr lang="en-US" sz="1500" dirty="0">
                <a:solidFill>
                  <a:srgbClr val="D64545"/>
                </a:solidFill>
                <a:latin typeface="Segoe UI Semibold" pitchFamily="34" charset="0"/>
                <a:ea typeface="Segoe UI Semibold" pitchFamily="34" charset="-122"/>
                <a:cs typeface="Segoe UI Semibold" pitchFamily="34" charset="-120"/>
              </a:rPr>
              <a:t>V</a:t>
            </a:r>
            <a:pPr algn="l" indent="0" marL="0">
              <a:buNone/>
            </a:pPr>
            <a:r>
              <a:rPr lang="en-US" sz="1500" baseline="-40000" dirty="0">
                <a:solidFill>
                  <a:srgbClr val="D64545"/>
                </a:solidFill>
                <a:latin typeface="Segoe UI Semibold" pitchFamily="34" charset="0"/>
                <a:ea typeface="Segoe UI Semibold" pitchFamily="34" charset="-122"/>
                <a:cs typeface="Segoe UI Semibold" pitchFamily="34" charset="-120"/>
              </a:rPr>
              <a:t>T</a:t>
            </a:r>
            <a:endParaRPr lang="en-US" sz="1500" dirty="0"/>
          </a:p>
        </p:txBody>
      </p:sp>
      <p:sp>
        <p:nvSpPr>
          <p:cNvPr id="22" name="Text 20"/>
          <p:cNvSpPr txBox="1"/>
          <p:nvPr/>
        </p:nvSpPr>
        <p:spPr>
          <a:xfrm>
            <a:off x="9235440" y="1764792"/>
            <a:ext cx="2240280" cy="310896"/>
          </a:xfrm>
          <a:prstGeom prst="rect">
            <a:avLst/>
          </a:prstGeom>
          <a:noFill/>
          <a:ln/>
        </p:spPr>
        <p:txBody>
          <a:bodyPr wrap="square" lIns="0" tIns="0" rIns="0" bIns="0" rtlCol="0" anchor="ctr"/>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Temperature (self-heating)</a:t>
            </a:r>
            <a:endParaRPr lang="en-US" sz="1400" dirty="0"/>
          </a:p>
        </p:txBody>
      </p:sp>
      <p:sp>
        <p:nvSpPr>
          <p:cNvPr id="23" name="Text 21"/>
          <p:cNvSpPr txBox="1"/>
          <p:nvPr/>
        </p:nvSpPr>
        <p:spPr>
          <a:xfrm>
            <a:off x="8321040" y="2313432"/>
            <a:ext cx="3108960" cy="292608"/>
          </a:xfrm>
          <a:prstGeom prst="rect">
            <a:avLst/>
          </a:prstGeom>
          <a:noFill/>
          <a:ln/>
        </p:spPr>
        <p:txBody>
          <a:bodyPr wrap="square" lIns="0" tIns="0" rIns="0" bIns="0" rtlCol="0" anchor="t"/>
          <a:lstStyle/>
          <a:p>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 −1.6 mV/K (planar estimate)</a:t>
            </a:r>
            <a:endParaRPr lang="en-US" sz="1300" dirty="0"/>
          </a:p>
        </p:txBody>
      </p:sp>
      <p:sp>
        <p:nvSpPr>
          <p:cNvPr id="24" name="Text 22"/>
          <p:cNvSpPr txBox="1"/>
          <p:nvPr/>
        </p:nvSpPr>
        <p:spPr>
          <a:xfrm>
            <a:off x="8321040" y="2624328"/>
            <a:ext cx="3108960" cy="54864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300 → 343.6 K: V</a:t>
            </a:r>
            <a:pPr algn="l" indent="0" marL="0">
              <a:buNone/>
            </a:pPr>
            <a:r>
              <a:rPr lang="en-US" sz="1200" baseline="-40000" dirty="0">
                <a:solidFill>
                  <a:srgbClr val="5C5E62"/>
                </a:solidFill>
                <a:latin typeface="Segoe UI" pitchFamily="34" charset="0"/>
                <a:ea typeface="Segoe UI" pitchFamily="34" charset="-122"/>
                <a:cs typeface="Segoe UI" pitchFamily="34" charset="-120"/>
              </a:rPr>
              <a:t>T</a:t>
            </a:r>
            <a:pPr algn="l" indent="0" marL="0">
              <a:buNone/>
            </a:pPr>
            <a:r>
              <a:rPr lang="en-US" sz="1200" dirty="0">
                <a:solidFill>
                  <a:srgbClr val="5C5E62"/>
                </a:solidFill>
                <a:latin typeface="Segoe UI" pitchFamily="34" charset="0"/>
                <a:ea typeface="Segoe UI" pitchFamily="34" charset="-122"/>
                <a:cs typeface="Segoe UI" pitchFamily="34" charset="-120"/>
              </a:rPr>
              <a:t> falls, I</a:t>
            </a:r>
            <a:pPr algn="l" indent="0" marL="0">
              <a:buNone/>
            </a:pPr>
            <a:r>
              <a:rPr lang="en-US" sz="1200" baseline="-40000" dirty="0">
                <a:solidFill>
                  <a:srgbClr val="5C5E62"/>
                </a:solidFill>
                <a:latin typeface="Segoe UI" pitchFamily="34" charset="0"/>
                <a:ea typeface="Segoe UI" pitchFamily="34" charset="-122"/>
                <a:cs typeface="Segoe UI" pitchFamily="34" charset="-120"/>
              </a:rPr>
              <a:t>off</a:t>
            </a:r>
            <a:pPr algn="l" indent="0" marL="0">
              <a:buNone/>
            </a:pPr>
            <a:r>
              <a:rPr lang="en-US" sz="1200" dirty="0">
                <a:solidFill>
                  <a:srgbClr val="5C5E62"/>
                </a:solidFill>
                <a:latin typeface="Segoe UI" pitchFamily="34" charset="0"/>
                <a:ea typeface="Segoe UI" pitchFamily="34" charset="-122"/>
                <a:cs typeface="Segoe UI" pitchFamily="34" charset="-120"/>
              </a:rPr>
              <a:t> rises.</a:t>
            </a:r>
            <a:endParaRPr lang="en-US" sz="1200" dirty="0"/>
          </a:p>
        </p:txBody>
      </p:sp>
      <p:sp>
        <p:nvSpPr>
          <p:cNvPr id="25" name="Shape 23"/>
          <p:cNvSpPr/>
          <p:nvPr/>
        </p:nvSpPr>
        <p:spPr>
          <a:xfrm>
            <a:off x="548640" y="3474720"/>
            <a:ext cx="3520440" cy="1783080"/>
          </a:xfrm>
          <a:prstGeom prst="roundRect">
            <a:avLst>
              <a:gd name="adj" fmla="val 4103"/>
            </a:avLst>
          </a:prstGeom>
          <a:solidFill>
            <a:srgbClr val="F4F5F7"/>
          </a:solidFill>
          <a:ln/>
        </p:spPr>
      </p:sp>
      <p:sp>
        <p:nvSpPr>
          <p:cNvPr id="26" name="Shape 24"/>
          <p:cNvSpPr/>
          <p:nvPr/>
        </p:nvSpPr>
        <p:spPr>
          <a:xfrm>
            <a:off x="740664" y="3666744"/>
            <a:ext cx="438912" cy="438912"/>
          </a:xfrm>
          <a:prstGeom prst="ellipse">
            <a:avLst/>
          </a:prstGeom>
          <a:solidFill>
            <a:srgbClr val="D64545"/>
          </a:solidFill>
          <a:ln/>
        </p:spPr>
      </p:sp>
      <p:sp>
        <p:nvSpPr>
          <p:cNvPr id="27" name="Text 25"/>
          <p:cNvSpPr txBox="1"/>
          <p:nvPr/>
        </p:nvSpPr>
        <p:spPr>
          <a:xfrm>
            <a:off x="740664" y="3666744"/>
            <a:ext cx="438912" cy="43891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pitchFamily="34" charset="0"/>
                <a:ea typeface="Segoe UI" pitchFamily="34" charset="-122"/>
                <a:cs typeface="Segoe UI" pitchFamily="34" charset="-120"/>
              </a:rPr>
              <a:t>▼</a:t>
            </a:r>
            <a:endParaRPr lang="en-US" sz="1400" dirty="0"/>
          </a:p>
        </p:txBody>
      </p:sp>
      <p:sp>
        <p:nvSpPr>
          <p:cNvPr id="28" name="Text 26"/>
          <p:cNvSpPr txBox="1"/>
          <p:nvPr/>
        </p:nvSpPr>
        <p:spPr>
          <a:xfrm>
            <a:off x="1261872" y="3730752"/>
            <a:ext cx="548640" cy="310896"/>
          </a:xfrm>
          <a:prstGeom prst="rect">
            <a:avLst/>
          </a:prstGeom>
          <a:noFill/>
          <a:ln/>
        </p:spPr>
        <p:txBody>
          <a:bodyPr wrap="square" lIns="0" tIns="0" rIns="0" bIns="0" rtlCol="0" anchor="ctr"/>
          <a:lstStyle/>
          <a:p>
            <a:pPr algn="l" indent="0" marL="0">
              <a:buNone/>
            </a:pPr>
            <a:r>
              <a:rPr lang="en-US" sz="1500" dirty="0">
                <a:solidFill>
                  <a:srgbClr val="D64545"/>
                </a:solidFill>
                <a:latin typeface="Segoe UI Semibold" pitchFamily="34" charset="0"/>
                <a:ea typeface="Segoe UI Semibold" pitchFamily="34" charset="-122"/>
                <a:cs typeface="Segoe UI Semibold" pitchFamily="34" charset="-120"/>
              </a:rPr>
              <a:t>V</a:t>
            </a:r>
            <a:pPr algn="l" indent="0" marL="0">
              <a:buNone/>
            </a:pPr>
            <a:r>
              <a:rPr lang="en-US" sz="1500" baseline="-40000" dirty="0">
                <a:solidFill>
                  <a:srgbClr val="D64545"/>
                </a:solidFill>
                <a:latin typeface="Segoe UI Semibold" pitchFamily="34" charset="0"/>
                <a:ea typeface="Segoe UI Semibold" pitchFamily="34" charset="-122"/>
                <a:cs typeface="Segoe UI Semibold" pitchFamily="34" charset="-120"/>
              </a:rPr>
              <a:t>T</a:t>
            </a:r>
            <a:endParaRPr lang="en-US" sz="1500" dirty="0"/>
          </a:p>
        </p:txBody>
      </p:sp>
      <p:sp>
        <p:nvSpPr>
          <p:cNvPr id="29" name="Text 27"/>
          <p:cNvSpPr txBox="1"/>
          <p:nvPr/>
        </p:nvSpPr>
        <p:spPr>
          <a:xfrm>
            <a:off x="1737360" y="3730752"/>
            <a:ext cx="2240280" cy="310896"/>
          </a:xfrm>
          <a:prstGeom prst="rect">
            <a:avLst/>
          </a:prstGeom>
          <a:noFill/>
          <a:ln/>
        </p:spPr>
        <p:txBody>
          <a:bodyPr wrap="square" lIns="0" tIns="0" rIns="0" bIns="0" rtlCol="0" anchor="ctr"/>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Drain voltage (DIBL)</a:t>
            </a:r>
            <a:endParaRPr lang="en-US" sz="1400" dirty="0"/>
          </a:p>
        </p:txBody>
      </p:sp>
      <p:sp>
        <p:nvSpPr>
          <p:cNvPr id="30" name="Text 28"/>
          <p:cNvSpPr txBox="1"/>
          <p:nvPr/>
        </p:nvSpPr>
        <p:spPr>
          <a:xfrm>
            <a:off x="822960" y="4279392"/>
            <a:ext cx="3108960" cy="292608"/>
          </a:xfrm>
          <a:prstGeom prst="rect">
            <a:avLst/>
          </a:prstGeom>
          <a:noFill/>
          <a:ln/>
        </p:spPr>
        <p:txBody>
          <a:bodyPr wrap="square" lIns="0" tIns="0" rIns="0" bIns="0" rtlCol="0" anchor="t"/>
          <a:lstStyle/>
          <a:p>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−38 mV per V of V</a:t>
            </a:r>
            <a:pPr algn="l"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D</a:t>
            </a:r>
            <a:endParaRPr lang="en-US" sz="1300" dirty="0"/>
          </a:p>
        </p:txBody>
      </p:sp>
      <p:sp>
        <p:nvSpPr>
          <p:cNvPr id="31" name="Text 29"/>
          <p:cNvSpPr txBox="1"/>
          <p:nvPr/>
        </p:nvSpPr>
        <p:spPr>
          <a:xfrm>
            <a:off x="822960" y="4590288"/>
            <a:ext cx="3108960" cy="54864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Reproduced wire, from Atlas.</a:t>
            </a:r>
            <a:endParaRPr lang="en-US" sz="1200" dirty="0"/>
          </a:p>
        </p:txBody>
      </p:sp>
      <p:sp>
        <p:nvSpPr>
          <p:cNvPr id="32" name="Shape 30"/>
          <p:cNvSpPr/>
          <p:nvPr/>
        </p:nvSpPr>
        <p:spPr>
          <a:xfrm>
            <a:off x="4297680" y="3474720"/>
            <a:ext cx="3520440" cy="1783080"/>
          </a:xfrm>
          <a:prstGeom prst="roundRect">
            <a:avLst>
              <a:gd name="adj" fmla="val 4103"/>
            </a:avLst>
          </a:prstGeom>
          <a:solidFill>
            <a:srgbClr val="F4F5F7"/>
          </a:solidFill>
          <a:ln/>
        </p:spPr>
      </p:sp>
      <p:sp>
        <p:nvSpPr>
          <p:cNvPr id="33" name="Shape 31"/>
          <p:cNvSpPr/>
          <p:nvPr/>
        </p:nvSpPr>
        <p:spPr>
          <a:xfrm>
            <a:off x="4489704" y="3666744"/>
            <a:ext cx="438912" cy="438912"/>
          </a:xfrm>
          <a:prstGeom prst="ellipse">
            <a:avLst/>
          </a:prstGeom>
          <a:solidFill>
            <a:srgbClr val="D64545"/>
          </a:solidFill>
          <a:ln/>
        </p:spPr>
      </p:sp>
      <p:sp>
        <p:nvSpPr>
          <p:cNvPr id="34" name="Text 32"/>
          <p:cNvSpPr txBox="1"/>
          <p:nvPr/>
        </p:nvSpPr>
        <p:spPr>
          <a:xfrm>
            <a:off x="4489704" y="3666744"/>
            <a:ext cx="438912" cy="438912"/>
          </a:xfrm>
          <a:prstGeom prst="rect">
            <a:avLst/>
          </a:prstGeom>
          <a:noFill/>
          <a:ln/>
        </p:spPr>
        <p:txBody>
          <a:bodyPr wrap="square" lIns="0" tIns="0" rIns="0" bIns="0" rtlCol="0" anchor="ctr"/>
          <a:lstStyle/>
          <a:p>
            <a:pPr algn="ctr" indent="0" marL="0">
              <a:buNone/>
            </a:pPr>
            <a:r>
              <a:rPr lang="en-US" sz="1400" dirty="0">
                <a:solidFill>
                  <a:srgbClr val="FFFFFF"/>
                </a:solidFill>
                <a:latin typeface="Segoe UI" pitchFamily="34" charset="0"/>
                <a:ea typeface="Segoe UI" pitchFamily="34" charset="-122"/>
                <a:cs typeface="Segoe UI" pitchFamily="34" charset="-120"/>
              </a:rPr>
              <a:t>▼</a:t>
            </a:r>
            <a:endParaRPr lang="en-US" sz="1400" dirty="0"/>
          </a:p>
        </p:txBody>
      </p:sp>
      <p:sp>
        <p:nvSpPr>
          <p:cNvPr id="35" name="Text 33"/>
          <p:cNvSpPr txBox="1"/>
          <p:nvPr/>
        </p:nvSpPr>
        <p:spPr>
          <a:xfrm>
            <a:off x="5010912" y="3730752"/>
            <a:ext cx="548640" cy="310896"/>
          </a:xfrm>
          <a:prstGeom prst="rect">
            <a:avLst/>
          </a:prstGeom>
          <a:noFill/>
          <a:ln/>
        </p:spPr>
        <p:txBody>
          <a:bodyPr wrap="square" lIns="0" tIns="0" rIns="0" bIns="0" rtlCol="0" anchor="ctr"/>
          <a:lstStyle/>
          <a:p>
            <a:pPr algn="l" indent="0" marL="0">
              <a:buNone/>
            </a:pPr>
            <a:r>
              <a:rPr lang="en-US" sz="1500" dirty="0">
                <a:solidFill>
                  <a:srgbClr val="D64545"/>
                </a:solidFill>
                <a:latin typeface="Segoe UI Semibold" pitchFamily="34" charset="0"/>
                <a:ea typeface="Segoe UI Semibold" pitchFamily="34" charset="-122"/>
                <a:cs typeface="Segoe UI Semibold" pitchFamily="34" charset="-120"/>
              </a:rPr>
              <a:t>V</a:t>
            </a:r>
            <a:pPr algn="l" indent="0" marL="0">
              <a:buNone/>
            </a:pPr>
            <a:r>
              <a:rPr lang="en-US" sz="1500" baseline="-40000" dirty="0">
                <a:solidFill>
                  <a:srgbClr val="D64545"/>
                </a:solidFill>
                <a:latin typeface="Segoe UI Semibold" pitchFamily="34" charset="0"/>
                <a:ea typeface="Segoe UI Semibold" pitchFamily="34" charset="-122"/>
                <a:cs typeface="Segoe UI Semibold" pitchFamily="34" charset="-120"/>
              </a:rPr>
              <a:t>T</a:t>
            </a:r>
            <a:endParaRPr lang="en-US" sz="1500" dirty="0"/>
          </a:p>
        </p:txBody>
      </p:sp>
      <p:sp>
        <p:nvSpPr>
          <p:cNvPr id="36" name="Text 34"/>
          <p:cNvSpPr txBox="1"/>
          <p:nvPr/>
        </p:nvSpPr>
        <p:spPr>
          <a:xfrm>
            <a:off x="5486400" y="3730752"/>
            <a:ext cx="2240280" cy="310896"/>
          </a:xfrm>
          <a:prstGeom prst="rect">
            <a:avLst/>
          </a:prstGeom>
          <a:noFill/>
          <a:ln/>
        </p:spPr>
        <p:txBody>
          <a:bodyPr wrap="square" lIns="0" tIns="0" rIns="0" bIns="0" rtlCol="0" anchor="ctr"/>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Wire radius r</a:t>
            </a:r>
            <a:endParaRPr lang="en-US" sz="1400" dirty="0"/>
          </a:p>
        </p:txBody>
      </p:sp>
      <p:sp>
        <p:nvSpPr>
          <p:cNvPr id="37" name="Text 35"/>
          <p:cNvSpPr txBox="1"/>
          <p:nvPr/>
        </p:nvSpPr>
        <p:spPr>
          <a:xfrm>
            <a:off x="4572000" y="4279392"/>
            <a:ext cx="3108960" cy="292608"/>
          </a:xfrm>
          <a:prstGeom prst="rect">
            <a:avLst/>
          </a:prstGeom>
          <a:noFill/>
          <a:ln/>
        </p:spPr>
        <p:txBody>
          <a:bodyPr wrap="square" lIns="0" tIns="0" rIns="0" bIns="0" rtlCol="0" anchor="t"/>
          <a:lstStyle/>
          <a:p>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thicker wire → weaker grip</a:t>
            </a:r>
            <a:endParaRPr lang="en-US" sz="1300" dirty="0"/>
          </a:p>
        </p:txBody>
      </p:sp>
      <p:sp>
        <p:nvSpPr>
          <p:cNvPr id="38" name="Text 36"/>
          <p:cNvSpPr txBox="1"/>
          <p:nvPr/>
        </p:nvSpPr>
        <p:spPr>
          <a:xfrm>
            <a:off x="4572000" y="4590288"/>
            <a:ext cx="3108960" cy="54864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r 4 → 5.64 nm: DIBL 17 → 38 mV/V.</a:t>
            </a:r>
            <a:endParaRPr lang="en-US" sz="1200" dirty="0"/>
          </a:p>
        </p:txBody>
      </p:sp>
      <p:sp>
        <p:nvSpPr>
          <p:cNvPr id="39" name="Shape 37"/>
          <p:cNvSpPr/>
          <p:nvPr/>
        </p:nvSpPr>
        <p:spPr>
          <a:xfrm>
            <a:off x="8046720" y="3474720"/>
            <a:ext cx="3593592" cy="1783080"/>
          </a:xfrm>
          <a:prstGeom prst="roundRect">
            <a:avLst>
              <a:gd name="adj" fmla="val 4103"/>
            </a:avLst>
          </a:prstGeom>
          <a:solidFill>
            <a:srgbClr val="171A20"/>
          </a:solidFill>
          <a:ln/>
        </p:spPr>
      </p:sp>
      <p:sp>
        <p:nvSpPr>
          <p:cNvPr id="40" name="Text 38"/>
          <p:cNvSpPr txBox="1"/>
          <p:nvPr/>
        </p:nvSpPr>
        <p:spPr>
          <a:xfrm>
            <a:off x="8321040" y="3657600"/>
            <a:ext cx="3108960" cy="292608"/>
          </a:xfrm>
          <a:prstGeom prst="rect">
            <a:avLst/>
          </a:prstGeom>
          <a:noFill/>
          <a:ln/>
        </p:spPr>
        <p:txBody>
          <a:bodyPr wrap="square" lIns="0" tIns="0" rIns="0" bIns="0" rtlCol="0" anchor="t"/>
          <a:lstStyle/>
          <a:p>
            <a:pPr algn="l" indent="0" marL="0">
              <a:buNone/>
            </a:pPr>
            <a:r>
              <a:rPr lang="en-US" sz="1400" dirty="0">
                <a:solidFill>
                  <a:srgbClr val="FFFFFF"/>
                </a:solidFill>
                <a:latin typeface="Segoe UI Semibold" pitchFamily="34" charset="0"/>
                <a:ea typeface="Segoe UI Semibold" pitchFamily="34" charset="-122"/>
                <a:cs typeface="Segoe UI Semibold" pitchFamily="34" charset="-120"/>
              </a:rPr>
              <a:t>For our project</a:t>
            </a:r>
            <a:endParaRPr lang="en-US" sz="1400" dirty="0"/>
          </a:p>
        </p:txBody>
      </p:sp>
      <p:sp>
        <p:nvSpPr>
          <p:cNvPr id="41" name="Text 39"/>
          <p:cNvSpPr txBox="1"/>
          <p:nvPr/>
        </p:nvSpPr>
        <p:spPr>
          <a:xfrm>
            <a:off x="8321040" y="4005072"/>
            <a:ext cx="3108960" cy="1143000"/>
          </a:xfrm>
          <a:prstGeom prst="rect">
            <a:avLst/>
          </a:prstGeom>
          <a:noFill/>
          <a:ln/>
        </p:spPr>
        <p:txBody>
          <a:bodyPr wrap="square" lIns="0" tIns="0" rIns="0" bIns="0" rtlCol="0" anchor="t"/>
          <a:lstStyle/>
          <a:p>
            <a:pPr algn="l" indent="0" marL="0">
              <a:buNone/>
            </a:pPr>
            <a:r>
              <a:rPr lang="en-US" sz="1200" dirty="0">
                <a:solidFill>
                  <a:srgbClr val="D9DBE0"/>
                </a:solidFill>
                <a:latin typeface="Segoe UI" pitchFamily="34" charset="0"/>
                <a:ea typeface="Segoe UI" pitchFamily="34" charset="-122"/>
                <a:cs typeface="Segoe UI" pitchFamily="34" charset="-120"/>
              </a:rPr>
              <a:t>Stage 3 raises φm a little (+30 mV V</a:t>
            </a:r>
            <a:pPr algn="l" indent="0" marL="0">
              <a:buNone/>
            </a:pPr>
            <a:r>
              <a:rPr lang="en-US" sz="1200" baseline="-40000" dirty="0">
                <a:solidFill>
                  <a:srgbClr val="D9DBE0"/>
                </a:solidFill>
                <a:latin typeface="Segoe UI" pitchFamily="34" charset="0"/>
                <a:ea typeface="Segoe UI" pitchFamily="34" charset="-122"/>
                <a:cs typeface="Segoe UI" pitchFamily="34" charset="-120"/>
              </a:rPr>
              <a:t>T</a:t>
            </a:r>
            <a:pPr algn="l" indent="0" marL="0">
              <a:buNone/>
            </a:pPr>
            <a:r>
              <a:rPr lang="en-US" sz="1200" dirty="0">
                <a:solidFill>
                  <a:srgbClr val="D9DBE0"/>
                </a:solidFill>
                <a:latin typeface="Segoe UI" pitchFamily="34" charset="0"/>
                <a:ea typeface="Segoe UI" pitchFamily="34" charset="-122"/>
                <a:cs typeface="Segoe UI" pitchFamily="34" charset="-120"/>
              </a:rPr>
              <a:t>) to cut I</a:t>
            </a:r>
            <a:pPr algn="l" indent="0" marL="0">
              <a:buNone/>
            </a:pPr>
            <a:r>
              <a:rPr lang="en-US" sz="1200" baseline="-40000" dirty="0">
                <a:solidFill>
                  <a:srgbClr val="D9DBE0"/>
                </a:solidFill>
                <a:latin typeface="Segoe UI" pitchFamily="34" charset="0"/>
                <a:ea typeface="Segoe UI" pitchFamily="34" charset="-122"/>
                <a:cs typeface="Segoe UI" pitchFamily="34" charset="-120"/>
              </a:rPr>
              <a:t>off</a:t>
            </a:r>
            <a:pPr algn="l" indent="0" marL="0">
              <a:buNone/>
            </a:pPr>
            <a:r>
              <a:rPr lang="en-US" sz="1200" dirty="0">
                <a:solidFill>
                  <a:srgbClr val="D9DBE0"/>
                </a:solidFill>
                <a:latin typeface="Segoe UI" pitchFamily="34" charset="0"/>
                <a:ea typeface="Segoe UI" pitchFamily="34" charset="-122"/>
                <a:cs typeface="Segoe UI" pitchFamily="34" charset="-120"/>
              </a:rPr>
              <a:t> and power P, so less heat. A cooler channel then keeps V</a:t>
            </a:r>
            <a:pPr algn="l" indent="0" marL="0">
              <a:buNone/>
            </a:pPr>
            <a:r>
              <a:rPr lang="en-US" sz="1200" baseline="-40000" dirty="0">
                <a:solidFill>
                  <a:srgbClr val="D9DBE0"/>
                </a:solidFill>
                <a:latin typeface="Segoe UI" pitchFamily="34" charset="0"/>
                <a:ea typeface="Segoe UI" pitchFamily="34" charset="-122"/>
                <a:cs typeface="Segoe UI" pitchFamily="34" charset="-120"/>
              </a:rPr>
              <a:t>T</a:t>
            </a:r>
            <a:pPr algn="l" indent="0" marL="0">
              <a:buNone/>
            </a:pPr>
            <a:r>
              <a:rPr lang="en-US" sz="1200" dirty="0">
                <a:solidFill>
                  <a:srgbClr val="D9DBE0"/>
                </a:solidFill>
                <a:latin typeface="Segoe UI" pitchFamily="34" charset="0"/>
                <a:ea typeface="Segoe UI" pitchFamily="34" charset="-122"/>
                <a:cs typeface="Segoe UI" pitchFamily="34" charset="-120"/>
              </a:rPr>
              <a:t> stable.</a:t>
            </a:r>
            <a:endParaRPr lang="en-US" sz="1200" dirty="0"/>
          </a:p>
        </p:txBody>
      </p:sp>
      <p:sp>
        <p:nvSpPr>
          <p:cNvPr id="42"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Work function is our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T</a:t>
            </a:r>
            <a:pPr algn="ctr" indent="0" marL="0">
              <a:buNone/>
            </a:pPr>
            <a:r>
              <a:rPr lang="en-US" sz="1600" dirty="0">
                <a:solidFill>
                  <a:srgbClr val="171A20"/>
                </a:solidFill>
                <a:latin typeface="Segoe UI" pitchFamily="34" charset="0"/>
                <a:ea typeface="Segoe UI" pitchFamily="34" charset="-122"/>
                <a:cs typeface="Segoe UI" pitchFamily="34" charset="-120"/>
              </a:rPr>
              <a:t> knob; heat and DIBL pull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T</a:t>
            </a:r>
            <a:pPr algn="ctr" indent="0" marL="0">
              <a:buNone/>
            </a:pPr>
            <a:r>
              <a:rPr lang="en-US" sz="1600" dirty="0">
                <a:solidFill>
                  <a:srgbClr val="171A20"/>
                </a:solidFill>
                <a:latin typeface="Segoe UI" pitchFamily="34" charset="0"/>
                <a:ea typeface="Segoe UI" pitchFamily="34" charset="-122"/>
                <a:cs typeface="Segoe UI" pitchFamily="34" charset="-120"/>
              </a:rPr>
              <a:t> down and raise leakage.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Why SS can never beat 60 mV/dec</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Two facts give the limit: the barrier rule and a capacitor divider</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E2E3E3"/>
          </a:solidFill>
          <a:ln/>
        </p:spPr>
      </p:sp>
      <p:sp>
        <p:nvSpPr>
          <p:cNvPr id="6" name="!!sdot2"/>
          <p:cNvSpPr/>
          <p:nvPr/>
        </p:nvSpPr>
        <p:spPr>
          <a:xfrm>
            <a:off x="11443716" y="525780"/>
            <a:ext cx="82296" cy="82296"/>
          </a:xfrm>
          <a:prstGeom prst="ellipse">
            <a:avLst/>
          </a:prstGeom>
          <a:solidFill>
            <a:srgbClr val="E2E3E3"/>
          </a:solidFill>
          <a:ln/>
        </p:spPr>
      </p:sp>
      <p:sp>
        <p:nvSpPr>
          <p:cNvPr id="7" name="!!sdot3"/>
          <p:cNvSpPr/>
          <p:nvPr/>
        </p:nvSpPr>
        <p:spPr>
          <a:xfrm>
            <a:off x="11599164" y="525780"/>
            <a:ext cx="82296" cy="82296"/>
          </a:xfrm>
          <a:prstGeom prst="ellipse">
            <a:avLst/>
          </a:prstGeom>
          <a:solidFill>
            <a:srgbClr val="E2E3E3"/>
          </a:solidFill>
          <a:ln/>
        </p:spPr>
      </p:sp>
      <p:sp>
        <p:nvSpPr>
          <p:cNvPr id="8" name="!!spG"/>
          <p:cNvSpPr/>
          <p:nvPr/>
        </p:nvSpPr>
        <p:spPr>
          <a:xfrm>
            <a:off x="1371600" y="1554480"/>
            <a:ext cx="2011680" cy="411480"/>
          </a:xfrm>
          <a:prstGeom prst="roundRect">
            <a:avLst>
              <a:gd name="adj" fmla="val 11111"/>
            </a:avLst>
          </a:prstGeom>
          <a:solidFill>
            <a:srgbClr val="B3A6E6"/>
          </a:solidFill>
          <a:ln/>
        </p:spPr>
      </p:sp>
      <p:sp>
        <p:nvSpPr>
          <p:cNvPr id="9" name="!!spGl"/>
          <p:cNvSpPr txBox="1"/>
          <p:nvPr/>
        </p:nvSpPr>
        <p:spPr>
          <a:xfrm>
            <a:off x="1371600" y="1554480"/>
            <a:ext cx="2011680" cy="411480"/>
          </a:xfrm>
          <a:prstGeom prst="rect">
            <a:avLst/>
          </a:prstGeom>
          <a:noFill/>
          <a:ln/>
        </p:spPr>
        <p:txBody>
          <a:bodyPr wrap="square" lIns="0" tIns="0" rIns="0" bIns="0" rtlCol="0" anchor="ctr"/>
          <a:lstStyle/>
          <a:p>
            <a:pPr algn="ctr" indent="0" marL="0">
              <a:buNone/>
            </a:pPr>
            <a:r>
              <a:rPr lang="en-US" sz="1300" dirty="0">
                <a:solidFill>
                  <a:srgbClr val="3D2F7A"/>
                </a:solidFill>
                <a:latin typeface="Segoe UI Semibold" pitchFamily="34" charset="0"/>
                <a:ea typeface="Segoe UI Semibold" pitchFamily="34" charset="-122"/>
                <a:cs typeface="Segoe UI Semibold" pitchFamily="34" charset="-120"/>
              </a:rPr>
              <a:t>gate  V</a:t>
            </a:r>
            <a:pPr algn="ctr" indent="0" marL="0">
              <a:buNone/>
            </a:pPr>
            <a:r>
              <a:rPr lang="en-US" sz="1300" baseline="-40000" dirty="0">
                <a:solidFill>
                  <a:srgbClr val="3D2F7A"/>
                </a:solidFill>
                <a:latin typeface="Segoe UI Semibold" pitchFamily="34" charset="0"/>
                <a:ea typeface="Segoe UI Semibold" pitchFamily="34" charset="-122"/>
                <a:cs typeface="Segoe UI Semibold" pitchFamily="34" charset="-120"/>
              </a:rPr>
              <a:t>G</a:t>
            </a:r>
            <a:endParaRPr lang="en-US" sz="1300" dirty="0"/>
          </a:p>
        </p:txBody>
      </p:sp>
      <p:sp>
        <p:nvSpPr>
          <p:cNvPr id="10" name="!!spW1"/>
          <p:cNvSpPr/>
          <p:nvPr/>
        </p:nvSpPr>
        <p:spPr>
          <a:xfrm>
            <a:off x="2377440" y="1965960"/>
            <a:ext cx="91" cy="365760"/>
          </a:xfrm>
          <a:prstGeom prst="line">
            <a:avLst/>
          </a:prstGeom>
          <a:noFill/>
          <a:ln w="25400">
            <a:solidFill>
              <a:srgbClr val="171A20"/>
            </a:solidFill>
            <a:prstDash val="solid"/>
          </a:ln>
        </p:spPr>
      </p:sp>
      <p:sp>
        <p:nvSpPr>
          <p:cNvPr id="11" name="!!spC1a"/>
          <p:cNvSpPr/>
          <p:nvPr/>
        </p:nvSpPr>
        <p:spPr>
          <a:xfrm>
            <a:off x="1828800" y="2331720"/>
            <a:ext cx="1097280" cy="91"/>
          </a:xfrm>
          <a:prstGeom prst="line">
            <a:avLst/>
          </a:prstGeom>
          <a:noFill/>
          <a:ln w="38100">
            <a:solidFill>
              <a:srgbClr val="171A20"/>
            </a:solidFill>
            <a:prstDash val="solid"/>
          </a:ln>
        </p:spPr>
      </p:sp>
      <p:sp>
        <p:nvSpPr>
          <p:cNvPr id="12" name="!!spC1b"/>
          <p:cNvSpPr/>
          <p:nvPr/>
        </p:nvSpPr>
        <p:spPr>
          <a:xfrm>
            <a:off x="1828800" y="2487168"/>
            <a:ext cx="1097280" cy="91"/>
          </a:xfrm>
          <a:prstGeom prst="line">
            <a:avLst/>
          </a:prstGeom>
          <a:noFill/>
          <a:ln w="38100">
            <a:solidFill>
              <a:srgbClr val="171A20"/>
            </a:solidFill>
            <a:prstDash val="solid"/>
          </a:ln>
        </p:spPr>
      </p:sp>
      <p:sp>
        <p:nvSpPr>
          <p:cNvPr id="13" name="!!spC1l"/>
          <p:cNvSpPr txBox="1"/>
          <p:nvPr/>
        </p:nvSpPr>
        <p:spPr>
          <a:xfrm>
            <a:off x="3063240" y="2286000"/>
            <a:ext cx="1828800" cy="256032"/>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a:t>
            </a:r>
            <a:pPr algn="l" indent="0" marL="0">
              <a:buNone/>
            </a:pPr>
            <a:r>
              <a:rPr lang="en-US" sz="1200" baseline="-40000" dirty="0">
                <a:solidFill>
                  <a:srgbClr val="5C5E62"/>
                </a:solidFill>
                <a:latin typeface="Segoe UI" pitchFamily="34" charset="0"/>
                <a:ea typeface="Segoe UI" pitchFamily="34" charset="-122"/>
                <a:cs typeface="Segoe UI" pitchFamily="34" charset="-120"/>
              </a:rPr>
              <a:t>ox</a:t>
            </a:r>
            <a:pPr algn="l" indent="0" marL="0">
              <a:buNone/>
            </a:pPr>
            <a:r>
              <a:rPr lang="en-US" sz="1200" dirty="0">
                <a:solidFill>
                  <a:srgbClr val="5C5E62"/>
                </a:solidFill>
                <a:latin typeface="Segoe UI" pitchFamily="34" charset="0"/>
                <a:ea typeface="Segoe UI" pitchFamily="34" charset="-122"/>
                <a:cs typeface="Segoe UI" pitchFamily="34" charset="-120"/>
              </a:rPr>
              <a:t> (gate oxide)</a:t>
            </a:r>
            <a:endParaRPr lang="en-US" sz="1200" dirty="0"/>
          </a:p>
        </p:txBody>
      </p:sp>
      <p:sp>
        <p:nvSpPr>
          <p:cNvPr id="14" name="!!spW2"/>
          <p:cNvSpPr/>
          <p:nvPr/>
        </p:nvSpPr>
        <p:spPr>
          <a:xfrm>
            <a:off x="2377440" y="2487168"/>
            <a:ext cx="91" cy="1124712"/>
          </a:xfrm>
          <a:prstGeom prst="line">
            <a:avLst/>
          </a:prstGeom>
          <a:noFill/>
          <a:ln w="25400">
            <a:solidFill>
              <a:srgbClr val="171A20"/>
            </a:solidFill>
            <a:prstDash val="solid"/>
          </a:ln>
        </p:spPr>
      </p:sp>
      <p:sp>
        <p:nvSpPr>
          <p:cNvPr id="15" name="!!spN"/>
          <p:cNvSpPr/>
          <p:nvPr/>
        </p:nvSpPr>
        <p:spPr>
          <a:xfrm>
            <a:off x="2267712" y="2862072"/>
            <a:ext cx="219456" cy="219456"/>
          </a:xfrm>
          <a:prstGeom prst="ellipse">
            <a:avLst/>
          </a:prstGeom>
          <a:solidFill>
            <a:srgbClr val="3E6AE1"/>
          </a:solidFill>
          <a:ln/>
        </p:spPr>
      </p:sp>
      <p:sp>
        <p:nvSpPr>
          <p:cNvPr id="16" name="!!spNl"/>
          <p:cNvSpPr txBox="1"/>
          <p:nvPr/>
        </p:nvSpPr>
        <p:spPr>
          <a:xfrm>
            <a:off x="2606040" y="2852928"/>
            <a:ext cx="2011680" cy="256032"/>
          </a:xfrm>
          <a:prstGeom prst="rect">
            <a:avLst/>
          </a:prstGeom>
          <a:noFill/>
          <a:ln/>
        </p:spPr>
        <p:txBody>
          <a:bodyPr wrap="square" lIns="0" tIns="0" rIns="0" bIns="0" rtlCol="0" anchor="t"/>
          <a:lstStyle/>
          <a:p>
            <a:pPr algn="l" indent="0" marL="0">
              <a:buNone/>
            </a:pPr>
            <a:r>
              <a:rPr lang="en-US" sz="1200" dirty="0">
                <a:solidFill>
                  <a:srgbClr val="3E6AE1"/>
                </a:solidFill>
                <a:latin typeface="Segoe UI Semibold" pitchFamily="34" charset="0"/>
                <a:ea typeface="Segoe UI Semibold" pitchFamily="34" charset="-122"/>
                <a:cs typeface="Segoe UI Semibold" pitchFamily="34" charset="-120"/>
              </a:rPr>
              <a:t>ψs  (hill height)</a:t>
            </a:r>
            <a:endParaRPr lang="en-US" sz="1200" dirty="0"/>
          </a:p>
        </p:txBody>
      </p:sp>
      <p:sp>
        <p:nvSpPr>
          <p:cNvPr id="17" name="!!spC2a"/>
          <p:cNvSpPr/>
          <p:nvPr/>
        </p:nvSpPr>
        <p:spPr>
          <a:xfrm>
            <a:off x="1828800" y="3611880"/>
            <a:ext cx="1097280" cy="91"/>
          </a:xfrm>
          <a:prstGeom prst="line">
            <a:avLst/>
          </a:prstGeom>
          <a:noFill/>
          <a:ln w="38100">
            <a:solidFill>
              <a:srgbClr val="171A20"/>
            </a:solidFill>
            <a:prstDash val="solid"/>
          </a:ln>
        </p:spPr>
      </p:sp>
      <p:sp>
        <p:nvSpPr>
          <p:cNvPr id="18" name="!!spC2b"/>
          <p:cNvSpPr/>
          <p:nvPr/>
        </p:nvSpPr>
        <p:spPr>
          <a:xfrm>
            <a:off x="1828800" y="3767328"/>
            <a:ext cx="1097280" cy="91"/>
          </a:xfrm>
          <a:prstGeom prst="line">
            <a:avLst/>
          </a:prstGeom>
          <a:noFill/>
          <a:ln w="38100">
            <a:solidFill>
              <a:srgbClr val="171A20"/>
            </a:solidFill>
            <a:prstDash val="solid"/>
          </a:ln>
        </p:spPr>
      </p:sp>
      <p:sp>
        <p:nvSpPr>
          <p:cNvPr id="19" name="!!spC2l"/>
          <p:cNvSpPr txBox="1"/>
          <p:nvPr/>
        </p:nvSpPr>
        <p:spPr>
          <a:xfrm>
            <a:off x="3063240" y="3566160"/>
            <a:ext cx="2011680" cy="256032"/>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a:t>
            </a:r>
            <a:pPr algn="l" indent="0" marL="0">
              <a:buNone/>
            </a:pPr>
            <a:r>
              <a:rPr lang="en-US" sz="1200" baseline="-40000" dirty="0">
                <a:solidFill>
                  <a:srgbClr val="5C5E62"/>
                </a:solidFill>
                <a:latin typeface="Segoe UI" pitchFamily="34" charset="0"/>
                <a:ea typeface="Segoe UI" pitchFamily="34" charset="-122"/>
                <a:cs typeface="Segoe UI" pitchFamily="34" charset="-120"/>
              </a:rPr>
              <a:t>dep</a:t>
            </a:r>
            <a:pPr algn="l" indent="0" marL="0">
              <a:buNone/>
            </a:pPr>
            <a:r>
              <a:rPr lang="en-US" sz="1200" dirty="0">
                <a:solidFill>
                  <a:srgbClr val="5C5E62"/>
                </a:solidFill>
                <a:latin typeface="Segoe UI" pitchFamily="34" charset="0"/>
                <a:ea typeface="Segoe UI" pitchFamily="34" charset="-122"/>
                <a:cs typeface="Segoe UI" pitchFamily="34" charset="-120"/>
              </a:rPr>
              <a:t> (depleted body)</a:t>
            </a:r>
            <a:endParaRPr lang="en-US" sz="1200" dirty="0"/>
          </a:p>
        </p:txBody>
      </p:sp>
      <p:sp>
        <p:nvSpPr>
          <p:cNvPr id="20" name="!!spW3"/>
          <p:cNvSpPr/>
          <p:nvPr/>
        </p:nvSpPr>
        <p:spPr>
          <a:xfrm>
            <a:off x="2377440" y="3767328"/>
            <a:ext cx="91" cy="347472"/>
          </a:xfrm>
          <a:prstGeom prst="line">
            <a:avLst/>
          </a:prstGeom>
          <a:noFill/>
          <a:ln w="25400">
            <a:solidFill>
              <a:srgbClr val="171A20"/>
            </a:solidFill>
            <a:prstDash val="solid"/>
          </a:ln>
        </p:spPr>
      </p:sp>
      <p:sp>
        <p:nvSpPr>
          <p:cNvPr id="21" name="!!spB"/>
          <p:cNvSpPr/>
          <p:nvPr/>
        </p:nvSpPr>
        <p:spPr>
          <a:xfrm>
            <a:off x="1371600" y="4114800"/>
            <a:ext cx="2011680" cy="365760"/>
          </a:xfrm>
          <a:prstGeom prst="roundRect">
            <a:avLst>
              <a:gd name="adj" fmla="val 12500"/>
            </a:avLst>
          </a:prstGeom>
          <a:solidFill>
            <a:srgbClr val="F6E7B8"/>
          </a:solidFill>
          <a:ln/>
        </p:spPr>
      </p:sp>
      <p:sp>
        <p:nvSpPr>
          <p:cNvPr id="22" name="!!spBl"/>
          <p:cNvSpPr txBox="1"/>
          <p:nvPr/>
        </p:nvSpPr>
        <p:spPr>
          <a:xfrm>
            <a:off x="1371600" y="4114800"/>
            <a:ext cx="2011680" cy="365760"/>
          </a:xfrm>
          <a:prstGeom prst="rect">
            <a:avLst/>
          </a:prstGeom>
          <a:noFill/>
          <a:ln/>
        </p:spPr>
        <p:txBody>
          <a:bodyPr wrap="square" lIns="0" tIns="0" rIns="0" bIns="0" rtlCol="0" anchor="ctr"/>
          <a:lstStyle/>
          <a:p>
            <a:pPr algn="ctr" indent="0" marL="0">
              <a:buNone/>
            </a:pPr>
            <a:r>
              <a:rPr lang="en-US" sz="1200" dirty="0">
                <a:solidFill>
                  <a:srgbClr val="8A6D1F"/>
                </a:solidFill>
                <a:latin typeface="Segoe UI" pitchFamily="34" charset="0"/>
                <a:ea typeface="Segoe UI" pitchFamily="34" charset="-122"/>
                <a:cs typeface="Segoe UI" pitchFamily="34" charset="-120"/>
              </a:rPr>
              <a:t>body / source</a:t>
            </a:r>
            <a:endParaRPr lang="en-US" sz="1200" dirty="0"/>
          </a:p>
        </p:txBody>
      </p:sp>
      <p:sp>
        <p:nvSpPr>
          <p:cNvPr id="23" name="!!spK0"/>
          <p:cNvSpPr/>
          <p:nvPr/>
        </p:nvSpPr>
        <p:spPr>
          <a:xfrm>
            <a:off x="5669280" y="1508760"/>
            <a:ext cx="5971032" cy="896112"/>
          </a:xfrm>
          <a:prstGeom prst="roundRect">
            <a:avLst>
              <a:gd name="adj" fmla="val 6122"/>
            </a:avLst>
          </a:prstGeom>
          <a:solidFill>
            <a:srgbClr val="F4F5F7"/>
          </a:solidFill>
          <a:ln/>
        </p:spPr>
      </p:sp>
      <p:sp>
        <p:nvSpPr>
          <p:cNvPr id="24" name="!!spKn0"/>
          <p:cNvSpPr/>
          <p:nvPr/>
        </p:nvSpPr>
        <p:spPr>
          <a:xfrm>
            <a:off x="5843016" y="1682496"/>
            <a:ext cx="347472" cy="347472"/>
          </a:xfrm>
          <a:prstGeom prst="ellipse">
            <a:avLst/>
          </a:prstGeom>
          <a:solidFill>
            <a:srgbClr val="3E6AE1"/>
          </a:solidFill>
          <a:ln/>
        </p:spPr>
      </p:sp>
      <p:sp>
        <p:nvSpPr>
          <p:cNvPr id="25" name="!!spKnt0"/>
          <p:cNvSpPr txBox="1"/>
          <p:nvPr/>
        </p:nvSpPr>
        <p:spPr>
          <a:xfrm>
            <a:off x="5843016" y="1682496"/>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6" name="!!spKh0"/>
          <p:cNvSpPr txBox="1"/>
          <p:nvPr/>
        </p:nvSpPr>
        <p:spPr>
          <a:xfrm>
            <a:off x="6355080" y="1645920"/>
            <a:ext cx="5120640" cy="292608"/>
          </a:xfrm>
          <a:prstGeom prst="rect">
            <a:avLst/>
          </a:prstGeom>
          <a:noFill/>
          <a:ln/>
        </p:spPr>
        <p:txBody>
          <a:bodyPr wrap="square" lIns="0" tIns="0" rIns="0" bIns="0" rtlCol="0" anchor="t"/>
          <a:lstStyle/>
          <a:p>
            <a:pPr algn="l" indent="0" marL="0">
              <a:buNone/>
            </a:pPr>
            <a:r>
              <a:rPr lang="en-US" sz="1500" dirty="0">
                <a:solidFill>
                  <a:srgbClr val="3E6AE1"/>
                </a:solidFill>
                <a:latin typeface="Segoe UI Semibold" pitchFamily="34" charset="0"/>
                <a:ea typeface="Segoe UI Semibold" pitchFamily="34" charset="-122"/>
                <a:cs typeface="Segoe UI Semibold" pitchFamily="34" charset="-120"/>
              </a:rPr>
              <a:t>Barrier rule</a:t>
            </a:r>
            <a:endParaRPr lang="en-US" sz="1500" dirty="0"/>
          </a:p>
        </p:txBody>
      </p:sp>
      <p:sp>
        <p:nvSpPr>
          <p:cNvPr id="27" name="!!spKb0"/>
          <p:cNvSpPr txBox="1"/>
          <p:nvPr/>
        </p:nvSpPr>
        <p:spPr>
          <a:xfrm>
            <a:off x="6355080" y="1947672"/>
            <a:ext cx="516636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I</a:t>
            </a:r>
            <a:pPr algn="l" indent="0" marL="0">
              <a:buNone/>
            </a:pPr>
            <a:r>
              <a:rPr lang="en-US" sz="1200" baseline="-40000" dirty="0">
                <a:solidFill>
                  <a:srgbClr val="5C5E62"/>
                </a:solidFill>
                <a:latin typeface="Segoe UI" pitchFamily="34" charset="0"/>
                <a:ea typeface="Segoe UI" pitchFamily="34" charset="-122"/>
                <a:cs typeface="Segoe UI" pitchFamily="34" charset="-120"/>
              </a:rPr>
              <a:t>D</a:t>
            </a:r>
            <a:pPr algn="l" indent="0" marL="0">
              <a:buNone/>
            </a:pPr>
            <a:r>
              <a:rPr lang="en-US" sz="1200" dirty="0">
                <a:solidFill>
                  <a:srgbClr val="5C5E62"/>
                </a:solidFill>
                <a:latin typeface="Segoe UI" pitchFamily="34" charset="0"/>
                <a:ea typeface="Segoe UI" pitchFamily="34" charset="-122"/>
                <a:cs typeface="Segoe UI" pitchFamily="34" charset="-120"/>
              </a:rPr>
              <a:t> ∝ exp(qψs / kT): the current depends only on the hill height ψs.</a:t>
            </a:r>
            <a:endParaRPr lang="en-US" sz="1200" dirty="0"/>
          </a:p>
        </p:txBody>
      </p:sp>
      <p:sp>
        <p:nvSpPr>
          <p:cNvPr id="28"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Current depends only on the hill height ψs.</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Why SS can never beat 60 mV/dec</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Two facts give the limit: the barrier rule and a capacitor divider</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171A20"/>
          </a:solidFill>
          <a:ln/>
        </p:spPr>
      </p:sp>
      <p:sp>
        <p:nvSpPr>
          <p:cNvPr id="6" name="!!sdot2"/>
          <p:cNvSpPr/>
          <p:nvPr/>
        </p:nvSpPr>
        <p:spPr>
          <a:xfrm>
            <a:off x="11443716" y="525780"/>
            <a:ext cx="82296" cy="82296"/>
          </a:xfrm>
          <a:prstGeom prst="ellipse">
            <a:avLst/>
          </a:prstGeom>
          <a:solidFill>
            <a:srgbClr val="E2E3E3"/>
          </a:solidFill>
          <a:ln/>
        </p:spPr>
      </p:sp>
      <p:sp>
        <p:nvSpPr>
          <p:cNvPr id="7" name="!!sdot3"/>
          <p:cNvSpPr/>
          <p:nvPr/>
        </p:nvSpPr>
        <p:spPr>
          <a:xfrm>
            <a:off x="11599164" y="525780"/>
            <a:ext cx="82296" cy="82296"/>
          </a:xfrm>
          <a:prstGeom prst="ellipse">
            <a:avLst/>
          </a:prstGeom>
          <a:solidFill>
            <a:srgbClr val="E2E3E3"/>
          </a:solidFill>
          <a:ln/>
        </p:spPr>
      </p:sp>
      <p:sp>
        <p:nvSpPr>
          <p:cNvPr id="8" name="!!spG"/>
          <p:cNvSpPr/>
          <p:nvPr/>
        </p:nvSpPr>
        <p:spPr>
          <a:xfrm>
            <a:off x="1371600" y="1554480"/>
            <a:ext cx="2011680" cy="411480"/>
          </a:xfrm>
          <a:prstGeom prst="roundRect">
            <a:avLst>
              <a:gd name="adj" fmla="val 11111"/>
            </a:avLst>
          </a:prstGeom>
          <a:solidFill>
            <a:srgbClr val="B3A6E6"/>
          </a:solidFill>
          <a:ln/>
        </p:spPr>
      </p:sp>
      <p:sp>
        <p:nvSpPr>
          <p:cNvPr id="9" name="!!spGl"/>
          <p:cNvSpPr txBox="1"/>
          <p:nvPr/>
        </p:nvSpPr>
        <p:spPr>
          <a:xfrm>
            <a:off x="1371600" y="1554480"/>
            <a:ext cx="2011680" cy="411480"/>
          </a:xfrm>
          <a:prstGeom prst="rect">
            <a:avLst/>
          </a:prstGeom>
          <a:noFill/>
          <a:ln/>
        </p:spPr>
        <p:txBody>
          <a:bodyPr wrap="square" lIns="0" tIns="0" rIns="0" bIns="0" rtlCol="0" anchor="ctr"/>
          <a:lstStyle/>
          <a:p>
            <a:pPr algn="ctr" indent="0" marL="0">
              <a:buNone/>
            </a:pPr>
            <a:r>
              <a:rPr lang="en-US" sz="1300" dirty="0">
                <a:solidFill>
                  <a:srgbClr val="3D2F7A"/>
                </a:solidFill>
                <a:latin typeface="Segoe UI Semibold" pitchFamily="34" charset="0"/>
                <a:ea typeface="Segoe UI Semibold" pitchFamily="34" charset="-122"/>
                <a:cs typeface="Segoe UI Semibold" pitchFamily="34" charset="-120"/>
              </a:rPr>
              <a:t>gate  V</a:t>
            </a:r>
            <a:pPr algn="ctr" indent="0" marL="0">
              <a:buNone/>
            </a:pPr>
            <a:r>
              <a:rPr lang="en-US" sz="1300" baseline="-40000" dirty="0">
                <a:solidFill>
                  <a:srgbClr val="3D2F7A"/>
                </a:solidFill>
                <a:latin typeface="Segoe UI Semibold" pitchFamily="34" charset="0"/>
                <a:ea typeface="Segoe UI Semibold" pitchFamily="34" charset="-122"/>
                <a:cs typeface="Segoe UI Semibold" pitchFamily="34" charset="-120"/>
              </a:rPr>
              <a:t>G</a:t>
            </a:r>
            <a:endParaRPr lang="en-US" sz="1300" dirty="0"/>
          </a:p>
        </p:txBody>
      </p:sp>
      <p:sp>
        <p:nvSpPr>
          <p:cNvPr id="10" name="!!spW1"/>
          <p:cNvSpPr/>
          <p:nvPr/>
        </p:nvSpPr>
        <p:spPr>
          <a:xfrm>
            <a:off x="2377440" y="1965960"/>
            <a:ext cx="91" cy="365760"/>
          </a:xfrm>
          <a:prstGeom prst="line">
            <a:avLst/>
          </a:prstGeom>
          <a:noFill/>
          <a:ln w="25400">
            <a:solidFill>
              <a:srgbClr val="171A20"/>
            </a:solidFill>
            <a:prstDash val="solid"/>
          </a:ln>
        </p:spPr>
      </p:sp>
      <p:sp>
        <p:nvSpPr>
          <p:cNvPr id="11" name="!!spC1a"/>
          <p:cNvSpPr/>
          <p:nvPr/>
        </p:nvSpPr>
        <p:spPr>
          <a:xfrm>
            <a:off x="1828800" y="2331720"/>
            <a:ext cx="1097280" cy="91"/>
          </a:xfrm>
          <a:prstGeom prst="line">
            <a:avLst/>
          </a:prstGeom>
          <a:noFill/>
          <a:ln w="38100">
            <a:solidFill>
              <a:srgbClr val="171A20"/>
            </a:solidFill>
            <a:prstDash val="solid"/>
          </a:ln>
        </p:spPr>
      </p:sp>
      <p:sp>
        <p:nvSpPr>
          <p:cNvPr id="12" name="!!spC1b"/>
          <p:cNvSpPr/>
          <p:nvPr/>
        </p:nvSpPr>
        <p:spPr>
          <a:xfrm>
            <a:off x="1828800" y="2487168"/>
            <a:ext cx="1097280" cy="91"/>
          </a:xfrm>
          <a:prstGeom prst="line">
            <a:avLst/>
          </a:prstGeom>
          <a:noFill/>
          <a:ln w="38100">
            <a:solidFill>
              <a:srgbClr val="171A20"/>
            </a:solidFill>
            <a:prstDash val="solid"/>
          </a:ln>
        </p:spPr>
      </p:sp>
      <p:sp>
        <p:nvSpPr>
          <p:cNvPr id="13" name="!!spC1l"/>
          <p:cNvSpPr txBox="1"/>
          <p:nvPr/>
        </p:nvSpPr>
        <p:spPr>
          <a:xfrm>
            <a:off x="3063240" y="2286000"/>
            <a:ext cx="1828800" cy="256032"/>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a:t>
            </a:r>
            <a:pPr algn="l" indent="0" marL="0">
              <a:buNone/>
            </a:pPr>
            <a:r>
              <a:rPr lang="en-US" sz="1200" baseline="-40000" dirty="0">
                <a:solidFill>
                  <a:srgbClr val="5C5E62"/>
                </a:solidFill>
                <a:latin typeface="Segoe UI" pitchFamily="34" charset="0"/>
                <a:ea typeface="Segoe UI" pitchFamily="34" charset="-122"/>
                <a:cs typeface="Segoe UI" pitchFamily="34" charset="-120"/>
              </a:rPr>
              <a:t>ox</a:t>
            </a:r>
            <a:pPr algn="l" indent="0" marL="0">
              <a:buNone/>
            </a:pPr>
            <a:r>
              <a:rPr lang="en-US" sz="1200" dirty="0">
                <a:solidFill>
                  <a:srgbClr val="5C5E62"/>
                </a:solidFill>
                <a:latin typeface="Segoe UI" pitchFamily="34" charset="0"/>
                <a:ea typeface="Segoe UI" pitchFamily="34" charset="-122"/>
                <a:cs typeface="Segoe UI" pitchFamily="34" charset="-120"/>
              </a:rPr>
              <a:t> (gate oxide)</a:t>
            </a:r>
            <a:endParaRPr lang="en-US" sz="1200" dirty="0"/>
          </a:p>
        </p:txBody>
      </p:sp>
      <p:sp>
        <p:nvSpPr>
          <p:cNvPr id="14" name="!!spW2"/>
          <p:cNvSpPr/>
          <p:nvPr/>
        </p:nvSpPr>
        <p:spPr>
          <a:xfrm>
            <a:off x="2377440" y="2487168"/>
            <a:ext cx="91" cy="1124712"/>
          </a:xfrm>
          <a:prstGeom prst="line">
            <a:avLst/>
          </a:prstGeom>
          <a:noFill/>
          <a:ln w="25400">
            <a:solidFill>
              <a:srgbClr val="171A20"/>
            </a:solidFill>
            <a:prstDash val="solid"/>
          </a:ln>
        </p:spPr>
      </p:sp>
      <p:sp>
        <p:nvSpPr>
          <p:cNvPr id="15" name="!!spN"/>
          <p:cNvSpPr/>
          <p:nvPr/>
        </p:nvSpPr>
        <p:spPr>
          <a:xfrm>
            <a:off x="2267712" y="2862072"/>
            <a:ext cx="219456" cy="219456"/>
          </a:xfrm>
          <a:prstGeom prst="ellipse">
            <a:avLst/>
          </a:prstGeom>
          <a:solidFill>
            <a:srgbClr val="3E6AE1"/>
          </a:solidFill>
          <a:ln/>
        </p:spPr>
      </p:sp>
      <p:sp>
        <p:nvSpPr>
          <p:cNvPr id="16" name="!!spNl"/>
          <p:cNvSpPr txBox="1"/>
          <p:nvPr/>
        </p:nvSpPr>
        <p:spPr>
          <a:xfrm>
            <a:off x="2606040" y="2852928"/>
            <a:ext cx="2011680" cy="256032"/>
          </a:xfrm>
          <a:prstGeom prst="rect">
            <a:avLst/>
          </a:prstGeom>
          <a:noFill/>
          <a:ln/>
        </p:spPr>
        <p:txBody>
          <a:bodyPr wrap="square" lIns="0" tIns="0" rIns="0" bIns="0" rtlCol="0" anchor="t"/>
          <a:lstStyle/>
          <a:p>
            <a:pPr algn="l" indent="0" marL="0">
              <a:buNone/>
            </a:pPr>
            <a:r>
              <a:rPr lang="en-US" sz="1200" dirty="0">
                <a:solidFill>
                  <a:srgbClr val="3E6AE1"/>
                </a:solidFill>
                <a:latin typeface="Segoe UI Semibold" pitchFamily="34" charset="0"/>
                <a:ea typeface="Segoe UI Semibold" pitchFamily="34" charset="-122"/>
                <a:cs typeface="Segoe UI Semibold" pitchFamily="34" charset="-120"/>
              </a:rPr>
              <a:t>ψs  (hill height)</a:t>
            </a:r>
            <a:endParaRPr lang="en-US" sz="1200" dirty="0"/>
          </a:p>
        </p:txBody>
      </p:sp>
      <p:sp>
        <p:nvSpPr>
          <p:cNvPr id="17" name="!!spC2a"/>
          <p:cNvSpPr/>
          <p:nvPr/>
        </p:nvSpPr>
        <p:spPr>
          <a:xfrm>
            <a:off x="1828800" y="3611880"/>
            <a:ext cx="1097280" cy="91"/>
          </a:xfrm>
          <a:prstGeom prst="line">
            <a:avLst/>
          </a:prstGeom>
          <a:noFill/>
          <a:ln w="38100">
            <a:solidFill>
              <a:srgbClr val="171A20"/>
            </a:solidFill>
            <a:prstDash val="solid"/>
          </a:ln>
        </p:spPr>
      </p:sp>
      <p:sp>
        <p:nvSpPr>
          <p:cNvPr id="18" name="!!spC2b"/>
          <p:cNvSpPr/>
          <p:nvPr/>
        </p:nvSpPr>
        <p:spPr>
          <a:xfrm>
            <a:off x="1828800" y="3767328"/>
            <a:ext cx="1097280" cy="91"/>
          </a:xfrm>
          <a:prstGeom prst="line">
            <a:avLst/>
          </a:prstGeom>
          <a:noFill/>
          <a:ln w="38100">
            <a:solidFill>
              <a:srgbClr val="171A20"/>
            </a:solidFill>
            <a:prstDash val="solid"/>
          </a:ln>
        </p:spPr>
      </p:sp>
      <p:sp>
        <p:nvSpPr>
          <p:cNvPr id="19" name="!!spC2l"/>
          <p:cNvSpPr txBox="1"/>
          <p:nvPr/>
        </p:nvSpPr>
        <p:spPr>
          <a:xfrm>
            <a:off x="3063240" y="3566160"/>
            <a:ext cx="2011680" cy="256032"/>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a:t>
            </a:r>
            <a:pPr algn="l" indent="0" marL="0">
              <a:buNone/>
            </a:pPr>
            <a:r>
              <a:rPr lang="en-US" sz="1200" baseline="-40000" dirty="0">
                <a:solidFill>
                  <a:srgbClr val="5C5E62"/>
                </a:solidFill>
                <a:latin typeface="Segoe UI" pitchFamily="34" charset="0"/>
                <a:ea typeface="Segoe UI" pitchFamily="34" charset="-122"/>
                <a:cs typeface="Segoe UI" pitchFamily="34" charset="-120"/>
              </a:rPr>
              <a:t>dep</a:t>
            </a:r>
            <a:pPr algn="l" indent="0" marL="0">
              <a:buNone/>
            </a:pPr>
            <a:r>
              <a:rPr lang="en-US" sz="1200" dirty="0">
                <a:solidFill>
                  <a:srgbClr val="5C5E62"/>
                </a:solidFill>
                <a:latin typeface="Segoe UI" pitchFamily="34" charset="0"/>
                <a:ea typeface="Segoe UI" pitchFamily="34" charset="-122"/>
                <a:cs typeface="Segoe UI" pitchFamily="34" charset="-120"/>
              </a:rPr>
              <a:t> (depleted body)</a:t>
            </a:r>
            <a:endParaRPr lang="en-US" sz="1200" dirty="0"/>
          </a:p>
        </p:txBody>
      </p:sp>
      <p:sp>
        <p:nvSpPr>
          <p:cNvPr id="20" name="!!spW3"/>
          <p:cNvSpPr/>
          <p:nvPr/>
        </p:nvSpPr>
        <p:spPr>
          <a:xfrm>
            <a:off x="2377440" y="3767328"/>
            <a:ext cx="91" cy="347472"/>
          </a:xfrm>
          <a:prstGeom prst="line">
            <a:avLst/>
          </a:prstGeom>
          <a:noFill/>
          <a:ln w="25400">
            <a:solidFill>
              <a:srgbClr val="171A20"/>
            </a:solidFill>
            <a:prstDash val="solid"/>
          </a:ln>
        </p:spPr>
      </p:sp>
      <p:sp>
        <p:nvSpPr>
          <p:cNvPr id="21" name="!!spB"/>
          <p:cNvSpPr/>
          <p:nvPr/>
        </p:nvSpPr>
        <p:spPr>
          <a:xfrm>
            <a:off x="1371600" y="4114800"/>
            <a:ext cx="2011680" cy="365760"/>
          </a:xfrm>
          <a:prstGeom prst="roundRect">
            <a:avLst>
              <a:gd name="adj" fmla="val 12500"/>
            </a:avLst>
          </a:prstGeom>
          <a:solidFill>
            <a:srgbClr val="F6E7B8"/>
          </a:solidFill>
          <a:ln/>
        </p:spPr>
      </p:sp>
      <p:sp>
        <p:nvSpPr>
          <p:cNvPr id="22" name="!!spBl"/>
          <p:cNvSpPr txBox="1"/>
          <p:nvPr/>
        </p:nvSpPr>
        <p:spPr>
          <a:xfrm>
            <a:off x="1371600" y="4114800"/>
            <a:ext cx="2011680" cy="365760"/>
          </a:xfrm>
          <a:prstGeom prst="rect">
            <a:avLst/>
          </a:prstGeom>
          <a:noFill/>
          <a:ln/>
        </p:spPr>
        <p:txBody>
          <a:bodyPr wrap="square" lIns="0" tIns="0" rIns="0" bIns="0" rtlCol="0" anchor="ctr"/>
          <a:lstStyle/>
          <a:p>
            <a:pPr algn="ctr" indent="0" marL="0">
              <a:buNone/>
            </a:pPr>
            <a:r>
              <a:rPr lang="en-US" sz="1200" dirty="0">
                <a:solidFill>
                  <a:srgbClr val="8A6D1F"/>
                </a:solidFill>
                <a:latin typeface="Segoe UI" pitchFamily="34" charset="0"/>
                <a:ea typeface="Segoe UI" pitchFamily="34" charset="-122"/>
                <a:cs typeface="Segoe UI" pitchFamily="34" charset="-120"/>
              </a:rPr>
              <a:t>body / source</a:t>
            </a:r>
            <a:endParaRPr lang="en-US" sz="1200" dirty="0"/>
          </a:p>
        </p:txBody>
      </p:sp>
      <p:sp>
        <p:nvSpPr>
          <p:cNvPr id="23" name="!!spK0"/>
          <p:cNvSpPr/>
          <p:nvPr/>
        </p:nvSpPr>
        <p:spPr>
          <a:xfrm>
            <a:off x="5669280" y="1508760"/>
            <a:ext cx="5971032" cy="896112"/>
          </a:xfrm>
          <a:prstGeom prst="roundRect">
            <a:avLst>
              <a:gd name="adj" fmla="val 6122"/>
            </a:avLst>
          </a:prstGeom>
          <a:solidFill>
            <a:srgbClr val="F4F5F7"/>
          </a:solidFill>
          <a:ln/>
        </p:spPr>
      </p:sp>
      <p:sp>
        <p:nvSpPr>
          <p:cNvPr id="24" name="!!spKn0"/>
          <p:cNvSpPr/>
          <p:nvPr/>
        </p:nvSpPr>
        <p:spPr>
          <a:xfrm>
            <a:off x="5843016" y="1682496"/>
            <a:ext cx="347472" cy="347472"/>
          </a:xfrm>
          <a:prstGeom prst="ellipse">
            <a:avLst/>
          </a:prstGeom>
          <a:solidFill>
            <a:srgbClr val="3E6AE1"/>
          </a:solidFill>
          <a:ln/>
        </p:spPr>
      </p:sp>
      <p:sp>
        <p:nvSpPr>
          <p:cNvPr id="25" name="!!spKnt0"/>
          <p:cNvSpPr txBox="1"/>
          <p:nvPr/>
        </p:nvSpPr>
        <p:spPr>
          <a:xfrm>
            <a:off x="5843016" y="1682496"/>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6" name="!!spKh0"/>
          <p:cNvSpPr txBox="1"/>
          <p:nvPr/>
        </p:nvSpPr>
        <p:spPr>
          <a:xfrm>
            <a:off x="6355080" y="1645920"/>
            <a:ext cx="5120640" cy="292608"/>
          </a:xfrm>
          <a:prstGeom prst="rect">
            <a:avLst/>
          </a:prstGeom>
          <a:noFill/>
          <a:ln/>
        </p:spPr>
        <p:txBody>
          <a:bodyPr wrap="square" lIns="0" tIns="0" rIns="0" bIns="0" rtlCol="0" anchor="t"/>
          <a:lstStyle/>
          <a:p>
            <a:pPr algn="l" indent="0" marL="0">
              <a:buNone/>
            </a:pPr>
            <a:r>
              <a:rPr lang="en-US" sz="1500" dirty="0">
                <a:solidFill>
                  <a:srgbClr val="3E6AE1"/>
                </a:solidFill>
                <a:latin typeface="Segoe UI Semibold" pitchFamily="34" charset="0"/>
                <a:ea typeface="Segoe UI Semibold" pitchFamily="34" charset="-122"/>
                <a:cs typeface="Segoe UI Semibold" pitchFamily="34" charset="-120"/>
              </a:rPr>
              <a:t>Barrier rule</a:t>
            </a:r>
            <a:endParaRPr lang="en-US" sz="1500" dirty="0"/>
          </a:p>
        </p:txBody>
      </p:sp>
      <p:sp>
        <p:nvSpPr>
          <p:cNvPr id="27" name="!!spKb0"/>
          <p:cNvSpPr txBox="1"/>
          <p:nvPr/>
        </p:nvSpPr>
        <p:spPr>
          <a:xfrm>
            <a:off x="6355080" y="1947672"/>
            <a:ext cx="516636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I</a:t>
            </a:r>
            <a:pPr algn="l" indent="0" marL="0">
              <a:buNone/>
            </a:pPr>
            <a:r>
              <a:rPr lang="en-US" sz="1200" baseline="-40000" dirty="0">
                <a:solidFill>
                  <a:srgbClr val="5C5E62"/>
                </a:solidFill>
                <a:latin typeface="Segoe UI" pitchFamily="34" charset="0"/>
                <a:ea typeface="Segoe UI" pitchFamily="34" charset="-122"/>
                <a:cs typeface="Segoe UI" pitchFamily="34" charset="-120"/>
              </a:rPr>
              <a:t>D</a:t>
            </a:r>
            <a:pPr algn="l" indent="0" marL="0">
              <a:buNone/>
            </a:pPr>
            <a:r>
              <a:rPr lang="en-US" sz="1200" dirty="0">
                <a:solidFill>
                  <a:srgbClr val="5C5E62"/>
                </a:solidFill>
                <a:latin typeface="Segoe UI" pitchFamily="34" charset="0"/>
                <a:ea typeface="Segoe UI" pitchFamily="34" charset="-122"/>
                <a:cs typeface="Segoe UI" pitchFamily="34" charset="-120"/>
              </a:rPr>
              <a:t> ∝ exp(qψs / kT): the current depends only on the hill height ψs.</a:t>
            </a:r>
            <a:endParaRPr lang="en-US" sz="1200" dirty="0"/>
          </a:p>
        </p:txBody>
      </p:sp>
      <p:sp>
        <p:nvSpPr>
          <p:cNvPr id="28" name="!!spK1"/>
          <p:cNvSpPr/>
          <p:nvPr/>
        </p:nvSpPr>
        <p:spPr>
          <a:xfrm>
            <a:off x="5669280" y="2532888"/>
            <a:ext cx="5971032" cy="896112"/>
          </a:xfrm>
          <a:prstGeom prst="roundRect">
            <a:avLst>
              <a:gd name="adj" fmla="val 6122"/>
            </a:avLst>
          </a:prstGeom>
          <a:solidFill>
            <a:srgbClr val="F4F5F7"/>
          </a:solidFill>
          <a:ln/>
        </p:spPr>
      </p:sp>
      <p:sp>
        <p:nvSpPr>
          <p:cNvPr id="29" name="!!spKn1"/>
          <p:cNvSpPr/>
          <p:nvPr/>
        </p:nvSpPr>
        <p:spPr>
          <a:xfrm>
            <a:off x="5843016" y="2706624"/>
            <a:ext cx="347472" cy="347472"/>
          </a:xfrm>
          <a:prstGeom prst="ellipse">
            <a:avLst/>
          </a:prstGeom>
          <a:solidFill>
            <a:srgbClr val="E07B00"/>
          </a:solidFill>
          <a:ln/>
        </p:spPr>
      </p:sp>
      <p:sp>
        <p:nvSpPr>
          <p:cNvPr id="30" name="!!spKnt1"/>
          <p:cNvSpPr txBox="1"/>
          <p:nvPr/>
        </p:nvSpPr>
        <p:spPr>
          <a:xfrm>
            <a:off x="5843016" y="2706624"/>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31" name="!!spKh1"/>
          <p:cNvSpPr txBox="1"/>
          <p:nvPr/>
        </p:nvSpPr>
        <p:spPr>
          <a:xfrm>
            <a:off x="6355080" y="2670048"/>
            <a:ext cx="5120640" cy="292608"/>
          </a:xfrm>
          <a:prstGeom prst="rect">
            <a:avLst/>
          </a:prstGeom>
          <a:noFill/>
          <a:ln/>
        </p:spPr>
        <p:txBody>
          <a:bodyPr wrap="square" lIns="0" tIns="0" rIns="0" bIns="0" rtlCol="0" anchor="t"/>
          <a:lstStyle/>
          <a:p>
            <a:pPr algn="l" indent="0" marL="0">
              <a:buNone/>
            </a:pPr>
            <a:r>
              <a:rPr lang="en-US" sz="1500" dirty="0">
                <a:solidFill>
                  <a:srgbClr val="E07B00"/>
                </a:solidFill>
                <a:latin typeface="Segoe UI Semibold" pitchFamily="34" charset="0"/>
                <a:ea typeface="Segoe UI Semibold" pitchFamily="34" charset="-122"/>
                <a:cs typeface="Segoe UI Semibold" pitchFamily="34" charset="-120"/>
              </a:rPr>
              <a:t>10× current needs 59.5 mV</a:t>
            </a:r>
            <a:endParaRPr lang="en-US" sz="1500" dirty="0"/>
          </a:p>
        </p:txBody>
      </p:sp>
      <p:sp>
        <p:nvSpPr>
          <p:cNvPr id="32" name="!!spKb1"/>
          <p:cNvSpPr txBox="1"/>
          <p:nvPr/>
        </p:nvSpPr>
        <p:spPr>
          <a:xfrm>
            <a:off x="6355080" y="2971800"/>
            <a:ext cx="516636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Δψs = (kT/q)·ln10 = 25.85 mV × 2.303 = 59.5 mV at 300 K.</a:t>
            </a:r>
            <a:endParaRPr lang="en-US" sz="1200" dirty="0"/>
          </a:p>
        </p:txBody>
      </p:sp>
      <p:sp>
        <p:nvSpPr>
          <p:cNvPr id="3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10× current needs the hill to drop by 59.5 mV.</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Why SS can never beat 60 mV/dec</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Two facts give the limit: the barrier rule and a capacitor divider</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171A20"/>
          </a:solidFill>
          <a:ln/>
        </p:spPr>
      </p:sp>
      <p:sp>
        <p:nvSpPr>
          <p:cNvPr id="6" name="!!sdot2"/>
          <p:cNvSpPr/>
          <p:nvPr/>
        </p:nvSpPr>
        <p:spPr>
          <a:xfrm>
            <a:off x="11443716" y="525780"/>
            <a:ext cx="82296" cy="82296"/>
          </a:xfrm>
          <a:prstGeom prst="ellipse">
            <a:avLst/>
          </a:prstGeom>
          <a:solidFill>
            <a:srgbClr val="171A20"/>
          </a:solidFill>
          <a:ln/>
        </p:spPr>
      </p:sp>
      <p:sp>
        <p:nvSpPr>
          <p:cNvPr id="7" name="!!sdot3"/>
          <p:cNvSpPr/>
          <p:nvPr/>
        </p:nvSpPr>
        <p:spPr>
          <a:xfrm>
            <a:off x="11599164" y="525780"/>
            <a:ext cx="82296" cy="82296"/>
          </a:xfrm>
          <a:prstGeom prst="ellipse">
            <a:avLst/>
          </a:prstGeom>
          <a:solidFill>
            <a:srgbClr val="E2E3E3"/>
          </a:solidFill>
          <a:ln/>
        </p:spPr>
      </p:sp>
      <p:sp>
        <p:nvSpPr>
          <p:cNvPr id="8" name="!!spG"/>
          <p:cNvSpPr/>
          <p:nvPr/>
        </p:nvSpPr>
        <p:spPr>
          <a:xfrm>
            <a:off x="1371600" y="1554480"/>
            <a:ext cx="2011680" cy="411480"/>
          </a:xfrm>
          <a:prstGeom prst="roundRect">
            <a:avLst>
              <a:gd name="adj" fmla="val 11111"/>
            </a:avLst>
          </a:prstGeom>
          <a:solidFill>
            <a:srgbClr val="B3A6E6"/>
          </a:solidFill>
          <a:ln/>
        </p:spPr>
      </p:sp>
      <p:sp>
        <p:nvSpPr>
          <p:cNvPr id="9" name="!!spGl"/>
          <p:cNvSpPr txBox="1"/>
          <p:nvPr/>
        </p:nvSpPr>
        <p:spPr>
          <a:xfrm>
            <a:off x="1371600" y="1554480"/>
            <a:ext cx="2011680" cy="411480"/>
          </a:xfrm>
          <a:prstGeom prst="rect">
            <a:avLst/>
          </a:prstGeom>
          <a:noFill/>
          <a:ln/>
        </p:spPr>
        <p:txBody>
          <a:bodyPr wrap="square" lIns="0" tIns="0" rIns="0" bIns="0" rtlCol="0" anchor="ctr"/>
          <a:lstStyle/>
          <a:p>
            <a:pPr algn="ctr" indent="0" marL="0">
              <a:buNone/>
            </a:pPr>
            <a:r>
              <a:rPr lang="en-US" sz="1300" dirty="0">
                <a:solidFill>
                  <a:srgbClr val="3D2F7A"/>
                </a:solidFill>
                <a:latin typeface="Segoe UI Semibold" pitchFamily="34" charset="0"/>
                <a:ea typeface="Segoe UI Semibold" pitchFamily="34" charset="-122"/>
                <a:cs typeface="Segoe UI Semibold" pitchFamily="34" charset="-120"/>
              </a:rPr>
              <a:t>gate  V</a:t>
            </a:r>
            <a:pPr algn="ctr" indent="0" marL="0">
              <a:buNone/>
            </a:pPr>
            <a:r>
              <a:rPr lang="en-US" sz="1300" baseline="-40000" dirty="0">
                <a:solidFill>
                  <a:srgbClr val="3D2F7A"/>
                </a:solidFill>
                <a:latin typeface="Segoe UI Semibold" pitchFamily="34" charset="0"/>
                <a:ea typeface="Segoe UI Semibold" pitchFamily="34" charset="-122"/>
                <a:cs typeface="Segoe UI Semibold" pitchFamily="34" charset="-120"/>
              </a:rPr>
              <a:t>G</a:t>
            </a:r>
            <a:endParaRPr lang="en-US" sz="1300" dirty="0"/>
          </a:p>
        </p:txBody>
      </p:sp>
      <p:sp>
        <p:nvSpPr>
          <p:cNvPr id="10" name="!!spW1"/>
          <p:cNvSpPr/>
          <p:nvPr/>
        </p:nvSpPr>
        <p:spPr>
          <a:xfrm>
            <a:off x="2377440" y="1965960"/>
            <a:ext cx="91" cy="365760"/>
          </a:xfrm>
          <a:prstGeom prst="line">
            <a:avLst/>
          </a:prstGeom>
          <a:noFill/>
          <a:ln w="25400">
            <a:solidFill>
              <a:srgbClr val="171A20"/>
            </a:solidFill>
            <a:prstDash val="solid"/>
          </a:ln>
        </p:spPr>
      </p:sp>
      <p:sp>
        <p:nvSpPr>
          <p:cNvPr id="11" name="!!spC1a"/>
          <p:cNvSpPr/>
          <p:nvPr/>
        </p:nvSpPr>
        <p:spPr>
          <a:xfrm>
            <a:off x="1828800" y="2331720"/>
            <a:ext cx="1097280" cy="91"/>
          </a:xfrm>
          <a:prstGeom prst="line">
            <a:avLst/>
          </a:prstGeom>
          <a:noFill/>
          <a:ln w="38100">
            <a:solidFill>
              <a:srgbClr val="171A20"/>
            </a:solidFill>
            <a:prstDash val="solid"/>
          </a:ln>
        </p:spPr>
      </p:sp>
      <p:sp>
        <p:nvSpPr>
          <p:cNvPr id="12" name="!!spC1b"/>
          <p:cNvSpPr/>
          <p:nvPr/>
        </p:nvSpPr>
        <p:spPr>
          <a:xfrm>
            <a:off x="1828800" y="2487168"/>
            <a:ext cx="1097280" cy="91"/>
          </a:xfrm>
          <a:prstGeom prst="line">
            <a:avLst/>
          </a:prstGeom>
          <a:noFill/>
          <a:ln w="38100">
            <a:solidFill>
              <a:srgbClr val="171A20"/>
            </a:solidFill>
            <a:prstDash val="solid"/>
          </a:ln>
        </p:spPr>
      </p:sp>
      <p:sp>
        <p:nvSpPr>
          <p:cNvPr id="13" name="!!spC1l"/>
          <p:cNvSpPr txBox="1"/>
          <p:nvPr/>
        </p:nvSpPr>
        <p:spPr>
          <a:xfrm>
            <a:off x="3063240" y="2286000"/>
            <a:ext cx="1828800" cy="256032"/>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a:t>
            </a:r>
            <a:pPr algn="l" indent="0" marL="0">
              <a:buNone/>
            </a:pPr>
            <a:r>
              <a:rPr lang="en-US" sz="1200" baseline="-40000" dirty="0">
                <a:solidFill>
                  <a:srgbClr val="5C5E62"/>
                </a:solidFill>
                <a:latin typeface="Segoe UI" pitchFamily="34" charset="0"/>
                <a:ea typeface="Segoe UI" pitchFamily="34" charset="-122"/>
                <a:cs typeface="Segoe UI" pitchFamily="34" charset="-120"/>
              </a:rPr>
              <a:t>ox</a:t>
            </a:r>
            <a:pPr algn="l" indent="0" marL="0">
              <a:buNone/>
            </a:pPr>
            <a:r>
              <a:rPr lang="en-US" sz="1200" dirty="0">
                <a:solidFill>
                  <a:srgbClr val="5C5E62"/>
                </a:solidFill>
                <a:latin typeface="Segoe UI" pitchFamily="34" charset="0"/>
                <a:ea typeface="Segoe UI" pitchFamily="34" charset="-122"/>
                <a:cs typeface="Segoe UI" pitchFamily="34" charset="-120"/>
              </a:rPr>
              <a:t> (gate oxide)</a:t>
            </a:r>
            <a:endParaRPr lang="en-US" sz="1200" dirty="0"/>
          </a:p>
        </p:txBody>
      </p:sp>
      <p:sp>
        <p:nvSpPr>
          <p:cNvPr id="14" name="!!spW2"/>
          <p:cNvSpPr/>
          <p:nvPr/>
        </p:nvSpPr>
        <p:spPr>
          <a:xfrm>
            <a:off x="2377440" y="2487168"/>
            <a:ext cx="91" cy="1124712"/>
          </a:xfrm>
          <a:prstGeom prst="line">
            <a:avLst/>
          </a:prstGeom>
          <a:noFill/>
          <a:ln w="25400">
            <a:solidFill>
              <a:srgbClr val="171A20"/>
            </a:solidFill>
            <a:prstDash val="solid"/>
          </a:ln>
        </p:spPr>
      </p:sp>
      <p:sp>
        <p:nvSpPr>
          <p:cNvPr id="15" name="!!spN"/>
          <p:cNvSpPr/>
          <p:nvPr/>
        </p:nvSpPr>
        <p:spPr>
          <a:xfrm>
            <a:off x="2267712" y="2862072"/>
            <a:ext cx="219456" cy="219456"/>
          </a:xfrm>
          <a:prstGeom prst="ellipse">
            <a:avLst/>
          </a:prstGeom>
          <a:solidFill>
            <a:srgbClr val="6B5BC4"/>
          </a:solidFill>
          <a:ln/>
        </p:spPr>
      </p:sp>
      <p:sp>
        <p:nvSpPr>
          <p:cNvPr id="16" name="!!spNl"/>
          <p:cNvSpPr txBox="1"/>
          <p:nvPr/>
        </p:nvSpPr>
        <p:spPr>
          <a:xfrm>
            <a:off x="2606040" y="2852928"/>
            <a:ext cx="2011680" cy="256032"/>
          </a:xfrm>
          <a:prstGeom prst="rect">
            <a:avLst/>
          </a:prstGeom>
          <a:noFill/>
          <a:ln/>
        </p:spPr>
        <p:txBody>
          <a:bodyPr wrap="square" lIns="0" tIns="0" rIns="0" bIns="0" rtlCol="0" anchor="t"/>
          <a:lstStyle/>
          <a:p>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ψs  (hill height)</a:t>
            </a:r>
            <a:endParaRPr lang="en-US" sz="1200" dirty="0"/>
          </a:p>
        </p:txBody>
      </p:sp>
      <p:sp>
        <p:nvSpPr>
          <p:cNvPr id="17" name="!!spC2a"/>
          <p:cNvSpPr/>
          <p:nvPr/>
        </p:nvSpPr>
        <p:spPr>
          <a:xfrm>
            <a:off x="1828800" y="3611880"/>
            <a:ext cx="1097280" cy="91"/>
          </a:xfrm>
          <a:prstGeom prst="line">
            <a:avLst/>
          </a:prstGeom>
          <a:noFill/>
          <a:ln w="38100">
            <a:solidFill>
              <a:srgbClr val="171A20"/>
            </a:solidFill>
            <a:prstDash val="solid"/>
          </a:ln>
        </p:spPr>
      </p:sp>
      <p:sp>
        <p:nvSpPr>
          <p:cNvPr id="18" name="!!spC2b"/>
          <p:cNvSpPr/>
          <p:nvPr/>
        </p:nvSpPr>
        <p:spPr>
          <a:xfrm>
            <a:off x="1828800" y="3767328"/>
            <a:ext cx="1097280" cy="91"/>
          </a:xfrm>
          <a:prstGeom prst="line">
            <a:avLst/>
          </a:prstGeom>
          <a:noFill/>
          <a:ln w="38100">
            <a:solidFill>
              <a:srgbClr val="171A20"/>
            </a:solidFill>
            <a:prstDash val="solid"/>
          </a:ln>
        </p:spPr>
      </p:sp>
      <p:sp>
        <p:nvSpPr>
          <p:cNvPr id="19" name="!!spC2l"/>
          <p:cNvSpPr txBox="1"/>
          <p:nvPr/>
        </p:nvSpPr>
        <p:spPr>
          <a:xfrm>
            <a:off x="3063240" y="3566160"/>
            <a:ext cx="2011680" cy="256032"/>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a:t>
            </a:r>
            <a:pPr algn="l" indent="0" marL="0">
              <a:buNone/>
            </a:pPr>
            <a:r>
              <a:rPr lang="en-US" sz="1200" baseline="-40000" dirty="0">
                <a:solidFill>
                  <a:srgbClr val="5C5E62"/>
                </a:solidFill>
                <a:latin typeface="Segoe UI" pitchFamily="34" charset="0"/>
                <a:ea typeface="Segoe UI" pitchFamily="34" charset="-122"/>
                <a:cs typeface="Segoe UI" pitchFamily="34" charset="-120"/>
              </a:rPr>
              <a:t>dep</a:t>
            </a:r>
            <a:pPr algn="l" indent="0" marL="0">
              <a:buNone/>
            </a:pPr>
            <a:r>
              <a:rPr lang="en-US" sz="1200" dirty="0">
                <a:solidFill>
                  <a:srgbClr val="5C5E62"/>
                </a:solidFill>
                <a:latin typeface="Segoe UI" pitchFamily="34" charset="0"/>
                <a:ea typeface="Segoe UI" pitchFamily="34" charset="-122"/>
                <a:cs typeface="Segoe UI" pitchFamily="34" charset="-120"/>
              </a:rPr>
              <a:t> (depleted body)</a:t>
            </a:r>
            <a:endParaRPr lang="en-US" sz="1200" dirty="0"/>
          </a:p>
        </p:txBody>
      </p:sp>
      <p:sp>
        <p:nvSpPr>
          <p:cNvPr id="20" name="!!spW3"/>
          <p:cNvSpPr/>
          <p:nvPr/>
        </p:nvSpPr>
        <p:spPr>
          <a:xfrm>
            <a:off x="2377440" y="3767328"/>
            <a:ext cx="91" cy="347472"/>
          </a:xfrm>
          <a:prstGeom prst="line">
            <a:avLst/>
          </a:prstGeom>
          <a:noFill/>
          <a:ln w="25400">
            <a:solidFill>
              <a:srgbClr val="171A20"/>
            </a:solidFill>
            <a:prstDash val="solid"/>
          </a:ln>
        </p:spPr>
      </p:sp>
      <p:sp>
        <p:nvSpPr>
          <p:cNvPr id="21" name="!!spB"/>
          <p:cNvSpPr/>
          <p:nvPr/>
        </p:nvSpPr>
        <p:spPr>
          <a:xfrm>
            <a:off x="1371600" y="4114800"/>
            <a:ext cx="2011680" cy="365760"/>
          </a:xfrm>
          <a:prstGeom prst="roundRect">
            <a:avLst>
              <a:gd name="adj" fmla="val 12500"/>
            </a:avLst>
          </a:prstGeom>
          <a:solidFill>
            <a:srgbClr val="F6E7B8"/>
          </a:solidFill>
          <a:ln/>
        </p:spPr>
      </p:sp>
      <p:sp>
        <p:nvSpPr>
          <p:cNvPr id="22" name="!!spBl"/>
          <p:cNvSpPr txBox="1"/>
          <p:nvPr/>
        </p:nvSpPr>
        <p:spPr>
          <a:xfrm>
            <a:off x="1371600" y="4114800"/>
            <a:ext cx="2011680" cy="365760"/>
          </a:xfrm>
          <a:prstGeom prst="rect">
            <a:avLst/>
          </a:prstGeom>
          <a:noFill/>
          <a:ln/>
        </p:spPr>
        <p:txBody>
          <a:bodyPr wrap="square" lIns="0" tIns="0" rIns="0" bIns="0" rtlCol="0" anchor="ctr"/>
          <a:lstStyle/>
          <a:p>
            <a:pPr algn="ctr" indent="0" marL="0">
              <a:buNone/>
            </a:pPr>
            <a:r>
              <a:rPr lang="en-US" sz="1200" dirty="0">
                <a:solidFill>
                  <a:srgbClr val="8A6D1F"/>
                </a:solidFill>
                <a:latin typeface="Segoe UI" pitchFamily="34" charset="0"/>
                <a:ea typeface="Segoe UI" pitchFamily="34" charset="-122"/>
                <a:cs typeface="Segoe UI" pitchFamily="34" charset="-120"/>
              </a:rPr>
              <a:t>body / source</a:t>
            </a:r>
            <a:endParaRPr lang="en-US" sz="1200" dirty="0"/>
          </a:p>
        </p:txBody>
      </p:sp>
      <p:sp>
        <p:nvSpPr>
          <p:cNvPr id="23" name="!!spDiv"/>
          <p:cNvSpPr txBox="1"/>
          <p:nvPr/>
        </p:nvSpPr>
        <p:spPr>
          <a:xfrm>
            <a:off x="640080" y="4754880"/>
            <a:ext cx="4206240" cy="292608"/>
          </a:xfrm>
          <a:prstGeom prst="rect">
            <a:avLst/>
          </a:prstGeom>
          <a:noFill/>
          <a:ln/>
        </p:spPr>
        <p:txBody>
          <a:bodyPr wrap="square" lIns="0" tIns="0" rIns="0" bIns="0" rtlCol="0" anchor="t"/>
          <a:lstStyle/>
          <a:p>
            <a:pPr algn="ctr" indent="0" marL="0">
              <a:buNone/>
            </a:pPr>
            <a:r>
              <a:rPr lang="en-US" sz="1300" dirty="0">
                <a:solidFill>
                  <a:srgbClr val="6B5BC4"/>
                </a:solidFill>
                <a:latin typeface="Segoe UI Semibold" pitchFamily="34" charset="0"/>
                <a:ea typeface="Segoe UI Semibold" pitchFamily="34" charset="-122"/>
                <a:cs typeface="Segoe UI Semibold" pitchFamily="34" charset="-120"/>
              </a:rPr>
              <a:t>Δψs = ΔV</a:t>
            </a:r>
            <a:pPr algn="ctr" indent="0" marL="0">
              <a:buNone/>
            </a:pPr>
            <a:r>
              <a:rPr lang="en-US" sz="13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300" dirty="0">
                <a:solidFill>
                  <a:srgbClr val="6B5BC4"/>
                </a:solidFill>
                <a:latin typeface="Segoe UI Semibold" pitchFamily="34" charset="0"/>
                <a:ea typeface="Segoe UI Semibold" pitchFamily="34" charset="-122"/>
                <a:cs typeface="Segoe UI Semibold" pitchFamily="34" charset="-120"/>
              </a:rPr>
              <a:t> · C</a:t>
            </a:r>
            <a:pPr algn="ctr" indent="0" marL="0">
              <a:buNone/>
            </a:pPr>
            <a:r>
              <a:rPr lang="en-US" sz="1300" baseline="-40000" dirty="0">
                <a:solidFill>
                  <a:srgbClr val="6B5BC4"/>
                </a:solidFill>
                <a:latin typeface="Segoe UI Semibold" pitchFamily="34" charset="0"/>
                <a:ea typeface="Segoe UI Semibold" pitchFamily="34" charset="-122"/>
                <a:cs typeface="Segoe UI Semibold" pitchFamily="34" charset="-120"/>
              </a:rPr>
              <a:t>ox</a:t>
            </a:r>
            <a:pPr algn="ctr" indent="0" marL="0">
              <a:buNone/>
            </a:pPr>
            <a:r>
              <a:rPr lang="en-US" sz="1300" dirty="0">
                <a:solidFill>
                  <a:srgbClr val="6B5BC4"/>
                </a:solidFill>
                <a:latin typeface="Segoe UI Semibold" pitchFamily="34" charset="0"/>
                <a:ea typeface="Segoe UI Semibold" pitchFamily="34" charset="-122"/>
                <a:cs typeface="Segoe UI Semibold" pitchFamily="34" charset="-120"/>
              </a:rPr>
              <a:t> / (C</a:t>
            </a:r>
            <a:pPr algn="ctr" indent="0" marL="0">
              <a:buNone/>
            </a:pPr>
            <a:r>
              <a:rPr lang="en-US" sz="1300" baseline="-40000" dirty="0">
                <a:solidFill>
                  <a:srgbClr val="6B5BC4"/>
                </a:solidFill>
                <a:latin typeface="Segoe UI Semibold" pitchFamily="34" charset="0"/>
                <a:ea typeface="Segoe UI Semibold" pitchFamily="34" charset="-122"/>
                <a:cs typeface="Segoe UI Semibold" pitchFamily="34" charset="-120"/>
              </a:rPr>
              <a:t>ox</a:t>
            </a:r>
            <a:pPr algn="ctr" indent="0" marL="0">
              <a:buNone/>
            </a:pPr>
            <a:r>
              <a:rPr lang="en-US" sz="1300" dirty="0">
                <a:solidFill>
                  <a:srgbClr val="6B5BC4"/>
                </a:solidFill>
                <a:latin typeface="Segoe UI Semibold" pitchFamily="34" charset="0"/>
                <a:ea typeface="Segoe UI Semibold" pitchFamily="34" charset="-122"/>
                <a:cs typeface="Segoe UI Semibold" pitchFamily="34" charset="-120"/>
              </a:rPr>
              <a:t> + C</a:t>
            </a:r>
            <a:pPr algn="ctr" indent="0" marL="0">
              <a:buNone/>
            </a:pPr>
            <a:r>
              <a:rPr lang="en-US" sz="1300" baseline="-40000" dirty="0">
                <a:solidFill>
                  <a:srgbClr val="6B5BC4"/>
                </a:solidFill>
                <a:latin typeface="Segoe UI Semibold" pitchFamily="34" charset="0"/>
                <a:ea typeface="Segoe UI Semibold" pitchFamily="34" charset="-122"/>
                <a:cs typeface="Segoe UI Semibold" pitchFamily="34" charset="-120"/>
              </a:rPr>
              <a:t>dep</a:t>
            </a:r>
            <a:pPr algn="ctr" indent="0" marL="0">
              <a:buNone/>
            </a:pPr>
            <a:r>
              <a:rPr lang="en-US" sz="1300" dirty="0">
                <a:solidFill>
                  <a:srgbClr val="6B5BC4"/>
                </a:solidFill>
                <a:latin typeface="Segoe UI Semibold" pitchFamily="34" charset="0"/>
                <a:ea typeface="Segoe UI Semibold" pitchFamily="34" charset="-122"/>
                <a:cs typeface="Segoe UI Semibold" pitchFamily="34" charset="-120"/>
              </a:rPr>
              <a:t>)</a:t>
            </a:r>
            <a:endParaRPr lang="en-US" sz="1300" dirty="0"/>
          </a:p>
        </p:txBody>
      </p:sp>
      <p:sp>
        <p:nvSpPr>
          <p:cNvPr id="24" name="!!spK0"/>
          <p:cNvSpPr/>
          <p:nvPr/>
        </p:nvSpPr>
        <p:spPr>
          <a:xfrm>
            <a:off x="5669280" y="1508760"/>
            <a:ext cx="5971032" cy="896112"/>
          </a:xfrm>
          <a:prstGeom prst="roundRect">
            <a:avLst>
              <a:gd name="adj" fmla="val 6122"/>
            </a:avLst>
          </a:prstGeom>
          <a:solidFill>
            <a:srgbClr val="F4F5F7"/>
          </a:solidFill>
          <a:ln/>
        </p:spPr>
      </p:sp>
      <p:sp>
        <p:nvSpPr>
          <p:cNvPr id="25" name="!!spKn0"/>
          <p:cNvSpPr/>
          <p:nvPr/>
        </p:nvSpPr>
        <p:spPr>
          <a:xfrm>
            <a:off x="5843016" y="1682496"/>
            <a:ext cx="347472" cy="347472"/>
          </a:xfrm>
          <a:prstGeom prst="ellipse">
            <a:avLst/>
          </a:prstGeom>
          <a:solidFill>
            <a:srgbClr val="3E6AE1"/>
          </a:solidFill>
          <a:ln/>
        </p:spPr>
      </p:sp>
      <p:sp>
        <p:nvSpPr>
          <p:cNvPr id="26" name="!!spKnt0"/>
          <p:cNvSpPr txBox="1"/>
          <p:nvPr/>
        </p:nvSpPr>
        <p:spPr>
          <a:xfrm>
            <a:off x="5843016" y="1682496"/>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7" name="!!spKh0"/>
          <p:cNvSpPr txBox="1"/>
          <p:nvPr/>
        </p:nvSpPr>
        <p:spPr>
          <a:xfrm>
            <a:off x="6355080" y="1645920"/>
            <a:ext cx="5120640" cy="292608"/>
          </a:xfrm>
          <a:prstGeom prst="rect">
            <a:avLst/>
          </a:prstGeom>
          <a:noFill/>
          <a:ln/>
        </p:spPr>
        <p:txBody>
          <a:bodyPr wrap="square" lIns="0" tIns="0" rIns="0" bIns="0" rtlCol="0" anchor="t"/>
          <a:lstStyle/>
          <a:p>
            <a:pPr algn="l" indent="0" marL="0">
              <a:buNone/>
            </a:pPr>
            <a:r>
              <a:rPr lang="en-US" sz="1500" dirty="0">
                <a:solidFill>
                  <a:srgbClr val="3E6AE1"/>
                </a:solidFill>
                <a:latin typeface="Segoe UI Semibold" pitchFamily="34" charset="0"/>
                <a:ea typeface="Segoe UI Semibold" pitchFamily="34" charset="-122"/>
                <a:cs typeface="Segoe UI Semibold" pitchFamily="34" charset="-120"/>
              </a:rPr>
              <a:t>Barrier rule</a:t>
            </a:r>
            <a:endParaRPr lang="en-US" sz="1500" dirty="0"/>
          </a:p>
        </p:txBody>
      </p:sp>
      <p:sp>
        <p:nvSpPr>
          <p:cNvPr id="28" name="!!spKb0"/>
          <p:cNvSpPr txBox="1"/>
          <p:nvPr/>
        </p:nvSpPr>
        <p:spPr>
          <a:xfrm>
            <a:off x="6355080" y="1947672"/>
            <a:ext cx="516636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I</a:t>
            </a:r>
            <a:pPr algn="l" indent="0" marL="0">
              <a:buNone/>
            </a:pPr>
            <a:r>
              <a:rPr lang="en-US" sz="1200" baseline="-40000" dirty="0">
                <a:solidFill>
                  <a:srgbClr val="5C5E62"/>
                </a:solidFill>
                <a:latin typeface="Segoe UI" pitchFamily="34" charset="0"/>
                <a:ea typeface="Segoe UI" pitchFamily="34" charset="-122"/>
                <a:cs typeface="Segoe UI" pitchFamily="34" charset="-120"/>
              </a:rPr>
              <a:t>D</a:t>
            </a:r>
            <a:pPr algn="l" indent="0" marL="0">
              <a:buNone/>
            </a:pPr>
            <a:r>
              <a:rPr lang="en-US" sz="1200" dirty="0">
                <a:solidFill>
                  <a:srgbClr val="5C5E62"/>
                </a:solidFill>
                <a:latin typeface="Segoe UI" pitchFamily="34" charset="0"/>
                <a:ea typeface="Segoe UI" pitchFamily="34" charset="-122"/>
                <a:cs typeface="Segoe UI" pitchFamily="34" charset="-120"/>
              </a:rPr>
              <a:t> ∝ exp(qψs / kT): the current depends only on the hill height ψs.</a:t>
            </a:r>
            <a:endParaRPr lang="en-US" sz="1200" dirty="0"/>
          </a:p>
        </p:txBody>
      </p:sp>
      <p:sp>
        <p:nvSpPr>
          <p:cNvPr id="29" name="!!spK1"/>
          <p:cNvSpPr/>
          <p:nvPr/>
        </p:nvSpPr>
        <p:spPr>
          <a:xfrm>
            <a:off x="5669280" y="2532888"/>
            <a:ext cx="5971032" cy="896112"/>
          </a:xfrm>
          <a:prstGeom prst="roundRect">
            <a:avLst>
              <a:gd name="adj" fmla="val 6122"/>
            </a:avLst>
          </a:prstGeom>
          <a:solidFill>
            <a:srgbClr val="F4F5F7"/>
          </a:solidFill>
          <a:ln/>
        </p:spPr>
      </p:sp>
      <p:sp>
        <p:nvSpPr>
          <p:cNvPr id="30" name="!!spKn1"/>
          <p:cNvSpPr/>
          <p:nvPr/>
        </p:nvSpPr>
        <p:spPr>
          <a:xfrm>
            <a:off x="5843016" y="2706624"/>
            <a:ext cx="347472" cy="347472"/>
          </a:xfrm>
          <a:prstGeom prst="ellipse">
            <a:avLst/>
          </a:prstGeom>
          <a:solidFill>
            <a:srgbClr val="E07B00"/>
          </a:solidFill>
          <a:ln/>
        </p:spPr>
      </p:sp>
      <p:sp>
        <p:nvSpPr>
          <p:cNvPr id="31" name="!!spKnt1"/>
          <p:cNvSpPr txBox="1"/>
          <p:nvPr/>
        </p:nvSpPr>
        <p:spPr>
          <a:xfrm>
            <a:off x="5843016" y="2706624"/>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32" name="!!spKh1"/>
          <p:cNvSpPr txBox="1"/>
          <p:nvPr/>
        </p:nvSpPr>
        <p:spPr>
          <a:xfrm>
            <a:off x="6355080" y="2670048"/>
            <a:ext cx="5120640" cy="292608"/>
          </a:xfrm>
          <a:prstGeom prst="rect">
            <a:avLst/>
          </a:prstGeom>
          <a:noFill/>
          <a:ln/>
        </p:spPr>
        <p:txBody>
          <a:bodyPr wrap="square" lIns="0" tIns="0" rIns="0" bIns="0" rtlCol="0" anchor="t"/>
          <a:lstStyle/>
          <a:p>
            <a:pPr algn="l" indent="0" marL="0">
              <a:buNone/>
            </a:pPr>
            <a:r>
              <a:rPr lang="en-US" sz="1500" dirty="0">
                <a:solidFill>
                  <a:srgbClr val="E07B00"/>
                </a:solidFill>
                <a:latin typeface="Segoe UI Semibold" pitchFamily="34" charset="0"/>
                <a:ea typeface="Segoe UI Semibold" pitchFamily="34" charset="-122"/>
                <a:cs typeface="Segoe UI Semibold" pitchFamily="34" charset="-120"/>
              </a:rPr>
              <a:t>10× current needs 59.5 mV</a:t>
            </a:r>
            <a:endParaRPr lang="en-US" sz="1500" dirty="0"/>
          </a:p>
        </p:txBody>
      </p:sp>
      <p:sp>
        <p:nvSpPr>
          <p:cNvPr id="33" name="!!spKb1"/>
          <p:cNvSpPr txBox="1"/>
          <p:nvPr/>
        </p:nvSpPr>
        <p:spPr>
          <a:xfrm>
            <a:off x="6355080" y="2971800"/>
            <a:ext cx="516636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Δψs = (kT/q)·ln10 = 25.85 mV × 2.303 = 59.5 mV at 300 K.</a:t>
            </a:r>
            <a:endParaRPr lang="en-US" sz="1200" dirty="0"/>
          </a:p>
        </p:txBody>
      </p:sp>
      <p:sp>
        <p:nvSpPr>
          <p:cNvPr id="34" name="!!spK2"/>
          <p:cNvSpPr/>
          <p:nvPr/>
        </p:nvSpPr>
        <p:spPr>
          <a:xfrm>
            <a:off x="5669280" y="3557016"/>
            <a:ext cx="5971032" cy="896112"/>
          </a:xfrm>
          <a:prstGeom prst="roundRect">
            <a:avLst>
              <a:gd name="adj" fmla="val 6122"/>
            </a:avLst>
          </a:prstGeom>
          <a:solidFill>
            <a:srgbClr val="F4F5F7"/>
          </a:solidFill>
          <a:ln/>
        </p:spPr>
      </p:sp>
      <p:sp>
        <p:nvSpPr>
          <p:cNvPr id="35" name="!!spKn2"/>
          <p:cNvSpPr/>
          <p:nvPr/>
        </p:nvSpPr>
        <p:spPr>
          <a:xfrm>
            <a:off x="5843016" y="3730752"/>
            <a:ext cx="347472" cy="347472"/>
          </a:xfrm>
          <a:prstGeom prst="ellipse">
            <a:avLst/>
          </a:prstGeom>
          <a:solidFill>
            <a:srgbClr val="6B5BC4"/>
          </a:solidFill>
          <a:ln/>
        </p:spPr>
      </p:sp>
      <p:sp>
        <p:nvSpPr>
          <p:cNvPr id="36" name="!!spKnt2"/>
          <p:cNvSpPr txBox="1"/>
          <p:nvPr/>
        </p:nvSpPr>
        <p:spPr>
          <a:xfrm>
            <a:off x="5843016" y="373075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7" name="!!spKh2"/>
          <p:cNvSpPr txBox="1"/>
          <p:nvPr/>
        </p:nvSpPr>
        <p:spPr>
          <a:xfrm>
            <a:off x="6355080" y="3694176"/>
            <a:ext cx="5120640" cy="292608"/>
          </a:xfrm>
          <a:prstGeom prst="rect">
            <a:avLst/>
          </a:prstGeom>
          <a:noFill/>
          <a:ln/>
        </p:spPr>
        <p:txBody>
          <a:bodyPr wrap="square" lIns="0" tIns="0" rIns="0" bIns="0" rtlCol="0" anchor="t"/>
          <a:lstStyle/>
          <a:p>
            <a:pPr algn="l" indent="0" marL="0">
              <a:buNone/>
            </a:pPr>
            <a:r>
              <a:rPr lang="en-US" sz="1500" dirty="0">
                <a:solidFill>
                  <a:srgbClr val="6B5BC4"/>
                </a:solidFill>
                <a:latin typeface="Segoe UI Semibold" pitchFamily="34" charset="0"/>
                <a:ea typeface="Segoe UI Semibold" pitchFamily="34" charset="-122"/>
                <a:cs typeface="Segoe UI Semibold" pitchFamily="34" charset="-120"/>
              </a:rPr>
              <a:t>The gate moves ψs through a divider</a:t>
            </a:r>
            <a:endParaRPr lang="en-US" sz="1500" dirty="0"/>
          </a:p>
        </p:txBody>
      </p:sp>
      <p:sp>
        <p:nvSpPr>
          <p:cNvPr id="38" name="!!spKb2"/>
          <p:cNvSpPr txBox="1"/>
          <p:nvPr/>
        </p:nvSpPr>
        <p:spPr>
          <a:xfrm>
            <a:off x="6355080" y="3995928"/>
            <a:ext cx="516636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Only the part C</a:t>
            </a:r>
            <a:pPr algn="l" indent="0" marL="0">
              <a:buNone/>
            </a:pPr>
            <a:r>
              <a:rPr lang="en-US" sz="1200" baseline="-40000" dirty="0">
                <a:solidFill>
                  <a:srgbClr val="5C5E62"/>
                </a:solidFill>
                <a:latin typeface="Segoe UI" pitchFamily="34" charset="0"/>
                <a:ea typeface="Segoe UI" pitchFamily="34" charset="-122"/>
                <a:cs typeface="Segoe UI" pitchFamily="34" charset="-120"/>
              </a:rPr>
              <a:t>ox</a:t>
            </a:r>
            <a:pPr algn="l" indent="0" marL="0">
              <a:buNone/>
            </a:pPr>
            <a:r>
              <a:rPr lang="en-US" sz="1200" dirty="0">
                <a:solidFill>
                  <a:srgbClr val="5C5E62"/>
                </a:solidFill>
                <a:latin typeface="Segoe UI" pitchFamily="34" charset="0"/>
                <a:ea typeface="Segoe UI" pitchFamily="34" charset="-122"/>
                <a:cs typeface="Segoe UI" pitchFamily="34" charset="-120"/>
              </a:rPr>
              <a:t> / (C</a:t>
            </a:r>
            <a:pPr algn="l" indent="0" marL="0">
              <a:buNone/>
            </a:pPr>
            <a:r>
              <a:rPr lang="en-US" sz="1200" baseline="-40000" dirty="0">
                <a:solidFill>
                  <a:srgbClr val="5C5E62"/>
                </a:solidFill>
                <a:latin typeface="Segoe UI" pitchFamily="34" charset="0"/>
                <a:ea typeface="Segoe UI" pitchFamily="34" charset="-122"/>
                <a:cs typeface="Segoe UI" pitchFamily="34" charset="-120"/>
              </a:rPr>
              <a:t>ox</a:t>
            </a:r>
            <a:pPr algn="l" indent="0" marL="0">
              <a:buNone/>
            </a:pPr>
            <a:r>
              <a:rPr lang="en-US" sz="1200" dirty="0">
                <a:solidFill>
                  <a:srgbClr val="5C5E62"/>
                </a:solidFill>
                <a:latin typeface="Segoe UI" pitchFamily="34" charset="0"/>
                <a:ea typeface="Segoe UI" pitchFamily="34" charset="-122"/>
                <a:cs typeface="Segoe UI" pitchFamily="34" charset="-120"/>
              </a:rPr>
              <a:t> + C</a:t>
            </a:r>
            <a:pPr algn="l" indent="0" marL="0">
              <a:buNone/>
            </a:pPr>
            <a:r>
              <a:rPr lang="en-US" sz="1200" baseline="-40000" dirty="0">
                <a:solidFill>
                  <a:srgbClr val="5C5E62"/>
                </a:solidFill>
                <a:latin typeface="Segoe UI" pitchFamily="34" charset="0"/>
                <a:ea typeface="Segoe UI" pitchFamily="34" charset="-122"/>
                <a:cs typeface="Segoe UI" pitchFamily="34" charset="-120"/>
              </a:rPr>
              <a:t>dep</a:t>
            </a:r>
            <a:pPr algn="l" indent="0" marL="0">
              <a:buNone/>
            </a:pPr>
            <a:r>
              <a:rPr lang="en-US" sz="1200" dirty="0">
                <a:solidFill>
                  <a:srgbClr val="5C5E62"/>
                </a:solidFill>
                <a:latin typeface="Segoe UI" pitchFamily="34" charset="0"/>
                <a:ea typeface="Segoe UI" pitchFamily="34" charset="-122"/>
                <a:cs typeface="Segoe UI" pitchFamily="34" charset="-120"/>
              </a:rPr>
              <a:t>) of ΔV</a:t>
            </a:r>
            <a:pPr algn="l" indent="0" marL="0">
              <a:buNone/>
            </a:pPr>
            <a:r>
              <a:rPr lang="en-US" sz="1200" baseline="-40000" dirty="0">
                <a:solidFill>
                  <a:srgbClr val="5C5E62"/>
                </a:solidFill>
                <a:latin typeface="Segoe UI" pitchFamily="34" charset="0"/>
                <a:ea typeface="Segoe UI" pitchFamily="34" charset="-122"/>
                <a:cs typeface="Segoe UI" pitchFamily="34" charset="-120"/>
              </a:rPr>
              <a:t>G</a:t>
            </a:r>
            <a:pPr algn="l" indent="0" marL="0">
              <a:buNone/>
            </a:pPr>
            <a:r>
              <a:rPr lang="en-US" sz="1200" dirty="0">
                <a:solidFill>
                  <a:srgbClr val="5C5E62"/>
                </a:solidFill>
                <a:latin typeface="Segoe UI" pitchFamily="34" charset="0"/>
                <a:ea typeface="Segoe UI" pitchFamily="34" charset="-122"/>
                <a:cs typeface="Segoe UI" pitchFamily="34" charset="-120"/>
              </a:rPr>
              <a:t> reaches ψs.</a:t>
            </a:r>
            <a:endParaRPr lang="en-US" sz="1200" dirty="0"/>
          </a:p>
        </p:txBody>
      </p:sp>
      <p:sp>
        <p:nvSpPr>
          <p:cNvPr id="3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But the gate does not move ψs one-for-one: it shares its voltage with C</a:t>
            </a:r>
            <a:pPr algn="ctr" indent="0" marL="0">
              <a:buNone/>
            </a:pPr>
            <a:r>
              <a:rPr lang="en-US" sz="1600" baseline="-40000" dirty="0">
                <a:solidFill>
                  <a:srgbClr val="171A20"/>
                </a:solidFill>
                <a:latin typeface="Segoe UI" pitchFamily="34" charset="0"/>
                <a:ea typeface="Segoe UI" pitchFamily="34" charset="-122"/>
                <a:cs typeface="Segoe UI" pitchFamily="34" charset="-120"/>
              </a:rPr>
              <a:t>dep</a:t>
            </a:r>
            <a:pPr algn="ctr" indent="0" marL="0">
              <a:buNone/>
            </a:pPr>
            <a:r>
              <a:rPr lang="en-US" sz="1600" dirty="0">
                <a:solidFill>
                  <a:srgbClr val="171A20"/>
                </a:solidFill>
                <a:latin typeface="Segoe UI" pitchFamily="34" charset="0"/>
                <a:ea typeface="Segoe UI" pitchFamily="34" charset="-122"/>
                <a:cs typeface="Segoe UI" pitchFamily="34" charset="-120"/>
              </a:rPr>
              <a: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Why SS can never beat 60 mV/dec</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Two facts give the limit: the barrier rule and a capacitor divider</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171A20"/>
          </a:solidFill>
          <a:ln/>
        </p:spPr>
      </p:sp>
      <p:sp>
        <p:nvSpPr>
          <p:cNvPr id="6" name="!!sdot2"/>
          <p:cNvSpPr/>
          <p:nvPr/>
        </p:nvSpPr>
        <p:spPr>
          <a:xfrm>
            <a:off x="11443716" y="525780"/>
            <a:ext cx="82296" cy="82296"/>
          </a:xfrm>
          <a:prstGeom prst="ellipse">
            <a:avLst/>
          </a:prstGeom>
          <a:solidFill>
            <a:srgbClr val="171A20"/>
          </a:solidFill>
          <a:ln/>
        </p:spPr>
      </p:sp>
      <p:sp>
        <p:nvSpPr>
          <p:cNvPr id="7" name="!!sdot3"/>
          <p:cNvSpPr/>
          <p:nvPr/>
        </p:nvSpPr>
        <p:spPr>
          <a:xfrm>
            <a:off x="11599164" y="525780"/>
            <a:ext cx="82296" cy="82296"/>
          </a:xfrm>
          <a:prstGeom prst="ellipse">
            <a:avLst/>
          </a:prstGeom>
          <a:solidFill>
            <a:srgbClr val="171A20"/>
          </a:solidFill>
          <a:ln/>
        </p:spPr>
      </p:sp>
      <p:sp>
        <p:nvSpPr>
          <p:cNvPr id="8" name="!!spG"/>
          <p:cNvSpPr/>
          <p:nvPr/>
        </p:nvSpPr>
        <p:spPr>
          <a:xfrm>
            <a:off x="1371600" y="1554480"/>
            <a:ext cx="2011680" cy="411480"/>
          </a:xfrm>
          <a:prstGeom prst="roundRect">
            <a:avLst>
              <a:gd name="adj" fmla="val 11111"/>
            </a:avLst>
          </a:prstGeom>
          <a:solidFill>
            <a:srgbClr val="B3A6E6"/>
          </a:solidFill>
          <a:ln/>
        </p:spPr>
      </p:sp>
      <p:sp>
        <p:nvSpPr>
          <p:cNvPr id="9" name="!!spGl"/>
          <p:cNvSpPr txBox="1"/>
          <p:nvPr/>
        </p:nvSpPr>
        <p:spPr>
          <a:xfrm>
            <a:off x="1371600" y="1554480"/>
            <a:ext cx="2011680" cy="411480"/>
          </a:xfrm>
          <a:prstGeom prst="rect">
            <a:avLst/>
          </a:prstGeom>
          <a:noFill/>
          <a:ln/>
        </p:spPr>
        <p:txBody>
          <a:bodyPr wrap="square" lIns="0" tIns="0" rIns="0" bIns="0" rtlCol="0" anchor="ctr"/>
          <a:lstStyle/>
          <a:p>
            <a:pPr algn="ctr" indent="0" marL="0">
              <a:buNone/>
            </a:pPr>
            <a:r>
              <a:rPr lang="en-US" sz="1300" dirty="0">
                <a:solidFill>
                  <a:srgbClr val="3D2F7A"/>
                </a:solidFill>
                <a:latin typeface="Segoe UI Semibold" pitchFamily="34" charset="0"/>
                <a:ea typeface="Segoe UI Semibold" pitchFamily="34" charset="-122"/>
                <a:cs typeface="Segoe UI Semibold" pitchFamily="34" charset="-120"/>
              </a:rPr>
              <a:t>gate  V</a:t>
            </a:r>
            <a:pPr algn="ctr" indent="0" marL="0">
              <a:buNone/>
            </a:pPr>
            <a:r>
              <a:rPr lang="en-US" sz="1300" baseline="-40000" dirty="0">
                <a:solidFill>
                  <a:srgbClr val="3D2F7A"/>
                </a:solidFill>
                <a:latin typeface="Segoe UI Semibold" pitchFamily="34" charset="0"/>
                <a:ea typeface="Segoe UI Semibold" pitchFamily="34" charset="-122"/>
                <a:cs typeface="Segoe UI Semibold" pitchFamily="34" charset="-120"/>
              </a:rPr>
              <a:t>G</a:t>
            </a:r>
            <a:endParaRPr lang="en-US" sz="1300" dirty="0"/>
          </a:p>
        </p:txBody>
      </p:sp>
      <p:sp>
        <p:nvSpPr>
          <p:cNvPr id="10" name="!!spW1"/>
          <p:cNvSpPr/>
          <p:nvPr/>
        </p:nvSpPr>
        <p:spPr>
          <a:xfrm>
            <a:off x="2377440" y="1965960"/>
            <a:ext cx="91" cy="365760"/>
          </a:xfrm>
          <a:prstGeom prst="line">
            <a:avLst/>
          </a:prstGeom>
          <a:noFill/>
          <a:ln w="25400">
            <a:solidFill>
              <a:srgbClr val="171A20"/>
            </a:solidFill>
            <a:prstDash val="solid"/>
          </a:ln>
        </p:spPr>
      </p:sp>
      <p:sp>
        <p:nvSpPr>
          <p:cNvPr id="11" name="!!spC1a"/>
          <p:cNvSpPr/>
          <p:nvPr/>
        </p:nvSpPr>
        <p:spPr>
          <a:xfrm>
            <a:off x="1828800" y="2331720"/>
            <a:ext cx="1097280" cy="91"/>
          </a:xfrm>
          <a:prstGeom prst="line">
            <a:avLst/>
          </a:prstGeom>
          <a:noFill/>
          <a:ln w="38100">
            <a:solidFill>
              <a:srgbClr val="171A20"/>
            </a:solidFill>
            <a:prstDash val="solid"/>
          </a:ln>
        </p:spPr>
      </p:sp>
      <p:sp>
        <p:nvSpPr>
          <p:cNvPr id="12" name="!!spC1b"/>
          <p:cNvSpPr/>
          <p:nvPr/>
        </p:nvSpPr>
        <p:spPr>
          <a:xfrm>
            <a:off x="1828800" y="2487168"/>
            <a:ext cx="1097280" cy="91"/>
          </a:xfrm>
          <a:prstGeom prst="line">
            <a:avLst/>
          </a:prstGeom>
          <a:noFill/>
          <a:ln w="38100">
            <a:solidFill>
              <a:srgbClr val="171A20"/>
            </a:solidFill>
            <a:prstDash val="solid"/>
          </a:ln>
        </p:spPr>
      </p:sp>
      <p:sp>
        <p:nvSpPr>
          <p:cNvPr id="13" name="!!spC1l"/>
          <p:cNvSpPr txBox="1"/>
          <p:nvPr/>
        </p:nvSpPr>
        <p:spPr>
          <a:xfrm>
            <a:off x="3063240" y="2286000"/>
            <a:ext cx="1828800" cy="256032"/>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a:t>
            </a:r>
            <a:pPr algn="l" indent="0" marL="0">
              <a:buNone/>
            </a:pPr>
            <a:r>
              <a:rPr lang="en-US" sz="1200" baseline="-40000" dirty="0">
                <a:solidFill>
                  <a:srgbClr val="5C5E62"/>
                </a:solidFill>
                <a:latin typeface="Segoe UI" pitchFamily="34" charset="0"/>
                <a:ea typeface="Segoe UI" pitchFamily="34" charset="-122"/>
                <a:cs typeface="Segoe UI" pitchFamily="34" charset="-120"/>
              </a:rPr>
              <a:t>ox</a:t>
            </a:r>
            <a:pPr algn="l" indent="0" marL="0">
              <a:buNone/>
            </a:pPr>
            <a:r>
              <a:rPr lang="en-US" sz="1200" dirty="0">
                <a:solidFill>
                  <a:srgbClr val="5C5E62"/>
                </a:solidFill>
                <a:latin typeface="Segoe UI" pitchFamily="34" charset="0"/>
                <a:ea typeface="Segoe UI" pitchFamily="34" charset="-122"/>
                <a:cs typeface="Segoe UI" pitchFamily="34" charset="-120"/>
              </a:rPr>
              <a:t> (gate oxide)</a:t>
            </a:r>
            <a:endParaRPr lang="en-US" sz="1200" dirty="0"/>
          </a:p>
        </p:txBody>
      </p:sp>
      <p:sp>
        <p:nvSpPr>
          <p:cNvPr id="14" name="!!spW2"/>
          <p:cNvSpPr/>
          <p:nvPr/>
        </p:nvSpPr>
        <p:spPr>
          <a:xfrm>
            <a:off x="2377440" y="2487168"/>
            <a:ext cx="91" cy="1124712"/>
          </a:xfrm>
          <a:prstGeom prst="line">
            <a:avLst/>
          </a:prstGeom>
          <a:noFill/>
          <a:ln w="25400">
            <a:solidFill>
              <a:srgbClr val="171A20"/>
            </a:solidFill>
            <a:prstDash val="solid"/>
          </a:ln>
        </p:spPr>
      </p:sp>
      <p:sp>
        <p:nvSpPr>
          <p:cNvPr id="15" name="!!spN"/>
          <p:cNvSpPr/>
          <p:nvPr/>
        </p:nvSpPr>
        <p:spPr>
          <a:xfrm>
            <a:off x="2267712" y="2862072"/>
            <a:ext cx="219456" cy="219456"/>
          </a:xfrm>
          <a:prstGeom prst="ellipse">
            <a:avLst/>
          </a:prstGeom>
          <a:solidFill>
            <a:srgbClr val="6B5BC4"/>
          </a:solidFill>
          <a:ln/>
        </p:spPr>
      </p:sp>
      <p:sp>
        <p:nvSpPr>
          <p:cNvPr id="16" name="!!spNl"/>
          <p:cNvSpPr txBox="1"/>
          <p:nvPr/>
        </p:nvSpPr>
        <p:spPr>
          <a:xfrm>
            <a:off x="2606040" y="2852928"/>
            <a:ext cx="2011680" cy="256032"/>
          </a:xfrm>
          <a:prstGeom prst="rect">
            <a:avLst/>
          </a:prstGeom>
          <a:noFill/>
          <a:ln/>
        </p:spPr>
        <p:txBody>
          <a:bodyPr wrap="square" lIns="0" tIns="0" rIns="0" bIns="0" rtlCol="0" anchor="t"/>
          <a:lstStyle/>
          <a:p>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ψs  (hill height)</a:t>
            </a:r>
            <a:endParaRPr lang="en-US" sz="1200" dirty="0"/>
          </a:p>
        </p:txBody>
      </p:sp>
      <p:sp>
        <p:nvSpPr>
          <p:cNvPr id="17" name="!!spC2a"/>
          <p:cNvSpPr/>
          <p:nvPr/>
        </p:nvSpPr>
        <p:spPr>
          <a:xfrm>
            <a:off x="1828800" y="3611880"/>
            <a:ext cx="1097280" cy="91"/>
          </a:xfrm>
          <a:prstGeom prst="line">
            <a:avLst/>
          </a:prstGeom>
          <a:noFill/>
          <a:ln w="38100">
            <a:solidFill>
              <a:srgbClr val="171A20"/>
            </a:solidFill>
            <a:prstDash val="solid"/>
          </a:ln>
        </p:spPr>
      </p:sp>
      <p:sp>
        <p:nvSpPr>
          <p:cNvPr id="18" name="!!spC2b"/>
          <p:cNvSpPr/>
          <p:nvPr/>
        </p:nvSpPr>
        <p:spPr>
          <a:xfrm>
            <a:off x="1828800" y="3767328"/>
            <a:ext cx="1097280" cy="91"/>
          </a:xfrm>
          <a:prstGeom prst="line">
            <a:avLst/>
          </a:prstGeom>
          <a:noFill/>
          <a:ln w="38100">
            <a:solidFill>
              <a:srgbClr val="171A20"/>
            </a:solidFill>
            <a:prstDash val="solid"/>
          </a:ln>
        </p:spPr>
      </p:sp>
      <p:sp>
        <p:nvSpPr>
          <p:cNvPr id="19" name="!!spC2l"/>
          <p:cNvSpPr txBox="1"/>
          <p:nvPr/>
        </p:nvSpPr>
        <p:spPr>
          <a:xfrm>
            <a:off x="3063240" y="3566160"/>
            <a:ext cx="2011680" cy="256032"/>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a:t>
            </a:r>
            <a:pPr algn="l" indent="0" marL="0">
              <a:buNone/>
            </a:pPr>
            <a:r>
              <a:rPr lang="en-US" sz="1200" baseline="-40000" dirty="0">
                <a:solidFill>
                  <a:srgbClr val="5C5E62"/>
                </a:solidFill>
                <a:latin typeface="Segoe UI" pitchFamily="34" charset="0"/>
                <a:ea typeface="Segoe UI" pitchFamily="34" charset="-122"/>
                <a:cs typeface="Segoe UI" pitchFamily="34" charset="-120"/>
              </a:rPr>
              <a:t>dep</a:t>
            </a:r>
            <a:pPr algn="l" indent="0" marL="0">
              <a:buNone/>
            </a:pPr>
            <a:r>
              <a:rPr lang="en-US" sz="1200" dirty="0">
                <a:solidFill>
                  <a:srgbClr val="5C5E62"/>
                </a:solidFill>
                <a:latin typeface="Segoe UI" pitchFamily="34" charset="0"/>
                <a:ea typeface="Segoe UI" pitchFamily="34" charset="-122"/>
                <a:cs typeface="Segoe UI" pitchFamily="34" charset="-120"/>
              </a:rPr>
              <a:t> (depleted body)</a:t>
            </a:r>
            <a:endParaRPr lang="en-US" sz="1200" dirty="0"/>
          </a:p>
        </p:txBody>
      </p:sp>
      <p:sp>
        <p:nvSpPr>
          <p:cNvPr id="20" name="!!spW3"/>
          <p:cNvSpPr/>
          <p:nvPr/>
        </p:nvSpPr>
        <p:spPr>
          <a:xfrm>
            <a:off x="2377440" y="3767328"/>
            <a:ext cx="91" cy="347472"/>
          </a:xfrm>
          <a:prstGeom prst="line">
            <a:avLst/>
          </a:prstGeom>
          <a:noFill/>
          <a:ln w="25400">
            <a:solidFill>
              <a:srgbClr val="171A20"/>
            </a:solidFill>
            <a:prstDash val="solid"/>
          </a:ln>
        </p:spPr>
      </p:sp>
      <p:sp>
        <p:nvSpPr>
          <p:cNvPr id="21" name="!!spB"/>
          <p:cNvSpPr/>
          <p:nvPr/>
        </p:nvSpPr>
        <p:spPr>
          <a:xfrm>
            <a:off x="1371600" y="4114800"/>
            <a:ext cx="2011680" cy="365760"/>
          </a:xfrm>
          <a:prstGeom prst="roundRect">
            <a:avLst>
              <a:gd name="adj" fmla="val 12500"/>
            </a:avLst>
          </a:prstGeom>
          <a:solidFill>
            <a:srgbClr val="F6E7B8"/>
          </a:solidFill>
          <a:ln/>
        </p:spPr>
      </p:sp>
      <p:sp>
        <p:nvSpPr>
          <p:cNvPr id="22" name="!!spBl"/>
          <p:cNvSpPr txBox="1"/>
          <p:nvPr/>
        </p:nvSpPr>
        <p:spPr>
          <a:xfrm>
            <a:off x="1371600" y="4114800"/>
            <a:ext cx="2011680" cy="365760"/>
          </a:xfrm>
          <a:prstGeom prst="rect">
            <a:avLst/>
          </a:prstGeom>
          <a:noFill/>
          <a:ln/>
        </p:spPr>
        <p:txBody>
          <a:bodyPr wrap="square" lIns="0" tIns="0" rIns="0" bIns="0" rtlCol="0" anchor="ctr"/>
          <a:lstStyle/>
          <a:p>
            <a:pPr algn="ctr" indent="0" marL="0">
              <a:buNone/>
            </a:pPr>
            <a:r>
              <a:rPr lang="en-US" sz="1200" dirty="0">
                <a:solidFill>
                  <a:srgbClr val="8A6D1F"/>
                </a:solidFill>
                <a:latin typeface="Segoe UI" pitchFamily="34" charset="0"/>
                <a:ea typeface="Segoe UI" pitchFamily="34" charset="-122"/>
                <a:cs typeface="Segoe UI" pitchFamily="34" charset="-120"/>
              </a:rPr>
              <a:t>body / source</a:t>
            </a:r>
            <a:endParaRPr lang="en-US" sz="1200" dirty="0"/>
          </a:p>
        </p:txBody>
      </p:sp>
      <p:sp>
        <p:nvSpPr>
          <p:cNvPr id="23" name="!!spDiv"/>
          <p:cNvSpPr txBox="1"/>
          <p:nvPr/>
        </p:nvSpPr>
        <p:spPr>
          <a:xfrm>
            <a:off x="640080" y="4754880"/>
            <a:ext cx="4206240" cy="292608"/>
          </a:xfrm>
          <a:prstGeom prst="rect">
            <a:avLst/>
          </a:prstGeom>
          <a:noFill/>
          <a:ln/>
        </p:spPr>
        <p:txBody>
          <a:bodyPr wrap="square" lIns="0" tIns="0" rIns="0" bIns="0" rtlCol="0" anchor="t"/>
          <a:lstStyle/>
          <a:p>
            <a:pPr algn="ctr" indent="0" marL="0">
              <a:buNone/>
            </a:pPr>
            <a:r>
              <a:rPr lang="en-US" sz="1300" dirty="0">
                <a:solidFill>
                  <a:srgbClr val="6B5BC4"/>
                </a:solidFill>
                <a:latin typeface="Segoe UI Semibold" pitchFamily="34" charset="0"/>
                <a:ea typeface="Segoe UI Semibold" pitchFamily="34" charset="-122"/>
                <a:cs typeface="Segoe UI Semibold" pitchFamily="34" charset="-120"/>
              </a:rPr>
              <a:t>Δψs = ΔV</a:t>
            </a:r>
            <a:pPr algn="ctr" indent="0" marL="0">
              <a:buNone/>
            </a:pPr>
            <a:r>
              <a:rPr lang="en-US" sz="13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300" dirty="0">
                <a:solidFill>
                  <a:srgbClr val="6B5BC4"/>
                </a:solidFill>
                <a:latin typeface="Segoe UI Semibold" pitchFamily="34" charset="0"/>
                <a:ea typeface="Segoe UI Semibold" pitchFamily="34" charset="-122"/>
                <a:cs typeface="Segoe UI Semibold" pitchFamily="34" charset="-120"/>
              </a:rPr>
              <a:t> · C</a:t>
            </a:r>
            <a:pPr algn="ctr" indent="0" marL="0">
              <a:buNone/>
            </a:pPr>
            <a:r>
              <a:rPr lang="en-US" sz="1300" baseline="-40000" dirty="0">
                <a:solidFill>
                  <a:srgbClr val="6B5BC4"/>
                </a:solidFill>
                <a:latin typeface="Segoe UI Semibold" pitchFamily="34" charset="0"/>
                <a:ea typeface="Segoe UI Semibold" pitchFamily="34" charset="-122"/>
                <a:cs typeface="Segoe UI Semibold" pitchFamily="34" charset="-120"/>
              </a:rPr>
              <a:t>ox</a:t>
            </a:r>
            <a:pPr algn="ctr" indent="0" marL="0">
              <a:buNone/>
            </a:pPr>
            <a:r>
              <a:rPr lang="en-US" sz="1300" dirty="0">
                <a:solidFill>
                  <a:srgbClr val="6B5BC4"/>
                </a:solidFill>
                <a:latin typeface="Segoe UI Semibold" pitchFamily="34" charset="0"/>
                <a:ea typeface="Segoe UI Semibold" pitchFamily="34" charset="-122"/>
                <a:cs typeface="Segoe UI Semibold" pitchFamily="34" charset="-120"/>
              </a:rPr>
              <a:t> / (C</a:t>
            </a:r>
            <a:pPr algn="ctr" indent="0" marL="0">
              <a:buNone/>
            </a:pPr>
            <a:r>
              <a:rPr lang="en-US" sz="1300" baseline="-40000" dirty="0">
                <a:solidFill>
                  <a:srgbClr val="6B5BC4"/>
                </a:solidFill>
                <a:latin typeface="Segoe UI Semibold" pitchFamily="34" charset="0"/>
                <a:ea typeface="Segoe UI Semibold" pitchFamily="34" charset="-122"/>
                <a:cs typeface="Segoe UI Semibold" pitchFamily="34" charset="-120"/>
              </a:rPr>
              <a:t>ox</a:t>
            </a:r>
            <a:pPr algn="ctr" indent="0" marL="0">
              <a:buNone/>
            </a:pPr>
            <a:r>
              <a:rPr lang="en-US" sz="1300" dirty="0">
                <a:solidFill>
                  <a:srgbClr val="6B5BC4"/>
                </a:solidFill>
                <a:latin typeface="Segoe UI Semibold" pitchFamily="34" charset="0"/>
                <a:ea typeface="Segoe UI Semibold" pitchFamily="34" charset="-122"/>
                <a:cs typeface="Segoe UI Semibold" pitchFamily="34" charset="-120"/>
              </a:rPr>
              <a:t> + C</a:t>
            </a:r>
            <a:pPr algn="ctr" indent="0" marL="0">
              <a:buNone/>
            </a:pPr>
            <a:r>
              <a:rPr lang="en-US" sz="1300" baseline="-40000" dirty="0">
                <a:solidFill>
                  <a:srgbClr val="6B5BC4"/>
                </a:solidFill>
                <a:latin typeface="Segoe UI Semibold" pitchFamily="34" charset="0"/>
                <a:ea typeface="Segoe UI Semibold" pitchFamily="34" charset="-122"/>
                <a:cs typeface="Segoe UI Semibold" pitchFamily="34" charset="-120"/>
              </a:rPr>
              <a:t>dep</a:t>
            </a:r>
            <a:pPr algn="ctr" indent="0" marL="0">
              <a:buNone/>
            </a:pPr>
            <a:r>
              <a:rPr lang="en-US" sz="1300" dirty="0">
                <a:solidFill>
                  <a:srgbClr val="6B5BC4"/>
                </a:solidFill>
                <a:latin typeface="Segoe UI Semibold" pitchFamily="34" charset="0"/>
                <a:ea typeface="Segoe UI Semibold" pitchFamily="34" charset="-122"/>
                <a:cs typeface="Segoe UI Semibold" pitchFamily="34" charset="-120"/>
              </a:rPr>
              <a:t>)</a:t>
            </a:r>
            <a:endParaRPr lang="en-US" sz="1300" dirty="0"/>
          </a:p>
        </p:txBody>
      </p:sp>
      <p:sp>
        <p:nvSpPr>
          <p:cNvPr id="24" name="!!spK0"/>
          <p:cNvSpPr/>
          <p:nvPr/>
        </p:nvSpPr>
        <p:spPr>
          <a:xfrm>
            <a:off x="5669280" y="1508760"/>
            <a:ext cx="5971032" cy="896112"/>
          </a:xfrm>
          <a:prstGeom prst="roundRect">
            <a:avLst>
              <a:gd name="adj" fmla="val 6122"/>
            </a:avLst>
          </a:prstGeom>
          <a:solidFill>
            <a:srgbClr val="F4F5F7"/>
          </a:solidFill>
          <a:ln/>
        </p:spPr>
      </p:sp>
      <p:sp>
        <p:nvSpPr>
          <p:cNvPr id="25" name="!!spKn0"/>
          <p:cNvSpPr/>
          <p:nvPr/>
        </p:nvSpPr>
        <p:spPr>
          <a:xfrm>
            <a:off x="5843016" y="1682496"/>
            <a:ext cx="347472" cy="347472"/>
          </a:xfrm>
          <a:prstGeom prst="ellipse">
            <a:avLst/>
          </a:prstGeom>
          <a:solidFill>
            <a:srgbClr val="3E6AE1"/>
          </a:solidFill>
          <a:ln/>
        </p:spPr>
      </p:sp>
      <p:sp>
        <p:nvSpPr>
          <p:cNvPr id="26" name="!!spKnt0"/>
          <p:cNvSpPr txBox="1"/>
          <p:nvPr/>
        </p:nvSpPr>
        <p:spPr>
          <a:xfrm>
            <a:off x="5843016" y="1682496"/>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7" name="!!spKh0"/>
          <p:cNvSpPr txBox="1"/>
          <p:nvPr/>
        </p:nvSpPr>
        <p:spPr>
          <a:xfrm>
            <a:off x="6355080" y="1645920"/>
            <a:ext cx="5120640" cy="292608"/>
          </a:xfrm>
          <a:prstGeom prst="rect">
            <a:avLst/>
          </a:prstGeom>
          <a:noFill/>
          <a:ln/>
        </p:spPr>
        <p:txBody>
          <a:bodyPr wrap="square" lIns="0" tIns="0" rIns="0" bIns="0" rtlCol="0" anchor="t"/>
          <a:lstStyle/>
          <a:p>
            <a:pPr algn="l" indent="0" marL="0">
              <a:buNone/>
            </a:pPr>
            <a:r>
              <a:rPr lang="en-US" sz="1500" dirty="0">
                <a:solidFill>
                  <a:srgbClr val="3E6AE1"/>
                </a:solidFill>
                <a:latin typeface="Segoe UI Semibold" pitchFamily="34" charset="0"/>
                <a:ea typeface="Segoe UI Semibold" pitchFamily="34" charset="-122"/>
                <a:cs typeface="Segoe UI Semibold" pitchFamily="34" charset="-120"/>
              </a:rPr>
              <a:t>Barrier rule</a:t>
            </a:r>
            <a:endParaRPr lang="en-US" sz="1500" dirty="0"/>
          </a:p>
        </p:txBody>
      </p:sp>
      <p:sp>
        <p:nvSpPr>
          <p:cNvPr id="28" name="!!spKb0"/>
          <p:cNvSpPr txBox="1"/>
          <p:nvPr/>
        </p:nvSpPr>
        <p:spPr>
          <a:xfrm>
            <a:off x="6355080" y="1947672"/>
            <a:ext cx="516636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I</a:t>
            </a:r>
            <a:pPr algn="l" indent="0" marL="0">
              <a:buNone/>
            </a:pPr>
            <a:r>
              <a:rPr lang="en-US" sz="1200" baseline="-40000" dirty="0">
                <a:solidFill>
                  <a:srgbClr val="5C5E62"/>
                </a:solidFill>
                <a:latin typeface="Segoe UI" pitchFamily="34" charset="0"/>
                <a:ea typeface="Segoe UI" pitchFamily="34" charset="-122"/>
                <a:cs typeface="Segoe UI" pitchFamily="34" charset="-120"/>
              </a:rPr>
              <a:t>D</a:t>
            </a:r>
            <a:pPr algn="l" indent="0" marL="0">
              <a:buNone/>
            </a:pPr>
            <a:r>
              <a:rPr lang="en-US" sz="1200" dirty="0">
                <a:solidFill>
                  <a:srgbClr val="5C5E62"/>
                </a:solidFill>
                <a:latin typeface="Segoe UI" pitchFamily="34" charset="0"/>
                <a:ea typeface="Segoe UI" pitchFamily="34" charset="-122"/>
                <a:cs typeface="Segoe UI" pitchFamily="34" charset="-120"/>
              </a:rPr>
              <a:t> ∝ exp(qψs / kT): the current depends only on the hill height ψs.</a:t>
            </a:r>
            <a:endParaRPr lang="en-US" sz="1200" dirty="0"/>
          </a:p>
        </p:txBody>
      </p:sp>
      <p:sp>
        <p:nvSpPr>
          <p:cNvPr id="29" name="!!spK1"/>
          <p:cNvSpPr/>
          <p:nvPr/>
        </p:nvSpPr>
        <p:spPr>
          <a:xfrm>
            <a:off x="5669280" y="2532888"/>
            <a:ext cx="5971032" cy="896112"/>
          </a:xfrm>
          <a:prstGeom prst="roundRect">
            <a:avLst>
              <a:gd name="adj" fmla="val 6122"/>
            </a:avLst>
          </a:prstGeom>
          <a:solidFill>
            <a:srgbClr val="F4F5F7"/>
          </a:solidFill>
          <a:ln/>
        </p:spPr>
      </p:sp>
      <p:sp>
        <p:nvSpPr>
          <p:cNvPr id="30" name="!!spKn1"/>
          <p:cNvSpPr/>
          <p:nvPr/>
        </p:nvSpPr>
        <p:spPr>
          <a:xfrm>
            <a:off x="5843016" y="2706624"/>
            <a:ext cx="347472" cy="347472"/>
          </a:xfrm>
          <a:prstGeom prst="ellipse">
            <a:avLst/>
          </a:prstGeom>
          <a:solidFill>
            <a:srgbClr val="E07B00"/>
          </a:solidFill>
          <a:ln/>
        </p:spPr>
      </p:sp>
      <p:sp>
        <p:nvSpPr>
          <p:cNvPr id="31" name="!!spKnt1"/>
          <p:cNvSpPr txBox="1"/>
          <p:nvPr/>
        </p:nvSpPr>
        <p:spPr>
          <a:xfrm>
            <a:off x="5843016" y="2706624"/>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32" name="!!spKh1"/>
          <p:cNvSpPr txBox="1"/>
          <p:nvPr/>
        </p:nvSpPr>
        <p:spPr>
          <a:xfrm>
            <a:off x="6355080" y="2670048"/>
            <a:ext cx="5120640" cy="292608"/>
          </a:xfrm>
          <a:prstGeom prst="rect">
            <a:avLst/>
          </a:prstGeom>
          <a:noFill/>
          <a:ln/>
        </p:spPr>
        <p:txBody>
          <a:bodyPr wrap="square" lIns="0" tIns="0" rIns="0" bIns="0" rtlCol="0" anchor="t"/>
          <a:lstStyle/>
          <a:p>
            <a:pPr algn="l" indent="0" marL="0">
              <a:buNone/>
            </a:pPr>
            <a:r>
              <a:rPr lang="en-US" sz="1500" dirty="0">
                <a:solidFill>
                  <a:srgbClr val="E07B00"/>
                </a:solidFill>
                <a:latin typeface="Segoe UI Semibold" pitchFamily="34" charset="0"/>
                <a:ea typeface="Segoe UI Semibold" pitchFamily="34" charset="-122"/>
                <a:cs typeface="Segoe UI Semibold" pitchFamily="34" charset="-120"/>
              </a:rPr>
              <a:t>10× current needs 59.5 mV</a:t>
            </a:r>
            <a:endParaRPr lang="en-US" sz="1500" dirty="0"/>
          </a:p>
        </p:txBody>
      </p:sp>
      <p:sp>
        <p:nvSpPr>
          <p:cNvPr id="33" name="!!spKb1"/>
          <p:cNvSpPr txBox="1"/>
          <p:nvPr/>
        </p:nvSpPr>
        <p:spPr>
          <a:xfrm>
            <a:off x="6355080" y="2971800"/>
            <a:ext cx="516636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Δψs = (kT/q)·ln10 = 25.85 mV × 2.303 = 59.5 mV at 300 K.</a:t>
            </a:r>
            <a:endParaRPr lang="en-US" sz="1200" dirty="0"/>
          </a:p>
        </p:txBody>
      </p:sp>
      <p:sp>
        <p:nvSpPr>
          <p:cNvPr id="34" name="!!spK2"/>
          <p:cNvSpPr/>
          <p:nvPr/>
        </p:nvSpPr>
        <p:spPr>
          <a:xfrm>
            <a:off x="5669280" y="3557016"/>
            <a:ext cx="5971032" cy="896112"/>
          </a:xfrm>
          <a:prstGeom prst="roundRect">
            <a:avLst>
              <a:gd name="adj" fmla="val 6122"/>
            </a:avLst>
          </a:prstGeom>
          <a:solidFill>
            <a:srgbClr val="F4F5F7"/>
          </a:solidFill>
          <a:ln/>
        </p:spPr>
      </p:sp>
      <p:sp>
        <p:nvSpPr>
          <p:cNvPr id="35" name="!!spKn2"/>
          <p:cNvSpPr/>
          <p:nvPr/>
        </p:nvSpPr>
        <p:spPr>
          <a:xfrm>
            <a:off x="5843016" y="3730752"/>
            <a:ext cx="347472" cy="347472"/>
          </a:xfrm>
          <a:prstGeom prst="ellipse">
            <a:avLst/>
          </a:prstGeom>
          <a:solidFill>
            <a:srgbClr val="6B5BC4"/>
          </a:solidFill>
          <a:ln/>
        </p:spPr>
      </p:sp>
      <p:sp>
        <p:nvSpPr>
          <p:cNvPr id="36" name="!!spKnt2"/>
          <p:cNvSpPr txBox="1"/>
          <p:nvPr/>
        </p:nvSpPr>
        <p:spPr>
          <a:xfrm>
            <a:off x="5843016" y="373075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7" name="!!spKh2"/>
          <p:cNvSpPr txBox="1"/>
          <p:nvPr/>
        </p:nvSpPr>
        <p:spPr>
          <a:xfrm>
            <a:off x="6355080" y="3694176"/>
            <a:ext cx="5120640" cy="292608"/>
          </a:xfrm>
          <a:prstGeom prst="rect">
            <a:avLst/>
          </a:prstGeom>
          <a:noFill/>
          <a:ln/>
        </p:spPr>
        <p:txBody>
          <a:bodyPr wrap="square" lIns="0" tIns="0" rIns="0" bIns="0" rtlCol="0" anchor="t"/>
          <a:lstStyle/>
          <a:p>
            <a:pPr algn="l" indent="0" marL="0">
              <a:buNone/>
            </a:pPr>
            <a:r>
              <a:rPr lang="en-US" sz="1500" dirty="0">
                <a:solidFill>
                  <a:srgbClr val="6B5BC4"/>
                </a:solidFill>
                <a:latin typeface="Segoe UI Semibold" pitchFamily="34" charset="0"/>
                <a:ea typeface="Segoe UI Semibold" pitchFamily="34" charset="-122"/>
                <a:cs typeface="Segoe UI Semibold" pitchFamily="34" charset="-120"/>
              </a:rPr>
              <a:t>The gate moves ψs through a divider</a:t>
            </a:r>
            <a:endParaRPr lang="en-US" sz="1500" dirty="0"/>
          </a:p>
        </p:txBody>
      </p:sp>
      <p:sp>
        <p:nvSpPr>
          <p:cNvPr id="38" name="!!spKb2"/>
          <p:cNvSpPr txBox="1"/>
          <p:nvPr/>
        </p:nvSpPr>
        <p:spPr>
          <a:xfrm>
            <a:off x="6355080" y="3995928"/>
            <a:ext cx="516636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Only the part C</a:t>
            </a:r>
            <a:pPr algn="l" indent="0" marL="0">
              <a:buNone/>
            </a:pPr>
            <a:r>
              <a:rPr lang="en-US" sz="1200" baseline="-40000" dirty="0">
                <a:solidFill>
                  <a:srgbClr val="5C5E62"/>
                </a:solidFill>
                <a:latin typeface="Segoe UI" pitchFamily="34" charset="0"/>
                <a:ea typeface="Segoe UI" pitchFamily="34" charset="-122"/>
                <a:cs typeface="Segoe UI" pitchFamily="34" charset="-120"/>
              </a:rPr>
              <a:t>ox</a:t>
            </a:r>
            <a:pPr algn="l" indent="0" marL="0">
              <a:buNone/>
            </a:pPr>
            <a:r>
              <a:rPr lang="en-US" sz="1200" dirty="0">
                <a:solidFill>
                  <a:srgbClr val="5C5E62"/>
                </a:solidFill>
                <a:latin typeface="Segoe UI" pitchFamily="34" charset="0"/>
                <a:ea typeface="Segoe UI" pitchFamily="34" charset="-122"/>
                <a:cs typeface="Segoe UI" pitchFamily="34" charset="-120"/>
              </a:rPr>
              <a:t> / (C</a:t>
            </a:r>
            <a:pPr algn="l" indent="0" marL="0">
              <a:buNone/>
            </a:pPr>
            <a:r>
              <a:rPr lang="en-US" sz="1200" baseline="-40000" dirty="0">
                <a:solidFill>
                  <a:srgbClr val="5C5E62"/>
                </a:solidFill>
                <a:latin typeface="Segoe UI" pitchFamily="34" charset="0"/>
                <a:ea typeface="Segoe UI" pitchFamily="34" charset="-122"/>
                <a:cs typeface="Segoe UI" pitchFamily="34" charset="-120"/>
              </a:rPr>
              <a:t>ox</a:t>
            </a:r>
            <a:pPr algn="l" indent="0" marL="0">
              <a:buNone/>
            </a:pPr>
            <a:r>
              <a:rPr lang="en-US" sz="1200" dirty="0">
                <a:solidFill>
                  <a:srgbClr val="5C5E62"/>
                </a:solidFill>
                <a:latin typeface="Segoe UI" pitchFamily="34" charset="0"/>
                <a:ea typeface="Segoe UI" pitchFamily="34" charset="-122"/>
                <a:cs typeface="Segoe UI" pitchFamily="34" charset="-120"/>
              </a:rPr>
              <a:t> + C</a:t>
            </a:r>
            <a:pPr algn="l" indent="0" marL="0">
              <a:buNone/>
            </a:pPr>
            <a:r>
              <a:rPr lang="en-US" sz="1200" baseline="-40000" dirty="0">
                <a:solidFill>
                  <a:srgbClr val="5C5E62"/>
                </a:solidFill>
                <a:latin typeface="Segoe UI" pitchFamily="34" charset="0"/>
                <a:ea typeface="Segoe UI" pitchFamily="34" charset="-122"/>
                <a:cs typeface="Segoe UI" pitchFamily="34" charset="-120"/>
              </a:rPr>
              <a:t>dep</a:t>
            </a:r>
            <a:pPr algn="l" indent="0" marL="0">
              <a:buNone/>
            </a:pPr>
            <a:r>
              <a:rPr lang="en-US" sz="1200" dirty="0">
                <a:solidFill>
                  <a:srgbClr val="5C5E62"/>
                </a:solidFill>
                <a:latin typeface="Segoe UI" pitchFamily="34" charset="0"/>
                <a:ea typeface="Segoe UI" pitchFamily="34" charset="-122"/>
                <a:cs typeface="Segoe UI" pitchFamily="34" charset="-120"/>
              </a:rPr>
              <a:t>) of ΔV</a:t>
            </a:r>
            <a:pPr algn="l" indent="0" marL="0">
              <a:buNone/>
            </a:pPr>
            <a:r>
              <a:rPr lang="en-US" sz="1200" baseline="-40000" dirty="0">
                <a:solidFill>
                  <a:srgbClr val="5C5E62"/>
                </a:solidFill>
                <a:latin typeface="Segoe UI" pitchFamily="34" charset="0"/>
                <a:ea typeface="Segoe UI" pitchFamily="34" charset="-122"/>
                <a:cs typeface="Segoe UI" pitchFamily="34" charset="-120"/>
              </a:rPr>
              <a:t>G</a:t>
            </a:r>
            <a:pPr algn="l" indent="0" marL="0">
              <a:buNone/>
            </a:pPr>
            <a:r>
              <a:rPr lang="en-US" sz="1200" dirty="0">
                <a:solidFill>
                  <a:srgbClr val="5C5E62"/>
                </a:solidFill>
                <a:latin typeface="Segoe UI" pitchFamily="34" charset="0"/>
                <a:ea typeface="Segoe UI" pitchFamily="34" charset="-122"/>
                <a:cs typeface="Segoe UI" pitchFamily="34" charset="-120"/>
              </a:rPr>
              <a:t> reaches ψs.</a:t>
            </a:r>
            <a:endParaRPr lang="en-US" sz="1200" dirty="0"/>
          </a:p>
        </p:txBody>
      </p:sp>
      <p:sp>
        <p:nvSpPr>
          <p:cNvPr id="39" name="!!spK3"/>
          <p:cNvSpPr/>
          <p:nvPr/>
        </p:nvSpPr>
        <p:spPr>
          <a:xfrm>
            <a:off x="5669280" y="4581144"/>
            <a:ext cx="5971032" cy="1188720"/>
          </a:xfrm>
          <a:prstGeom prst="roundRect">
            <a:avLst>
              <a:gd name="adj" fmla="val 4615"/>
            </a:avLst>
          </a:prstGeom>
          <a:solidFill>
            <a:srgbClr val="F4F5F7"/>
          </a:solidFill>
          <a:ln/>
        </p:spPr>
      </p:sp>
      <p:sp>
        <p:nvSpPr>
          <p:cNvPr id="40" name="!!spKn3"/>
          <p:cNvSpPr/>
          <p:nvPr/>
        </p:nvSpPr>
        <p:spPr>
          <a:xfrm>
            <a:off x="5843016" y="4754880"/>
            <a:ext cx="347472" cy="347472"/>
          </a:xfrm>
          <a:prstGeom prst="ellipse">
            <a:avLst/>
          </a:prstGeom>
          <a:solidFill>
            <a:srgbClr val="2E9E4F"/>
          </a:solidFill>
          <a:ln/>
        </p:spPr>
      </p:sp>
      <p:sp>
        <p:nvSpPr>
          <p:cNvPr id="41" name="!!spKnt3"/>
          <p:cNvSpPr txBox="1"/>
          <p:nvPr/>
        </p:nvSpPr>
        <p:spPr>
          <a:xfrm>
            <a:off x="5843016" y="4754880"/>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42" name="!!spKh3"/>
          <p:cNvSpPr txBox="1"/>
          <p:nvPr/>
        </p:nvSpPr>
        <p:spPr>
          <a:xfrm>
            <a:off x="6355080" y="4718304"/>
            <a:ext cx="5120640" cy="292608"/>
          </a:xfrm>
          <a:prstGeom prst="rect">
            <a:avLst/>
          </a:prstGeom>
          <a:noFill/>
          <a:ln/>
        </p:spPr>
        <p:txBody>
          <a:bodyPr wrap="square" lIns="0" tIns="0" rIns="0" bIns="0" rtlCol="0" anchor="t"/>
          <a:lstStyle/>
          <a:p>
            <a:pPr algn="l" indent="0" marL="0">
              <a:buNone/>
            </a:pPr>
            <a:r>
              <a:rPr lang="en-US" sz="1500" dirty="0">
                <a:solidFill>
                  <a:srgbClr val="2E9E4F"/>
                </a:solidFill>
                <a:latin typeface="Segoe UI Semibold" pitchFamily="34" charset="0"/>
                <a:ea typeface="Segoe UI Semibold" pitchFamily="34" charset="-122"/>
                <a:cs typeface="Segoe UI Semibold" pitchFamily="34" charset="-120"/>
              </a:rPr>
              <a:t>So SS ≥ 60 mV/dec</a:t>
            </a:r>
            <a:endParaRPr lang="en-US" sz="1500" dirty="0"/>
          </a:p>
        </p:txBody>
      </p:sp>
      <p:sp>
        <p:nvSpPr>
          <p:cNvPr id="43" name="!!spKb3"/>
          <p:cNvSpPr txBox="1"/>
          <p:nvPr/>
        </p:nvSpPr>
        <p:spPr>
          <a:xfrm>
            <a:off x="6355080" y="5020056"/>
            <a:ext cx="5166360" cy="7315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SS = 59.5 mV × (1 + C</a:t>
            </a:r>
            <a:pPr algn="l" indent="0" marL="0">
              <a:buNone/>
            </a:pPr>
            <a:r>
              <a:rPr lang="en-US" sz="1200" baseline="-40000" dirty="0">
                <a:solidFill>
                  <a:srgbClr val="5C5E62"/>
                </a:solidFill>
                <a:latin typeface="Segoe UI" pitchFamily="34" charset="0"/>
                <a:ea typeface="Segoe UI" pitchFamily="34" charset="-122"/>
                <a:cs typeface="Segoe UI" pitchFamily="34" charset="-120"/>
              </a:rPr>
              <a:t>dep</a:t>
            </a:r>
            <a:pPr algn="l" indent="0" marL="0">
              <a:buNone/>
            </a:pPr>
            <a:r>
              <a:rPr lang="en-US" sz="1200" dirty="0">
                <a:solidFill>
                  <a:srgbClr val="5C5E62"/>
                </a:solidFill>
                <a:latin typeface="Segoe UI" pitchFamily="34" charset="0"/>
                <a:ea typeface="Segoe UI" pitchFamily="34" charset="-122"/>
                <a:cs typeface="Segoe UI" pitchFamily="34" charset="-120"/>
              </a:rPr>
              <a:t>/C</a:t>
            </a:r>
            <a:pPr algn="l" indent="0" marL="0">
              <a:buNone/>
            </a:pPr>
            <a:r>
              <a:rPr lang="en-US" sz="1200" baseline="-40000" dirty="0">
                <a:solidFill>
                  <a:srgbClr val="5C5E62"/>
                </a:solidFill>
                <a:latin typeface="Segoe UI" pitchFamily="34" charset="0"/>
                <a:ea typeface="Segoe UI" pitchFamily="34" charset="-122"/>
                <a:cs typeface="Segoe UI" pitchFamily="34" charset="-120"/>
              </a:rPr>
              <a:t>ox</a:t>
            </a:r>
            <a:pPr algn="l" indent="0" marL="0">
              <a:buNone/>
            </a:pPr>
            <a:r>
              <a:rPr lang="en-US" sz="1200" dirty="0">
                <a:solidFill>
                  <a:srgbClr val="5C5E62"/>
                </a:solidFill>
                <a:latin typeface="Segoe UI" pitchFamily="34" charset="0"/>
                <a:ea typeface="Segoe UI" pitchFamily="34" charset="-122"/>
                <a:cs typeface="Segoe UI" pitchFamily="34" charset="-120"/>
              </a:rPr>
              <a:t>) = m × 59.5.  m ≥ 1, so SS ≥ 59.5 mV/dec.</a:t>
            </a:r>
            <a:endParaRPr lang="en-US" sz="1200" dirty="0"/>
          </a:p>
          <a:p>
            <a:pPr algn="l" indent="0" marL="0">
              <a:buNone/>
            </a:pPr>
            <a:r>
              <a:rPr lang="en-US" sz="1200" dirty="0">
                <a:solidFill>
                  <a:srgbClr val="5C5E62"/>
                </a:solidFill>
                <a:latin typeface="Segoe UI" pitchFamily="34" charset="0"/>
                <a:ea typeface="Segoe UI" pitchFamily="34" charset="-122"/>
                <a:cs typeface="Segoe UI" pitchFamily="34" charset="-120"/>
              </a:rPr>
              <a:t>Ours: standard 61.3 → m = 1.03 · reproduced 65.4 → m = 1.10.</a:t>
            </a:r>
            <a:endParaRPr lang="en-US" sz="1200" dirty="0"/>
          </a:p>
        </p:txBody>
      </p:sp>
      <p:sp>
        <p:nvSpPr>
          <p:cNvPr id="44"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SS = m × 59.5 mV/dec, m = 1 + C</a:t>
            </a:r>
            <a:pPr algn="ctr" indent="0" marL="0">
              <a:buNone/>
            </a:pPr>
            <a:r>
              <a:rPr lang="en-US" sz="1600" baseline="-40000" dirty="0">
                <a:solidFill>
                  <a:srgbClr val="171A20"/>
                </a:solidFill>
                <a:latin typeface="Segoe UI" pitchFamily="34" charset="0"/>
                <a:ea typeface="Segoe UI" pitchFamily="34" charset="-122"/>
                <a:cs typeface="Segoe UI" pitchFamily="34" charset="-120"/>
              </a:rPr>
              <a:t>dep</a:t>
            </a:r>
            <a:pPr algn="ctr" indent="0" marL="0">
              <a:buNone/>
            </a:pPr>
            <a:r>
              <a:rPr lang="en-US" sz="1600" dirty="0">
                <a:solidFill>
                  <a:srgbClr val="171A20"/>
                </a:solidFill>
                <a:latin typeface="Segoe UI" pitchFamily="34" charset="0"/>
                <a:ea typeface="Segoe UI" pitchFamily="34" charset="-122"/>
                <a:cs typeface="Segoe UI" pitchFamily="34" charset="-120"/>
              </a:rPr>
              <a:t>/C</a:t>
            </a:r>
            <a:pPr algn="ctr" indent="0" marL="0">
              <a:buNone/>
            </a:pPr>
            <a:r>
              <a:rPr lang="en-US" sz="1600" baseline="-40000" dirty="0">
                <a:solidFill>
                  <a:srgbClr val="171A20"/>
                </a:solidFill>
                <a:latin typeface="Segoe UI" pitchFamily="34" charset="0"/>
                <a:ea typeface="Segoe UI" pitchFamily="34" charset="-122"/>
                <a:cs typeface="Segoe UI" pitchFamily="34" charset="-120"/>
              </a:rPr>
              <a:t>ox</a:t>
            </a:r>
            <a:pPr algn="ctr" indent="0" marL="0">
              <a:buNone/>
            </a:pPr>
            <a:r>
              <a:rPr lang="en-US" sz="1600" dirty="0">
                <a:solidFill>
                  <a:srgbClr val="171A20"/>
                </a:solidFill>
                <a:latin typeface="Segoe UI" pitchFamily="34" charset="0"/>
                <a:ea typeface="Segoe UI" pitchFamily="34" charset="-122"/>
                <a:cs typeface="Segoe UI" pitchFamily="34" charset="-120"/>
              </a:rPr>
              <a:t> ≥ 1: a better gate makes m closer to 1.</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SS and temperature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kT/q grows with temperature, so the 60 mV/dec limit grows too</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E2E3E3"/>
          </a:solidFill>
          <a:ln/>
        </p:spPr>
      </p:sp>
      <p:sp>
        <p:nvSpPr>
          <p:cNvPr id="6" name="!!sdot2"/>
          <p:cNvSpPr/>
          <p:nvPr/>
        </p:nvSpPr>
        <p:spPr>
          <a:xfrm>
            <a:off x="11599164" y="525780"/>
            <a:ext cx="82296" cy="82296"/>
          </a:xfrm>
          <a:prstGeom prst="ellipse">
            <a:avLst/>
          </a:prstGeom>
          <a:solidFill>
            <a:srgbClr val="E2E3E3"/>
          </a:solidFill>
          <a:ln/>
        </p:spPr>
      </p:sp>
      <p:sp>
        <p:nvSpPr>
          <p:cNvPr id="7" name="!!axg0"/>
          <p:cNvSpPr/>
          <p:nvPr/>
        </p:nvSpPr>
        <p:spPr>
          <a:xfrm>
            <a:off x="1188720" y="4754880"/>
            <a:ext cx="5120640" cy="91"/>
          </a:xfrm>
          <a:prstGeom prst="line">
            <a:avLst/>
          </a:prstGeom>
          <a:noFill/>
          <a:ln w="9525">
            <a:solidFill>
              <a:srgbClr val="EDEEF0"/>
            </a:solidFill>
            <a:prstDash val="solid"/>
          </a:ln>
        </p:spPr>
      </p:sp>
      <p:sp>
        <p:nvSpPr>
          <p:cNvPr id="8" name="!!axg1"/>
          <p:cNvSpPr/>
          <p:nvPr/>
        </p:nvSpPr>
        <p:spPr>
          <a:xfrm>
            <a:off x="1188720" y="3718560"/>
            <a:ext cx="5120640" cy="91"/>
          </a:xfrm>
          <a:prstGeom prst="line">
            <a:avLst/>
          </a:prstGeom>
          <a:noFill/>
          <a:ln w="9525">
            <a:solidFill>
              <a:srgbClr val="EDEEF0"/>
            </a:solidFill>
            <a:prstDash val="solid"/>
          </a:ln>
        </p:spPr>
      </p:sp>
      <p:sp>
        <p:nvSpPr>
          <p:cNvPr id="9" name="!!axg2"/>
          <p:cNvSpPr/>
          <p:nvPr/>
        </p:nvSpPr>
        <p:spPr>
          <a:xfrm>
            <a:off x="1188720" y="2682240"/>
            <a:ext cx="5120640" cy="91"/>
          </a:xfrm>
          <a:prstGeom prst="line">
            <a:avLst/>
          </a:prstGeom>
          <a:noFill/>
          <a:ln w="9525">
            <a:solidFill>
              <a:srgbClr val="EDEEF0"/>
            </a:solidFill>
            <a:prstDash val="solid"/>
          </a:ln>
        </p:spPr>
      </p:sp>
      <p:sp>
        <p:nvSpPr>
          <p:cNvPr id="10" name="!!axg3"/>
          <p:cNvSpPr/>
          <p:nvPr/>
        </p:nvSpPr>
        <p:spPr>
          <a:xfrm>
            <a:off x="1188720" y="1645920"/>
            <a:ext cx="5120640" cy="91"/>
          </a:xfrm>
          <a:prstGeom prst="line">
            <a:avLst/>
          </a:prstGeom>
          <a:noFill/>
          <a:ln w="9525">
            <a:solidFill>
              <a:srgbClr val="EDEEF0"/>
            </a:solidFill>
            <a:prstDash val="solid"/>
          </a:ln>
        </p:spPr>
      </p:sp>
      <p:sp>
        <p:nvSpPr>
          <p:cNvPr id="11" name="!!axxa"/>
          <p:cNvSpPr/>
          <p:nvPr/>
        </p:nvSpPr>
        <p:spPr>
          <a:xfrm>
            <a:off x="1188720" y="4754880"/>
            <a:ext cx="5120640" cy="91"/>
          </a:xfrm>
          <a:prstGeom prst="line">
            <a:avLst/>
          </a:prstGeom>
          <a:noFill/>
          <a:ln w="12700">
            <a:solidFill>
              <a:srgbClr val="8A8D93"/>
            </a:solidFill>
            <a:prstDash val="solid"/>
          </a:ln>
        </p:spPr>
      </p:sp>
      <p:sp>
        <p:nvSpPr>
          <p:cNvPr id="12" name="!!axya"/>
          <p:cNvSpPr/>
          <p:nvPr/>
        </p:nvSpPr>
        <p:spPr>
          <a:xfrm>
            <a:off x="1188720" y="1645920"/>
            <a:ext cx="91" cy="3108960"/>
          </a:xfrm>
          <a:prstGeom prst="line">
            <a:avLst/>
          </a:prstGeom>
          <a:noFill/>
          <a:ln w="12700">
            <a:solidFill>
              <a:srgbClr val="8A8D93"/>
            </a:solidFill>
            <a:prstDash val="solid"/>
          </a:ln>
        </p:spPr>
      </p:sp>
      <p:sp>
        <p:nvSpPr>
          <p:cNvPr id="13" name="!!axxt0"/>
          <p:cNvSpPr txBox="1"/>
          <p:nvPr/>
        </p:nvSpPr>
        <p:spPr>
          <a:xfrm>
            <a:off x="868680" y="48006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250</a:t>
            </a:r>
            <a:endParaRPr lang="en-US" sz="900" dirty="0"/>
          </a:p>
        </p:txBody>
      </p:sp>
      <p:sp>
        <p:nvSpPr>
          <p:cNvPr id="14" name="!!axxt1"/>
          <p:cNvSpPr txBox="1"/>
          <p:nvPr/>
        </p:nvSpPr>
        <p:spPr>
          <a:xfrm>
            <a:off x="2148840" y="48006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300</a:t>
            </a:r>
            <a:endParaRPr lang="en-US" sz="900" dirty="0"/>
          </a:p>
        </p:txBody>
      </p:sp>
      <p:sp>
        <p:nvSpPr>
          <p:cNvPr id="15" name="!!axxt2"/>
          <p:cNvSpPr txBox="1"/>
          <p:nvPr/>
        </p:nvSpPr>
        <p:spPr>
          <a:xfrm>
            <a:off x="3429000" y="48006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350</a:t>
            </a:r>
            <a:endParaRPr lang="en-US" sz="900" dirty="0"/>
          </a:p>
        </p:txBody>
      </p:sp>
      <p:sp>
        <p:nvSpPr>
          <p:cNvPr id="16" name="!!axxt3"/>
          <p:cNvSpPr txBox="1"/>
          <p:nvPr/>
        </p:nvSpPr>
        <p:spPr>
          <a:xfrm>
            <a:off x="4709160" y="48006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400</a:t>
            </a:r>
            <a:endParaRPr lang="en-US" sz="900" dirty="0"/>
          </a:p>
        </p:txBody>
      </p:sp>
      <p:sp>
        <p:nvSpPr>
          <p:cNvPr id="17" name="!!axxt4"/>
          <p:cNvSpPr txBox="1"/>
          <p:nvPr/>
        </p:nvSpPr>
        <p:spPr>
          <a:xfrm>
            <a:off x="5989320" y="48006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450</a:t>
            </a:r>
            <a:endParaRPr lang="en-US" sz="900" dirty="0"/>
          </a:p>
        </p:txBody>
      </p:sp>
      <p:sp>
        <p:nvSpPr>
          <p:cNvPr id="18" name="!!axyt0"/>
          <p:cNvSpPr txBox="1"/>
          <p:nvPr/>
        </p:nvSpPr>
        <p:spPr>
          <a:xfrm>
            <a:off x="502920" y="46542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40</a:t>
            </a:r>
            <a:endParaRPr lang="en-US" sz="900" dirty="0"/>
          </a:p>
        </p:txBody>
      </p:sp>
      <p:sp>
        <p:nvSpPr>
          <p:cNvPr id="19" name="!!axyt1"/>
          <p:cNvSpPr txBox="1"/>
          <p:nvPr/>
        </p:nvSpPr>
        <p:spPr>
          <a:xfrm>
            <a:off x="502920" y="36179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60</a:t>
            </a:r>
            <a:endParaRPr lang="en-US" sz="900" dirty="0"/>
          </a:p>
        </p:txBody>
      </p:sp>
      <p:sp>
        <p:nvSpPr>
          <p:cNvPr id="20" name="!!axyt2"/>
          <p:cNvSpPr txBox="1"/>
          <p:nvPr/>
        </p:nvSpPr>
        <p:spPr>
          <a:xfrm>
            <a:off x="502920" y="25816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80</a:t>
            </a:r>
            <a:endParaRPr lang="en-US" sz="900" dirty="0"/>
          </a:p>
        </p:txBody>
      </p:sp>
      <p:sp>
        <p:nvSpPr>
          <p:cNvPr id="21" name="!!axyt3"/>
          <p:cNvSpPr txBox="1"/>
          <p:nvPr/>
        </p:nvSpPr>
        <p:spPr>
          <a:xfrm>
            <a:off x="502920" y="1545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a:t>
            </a:r>
            <a:endParaRPr lang="en-US" sz="900" dirty="0"/>
          </a:p>
        </p:txBody>
      </p:sp>
      <p:sp>
        <p:nvSpPr>
          <p:cNvPr id="22" name="!!axxl"/>
          <p:cNvSpPr txBox="1"/>
          <p:nvPr/>
        </p:nvSpPr>
        <p:spPr>
          <a:xfrm>
            <a:off x="1188720" y="5029200"/>
            <a:ext cx="51206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channel temperature T (K)</a:t>
            </a:r>
            <a:endParaRPr lang="en-US" sz="1100" dirty="0"/>
          </a:p>
        </p:txBody>
      </p:sp>
      <p:sp>
        <p:nvSpPr>
          <p:cNvPr id="23" name="!!axyl"/>
          <p:cNvSpPr txBox="1"/>
          <p:nvPr/>
        </p:nvSpPr>
        <p:spPr>
          <a:xfrm>
            <a:off x="1005840" y="134416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SS limit (mV/dec)</a:t>
            </a:r>
            <a:endParaRPr lang="en-US" sz="1100" dirty="0"/>
          </a:p>
        </p:txBody>
      </p:sp>
      <p:sp>
        <p:nvSpPr>
          <p:cNvPr id="24" name="!!stLine"/>
          <p:cNvSpPr/>
          <p:nvPr/>
        </p:nvSpPr>
        <p:spPr>
          <a:xfrm>
            <a:off x="1188720" y="2201388"/>
            <a:ext cx="5120640" cy="2056059"/>
          </a:xfrm>
          <a:custGeom>
            <a:avLst/>
            <a:gdLst/>
            <a:ahLst/>
            <a:cxnLst/>
            <a:rect l="l" t="t" r="r" b="b"/>
            <a:pathLst>
              <a:path w="5120640" h="2056059">
                <a:moveTo>
                  <a:pt x="0" y="2056059"/>
                </a:moveTo>
                <a:lnTo>
                  <a:pt x="5120640" y="0"/>
                </a:lnTo>
              </a:path>
            </a:pathLst>
          </a:custGeom>
          <a:ln w="31750">
            <a:solidFill>
              <a:srgbClr val="3E6AE1"/>
            </a:solidFill>
            <a:prstDash val="solid"/>
          </a:ln>
        </p:spPr>
      </p:sp>
      <p:sp>
        <p:nvSpPr>
          <p:cNvPr id="25" name="!!stV"/>
          <p:cNvSpPr/>
          <p:nvPr/>
        </p:nvSpPr>
        <p:spPr>
          <a:xfrm flipH="1">
            <a:off x="2468880" y="3743432"/>
            <a:ext cx="91" cy="1011448"/>
          </a:xfrm>
          <a:prstGeom prst="line">
            <a:avLst/>
          </a:prstGeom>
          <a:noFill/>
          <a:ln w="9525">
            <a:solidFill>
              <a:srgbClr val="8A8D93"/>
            </a:solidFill>
            <a:prstDash val="dash"/>
          </a:ln>
        </p:spPr>
      </p:sp>
      <p:sp>
        <p:nvSpPr>
          <p:cNvPr id="26" name="!!stH"/>
          <p:cNvSpPr/>
          <p:nvPr/>
        </p:nvSpPr>
        <p:spPr>
          <a:xfrm>
            <a:off x="1188720" y="3743432"/>
            <a:ext cx="1280160" cy="91"/>
          </a:xfrm>
          <a:prstGeom prst="line">
            <a:avLst/>
          </a:prstGeom>
          <a:noFill/>
          <a:ln w="9525">
            <a:solidFill>
              <a:srgbClr val="8A8D93"/>
            </a:solidFill>
            <a:prstDash val="dash"/>
          </a:ln>
        </p:spPr>
      </p:sp>
      <p:sp>
        <p:nvSpPr>
          <p:cNvPr id="27" name="!!stPt"/>
          <p:cNvSpPr/>
          <p:nvPr/>
        </p:nvSpPr>
        <p:spPr>
          <a:xfrm>
            <a:off x="2377440" y="3651992"/>
            <a:ext cx="182880" cy="182880"/>
          </a:xfrm>
          <a:prstGeom prst="ellipse">
            <a:avLst/>
          </a:prstGeom>
          <a:solidFill>
            <a:srgbClr val="3E6AE1"/>
          </a:solidFill>
          <a:ln w="19050">
            <a:solidFill>
              <a:srgbClr val="FFFFFF"/>
            </a:solidFill>
            <a:prstDash val="solid"/>
          </a:ln>
        </p:spPr>
      </p:sp>
      <p:sp>
        <p:nvSpPr>
          <p:cNvPr id="28" name="!!stPtL"/>
          <p:cNvSpPr txBox="1"/>
          <p:nvPr/>
        </p:nvSpPr>
        <p:spPr>
          <a:xfrm>
            <a:off x="1097280" y="3377672"/>
            <a:ext cx="1280160" cy="237744"/>
          </a:xfrm>
          <a:prstGeom prst="rect">
            <a:avLst/>
          </a:prstGeom>
          <a:noFill/>
          <a:ln/>
        </p:spPr>
        <p:txBody>
          <a:bodyPr wrap="square" lIns="0" tIns="0" rIns="0" bIns="0" rtlCol="0" anchor="t"/>
          <a:lstStyle/>
          <a:p>
            <a:pPr algn="r" indent="0" marL="0">
              <a:buNone/>
            </a:pPr>
            <a:r>
              <a:rPr lang="en-US" sz="1200" dirty="0">
                <a:solidFill>
                  <a:srgbClr val="3E6AE1"/>
                </a:solidFill>
                <a:latin typeface="Segoe UI Semibold" pitchFamily="34" charset="0"/>
                <a:ea typeface="Segoe UI Semibold" pitchFamily="34" charset="-122"/>
                <a:cs typeface="Segoe UI Semibold" pitchFamily="34" charset="-120"/>
              </a:rPr>
              <a:t>59.5 mV/dec</a:t>
            </a:r>
            <a:endParaRPr lang="en-US" sz="1200" dirty="0"/>
          </a:p>
        </p:txBody>
      </p:sp>
      <p:sp>
        <p:nvSpPr>
          <p:cNvPr id="29" name="!!stEq"/>
          <p:cNvSpPr txBox="1"/>
          <p:nvPr/>
        </p:nvSpPr>
        <p:spPr>
          <a:xfrm>
            <a:off x="6949440" y="1600200"/>
            <a:ext cx="4663440" cy="274320"/>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SS</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min</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(kT/q)·ln10 = 0.1984 mV/dec per kelvin</a:t>
            </a:r>
            <a:endParaRPr lang="en-US" sz="1400" dirty="0"/>
          </a:p>
        </p:txBody>
      </p:sp>
      <p:sp>
        <p:nvSpPr>
          <p:cNvPr id="30" name="!!chip0"/>
          <p:cNvSpPr/>
          <p:nvPr/>
        </p:nvSpPr>
        <p:spPr>
          <a:xfrm>
            <a:off x="6949440" y="2103120"/>
            <a:ext cx="1463040" cy="731520"/>
          </a:xfrm>
          <a:prstGeom prst="roundRect">
            <a:avLst>
              <a:gd name="adj" fmla="val 7500"/>
            </a:avLst>
          </a:prstGeom>
          <a:solidFill>
            <a:srgbClr val="F4F5F7"/>
          </a:solidFill>
          <a:ln/>
        </p:spPr>
      </p:sp>
      <p:sp>
        <p:nvSpPr>
          <p:cNvPr id="31" name="!!chipk0"/>
          <p:cNvSpPr txBox="1"/>
          <p:nvPr/>
        </p:nvSpPr>
        <p:spPr>
          <a:xfrm>
            <a:off x="7059168" y="2176272"/>
            <a:ext cx="124358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temperature T</a:t>
            </a:r>
            <a:endParaRPr lang="en-US" sz="1000" dirty="0"/>
          </a:p>
        </p:txBody>
      </p:sp>
      <p:sp>
        <p:nvSpPr>
          <p:cNvPr id="32" name="!!chipv0"/>
          <p:cNvSpPr txBox="1"/>
          <p:nvPr/>
        </p:nvSpPr>
        <p:spPr>
          <a:xfrm>
            <a:off x="7059168" y="2414016"/>
            <a:ext cx="128016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300.0 K</a:t>
            </a:r>
            <a:endParaRPr lang="en-US" sz="1500" dirty="0"/>
          </a:p>
        </p:txBody>
      </p:sp>
      <p:sp>
        <p:nvSpPr>
          <p:cNvPr id="33" name="!!chip1"/>
          <p:cNvSpPr/>
          <p:nvPr/>
        </p:nvSpPr>
        <p:spPr>
          <a:xfrm>
            <a:off x="8522208" y="2103120"/>
            <a:ext cx="1463040" cy="731520"/>
          </a:xfrm>
          <a:prstGeom prst="roundRect">
            <a:avLst>
              <a:gd name="adj" fmla="val 7500"/>
            </a:avLst>
          </a:prstGeom>
          <a:solidFill>
            <a:srgbClr val="F4F5F7"/>
          </a:solidFill>
          <a:ln/>
        </p:spPr>
      </p:sp>
      <p:sp>
        <p:nvSpPr>
          <p:cNvPr id="34" name="!!chipk1"/>
          <p:cNvSpPr txBox="1"/>
          <p:nvPr/>
        </p:nvSpPr>
        <p:spPr>
          <a:xfrm>
            <a:off x="8631936" y="2176272"/>
            <a:ext cx="124358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SS limit</a:t>
            </a:r>
            <a:endParaRPr lang="en-US" sz="1000" dirty="0"/>
          </a:p>
        </p:txBody>
      </p:sp>
      <p:sp>
        <p:nvSpPr>
          <p:cNvPr id="35" name="!!chipv1"/>
          <p:cNvSpPr txBox="1"/>
          <p:nvPr/>
        </p:nvSpPr>
        <p:spPr>
          <a:xfrm>
            <a:off x="8631936" y="2414016"/>
            <a:ext cx="128016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59.5</a:t>
            </a:r>
            <a:endParaRPr lang="en-US" sz="1500" dirty="0"/>
          </a:p>
        </p:txBody>
      </p:sp>
      <p:sp>
        <p:nvSpPr>
          <p:cNvPr id="36" name="!!chip2"/>
          <p:cNvSpPr/>
          <p:nvPr/>
        </p:nvSpPr>
        <p:spPr>
          <a:xfrm>
            <a:off x="10094976" y="2103120"/>
            <a:ext cx="1463040" cy="731520"/>
          </a:xfrm>
          <a:prstGeom prst="roundRect">
            <a:avLst>
              <a:gd name="adj" fmla="val 7500"/>
            </a:avLst>
          </a:prstGeom>
          <a:solidFill>
            <a:srgbClr val="F4F5F7"/>
          </a:solidFill>
          <a:ln/>
        </p:spPr>
      </p:sp>
      <p:sp>
        <p:nvSpPr>
          <p:cNvPr id="37" name="!!chipk2"/>
          <p:cNvSpPr txBox="1"/>
          <p:nvPr/>
        </p:nvSpPr>
        <p:spPr>
          <a:xfrm>
            <a:off x="10204704" y="2176272"/>
            <a:ext cx="124358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leakage I</a:t>
            </a:r>
            <a:pPr algn="l" indent="0" marL="0">
              <a:buNone/>
            </a:pPr>
            <a:r>
              <a:rPr lang="en-US" sz="1000" baseline="-40000" dirty="0">
                <a:solidFill>
                  <a:srgbClr val="5C5E62"/>
                </a:solidFill>
                <a:latin typeface="Segoe UI" pitchFamily="34" charset="0"/>
                <a:ea typeface="Segoe UI" pitchFamily="34" charset="-122"/>
                <a:cs typeface="Segoe UI" pitchFamily="34" charset="-120"/>
              </a:rPr>
              <a:t>off</a:t>
            </a:r>
            <a:endParaRPr lang="en-US" sz="1000" dirty="0"/>
          </a:p>
        </p:txBody>
      </p:sp>
      <p:sp>
        <p:nvSpPr>
          <p:cNvPr id="38" name="!!chipv2"/>
          <p:cNvSpPr txBox="1"/>
          <p:nvPr/>
        </p:nvSpPr>
        <p:spPr>
          <a:xfrm>
            <a:off x="10204704" y="2414016"/>
            <a:ext cx="128016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base</a:t>
            </a:r>
            <a:endParaRPr lang="en-US" sz="1500" dirty="0"/>
          </a:p>
        </p:txBody>
      </p:sp>
      <p:sp>
        <p:nvSpPr>
          <p:cNvPr id="39" name="!!stTxt"/>
          <p:cNvSpPr txBox="1"/>
          <p:nvPr/>
        </p:nvSpPr>
        <p:spPr>
          <a:xfrm>
            <a:off x="6949440" y="3108960"/>
            <a:ext cx="4663440" cy="731520"/>
          </a:xfrm>
          <a:prstGeom prst="rect">
            <a:avLst/>
          </a:prstGeom>
          <a:noFill/>
          <a:ln/>
        </p:spPr>
        <p:txBody>
          <a:bodyPr wrap="square" lIns="0" tIns="0" rIns="0" bIns="0" rtlCol="0" anchor="t"/>
          <a:lstStyle/>
          <a:p>
            <a:pPr algn="l" indent="0" marL="0">
              <a:buNone/>
            </a:pPr>
            <a:r>
              <a:rPr lang="en-US" sz="1400" dirty="0">
                <a:solidFill>
                  <a:srgbClr val="5C5E62"/>
                </a:solidFill>
                <a:latin typeface="Segoe UI" pitchFamily="34" charset="0"/>
                <a:ea typeface="Segoe UI" pitchFamily="34" charset="-122"/>
                <a:cs typeface="Segoe UI" pitchFamily="34" charset="-120"/>
              </a:rPr>
              <a:t>300 K, room temperature: the limit is 59.5 mV/dec.</a:t>
            </a:r>
            <a:endParaRPr lang="en-US" sz="1400" dirty="0"/>
          </a:p>
        </p:txBody>
      </p:sp>
      <p:sp>
        <p:nvSpPr>
          <p:cNvPr id="40" name="!!knobLbl"/>
          <p:cNvSpPr txBox="1"/>
          <p:nvPr/>
        </p:nvSpPr>
        <p:spPr>
          <a:xfrm>
            <a:off x="7114032" y="4434840"/>
            <a:ext cx="438912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channel temperature T   </a:t>
            </a:r>
            <a:pPr algn="l" indent="0" marL="0">
              <a:buNone/>
            </a:pPr>
            <a:r>
              <a:rPr lang="en-US" sz="1200" dirty="0">
                <a:solidFill>
                  <a:srgbClr val="E07B00"/>
                </a:solidFill>
                <a:latin typeface="Segoe UI Semibold" pitchFamily="34" charset="0"/>
                <a:ea typeface="Segoe UI Semibold" pitchFamily="34" charset="-122"/>
                <a:cs typeface="Segoe UI Semibold" pitchFamily="34" charset="-120"/>
              </a:rPr>
              <a:t>300 K</a:t>
            </a:r>
            <a:endParaRPr lang="en-US" sz="1200" dirty="0"/>
          </a:p>
        </p:txBody>
      </p:sp>
      <p:sp>
        <p:nvSpPr>
          <p:cNvPr id="41" name="!!knobTrack"/>
          <p:cNvSpPr/>
          <p:nvPr/>
        </p:nvSpPr>
        <p:spPr>
          <a:xfrm>
            <a:off x="7132320" y="4818888"/>
            <a:ext cx="4297680" cy="54864"/>
          </a:xfrm>
          <a:prstGeom prst="roundRect">
            <a:avLst>
              <a:gd name="adj" fmla="val 50000"/>
            </a:avLst>
          </a:prstGeom>
          <a:solidFill>
            <a:srgbClr val="E2E3E3"/>
          </a:solidFill>
          <a:ln/>
        </p:spPr>
      </p:sp>
      <p:sp>
        <p:nvSpPr>
          <p:cNvPr id="42" name="!!knobFill"/>
          <p:cNvSpPr/>
          <p:nvPr/>
        </p:nvSpPr>
        <p:spPr>
          <a:xfrm>
            <a:off x="7132320" y="4818888"/>
            <a:ext cx="613954" cy="54864"/>
          </a:xfrm>
          <a:prstGeom prst="roundRect">
            <a:avLst>
              <a:gd name="adj" fmla="val 50000"/>
            </a:avLst>
          </a:prstGeom>
          <a:solidFill>
            <a:srgbClr val="E07B00"/>
          </a:solidFill>
          <a:ln/>
        </p:spPr>
      </p:sp>
      <p:sp>
        <p:nvSpPr>
          <p:cNvPr id="43" name="!!knobT0"/>
          <p:cNvSpPr txBox="1"/>
          <p:nvPr/>
        </p:nvSpPr>
        <p:spPr>
          <a:xfrm>
            <a:off x="7380514" y="49560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300</a:t>
            </a:r>
            <a:endParaRPr lang="en-US" sz="900" dirty="0"/>
          </a:p>
        </p:txBody>
      </p:sp>
      <p:sp>
        <p:nvSpPr>
          <p:cNvPr id="44" name="!!knobT1"/>
          <p:cNvSpPr txBox="1"/>
          <p:nvPr/>
        </p:nvSpPr>
        <p:spPr>
          <a:xfrm>
            <a:off x="8915400" y="49560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350</a:t>
            </a:r>
            <a:endParaRPr lang="en-US" sz="900" dirty="0"/>
          </a:p>
        </p:txBody>
      </p:sp>
      <p:sp>
        <p:nvSpPr>
          <p:cNvPr id="45" name="!!knobT2"/>
          <p:cNvSpPr txBox="1"/>
          <p:nvPr/>
        </p:nvSpPr>
        <p:spPr>
          <a:xfrm>
            <a:off x="10450286" y="49560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400</a:t>
            </a:r>
            <a:endParaRPr lang="en-US" sz="900" dirty="0"/>
          </a:p>
        </p:txBody>
      </p:sp>
      <p:sp>
        <p:nvSpPr>
          <p:cNvPr id="46" name="!!knobThumb"/>
          <p:cNvSpPr/>
          <p:nvPr/>
        </p:nvSpPr>
        <p:spPr>
          <a:xfrm>
            <a:off x="7645690" y="4745736"/>
            <a:ext cx="201168" cy="201168"/>
          </a:xfrm>
          <a:prstGeom prst="ellipse">
            <a:avLst/>
          </a:prstGeom>
          <a:solidFill>
            <a:srgbClr val="FFFFFF"/>
          </a:solidFill>
          <a:ln w="28575">
            <a:solidFill>
              <a:srgbClr val="E07B00"/>
            </a:solidFill>
            <a:prstDash val="solid"/>
          </a:ln>
        </p:spPr>
      </p:sp>
      <p:sp>
        <p:nvSpPr>
          <p:cNvPr id="4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A self-heated channel switches more softly: heat raises SS and leakage.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27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SS and temperature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kT/q grows with temperature, so the 60 mV/dec limit grows too</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171A20"/>
          </a:solidFill>
          <a:ln/>
        </p:spPr>
      </p:sp>
      <p:sp>
        <p:nvSpPr>
          <p:cNvPr id="6" name="!!sdot2"/>
          <p:cNvSpPr/>
          <p:nvPr/>
        </p:nvSpPr>
        <p:spPr>
          <a:xfrm>
            <a:off x="11599164" y="525780"/>
            <a:ext cx="82296" cy="82296"/>
          </a:xfrm>
          <a:prstGeom prst="ellipse">
            <a:avLst/>
          </a:prstGeom>
          <a:solidFill>
            <a:srgbClr val="E2E3E3"/>
          </a:solidFill>
          <a:ln/>
        </p:spPr>
      </p:sp>
      <p:sp>
        <p:nvSpPr>
          <p:cNvPr id="7" name="!!axg0"/>
          <p:cNvSpPr/>
          <p:nvPr/>
        </p:nvSpPr>
        <p:spPr>
          <a:xfrm>
            <a:off x="1188720" y="4754880"/>
            <a:ext cx="5120640" cy="91"/>
          </a:xfrm>
          <a:prstGeom prst="line">
            <a:avLst/>
          </a:prstGeom>
          <a:noFill/>
          <a:ln w="9525">
            <a:solidFill>
              <a:srgbClr val="EDEEF0"/>
            </a:solidFill>
            <a:prstDash val="solid"/>
          </a:ln>
        </p:spPr>
      </p:sp>
      <p:sp>
        <p:nvSpPr>
          <p:cNvPr id="8" name="!!axg1"/>
          <p:cNvSpPr/>
          <p:nvPr/>
        </p:nvSpPr>
        <p:spPr>
          <a:xfrm>
            <a:off x="1188720" y="3718560"/>
            <a:ext cx="5120640" cy="91"/>
          </a:xfrm>
          <a:prstGeom prst="line">
            <a:avLst/>
          </a:prstGeom>
          <a:noFill/>
          <a:ln w="9525">
            <a:solidFill>
              <a:srgbClr val="EDEEF0"/>
            </a:solidFill>
            <a:prstDash val="solid"/>
          </a:ln>
        </p:spPr>
      </p:sp>
      <p:sp>
        <p:nvSpPr>
          <p:cNvPr id="9" name="!!axg2"/>
          <p:cNvSpPr/>
          <p:nvPr/>
        </p:nvSpPr>
        <p:spPr>
          <a:xfrm>
            <a:off x="1188720" y="2682240"/>
            <a:ext cx="5120640" cy="91"/>
          </a:xfrm>
          <a:prstGeom prst="line">
            <a:avLst/>
          </a:prstGeom>
          <a:noFill/>
          <a:ln w="9525">
            <a:solidFill>
              <a:srgbClr val="EDEEF0"/>
            </a:solidFill>
            <a:prstDash val="solid"/>
          </a:ln>
        </p:spPr>
      </p:sp>
      <p:sp>
        <p:nvSpPr>
          <p:cNvPr id="10" name="!!axg3"/>
          <p:cNvSpPr/>
          <p:nvPr/>
        </p:nvSpPr>
        <p:spPr>
          <a:xfrm>
            <a:off x="1188720" y="1645920"/>
            <a:ext cx="5120640" cy="91"/>
          </a:xfrm>
          <a:prstGeom prst="line">
            <a:avLst/>
          </a:prstGeom>
          <a:noFill/>
          <a:ln w="9525">
            <a:solidFill>
              <a:srgbClr val="EDEEF0"/>
            </a:solidFill>
            <a:prstDash val="solid"/>
          </a:ln>
        </p:spPr>
      </p:sp>
      <p:sp>
        <p:nvSpPr>
          <p:cNvPr id="11" name="!!axxa"/>
          <p:cNvSpPr/>
          <p:nvPr/>
        </p:nvSpPr>
        <p:spPr>
          <a:xfrm>
            <a:off x="1188720" y="4754880"/>
            <a:ext cx="5120640" cy="91"/>
          </a:xfrm>
          <a:prstGeom prst="line">
            <a:avLst/>
          </a:prstGeom>
          <a:noFill/>
          <a:ln w="12700">
            <a:solidFill>
              <a:srgbClr val="8A8D93"/>
            </a:solidFill>
            <a:prstDash val="solid"/>
          </a:ln>
        </p:spPr>
      </p:sp>
      <p:sp>
        <p:nvSpPr>
          <p:cNvPr id="12" name="!!axya"/>
          <p:cNvSpPr/>
          <p:nvPr/>
        </p:nvSpPr>
        <p:spPr>
          <a:xfrm>
            <a:off x="1188720" y="1645920"/>
            <a:ext cx="91" cy="3108960"/>
          </a:xfrm>
          <a:prstGeom prst="line">
            <a:avLst/>
          </a:prstGeom>
          <a:noFill/>
          <a:ln w="12700">
            <a:solidFill>
              <a:srgbClr val="8A8D93"/>
            </a:solidFill>
            <a:prstDash val="solid"/>
          </a:ln>
        </p:spPr>
      </p:sp>
      <p:sp>
        <p:nvSpPr>
          <p:cNvPr id="13" name="!!axxt0"/>
          <p:cNvSpPr txBox="1"/>
          <p:nvPr/>
        </p:nvSpPr>
        <p:spPr>
          <a:xfrm>
            <a:off x="868680" y="48006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250</a:t>
            </a:r>
            <a:endParaRPr lang="en-US" sz="900" dirty="0"/>
          </a:p>
        </p:txBody>
      </p:sp>
      <p:sp>
        <p:nvSpPr>
          <p:cNvPr id="14" name="!!axxt1"/>
          <p:cNvSpPr txBox="1"/>
          <p:nvPr/>
        </p:nvSpPr>
        <p:spPr>
          <a:xfrm>
            <a:off x="2148840" y="48006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300</a:t>
            </a:r>
            <a:endParaRPr lang="en-US" sz="900" dirty="0"/>
          </a:p>
        </p:txBody>
      </p:sp>
      <p:sp>
        <p:nvSpPr>
          <p:cNvPr id="15" name="!!axxt2"/>
          <p:cNvSpPr txBox="1"/>
          <p:nvPr/>
        </p:nvSpPr>
        <p:spPr>
          <a:xfrm>
            <a:off x="3429000" y="48006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350</a:t>
            </a:r>
            <a:endParaRPr lang="en-US" sz="900" dirty="0"/>
          </a:p>
        </p:txBody>
      </p:sp>
      <p:sp>
        <p:nvSpPr>
          <p:cNvPr id="16" name="!!axxt3"/>
          <p:cNvSpPr txBox="1"/>
          <p:nvPr/>
        </p:nvSpPr>
        <p:spPr>
          <a:xfrm>
            <a:off x="4709160" y="48006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400</a:t>
            </a:r>
            <a:endParaRPr lang="en-US" sz="900" dirty="0"/>
          </a:p>
        </p:txBody>
      </p:sp>
      <p:sp>
        <p:nvSpPr>
          <p:cNvPr id="17" name="!!axxt4"/>
          <p:cNvSpPr txBox="1"/>
          <p:nvPr/>
        </p:nvSpPr>
        <p:spPr>
          <a:xfrm>
            <a:off x="5989320" y="48006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450</a:t>
            </a:r>
            <a:endParaRPr lang="en-US" sz="900" dirty="0"/>
          </a:p>
        </p:txBody>
      </p:sp>
      <p:sp>
        <p:nvSpPr>
          <p:cNvPr id="18" name="!!axyt0"/>
          <p:cNvSpPr txBox="1"/>
          <p:nvPr/>
        </p:nvSpPr>
        <p:spPr>
          <a:xfrm>
            <a:off x="502920" y="46542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40</a:t>
            </a:r>
            <a:endParaRPr lang="en-US" sz="900" dirty="0"/>
          </a:p>
        </p:txBody>
      </p:sp>
      <p:sp>
        <p:nvSpPr>
          <p:cNvPr id="19" name="!!axyt1"/>
          <p:cNvSpPr txBox="1"/>
          <p:nvPr/>
        </p:nvSpPr>
        <p:spPr>
          <a:xfrm>
            <a:off x="502920" y="36179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60</a:t>
            </a:r>
            <a:endParaRPr lang="en-US" sz="900" dirty="0"/>
          </a:p>
        </p:txBody>
      </p:sp>
      <p:sp>
        <p:nvSpPr>
          <p:cNvPr id="20" name="!!axyt2"/>
          <p:cNvSpPr txBox="1"/>
          <p:nvPr/>
        </p:nvSpPr>
        <p:spPr>
          <a:xfrm>
            <a:off x="502920" y="25816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80</a:t>
            </a:r>
            <a:endParaRPr lang="en-US" sz="900" dirty="0"/>
          </a:p>
        </p:txBody>
      </p:sp>
      <p:sp>
        <p:nvSpPr>
          <p:cNvPr id="21" name="!!axyt3"/>
          <p:cNvSpPr txBox="1"/>
          <p:nvPr/>
        </p:nvSpPr>
        <p:spPr>
          <a:xfrm>
            <a:off x="502920" y="1545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a:t>
            </a:r>
            <a:endParaRPr lang="en-US" sz="900" dirty="0"/>
          </a:p>
        </p:txBody>
      </p:sp>
      <p:sp>
        <p:nvSpPr>
          <p:cNvPr id="22" name="!!axxl"/>
          <p:cNvSpPr txBox="1"/>
          <p:nvPr/>
        </p:nvSpPr>
        <p:spPr>
          <a:xfrm>
            <a:off x="1188720" y="5029200"/>
            <a:ext cx="51206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channel temperature T (K)</a:t>
            </a:r>
            <a:endParaRPr lang="en-US" sz="1100" dirty="0"/>
          </a:p>
        </p:txBody>
      </p:sp>
      <p:sp>
        <p:nvSpPr>
          <p:cNvPr id="23" name="!!axyl"/>
          <p:cNvSpPr txBox="1"/>
          <p:nvPr/>
        </p:nvSpPr>
        <p:spPr>
          <a:xfrm>
            <a:off x="1005840" y="134416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SS limit (mV/dec)</a:t>
            </a:r>
            <a:endParaRPr lang="en-US" sz="1100" dirty="0"/>
          </a:p>
        </p:txBody>
      </p:sp>
      <p:sp>
        <p:nvSpPr>
          <p:cNvPr id="24" name="!!stLine"/>
          <p:cNvSpPr/>
          <p:nvPr/>
        </p:nvSpPr>
        <p:spPr>
          <a:xfrm>
            <a:off x="1188720" y="2201388"/>
            <a:ext cx="5120640" cy="2056059"/>
          </a:xfrm>
          <a:custGeom>
            <a:avLst/>
            <a:gdLst/>
            <a:ahLst/>
            <a:cxnLst/>
            <a:rect l="l" t="t" r="r" b="b"/>
            <a:pathLst>
              <a:path w="5120640" h="2056059">
                <a:moveTo>
                  <a:pt x="0" y="2056059"/>
                </a:moveTo>
                <a:lnTo>
                  <a:pt x="5120640" y="0"/>
                </a:lnTo>
              </a:path>
            </a:pathLst>
          </a:custGeom>
          <a:ln w="31750">
            <a:solidFill>
              <a:srgbClr val="3E6AE1"/>
            </a:solidFill>
            <a:prstDash val="solid"/>
          </a:ln>
        </p:spPr>
      </p:sp>
      <p:sp>
        <p:nvSpPr>
          <p:cNvPr id="25" name="!!stV"/>
          <p:cNvSpPr/>
          <p:nvPr/>
        </p:nvSpPr>
        <p:spPr>
          <a:xfrm flipH="1">
            <a:off x="3585180" y="3295211"/>
            <a:ext cx="91" cy="1459669"/>
          </a:xfrm>
          <a:prstGeom prst="line">
            <a:avLst/>
          </a:prstGeom>
          <a:noFill/>
          <a:ln w="9525">
            <a:solidFill>
              <a:srgbClr val="8A8D93"/>
            </a:solidFill>
            <a:prstDash val="dash"/>
          </a:ln>
        </p:spPr>
      </p:sp>
      <p:sp>
        <p:nvSpPr>
          <p:cNvPr id="26" name="!!stH"/>
          <p:cNvSpPr/>
          <p:nvPr/>
        </p:nvSpPr>
        <p:spPr>
          <a:xfrm>
            <a:off x="1188720" y="3295211"/>
            <a:ext cx="2396460" cy="91"/>
          </a:xfrm>
          <a:prstGeom prst="line">
            <a:avLst/>
          </a:prstGeom>
          <a:noFill/>
          <a:ln w="9525">
            <a:solidFill>
              <a:srgbClr val="8A8D93"/>
            </a:solidFill>
            <a:prstDash val="dash"/>
          </a:ln>
        </p:spPr>
      </p:sp>
      <p:sp>
        <p:nvSpPr>
          <p:cNvPr id="27" name="!!stPt"/>
          <p:cNvSpPr/>
          <p:nvPr/>
        </p:nvSpPr>
        <p:spPr>
          <a:xfrm>
            <a:off x="3493740" y="3203771"/>
            <a:ext cx="182880" cy="182880"/>
          </a:xfrm>
          <a:prstGeom prst="ellipse">
            <a:avLst/>
          </a:prstGeom>
          <a:solidFill>
            <a:srgbClr val="E07B00"/>
          </a:solidFill>
          <a:ln w="19050">
            <a:solidFill>
              <a:srgbClr val="FFFFFF"/>
            </a:solidFill>
            <a:prstDash val="solid"/>
          </a:ln>
        </p:spPr>
      </p:sp>
      <p:sp>
        <p:nvSpPr>
          <p:cNvPr id="28" name="!!stPtL"/>
          <p:cNvSpPr txBox="1"/>
          <p:nvPr/>
        </p:nvSpPr>
        <p:spPr>
          <a:xfrm>
            <a:off x="2213580" y="2929451"/>
            <a:ext cx="1280160" cy="237744"/>
          </a:xfrm>
          <a:prstGeom prst="rect">
            <a:avLst/>
          </a:prstGeom>
          <a:noFill/>
          <a:ln/>
        </p:spPr>
        <p:txBody>
          <a:bodyPr wrap="square" lIns="0" tIns="0" rIns="0" bIns="0" rtlCol="0" anchor="t"/>
          <a:lstStyle/>
          <a:p>
            <a:pPr algn="r" indent="0" marL="0">
              <a:buNone/>
            </a:pPr>
            <a:r>
              <a:rPr lang="en-US" sz="1200" dirty="0">
                <a:solidFill>
                  <a:srgbClr val="E07B00"/>
                </a:solidFill>
                <a:latin typeface="Segoe UI Semibold" pitchFamily="34" charset="0"/>
                <a:ea typeface="Segoe UI Semibold" pitchFamily="34" charset="-122"/>
                <a:cs typeface="Segoe UI Semibold" pitchFamily="34" charset="-120"/>
              </a:rPr>
              <a:t>68.2 mV/dec</a:t>
            </a:r>
            <a:endParaRPr lang="en-US" sz="1200" dirty="0"/>
          </a:p>
        </p:txBody>
      </p:sp>
      <p:sp>
        <p:nvSpPr>
          <p:cNvPr id="29" name="!!stEq"/>
          <p:cNvSpPr txBox="1"/>
          <p:nvPr/>
        </p:nvSpPr>
        <p:spPr>
          <a:xfrm>
            <a:off x="6949440" y="1600200"/>
            <a:ext cx="4663440" cy="274320"/>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SS</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min</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(kT/q)·ln10 = 0.1984 mV/dec per kelvin</a:t>
            </a:r>
            <a:endParaRPr lang="en-US" sz="1400" dirty="0"/>
          </a:p>
        </p:txBody>
      </p:sp>
      <p:sp>
        <p:nvSpPr>
          <p:cNvPr id="30" name="!!chip0"/>
          <p:cNvSpPr/>
          <p:nvPr/>
        </p:nvSpPr>
        <p:spPr>
          <a:xfrm>
            <a:off x="6949440" y="2103120"/>
            <a:ext cx="1463040" cy="731520"/>
          </a:xfrm>
          <a:prstGeom prst="roundRect">
            <a:avLst>
              <a:gd name="adj" fmla="val 7500"/>
            </a:avLst>
          </a:prstGeom>
          <a:solidFill>
            <a:srgbClr val="F4F5F7"/>
          </a:solidFill>
          <a:ln/>
        </p:spPr>
      </p:sp>
      <p:sp>
        <p:nvSpPr>
          <p:cNvPr id="31" name="!!chipk0"/>
          <p:cNvSpPr txBox="1"/>
          <p:nvPr/>
        </p:nvSpPr>
        <p:spPr>
          <a:xfrm>
            <a:off x="7059168" y="2176272"/>
            <a:ext cx="124358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temperature T</a:t>
            </a:r>
            <a:endParaRPr lang="en-US" sz="1000" dirty="0"/>
          </a:p>
        </p:txBody>
      </p:sp>
      <p:sp>
        <p:nvSpPr>
          <p:cNvPr id="32" name="!!chipv0"/>
          <p:cNvSpPr txBox="1"/>
          <p:nvPr/>
        </p:nvSpPr>
        <p:spPr>
          <a:xfrm>
            <a:off x="7059168" y="2414016"/>
            <a:ext cx="128016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343.6 K</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33" name="!!chip1"/>
          <p:cNvSpPr/>
          <p:nvPr/>
        </p:nvSpPr>
        <p:spPr>
          <a:xfrm>
            <a:off x="8522208" y="2103120"/>
            <a:ext cx="1463040" cy="731520"/>
          </a:xfrm>
          <a:prstGeom prst="roundRect">
            <a:avLst>
              <a:gd name="adj" fmla="val 7500"/>
            </a:avLst>
          </a:prstGeom>
          <a:solidFill>
            <a:srgbClr val="F4F5F7"/>
          </a:solidFill>
          <a:ln/>
        </p:spPr>
      </p:sp>
      <p:sp>
        <p:nvSpPr>
          <p:cNvPr id="34" name="!!chipk1"/>
          <p:cNvSpPr txBox="1"/>
          <p:nvPr/>
        </p:nvSpPr>
        <p:spPr>
          <a:xfrm>
            <a:off x="8631936" y="2176272"/>
            <a:ext cx="124358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SS limit</a:t>
            </a:r>
            <a:endParaRPr lang="en-US" sz="1000" dirty="0"/>
          </a:p>
        </p:txBody>
      </p:sp>
      <p:sp>
        <p:nvSpPr>
          <p:cNvPr id="35" name="!!chipv1"/>
          <p:cNvSpPr txBox="1"/>
          <p:nvPr/>
        </p:nvSpPr>
        <p:spPr>
          <a:xfrm>
            <a:off x="8631936" y="2414016"/>
            <a:ext cx="128016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68.2</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36" name="!!chip2"/>
          <p:cNvSpPr/>
          <p:nvPr/>
        </p:nvSpPr>
        <p:spPr>
          <a:xfrm>
            <a:off x="10094976" y="2103120"/>
            <a:ext cx="1463040" cy="731520"/>
          </a:xfrm>
          <a:prstGeom prst="roundRect">
            <a:avLst>
              <a:gd name="adj" fmla="val 7500"/>
            </a:avLst>
          </a:prstGeom>
          <a:solidFill>
            <a:srgbClr val="F4F5F7"/>
          </a:solidFill>
          <a:ln/>
        </p:spPr>
      </p:sp>
      <p:sp>
        <p:nvSpPr>
          <p:cNvPr id="37" name="!!chipk2"/>
          <p:cNvSpPr txBox="1"/>
          <p:nvPr/>
        </p:nvSpPr>
        <p:spPr>
          <a:xfrm>
            <a:off x="10204704" y="2176272"/>
            <a:ext cx="124358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leakage I</a:t>
            </a:r>
            <a:pPr algn="l" indent="0" marL="0">
              <a:buNone/>
            </a:pPr>
            <a:r>
              <a:rPr lang="en-US" sz="1000" baseline="-40000" dirty="0">
                <a:solidFill>
                  <a:srgbClr val="5C5E62"/>
                </a:solidFill>
                <a:latin typeface="Segoe UI" pitchFamily="34" charset="0"/>
                <a:ea typeface="Segoe UI" pitchFamily="34" charset="-122"/>
                <a:cs typeface="Segoe UI" pitchFamily="34" charset="-120"/>
              </a:rPr>
              <a:t>off</a:t>
            </a:r>
            <a:endParaRPr lang="en-US" sz="1000" dirty="0"/>
          </a:p>
        </p:txBody>
      </p:sp>
      <p:sp>
        <p:nvSpPr>
          <p:cNvPr id="38" name="!!chipv2"/>
          <p:cNvSpPr txBox="1"/>
          <p:nvPr/>
        </p:nvSpPr>
        <p:spPr>
          <a:xfrm>
            <a:off x="10204704" y="2414016"/>
            <a:ext cx="128016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higher</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39" name="!!stTxt"/>
          <p:cNvSpPr txBox="1"/>
          <p:nvPr/>
        </p:nvSpPr>
        <p:spPr>
          <a:xfrm>
            <a:off x="6949440" y="3108960"/>
            <a:ext cx="4663440" cy="731520"/>
          </a:xfrm>
          <a:prstGeom prst="rect">
            <a:avLst/>
          </a:prstGeom>
          <a:noFill/>
          <a:ln/>
        </p:spPr>
        <p:txBody>
          <a:bodyPr wrap="square" lIns="0" tIns="0" rIns="0" bIns="0" rtlCol="0" anchor="t"/>
          <a:lstStyle/>
          <a:p>
            <a:pPr algn="l" indent="0" marL="0">
              <a:buNone/>
            </a:pPr>
            <a:r>
              <a:rPr lang="en-US" sz="1400" dirty="0">
                <a:solidFill>
                  <a:srgbClr val="5C5E62"/>
                </a:solidFill>
                <a:latin typeface="Segoe UI" pitchFamily="34" charset="0"/>
                <a:ea typeface="Segoe UI" pitchFamily="34" charset="-122"/>
                <a:cs typeface="Segoe UI" pitchFamily="34" charset="-120"/>
              </a:rPr>
              <a:t>343.6 K is the peak of our reproduced GAAFET: the limit is already 68.2 mV/dec.</a:t>
            </a:r>
            <a:endParaRPr lang="en-US" sz="1400" dirty="0"/>
          </a:p>
        </p:txBody>
      </p:sp>
      <p:sp>
        <p:nvSpPr>
          <p:cNvPr id="40" name="!!knobLbl"/>
          <p:cNvSpPr txBox="1"/>
          <p:nvPr/>
        </p:nvSpPr>
        <p:spPr>
          <a:xfrm>
            <a:off x="7114032" y="4434840"/>
            <a:ext cx="438912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channel temperature T   </a:t>
            </a:r>
            <a:pPr algn="l" indent="0" marL="0">
              <a:buNone/>
            </a:pPr>
            <a:r>
              <a:rPr lang="en-US" sz="1200" dirty="0">
                <a:solidFill>
                  <a:srgbClr val="E07B00"/>
                </a:solidFill>
                <a:latin typeface="Segoe UI Semibold" pitchFamily="34" charset="0"/>
                <a:ea typeface="Segoe UI Semibold" pitchFamily="34" charset="-122"/>
                <a:cs typeface="Segoe UI Semibold" pitchFamily="34" charset="-120"/>
              </a:rPr>
              <a:t>343.6 K</a:t>
            </a:r>
            <a:endParaRPr lang="en-US" sz="1200" dirty="0"/>
          </a:p>
        </p:txBody>
      </p:sp>
      <p:sp>
        <p:nvSpPr>
          <p:cNvPr id="41" name="!!knobTrack"/>
          <p:cNvSpPr/>
          <p:nvPr/>
        </p:nvSpPr>
        <p:spPr>
          <a:xfrm>
            <a:off x="7132320" y="4818888"/>
            <a:ext cx="4297680" cy="54864"/>
          </a:xfrm>
          <a:prstGeom prst="roundRect">
            <a:avLst>
              <a:gd name="adj" fmla="val 50000"/>
            </a:avLst>
          </a:prstGeom>
          <a:solidFill>
            <a:srgbClr val="E2E3E3"/>
          </a:solidFill>
          <a:ln/>
        </p:spPr>
      </p:sp>
      <p:sp>
        <p:nvSpPr>
          <p:cNvPr id="42" name="!!knobFill"/>
          <p:cNvSpPr/>
          <p:nvPr/>
        </p:nvSpPr>
        <p:spPr>
          <a:xfrm>
            <a:off x="7132320" y="4818888"/>
            <a:ext cx="1952375" cy="54864"/>
          </a:xfrm>
          <a:prstGeom prst="roundRect">
            <a:avLst>
              <a:gd name="adj" fmla="val 50000"/>
            </a:avLst>
          </a:prstGeom>
          <a:solidFill>
            <a:srgbClr val="E07B00"/>
          </a:solidFill>
          <a:ln/>
        </p:spPr>
      </p:sp>
      <p:sp>
        <p:nvSpPr>
          <p:cNvPr id="43" name="!!knobT0"/>
          <p:cNvSpPr txBox="1"/>
          <p:nvPr/>
        </p:nvSpPr>
        <p:spPr>
          <a:xfrm>
            <a:off x="7380514" y="49560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300</a:t>
            </a:r>
            <a:endParaRPr lang="en-US" sz="900" dirty="0"/>
          </a:p>
        </p:txBody>
      </p:sp>
      <p:sp>
        <p:nvSpPr>
          <p:cNvPr id="44" name="!!knobT1"/>
          <p:cNvSpPr txBox="1"/>
          <p:nvPr/>
        </p:nvSpPr>
        <p:spPr>
          <a:xfrm>
            <a:off x="8915400" y="49560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350</a:t>
            </a:r>
            <a:endParaRPr lang="en-US" sz="900" dirty="0"/>
          </a:p>
        </p:txBody>
      </p:sp>
      <p:sp>
        <p:nvSpPr>
          <p:cNvPr id="45" name="!!knobT2"/>
          <p:cNvSpPr txBox="1"/>
          <p:nvPr/>
        </p:nvSpPr>
        <p:spPr>
          <a:xfrm>
            <a:off x="10450286" y="49560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400</a:t>
            </a:r>
            <a:endParaRPr lang="en-US" sz="900" dirty="0"/>
          </a:p>
        </p:txBody>
      </p:sp>
      <p:sp>
        <p:nvSpPr>
          <p:cNvPr id="46" name="!!knobThumb"/>
          <p:cNvSpPr/>
          <p:nvPr/>
        </p:nvSpPr>
        <p:spPr>
          <a:xfrm>
            <a:off x="8984111" y="4745736"/>
            <a:ext cx="201168" cy="201168"/>
          </a:xfrm>
          <a:prstGeom prst="ellipse">
            <a:avLst/>
          </a:prstGeom>
          <a:solidFill>
            <a:srgbClr val="FFFFFF"/>
          </a:solidFill>
          <a:ln w="28575">
            <a:solidFill>
              <a:srgbClr val="E07B00"/>
            </a:solidFill>
            <a:prstDash val="solid"/>
          </a:ln>
        </p:spPr>
      </p:sp>
      <p:sp>
        <p:nvSpPr>
          <p:cNvPr id="4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A self-heated channel switches more softly: heat raises SS and leakage.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SS and temperature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kT/q grows with temperature, so the 60 mV/dec limit grows too</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171A20"/>
          </a:solidFill>
          <a:ln/>
        </p:spPr>
      </p:sp>
      <p:sp>
        <p:nvSpPr>
          <p:cNvPr id="6" name="!!sdot2"/>
          <p:cNvSpPr/>
          <p:nvPr/>
        </p:nvSpPr>
        <p:spPr>
          <a:xfrm>
            <a:off x="11599164" y="525780"/>
            <a:ext cx="82296" cy="82296"/>
          </a:xfrm>
          <a:prstGeom prst="ellipse">
            <a:avLst/>
          </a:prstGeom>
          <a:solidFill>
            <a:srgbClr val="171A20"/>
          </a:solidFill>
          <a:ln/>
        </p:spPr>
      </p:sp>
      <p:sp>
        <p:nvSpPr>
          <p:cNvPr id="7" name="!!axg0"/>
          <p:cNvSpPr/>
          <p:nvPr/>
        </p:nvSpPr>
        <p:spPr>
          <a:xfrm>
            <a:off x="1188720" y="4754880"/>
            <a:ext cx="5120640" cy="91"/>
          </a:xfrm>
          <a:prstGeom prst="line">
            <a:avLst/>
          </a:prstGeom>
          <a:noFill/>
          <a:ln w="9525">
            <a:solidFill>
              <a:srgbClr val="EDEEF0"/>
            </a:solidFill>
            <a:prstDash val="solid"/>
          </a:ln>
        </p:spPr>
      </p:sp>
      <p:sp>
        <p:nvSpPr>
          <p:cNvPr id="8" name="!!axg1"/>
          <p:cNvSpPr/>
          <p:nvPr/>
        </p:nvSpPr>
        <p:spPr>
          <a:xfrm>
            <a:off x="1188720" y="3718560"/>
            <a:ext cx="5120640" cy="91"/>
          </a:xfrm>
          <a:prstGeom prst="line">
            <a:avLst/>
          </a:prstGeom>
          <a:noFill/>
          <a:ln w="9525">
            <a:solidFill>
              <a:srgbClr val="EDEEF0"/>
            </a:solidFill>
            <a:prstDash val="solid"/>
          </a:ln>
        </p:spPr>
      </p:sp>
      <p:sp>
        <p:nvSpPr>
          <p:cNvPr id="9" name="!!axg2"/>
          <p:cNvSpPr/>
          <p:nvPr/>
        </p:nvSpPr>
        <p:spPr>
          <a:xfrm>
            <a:off x="1188720" y="2682240"/>
            <a:ext cx="5120640" cy="91"/>
          </a:xfrm>
          <a:prstGeom prst="line">
            <a:avLst/>
          </a:prstGeom>
          <a:noFill/>
          <a:ln w="9525">
            <a:solidFill>
              <a:srgbClr val="EDEEF0"/>
            </a:solidFill>
            <a:prstDash val="solid"/>
          </a:ln>
        </p:spPr>
      </p:sp>
      <p:sp>
        <p:nvSpPr>
          <p:cNvPr id="10" name="!!axg3"/>
          <p:cNvSpPr/>
          <p:nvPr/>
        </p:nvSpPr>
        <p:spPr>
          <a:xfrm>
            <a:off x="1188720" y="1645920"/>
            <a:ext cx="5120640" cy="91"/>
          </a:xfrm>
          <a:prstGeom prst="line">
            <a:avLst/>
          </a:prstGeom>
          <a:noFill/>
          <a:ln w="9525">
            <a:solidFill>
              <a:srgbClr val="EDEEF0"/>
            </a:solidFill>
            <a:prstDash val="solid"/>
          </a:ln>
        </p:spPr>
      </p:sp>
      <p:sp>
        <p:nvSpPr>
          <p:cNvPr id="11" name="!!axxa"/>
          <p:cNvSpPr/>
          <p:nvPr/>
        </p:nvSpPr>
        <p:spPr>
          <a:xfrm>
            <a:off x="1188720" y="4754880"/>
            <a:ext cx="5120640" cy="91"/>
          </a:xfrm>
          <a:prstGeom prst="line">
            <a:avLst/>
          </a:prstGeom>
          <a:noFill/>
          <a:ln w="12700">
            <a:solidFill>
              <a:srgbClr val="8A8D93"/>
            </a:solidFill>
            <a:prstDash val="solid"/>
          </a:ln>
        </p:spPr>
      </p:sp>
      <p:sp>
        <p:nvSpPr>
          <p:cNvPr id="12" name="!!axya"/>
          <p:cNvSpPr/>
          <p:nvPr/>
        </p:nvSpPr>
        <p:spPr>
          <a:xfrm>
            <a:off x="1188720" y="1645920"/>
            <a:ext cx="91" cy="3108960"/>
          </a:xfrm>
          <a:prstGeom prst="line">
            <a:avLst/>
          </a:prstGeom>
          <a:noFill/>
          <a:ln w="12700">
            <a:solidFill>
              <a:srgbClr val="8A8D93"/>
            </a:solidFill>
            <a:prstDash val="solid"/>
          </a:ln>
        </p:spPr>
      </p:sp>
      <p:sp>
        <p:nvSpPr>
          <p:cNvPr id="13" name="!!axxt0"/>
          <p:cNvSpPr txBox="1"/>
          <p:nvPr/>
        </p:nvSpPr>
        <p:spPr>
          <a:xfrm>
            <a:off x="868680" y="48006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250</a:t>
            </a:r>
            <a:endParaRPr lang="en-US" sz="900" dirty="0"/>
          </a:p>
        </p:txBody>
      </p:sp>
      <p:sp>
        <p:nvSpPr>
          <p:cNvPr id="14" name="!!axxt1"/>
          <p:cNvSpPr txBox="1"/>
          <p:nvPr/>
        </p:nvSpPr>
        <p:spPr>
          <a:xfrm>
            <a:off x="2148840" y="48006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300</a:t>
            </a:r>
            <a:endParaRPr lang="en-US" sz="900" dirty="0"/>
          </a:p>
        </p:txBody>
      </p:sp>
      <p:sp>
        <p:nvSpPr>
          <p:cNvPr id="15" name="!!axxt2"/>
          <p:cNvSpPr txBox="1"/>
          <p:nvPr/>
        </p:nvSpPr>
        <p:spPr>
          <a:xfrm>
            <a:off x="3429000" y="48006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350</a:t>
            </a:r>
            <a:endParaRPr lang="en-US" sz="900" dirty="0"/>
          </a:p>
        </p:txBody>
      </p:sp>
      <p:sp>
        <p:nvSpPr>
          <p:cNvPr id="16" name="!!axxt3"/>
          <p:cNvSpPr txBox="1"/>
          <p:nvPr/>
        </p:nvSpPr>
        <p:spPr>
          <a:xfrm>
            <a:off x="4709160" y="48006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400</a:t>
            </a:r>
            <a:endParaRPr lang="en-US" sz="900" dirty="0"/>
          </a:p>
        </p:txBody>
      </p:sp>
      <p:sp>
        <p:nvSpPr>
          <p:cNvPr id="17" name="!!axxt4"/>
          <p:cNvSpPr txBox="1"/>
          <p:nvPr/>
        </p:nvSpPr>
        <p:spPr>
          <a:xfrm>
            <a:off x="5989320" y="48006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450</a:t>
            </a:r>
            <a:endParaRPr lang="en-US" sz="900" dirty="0"/>
          </a:p>
        </p:txBody>
      </p:sp>
      <p:sp>
        <p:nvSpPr>
          <p:cNvPr id="18" name="!!axyt0"/>
          <p:cNvSpPr txBox="1"/>
          <p:nvPr/>
        </p:nvSpPr>
        <p:spPr>
          <a:xfrm>
            <a:off x="502920" y="46542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40</a:t>
            </a:r>
            <a:endParaRPr lang="en-US" sz="900" dirty="0"/>
          </a:p>
        </p:txBody>
      </p:sp>
      <p:sp>
        <p:nvSpPr>
          <p:cNvPr id="19" name="!!axyt1"/>
          <p:cNvSpPr txBox="1"/>
          <p:nvPr/>
        </p:nvSpPr>
        <p:spPr>
          <a:xfrm>
            <a:off x="502920" y="36179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60</a:t>
            </a:r>
            <a:endParaRPr lang="en-US" sz="900" dirty="0"/>
          </a:p>
        </p:txBody>
      </p:sp>
      <p:sp>
        <p:nvSpPr>
          <p:cNvPr id="20" name="!!axyt2"/>
          <p:cNvSpPr txBox="1"/>
          <p:nvPr/>
        </p:nvSpPr>
        <p:spPr>
          <a:xfrm>
            <a:off x="502920" y="25816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80</a:t>
            </a:r>
            <a:endParaRPr lang="en-US" sz="900" dirty="0"/>
          </a:p>
        </p:txBody>
      </p:sp>
      <p:sp>
        <p:nvSpPr>
          <p:cNvPr id="21" name="!!axyt3"/>
          <p:cNvSpPr txBox="1"/>
          <p:nvPr/>
        </p:nvSpPr>
        <p:spPr>
          <a:xfrm>
            <a:off x="502920" y="1545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a:t>
            </a:r>
            <a:endParaRPr lang="en-US" sz="900" dirty="0"/>
          </a:p>
        </p:txBody>
      </p:sp>
      <p:sp>
        <p:nvSpPr>
          <p:cNvPr id="22" name="!!axxl"/>
          <p:cNvSpPr txBox="1"/>
          <p:nvPr/>
        </p:nvSpPr>
        <p:spPr>
          <a:xfrm>
            <a:off x="1188720" y="5029200"/>
            <a:ext cx="51206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channel temperature T (K)</a:t>
            </a:r>
            <a:endParaRPr lang="en-US" sz="1100" dirty="0"/>
          </a:p>
        </p:txBody>
      </p:sp>
      <p:sp>
        <p:nvSpPr>
          <p:cNvPr id="23" name="!!axyl"/>
          <p:cNvSpPr txBox="1"/>
          <p:nvPr/>
        </p:nvSpPr>
        <p:spPr>
          <a:xfrm>
            <a:off x="1005840" y="134416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SS limit (mV/dec)</a:t>
            </a:r>
            <a:endParaRPr lang="en-US" sz="1100" dirty="0"/>
          </a:p>
        </p:txBody>
      </p:sp>
      <p:sp>
        <p:nvSpPr>
          <p:cNvPr id="24" name="!!stLine"/>
          <p:cNvSpPr/>
          <p:nvPr/>
        </p:nvSpPr>
        <p:spPr>
          <a:xfrm>
            <a:off x="1188720" y="2201388"/>
            <a:ext cx="5120640" cy="2056059"/>
          </a:xfrm>
          <a:custGeom>
            <a:avLst/>
            <a:gdLst/>
            <a:ahLst/>
            <a:cxnLst/>
            <a:rect l="l" t="t" r="r" b="b"/>
            <a:pathLst>
              <a:path w="5120640" h="2056059">
                <a:moveTo>
                  <a:pt x="0" y="2056059"/>
                </a:moveTo>
                <a:lnTo>
                  <a:pt x="5120640" y="0"/>
                </a:lnTo>
              </a:path>
            </a:pathLst>
          </a:custGeom>
          <a:ln w="31750">
            <a:solidFill>
              <a:srgbClr val="3E6AE1"/>
            </a:solidFill>
            <a:prstDash val="solid"/>
          </a:ln>
        </p:spPr>
      </p:sp>
      <p:sp>
        <p:nvSpPr>
          <p:cNvPr id="25" name="!!stV"/>
          <p:cNvSpPr/>
          <p:nvPr/>
        </p:nvSpPr>
        <p:spPr>
          <a:xfrm flipH="1">
            <a:off x="5029200" y="2715402"/>
            <a:ext cx="91" cy="2039478"/>
          </a:xfrm>
          <a:prstGeom prst="line">
            <a:avLst/>
          </a:prstGeom>
          <a:noFill/>
          <a:ln w="9525">
            <a:solidFill>
              <a:srgbClr val="8A8D93"/>
            </a:solidFill>
            <a:prstDash val="dash"/>
          </a:ln>
        </p:spPr>
      </p:sp>
      <p:sp>
        <p:nvSpPr>
          <p:cNvPr id="26" name="!!stH"/>
          <p:cNvSpPr/>
          <p:nvPr/>
        </p:nvSpPr>
        <p:spPr>
          <a:xfrm>
            <a:off x="1188720" y="2715402"/>
            <a:ext cx="3840480" cy="91"/>
          </a:xfrm>
          <a:prstGeom prst="line">
            <a:avLst/>
          </a:prstGeom>
          <a:noFill/>
          <a:ln w="9525">
            <a:solidFill>
              <a:srgbClr val="8A8D93"/>
            </a:solidFill>
            <a:prstDash val="dash"/>
          </a:ln>
        </p:spPr>
      </p:sp>
      <p:sp>
        <p:nvSpPr>
          <p:cNvPr id="27" name="!!stPt"/>
          <p:cNvSpPr/>
          <p:nvPr/>
        </p:nvSpPr>
        <p:spPr>
          <a:xfrm>
            <a:off x="4937760" y="2623962"/>
            <a:ext cx="182880" cy="182880"/>
          </a:xfrm>
          <a:prstGeom prst="ellipse">
            <a:avLst/>
          </a:prstGeom>
          <a:solidFill>
            <a:srgbClr val="D64545"/>
          </a:solidFill>
          <a:ln w="19050">
            <a:solidFill>
              <a:srgbClr val="FFFFFF"/>
            </a:solidFill>
            <a:prstDash val="solid"/>
          </a:ln>
        </p:spPr>
      </p:sp>
      <p:sp>
        <p:nvSpPr>
          <p:cNvPr id="28" name="!!stPtL"/>
          <p:cNvSpPr txBox="1"/>
          <p:nvPr/>
        </p:nvSpPr>
        <p:spPr>
          <a:xfrm>
            <a:off x="3657600" y="2349642"/>
            <a:ext cx="1280160" cy="237744"/>
          </a:xfrm>
          <a:prstGeom prst="rect">
            <a:avLst/>
          </a:prstGeom>
          <a:noFill/>
          <a:ln/>
        </p:spPr>
        <p:txBody>
          <a:bodyPr wrap="square" lIns="0" tIns="0" rIns="0" bIns="0" rtlCol="0" anchor="t"/>
          <a:lstStyle/>
          <a:p>
            <a:pPr algn="r" indent="0" marL="0">
              <a:buNone/>
            </a:pPr>
            <a:r>
              <a:rPr lang="en-US" sz="1200" dirty="0">
                <a:solidFill>
                  <a:srgbClr val="D64545"/>
                </a:solidFill>
                <a:latin typeface="Segoe UI Semibold" pitchFamily="34" charset="0"/>
                <a:ea typeface="Segoe UI Semibold" pitchFamily="34" charset="-122"/>
                <a:cs typeface="Segoe UI Semibold" pitchFamily="34" charset="-120"/>
              </a:rPr>
              <a:t>79.4 mV/dec</a:t>
            </a:r>
            <a:endParaRPr lang="en-US" sz="1200" dirty="0"/>
          </a:p>
        </p:txBody>
      </p:sp>
      <p:sp>
        <p:nvSpPr>
          <p:cNvPr id="29" name="!!stEq"/>
          <p:cNvSpPr txBox="1"/>
          <p:nvPr/>
        </p:nvSpPr>
        <p:spPr>
          <a:xfrm>
            <a:off x="6949440" y="1600200"/>
            <a:ext cx="4663440" cy="274320"/>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SS</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min</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(kT/q)·ln10 = 0.1984 mV/dec per kelvin</a:t>
            </a:r>
            <a:endParaRPr lang="en-US" sz="1400" dirty="0"/>
          </a:p>
        </p:txBody>
      </p:sp>
      <p:sp>
        <p:nvSpPr>
          <p:cNvPr id="30" name="!!chip0"/>
          <p:cNvSpPr/>
          <p:nvPr/>
        </p:nvSpPr>
        <p:spPr>
          <a:xfrm>
            <a:off x="6949440" y="2103120"/>
            <a:ext cx="1463040" cy="731520"/>
          </a:xfrm>
          <a:prstGeom prst="roundRect">
            <a:avLst>
              <a:gd name="adj" fmla="val 7500"/>
            </a:avLst>
          </a:prstGeom>
          <a:solidFill>
            <a:srgbClr val="F4F5F7"/>
          </a:solidFill>
          <a:ln/>
        </p:spPr>
      </p:sp>
      <p:sp>
        <p:nvSpPr>
          <p:cNvPr id="31" name="!!chipk0"/>
          <p:cNvSpPr txBox="1"/>
          <p:nvPr/>
        </p:nvSpPr>
        <p:spPr>
          <a:xfrm>
            <a:off x="7059168" y="2176272"/>
            <a:ext cx="124358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temperature T</a:t>
            </a:r>
            <a:endParaRPr lang="en-US" sz="1000" dirty="0"/>
          </a:p>
        </p:txBody>
      </p:sp>
      <p:sp>
        <p:nvSpPr>
          <p:cNvPr id="32" name="!!chipv0"/>
          <p:cNvSpPr txBox="1"/>
          <p:nvPr/>
        </p:nvSpPr>
        <p:spPr>
          <a:xfrm>
            <a:off x="7059168" y="2414016"/>
            <a:ext cx="128016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400.0 K</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33" name="!!chip1"/>
          <p:cNvSpPr/>
          <p:nvPr/>
        </p:nvSpPr>
        <p:spPr>
          <a:xfrm>
            <a:off x="8522208" y="2103120"/>
            <a:ext cx="1463040" cy="731520"/>
          </a:xfrm>
          <a:prstGeom prst="roundRect">
            <a:avLst>
              <a:gd name="adj" fmla="val 7500"/>
            </a:avLst>
          </a:prstGeom>
          <a:solidFill>
            <a:srgbClr val="F4F5F7"/>
          </a:solidFill>
          <a:ln/>
        </p:spPr>
      </p:sp>
      <p:sp>
        <p:nvSpPr>
          <p:cNvPr id="34" name="!!chipk1"/>
          <p:cNvSpPr txBox="1"/>
          <p:nvPr/>
        </p:nvSpPr>
        <p:spPr>
          <a:xfrm>
            <a:off x="8631936" y="2176272"/>
            <a:ext cx="124358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SS limit</a:t>
            </a:r>
            <a:endParaRPr lang="en-US" sz="1000" dirty="0"/>
          </a:p>
        </p:txBody>
      </p:sp>
      <p:sp>
        <p:nvSpPr>
          <p:cNvPr id="35" name="!!chipv1"/>
          <p:cNvSpPr txBox="1"/>
          <p:nvPr/>
        </p:nvSpPr>
        <p:spPr>
          <a:xfrm>
            <a:off x="8631936" y="2414016"/>
            <a:ext cx="128016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79.4</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36" name="!!chip2"/>
          <p:cNvSpPr/>
          <p:nvPr/>
        </p:nvSpPr>
        <p:spPr>
          <a:xfrm>
            <a:off x="10094976" y="2103120"/>
            <a:ext cx="1463040" cy="731520"/>
          </a:xfrm>
          <a:prstGeom prst="roundRect">
            <a:avLst>
              <a:gd name="adj" fmla="val 7500"/>
            </a:avLst>
          </a:prstGeom>
          <a:solidFill>
            <a:srgbClr val="F4F5F7"/>
          </a:solidFill>
          <a:ln/>
        </p:spPr>
      </p:sp>
      <p:sp>
        <p:nvSpPr>
          <p:cNvPr id="37" name="!!chipk2"/>
          <p:cNvSpPr txBox="1"/>
          <p:nvPr/>
        </p:nvSpPr>
        <p:spPr>
          <a:xfrm>
            <a:off x="10204704" y="2176272"/>
            <a:ext cx="124358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leakage I</a:t>
            </a:r>
            <a:pPr algn="l" indent="0" marL="0">
              <a:buNone/>
            </a:pPr>
            <a:r>
              <a:rPr lang="en-US" sz="1000" baseline="-40000" dirty="0">
                <a:solidFill>
                  <a:srgbClr val="5C5E62"/>
                </a:solidFill>
                <a:latin typeface="Segoe UI" pitchFamily="34" charset="0"/>
                <a:ea typeface="Segoe UI" pitchFamily="34" charset="-122"/>
                <a:cs typeface="Segoe UI" pitchFamily="34" charset="-120"/>
              </a:rPr>
              <a:t>off</a:t>
            </a:r>
            <a:endParaRPr lang="en-US" sz="1000" dirty="0"/>
          </a:p>
        </p:txBody>
      </p:sp>
      <p:sp>
        <p:nvSpPr>
          <p:cNvPr id="38" name="!!chipv2"/>
          <p:cNvSpPr txBox="1"/>
          <p:nvPr/>
        </p:nvSpPr>
        <p:spPr>
          <a:xfrm>
            <a:off x="10204704" y="2414016"/>
            <a:ext cx="128016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highest</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39" name="!!stTxt"/>
          <p:cNvSpPr txBox="1"/>
          <p:nvPr/>
        </p:nvSpPr>
        <p:spPr>
          <a:xfrm>
            <a:off x="6949440" y="3108960"/>
            <a:ext cx="4663440" cy="731520"/>
          </a:xfrm>
          <a:prstGeom prst="rect">
            <a:avLst/>
          </a:prstGeom>
          <a:noFill/>
          <a:ln/>
        </p:spPr>
        <p:txBody>
          <a:bodyPr wrap="square" lIns="0" tIns="0" rIns="0" bIns="0" rtlCol="0" anchor="t"/>
          <a:lstStyle/>
          <a:p>
            <a:pPr algn="l" indent="0" marL="0">
              <a:buNone/>
            </a:pPr>
            <a:r>
              <a:rPr lang="en-US" sz="1400" dirty="0">
                <a:solidFill>
                  <a:srgbClr val="5C5E62"/>
                </a:solidFill>
                <a:latin typeface="Segoe UI" pitchFamily="34" charset="0"/>
                <a:ea typeface="Segoe UI" pitchFamily="34" charset="-122"/>
                <a:cs typeface="Segoe UI" pitchFamily="34" charset="-120"/>
              </a:rPr>
              <a:t>At 400 K the limit is 79.4 mV/dec: a hot channel switches much more softly.</a:t>
            </a:r>
            <a:endParaRPr lang="en-US" sz="1400" dirty="0"/>
          </a:p>
        </p:txBody>
      </p:sp>
      <p:sp>
        <p:nvSpPr>
          <p:cNvPr id="40" name="!!knobLbl"/>
          <p:cNvSpPr txBox="1"/>
          <p:nvPr/>
        </p:nvSpPr>
        <p:spPr>
          <a:xfrm>
            <a:off x="7114032" y="4434840"/>
            <a:ext cx="438912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channel temperature T   </a:t>
            </a:r>
            <a:pPr algn="l" indent="0" marL="0">
              <a:buNone/>
            </a:pPr>
            <a:r>
              <a:rPr lang="en-US" sz="1200" dirty="0">
                <a:solidFill>
                  <a:srgbClr val="E07B00"/>
                </a:solidFill>
                <a:latin typeface="Segoe UI Semibold" pitchFamily="34" charset="0"/>
                <a:ea typeface="Segoe UI Semibold" pitchFamily="34" charset="-122"/>
                <a:cs typeface="Segoe UI Semibold" pitchFamily="34" charset="-120"/>
              </a:rPr>
              <a:t>400 K</a:t>
            </a:r>
            <a:endParaRPr lang="en-US" sz="1200" dirty="0"/>
          </a:p>
        </p:txBody>
      </p:sp>
      <p:sp>
        <p:nvSpPr>
          <p:cNvPr id="41" name="!!knobTrack"/>
          <p:cNvSpPr/>
          <p:nvPr/>
        </p:nvSpPr>
        <p:spPr>
          <a:xfrm>
            <a:off x="7132320" y="4818888"/>
            <a:ext cx="4297680" cy="54864"/>
          </a:xfrm>
          <a:prstGeom prst="roundRect">
            <a:avLst>
              <a:gd name="adj" fmla="val 50000"/>
            </a:avLst>
          </a:prstGeom>
          <a:solidFill>
            <a:srgbClr val="E2E3E3"/>
          </a:solidFill>
          <a:ln/>
        </p:spPr>
      </p:sp>
      <p:sp>
        <p:nvSpPr>
          <p:cNvPr id="42" name="!!knobFill"/>
          <p:cNvSpPr/>
          <p:nvPr/>
        </p:nvSpPr>
        <p:spPr>
          <a:xfrm>
            <a:off x="7132320" y="4818888"/>
            <a:ext cx="3683726" cy="54864"/>
          </a:xfrm>
          <a:prstGeom prst="roundRect">
            <a:avLst>
              <a:gd name="adj" fmla="val 50000"/>
            </a:avLst>
          </a:prstGeom>
          <a:solidFill>
            <a:srgbClr val="E07B00"/>
          </a:solidFill>
          <a:ln/>
        </p:spPr>
      </p:sp>
      <p:sp>
        <p:nvSpPr>
          <p:cNvPr id="43" name="!!knobT0"/>
          <p:cNvSpPr txBox="1"/>
          <p:nvPr/>
        </p:nvSpPr>
        <p:spPr>
          <a:xfrm>
            <a:off x="7380514" y="49560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300</a:t>
            </a:r>
            <a:endParaRPr lang="en-US" sz="900" dirty="0"/>
          </a:p>
        </p:txBody>
      </p:sp>
      <p:sp>
        <p:nvSpPr>
          <p:cNvPr id="44" name="!!knobT1"/>
          <p:cNvSpPr txBox="1"/>
          <p:nvPr/>
        </p:nvSpPr>
        <p:spPr>
          <a:xfrm>
            <a:off x="8915400" y="49560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350</a:t>
            </a:r>
            <a:endParaRPr lang="en-US" sz="900" dirty="0"/>
          </a:p>
        </p:txBody>
      </p:sp>
      <p:sp>
        <p:nvSpPr>
          <p:cNvPr id="45" name="!!knobT2"/>
          <p:cNvSpPr txBox="1"/>
          <p:nvPr/>
        </p:nvSpPr>
        <p:spPr>
          <a:xfrm>
            <a:off x="10450286" y="49560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400</a:t>
            </a:r>
            <a:endParaRPr lang="en-US" sz="900" dirty="0"/>
          </a:p>
        </p:txBody>
      </p:sp>
      <p:sp>
        <p:nvSpPr>
          <p:cNvPr id="46" name="!!knobThumb"/>
          <p:cNvSpPr/>
          <p:nvPr/>
        </p:nvSpPr>
        <p:spPr>
          <a:xfrm>
            <a:off x="10715462" y="4745736"/>
            <a:ext cx="201168" cy="201168"/>
          </a:xfrm>
          <a:prstGeom prst="ellipse">
            <a:avLst/>
          </a:prstGeom>
          <a:solidFill>
            <a:srgbClr val="FFFFFF"/>
          </a:solidFill>
          <a:ln w="28575">
            <a:solidFill>
              <a:srgbClr val="E07B00"/>
            </a:solidFill>
            <a:prstDash val="solid"/>
          </a:ln>
        </p:spPr>
      </p:sp>
      <p:sp>
        <p:nvSpPr>
          <p:cNvPr id="4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A self-heated channel switches more softly: heat raises SS and leakage.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Turning the drain</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Gate fixed at 0.7 V; now the second knob,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goes up step by step</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E2E3E3"/>
          </a:solidFill>
          <a:ln/>
        </p:spPr>
      </p:sp>
      <p:sp>
        <p:nvSpPr>
          <p:cNvPr id="6" name="!!sdot2"/>
          <p:cNvSpPr/>
          <p:nvPr/>
        </p:nvSpPr>
        <p:spPr>
          <a:xfrm>
            <a:off x="11288268" y="525780"/>
            <a:ext cx="82296" cy="82296"/>
          </a:xfrm>
          <a:prstGeom prst="ellipse">
            <a:avLst/>
          </a:prstGeom>
          <a:solidFill>
            <a:srgbClr val="E2E3E3"/>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mBody"/>
          <p:cNvSpPr/>
          <p:nvPr/>
        </p:nvSpPr>
        <p:spPr>
          <a:xfrm>
            <a:off x="640080" y="2240280"/>
            <a:ext cx="5120640" cy="1417320"/>
          </a:xfrm>
          <a:prstGeom prst="rect">
            <a:avLst/>
          </a:prstGeom>
          <a:solidFill>
            <a:srgbClr val="F6E7B8"/>
          </a:solidFill>
          <a:ln/>
        </p:spPr>
      </p:sp>
      <p:sp>
        <p:nvSpPr>
          <p:cNvPr id="10"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1" name="!!mDepl"/>
          <p:cNvSpPr/>
          <p:nvPr/>
        </p:nvSpPr>
        <p:spPr>
          <a:xfrm>
            <a:off x="1920240" y="2240280"/>
            <a:ext cx="2560320" cy="493776"/>
          </a:xfrm>
          <a:prstGeom prst="rect">
            <a:avLst/>
          </a:prstGeom>
          <a:solidFill>
            <a:srgbClr val="F7D4D9"/>
          </a:solidFill>
          <a:ln/>
        </p:spPr>
      </p:sp>
      <p:sp>
        <p:nvSpPr>
          <p:cNvPr id="12" name="!!mSrc"/>
          <p:cNvSpPr/>
          <p:nvPr/>
        </p:nvSpPr>
        <p:spPr>
          <a:xfrm>
            <a:off x="640080" y="2240280"/>
            <a:ext cx="1325880" cy="548640"/>
          </a:xfrm>
          <a:prstGeom prst="roundRect">
            <a:avLst>
              <a:gd name="adj" fmla="val 8333"/>
            </a:avLst>
          </a:prstGeom>
          <a:solidFill>
            <a:srgbClr val="7D9BE6"/>
          </a:solidFill>
          <a:ln/>
        </p:spPr>
      </p:sp>
      <p:sp>
        <p:nvSpPr>
          <p:cNvPr id="13" name="!!mDrn"/>
          <p:cNvSpPr/>
          <p:nvPr/>
        </p:nvSpPr>
        <p:spPr>
          <a:xfrm>
            <a:off x="4434840" y="2240280"/>
            <a:ext cx="1325880" cy="548640"/>
          </a:xfrm>
          <a:prstGeom prst="roundRect">
            <a:avLst>
              <a:gd name="adj" fmla="val 8333"/>
            </a:avLst>
          </a:prstGeom>
          <a:solidFill>
            <a:srgbClr val="7D9BE6"/>
          </a:solidFill>
          <a:ln/>
        </p:spPr>
      </p:sp>
      <p:sp>
        <p:nvSpPr>
          <p:cNvPr id="14" name="!!mSrcL"/>
          <p:cNvSpPr txBox="1"/>
          <p:nvPr/>
        </p:nvSpPr>
        <p:spPr>
          <a:xfrm>
            <a:off x="64008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5" name="!!mDrnL"/>
          <p:cNvSpPr txBox="1"/>
          <p:nvPr/>
        </p:nvSpPr>
        <p:spPr>
          <a:xfrm>
            <a:off x="448056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6" name="!!mChan"/>
          <p:cNvSpPr/>
          <p:nvPr/>
        </p:nvSpPr>
        <p:spPr>
          <a:xfrm>
            <a:off x="1920240" y="2240280"/>
            <a:ext cx="2560320" cy="182880"/>
          </a:xfrm>
          <a:custGeom>
            <a:avLst/>
            <a:gdLst/>
            <a:ahLst/>
            <a:cxnLst/>
            <a:rect l="l" t="t" r="r" b="b"/>
            <a:pathLst>
              <a:path w="2560320" h="182880">
                <a:moveTo>
                  <a:pt x="0" y="0"/>
                </a:moveTo>
                <a:lnTo>
                  <a:pt x="2560320" y="0"/>
                </a:lnTo>
                <a:lnTo>
                  <a:pt x="2560320" y="172421"/>
                </a:lnTo>
                <a:lnTo>
                  <a:pt x="0" y="182880"/>
                </a:lnTo>
                <a:close/>
              </a:path>
            </a:pathLst>
          </a:custGeom>
          <a:solidFill>
            <a:srgbClr val="1F2F6B"/>
          </a:solidFill>
          <a:ln/>
        </p:spPr>
      </p:sp>
      <p:sp>
        <p:nvSpPr>
          <p:cNvPr id="17" name="!!mOx"/>
          <p:cNvSpPr/>
          <p:nvPr/>
        </p:nvSpPr>
        <p:spPr>
          <a:xfrm>
            <a:off x="1920240" y="2167128"/>
            <a:ext cx="2560320" cy="73152"/>
          </a:xfrm>
          <a:prstGeom prst="rect">
            <a:avLst/>
          </a:prstGeom>
          <a:solidFill>
            <a:srgbClr val="CDEBF5"/>
          </a:solidFill>
          <a:ln/>
        </p:spPr>
      </p:sp>
      <p:sp>
        <p:nvSpPr>
          <p:cNvPr id="18" name="!!mGate"/>
          <p:cNvSpPr/>
          <p:nvPr/>
        </p:nvSpPr>
        <p:spPr>
          <a:xfrm>
            <a:off x="1920240" y="1783080"/>
            <a:ext cx="2560320" cy="384048"/>
          </a:xfrm>
          <a:prstGeom prst="roundRect">
            <a:avLst>
              <a:gd name="adj" fmla="val 9524"/>
            </a:avLst>
          </a:prstGeom>
          <a:solidFill>
            <a:srgbClr val="B3A6E6"/>
          </a:solidFill>
          <a:ln/>
        </p:spPr>
      </p:sp>
      <p:sp>
        <p:nvSpPr>
          <p:cNvPr id="19" name="!!mGateL"/>
          <p:cNvSpPr txBox="1"/>
          <p:nvPr/>
        </p:nvSpPr>
        <p:spPr>
          <a:xfrm>
            <a:off x="1920240" y="1837944"/>
            <a:ext cx="2560320"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20" name="!!mVS"/>
          <p:cNvSpPr txBox="1"/>
          <p:nvPr/>
        </p:nvSpPr>
        <p:spPr>
          <a:xfrm>
            <a:off x="640080" y="1856232"/>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S</a:t>
            </a:r>
            <a:pPr algn="l" indent="0" marL="0">
              <a:buNone/>
            </a:pPr>
            <a:r>
              <a:rPr lang="en-US" sz="1100" dirty="0">
                <a:solidFill>
                  <a:srgbClr val="5C5E62"/>
                </a:solidFill>
                <a:latin typeface="Segoe UI" pitchFamily="34" charset="0"/>
                <a:ea typeface="Segoe UI" pitchFamily="34" charset="-122"/>
                <a:cs typeface="Segoe UI" pitchFamily="34" charset="-120"/>
              </a:rPr>
              <a:t> = 0</a:t>
            </a:r>
            <a:endParaRPr lang="en-US" sz="1100" dirty="0"/>
          </a:p>
        </p:txBody>
      </p:sp>
      <p:sp>
        <p:nvSpPr>
          <p:cNvPr id="21" name="!!mVG"/>
          <p:cNvSpPr txBox="1"/>
          <p:nvPr/>
        </p:nvSpPr>
        <p:spPr>
          <a:xfrm>
            <a:off x="2286000" y="1490472"/>
            <a:ext cx="1828800" cy="237744"/>
          </a:xfrm>
          <a:prstGeom prst="rect">
            <a:avLst/>
          </a:prstGeom>
          <a:noFill/>
          <a:ln/>
        </p:spPr>
        <p:txBody>
          <a:bodyPr wrap="square" lIns="0" tIns="0" rIns="0" bIns="0" rtlCol="0" anchor="t"/>
          <a:lstStyle/>
          <a:p>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ctr"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 = 0.70 V</a:t>
            </a:r>
            <a:endParaRPr lang="en-US" sz="1200" dirty="0"/>
          </a:p>
        </p:txBody>
      </p:sp>
      <p:sp>
        <p:nvSpPr>
          <p:cNvPr id="22" name="!!mVD"/>
          <p:cNvSpPr txBox="1"/>
          <p:nvPr/>
        </p:nvSpPr>
        <p:spPr>
          <a:xfrm>
            <a:off x="4480560" y="1856232"/>
            <a:ext cx="1280160" cy="228600"/>
          </a:xfrm>
          <a:prstGeom prst="rect">
            <a:avLst/>
          </a:prstGeom>
          <a:noFill/>
          <a:ln/>
        </p:spPr>
        <p:txBody>
          <a:bodyPr wrap="square" lIns="0" tIns="0" rIns="0" bIns="0" rtlCol="0" anchor="t"/>
          <a:lstStyle/>
          <a:p>
            <a:pPr algn="r" indent="0" marL="0">
              <a:buNone/>
            </a:pPr>
            <a:r>
              <a:rPr lang="en-US" sz="1100" dirty="0">
                <a:solidFill>
                  <a:srgbClr val="5C5E62"/>
                </a:solidFill>
                <a:latin typeface="Segoe UI" pitchFamily="34" charset="0"/>
                <a:ea typeface="Segoe UI" pitchFamily="34" charset="-122"/>
                <a:cs typeface="Segoe UI" pitchFamily="34" charset="-120"/>
              </a:rPr>
              <a:t>V</a:t>
            </a:r>
            <a:pPr algn="r" indent="0" marL="0">
              <a:buNone/>
            </a:pPr>
            <a:r>
              <a:rPr lang="en-US" sz="1100" baseline="-40000" dirty="0">
                <a:solidFill>
                  <a:srgbClr val="5C5E62"/>
                </a:solidFill>
                <a:latin typeface="Segoe UI" pitchFamily="34" charset="0"/>
                <a:ea typeface="Segoe UI" pitchFamily="34" charset="-122"/>
                <a:cs typeface="Segoe UI" pitchFamily="34" charset="-120"/>
              </a:rPr>
              <a:t>D</a:t>
            </a:r>
            <a:pPr algn="r" indent="0" marL="0">
              <a:buNone/>
            </a:pPr>
            <a:r>
              <a:rPr lang="en-US" sz="1100" dirty="0">
                <a:solidFill>
                  <a:srgbClr val="5C5E62"/>
                </a:solidFill>
                <a:latin typeface="Segoe UI" pitchFamily="34" charset="0"/>
                <a:ea typeface="Segoe UI" pitchFamily="34" charset="-122"/>
                <a:cs typeface="Segoe UI" pitchFamily="34" charset="-120"/>
              </a:rPr>
              <a:t> = 0.05 V</a:t>
            </a:r>
            <a:endParaRPr lang="en-US" sz="1100" dirty="0"/>
          </a:p>
        </p:txBody>
      </p:sp>
      <p:sp>
        <p:nvSpPr>
          <p:cNvPr id="23" name="!!lg1"/>
          <p:cNvSpPr/>
          <p:nvPr/>
        </p:nvSpPr>
        <p:spPr>
          <a:xfrm>
            <a:off x="658368" y="3767328"/>
            <a:ext cx="164592" cy="109728"/>
          </a:xfrm>
          <a:prstGeom prst="rect">
            <a:avLst/>
          </a:prstGeom>
          <a:solidFill>
            <a:srgbClr val="1F2F6B"/>
          </a:solidFill>
          <a:ln/>
        </p:spPr>
      </p:sp>
      <p:sp>
        <p:nvSpPr>
          <p:cNvPr id="24" name="!!lg1t"/>
          <p:cNvSpPr txBox="1"/>
          <p:nvPr/>
        </p:nvSpPr>
        <p:spPr>
          <a:xfrm>
            <a:off x="868680" y="3721608"/>
            <a:ext cx="146304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electron channel</a:t>
            </a:r>
            <a:endParaRPr lang="en-US" sz="900" dirty="0"/>
          </a:p>
        </p:txBody>
      </p:sp>
      <p:sp>
        <p:nvSpPr>
          <p:cNvPr id="25" name="!!lg2"/>
          <p:cNvSpPr/>
          <p:nvPr/>
        </p:nvSpPr>
        <p:spPr>
          <a:xfrm>
            <a:off x="2240280" y="3767328"/>
            <a:ext cx="164592" cy="109728"/>
          </a:xfrm>
          <a:prstGeom prst="rect">
            <a:avLst/>
          </a:prstGeom>
          <a:solidFill>
            <a:srgbClr val="F7D4D9"/>
          </a:solidFill>
          <a:ln/>
        </p:spPr>
      </p:sp>
      <p:sp>
        <p:nvSpPr>
          <p:cNvPr id="26" name="!!lg2t"/>
          <p:cNvSpPr txBox="1"/>
          <p:nvPr/>
        </p:nvSpPr>
        <p:spPr>
          <a:xfrm>
            <a:off x="2450592" y="3721608"/>
            <a:ext cx="201168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depletion (no free carriers)</a:t>
            </a:r>
            <a:endParaRPr lang="en-US" sz="900" dirty="0"/>
          </a:p>
        </p:txBody>
      </p:sp>
      <p:sp>
        <p:nvSpPr>
          <p:cNvPr id="27" name="!!bCurve"/>
          <p:cNvSpPr/>
          <p:nvPr/>
        </p:nvSpPr>
        <p:spPr>
          <a:xfrm>
            <a:off x="640080" y="4708351"/>
            <a:ext cx="5120640" cy="85389"/>
          </a:xfrm>
          <a:custGeom>
            <a:avLst/>
            <a:gdLst/>
            <a:ahLst/>
            <a:cxnLst/>
            <a:rect l="l" t="t" r="r" b="b"/>
            <a:pathLst>
              <a:path w="5120640" h="85389">
                <a:moveTo>
                  <a:pt x="0" y="46527"/>
                </a:moveTo>
                <a:lnTo>
                  <a:pt x="113792" y="46526"/>
                </a:lnTo>
                <a:lnTo>
                  <a:pt x="227584" y="46521"/>
                </a:lnTo>
                <a:lnTo>
                  <a:pt x="341376" y="46508"/>
                </a:lnTo>
                <a:lnTo>
                  <a:pt x="455168" y="46476"/>
                </a:lnTo>
                <a:lnTo>
                  <a:pt x="568960" y="46392"/>
                </a:lnTo>
                <a:lnTo>
                  <a:pt x="682752" y="46174"/>
                </a:lnTo>
                <a:lnTo>
                  <a:pt x="796544" y="45614"/>
                </a:lnTo>
                <a:lnTo>
                  <a:pt x="910336" y="44208"/>
                </a:lnTo>
                <a:lnTo>
                  <a:pt x="1024128" y="40872"/>
                </a:lnTo>
                <a:lnTo>
                  <a:pt x="1137920" y="33902"/>
                </a:lnTo>
                <a:lnTo>
                  <a:pt x="1251712" y="22565"/>
                </a:lnTo>
                <a:lnTo>
                  <a:pt x="1365504" y="10889"/>
                </a:lnTo>
                <a:lnTo>
                  <a:pt x="1479296" y="3418"/>
                </a:lnTo>
                <a:lnTo>
                  <a:pt x="1593088" y="371"/>
                </a:lnTo>
                <a:lnTo>
                  <a:pt x="1706880" y="0"/>
                </a:lnTo>
                <a:lnTo>
                  <a:pt x="1820672" y="874"/>
                </a:lnTo>
                <a:lnTo>
                  <a:pt x="1934464" y="2266"/>
                </a:lnTo>
                <a:lnTo>
                  <a:pt x="2048256" y="3863"/>
                </a:lnTo>
                <a:lnTo>
                  <a:pt x="2162048" y="5539"/>
                </a:lnTo>
                <a:lnTo>
                  <a:pt x="2275840" y="7247"/>
                </a:lnTo>
                <a:lnTo>
                  <a:pt x="2389632" y="8967"/>
                </a:lnTo>
                <a:lnTo>
                  <a:pt x="2503424" y="10692"/>
                </a:lnTo>
                <a:lnTo>
                  <a:pt x="2617216" y="12419"/>
                </a:lnTo>
                <a:lnTo>
                  <a:pt x="2731008" y="14149"/>
                </a:lnTo>
                <a:lnTo>
                  <a:pt x="2844800" y="15883"/>
                </a:lnTo>
                <a:lnTo>
                  <a:pt x="2958592" y="17631"/>
                </a:lnTo>
                <a:lnTo>
                  <a:pt x="3072384" y="19410"/>
                </a:lnTo>
                <a:lnTo>
                  <a:pt x="3186176" y="21273"/>
                </a:lnTo>
                <a:lnTo>
                  <a:pt x="3299968" y="23350"/>
                </a:lnTo>
                <a:lnTo>
                  <a:pt x="3413760" y="25968"/>
                </a:lnTo>
                <a:lnTo>
                  <a:pt x="3527552" y="29883"/>
                </a:lnTo>
                <a:lnTo>
                  <a:pt x="3641344" y="36543"/>
                </a:lnTo>
                <a:lnTo>
                  <a:pt x="3755136" y="47525"/>
                </a:lnTo>
                <a:lnTo>
                  <a:pt x="3868928" y="61427"/>
                </a:lnTo>
                <a:lnTo>
                  <a:pt x="3982720" y="72764"/>
                </a:lnTo>
                <a:lnTo>
                  <a:pt x="4096512" y="79734"/>
                </a:lnTo>
                <a:lnTo>
                  <a:pt x="4210304" y="83070"/>
                </a:lnTo>
                <a:lnTo>
                  <a:pt x="4324096" y="84476"/>
                </a:lnTo>
                <a:lnTo>
                  <a:pt x="4437888" y="85036"/>
                </a:lnTo>
                <a:lnTo>
                  <a:pt x="4551680" y="85254"/>
                </a:lnTo>
                <a:lnTo>
                  <a:pt x="4665472" y="85338"/>
                </a:lnTo>
                <a:lnTo>
                  <a:pt x="4779264" y="85370"/>
                </a:lnTo>
                <a:lnTo>
                  <a:pt x="4893056" y="85383"/>
                </a:lnTo>
                <a:lnTo>
                  <a:pt x="5006848" y="85388"/>
                </a:lnTo>
                <a:lnTo>
                  <a:pt x="5120640" y="85389"/>
                </a:lnTo>
              </a:path>
            </a:pathLst>
          </a:custGeom>
          <a:ln w="28575">
            <a:solidFill>
              <a:srgbClr val="171A20"/>
            </a:solidFill>
            <a:prstDash val="solid"/>
          </a:ln>
        </p:spPr>
      </p:sp>
      <p:sp>
        <p:nvSpPr>
          <p:cNvPr id="28" name="!!bLbl"/>
          <p:cNvSpPr txBox="1"/>
          <p:nvPr/>
        </p:nvSpPr>
        <p:spPr>
          <a:xfrm>
            <a:off x="640080" y="3977640"/>
            <a:ext cx="182880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electron energy ↑</a:t>
            </a:r>
            <a:endParaRPr lang="en-US" sz="1000" dirty="0"/>
          </a:p>
        </p:txBody>
      </p:sp>
      <p:sp>
        <p:nvSpPr>
          <p:cNvPr id="29" name="!!bes0"/>
          <p:cNvSpPr/>
          <p:nvPr/>
        </p:nvSpPr>
        <p:spPr>
          <a:xfrm>
            <a:off x="717804" y="4613148"/>
            <a:ext cx="118872" cy="118872"/>
          </a:xfrm>
          <a:prstGeom prst="ellipse">
            <a:avLst/>
          </a:prstGeom>
          <a:solidFill>
            <a:srgbClr val="1F2F6B"/>
          </a:solidFill>
          <a:ln/>
        </p:spPr>
      </p:sp>
      <p:sp>
        <p:nvSpPr>
          <p:cNvPr id="30" name="!!bes1"/>
          <p:cNvSpPr/>
          <p:nvPr/>
        </p:nvSpPr>
        <p:spPr>
          <a:xfrm>
            <a:off x="918972" y="4613148"/>
            <a:ext cx="118872" cy="118872"/>
          </a:xfrm>
          <a:prstGeom prst="ellipse">
            <a:avLst/>
          </a:prstGeom>
          <a:solidFill>
            <a:srgbClr val="1F2F6B"/>
          </a:solidFill>
          <a:ln/>
        </p:spPr>
      </p:sp>
      <p:sp>
        <p:nvSpPr>
          <p:cNvPr id="31" name="!!bes2"/>
          <p:cNvSpPr/>
          <p:nvPr/>
        </p:nvSpPr>
        <p:spPr>
          <a:xfrm>
            <a:off x="1120140" y="4613148"/>
            <a:ext cx="118872" cy="118872"/>
          </a:xfrm>
          <a:prstGeom prst="ellipse">
            <a:avLst/>
          </a:prstGeom>
          <a:solidFill>
            <a:srgbClr val="1F2F6B"/>
          </a:solidFill>
          <a:ln/>
        </p:spPr>
      </p:sp>
      <p:sp>
        <p:nvSpPr>
          <p:cNvPr id="32" name="!!bes3"/>
          <p:cNvSpPr/>
          <p:nvPr/>
        </p:nvSpPr>
        <p:spPr>
          <a:xfrm>
            <a:off x="1321308" y="4613148"/>
            <a:ext cx="118872" cy="118872"/>
          </a:xfrm>
          <a:prstGeom prst="ellipse">
            <a:avLst/>
          </a:prstGeom>
          <a:solidFill>
            <a:srgbClr val="1F2F6B"/>
          </a:solidFill>
          <a:ln/>
        </p:spPr>
      </p:sp>
      <p:sp>
        <p:nvSpPr>
          <p:cNvPr id="33" name="!!bes4"/>
          <p:cNvSpPr/>
          <p:nvPr/>
        </p:nvSpPr>
        <p:spPr>
          <a:xfrm>
            <a:off x="1522476" y="4613148"/>
            <a:ext cx="118872" cy="118872"/>
          </a:xfrm>
          <a:prstGeom prst="ellipse">
            <a:avLst/>
          </a:prstGeom>
          <a:solidFill>
            <a:srgbClr val="1F2F6B"/>
          </a:solidFill>
          <a:ln/>
        </p:spPr>
      </p:sp>
      <p:sp>
        <p:nvSpPr>
          <p:cNvPr id="34" name="!!bec0"/>
          <p:cNvSpPr/>
          <p:nvPr/>
        </p:nvSpPr>
        <p:spPr>
          <a:xfrm>
            <a:off x="2089404" y="4568886"/>
            <a:ext cx="118872" cy="118872"/>
          </a:xfrm>
          <a:prstGeom prst="ellipse">
            <a:avLst/>
          </a:prstGeom>
          <a:solidFill>
            <a:srgbClr val="1F2F6B"/>
          </a:solidFill>
          <a:ln/>
        </p:spPr>
      </p:sp>
      <p:sp>
        <p:nvSpPr>
          <p:cNvPr id="35" name="!!bec1"/>
          <p:cNvSpPr/>
          <p:nvPr/>
        </p:nvSpPr>
        <p:spPr>
          <a:xfrm>
            <a:off x="2528316" y="4569064"/>
            <a:ext cx="118872" cy="118872"/>
          </a:xfrm>
          <a:prstGeom prst="ellipse">
            <a:avLst/>
          </a:prstGeom>
          <a:solidFill>
            <a:srgbClr val="1F2F6B"/>
          </a:solidFill>
          <a:ln/>
        </p:spPr>
      </p:sp>
      <p:sp>
        <p:nvSpPr>
          <p:cNvPr id="36" name="!!bec2"/>
          <p:cNvSpPr/>
          <p:nvPr/>
        </p:nvSpPr>
        <p:spPr>
          <a:xfrm>
            <a:off x="2967228" y="4575540"/>
            <a:ext cx="118872" cy="118872"/>
          </a:xfrm>
          <a:prstGeom prst="ellipse">
            <a:avLst/>
          </a:prstGeom>
          <a:solidFill>
            <a:srgbClr val="1F2F6B"/>
          </a:solidFill>
          <a:ln/>
        </p:spPr>
      </p:sp>
      <p:sp>
        <p:nvSpPr>
          <p:cNvPr id="37" name="!!bec3"/>
          <p:cNvSpPr/>
          <p:nvPr/>
        </p:nvSpPr>
        <p:spPr>
          <a:xfrm>
            <a:off x="3406140" y="4582208"/>
            <a:ext cx="118872" cy="118872"/>
          </a:xfrm>
          <a:prstGeom prst="ellipse">
            <a:avLst/>
          </a:prstGeom>
          <a:solidFill>
            <a:srgbClr val="1F2F6B"/>
          </a:solidFill>
          <a:ln/>
        </p:spPr>
      </p:sp>
      <p:sp>
        <p:nvSpPr>
          <p:cNvPr id="38" name="!!bec4"/>
          <p:cNvSpPr/>
          <p:nvPr/>
        </p:nvSpPr>
        <p:spPr>
          <a:xfrm>
            <a:off x="3845052" y="4589283"/>
            <a:ext cx="118872" cy="118872"/>
          </a:xfrm>
          <a:prstGeom prst="ellipse">
            <a:avLst/>
          </a:prstGeom>
          <a:solidFill>
            <a:srgbClr val="1F2F6B"/>
          </a:solidFill>
          <a:ln/>
        </p:spPr>
      </p:sp>
      <p:sp>
        <p:nvSpPr>
          <p:cNvPr id="39" name="!!bec5"/>
          <p:cNvSpPr/>
          <p:nvPr/>
        </p:nvSpPr>
        <p:spPr>
          <a:xfrm>
            <a:off x="4283964" y="4608567"/>
            <a:ext cx="118872" cy="118872"/>
          </a:xfrm>
          <a:prstGeom prst="ellipse">
            <a:avLst/>
          </a:prstGeom>
          <a:solidFill>
            <a:srgbClr val="1F2F6B"/>
          </a:solidFill>
          <a:ln/>
        </p:spPr>
      </p:sp>
      <p:sp>
        <p:nvSpPr>
          <p:cNvPr id="40" name="!!axg0"/>
          <p:cNvSpPr/>
          <p:nvPr/>
        </p:nvSpPr>
        <p:spPr>
          <a:xfrm>
            <a:off x="7315200" y="3931920"/>
            <a:ext cx="4206240" cy="91"/>
          </a:xfrm>
          <a:prstGeom prst="line">
            <a:avLst/>
          </a:prstGeom>
          <a:noFill/>
          <a:ln w="9525">
            <a:solidFill>
              <a:srgbClr val="EDEEF0"/>
            </a:solidFill>
            <a:prstDash val="solid"/>
          </a:ln>
        </p:spPr>
      </p:sp>
      <p:sp>
        <p:nvSpPr>
          <p:cNvPr id="41" name="!!axg1"/>
          <p:cNvSpPr/>
          <p:nvPr/>
        </p:nvSpPr>
        <p:spPr>
          <a:xfrm>
            <a:off x="7315200" y="3265714"/>
            <a:ext cx="4206240" cy="91"/>
          </a:xfrm>
          <a:prstGeom prst="line">
            <a:avLst/>
          </a:prstGeom>
          <a:noFill/>
          <a:ln w="9525">
            <a:solidFill>
              <a:srgbClr val="EDEEF0"/>
            </a:solidFill>
            <a:prstDash val="solid"/>
          </a:ln>
        </p:spPr>
      </p:sp>
      <p:sp>
        <p:nvSpPr>
          <p:cNvPr id="42" name="!!axg2"/>
          <p:cNvSpPr/>
          <p:nvPr/>
        </p:nvSpPr>
        <p:spPr>
          <a:xfrm>
            <a:off x="7315200" y="2599509"/>
            <a:ext cx="4206240" cy="91"/>
          </a:xfrm>
          <a:prstGeom prst="line">
            <a:avLst/>
          </a:prstGeom>
          <a:noFill/>
          <a:ln w="9525">
            <a:solidFill>
              <a:srgbClr val="EDEEF0"/>
            </a:solidFill>
            <a:prstDash val="solid"/>
          </a:ln>
        </p:spPr>
      </p:sp>
      <p:sp>
        <p:nvSpPr>
          <p:cNvPr id="43" name="!!axg3"/>
          <p:cNvSpPr/>
          <p:nvPr/>
        </p:nvSpPr>
        <p:spPr>
          <a:xfrm>
            <a:off x="7315200" y="1933303"/>
            <a:ext cx="4206240" cy="91"/>
          </a:xfrm>
          <a:prstGeom prst="line">
            <a:avLst/>
          </a:prstGeom>
          <a:noFill/>
          <a:ln w="9525">
            <a:solidFill>
              <a:srgbClr val="EDEEF0"/>
            </a:solidFill>
            <a:prstDash val="solid"/>
          </a:ln>
        </p:spPr>
      </p:sp>
      <p:sp>
        <p:nvSpPr>
          <p:cNvPr id="44" name="!!axxa"/>
          <p:cNvSpPr/>
          <p:nvPr/>
        </p:nvSpPr>
        <p:spPr>
          <a:xfrm>
            <a:off x="7315200" y="3931920"/>
            <a:ext cx="4206240" cy="91"/>
          </a:xfrm>
          <a:prstGeom prst="line">
            <a:avLst/>
          </a:prstGeom>
          <a:noFill/>
          <a:ln w="12700">
            <a:solidFill>
              <a:srgbClr val="8A8D93"/>
            </a:solidFill>
            <a:prstDash val="solid"/>
          </a:ln>
        </p:spPr>
      </p:sp>
      <p:sp>
        <p:nvSpPr>
          <p:cNvPr id="45" name="!!axya"/>
          <p:cNvSpPr/>
          <p:nvPr/>
        </p:nvSpPr>
        <p:spPr>
          <a:xfrm>
            <a:off x="7315200" y="1600200"/>
            <a:ext cx="91" cy="2331720"/>
          </a:xfrm>
          <a:prstGeom prst="line">
            <a:avLst/>
          </a:prstGeom>
          <a:noFill/>
          <a:ln w="12700">
            <a:solidFill>
              <a:srgbClr val="8A8D93"/>
            </a:solidFill>
            <a:prstDash val="solid"/>
          </a:ln>
        </p:spPr>
      </p:sp>
      <p:sp>
        <p:nvSpPr>
          <p:cNvPr id="46" name="!!axxt0"/>
          <p:cNvSpPr txBox="1"/>
          <p:nvPr/>
        </p:nvSpPr>
        <p:spPr>
          <a:xfrm>
            <a:off x="699516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7" name="!!axxt1"/>
          <p:cNvSpPr txBox="1"/>
          <p:nvPr/>
        </p:nvSpPr>
        <p:spPr>
          <a:xfrm>
            <a:off x="8196943"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48" name="!!axxt2"/>
          <p:cNvSpPr txBox="1"/>
          <p:nvPr/>
        </p:nvSpPr>
        <p:spPr>
          <a:xfrm>
            <a:off x="9398726"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49" name="!!axxt3"/>
          <p:cNvSpPr txBox="1"/>
          <p:nvPr/>
        </p:nvSpPr>
        <p:spPr>
          <a:xfrm>
            <a:off x="10600509"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50" name="!!axyt0"/>
          <p:cNvSpPr txBox="1"/>
          <p:nvPr/>
        </p:nvSpPr>
        <p:spPr>
          <a:xfrm>
            <a:off x="6629400" y="3831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 µA</a:t>
            </a:r>
            <a:endParaRPr lang="en-US" sz="900" dirty="0"/>
          </a:p>
        </p:txBody>
      </p:sp>
      <p:sp>
        <p:nvSpPr>
          <p:cNvPr id="51" name="!!axyt1"/>
          <p:cNvSpPr txBox="1"/>
          <p:nvPr/>
        </p:nvSpPr>
        <p:spPr>
          <a:xfrm>
            <a:off x="6629400" y="316513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µA</a:t>
            </a:r>
            <a:endParaRPr lang="en-US" sz="900" dirty="0"/>
          </a:p>
        </p:txBody>
      </p:sp>
      <p:sp>
        <p:nvSpPr>
          <p:cNvPr id="52" name="!!axyt2"/>
          <p:cNvSpPr txBox="1"/>
          <p:nvPr/>
        </p:nvSpPr>
        <p:spPr>
          <a:xfrm>
            <a:off x="6629400" y="2498925"/>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20 µA</a:t>
            </a:r>
            <a:endParaRPr lang="en-US" sz="900" dirty="0"/>
          </a:p>
        </p:txBody>
      </p:sp>
      <p:sp>
        <p:nvSpPr>
          <p:cNvPr id="53" name="!!axyt3"/>
          <p:cNvSpPr txBox="1"/>
          <p:nvPr/>
        </p:nvSpPr>
        <p:spPr>
          <a:xfrm>
            <a:off x="6629400" y="1832719"/>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30 µA</a:t>
            </a:r>
            <a:endParaRPr lang="en-US" sz="900" dirty="0"/>
          </a:p>
        </p:txBody>
      </p:sp>
      <p:sp>
        <p:nvSpPr>
          <p:cNvPr id="54" name="!!axxl"/>
          <p:cNvSpPr txBox="1"/>
          <p:nvPr/>
        </p:nvSpPr>
        <p:spPr>
          <a:xfrm>
            <a:off x="7315200" y="420624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drain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55" name="!!axyl"/>
          <p:cNvSpPr txBox="1"/>
          <p:nvPr/>
        </p:nvSpPr>
        <p:spPr>
          <a:xfrm>
            <a:off x="713232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(linear)</a:t>
            </a:r>
            <a:endParaRPr lang="en-US" sz="1100" dirty="0"/>
          </a:p>
        </p:txBody>
      </p:sp>
      <p:sp>
        <p:nvSpPr>
          <p:cNvPr id="56" name="!!ivGhost"/>
          <p:cNvSpPr/>
          <p:nvPr/>
        </p:nvSpPr>
        <p:spPr>
          <a:xfrm>
            <a:off x="7315200" y="1934694"/>
            <a:ext cx="4206240" cy="1997226"/>
          </a:xfrm>
          <a:custGeom>
            <a:avLst/>
            <a:gdLst/>
            <a:ahLst/>
            <a:cxnLst/>
            <a:rect l="l" t="t" r="r" b="b"/>
            <a:pathLst>
              <a:path w="4206240" h="1997226">
                <a:moveTo>
                  <a:pt x="0" y="1997226"/>
                </a:moveTo>
                <a:lnTo>
                  <a:pt x="120178" y="1827108"/>
                </a:lnTo>
                <a:lnTo>
                  <a:pt x="240357" y="1664523"/>
                </a:lnTo>
                <a:lnTo>
                  <a:pt x="360535" y="1509486"/>
                </a:lnTo>
                <a:lnTo>
                  <a:pt x="480713" y="1362010"/>
                </a:lnTo>
                <a:lnTo>
                  <a:pt x="600891" y="1222109"/>
                </a:lnTo>
                <a:lnTo>
                  <a:pt x="721070" y="1089796"/>
                </a:lnTo>
                <a:lnTo>
                  <a:pt x="841248" y="965087"/>
                </a:lnTo>
                <a:lnTo>
                  <a:pt x="961426" y="847994"/>
                </a:lnTo>
                <a:lnTo>
                  <a:pt x="1081605" y="738531"/>
                </a:lnTo>
                <a:lnTo>
                  <a:pt x="1201783" y="636714"/>
                </a:lnTo>
                <a:lnTo>
                  <a:pt x="1321961" y="542554"/>
                </a:lnTo>
                <a:lnTo>
                  <a:pt x="1442139" y="456067"/>
                </a:lnTo>
                <a:lnTo>
                  <a:pt x="1562318" y="377267"/>
                </a:lnTo>
                <a:lnTo>
                  <a:pt x="1682496" y="306166"/>
                </a:lnTo>
                <a:lnTo>
                  <a:pt x="1802674" y="242780"/>
                </a:lnTo>
                <a:lnTo>
                  <a:pt x="1922853" y="187121"/>
                </a:lnTo>
                <a:lnTo>
                  <a:pt x="2043031" y="139204"/>
                </a:lnTo>
                <a:lnTo>
                  <a:pt x="2163209" y="99044"/>
                </a:lnTo>
                <a:lnTo>
                  <a:pt x="2283387" y="66653"/>
                </a:lnTo>
                <a:lnTo>
                  <a:pt x="2403566" y="42045"/>
                </a:lnTo>
                <a:lnTo>
                  <a:pt x="2523744" y="25235"/>
                </a:lnTo>
                <a:lnTo>
                  <a:pt x="2643922" y="16237"/>
                </a:lnTo>
                <a:lnTo>
                  <a:pt x="2764101" y="14084"/>
                </a:lnTo>
                <a:lnTo>
                  <a:pt x="2884279" y="12911"/>
                </a:lnTo>
                <a:lnTo>
                  <a:pt x="3004457" y="11737"/>
                </a:lnTo>
                <a:lnTo>
                  <a:pt x="3124635" y="10563"/>
                </a:lnTo>
                <a:lnTo>
                  <a:pt x="3244814" y="9390"/>
                </a:lnTo>
                <a:lnTo>
                  <a:pt x="3364992" y="8216"/>
                </a:lnTo>
                <a:lnTo>
                  <a:pt x="3485170" y="7042"/>
                </a:lnTo>
                <a:lnTo>
                  <a:pt x="3605349" y="5868"/>
                </a:lnTo>
                <a:lnTo>
                  <a:pt x="3725527" y="4695"/>
                </a:lnTo>
                <a:lnTo>
                  <a:pt x="3845705" y="3521"/>
                </a:lnTo>
                <a:lnTo>
                  <a:pt x="3965883" y="2347"/>
                </a:lnTo>
                <a:lnTo>
                  <a:pt x="4086062" y="1174"/>
                </a:lnTo>
                <a:lnTo>
                  <a:pt x="4206240" y="0"/>
                </a:lnTo>
              </a:path>
            </a:pathLst>
          </a:custGeom>
          <a:ln w="25400">
            <a:solidFill>
              <a:srgbClr val="C9CCD3"/>
            </a:solidFill>
            <a:prstDash val="solid"/>
          </a:ln>
        </p:spPr>
      </p:sp>
      <p:sp>
        <p:nvSpPr>
          <p:cNvPr id="57" name="!!ivTrail"/>
          <p:cNvSpPr/>
          <p:nvPr/>
        </p:nvSpPr>
        <p:spPr>
          <a:xfrm>
            <a:off x="7315200" y="3520755"/>
            <a:ext cx="300446" cy="411165"/>
          </a:xfrm>
          <a:custGeom>
            <a:avLst/>
            <a:gdLst/>
            <a:ahLst/>
            <a:cxnLst/>
            <a:rect l="l" t="t" r="r" b="b"/>
            <a:pathLst>
              <a:path w="300446" h="411165">
                <a:moveTo>
                  <a:pt x="0" y="411165"/>
                </a:moveTo>
                <a:lnTo>
                  <a:pt x="8584" y="398764"/>
                </a:lnTo>
                <a:lnTo>
                  <a:pt x="17168" y="386402"/>
                </a:lnTo>
                <a:lnTo>
                  <a:pt x="25752" y="374078"/>
                </a:lnTo>
                <a:lnTo>
                  <a:pt x="34337" y="361792"/>
                </a:lnTo>
                <a:lnTo>
                  <a:pt x="42921" y="349545"/>
                </a:lnTo>
                <a:lnTo>
                  <a:pt x="51505" y="337336"/>
                </a:lnTo>
                <a:lnTo>
                  <a:pt x="60089" y="325165"/>
                </a:lnTo>
                <a:lnTo>
                  <a:pt x="68673" y="313033"/>
                </a:lnTo>
                <a:lnTo>
                  <a:pt x="77257" y="300940"/>
                </a:lnTo>
                <a:lnTo>
                  <a:pt x="85842" y="288884"/>
                </a:lnTo>
                <a:lnTo>
                  <a:pt x="94426" y="276867"/>
                </a:lnTo>
                <a:lnTo>
                  <a:pt x="103010" y="264889"/>
                </a:lnTo>
                <a:lnTo>
                  <a:pt x="111594" y="252949"/>
                </a:lnTo>
                <a:lnTo>
                  <a:pt x="120178" y="241047"/>
                </a:lnTo>
                <a:lnTo>
                  <a:pt x="128762" y="229184"/>
                </a:lnTo>
                <a:lnTo>
                  <a:pt x="137347" y="217359"/>
                </a:lnTo>
                <a:lnTo>
                  <a:pt x="145931" y="205573"/>
                </a:lnTo>
                <a:lnTo>
                  <a:pt x="154515" y="193825"/>
                </a:lnTo>
                <a:lnTo>
                  <a:pt x="163099" y="182116"/>
                </a:lnTo>
                <a:lnTo>
                  <a:pt x="171683" y="170445"/>
                </a:lnTo>
                <a:lnTo>
                  <a:pt x="180267" y="158813"/>
                </a:lnTo>
                <a:lnTo>
                  <a:pt x="188852" y="147219"/>
                </a:lnTo>
                <a:lnTo>
                  <a:pt x="197436" y="135663"/>
                </a:lnTo>
                <a:lnTo>
                  <a:pt x="206020" y="124146"/>
                </a:lnTo>
                <a:lnTo>
                  <a:pt x="214604" y="112668"/>
                </a:lnTo>
                <a:lnTo>
                  <a:pt x="223188" y="101228"/>
                </a:lnTo>
                <a:lnTo>
                  <a:pt x="231772" y="89826"/>
                </a:lnTo>
                <a:lnTo>
                  <a:pt x="240357" y="78463"/>
                </a:lnTo>
                <a:lnTo>
                  <a:pt x="248941" y="67138"/>
                </a:lnTo>
                <a:lnTo>
                  <a:pt x="257525" y="55852"/>
                </a:lnTo>
                <a:lnTo>
                  <a:pt x="266109" y="44605"/>
                </a:lnTo>
                <a:lnTo>
                  <a:pt x="274693" y="33396"/>
                </a:lnTo>
                <a:lnTo>
                  <a:pt x="283277" y="22225"/>
                </a:lnTo>
                <a:lnTo>
                  <a:pt x="291862" y="11093"/>
                </a:lnTo>
                <a:lnTo>
                  <a:pt x="300446" y="0"/>
                </a:lnTo>
              </a:path>
            </a:pathLst>
          </a:custGeom>
          <a:ln w="38100">
            <a:solidFill>
              <a:srgbClr val="3E6AE1"/>
            </a:solidFill>
            <a:prstDash val="solid"/>
          </a:ln>
        </p:spPr>
      </p:sp>
      <p:sp>
        <p:nvSpPr>
          <p:cNvPr id="58" name="!!ivVT"/>
          <p:cNvSpPr/>
          <p:nvPr/>
        </p:nvSpPr>
        <p:spPr>
          <a:xfrm>
            <a:off x="10019211" y="1600200"/>
            <a:ext cx="91" cy="2331720"/>
          </a:xfrm>
          <a:prstGeom prst="line">
            <a:avLst/>
          </a:prstGeom>
          <a:noFill/>
          <a:ln w="9525">
            <a:solidFill>
              <a:srgbClr val="D64545"/>
            </a:solidFill>
            <a:prstDash val="dash"/>
          </a:ln>
        </p:spPr>
      </p:sp>
      <p:sp>
        <p:nvSpPr>
          <p:cNvPr id="59" name="!!ivVTl"/>
          <p:cNvSpPr txBox="1"/>
          <p:nvPr/>
        </p:nvSpPr>
        <p:spPr>
          <a:xfrm>
            <a:off x="10055787" y="3694176"/>
            <a:ext cx="914400" cy="182880"/>
          </a:xfrm>
          <a:prstGeom prst="rect">
            <a:avLst/>
          </a:prstGeom>
          <a:noFill/>
          <a:ln/>
        </p:spPr>
        <p:txBody>
          <a:bodyPr wrap="square" lIns="0" tIns="0" rIns="0" bIns="0" rtlCol="0" anchor="t"/>
          <a:lstStyle/>
          <a:p>
            <a:pPr algn="l" indent="0" marL="0">
              <a:buNone/>
            </a:pPr>
            <a:r>
              <a:rPr lang="en-US" sz="900" dirty="0">
                <a:solidFill>
                  <a:srgbClr val="D64545"/>
                </a:solidFill>
                <a:latin typeface="Segoe UI" pitchFamily="34" charset="0"/>
                <a:ea typeface="Segoe UI" pitchFamily="34" charset="-122"/>
                <a:cs typeface="Segoe UI" pitchFamily="34" charset="-120"/>
              </a:rPr>
              <a:t>pinch-off</a:t>
            </a:r>
            <a:endParaRPr lang="en-US" sz="900" dirty="0"/>
          </a:p>
        </p:txBody>
      </p:sp>
      <p:sp>
        <p:nvSpPr>
          <p:cNvPr id="60" name="!!ivPt"/>
          <p:cNvSpPr/>
          <p:nvPr/>
        </p:nvSpPr>
        <p:spPr>
          <a:xfrm>
            <a:off x="7533350" y="3438459"/>
            <a:ext cx="164592" cy="164592"/>
          </a:xfrm>
          <a:prstGeom prst="ellipse">
            <a:avLst/>
          </a:prstGeom>
          <a:solidFill>
            <a:srgbClr val="3E6AE1"/>
          </a:solidFill>
          <a:ln w="19050">
            <a:solidFill>
              <a:srgbClr val="FFFFFF"/>
            </a:solidFill>
            <a:prstDash val="solid"/>
          </a:ln>
        </p:spPr>
      </p:sp>
      <p:sp>
        <p:nvSpPr>
          <p:cNvPr id="61" name="!!ivPtL"/>
          <p:cNvSpPr txBox="1"/>
          <p:nvPr/>
        </p:nvSpPr>
        <p:spPr>
          <a:xfrm>
            <a:off x="6746966" y="3191571"/>
            <a:ext cx="822960" cy="219456"/>
          </a:xfrm>
          <a:prstGeom prst="rect">
            <a:avLst/>
          </a:prstGeom>
          <a:noFill/>
          <a:ln/>
        </p:spPr>
        <p:txBody>
          <a:bodyPr wrap="square" lIns="0" tIns="0" rIns="0" bIns="0" rtlCol="0" anchor="t"/>
          <a:lstStyle/>
          <a:p>
            <a:pPr algn="r" indent="0" marL="0">
              <a:buNone/>
            </a:pPr>
            <a:r>
              <a:rPr lang="en-US" sz="1100" dirty="0">
                <a:solidFill>
                  <a:srgbClr val="3E6AE1"/>
                </a:solidFill>
                <a:latin typeface="Segoe UI Semibold" pitchFamily="34" charset="0"/>
                <a:ea typeface="Segoe UI Semibold" pitchFamily="34" charset="-122"/>
                <a:cs typeface="Segoe UI Semibold" pitchFamily="34" charset="-120"/>
              </a:rPr>
              <a:t>6.2 µA</a:t>
            </a:r>
            <a:endParaRPr lang="en-US" sz="1100" dirty="0"/>
          </a:p>
        </p:txBody>
      </p:sp>
      <p:sp>
        <p:nvSpPr>
          <p:cNvPr id="62" name="!!ivRead"/>
          <p:cNvSpPr txBox="1"/>
          <p:nvPr/>
        </p:nvSpPr>
        <p:spPr>
          <a:xfrm>
            <a:off x="6858000" y="4526280"/>
            <a:ext cx="4754880" cy="256032"/>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0.05 V     I</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6.2 µA</a:t>
            </a:r>
            <a:endParaRPr lang="en-US" sz="1400" dirty="0"/>
          </a:p>
        </p:txBody>
      </p:sp>
      <p:sp>
        <p:nvSpPr>
          <p:cNvPr id="63" name="!!ivReg"/>
          <p:cNvSpPr txBox="1"/>
          <p:nvPr/>
        </p:nvSpPr>
        <p:spPr>
          <a:xfrm>
            <a:off x="6858000" y="4773168"/>
            <a:ext cx="4754880" cy="219456"/>
          </a:xfrm>
          <a:prstGeom prst="rect">
            <a:avLst/>
          </a:prstGeom>
          <a:noFill/>
          <a:ln/>
        </p:spPr>
        <p:txBody>
          <a:bodyPr wrap="square" lIns="0" tIns="0" rIns="0" bIns="0" rtlCol="0" anchor="t"/>
          <a:lstStyle/>
          <a:p>
            <a:pPr algn="l" indent="0" marL="0">
              <a:buNone/>
            </a:pPr>
            <a:r>
              <a:rPr lang="en-US" sz="1100" dirty="0">
                <a:solidFill>
                  <a:srgbClr val="3E6AE1"/>
                </a:solidFill>
                <a:latin typeface="Segoe UI Semibold" pitchFamily="34" charset="0"/>
                <a:ea typeface="Segoe UI Semibold" pitchFamily="34" charset="-122"/>
                <a:cs typeface="Segoe UI Semibold" pitchFamily="34" charset="-120"/>
              </a:rPr>
              <a:t>LINEAR: the channel is a resistor</a:t>
            </a:r>
            <a:endParaRPr lang="en-US" sz="1100" dirty="0"/>
          </a:p>
        </p:txBody>
      </p:sp>
      <p:sp>
        <p:nvSpPr>
          <p:cNvPr id="64" name="!!knobLbl"/>
          <p:cNvSpPr txBox="1"/>
          <p:nvPr/>
        </p:nvSpPr>
        <p:spPr>
          <a:xfrm>
            <a:off x="7022592" y="5001768"/>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drain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D</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11998E"/>
                </a:solidFill>
                <a:latin typeface="Segoe UI Semibold" pitchFamily="34" charset="0"/>
                <a:ea typeface="Segoe UI Semibold" pitchFamily="34" charset="-122"/>
                <a:cs typeface="Segoe UI Semibold" pitchFamily="34" charset="-120"/>
              </a:rPr>
              <a:t>0.1 V</a:t>
            </a:r>
            <a:endParaRPr lang="en-US" sz="1200" dirty="0"/>
          </a:p>
        </p:txBody>
      </p:sp>
      <p:sp>
        <p:nvSpPr>
          <p:cNvPr id="65" name="!!knobTrack"/>
          <p:cNvSpPr/>
          <p:nvPr/>
        </p:nvSpPr>
        <p:spPr>
          <a:xfrm>
            <a:off x="7040880" y="5385816"/>
            <a:ext cx="4480560" cy="54864"/>
          </a:xfrm>
          <a:prstGeom prst="roundRect">
            <a:avLst>
              <a:gd name="adj" fmla="val 50000"/>
            </a:avLst>
          </a:prstGeom>
          <a:solidFill>
            <a:srgbClr val="E2E3E3"/>
          </a:solidFill>
          <a:ln/>
        </p:spPr>
      </p:sp>
      <p:sp>
        <p:nvSpPr>
          <p:cNvPr id="66" name="!!knobFill"/>
          <p:cNvSpPr/>
          <p:nvPr/>
        </p:nvSpPr>
        <p:spPr>
          <a:xfrm>
            <a:off x="7040880" y="5385816"/>
            <a:ext cx="320040" cy="54864"/>
          </a:xfrm>
          <a:prstGeom prst="roundRect">
            <a:avLst>
              <a:gd name="adj" fmla="val 50000"/>
            </a:avLst>
          </a:prstGeom>
          <a:solidFill>
            <a:srgbClr val="11998E"/>
          </a:solidFill>
          <a:ln/>
        </p:spPr>
      </p:sp>
      <p:sp>
        <p:nvSpPr>
          <p:cNvPr id="67" name="!!knobT0"/>
          <p:cNvSpPr txBox="1"/>
          <p:nvPr/>
        </p:nvSpPr>
        <p:spPr>
          <a:xfrm>
            <a:off x="667512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68" name="!!knobT1"/>
          <p:cNvSpPr txBox="1"/>
          <p:nvPr/>
        </p:nvSpPr>
        <p:spPr>
          <a:xfrm>
            <a:off x="79552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69" name="!!knobT2"/>
          <p:cNvSpPr txBox="1"/>
          <p:nvPr/>
        </p:nvSpPr>
        <p:spPr>
          <a:xfrm>
            <a:off x="923544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70" name="!!knobT3"/>
          <p:cNvSpPr txBox="1"/>
          <p:nvPr/>
        </p:nvSpPr>
        <p:spPr>
          <a:xfrm>
            <a:off x="1051560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71" name="!!knobT4"/>
          <p:cNvSpPr txBox="1"/>
          <p:nvPr/>
        </p:nvSpPr>
        <p:spPr>
          <a:xfrm>
            <a:off x="111556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72" name="!!knobThumb"/>
          <p:cNvSpPr/>
          <p:nvPr/>
        </p:nvSpPr>
        <p:spPr>
          <a:xfrm>
            <a:off x="7260336" y="5312664"/>
            <a:ext cx="201168" cy="201168"/>
          </a:xfrm>
          <a:prstGeom prst="ellipse">
            <a:avLst/>
          </a:prstGeom>
          <a:solidFill>
            <a:srgbClr val="FFFFFF"/>
          </a:solidFill>
          <a:ln w="28575">
            <a:solidFill>
              <a:srgbClr val="11998E"/>
            </a:solidFill>
            <a:prstDash val="solid"/>
          </a:ln>
        </p:spPr>
      </p:sp>
      <p:sp>
        <p:nvSpPr>
          <p:cNvPr id="7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Tiny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D</a:t>
            </a:r>
            <a:pPr algn="ctr" indent="0" marL="0">
              <a:buNone/>
            </a:pPr>
            <a:r>
              <a:rPr lang="en-US" sz="1600" dirty="0">
                <a:solidFill>
                  <a:srgbClr val="171A20"/>
                </a:solidFill>
                <a:latin typeface="Segoe UI" pitchFamily="34" charset="0"/>
                <a:ea typeface="Segoe UI" pitchFamily="34" charset="-122"/>
                <a:cs typeface="Segoe UI" pitchFamily="34" charset="-120"/>
              </a:rPr>
              <a:t>: the channel is even from source to drain; I</a:t>
            </a:r>
            <a:pPr algn="ctr" indent="0" marL="0">
              <a:buNone/>
            </a:pPr>
            <a:r>
              <a:rPr lang="en-US" sz="1600" baseline="-40000" dirty="0">
                <a:solidFill>
                  <a:srgbClr val="171A20"/>
                </a:solidFill>
                <a:latin typeface="Segoe UI" pitchFamily="34" charset="0"/>
                <a:ea typeface="Segoe UI" pitchFamily="34" charset="-122"/>
                <a:cs typeface="Segoe UI" pitchFamily="34" charset="-120"/>
              </a:rPr>
              <a:t>D</a:t>
            </a:r>
            <a:pPr algn="ctr" indent="0" marL="0">
              <a:buNone/>
            </a:pPr>
            <a:r>
              <a:rPr lang="en-US" sz="1600" dirty="0">
                <a:solidFill>
                  <a:srgbClr val="171A20"/>
                </a:solidFill>
                <a:latin typeface="Segoe UI" pitchFamily="34" charset="0"/>
                <a:ea typeface="Segoe UI" pitchFamily="34" charset="-122"/>
                <a:cs typeface="Segoe UI" pitchFamily="34" charset="-120"/>
              </a:rPr>
              <a:t> grows with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D</a:t>
            </a:r>
            <a:pPr algn="ctr" indent="0" marL="0">
              <a:buNone/>
            </a:pPr>
            <a:r>
              <a:rPr lang="en-US" sz="1600" dirty="0">
                <a:solidFill>
                  <a:srgbClr val="171A20"/>
                </a:solidFill>
                <a:latin typeface="Segoe UI" pitchFamily="34" charset="0"/>
                <a:ea typeface="Segoe UI" pitchFamily="34" charset="-122"/>
                <a:cs typeface="Segoe UI" pitchFamily="34" charset="-120"/>
              </a:rPr>
              <a:t> like a resistor.</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30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Turning the drain</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Gate fixed at 0.7 V; now the second knob,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goes up step by step</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E2E3E3"/>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mBody"/>
          <p:cNvSpPr/>
          <p:nvPr/>
        </p:nvSpPr>
        <p:spPr>
          <a:xfrm>
            <a:off x="640080" y="2240280"/>
            <a:ext cx="5120640" cy="1417320"/>
          </a:xfrm>
          <a:prstGeom prst="rect">
            <a:avLst/>
          </a:prstGeom>
          <a:solidFill>
            <a:srgbClr val="F6E7B8"/>
          </a:solidFill>
          <a:ln/>
        </p:spPr>
      </p:sp>
      <p:sp>
        <p:nvSpPr>
          <p:cNvPr id="10"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1" name="!!mDepl"/>
          <p:cNvSpPr/>
          <p:nvPr/>
        </p:nvSpPr>
        <p:spPr>
          <a:xfrm>
            <a:off x="1920240" y="2240280"/>
            <a:ext cx="2560320" cy="493776"/>
          </a:xfrm>
          <a:prstGeom prst="rect">
            <a:avLst/>
          </a:prstGeom>
          <a:solidFill>
            <a:srgbClr val="F7D4D9"/>
          </a:solidFill>
          <a:ln/>
        </p:spPr>
      </p:sp>
      <p:sp>
        <p:nvSpPr>
          <p:cNvPr id="12" name="!!mSrc"/>
          <p:cNvSpPr/>
          <p:nvPr/>
        </p:nvSpPr>
        <p:spPr>
          <a:xfrm>
            <a:off x="640080" y="2240280"/>
            <a:ext cx="1325880" cy="548640"/>
          </a:xfrm>
          <a:prstGeom prst="roundRect">
            <a:avLst>
              <a:gd name="adj" fmla="val 8333"/>
            </a:avLst>
          </a:prstGeom>
          <a:solidFill>
            <a:srgbClr val="7D9BE6"/>
          </a:solidFill>
          <a:ln/>
        </p:spPr>
      </p:sp>
      <p:sp>
        <p:nvSpPr>
          <p:cNvPr id="13" name="!!mDrn"/>
          <p:cNvSpPr/>
          <p:nvPr/>
        </p:nvSpPr>
        <p:spPr>
          <a:xfrm>
            <a:off x="4434840" y="2240280"/>
            <a:ext cx="1325880" cy="548640"/>
          </a:xfrm>
          <a:prstGeom prst="roundRect">
            <a:avLst>
              <a:gd name="adj" fmla="val 8333"/>
            </a:avLst>
          </a:prstGeom>
          <a:solidFill>
            <a:srgbClr val="7D9BE6"/>
          </a:solidFill>
          <a:ln/>
        </p:spPr>
      </p:sp>
      <p:sp>
        <p:nvSpPr>
          <p:cNvPr id="14" name="!!mSrcL"/>
          <p:cNvSpPr txBox="1"/>
          <p:nvPr/>
        </p:nvSpPr>
        <p:spPr>
          <a:xfrm>
            <a:off x="64008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5" name="!!mDrnL"/>
          <p:cNvSpPr txBox="1"/>
          <p:nvPr/>
        </p:nvSpPr>
        <p:spPr>
          <a:xfrm>
            <a:off x="448056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6" name="!!mChan"/>
          <p:cNvSpPr/>
          <p:nvPr/>
        </p:nvSpPr>
        <p:spPr>
          <a:xfrm>
            <a:off x="1920240" y="2240280"/>
            <a:ext cx="2560320" cy="182880"/>
          </a:xfrm>
          <a:custGeom>
            <a:avLst/>
            <a:gdLst/>
            <a:ahLst/>
            <a:cxnLst/>
            <a:rect l="l" t="t" r="r" b="b"/>
            <a:pathLst>
              <a:path w="2560320" h="182880">
                <a:moveTo>
                  <a:pt x="0" y="0"/>
                </a:moveTo>
                <a:lnTo>
                  <a:pt x="2560320" y="0"/>
                </a:lnTo>
                <a:lnTo>
                  <a:pt x="2560320" y="149321"/>
                </a:lnTo>
                <a:lnTo>
                  <a:pt x="0" y="182880"/>
                </a:lnTo>
                <a:close/>
              </a:path>
            </a:pathLst>
          </a:custGeom>
          <a:solidFill>
            <a:srgbClr val="1F2F6B"/>
          </a:solidFill>
          <a:ln/>
        </p:spPr>
      </p:sp>
      <p:sp>
        <p:nvSpPr>
          <p:cNvPr id="17" name="!!mOx"/>
          <p:cNvSpPr/>
          <p:nvPr/>
        </p:nvSpPr>
        <p:spPr>
          <a:xfrm>
            <a:off x="1920240" y="2167128"/>
            <a:ext cx="2560320" cy="73152"/>
          </a:xfrm>
          <a:prstGeom prst="rect">
            <a:avLst/>
          </a:prstGeom>
          <a:solidFill>
            <a:srgbClr val="CDEBF5"/>
          </a:solidFill>
          <a:ln/>
        </p:spPr>
      </p:sp>
      <p:sp>
        <p:nvSpPr>
          <p:cNvPr id="18" name="!!mGate"/>
          <p:cNvSpPr/>
          <p:nvPr/>
        </p:nvSpPr>
        <p:spPr>
          <a:xfrm>
            <a:off x="1920240" y="1783080"/>
            <a:ext cx="2560320" cy="384048"/>
          </a:xfrm>
          <a:prstGeom prst="roundRect">
            <a:avLst>
              <a:gd name="adj" fmla="val 9524"/>
            </a:avLst>
          </a:prstGeom>
          <a:solidFill>
            <a:srgbClr val="B3A6E6"/>
          </a:solidFill>
          <a:ln/>
        </p:spPr>
      </p:sp>
      <p:sp>
        <p:nvSpPr>
          <p:cNvPr id="19" name="!!mGateL"/>
          <p:cNvSpPr txBox="1"/>
          <p:nvPr/>
        </p:nvSpPr>
        <p:spPr>
          <a:xfrm>
            <a:off x="1920240" y="1837944"/>
            <a:ext cx="2560320"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20" name="!!mVS"/>
          <p:cNvSpPr txBox="1"/>
          <p:nvPr/>
        </p:nvSpPr>
        <p:spPr>
          <a:xfrm>
            <a:off x="640080" y="1856232"/>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S</a:t>
            </a:r>
            <a:pPr algn="l" indent="0" marL="0">
              <a:buNone/>
            </a:pPr>
            <a:r>
              <a:rPr lang="en-US" sz="1100" dirty="0">
                <a:solidFill>
                  <a:srgbClr val="5C5E62"/>
                </a:solidFill>
                <a:latin typeface="Segoe UI" pitchFamily="34" charset="0"/>
                <a:ea typeface="Segoe UI" pitchFamily="34" charset="-122"/>
                <a:cs typeface="Segoe UI" pitchFamily="34" charset="-120"/>
              </a:rPr>
              <a:t> = 0</a:t>
            </a:r>
            <a:endParaRPr lang="en-US" sz="1100" dirty="0"/>
          </a:p>
        </p:txBody>
      </p:sp>
      <p:sp>
        <p:nvSpPr>
          <p:cNvPr id="21" name="!!mVG"/>
          <p:cNvSpPr txBox="1"/>
          <p:nvPr/>
        </p:nvSpPr>
        <p:spPr>
          <a:xfrm>
            <a:off x="2286000" y="1490472"/>
            <a:ext cx="1828800" cy="237744"/>
          </a:xfrm>
          <a:prstGeom prst="rect">
            <a:avLst/>
          </a:prstGeom>
          <a:noFill/>
          <a:ln/>
        </p:spPr>
        <p:txBody>
          <a:bodyPr wrap="square" lIns="0" tIns="0" rIns="0" bIns="0" rtlCol="0" anchor="t"/>
          <a:lstStyle/>
          <a:p>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ctr"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 = 0.70 V</a:t>
            </a:r>
            <a:endParaRPr lang="en-US" sz="1200" dirty="0"/>
          </a:p>
        </p:txBody>
      </p:sp>
      <p:sp>
        <p:nvSpPr>
          <p:cNvPr id="22" name="!!mVD"/>
          <p:cNvSpPr txBox="1"/>
          <p:nvPr/>
        </p:nvSpPr>
        <p:spPr>
          <a:xfrm>
            <a:off x="4480560" y="1856232"/>
            <a:ext cx="1280160" cy="228600"/>
          </a:xfrm>
          <a:prstGeom prst="rect">
            <a:avLst/>
          </a:prstGeom>
          <a:noFill/>
          <a:ln/>
        </p:spPr>
        <p:txBody>
          <a:bodyPr wrap="square" lIns="0" tIns="0" rIns="0" bIns="0" rtlCol="0" anchor="t"/>
          <a:lstStyle/>
          <a:p>
            <a:pPr algn="r" indent="0" marL="0">
              <a:buNone/>
            </a:pPr>
            <a:r>
              <a:rPr lang="en-US" sz="1100" dirty="0">
                <a:solidFill>
                  <a:srgbClr val="5C5E62"/>
                </a:solidFill>
                <a:latin typeface="Segoe UI" pitchFamily="34" charset="0"/>
                <a:ea typeface="Segoe UI" pitchFamily="34" charset="-122"/>
                <a:cs typeface="Segoe UI" pitchFamily="34" charset="-120"/>
              </a:rPr>
              <a:t>V</a:t>
            </a:r>
            <a:pPr algn="r" indent="0" marL="0">
              <a:buNone/>
            </a:pPr>
            <a:r>
              <a:rPr lang="en-US" sz="1100" baseline="-40000" dirty="0">
                <a:solidFill>
                  <a:srgbClr val="5C5E62"/>
                </a:solidFill>
                <a:latin typeface="Segoe UI" pitchFamily="34" charset="0"/>
                <a:ea typeface="Segoe UI" pitchFamily="34" charset="-122"/>
                <a:cs typeface="Segoe UI" pitchFamily="34" charset="-120"/>
              </a:rPr>
              <a:t>D</a:t>
            </a:r>
            <a:pPr algn="r" indent="0" marL="0">
              <a:buNone/>
            </a:pPr>
            <a:r>
              <a:rPr lang="en-US" sz="1100" dirty="0">
                <a:solidFill>
                  <a:srgbClr val="5C5E62"/>
                </a:solidFill>
                <a:latin typeface="Segoe UI" pitchFamily="34" charset="0"/>
                <a:ea typeface="Segoe UI" pitchFamily="34" charset="-122"/>
                <a:cs typeface="Segoe UI" pitchFamily="34" charset="-120"/>
              </a:rPr>
              <a:t> = 0.15 V</a:t>
            </a:r>
            <a:endParaRPr lang="en-US" sz="1100" dirty="0"/>
          </a:p>
        </p:txBody>
      </p:sp>
      <p:sp>
        <p:nvSpPr>
          <p:cNvPr id="23" name="!!lg1"/>
          <p:cNvSpPr/>
          <p:nvPr/>
        </p:nvSpPr>
        <p:spPr>
          <a:xfrm>
            <a:off x="658368" y="3767328"/>
            <a:ext cx="164592" cy="109728"/>
          </a:xfrm>
          <a:prstGeom prst="rect">
            <a:avLst/>
          </a:prstGeom>
          <a:solidFill>
            <a:srgbClr val="1F2F6B"/>
          </a:solidFill>
          <a:ln/>
        </p:spPr>
      </p:sp>
      <p:sp>
        <p:nvSpPr>
          <p:cNvPr id="24" name="!!lg1t"/>
          <p:cNvSpPr txBox="1"/>
          <p:nvPr/>
        </p:nvSpPr>
        <p:spPr>
          <a:xfrm>
            <a:off x="868680" y="3721608"/>
            <a:ext cx="146304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electron channel</a:t>
            </a:r>
            <a:endParaRPr lang="en-US" sz="900" dirty="0"/>
          </a:p>
        </p:txBody>
      </p:sp>
      <p:sp>
        <p:nvSpPr>
          <p:cNvPr id="25" name="!!lg2"/>
          <p:cNvSpPr/>
          <p:nvPr/>
        </p:nvSpPr>
        <p:spPr>
          <a:xfrm>
            <a:off x="2240280" y="3767328"/>
            <a:ext cx="164592" cy="109728"/>
          </a:xfrm>
          <a:prstGeom prst="rect">
            <a:avLst/>
          </a:prstGeom>
          <a:solidFill>
            <a:srgbClr val="F7D4D9"/>
          </a:solidFill>
          <a:ln/>
        </p:spPr>
      </p:sp>
      <p:sp>
        <p:nvSpPr>
          <p:cNvPr id="26" name="!!lg2t"/>
          <p:cNvSpPr txBox="1"/>
          <p:nvPr/>
        </p:nvSpPr>
        <p:spPr>
          <a:xfrm>
            <a:off x="2450592" y="3721608"/>
            <a:ext cx="201168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depletion (no free carriers)</a:t>
            </a:r>
            <a:endParaRPr lang="en-US" sz="900" dirty="0"/>
          </a:p>
        </p:txBody>
      </p:sp>
      <p:sp>
        <p:nvSpPr>
          <p:cNvPr id="27" name="!!bCurve"/>
          <p:cNvSpPr/>
          <p:nvPr/>
        </p:nvSpPr>
        <p:spPr>
          <a:xfrm>
            <a:off x="640080" y="4717200"/>
            <a:ext cx="5120640" cy="154265"/>
          </a:xfrm>
          <a:custGeom>
            <a:avLst/>
            <a:gdLst/>
            <a:ahLst/>
            <a:cxnLst/>
            <a:rect l="l" t="t" r="r" b="b"/>
            <a:pathLst>
              <a:path w="5120640" h="154265">
                <a:moveTo>
                  <a:pt x="0" y="37679"/>
                </a:moveTo>
                <a:lnTo>
                  <a:pt x="113792" y="37677"/>
                </a:lnTo>
                <a:lnTo>
                  <a:pt x="227584" y="37672"/>
                </a:lnTo>
                <a:lnTo>
                  <a:pt x="341376" y="37660"/>
                </a:lnTo>
                <a:lnTo>
                  <a:pt x="455168" y="37628"/>
                </a:lnTo>
                <a:lnTo>
                  <a:pt x="568960" y="37543"/>
                </a:lnTo>
                <a:lnTo>
                  <a:pt x="682752" y="37325"/>
                </a:lnTo>
                <a:lnTo>
                  <a:pt x="796544" y="36765"/>
                </a:lnTo>
                <a:lnTo>
                  <a:pt x="910336" y="35360"/>
                </a:lnTo>
                <a:lnTo>
                  <a:pt x="1024128" y="32023"/>
                </a:lnTo>
                <a:lnTo>
                  <a:pt x="1137920" y="25053"/>
                </a:lnTo>
                <a:lnTo>
                  <a:pt x="1251712" y="13716"/>
                </a:lnTo>
                <a:lnTo>
                  <a:pt x="1365504" y="3900"/>
                </a:lnTo>
                <a:lnTo>
                  <a:pt x="1479296" y="0"/>
                </a:lnTo>
                <a:lnTo>
                  <a:pt x="1593088" y="722"/>
                </a:lnTo>
                <a:lnTo>
                  <a:pt x="1706880" y="3985"/>
                </a:lnTo>
                <a:lnTo>
                  <a:pt x="1820672" y="8390"/>
                </a:lnTo>
                <a:lnTo>
                  <a:pt x="1934464" y="13265"/>
                </a:lnTo>
                <a:lnTo>
                  <a:pt x="2048256" y="18326"/>
                </a:lnTo>
                <a:lnTo>
                  <a:pt x="2162048" y="23461"/>
                </a:lnTo>
                <a:lnTo>
                  <a:pt x="2275840" y="28624"/>
                </a:lnTo>
                <a:lnTo>
                  <a:pt x="2389632" y="33799"/>
                </a:lnTo>
                <a:lnTo>
                  <a:pt x="2503424" y="38978"/>
                </a:lnTo>
                <a:lnTo>
                  <a:pt x="2617216" y="44160"/>
                </a:lnTo>
                <a:lnTo>
                  <a:pt x="2731008" y="49344"/>
                </a:lnTo>
                <a:lnTo>
                  <a:pt x="2844800" y="54533"/>
                </a:lnTo>
                <a:lnTo>
                  <a:pt x="2958592" y="59735"/>
                </a:lnTo>
                <a:lnTo>
                  <a:pt x="3072384" y="64968"/>
                </a:lnTo>
                <a:lnTo>
                  <a:pt x="3186176" y="70286"/>
                </a:lnTo>
                <a:lnTo>
                  <a:pt x="3299968" y="75817"/>
                </a:lnTo>
                <a:lnTo>
                  <a:pt x="3413760" y="81890"/>
                </a:lnTo>
                <a:lnTo>
                  <a:pt x="3527552" y="89259"/>
                </a:lnTo>
                <a:lnTo>
                  <a:pt x="3641344" y="99373"/>
                </a:lnTo>
                <a:lnTo>
                  <a:pt x="3755136" y="113810"/>
                </a:lnTo>
                <a:lnTo>
                  <a:pt x="3868928" y="130302"/>
                </a:lnTo>
                <a:lnTo>
                  <a:pt x="3982720" y="141639"/>
                </a:lnTo>
                <a:lnTo>
                  <a:pt x="4096512" y="148609"/>
                </a:lnTo>
                <a:lnTo>
                  <a:pt x="4210304" y="151946"/>
                </a:lnTo>
                <a:lnTo>
                  <a:pt x="4324096" y="153351"/>
                </a:lnTo>
                <a:lnTo>
                  <a:pt x="4437888" y="153911"/>
                </a:lnTo>
                <a:lnTo>
                  <a:pt x="4551680" y="154129"/>
                </a:lnTo>
                <a:lnTo>
                  <a:pt x="4665472" y="154214"/>
                </a:lnTo>
                <a:lnTo>
                  <a:pt x="4779264" y="154246"/>
                </a:lnTo>
                <a:lnTo>
                  <a:pt x="4893056" y="154258"/>
                </a:lnTo>
                <a:lnTo>
                  <a:pt x="5006848" y="154263"/>
                </a:lnTo>
                <a:lnTo>
                  <a:pt x="5120640" y="154265"/>
                </a:lnTo>
              </a:path>
            </a:pathLst>
          </a:custGeom>
          <a:ln w="28575">
            <a:solidFill>
              <a:srgbClr val="171A20"/>
            </a:solidFill>
            <a:prstDash val="solid"/>
          </a:ln>
        </p:spPr>
      </p:sp>
      <p:sp>
        <p:nvSpPr>
          <p:cNvPr id="28" name="!!bLbl"/>
          <p:cNvSpPr txBox="1"/>
          <p:nvPr/>
        </p:nvSpPr>
        <p:spPr>
          <a:xfrm>
            <a:off x="640080" y="3977640"/>
            <a:ext cx="182880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electron energy ↑</a:t>
            </a:r>
            <a:endParaRPr lang="en-US" sz="1000" dirty="0"/>
          </a:p>
        </p:txBody>
      </p:sp>
      <p:sp>
        <p:nvSpPr>
          <p:cNvPr id="29" name="!!bes0"/>
          <p:cNvSpPr/>
          <p:nvPr/>
        </p:nvSpPr>
        <p:spPr>
          <a:xfrm>
            <a:off x="717804" y="4613148"/>
            <a:ext cx="118872" cy="118872"/>
          </a:xfrm>
          <a:prstGeom prst="ellipse">
            <a:avLst/>
          </a:prstGeom>
          <a:solidFill>
            <a:srgbClr val="1F2F6B"/>
          </a:solidFill>
          <a:ln/>
        </p:spPr>
      </p:sp>
      <p:sp>
        <p:nvSpPr>
          <p:cNvPr id="30" name="!!bes1"/>
          <p:cNvSpPr/>
          <p:nvPr/>
        </p:nvSpPr>
        <p:spPr>
          <a:xfrm>
            <a:off x="918972" y="4613148"/>
            <a:ext cx="118872" cy="118872"/>
          </a:xfrm>
          <a:prstGeom prst="ellipse">
            <a:avLst/>
          </a:prstGeom>
          <a:solidFill>
            <a:srgbClr val="1F2F6B"/>
          </a:solidFill>
          <a:ln/>
        </p:spPr>
      </p:sp>
      <p:sp>
        <p:nvSpPr>
          <p:cNvPr id="31" name="!!bes2"/>
          <p:cNvSpPr/>
          <p:nvPr/>
        </p:nvSpPr>
        <p:spPr>
          <a:xfrm>
            <a:off x="1120140" y="4613148"/>
            <a:ext cx="118872" cy="118872"/>
          </a:xfrm>
          <a:prstGeom prst="ellipse">
            <a:avLst/>
          </a:prstGeom>
          <a:solidFill>
            <a:srgbClr val="1F2F6B"/>
          </a:solidFill>
          <a:ln/>
        </p:spPr>
      </p:sp>
      <p:sp>
        <p:nvSpPr>
          <p:cNvPr id="32" name="!!bes3"/>
          <p:cNvSpPr/>
          <p:nvPr/>
        </p:nvSpPr>
        <p:spPr>
          <a:xfrm>
            <a:off x="1321308" y="4613148"/>
            <a:ext cx="118872" cy="118872"/>
          </a:xfrm>
          <a:prstGeom prst="ellipse">
            <a:avLst/>
          </a:prstGeom>
          <a:solidFill>
            <a:srgbClr val="1F2F6B"/>
          </a:solidFill>
          <a:ln/>
        </p:spPr>
      </p:sp>
      <p:sp>
        <p:nvSpPr>
          <p:cNvPr id="33" name="!!bes4"/>
          <p:cNvSpPr/>
          <p:nvPr/>
        </p:nvSpPr>
        <p:spPr>
          <a:xfrm>
            <a:off x="1522476" y="4613148"/>
            <a:ext cx="118872" cy="118872"/>
          </a:xfrm>
          <a:prstGeom prst="ellipse">
            <a:avLst/>
          </a:prstGeom>
          <a:solidFill>
            <a:srgbClr val="1F2F6B"/>
          </a:solidFill>
          <a:ln/>
        </p:spPr>
      </p:sp>
      <p:sp>
        <p:nvSpPr>
          <p:cNvPr id="34" name="!!bec0"/>
          <p:cNvSpPr/>
          <p:nvPr/>
        </p:nvSpPr>
        <p:spPr>
          <a:xfrm>
            <a:off x="2089404" y="4575299"/>
            <a:ext cx="118872" cy="118872"/>
          </a:xfrm>
          <a:prstGeom prst="ellipse">
            <a:avLst/>
          </a:prstGeom>
          <a:solidFill>
            <a:srgbClr val="1F2F6B"/>
          </a:solidFill>
          <a:ln/>
        </p:spPr>
      </p:sp>
      <p:sp>
        <p:nvSpPr>
          <p:cNvPr id="35" name="!!bec1"/>
          <p:cNvSpPr/>
          <p:nvPr/>
        </p:nvSpPr>
        <p:spPr>
          <a:xfrm>
            <a:off x="2528316" y="4589314"/>
            <a:ext cx="118872" cy="118872"/>
          </a:xfrm>
          <a:prstGeom prst="ellipse">
            <a:avLst/>
          </a:prstGeom>
          <a:solidFill>
            <a:srgbClr val="1F2F6B"/>
          </a:solidFill>
          <a:ln/>
        </p:spPr>
      </p:sp>
      <p:sp>
        <p:nvSpPr>
          <p:cNvPr id="36" name="!!bec2"/>
          <p:cNvSpPr/>
          <p:nvPr/>
        </p:nvSpPr>
        <p:spPr>
          <a:xfrm>
            <a:off x="2967228" y="4609128"/>
            <a:ext cx="118872" cy="118872"/>
          </a:xfrm>
          <a:prstGeom prst="ellipse">
            <a:avLst/>
          </a:prstGeom>
          <a:solidFill>
            <a:srgbClr val="1F2F6B"/>
          </a:solidFill>
          <a:ln/>
        </p:spPr>
      </p:sp>
      <p:sp>
        <p:nvSpPr>
          <p:cNvPr id="37" name="!!bec3"/>
          <p:cNvSpPr/>
          <p:nvPr/>
        </p:nvSpPr>
        <p:spPr>
          <a:xfrm>
            <a:off x="3406140" y="4629120"/>
            <a:ext cx="118872" cy="118872"/>
          </a:xfrm>
          <a:prstGeom prst="ellipse">
            <a:avLst/>
          </a:prstGeom>
          <a:solidFill>
            <a:srgbClr val="1F2F6B"/>
          </a:solidFill>
          <a:ln/>
        </p:spPr>
      </p:sp>
      <p:sp>
        <p:nvSpPr>
          <p:cNvPr id="38" name="!!bec4"/>
          <p:cNvSpPr/>
          <p:nvPr/>
        </p:nvSpPr>
        <p:spPr>
          <a:xfrm>
            <a:off x="3845052" y="4649520"/>
            <a:ext cx="118872" cy="118872"/>
          </a:xfrm>
          <a:prstGeom prst="ellipse">
            <a:avLst/>
          </a:prstGeom>
          <a:solidFill>
            <a:srgbClr val="1F2F6B"/>
          </a:solidFill>
          <a:ln/>
        </p:spPr>
      </p:sp>
      <p:sp>
        <p:nvSpPr>
          <p:cNvPr id="39" name="!!bec5"/>
          <p:cNvSpPr/>
          <p:nvPr/>
        </p:nvSpPr>
        <p:spPr>
          <a:xfrm>
            <a:off x="4283964" y="4682128"/>
            <a:ext cx="118872" cy="118872"/>
          </a:xfrm>
          <a:prstGeom prst="ellipse">
            <a:avLst/>
          </a:prstGeom>
          <a:solidFill>
            <a:srgbClr val="1F2F6B"/>
          </a:solidFill>
          <a:ln/>
        </p:spPr>
      </p:sp>
      <p:sp>
        <p:nvSpPr>
          <p:cNvPr id="40" name="!!axg0"/>
          <p:cNvSpPr/>
          <p:nvPr/>
        </p:nvSpPr>
        <p:spPr>
          <a:xfrm>
            <a:off x="7315200" y="3931920"/>
            <a:ext cx="4206240" cy="91"/>
          </a:xfrm>
          <a:prstGeom prst="line">
            <a:avLst/>
          </a:prstGeom>
          <a:noFill/>
          <a:ln w="9525">
            <a:solidFill>
              <a:srgbClr val="EDEEF0"/>
            </a:solidFill>
            <a:prstDash val="solid"/>
          </a:ln>
        </p:spPr>
      </p:sp>
      <p:sp>
        <p:nvSpPr>
          <p:cNvPr id="41" name="!!axg1"/>
          <p:cNvSpPr/>
          <p:nvPr/>
        </p:nvSpPr>
        <p:spPr>
          <a:xfrm>
            <a:off x="7315200" y="3265714"/>
            <a:ext cx="4206240" cy="91"/>
          </a:xfrm>
          <a:prstGeom prst="line">
            <a:avLst/>
          </a:prstGeom>
          <a:noFill/>
          <a:ln w="9525">
            <a:solidFill>
              <a:srgbClr val="EDEEF0"/>
            </a:solidFill>
            <a:prstDash val="solid"/>
          </a:ln>
        </p:spPr>
      </p:sp>
      <p:sp>
        <p:nvSpPr>
          <p:cNvPr id="42" name="!!axg2"/>
          <p:cNvSpPr/>
          <p:nvPr/>
        </p:nvSpPr>
        <p:spPr>
          <a:xfrm>
            <a:off x="7315200" y="2599509"/>
            <a:ext cx="4206240" cy="91"/>
          </a:xfrm>
          <a:prstGeom prst="line">
            <a:avLst/>
          </a:prstGeom>
          <a:noFill/>
          <a:ln w="9525">
            <a:solidFill>
              <a:srgbClr val="EDEEF0"/>
            </a:solidFill>
            <a:prstDash val="solid"/>
          </a:ln>
        </p:spPr>
      </p:sp>
      <p:sp>
        <p:nvSpPr>
          <p:cNvPr id="43" name="!!axg3"/>
          <p:cNvSpPr/>
          <p:nvPr/>
        </p:nvSpPr>
        <p:spPr>
          <a:xfrm>
            <a:off x="7315200" y="1933303"/>
            <a:ext cx="4206240" cy="91"/>
          </a:xfrm>
          <a:prstGeom prst="line">
            <a:avLst/>
          </a:prstGeom>
          <a:noFill/>
          <a:ln w="9525">
            <a:solidFill>
              <a:srgbClr val="EDEEF0"/>
            </a:solidFill>
            <a:prstDash val="solid"/>
          </a:ln>
        </p:spPr>
      </p:sp>
      <p:sp>
        <p:nvSpPr>
          <p:cNvPr id="44" name="!!axxa"/>
          <p:cNvSpPr/>
          <p:nvPr/>
        </p:nvSpPr>
        <p:spPr>
          <a:xfrm>
            <a:off x="7315200" y="3931920"/>
            <a:ext cx="4206240" cy="91"/>
          </a:xfrm>
          <a:prstGeom prst="line">
            <a:avLst/>
          </a:prstGeom>
          <a:noFill/>
          <a:ln w="12700">
            <a:solidFill>
              <a:srgbClr val="8A8D93"/>
            </a:solidFill>
            <a:prstDash val="solid"/>
          </a:ln>
        </p:spPr>
      </p:sp>
      <p:sp>
        <p:nvSpPr>
          <p:cNvPr id="45" name="!!axya"/>
          <p:cNvSpPr/>
          <p:nvPr/>
        </p:nvSpPr>
        <p:spPr>
          <a:xfrm>
            <a:off x="7315200" y="1600200"/>
            <a:ext cx="91" cy="2331720"/>
          </a:xfrm>
          <a:prstGeom prst="line">
            <a:avLst/>
          </a:prstGeom>
          <a:noFill/>
          <a:ln w="12700">
            <a:solidFill>
              <a:srgbClr val="8A8D93"/>
            </a:solidFill>
            <a:prstDash val="solid"/>
          </a:ln>
        </p:spPr>
      </p:sp>
      <p:sp>
        <p:nvSpPr>
          <p:cNvPr id="46" name="!!axxt0"/>
          <p:cNvSpPr txBox="1"/>
          <p:nvPr/>
        </p:nvSpPr>
        <p:spPr>
          <a:xfrm>
            <a:off x="699516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7" name="!!axxt1"/>
          <p:cNvSpPr txBox="1"/>
          <p:nvPr/>
        </p:nvSpPr>
        <p:spPr>
          <a:xfrm>
            <a:off x="8196943"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48" name="!!axxt2"/>
          <p:cNvSpPr txBox="1"/>
          <p:nvPr/>
        </p:nvSpPr>
        <p:spPr>
          <a:xfrm>
            <a:off x="9398726"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49" name="!!axxt3"/>
          <p:cNvSpPr txBox="1"/>
          <p:nvPr/>
        </p:nvSpPr>
        <p:spPr>
          <a:xfrm>
            <a:off x="10600509"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50" name="!!axyt0"/>
          <p:cNvSpPr txBox="1"/>
          <p:nvPr/>
        </p:nvSpPr>
        <p:spPr>
          <a:xfrm>
            <a:off x="6629400" y="3831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 µA</a:t>
            </a:r>
            <a:endParaRPr lang="en-US" sz="900" dirty="0"/>
          </a:p>
        </p:txBody>
      </p:sp>
      <p:sp>
        <p:nvSpPr>
          <p:cNvPr id="51" name="!!axyt1"/>
          <p:cNvSpPr txBox="1"/>
          <p:nvPr/>
        </p:nvSpPr>
        <p:spPr>
          <a:xfrm>
            <a:off x="6629400" y="316513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µA</a:t>
            </a:r>
            <a:endParaRPr lang="en-US" sz="900" dirty="0"/>
          </a:p>
        </p:txBody>
      </p:sp>
      <p:sp>
        <p:nvSpPr>
          <p:cNvPr id="52" name="!!axyt2"/>
          <p:cNvSpPr txBox="1"/>
          <p:nvPr/>
        </p:nvSpPr>
        <p:spPr>
          <a:xfrm>
            <a:off x="6629400" y="2498925"/>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20 µA</a:t>
            </a:r>
            <a:endParaRPr lang="en-US" sz="900" dirty="0"/>
          </a:p>
        </p:txBody>
      </p:sp>
      <p:sp>
        <p:nvSpPr>
          <p:cNvPr id="53" name="!!axyt3"/>
          <p:cNvSpPr txBox="1"/>
          <p:nvPr/>
        </p:nvSpPr>
        <p:spPr>
          <a:xfrm>
            <a:off x="6629400" y="1832719"/>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30 µA</a:t>
            </a:r>
            <a:endParaRPr lang="en-US" sz="900" dirty="0"/>
          </a:p>
        </p:txBody>
      </p:sp>
      <p:sp>
        <p:nvSpPr>
          <p:cNvPr id="54" name="!!axxl"/>
          <p:cNvSpPr txBox="1"/>
          <p:nvPr/>
        </p:nvSpPr>
        <p:spPr>
          <a:xfrm>
            <a:off x="7315200" y="420624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drain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55" name="!!axyl"/>
          <p:cNvSpPr txBox="1"/>
          <p:nvPr/>
        </p:nvSpPr>
        <p:spPr>
          <a:xfrm>
            <a:off x="713232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(linear)</a:t>
            </a:r>
            <a:endParaRPr lang="en-US" sz="1100" dirty="0"/>
          </a:p>
        </p:txBody>
      </p:sp>
      <p:sp>
        <p:nvSpPr>
          <p:cNvPr id="56" name="!!ivGhost"/>
          <p:cNvSpPr/>
          <p:nvPr/>
        </p:nvSpPr>
        <p:spPr>
          <a:xfrm>
            <a:off x="7315200" y="1934694"/>
            <a:ext cx="4206240" cy="1997226"/>
          </a:xfrm>
          <a:custGeom>
            <a:avLst/>
            <a:gdLst/>
            <a:ahLst/>
            <a:cxnLst/>
            <a:rect l="l" t="t" r="r" b="b"/>
            <a:pathLst>
              <a:path w="4206240" h="1997226">
                <a:moveTo>
                  <a:pt x="0" y="1997226"/>
                </a:moveTo>
                <a:lnTo>
                  <a:pt x="120178" y="1827108"/>
                </a:lnTo>
                <a:lnTo>
                  <a:pt x="240357" y="1664523"/>
                </a:lnTo>
                <a:lnTo>
                  <a:pt x="360535" y="1509486"/>
                </a:lnTo>
                <a:lnTo>
                  <a:pt x="480713" y="1362010"/>
                </a:lnTo>
                <a:lnTo>
                  <a:pt x="600891" y="1222109"/>
                </a:lnTo>
                <a:lnTo>
                  <a:pt x="721070" y="1089796"/>
                </a:lnTo>
                <a:lnTo>
                  <a:pt x="841248" y="965087"/>
                </a:lnTo>
                <a:lnTo>
                  <a:pt x="961426" y="847994"/>
                </a:lnTo>
                <a:lnTo>
                  <a:pt x="1081605" y="738531"/>
                </a:lnTo>
                <a:lnTo>
                  <a:pt x="1201783" y="636714"/>
                </a:lnTo>
                <a:lnTo>
                  <a:pt x="1321961" y="542554"/>
                </a:lnTo>
                <a:lnTo>
                  <a:pt x="1442139" y="456067"/>
                </a:lnTo>
                <a:lnTo>
                  <a:pt x="1562318" y="377267"/>
                </a:lnTo>
                <a:lnTo>
                  <a:pt x="1682496" y="306166"/>
                </a:lnTo>
                <a:lnTo>
                  <a:pt x="1802674" y="242780"/>
                </a:lnTo>
                <a:lnTo>
                  <a:pt x="1922853" y="187121"/>
                </a:lnTo>
                <a:lnTo>
                  <a:pt x="2043031" y="139204"/>
                </a:lnTo>
                <a:lnTo>
                  <a:pt x="2163209" y="99044"/>
                </a:lnTo>
                <a:lnTo>
                  <a:pt x="2283387" y="66653"/>
                </a:lnTo>
                <a:lnTo>
                  <a:pt x="2403566" y="42045"/>
                </a:lnTo>
                <a:lnTo>
                  <a:pt x="2523744" y="25235"/>
                </a:lnTo>
                <a:lnTo>
                  <a:pt x="2643922" y="16237"/>
                </a:lnTo>
                <a:lnTo>
                  <a:pt x="2764101" y="14084"/>
                </a:lnTo>
                <a:lnTo>
                  <a:pt x="2884279" y="12911"/>
                </a:lnTo>
                <a:lnTo>
                  <a:pt x="3004457" y="11737"/>
                </a:lnTo>
                <a:lnTo>
                  <a:pt x="3124635" y="10563"/>
                </a:lnTo>
                <a:lnTo>
                  <a:pt x="3244814" y="9390"/>
                </a:lnTo>
                <a:lnTo>
                  <a:pt x="3364992" y="8216"/>
                </a:lnTo>
                <a:lnTo>
                  <a:pt x="3485170" y="7042"/>
                </a:lnTo>
                <a:lnTo>
                  <a:pt x="3605349" y="5868"/>
                </a:lnTo>
                <a:lnTo>
                  <a:pt x="3725527" y="4695"/>
                </a:lnTo>
                <a:lnTo>
                  <a:pt x="3845705" y="3521"/>
                </a:lnTo>
                <a:lnTo>
                  <a:pt x="3965883" y="2347"/>
                </a:lnTo>
                <a:lnTo>
                  <a:pt x="4086062" y="1174"/>
                </a:lnTo>
                <a:lnTo>
                  <a:pt x="4206240" y="0"/>
                </a:lnTo>
              </a:path>
            </a:pathLst>
          </a:custGeom>
          <a:ln w="25400">
            <a:solidFill>
              <a:srgbClr val="C9CCD3"/>
            </a:solidFill>
            <a:prstDash val="solid"/>
          </a:ln>
        </p:spPr>
      </p:sp>
      <p:sp>
        <p:nvSpPr>
          <p:cNvPr id="57" name="!!ivTrail"/>
          <p:cNvSpPr/>
          <p:nvPr/>
        </p:nvSpPr>
        <p:spPr>
          <a:xfrm>
            <a:off x="7315200" y="2840282"/>
            <a:ext cx="901337" cy="1091638"/>
          </a:xfrm>
          <a:custGeom>
            <a:avLst/>
            <a:gdLst/>
            <a:ahLst/>
            <a:cxnLst/>
            <a:rect l="l" t="t" r="r" b="b"/>
            <a:pathLst>
              <a:path w="901337" h="1091638">
                <a:moveTo>
                  <a:pt x="0" y="1091638"/>
                </a:moveTo>
                <a:lnTo>
                  <a:pt x="25752" y="1054551"/>
                </a:lnTo>
                <a:lnTo>
                  <a:pt x="51505" y="1017809"/>
                </a:lnTo>
                <a:lnTo>
                  <a:pt x="77257" y="981413"/>
                </a:lnTo>
                <a:lnTo>
                  <a:pt x="103010" y="945362"/>
                </a:lnTo>
                <a:lnTo>
                  <a:pt x="128762" y="909658"/>
                </a:lnTo>
                <a:lnTo>
                  <a:pt x="154515" y="874299"/>
                </a:lnTo>
                <a:lnTo>
                  <a:pt x="180267" y="839286"/>
                </a:lnTo>
                <a:lnTo>
                  <a:pt x="206020" y="804619"/>
                </a:lnTo>
                <a:lnTo>
                  <a:pt x="231772" y="770299"/>
                </a:lnTo>
                <a:lnTo>
                  <a:pt x="257525" y="736326"/>
                </a:lnTo>
                <a:lnTo>
                  <a:pt x="283277" y="702699"/>
                </a:lnTo>
                <a:lnTo>
                  <a:pt x="309030" y="669418"/>
                </a:lnTo>
                <a:lnTo>
                  <a:pt x="334782" y="636485"/>
                </a:lnTo>
                <a:lnTo>
                  <a:pt x="360535" y="603899"/>
                </a:lnTo>
                <a:lnTo>
                  <a:pt x="386287" y="571660"/>
                </a:lnTo>
                <a:lnTo>
                  <a:pt x="412040" y="539768"/>
                </a:lnTo>
                <a:lnTo>
                  <a:pt x="437792" y="508224"/>
                </a:lnTo>
                <a:lnTo>
                  <a:pt x="463545" y="477027"/>
                </a:lnTo>
                <a:lnTo>
                  <a:pt x="489297" y="446178"/>
                </a:lnTo>
                <a:lnTo>
                  <a:pt x="515050" y="415677"/>
                </a:lnTo>
                <a:lnTo>
                  <a:pt x="540802" y="385524"/>
                </a:lnTo>
                <a:lnTo>
                  <a:pt x="566555" y="355719"/>
                </a:lnTo>
                <a:lnTo>
                  <a:pt x="592307" y="326263"/>
                </a:lnTo>
                <a:lnTo>
                  <a:pt x="618060" y="297155"/>
                </a:lnTo>
                <a:lnTo>
                  <a:pt x="643812" y="268395"/>
                </a:lnTo>
                <a:lnTo>
                  <a:pt x="669565" y="239984"/>
                </a:lnTo>
                <a:lnTo>
                  <a:pt x="695317" y="211922"/>
                </a:lnTo>
                <a:lnTo>
                  <a:pt x="721070" y="184209"/>
                </a:lnTo>
                <a:lnTo>
                  <a:pt x="746822" y="156845"/>
                </a:lnTo>
                <a:lnTo>
                  <a:pt x="772575" y="129830"/>
                </a:lnTo>
                <a:lnTo>
                  <a:pt x="798327" y="103165"/>
                </a:lnTo>
                <a:lnTo>
                  <a:pt x="824080" y="76849"/>
                </a:lnTo>
                <a:lnTo>
                  <a:pt x="849832" y="50883"/>
                </a:lnTo>
                <a:lnTo>
                  <a:pt x="875585" y="25266"/>
                </a:lnTo>
                <a:lnTo>
                  <a:pt x="901337" y="0"/>
                </a:lnTo>
              </a:path>
            </a:pathLst>
          </a:custGeom>
          <a:ln w="38100">
            <a:solidFill>
              <a:srgbClr val="3E6AE1"/>
            </a:solidFill>
            <a:prstDash val="solid"/>
          </a:ln>
        </p:spPr>
      </p:sp>
      <p:sp>
        <p:nvSpPr>
          <p:cNvPr id="58" name="!!ivVT"/>
          <p:cNvSpPr/>
          <p:nvPr/>
        </p:nvSpPr>
        <p:spPr>
          <a:xfrm>
            <a:off x="10019211" y="1600200"/>
            <a:ext cx="91" cy="2331720"/>
          </a:xfrm>
          <a:prstGeom prst="line">
            <a:avLst/>
          </a:prstGeom>
          <a:noFill/>
          <a:ln w="9525">
            <a:solidFill>
              <a:srgbClr val="D64545"/>
            </a:solidFill>
            <a:prstDash val="dash"/>
          </a:ln>
        </p:spPr>
      </p:sp>
      <p:sp>
        <p:nvSpPr>
          <p:cNvPr id="59" name="!!ivVTl"/>
          <p:cNvSpPr txBox="1"/>
          <p:nvPr/>
        </p:nvSpPr>
        <p:spPr>
          <a:xfrm>
            <a:off x="10055787" y="3694176"/>
            <a:ext cx="914400" cy="182880"/>
          </a:xfrm>
          <a:prstGeom prst="rect">
            <a:avLst/>
          </a:prstGeom>
          <a:noFill/>
          <a:ln/>
        </p:spPr>
        <p:txBody>
          <a:bodyPr wrap="square" lIns="0" tIns="0" rIns="0" bIns="0" rtlCol="0" anchor="t"/>
          <a:lstStyle/>
          <a:p>
            <a:pPr algn="l" indent="0" marL="0">
              <a:buNone/>
            </a:pPr>
            <a:r>
              <a:rPr lang="en-US" sz="900" dirty="0">
                <a:solidFill>
                  <a:srgbClr val="D64545"/>
                </a:solidFill>
                <a:latin typeface="Segoe UI" pitchFamily="34" charset="0"/>
                <a:ea typeface="Segoe UI" pitchFamily="34" charset="-122"/>
                <a:cs typeface="Segoe UI" pitchFamily="34" charset="-120"/>
              </a:rPr>
              <a:t>pinch-off</a:t>
            </a:r>
            <a:endParaRPr lang="en-US" sz="900" dirty="0"/>
          </a:p>
        </p:txBody>
      </p:sp>
      <p:sp>
        <p:nvSpPr>
          <p:cNvPr id="60" name="!!ivPt"/>
          <p:cNvSpPr/>
          <p:nvPr/>
        </p:nvSpPr>
        <p:spPr>
          <a:xfrm>
            <a:off x="8134241" y="2757986"/>
            <a:ext cx="164592" cy="164592"/>
          </a:xfrm>
          <a:prstGeom prst="ellipse">
            <a:avLst/>
          </a:prstGeom>
          <a:solidFill>
            <a:srgbClr val="3E6AE1"/>
          </a:solidFill>
          <a:ln w="19050">
            <a:solidFill>
              <a:srgbClr val="FFFFFF"/>
            </a:solidFill>
            <a:prstDash val="solid"/>
          </a:ln>
        </p:spPr>
      </p:sp>
      <p:sp>
        <p:nvSpPr>
          <p:cNvPr id="61" name="!!ivPtL"/>
          <p:cNvSpPr txBox="1"/>
          <p:nvPr/>
        </p:nvSpPr>
        <p:spPr>
          <a:xfrm>
            <a:off x="7347857" y="2511098"/>
            <a:ext cx="822960" cy="219456"/>
          </a:xfrm>
          <a:prstGeom prst="rect">
            <a:avLst/>
          </a:prstGeom>
          <a:noFill/>
          <a:ln/>
        </p:spPr>
        <p:txBody>
          <a:bodyPr wrap="square" lIns="0" tIns="0" rIns="0" bIns="0" rtlCol="0" anchor="t"/>
          <a:lstStyle/>
          <a:p>
            <a:pPr algn="r" indent="0" marL="0">
              <a:buNone/>
            </a:pPr>
            <a:r>
              <a:rPr lang="en-US" sz="1100" dirty="0">
                <a:solidFill>
                  <a:srgbClr val="3E6AE1"/>
                </a:solidFill>
                <a:latin typeface="Segoe UI Semibold" pitchFamily="34" charset="0"/>
                <a:ea typeface="Segoe UI Semibold" pitchFamily="34" charset="-122"/>
                <a:cs typeface="Segoe UI Semibold" pitchFamily="34" charset="-120"/>
              </a:rPr>
              <a:t>16.4 µA</a:t>
            </a:r>
            <a:endParaRPr lang="en-US" sz="1100" dirty="0"/>
          </a:p>
        </p:txBody>
      </p:sp>
      <p:sp>
        <p:nvSpPr>
          <p:cNvPr id="62" name="!!ivRead"/>
          <p:cNvSpPr txBox="1"/>
          <p:nvPr/>
        </p:nvSpPr>
        <p:spPr>
          <a:xfrm>
            <a:off x="6858000" y="4526280"/>
            <a:ext cx="4754880" cy="256032"/>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0.15 V     I</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16.4 µA</a:t>
            </a:r>
            <a:endParaRPr lang="en-US" sz="1400" dirty="0"/>
          </a:p>
        </p:txBody>
      </p:sp>
      <p:sp>
        <p:nvSpPr>
          <p:cNvPr id="63" name="!!ivReg"/>
          <p:cNvSpPr txBox="1"/>
          <p:nvPr/>
        </p:nvSpPr>
        <p:spPr>
          <a:xfrm>
            <a:off x="6858000" y="4773168"/>
            <a:ext cx="4754880" cy="219456"/>
          </a:xfrm>
          <a:prstGeom prst="rect">
            <a:avLst/>
          </a:prstGeom>
          <a:noFill/>
          <a:ln/>
        </p:spPr>
        <p:txBody>
          <a:bodyPr wrap="square" lIns="0" tIns="0" rIns="0" bIns="0" rtlCol="0" anchor="t"/>
          <a:lstStyle/>
          <a:p>
            <a:pPr algn="l" indent="0" marL="0">
              <a:buNone/>
            </a:pPr>
            <a:r>
              <a:rPr lang="en-US" sz="1100" dirty="0">
                <a:solidFill>
                  <a:srgbClr val="3E6AE1"/>
                </a:solidFill>
                <a:latin typeface="Segoe UI Semibold" pitchFamily="34" charset="0"/>
                <a:ea typeface="Segoe UI Semibold" pitchFamily="34" charset="-122"/>
                <a:cs typeface="Segoe UI Semibold" pitchFamily="34" charset="-120"/>
              </a:rPr>
              <a:t>LINEAR: I</a:t>
            </a:r>
            <a:pPr algn="l" indent="0" marL="0">
              <a:buNone/>
            </a:pPr>
            <a:r>
              <a:rPr lang="en-US" sz="1100" baseline="-40000" dirty="0">
                <a:solidFill>
                  <a:srgbClr val="3E6AE1"/>
                </a:solidFill>
                <a:latin typeface="Segoe UI Semibold" pitchFamily="34" charset="0"/>
                <a:ea typeface="Segoe UI Semibold" pitchFamily="34" charset="-122"/>
                <a:cs typeface="Segoe UI Semibold" pitchFamily="34" charset="-120"/>
              </a:rPr>
              <a:t>D</a:t>
            </a:r>
            <a:pPr algn="l" indent="0" marL="0">
              <a:buNone/>
            </a:pPr>
            <a:r>
              <a:rPr lang="en-US" sz="1100" dirty="0">
                <a:solidFill>
                  <a:srgbClr val="3E6AE1"/>
                </a:solidFill>
                <a:latin typeface="Segoe UI Semibold" pitchFamily="34" charset="0"/>
                <a:ea typeface="Segoe UI Semibold" pitchFamily="34" charset="-122"/>
                <a:cs typeface="Segoe UI Semibold" pitchFamily="34" charset="-120"/>
              </a:rPr>
              <a:t> rises almost in a straight line</a:t>
            </a:r>
            <a:endParaRPr lang="en-US" sz="1100" dirty="0"/>
          </a:p>
        </p:txBody>
      </p:sp>
      <p:sp>
        <p:nvSpPr>
          <p:cNvPr id="64" name="!!knobLbl"/>
          <p:cNvSpPr txBox="1"/>
          <p:nvPr/>
        </p:nvSpPr>
        <p:spPr>
          <a:xfrm>
            <a:off x="7022592" y="5001768"/>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drain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D</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11998E"/>
                </a:solidFill>
                <a:latin typeface="Segoe UI Semibold" pitchFamily="34" charset="0"/>
                <a:ea typeface="Segoe UI Semibold" pitchFamily="34" charset="-122"/>
                <a:cs typeface="Segoe UI Semibold" pitchFamily="34" charset="-120"/>
              </a:rPr>
              <a:t>0.1 V</a:t>
            </a:r>
            <a:endParaRPr lang="en-US" sz="1200" dirty="0"/>
          </a:p>
        </p:txBody>
      </p:sp>
      <p:sp>
        <p:nvSpPr>
          <p:cNvPr id="65" name="!!knobTrack"/>
          <p:cNvSpPr/>
          <p:nvPr/>
        </p:nvSpPr>
        <p:spPr>
          <a:xfrm>
            <a:off x="7040880" y="5385816"/>
            <a:ext cx="4480560" cy="54864"/>
          </a:xfrm>
          <a:prstGeom prst="roundRect">
            <a:avLst>
              <a:gd name="adj" fmla="val 50000"/>
            </a:avLst>
          </a:prstGeom>
          <a:solidFill>
            <a:srgbClr val="E2E3E3"/>
          </a:solidFill>
          <a:ln/>
        </p:spPr>
      </p:sp>
      <p:sp>
        <p:nvSpPr>
          <p:cNvPr id="66" name="!!knobFill"/>
          <p:cNvSpPr/>
          <p:nvPr/>
        </p:nvSpPr>
        <p:spPr>
          <a:xfrm>
            <a:off x="7040880" y="5385816"/>
            <a:ext cx="960120" cy="54864"/>
          </a:xfrm>
          <a:prstGeom prst="roundRect">
            <a:avLst>
              <a:gd name="adj" fmla="val 50000"/>
            </a:avLst>
          </a:prstGeom>
          <a:solidFill>
            <a:srgbClr val="11998E"/>
          </a:solidFill>
          <a:ln/>
        </p:spPr>
      </p:sp>
      <p:sp>
        <p:nvSpPr>
          <p:cNvPr id="67" name="!!knobT0"/>
          <p:cNvSpPr txBox="1"/>
          <p:nvPr/>
        </p:nvSpPr>
        <p:spPr>
          <a:xfrm>
            <a:off x="667512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68" name="!!knobT1"/>
          <p:cNvSpPr txBox="1"/>
          <p:nvPr/>
        </p:nvSpPr>
        <p:spPr>
          <a:xfrm>
            <a:off x="79552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69" name="!!knobT2"/>
          <p:cNvSpPr txBox="1"/>
          <p:nvPr/>
        </p:nvSpPr>
        <p:spPr>
          <a:xfrm>
            <a:off x="923544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70" name="!!knobT3"/>
          <p:cNvSpPr txBox="1"/>
          <p:nvPr/>
        </p:nvSpPr>
        <p:spPr>
          <a:xfrm>
            <a:off x="1051560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71" name="!!knobT4"/>
          <p:cNvSpPr txBox="1"/>
          <p:nvPr/>
        </p:nvSpPr>
        <p:spPr>
          <a:xfrm>
            <a:off x="111556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72" name="!!knobThumb"/>
          <p:cNvSpPr/>
          <p:nvPr/>
        </p:nvSpPr>
        <p:spPr>
          <a:xfrm>
            <a:off x="7900416" y="5312664"/>
            <a:ext cx="201168" cy="201168"/>
          </a:xfrm>
          <a:prstGeom prst="ellipse">
            <a:avLst/>
          </a:prstGeom>
          <a:solidFill>
            <a:srgbClr val="FFFFFF"/>
          </a:solidFill>
          <a:ln w="28575">
            <a:solidFill>
              <a:srgbClr val="11998E"/>
            </a:solidFill>
            <a:prstDash val="solid"/>
          </a:ln>
        </p:spPr>
      </p:sp>
      <p:sp>
        <p:nvSpPr>
          <p:cNvPr id="7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More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D</a:t>
            </a:r>
            <a:pPr algn="ctr" indent="0" marL="0">
              <a:buNone/>
            </a:pPr>
            <a:r>
              <a:rPr lang="en-US" sz="1600" dirty="0">
                <a:solidFill>
                  <a:srgbClr val="171A20"/>
                </a:solidFill>
                <a:latin typeface="Segoe UI" pitchFamily="34" charset="0"/>
                <a:ea typeface="Segoe UI" pitchFamily="34" charset="-122"/>
                <a:cs typeface="Segoe UI" pitchFamily="34" charset="-120"/>
              </a:rPr>
              <a:t>: more current; the channel starts to thin near the drain.</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31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Turning the drain</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Gate fixed at 0.7 V; now the second knob,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goes up step by step</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mBody"/>
          <p:cNvSpPr/>
          <p:nvPr/>
        </p:nvSpPr>
        <p:spPr>
          <a:xfrm>
            <a:off x="640080" y="2240280"/>
            <a:ext cx="5120640" cy="1417320"/>
          </a:xfrm>
          <a:prstGeom prst="rect">
            <a:avLst/>
          </a:prstGeom>
          <a:solidFill>
            <a:srgbClr val="F6E7B8"/>
          </a:solidFill>
          <a:ln/>
        </p:spPr>
      </p:sp>
      <p:sp>
        <p:nvSpPr>
          <p:cNvPr id="10"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1" name="!!mDepl"/>
          <p:cNvSpPr/>
          <p:nvPr/>
        </p:nvSpPr>
        <p:spPr>
          <a:xfrm>
            <a:off x="1920240" y="2240280"/>
            <a:ext cx="2560320" cy="493776"/>
          </a:xfrm>
          <a:prstGeom prst="rect">
            <a:avLst/>
          </a:prstGeom>
          <a:solidFill>
            <a:srgbClr val="F7D4D9"/>
          </a:solidFill>
          <a:ln/>
        </p:spPr>
      </p:sp>
      <p:sp>
        <p:nvSpPr>
          <p:cNvPr id="12" name="!!mSrc"/>
          <p:cNvSpPr/>
          <p:nvPr/>
        </p:nvSpPr>
        <p:spPr>
          <a:xfrm>
            <a:off x="640080" y="2240280"/>
            <a:ext cx="1325880" cy="548640"/>
          </a:xfrm>
          <a:prstGeom prst="roundRect">
            <a:avLst>
              <a:gd name="adj" fmla="val 8333"/>
            </a:avLst>
          </a:prstGeom>
          <a:solidFill>
            <a:srgbClr val="7D9BE6"/>
          </a:solidFill>
          <a:ln/>
        </p:spPr>
      </p:sp>
      <p:sp>
        <p:nvSpPr>
          <p:cNvPr id="13" name="!!mDrn"/>
          <p:cNvSpPr/>
          <p:nvPr/>
        </p:nvSpPr>
        <p:spPr>
          <a:xfrm>
            <a:off x="4434840" y="2240280"/>
            <a:ext cx="1325880" cy="548640"/>
          </a:xfrm>
          <a:prstGeom prst="roundRect">
            <a:avLst>
              <a:gd name="adj" fmla="val 8333"/>
            </a:avLst>
          </a:prstGeom>
          <a:solidFill>
            <a:srgbClr val="7D9BE6"/>
          </a:solidFill>
          <a:ln/>
        </p:spPr>
      </p:sp>
      <p:sp>
        <p:nvSpPr>
          <p:cNvPr id="14" name="!!mSrcL"/>
          <p:cNvSpPr txBox="1"/>
          <p:nvPr/>
        </p:nvSpPr>
        <p:spPr>
          <a:xfrm>
            <a:off x="64008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5" name="!!mDrnL"/>
          <p:cNvSpPr txBox="1"/>
          <p:nvPr/>
        </p:nvSpPr>
        <p:spPr>
          <a:xfrm>
            <a:off x="448056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6" name="!!mChan"/>
          <p:cNvSpPr/>
          <p:nvPr/>
        </p:nvSpPr>
        <p:spPr>
          <a:xfrm>
            <a:off x="1920240" y="2240280"/>
            <a:ext cx="2560320" cy="182880"/>
          </a:xfrm>
          <a:custGeom>
            <a:avLst/>
            <a:gdLst/>
            <a:ahLst/>
            <a:cxnLst/>
            <a:rect l="l" t="t" r="r" b="b"/>
            <a:pathLst>
              <a:path w="2560320" h="182880">
                <a:moveTo>
                  <a:pt x="0" y="0"/>
                </a:moveTo>
                <a:lnTo>
                  <a:pt x="2560320" y="0"/>
                </a:lnTo>
                <a:lnTo>
                  <a:pt x="2560320" y="105586"/>
                </a:lnTo>
                <a:lnTo>
                  <a:pt x="0" y="182880"/>
                </a:lnTo>
                <a:close/>
              </a:path>
            </a:pathLst>
          </a:custGeom>
          <a:solidFill>
            <a:srgbClr val="1F2F6B"/>
          </a:solidFill>
          <a:ln/>
        </p:spPr>
      </p:sp>
      <p:sp>
        <p:nvSpPr>
          <p:cNvPr id="17" name="!!mOx"/>
          <p:cNvSpPr/>
          <p:nvPr/>
        </p:nvSpPr>
        <p:spPr>
          <a:xfrm>
            <a:off x="1920240" y="2167128"/>
            <a:ext cx="2560320" cy="73152"/>
          </a:xfrm>
          <a:prstGeom prst="rect">
            <a:avLst/>
          </a:prstGeom>
          <a:solidFill>
            <a:srgbClr val="CDEBF5"/>
          </a:solidFill>
          <a:ln/>
        </p:spPr>
      </p:sp>
      <p:sp>
        <p:nvSpPr>
          <p:cNvPr id="18" name="!!mGate"/>
          <p:cNvSpPr/>
          <p:nvPr/>
        </p:nvSpPr>
        <p:spPr>
          <a:xfrm>
            <a:off x="1920240" y="1783080"/>
            <a:ext cx="2560320" cy="384048"/>
          </a:xfrm>
          <a:prstGeom prst="roundRect">
            <a:avLst>
              <a:gd name="adj" fmla="val 9524"/>
            </a:avLst>
          </a:prstGeom>
          <a:solidFill>
            <a:srgbClr val="B3A6E6"/>
          </a:solidFill>
          <a:ln/>
        </p:spPr>
      </p:sp>
      <p:sp>
        <p:nvSpPr>
          <p:cNvPr id="19" name="!!mGateL"/>
          <p:cNvSpPr txBox="1"/>
          <p:nvPr/>
        </p:nvSpPr>
        <p:spPr>
          <a:xfrm>
            <a:off x="1920240" y="1837944"/>
            <a:ext cx="2560320"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20" name="!!mVS"/>
          <p:cNvSpPr txBox="1"/>
          <p:nvPr/>
        </p:nvSpPr>
        <p:spPr>
          <a:xfrm>
            <a:off x="640080" y="1856232"/>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S</a:t>
            </a:r>
            <a:pPr algn="l" indent="0" marL="0">
              <a:buNone/>
            </a:pPr>
            <a:r>
              <a:rPr lang="en-US" sz="1100" dirty="0">
                <a:solidFill>
                  <a:srgbClr val="5C5E62"/>
                </a:solidFill>
                <a:latin typeface="Segoe UI" pitchFamily="34" charset="0"/>
                <a:ea typeface="Segoe UI" pitchFamily="34" charset="-122"/>
                <a:cs typeface="Segoe UI" pitchFamily="34" charset="-120"/>
              </a:rPr>
              <a:t> = 0</a:t>
            </a:r>
            <a:endParaRPr lang="en-US" sz="1100" dirty="0"/>
          </a:p>
        </p:txBody>
      </p:sp>
      <p:sp>
        <p:nvSpPr>
          <p:cNvPr id="21" name="!!mVG"/>
          <p:cNvSpPr txBox="1"/>
          <p:nvPr/>
        </p:nvSpPr>
        <p:spPr>
          <a:xfrm>
            <a:off x="2286000" y="1490472"/>
            <a:ext cx="1828800" cy="237744"/>
          </a:xfrm>
          <a:prstGeom prst="rect">
            <a:avLst/>
          </a:prstGeom>
          <a:noFill/>
          <a:ln/>
        </p:spPr>
        <p:txBody>
          <a:bodyPr wrap="square" lIns="0" tIns="0" rIns="0" bIns="0" rtlCol="0" anchor="t"/>
          <a:lstStyle/>
          <a:p>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ctr"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 = 0.70 V</a:t>
            </a:r>
            <a:endParaRPr lang="en-US" sz="1200" dirty="0"/>
          </a:p>
        </p:txBody>
      </p:sp>
      <p:sp>
        <p:nvSpPr>
          <p:cNvPr id="22" name="!!mVD"/>
          <p:cNvSpPr txBox="1"/>
          <p:nvPr/>
        </p:nvSpPr>
        <p:spPr>
          <a:xfrm>
            <a:off x="4480560" y="1856232"/>
            <a:ext cx="1280160" cy="228600"/>
          </a:xfrm>
          <a:prstGeom prst="rect">
            <a:avLst/>
          </a:prstGeom>
          <a:noFill/>
          <a:ln/>
        </p:spPr>
        <p:txBody>
          <a:bodyPr wrap="square" lIns="0" tIns="0" rIns="0" bIns="0" rtlCol="0" anchor="t"/>
          <a:lstStyle/>
          <a:p>
            <a:pPr algn="r" indent="0" marL="0">
              <a:buNone/>
            </a:pPr>
            <a:r>
              <a:rPr lang="en-US" sz="1100" dirty="0">
                <a:solidFill>
                  <a:srgbClr val="5C5E62"/>
                </a:solidFill>
                <a:latin typeface="Segoe UI" pitchFamily="34" charset="0"/>
                <a:ea typeface="Segoe UI" pitchFamily="34" charset="-122"/>
                <a:cs typeface="Segoe UI" pitchFamily="34" charset="-120"/>
              </a:rPr>
              <a:t>V</a:t>
            </a:r>
            <a:pPr algn="r" indent="0" marL="0">
              <a:buNone/>
            </a:pPr>
            <a:r>
              <a:rPr lang="en-US" sz="1100" baseline="-40000" dirty="0">
                <a:solidFill>
                  <a:srgbClr val="5C5E62"/>
                </a:solidFill>
                <a:latin typeface="Segoe UI" pitchFamily="34" charset="0"/>
                <a:ea typeface="Segoe UI" pitchFamily="34" charset="-122"/>
                <a:cs typeface="Segoe UI" pitchFamily="34" charset="-120"/>
              </a:rPr>
              <a:t>D</a:t>
            </a:r>
            <a:pPr algn="r" indent="0" marL="0">
              <a:buNone/>
            </a:pPr>
            <a:r>
              <a:rPr lang="en-US" sz="1100" dirty="0">
                <a:solidFill>
                  <a:srgbClr val="5C5E62"/>
                </a:solidFill>
                <a:latin typeface="Segoe UI" pitchFamily="34" charset="0"/>
                <a:ea typeface="Segoe UI" pitchFamily="34" charset="-122"/>
                <a:cs typeface="Segoe UI" pitchFamily="34" charset="-120"/>
              </a:rPr>
              <a:t> = 0.30 V</a:t>
            </a:r>
            <a:endParaRPr lang="en-US" sz="1100" dirty="0"/>
          </a:p>
        </p:txBody>
      </p:sp>
      <p:sp>
        <p:nvSpPr>
          <p:cNvPr id="23" name="!!lg1"/>
          <p:cNvSpPr/>
          <p:nvPr/>
        </p:nvSpPr>
        <p:spPr>
          <a:xfrm>
            <a:off x="658368" y="3767328"/>
            <a:ext cx="164592" cy="109728"/>
          </a:xfrm>
          <a:prstGeom prst="rect">
            <a:avLst/>
          </a:prstGeom>
          <a:solidFill>
            <a:srgbClr val="1F2F6B"/>
          </a:solidFill>
          <a:ln/>
        </p:spPr>
      </p:sp>
      <p:sp>
        <p:nvSpPr>
          <p:cNvPr id="24" name="!!lg1t"/>
          <p:cNvSpPr txBox="1"/>
          <p:nvPr/>
        </p:nvSpPr>
        <p:spPr>
          <a:xfrm>
            <a:off x="868680" y="3721608"/>
            <a:ext cx="146304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electron channel</a:t>
            </a:r>
            <a:endParaRPr lang="en-US" sz="900" dirty="0"/>
          </a:p>
        </p:txBody>
      </p:sp>
      <p:sp>
        <p:nvSpPr>
          <p:cNvPr id="25" name="!!lg2"/>
          <p:cNvSpPr/>
          <p:nvPr/>
        </p:nvSpPr>
        <p:spPr>
          <a:xfrm>
            <a:off x="2240280" y="3767328"/>
            <a:ext cx="164592" cy="109728"/>
          </a:xfrm>
          <a:prstGeom prst="rect">
            <a:avLst/>
          </a:prstGeom>
          <a:solidFill>
            <a:srgbClr val="F7D4D9"/>
          </a:solidFill>
          <a:ln/>
        </p:spPr>
      </p:sp>
      <p:sp>
        <p:nvSpPr>
          <p:cNvPr id="26" name="!!lg2t"/>
          <p:cNvSpPr txBox="1"/>
          <p:nvPr/>
        </p:nvSpPr>
        <p:spPr>
          <a:xfrm>
            <a:off x="2450592" y="3721608"/>
            <a:ext cx="201168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depletion (no free carriers)</a:t>
            </a:r>
            <a:endParaRPr lang="en-US" sz="900" dirty="0"/>
          </a:p>
        </p:txBody>
      </p:sp>
      <p:sp>
        <p:nvSpPr>
          <p:cNvPr id="27" name="!!bCurve"/>
          <p:cNvSpPr/>
          <p:nvPr/>
        </p:nvSpPr>
        <p:spPr>
          <a:xfrm>
            <a:off x="640080" y="4723889"/>
            <a:ext cx="5120640" cy="264162"/>
          </a:xfrm>
          <a:custGeom>
            <a:avLst/>
            <a:gdLst/>
            <a:ahLst/>
            <a:cxnLst/>
            <a:rect l="l" t="t" r="r" b="b"/>
            <a:pathLst>
              <a:path w="5120640" h="264162">
                <a:moveTo>
                  <a:pt x="0" y="30990"/>
                </a:moveTo>
                <a:lnTo>
                  <a:pt x="113792" y="30988"/>
                </a:lnTo>
                <a:lnTo>
                  <a:pt x="227584" y="30983"/>
                </a:lnTo>
                <a:lnTo>
                  <a:pt x="341376" y="30971"/>
                </a:lnTo>
                <a:lnTo>
                  <a:pt x="455168" y="30939"/>
                </a:lnTo>
                <a:lnTo>
                  <a:pt x="568960" y="30854"/>
                </a:lnTo>
                <a:lnTo>
                  <a:pt x="682752" y="30636"/>
                </a:lnTo>
                <a:lnTo>
                  <a:pt x="796544" y="30076"/>
                </a:lnTo>
                <a:lnTo>
                  <a:pt x="910336" y="28671"/>
                </a:lnTo>
                <a:lnTo>
                  <a:pt x="1024128" y="25334"/>
                </a:lnTo>
                <a:lnTo>
                  <a:pt x="1137920" y="18364"/>
                </a:lnTo>
                <a:lnTo>
                  <a:pt x="1251712" y="7027"/>
                </a:lnTo>
                <a:lnTo>
                  <a:pt x="1365504" y="0"/>
                </a:lnTo>
                <a:lnTo>
                  <a:pt x="1479296" y="1456"/>
                </a:lnTo>
                <a:lnTo>
                  <a:pt x="1593088" y="7832"/>
                </a:lnTo>
                <a:lnTo>
                  <a:pt x="1706880" y="16546"/>
                </a:lnTo>
                <a:lnTo>
                  <a:pt x="1820672" y="26247"/>
                </a:lnTo>
                <a:lnTo>
                  <a:pt x="1934464" y="36347"/>
                </a:lnTo>
                <a:lnTo>
                  <a:pt x="2048256" y="46605"/>
                </a:lnTo>
                <a:lnTo>
                  <a:pt x="2162048" y="56927"/>
                </a:lnTo>
                <a:lnTo>
                  <a:pt x="2275840" y="67273"/>
                </a:lnTo>
                <a:lnTo>
                  <a:pt x="2389632" y="77630"/>
                </a:lnTo>
                <a:lnTo>
                  <a:pt x="2503424" y="87991"/>
                </a:lnTo>
                <a:lnTo>
                  <a:pt x="2617216" y="98354"/>
                </a:lnTo>
                <a:lnTo>
                  <a:pt x="2731008" y="108720"/>
                </a:lnTo>
                <a:lnTo>
                  <a:pt x="2844800" y="119091"/>
                </a:lnTo>
                <a:lnTo>
                  <a:pt x="2958592" y="129474"/>
                </a:lnTo>
                <a:lnTo>
                  <a:pt x="3072384" y="139890"/>
                </a:lnTo>
                <a:lnTo>
                  <a:pt x="3186176" y="150388"/>
                </a:lnTo>
                <a:lnTo>
                  <a:pt x="3299968" y="161102"/>
                </a:lnTo>
                <a:lnTo>
                  <a:pt x="3413760" y="172356"/>
                </a:lnTo>
                <a:lnTo>
                  <a:pt x="3527552" y="184907"/>
                </a:lnTo>
                <a:lnTo>
                  <a:pt x="3641344" y="200202"/>
                </a:lnTo>
                <a:lnTo>
                  <a:pt x="3755136" y="219821"/>
                </a:lnTo>
                <a:lnTo>
                  <a:pt x="3868928" y="240199"/>
                </a:lnTo>
                <a:lnTo>
                  <a:pt x="3982720" y="251536"/>
                </a:lnTo>
                <a:lnTo>
                  <a:pt x="4096512" y="258506"/>
                </a:lnTo>
                <a:lnTo>
                  <a:pt x="4210304" y="261843"/>
                </a:lnTo>
                <a:lnTo>
                  <a:pt x="4324096" y="263248"/>
                </a:lnTo>
                <a:lnTo>
                  <a:pt x="4437888" y="263808"/>
                </a:lnTo>
                <a:lnTo>
                  <a:pt x="4551680" y="264026"/>
                </a:lnTo>
                <a:lnTo>
                  <a:pt x="4665472" y="264111"/>
                </a:lnTo>
                <a:lnTo>
                  <a:pt x="4779264" y="264143"/>
                </a:lnTo>
                <a:lnTo>
                  <a:pt x="4893056" y="264155"/>
                </a:lnTo>
                <a:lnTo>
                  <a:pt x="5006848" y="264160"/>
                </a:lnTo>
                <a:lnTo>
                  <a:pt x="5120640" y="264162"/>
                </a:lnTo>
              </a:path>
            </a:pathLst>
          </a:custGeom>
          <a:ln w="28575">
            <a:solidFill>
              <a:srgbClr val="171A20"/>
            </a:solidFill>
            <a:prstDash val="solid"/>
          </a:ln>
        </p:spPr>
      </p:sp>
      <p:sp>
        <p:nvSpPr>
          <p:cNvPr id="28" name="!!bLbl"/>
          <p:cNvSpPr txBox="1"/>
          <p:nvPr/>
        </p:nvSpPr>
        <p:spPr>
          <a:xfrm>
            <a:off x="640080" y="3977640"/>
            <a:ext cx="182880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electron energy ↑</a:t>
            </a:r>
            <a:endParaRPr lang="en-US" sz="1000" dirty="0"/>
          </a:p>
        </p:txBody>
      </p:sp>
      <p:sp>
        <p:nvSpPr>
          <p:cNvPr id="29" name="!!bes0"/>
          <p:cNvSpPr/>
          <p:nvPr/>
        </p:nvSpPr>
        <p:spPr>
          <a:xfrm>
            <a:off x="717804" y="4613148"/>
            <a:ext cx="118872" cy="118872"/>
          </a:xfrm>
          <a:prstGeom prst="ellipse">
            <a:avLst/>
          </a:prstGeom>
          <a:solidFill>
            <a:srgbClr val="1F2F6B"/>
          </a:solidFill>
          <a:ln/>
        </p:spPr>
      </p:sp>
      <p:sp>
        <p:nvSpPr>
          <p:cNvPr id="30" name="!!bes1"/>
          <p:cNvSpPr/>
          <p:nvPr/>
        </p:nvSpPr>
        <p:spPr>
          <a:xfrm>
            <a:off x="918972" y="4613148"/>
            <a:ext cx="118872" cy="118872"/>
          </a:xfrm>
          <a:prstGeom prst="ellipse">
            <a:avLst/>
          </a:prstGeom>
          <a:solidFill>
            <a:srgbClr val="1F2F6B"/>
          </a:solidFill>
          <a:ln/>
        </p:spPr>
      </p:sp>
      <p:sp>
        <p:nvSpPr>
          <p:cNvPr id="31" name="!!bes2"/>
          <p:cNvSpPr/>
          <p:nvPr/>
        </p:nvSpPr>
        <p:spPr>
          <a:xfrm>
            <a:off x="1120140" y="4613148"/>
            <a:ext cx="118872" cy="118872"/>
          </a:xfrm>
          <a:prstGeom prst="ellipse">
            <a:avLst/>
          </a:prstGeom>
          <a:solidFill>
            <a:srgbClr val="1F2F6B"/>
          </a:solidFill>
          <a:ln/>
        </p:spPr>
      </p:sp>
      <p:sp>
        <p:nvSpPr>
          <p:cNvPr id="32" name="!!bes3"/>
          <p:cNvSpPr/>
          <p:nvPr/>
        </p:nvSpPr>
        <p:spPr>
          <a:xfrm>
            <a:off x="1321308" y="4613148"/>
            <a:ext cx="118872" cy="118872"/>
          </a:xfrm>
          <a:prstGeom prst="ellipse">
            <a:avLst/>
          </a:prstGeom>
          <a:solidFill>
            <a:srgbClr val="1F2F6B"/>
          </a:solidFill>
          <a:ln/>
        </p:spPr>
      </p:sp>
      <p:sp>
        <p:nvSpPr>
          <p:cNvPr id="33" name="!!bes4"/>
          <p:cNvSpPr/>
          <p:nvPr/>
        </p:nvSpPr>
        <p:spPr>
          <a:xfrm>
            <a:off x="1522476" y="4613148"/>
            <a:ext cx="118872" cy="118872"/>
          </a:xfrm>
          <a:prstGeom prst="ellipse">
            <a:avLst/>
          </a:prstGeom>
          <a:solidFill>
            <a:srgbClr val="1F2F6B"/>
          </a:solidFill>
          <a:ln/>
        </p:spPr>
      </p:sp>
      <p:sp>
        <p:nvSpPr>
          <p:cNvPr id="34" name="!!bec0"/>
          <p:cNvSpPr/>
          <p:nvPr/>
        </p:nvSpPr>
        <p:spPr>
          <a:xfrm>
            <a:off x="2089404" y="4584919"/>
            <a:ext cx="118872" cy="118872"/>
          </a:xfrm>
          <a:prstGeom prst="ellipse">
            <a:avLst/>
          </a:prstGeom>
          <a:solidFill>
            <a:srgbClr val="1F2F6B"/>
          </a:solidFill>
          <a:ln/>
        </p:spPr>
      </p:sp>
      <p:sp>
        <p:nvSpPr>
          <p:cNvPr id="35" name="!!bec1"/>
          <p:cNvSpPr/>
          <p:nvPr/>
        </p:nvSpPr>
        <p:spPr>
          <a:xfrm>
            <a:off x="2528316" y="4619689"/>
            <a:ext cx="118872" cy="118872"/>
          </a:xfrm>
          <a:prstGeom prst="ellipse">
            <a:avLst/>
          </a:prstGeom>
          <a:solidFill>
            <a:srgbClr val="1F2F6B"/>
          </a:solidFill>
          <a:ln/>
        </p:spPr>
      </p:sp>
      <p:sp>
        <p:nvSpPr>
          <p:cNvPr id="36" name="!!bec2"/>
          <p:cNvSpPr/>
          <p:nvPr/>
        </p:nvSpPr>
        <p:spPr>
          <a:xfrm>
            <a:off x="2967228" y="4659509"/>
            <a:ext cx="118872" cy="118872"/>
          </a:xfrm>
          <a:prstGeom prst="ellipse">
            <a:avLst/>
          </a:prstGeom>
          <a:solidFill>
            <a:srgbClr val="1F2F6B"/>
          </a:solidFill>
          <a:ln/>
        </p:spPr>
      </p:sp>
      <p:sp>
        <p:nvSpPr>
          <p:cNvPr id="37" name="!!bec3"/>
          <p:cNvSpPr/>
          <p:nvPr/>
        </p:nvSpPr>
        <p:spPr>
          <a:xfrm>
            <a:off x="3406140" y="4699488"/>
            <a:ext cx="118872" cy="118872"/>
          </a:xfrm>
          <a:prstGeom prst="ellipse">
            <a:avLst/>
          </a:prstGeom>
          <a:solidFill>
            <a:srgbClr val="1F2F6B"/>
          </a:solidFill>
          <a:ln/>
        </p:spPr>
      </p:sp>
      <p:sp>
        <p:nvSpPr>
          <p:cNvPr id="38" name="!!bec4"/>
          <p:cNvSpPr/>
          <p:nvPr/>
        </p:nvSpPr>
        <p:spPr>
          <a:xfrm>
            <a:off x="3845052" y="4739874"/>
            <a:ext cx="118872" cy="118872"/>
          </a:xfrm>
          <a:prstGeom prst="ellipse">
            <a:avLst/>
          </a:prstGeom>
          <a:solidFill>
            <a:srgbClr val="1F2F6B"/>
          </a:solidFill>
          <a:ln/>
        </p:spPr>
      </p:sp>
      <p:sp>
        <p:nvSpPr>
          <p:cNvPr id="39" name="!!bec5"/>
          <p:cNvSpPr/>
          <p:nvPr/>
        </p:nvSpPr>
        <p:spPr>
          <a:xfrm>
            <a:off x="4283964" y="4792468"/>
            <a:ext cx="118872" cy="118872"/>
          </a:xfrm>
          <a:prstGeom prst="ellipse">
            <a:avLst/>
          </a:prstGeom>
          <a:solidFill>
            <a:srgbClr val="1F2F6B"/>
          </a:solidFill>
          <a:ln/>
        </p:spPr>
      </p:sp>
      <p:sp>
        <p:nvSpPr>
          <p:cNvPr id="40" name="!!axg0"/>
          <p:cNvSpPr/>
          <p:nvPr/>
        </p:nvSpPr>
        <p:spPr>
          <a:xfrm>
            <a:off x="7315200" y="3931920"/>
            <a:ext cx="4206240" cy="91"/>
          </a:xfrm>
          <a:prstGeom prst="line">
            <a:avLst/>
          </a:prstGeom>
          <a:noFill/>
          <a:ln w="9525">
            <a:solidFill>
              <a:srgbClr val="EDEEF0"/>
            </a:solidFill>
            <a:prstDash val="solid"/>
          </a:ln>
        </p:spPr>
      </p:sp>
      <p:sp>
        <p:nvSpPr>
          <p:cNvPr id="41" name="!!axg1"/>
          <p:cNvSpPr/>
          <p:nvPr/>
        </p:nvSpPr>
        <p:spPr>
          <a:xfrm>
            <a:off x="7315200" y="3265714"/>
            <a:ext cx="4206240" cy="91"/>
          </a:xfrm>
          <a:prstGeom prst="line">
            <a:avLst/>
          </a:prstGeom>
          <a:noFill/>
          <a:ln w="9525">
            <a:solidFill>
              <a:srgbClr val="EDEEF0"/>
            </a:solidFill>
            <a:prstDash val="solid"/>
          </a:ln>
        </p:spPr>
      </p:sp>
      <p:sp>
        <p:nvSpPr>
          <p:cNvPr id="42" name="!!axg2"/>
          <p:cNvSpPr/>
          <p:nvPr/>
        </p:nvSpPr>
        <p:spPr>
          <a:xfrm>
            <a:off x="7315200" y="2599509"/>
            <a:ext cx="4206240" cy="91"/>
          </a:xfrm>
          <a:prstGeom prst="line">
            <a:avLst/>
          </a:prstGeom>
          <a:noFill/>
          <a:ln w="9525">
            <a:solidFill>
              <a:srgbClr val="EDEEF0"/>
            </a:solidFill>
            <a:prstDash val="solid"/>
          </a:ln>
        </p:spPr>
      </p:sp>
      <p:sp>
        <p:nvSpPr>
          <p:cNvPr id="43" name="!!axg3"/>
          <p:cNvSpPr/>
          <p:nvPr/>
        </p:nvSpPr>
        <p:spPr>
          <a:xfrm>
            <a:off x="7315200" y="1933303"/>
            <a:ext cx="4206240" cy="91"/>
          </a:xfrm>
          <a:prstGeom prst="line">
            <a:avLst/>
          </a:prstGeom>
          <a:noFill/>
          <a:ln w="9525">
            <a:solidFill>
              <a:srgbClr val="EDEEF0"/>
            </a:solidFill>
            <a:prstDash val="solid"/>
          </a:ln>
        </p:spPr>
      </p:sp>
      <p:sp>
        <p:nvSpPr>
          <p:cNvPr id="44" name="!!axxa"/>
          <p:cNvSpPr/>
          <p:nvPr/>
        </p:nvSpPr>
        <p:spPr>
          <a:xfrm>
            <a:off x="7315200" y="3931920"/>
            <a:ext cx="4206240" cy="91"/>
          </a:xfrm>
          <a:prstGeom prst="line">
            <a:avLst/>
          </a:prstGeom>
          <a:noFill/>
          <a:ln w="12700">
            <a:solidFill>
              <a:srgbClr val="8A8D93"/>
            </a:solidFill>
            <a:prstDash val="solid"/>
          </a:ln>
        </p:spPr>
      </p:sp>
      <p:sp>
        <p:nvSpPr>
          <p:cNvPr id="45" name="!!axya"/>
          <p:cNvSpPr/>
          <p:nvPr/>
        </p:nvSpPr>
        <p:spPr>
          <a:xfrm>
            <a:off x="7315200" y="1600200"/>
            <a:ext cx="91" cy="2331720"/>
          </a:xfrm>
          <a:prstGeom prst="line">
            <a:avLst/>
          </a:prstGeom>
          <a:noFill/>
          <a:ln w="12700">
            <a:solidFill>
              <a:srgbClr val="8A8D93"/>
            </a:solidFill>
            <a:prstDash val="solid"/>
          </a:ln>
        </p:spPr>
      </p:sp>
      <p:sp>
        <p:nvSpPr>
          <p:cNvPr id="46" name="!!axxt0"/>
          <p:cNvSpPr txBox="1"/>
          <p:nvPr/>
        </p:nvSpPr>
        <p:spPr>
          <a:xfrm>
            <a:off x="699516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7" name="!!axxt1"/>
          <p:cNvSpPr txBox="1"/>
          <p:nvPr/>
        </p:nvSpPr>
        <p:spPr>
          <a:xfrm>
            <a:off x="8196943"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48" name="!!axxt2"/>
          <p:cNvSpPr txBox="1"/>
          <p:nvPr/>
        </p:nvSpPr>
        <p:spPr>
          <a:xfrm>
            <a:off x="9398726"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49" name="!!axxt3"/>
          <p:cNvSpPr txBox="1"/>
          <p:nvPr/>
        </p:nvSpPr>
        <p:spPr>
          <a:xfrm>
            <a:off x="10600509"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50" name="!!axyt0"/>
          <p:cNvSpPr txBox="1"/>
          <p:nvPr/>
        </p:nvSpPr>
        <p:spPr>
          <a:xfrm>
            <a:off x="6629400" y="3831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 µA</a:t>
            </a:r>
            <a:endParaRPr lang="en-US" sz="900" dirty="0"/>
          </a:p>
        </p:txBody>
      </p:sp>
      <p:sp>
        <p:nvSpPr>
          <p:cNvPr id="51" name="!!axyt1"/>
          <p:cNvSpPr txBox="1"/>
          <p:nvPr/>
        </p:nvSpPr>
        <p:spPr>
          <a:xfrm>
            <a:off x="6629400" y="316513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µA</a:t>
            </a:r>
            <a:endParaRPr lang="en-US" sz="900" dirty="0"/>
          </a:p>
        </p:txBody>
      </p:sp>
      <p:sp>
        <p:nvSpPr>
          <p:cNvPr id="52" name="!!axyt2"/>
          <p:cNvSpPr txBox="1"/>
          <p:nvPr/>
        </p:nvSpPr>
        <p:spPr>
          <a:xfrm>
            <a:off x="6629400" y="2498925"/>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20 µA</a:t>
            </a:r>
            <a:endParaRPr lang="en-US" sz="900" dirty="0"/>
          </a:p>
        </p:txBody>
      </p:sp>
      <p:sp>
        <p:nvSpPr>
          <p:cNvPr id="53" name="!!axyt3"/>
          <p:cNvSpPr txBox="1"/>
          <p:nvPr/>
        </p:nvSpPr>
        <p:spPr>
          <a:xfrm>
            <a:off x="6629400" y="1832719"/>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30 µA</a:t>
            </a:r>
            <a:endParaRPr lang="en-US" sz="900" dirty="0"/>
          </a:p>
        </p:txBody>
      </p:sp>
      <p:sp>
        <p:nvSpPr>
          <p:cNvPr id="54" name="!!axxl"/>
          <p:cNvSpPr txBox="1"/>
          <p:nvPr/>
        </p:nvSpPr>
        <p:spPr>
          <a:xfrm>
            <a:off x="7315200" y="420624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drain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55" name="!!axyl"/>
          <p:cNvSpPr txBox="1"/>
          <p:nvPr/>
        </p:nvSpPr>
        <p:spPr>
          <a:xfrm>
            <a:off x="713232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(linear)</a:t>
            </a:r>
            <a:endParaRPr lang="en-US" sz="1100" dirty="0"/>
          </a:p>
        </p:txBody>
      </p:sp>
      <p:sp>
        <p:nvSpPr>
          <p:cNvPr id="56" name="!!ivGhost"/>
          <p:cNvSpPr/>
          <p:nvPr/>
        </p:nvSpPr>
        <p:spPr>
          <a:xfrm>
            <a:off x="7315200" y="1934694"/>
            <a:ext cx="4206240" cy="1997226"/>
          </a:xfrm>
          <a:custGeom>
            <a:avLst/>
            <a:gdLst/>
            <a:ahLst/>
            <a:cxnLst/>
            <a:rect l="l" t="t" r="r" b="b"/>
            <a:pathLst>
              <a:path w="4206240" h="1997226">
                <a:moveTo>
                  <a:pt x="0" y="1997226"/>
                </a:moveTo>
                <a:lnTo>
                  <a:pt x="120178" y="1827108"/>
                </a:lnTo>
                <a:lnTo>
                  <a:pt x="240357" y="1664523"/>
                </a:lnTo>
                <a:lnTo>
                  <a:pt x="360535" y="1509486"/>
                </a:lnTo>
                <a:lnTo>
                  <a:pt x="480713" y="1362010"/>
                </a:lnTo>
                <a:lnTo>
                  <a:pt x="600891" y="1222109"/>
                </a:lnTo>
                <a:lnTo>
                  <a:pt x="721070" y="1089796"/>
                </a:lnTo>
                <a:lnTo>
                  <a:pt x="841248" y="965087"/>
                </a:lnTo>
                <a:lnTo>
                  <a:pt x="961426" y="847994"/>
                </a:lnTo>
                <a:lnTo>
                  <a:pt x="1081605" y="738531"/>
                </a:lnTo>
                <a:lnTo>
                  <a:pt x="1201783" y="636714"/>
                </a:lnTo>
                <a:lnTo>
                  <a:pt x="1321961" y="542554"/>
                </a:lnTo>
                <a:lnTo>
                  <a:pt x="1442139" y="456067"/>
                </a:lnTo>
                <a:lnTo>
                  <a:pt x="1562318" y="377267"/>
                </a:lnTo>
                <a:lnTo>
                  <a:pt x="1682496" y="306166"/>
                </a:lnTo>
                <a:lnTo>
                  <a:pt x="1802674" y="242780"/>
                </a:lnTo>
                <a:lnTo>
                  <a:pt x="1922853" y="187121"/>
                </a:lnTo>
                <a:lnTo>
                  <a:pt x="2043031" y="139204"/>
                </a:lnTo>
                <a:lnTo>
                  <a:pt x="2163209" y="99044"/>
                </a:lnTo>
                <a:lnTo>
                  <a:pt x="2283387" y="66653"/>
                </a:lnTo>
                <a:lnTo>
                  <a:pt x="2403566" y="42045"/>
                </a:lnTo>
                <a:lnTo>
                  <a:pt x="2523744" y="25235"/>
                </a:lnTo>
                <a:lnTo>
                  <a:pt x="2643922" y="16237"/>
                </a:lnTo>
                <a:lnTo>
                  <a:pt x="2764101" y="14084"/>
                </a:lnTo>
                <a:lnTo>
                  <a:pt x="2884279" y="12911"/>
                </a:lnTo>
                <a:lnTo>
                  <a:pt x="3004457" y="11737"/>
                </a:lnTo>
                <a:lnTo>
                  <a:pt x="3124635" y="10563"/>
                </a:lnTo>
                <a:lnTo>
                  <a:pt x="3244814" y="9390"/>
                </a:lnTo>
                <a:lnTo>
                  <a:pt x="3364992" y="8216"/>
                </a:lnTo>
                <a:lnTo>
                  <a:pt x="3485170" y="7042"/>
                </a:lnTo>
                <a:lnTo>
                  <a:pt x="3605349" y="5868"/>
                </a:lnTo>
                <a:lnTo>
                  <a:pt x="3725527" y="4695"/>
                </a:lnTo>
                <a:lnTo>
                  <a:pt x="3845705" y="3521"/>
                </a:lnTo>
                <a:lnTo>
                  <a:pt x="3965883" y="2347"/>
                </a:lnTo>
                <a:lnTo>
                  <a:pt x="4086062" y="1174"/>
                </a:lnTo>
                <a:lnTo>
                  <a:pt x="4206240" y="0"/>
                </a:lnTo>
              </a:path>
            </a:pathLst>
          </a:custGeom>
          <a:ln w="25400">
            <a:solidFill>
              <a:srgbClr val="C9CCD3"/>
            </a:solidFill>
            <a:prstDash val="solid"/>
          </a:ln>
        </p:spPr>
      </p:sp>
      <p:sp>
        <p:nvSpPr>
          <p:cNvPr id="57" name="!!ivTrail"/>
          <p:cNvSpPr/>
          <p:nvPr/>
        </p:nvSpPr>
        <p:spPr>
          <a:xfrm>
            <a:off x="7315200" y="2177474"/>
            <a:ext cx="1802674" cy="1754446"/>
          </a:xfrm>
          <a:custGeom>
            <a:avLst/>
            <a:gdLst/>
            <a:ahLst/>
            <a:cxnLst/>
            <a:rect l="l" t="t" r="r" b="b"/>
            <a:pathLst>
              <a:path w="1802674" h="1754446">
                <a:moveTo>
                  <a:pt x="0" y="1754446"/>
                </a:moveTo>
                <a:lnTo>
                  <a:pt x="51505" y="1680617"/>
                </a:lnTo>
                <a:lnTo>
                  <a:pt x="103010" y="1608170"/>
                </a:lnTo>
                <a:lnTo>
                  <a:pt x="154515" y="1537106"/>
                </a:lnTo>
                <a:lnTo>
                  <a:pt x="206020" y="1467427"/>
                </a:lnTo>
                <a:lnTo>
                  <a:pt x="257525" y="1399133"/>
                </a:lnTo>
                <a:lnTo>
                  <a:pt x="309030" y="1332226"/>
                </a:lnTo>
                <a:lnTo>
                  <a:pt x="360535" y="1266707"/>
                </a:lnTo>
                <a:lnTo>
                  <a:pt x="412040" y="1202576"/>
                </a:lnTo>
                <a:lnTo>
                  <a:pt x="463545" y="1139835"/>
                </a:lnTo>
                <a:lnTo>
                  <a:pt x="515050" y="1078485"/>
                </a:lnTo>
                <a:lnTo>
                  <a:pt x="566555" y="1018527"/>
                </a:lnTo>
                <a:lnTo>
                  <a:pt x="618060" y="959962"/>
                </a:lnTo>
                <a:lnTo>
                  <a:pt x="669565" y="902792"/>
                </a:lnTo>
                <a:lnTo>
                  <a:pt x="721070" y="847017"/>
                </a:lnTo>
                <a:lnTo>
                  <a:pt x="772575" y="792638"/>
                </a:lnTo>
                <a:lnTo>
                  <a:pt x="824080" y="739657"/>
                </a:lnTo>
                <a:lnTo>
                  <a:pt x="875585" y="688074"/>
                </a:lnTo>
                <a:lnTo>
                  <a:pt x="927090" y="637891"/>
                </a:lnTo>
                <a:lnTo>
                  <a:pt x="978595" y="589109"/>
                </a:lnTo>
                <a:lnTo>
                  <a:pt x="1030100" y="541729"/>
                </a:lnTo>
                <a:lnTo>
                  <a:pt x="1081605" y="495752"/>
                </a:lnTo>
                <a:lnTo>
                  <a:pt x="1133110" y="451179"/>
                </a:lnTo>
                <a:lnTo>
                  <a:pt x="1184615" y="408011"/>
                </a:lnTo>
                <a:lnTo>
                  <a:pt x="1236120" y="366249"/>
                </a:lnTo>
                <a:lnTo>
                  <a:pt x="1287624" y="325895"/>
                </a:lnTo>
                <a:lnTo>
                  <a:pt x="1339129" y="286949"/>
                </a:lnTo>
                <a:lnTo>
                  <a:pt x="1390634" y="249413"/>
                </a:lnTo>
                <a:lnTo>
                  <a:pt x="1442139" y="213288"/>
                </a:lnTo>
                <a:lnTo>
                  <a:pt x="1493644" y="178574"/>
                </a:lnTo>
                <a:lnTo>
                  <a:pt x="1545149" y="145273"/>
                </a:lnTo>
                <a:lnTo>
                  <a:pt x="1596654" y="113386"/>
                </a:lnTo>
                <a:lnTo>
                  <a:pt x="1648159" y="82914"/>
                </a:lnTo>
                <a:lnTo>
                  <a:pt x="1699664" y="53859"/>
                </a:lnTo>
                <a:lnTo>
                  <a:pt x="1751169" y="26220"/>
                </a:lnTo>
                <a:lnTo>
                  <a:pt x="1802674" y="0"/>
                </a:lnTo>
              </a:path>
            </a:pathLst>
          </a:custGeom>
          <a:ln w="38100">
            <a:solidFill>
              <a:srgbClr val="3E6AE1"/>
            </a:solidFill>
            <a:prstDash val="solid"/>
          </a:ln>
        </p:spPr>
      </p:sp>
      <p:sp>
        <p:nvSpPr>
          <p:cNvPr id="58" name="!!ivVT"/>
          <p:cNvSpPr/>
          <p:nvPr/>
        </p:nvSpPr>
        <p:spPr>
          <a:xfrm>
            <a:off x="10019211" y="1600200"/>
            <a:ext cx="91" cy="2331720"/>
          </a:xfrm>
          <a:prstGeom prst="line">
            <a:avLst/>
          </a:prstGeom>
          <a:noFill/>
          <a:ln w="9525">
            <a:solidFill>
              <a:srgbClr val="D64545"/>
            </a:solidFill>
            <a:prstDash val="dash"/>
          </a:ln>
        </p:spPr>
      </p:sp>
      <p:sp>
        <p:nvSpPr>
          <p:cNvPr id="59" name="!!ivVTl"/>
          <p:cNvSpPr txBox="1"/>
          <p:nvPr/>
        </p:nvSpPr>
        <p:spPr>
          <a:xfrm>
            <a:off x="10055787" y="3694176"/>
            <a:ext cx="914400" cy="182880"/>
          </a:xfrm>
          <a:prstGeom prst="rect">
            <a:avLst/>
          </a:prstGeom>
          <a:noFill/>
          <a:ln/>
        </p:spPr>
        <p:txBody>
          <a:bodyPr wrap="square" lIns="0" tIns="0" rIns="0" bIns="0" rtlCol="0" anchor="t"/>
          <a:lstStyle/>
          <a:p>
            <a:pPr algn="l" indent="0" marL="0">
              <a:buNone/>
            </a:pPr>
            <a:r>
              <a:rPr lang="en-US" sz="900" dirty="0">
                <a:solidFill>
                  <a:srgbClr val="D64545"/>
                </a:solidFill>
                <a:latin typeface="Segoe UI" pitchFamily="34" charset="0"/>
                <a:ea typeface="Segoe UI" pitchFamily="34" charset="-122"/>
                <a:cs typeface="Segoe UI" pitchFamily="34" charset="-120"/>
              </a:rPr>
              <a:t>pinch-off</a:t>
            </a:r>
            <a:endParaRPr lang="en-US" sz="900" dirty="0"/>
          </a:p>
        </p:txBody>
      </p:sp>
      <p:sp>
        <p:nvSpPr>
          <p:cNvPr id="60" name="!!ivPt"/>
          <p:cNvSpPr/>
          <p:nvPr/>
        </p:nvSpPr>
        <p:spPr>
          <a:xfrm>
            <a:off x="9035578" y="2095178"/>
            <a:ext cx="164592" cy="164592"/>
          </a:xfrm>
          <a:prstGeom prst="ellipse">
            <a:avLst/>
          </a:prstGeom>
          <a:solidFill>
            <a:srgbClr val="E07B00"/>
          </a:solidFill>
          <a:ln w="19050">
            <a:solidFill>
              <a:srgbClr val="FFFFFF"/>
            </a:solidFill>
            <a:prstDash val="solid"/>
          </a:ln>
        </p:spPr>
      </p:sp>
      <p:sp>
        <p:nvSpPr>
          <p:cNvPr id="61" name="!!ivPtL"/>
          <p:cNvSpPr txBox="1"/>
          <p:nvPr/>
        </p:nvSpPr>
        <p:spPr>
          <a:xfrm>
            <a:off x="8249194" y="1848290"/>
            <a:ext cx="822960" cy="219456"/>
          </a:xfrm>
          <a:prstGeom prst="rect">
            <a:avLst/>
          </a:prstGeom>
          <a:noFill/>
          <a:ln/>
        </p:spPr>
        <p:txBody>
          <a:bodyPr wrap="square" lIns="0" tIns="0" rIns="0" bIns="0" rtlCol="0" anchor="t"/>
          <a:lstStyle/>
          <a:p>
            <a:pPr algn="r" indent="0" marL="0">
              <a:buNone/>
            </a:pPr>
            <a:r>
              <a:rPr lang="en-US" sz="1100" dirty="0">
                <a:solidFill>
                  <a:srgbClr val="E07B00"/>
                </a:solidFill>
                <a:latin typeface="Segoe UI Semibold" pitchFamily="34" charset="0"/>
                <a:ea typeface="Segoe UI Semibold" pitchFamily="34" charset="-122"/>
                <a:cs typeface="Segoe UI Semibold" pitchFamily="34" charset="-120"/>
              </a:rPr>
              <a:t>26.3 µA</a:t>
            </a:r>
            <a:endParaRPr lang="en-US" sz="1100" dirty="0"/>
          </a:p>
        </p:txBody>
      </p:sp>
      <p:sp>
        <p:nvSpPr>
          <p:cNvPr id="62" name="!!ivRead"/>
          <p:cNvSpPr txBox="1"/>
          <p:nvPr/>
        </p:nvSpPr>
        <p:spPr>
          <a:xfrm>
            <a:off x="6858000" y="4526280"/>
            <a:ext cx="4754880" cy="256032"/>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0.30 V     I</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26.3 µA</a:t>
            </a:r>
            <a:endParaRPr lang="en-US" sz="1400" dirty="0"/>
          </a:p>
        </p:txBody>
      </p:sp>
      <p:sp>
        <p:nvSpPr>
          <p:cNvPr id="63" name="!!ivReg"/>
          <p:cNvSpPr txBox="1"/>
          <p:nvPr/>
        </p:nvSpPr>
        <p:spPr>
          <a:xfrm>
            <a:off x="6858000" y="4773168"/>
            <a:ext cx="4754880" cy="219456"/>
          </a:xfrm>
          <a:prstGeom prst="rect">
            <a:avLst/>
          </a:prstGeom>
          <a:noFill/>
          <a:ln/>
        </p:spPr>
        <p:txBody>
          <a:bodyPr wrap="square" lIns="0" tIns="0" rIns="0" bIns="0" rtlCol="0" anchor="t"/>
          <a:lstStyle/>
          <a:p>
            <a:pPr algn="l" indent="0" marL="0">
              <a:buNone/>
            </a:pPr>
            <a:r>
              <a:rPr lang="en-US" sz="1100" dirty="0">
                <a:solidFill>
                  <a:srgbClr val="E07B00"/>
                </a:solidFill>
                <a:latin typeface="Segoe UI Semibold" pitchFamily="34" charset="0"/>
                <a:ea typeface="Segoe UI Semibold" pitchFamily="34" charset="-122"/>
                <a:cs typeface="Segoe UI Semibold" pitchFamily="34" charset="-120"/>
              </a:rPr>
              <a:t>BENDING: channel thins at the drain end</a:t>
            </a:r>
            <a:endParaRPr lang="en-US" sz="1100" dirty="0"/>
          </a:p>
        </p:txBody>
      </p:sp>
      <p:sp>
        <p:nvSpPr>
          <p:cNvPr id="64" name="!!knobLbl"/>
          <p:cNvSpPr txBox="1"/>
          <p:nvPr/>
        </p:nvSpPr>
        <p:spPr>
          <a:xfrm>
            <a:off x="7022592" y="5001768"/>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drain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D</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11998E"/>
                </a:solidFill>
                <a:latin typeface="Segoe UI Semibold" pitchFamily="34" charset="0"/>
                <a:ea typeface="Segoe UI Semibold" pitchFamily="34" charset="-122"/>
                <a:cs typeface="Segoe UI Semibold" pitchFamily="34" charset="-120"/>
              </a:rPr>
              <a:t>0.3 V</a:t>
            </a:r>
            <a:endParaRPr lang="en-US" sz="1200" dirty="0"/>
          </a:p>
        </p:txBody>
      </p:sp>
      <p:sp>
        <p:nvSpPr>
          <p:cNvPr id="65" name="!!knobTrack"/>
          <p:cNvSpPr/>
          <p:nvPr/>
        </p:nvSpPr>
        <p:spPr>
          <a:xfrm>
            <a:off x="7040880" y="5385816"/>
            <a:ext cx="4480560" cy="54864"/>
          </a:xfrm>
          <a:prstGeom prst="roundRect">
            <a:avLst>
              <a:gd name="adj" fmla="val 50000"/>
            </a:avLst>
          </a:prstGeom>
          <a:solidFill>
            <a:srgbClr val="E2E3E3"/>
          </a:solidFill>
          <a:ln/>
        </p:spPr>
      </p:sp>
      <p:sp>
        <p:nvSpPr>
          <p:cNvPr id="66" name="!!knobFill"/>
          <p:cNvSpPr/>
          <p:nvPr/>
        </p:nvSpPr>
        <p:spPr>
          <a:xfrm>
            <a:off x="7040880" y="5385816"/>
            <a:ext cx="1920240" cy="54864"/>
          </a:xfrm>
          <a:prstGeom prst="roundRect">
            <a:avLst>
              <a:gd name="adj" fmla="val 50000"/>
            </a:avLst>
          </a:prstGeom>
          <a:solidFill>
            <a:srgbClr val="11998E"/>
          </a:solidFill>
          <a:ln/>
        </p:spPr>
      </p:sp>
      <p:sp>
        <p:nvSpPr>
          <p:cNvPr id="67" name="!!knobT0"/>
          <p:cNvSpPr txBox="1"/>
          <p:nvPr/>
        </p:nvSpPr>
        <p:spPr>
          <a:xfrm>
            <a:off x="667512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68" name="!!knobT1"/>
          <p:cNvSpPr txBox="1"/>
          <p:nvPr/>
        </p:nvSpPr>
        <p:spPr>
          <a:xfrm>
            <a:off x="79552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69" name="!!knobT2"/>
          <p:cNvSpPr txBox="1"/>
          <p:nvPr/>
        </p:nvSpPr>
        <p:spPr>
          <a:xfrm>
            <a:off x="923544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70" name="!!knobT3"/>
          <p:cNvSpPr txBox="1"/>
          <p:nvPr/>
        </p:nvSpPr>
        <p:spPr>
          <a:xfrm>
            <a:off x="1051560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71" name="!!knobT4"/>
          <p:cNvSpPr txBox="1"/>
          <p:nvPr/>
        </p:nvSpPr>
        <p:spPr>
          <a:xfrm>
            <a:off x="111556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72" name="!!knobThumb"/>
          <p:cNvSpPr/>
          <p:nvPr/>
        </p:nvSpPr>
        <p:spPr>
          <a:xfrm>
            <a:off x="8860536" y="5312664"/>
            <a:ext cx="201168" cy="201168"/>
          </a:xfrm>
          <a:prstGeom prst="ellipse">
            <a:avLst/>
          </a:prstGeom>
          <a:solidFill>
            <a:srgbClr val="FFFFFF"/>
          </a:solidFill>
          <a:ln w="28575">
            <a:solidFill>
              <a:srgbClr val="11998E"/>
            </a:solidFill>
            <a:prstDash val="solid"/>
          </a:ln>
        </p:spPr>
      </p:sp>
      <p:sp>
        <p:nvSpPr>
          <p:cNvPr id="7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 drain end of the channel gets thinner, so each extra volt adds less current.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32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Turning the drain</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Gate fixed at 0.7 V; now the second knob,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goes up step by step</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171A20"/>
          </a:solidFill>
          <a:ln/>
        </p:spPr>
      </p:sp>
      <p:sp>
        <p:nvSpPr>
          <p:cNvPr id="8" name="!!sdot4"/>
          <p:cNvSpPr/>
          <p:nvPr/>
        </p:nvSpPr>
        <p:spPr>
          <a:xfrm>
            <a:off x="11599164" y="525780"/>
            <a:ext cx="82296" cy="82296"/>
          </a:xfrm>
          <a:prstGeom prst="ellipse">
            <a:avLst/>
          </a:prstGeom>
          <a:solidFill>
            <a:srgbClr val="E2E3E3"/>
          </a:solidFill>
          <a:ln/>
        </p:spPr>
      </p:sp>
      <p:sp>
        <p:nvSpPr>
          <p:cNvPr id="9" name="!!mBody"/>
          <p:cNvSpPr/>
          <p:nvPr/>
        </p:nvSpPr>
        <p:spPr>
          <a:xfrm>
            <a:off x="640080" y="2240280"/>
            <a:ext cx="5120640" cy="1417320"/>
          </a:xfrm>
          <a:prstGeom prst="rect">
            <a:avLst/>
          </a:prstGeom>
          <a:solidFill>
            <a:srgbClr val="F6E7B8"/>
          </a:solidFill>
          <a:ln/>
        </p:spPr>
      </p:sp>
      <p:sp>
        <p:nvSpPr>
          <p:cNvPr id="10"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1" name="!!mDepl"/>
          <p:cNvSpPr/>
          <p:nvPr/>
        </p:nvSpPr>
        <p:spPr>
          <a:xfrm>
            <a:off x="1920240" y="2240280"/>
            <a:ext cx="2560320" cy="493776"/>
          </a:xfrm>
          <a:prstGeom prst="rect">
            <a:avLst/>
          </a:prstGeom>
          <a:solidFill>
            <a:srgbClr val="F7D4D9"/>
          </a:solidFill>
          <a:ln/>
        </p:spPr>
      </p:sp>
      <p:sp>
        <p:nvSpPr>
          <p:cNvPr id="12" name="!!mSrc"/>
          <p:cNvSpPr/>
          <p:nvPr/>
        </p:nvSpPr>
        <p:spPr>
          <a:xfrm>
            <a:off x="640080" y="2240280"/>
            <a:ext cx="1325880" cy="548640"/>
          </a:xfrm>
          <a:prstGeom prst="roundRect">
            <a:avLst>
              <a:gd name="adj" fmla="val 8333"/>
            </a:avLst>
          </a:prstGeom>
          <a:solidFill>
            <a:srgbClr val="7D9BE6"/>
          </a:solidFill>
          <a:ln/>
        </p:spPr>
      </p:sp>
      <p:sp>
        <p:nvSpPr>
          <p:cNvPr id="13" name="!!mDrn"/>
          <p:cNvSpPr/>
          <p:nvPr/>
        </p:nvSpPr>
        <p:spPr>
          <a:xfrm>
            <a:off x="4434840" y="2240280"/>
            <a:ext cx="1325880" cy="548640"/>
          </a:xfrm>
          <a:prstGeom prst="roundRect">
            <a:avLst>
              <a:gd name="adj" fmla="val 8333"/>
            </a:avLst>
          </a:prstGeom>
          <a:solidFill>
            <a:srgbClr val="7D9BE6"/>
          </a:solidFill>
          <a:ln/>
        </p:spPr>
      </p:sp>
      <p:sp>
        <p:nvSpPr>
          <p:cNvPr id="14" name="!!mSrcL"/>
          <p:cNvSpPr txBox="1"/>
          <p:nvPr/>
        </p:nvSpPr>
        <p:spPr>
          <a:xfrm>
            <a:off x="64008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5" name="!!mDrnL"/>
          <p:cNvSpPr txBox="1"/>
          <p:nvPr/>
        </p:nvSpPr>
        <p:spPr>
          <a:xfrm>
            <a:off x="448056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6" name="!!mChan"/>
          <p:cNvSpPr/>
          <p:nvPr/>
        </p:nvSpPr>
        <p:spPr>
          <a:xfrm>
            <a:off x="1920240" y="2240280"/>
            <a:ext cx="2560320" cy="182880"/>
          </a:xfrm>
          <a:custGeom>
            <a:avLst/>
            <a:gdLst/>
            <a:ahLst/>
            <a:cxnLst/>
            <a:rect l="l" t="t" r="r" b="b"/>
            <a:pathLst>
              <a:path w="2560320" h="182880">
                <a:moveTo>
                  <a:pt x="0" y="0"/>
                </a:moveTo>
                <a:lnTo>
                  <a:pt x="2560320" y="0"/>
                </a:lnTo>
                <a:lnTo>
                  <a:pt x="2560320" y="3658"/>
                </a:lnTo>
                <a:lnTo>
                  <a:pt x="0" y="182880"/>
                </a:lnTo>
                <a:close/>
              </a:path>
            </a:pathLst>
          </a:custGeom>
          <a:solidFill>
            <a:srgbClr val="1F2F6B"/>
          </a:solidFill>
          <a:ln/>
        </p:spPr>
      </p:sp>
      <p:sp>
        <p:nvSpPr>
          <p:cNvPr id="17" name="!!mOx"/>
          <p:cNvSpPr/>
          <p:nvPr/>
        </p:nvSpPr>
        <p:spPr>
          <a:xfrm>
            <a:off x="1920240" y="2167128"/>
            <a:ext cx="2560320" cy="73152"/>
          </a:xfrm>
          <a:prstGeom prst="rect">
            <a:avLst/>
          </a:prstGeom>
          <a:solidFill>
            <a:srgbClr val="CDEBF5"/>
          </a:solidFill>
          <a:ln/>
        </p:spPr>
      </p:sp>
      <p:sp>
        <p:nvSpPr>
          <p:cNvPr id="18" name="!!mGate"/>
          <p:cNvSpPr/>
          <p:nvPr/>
        </p:nvSpPr>
        <p:spPr>
          <a:xfrm>
            <a:off x="1920240" y="1783080"/>
            <a:ext cx="2560320" cy="384048"/>
          </a:xfrm>
          <a:prstGeom prst="roundRect">
            <a:avLst>
              <a:gd name="adj" fmla="val 9524"/>
            </a:avLst>
          </a:prstGeom>
          <a:solidFill>
            <a:srgbClr val="B3A6E6"/>
          </a:solidFill>
          <a:ln/>
        </p:spPr>
      </p:sp>
      <p:sp>
        <p:nvSpPr>
          <p:cNvPr id="19" name="!!mGateL"/>
          <p:cNvSpPr txBox="1"/>
          <p:nvPr/>
        </p:nvSpPr>
        <p:spPr>
          <a:xfrm>
            <a:off x="1920240" y="1837944"/>
            <a:ext cx="2560320"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20" name="!!mVS"/>
          <p:cNvSpPr txBox="1"/>
          <p:nvPr/>
        </p:nvSpPr>
        <p:spPr>
          <a:xfrm>
            <a:off x="640080" y="1856232"/>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S</a:t>
            </a:r>
            <a:pPr algn="l" indent="0" marL="0">
              <a:buNone/>
            </a:pPr>
            <a:r>
              <a:rPr lang="en-US" sz="1100" dirty="0">
                <a:solidFill>
                  <a:srgbClr val="5C5E62"/>
                </a:solidFill>
                <a:latin typeface="Segoe UI" pitchFamily="34" charset="0"/>
                <a:ea typeface="Segoe UI" pitchFamily="34" charset="-122"/>
                <a:cs typeface="Segoe UI" pitchFamily="34" charset="-120"/>
              </a:rPr>
              <a:t> = 0</a:t>
            </a:r>
            <a:endParaRPr lang="en-US" sz="1100" dirty="0"/>
          </a:p>
        </p:txBody>
      </p:sp>
      <p:sp>
        <p:nvSpPr>
          <p:cNvPr id="21" name="!!mVG"/>
          <p:cNvSpPr txBox="1"/>
          <p:nvPr/>
        </p:nvSpPr>
        <p:spPr>
          <a:xfrm>
            <a:off x="2286000" y="1490472"/>
            <a:ext cx="1828800" cy="237744"/>
          </a:xfrm>
          <a:prstGeom prst="rect">
            <a:avLst/>
          </a:prstGeom>
          <a:noFill/>
          <a:ln/>
        </p:spPr>
        <p:txBody>
          <a:bodyPr wrap="square" lIns="0" tIns="0" rIns="0" bIns="0" rtlCol="0" anchor="t"/>
          <a:lstStyle/>
          <a:p>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ctr"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 = 0.70 V</a:t>
            </a:r>
            <a:endParaRPr lang="en-US" sz="1200" dirty="0"/>
          </a:p>
        </p:txBody>
      </p:sp>
      <p:sp>
        <p:nvSpPr>
          <p:cNvPr id="22" name="!!mVD"/>
          <p:cNvSpPr txBox="1"/>
          <p:nvPr/>
        </p:nvSpPr>
        <p:spPr>
          <a:xfrm>
            <a:off x="4480560" y="1856232"/>
            <a:ext cx="1280160" cy="228600"/>
          </a:xfrm>
          <a:prstGeom prst="rect">
            <a:avLst/>
          </a:prstGeom>
          <a:noFill/>
          <a:ln/>
        </p:spPr>
        <p:txBody>
          <a:bodyPr wrap="square" lIns="0" tIns="0" rIns="0" bIns="0" rtlCol="0" anchor="t"/>
          <a:lstStyle/>
          <a:p>
            <a:pPr algn="r" indent="0" marL="0">
              <a:buNone/>
            </a:pPr>
            <a:r>
              <a:rPr lang="en-US" sz="1100" dirty="0">
                <a:solidFill>
                  <a:srgbClr val="5C5E62"/>
                </a:solidFill>
                <a:latin typeface="Segoe UI" pitchFamily="34" charset="0"/>
                <a:ea typeface="Segoe UI" pitchFamily="34" charset="-122"/>
                <a:cs typeface="Segoe UI" pitchFamily="34" charset="-120"/>
              </a:rPr>
              <a:t>V</a:t>
            </a:r>
            <a:pPr algn="r" indent="0" marL="0">
              <a:buNone/>
            </a:pPr>
            <a:r>
              <a:rPr lang="en-US" sz="1100" baseline="-40000" dirty="0">
                <a:solidFill>
                  <a:srgbClr val="5C5E62"/>
                </a:solidFill>
                <a:latin typeface="Segoe UI" pitchFamily="34" charset="0"/>
                <a:ea typeface="Segoe UI" pitchFamily="34" charset="-122"/>
                <a:cs typeface="Segoe UI" pitchFamily="34" charset="-120"/>
              </a:rPr>
              <a:t>D</a:t>
            </a:r>
            <a:pPr algn="r" indent="0" marL="0">
              <a:buNone/>
            </a:pPr>
            <a:r>
              <a:rPr lang="en-US" sz="1100" dirty="0">
                <a:solidFill>
                  <a:srgbClr val="5C5E62"/>
                </a:solidFill>
                <a:latin typeface="Segoe UI" pitchFamily="34" charset="0"/>
                <a:ea typeface="Segoe UI" pitchFamily="34" charset="-122"/>
                <a:cs typeface="Segoe UI" pitchFamily="34" charset="-120"/>
              </a:rPr>
              <a:t> = 0.45 V</a:t>
            </a:r>
            <a:endParaRPr lang="en-US" sz="1100" dirty="0"/>
          </a:p>
        </p:txBody>
      </p:sp>
      <p:sp>
        <p:nvSpPr>
          <p:cNvPr id="23" name="!!lg1"/>
          <p:cNvSpPr/>
          <p:nvPr/>
        </p:nvSpPr>
        <p:spPr>
          <a:xfrm>
            <a:off x="658368" y="3767328"/>
            <a:ext cx="164592" cy="109728"/>
          </a:xfrm>
          <a:prstGeom prst="rect">
            <a:avLst/>
          </a:prstGeom>
          <a:solidFill>
            <a:srgbClr val="1F2F6B"/>
          </a:solidFill>
          <a:ln/>
        </p:spPr>
      </p:sp>
      <p:sp>
        <p:nvSpPr>
          <p:cNvPr id="24" name="!!lg1t"/>
          <p:cNvSpPr txBox="1"/>
          <p:nvPr/>
        </p:nvSpPr>
        <p:spPr>
          <a:xfrm>
            <a:off x="868680" y="3721608"/>
            <a:ext cx="146304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electron channel</a:t>
            </a:r>
            <a:endParaRPr lang="en-US" sz="900" dirty="0"/>
          </a:p>
        </p:txBody>
      </p:sp>
      <p:sp>
        <p:nvSpPr>
          <p:cNvPr id="25" name="!!lg2"/>
          <p:cNvSpPr/>
          <p:nvPr/>
        </p:nvSpPr>
        <p:spPr>
          <a:xfrm>
            <a:off x="2240280" y="3767328"/>
            <a:ext cx="164592" cy="109728"/>
          </a:xfrm>
          <a:prstGeom prst="rect">
            <a:avLst/>
          </a:prstGeom>
          <a:solidFill>
            <a:srgbClr val="F7D4D9"/>
          </a:solidFill>
          <a:ln/>
        </p:spPr>
      </p:sp>
      <p:sp>
        <p:nvSpPr>
          <p:cNvPr id="26" name="!!lg2t"/>
          <p:cNvSpPr txBox="1"/>
          <p:nvPr/>
        </p:nvSpPr>
        <p:spPr>
          <a:xfrm>
            <a:off x="2450592" y="3721608"/>
            <a:ext cx="201168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depletion (no free carriers)</a:t>
            </a:r>
            <a:endParaRPr lang="en-US" sz="900" dirty="0"/>
          </a:p>
        </p:txBody>
      </p:sp>
      <p:sp>
        <p:nvSpPr>
          <p:cNvPr id="27" name="!!dsPinch"/>
          <p:cNvSpPr txBox="1"/>
          <p:nvPr/>
        </p:nvSpPr>
        <p:spPr>
          <a:xfrm>
            <a:off x="3749040" y="2807208"/>
            <a:ext cx="1463040" cy="219456"/>
          </a:xfrm>
          <a:prstGeom prst="rect">
            <a:avLst/>
          </a:prstGeom>
          <a:noFill/>
          <a:ln/>
        </p:spPr>
        <p:txBody>
          <a:bodyPr wrap="square" lIns="0" tIns="0" rIns="0" bIns="0" rtlCol="0" anchor="t"/>
          <a:lstStyle/>
          <a:p>
            <a:pPr algn="ctr" indent="0" marL="0">
              <a:buNone/>
            </a:pPr>
            <a:r>
              <a:rPr lang="en-US" sz="1000" dirty="0">
                <a:solidFill>
                  <a:srgbClr val="D64545"/>
                </a:solidFill>
                <a:latin typeface="Segoe UI Semibold" pitchFamily="34" charset="0"/>
                <a:ea typeface="Segoe UI Semibold" pitchFamily="34" charset="-122"/>
                <a:cs typeface="Segoe UI Semibold" pitchFamily="34" charset="-120"/>
              </a:rPr>
              <a:t>pinch-off point</a:t>
            </a:r>
            <a:endParaRPr lang="en-US" sz="1000" dirty="0"/>
          </a:p>
        </p:txBody>
      </p:sp>
      <p:sp>
        <p:nvSpPr>
          <p:cNvPr id="28" name="!!bCurve"/>
          <p:cNvSpPr/>
          <p:nvPr/>
        </p:nvSpPr>
        <p:spPr>
          <a:xfrm>
            <a:off x="640080" y="4726678"/>
            <a:ext cx="5120640" cy="377959"/>
          </a:xfrm>
          <a:custGeom>
            <a:avLst/>
            <a:gdLst/>
            <a:ahLst/>
            <a:cxnLst/>
            <a:rect l="l" t="t" r="r" b="b"/>
            <a:pathLst>
              <a:path w="5120640" h="377959">
                <a:moveTo>
                  <a:pt x="0" y="28201"/>
                </a:moveTo>
                <a:lnTo>
                  <a:pt x="113792" y="28199"/>
                </a:lnTo>
                <a:lnTo>
                  <a:pt x="227584" y="28194"/>
                </a:lnTo>
                <a:lnTo>
                  <a:pt x="341376" y="28182"/>
                </a:lnTo>
                <a:lnTo>
                  <a:pt x="455168" y="28149"/>
                </a:lnTo>
                <a:lnTo>
                  <a:pt x="568960" y="28065"/>
                </a:lnTo>
                <a:lnTo>
                  <a:pt x="682752" y="27847"/>
                </a:lnTo>
                <a:lnTo>
                  <a:pt x="796544" y="27287"/>
                </a:lnTo>
                <a:lnTo>
                  <a:pt x="910336" y="25881"/>
                </a:lnTo>
                <a:lnTo>
                  <a:pt x="1024128" y="22545"/>
                </a:lnTo>
                <a:lnTo>
                  <a:pt x="1137920" y="15575"/>
                </a:lnTo>
                <a:lnTo>
                  <a:pt x="1251712" y="4238"/>
                </a:lnTo>
                <a:lnTo>
                  <a:pt x="1365504" y="0"/>
                </a:lnTo>
                <a:lnTo>
                  <a:pt x="1479296" y="6812"/>
                </a:lnTo>
                <a:lnTo>
                  <a:pt x="1593088" y="18842"/>
                </a:lnTo>
                <a:lnTo>
                  <a:pt x="1706880" y="33007"/>
                </a:lnTo>
                <a:lnTo>
                  <a:pt x="1820672" y="48004"/>
                </a:lnTo>
                <a:lnTo>
                  <a:pt x="1934464" y="63328"/>
                </a:lnTo>
                <a:lnTo>
                  <a:pt x="2048256" y="78784"/>
                </a:lnTo>
                <a:lnTo>
                  <a:pt x="2162048" y="94292"/>
                </a:lnTo>
                <a:lnTo>
                  <a:pt x="2275840" y="109822"/>
                </a:lnTo>
                <a:lnTo>
                  <a:pt x="2389632" y="125361"/>
                </a:lnTo>
                <a:lnTo>
                  <a:pt x="2503424" y="140904"/>
                </a:lnTo>
                <a:lnTo>
                  <a:pt x="2617216" y="156449"/>
                </a:lnTo>
                <a:lnTo>
                  <a:pt x="2731008" y="171996"/>
                </a:lnTo>
                <a:lnTo>
                  <a:pt x="2844800" y="187549"/>
                </a:lnTo>
                <a:lnTo>
                  <a:pt x="2958592" y="203113"/>
                </a:lnTo>
                <a:lnTo>
                  <a:pt x="3072384" y="218711"/>
                </a:lnTo>
                <a:lnTo>
                  <a:pt x="3186176" y="234391"/>
                </a:lnTo>
                <a:lnTo>
                  <a:pt x="3299968" y="250286"/>
                </a:lnTo>
                <a:lnTo>
                  <a:pt x="3413760" y="266722"/>
                </a:lnTo>
                <a:lnTo>
                  <a:pt x="3527552" y="284454"/>
                </a:lnTo>
                <a:lnTo>
                  <a:pt x="3641344" y="304931"/>
                </a:lnTo>
                <a:lnTo>
                  <a:pt x="3755136" y="329731"/>
                </a:lnTo>
                <a:lnTo>
                  <a:pt x="3868928" y="353996"/>
                </a:lnTo>
                <a:lnTo>
                  <a:pt x="3982720" y="365333"/>
                </a:lnTo>
                <a:lnTo>
                  <a:pt x="4096512" y="372303"/>
                </a:lnTo>
                <a:lnTo>
                  <a:pt x="4210304" y="375639"/>
                </a:lnTo>
                <a:lnTo>
                  <a:pt x="4324096" y="377045"/>
                </a:lnTo>
                <a:lnTo>
                  <a:pt x="4437888" y="377605"/>
                </a:lnTo>
                <a:lnTo>
                  <a:pt x="4551680" y="377823"/>
                </a:lnTo>
                <a:lnTo>
                  <a:pt x="4665472" y="377907"/>
                </a:lnTo>
                <a:lnTo>
                  <a:pt x="4779264" y="377940"/>
                </a:lnTo>
                <a:lnTo>
                  <a:pt x="4893056" y="377952"/>
                </a:lnTo>
                <a:lnTo>
                  <a:pt x="5006848" y="377957"/>
                </a:lnTo>
                <a:lnTo>
                  <a:pt x="5120640" y="377959"/>
                </a:lnTo>
              </a:path>
            </a:pathLst>
          </a:custGeom>
          <a:ln w="28575">
            <a:solidFill>
              <a:srgbClr val="171A20"/>
            </a:solidFill>
            <a:prstDash val="solid"/>
          </a:ln>
        </p:spPr>
      </p:sp>
      <p:sp>
        <p:nvSpPr>
          <p:cNvPr id="29" name="!!bLbl"/>
          <p:cNvSpPr txBox="1"/>
          <p:nvPr/>
        </p:nvSpPr>
        <p:spPr>
          <a:xfrm>
            <a:off x="640080" y="3977640"/>
            <a:ext cx="182880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electron energy ↑</a:t>
            </a:r>
            <a:endParaRPr lang="en-US" sz="1000" dirty="0"/>
          </a:p>
        </p:txBody>
      </p:sp>
      <p:sp>
        <p:nvSpPr>
          <p:cNvPr id="30" name="!!bes0"/>
          <p:cNvSpPr/>
          <p:nvPr/>
        </p:nvSpPr>
        <p:spPr>
          <a:xfrm>
            <a:off x="717804" y="4613148"/>
            <a:ext cx="118872" cy="118872"/>
          </a:xfrm>
          <a:prstGeom prst="ellipse">
            <a:avLst/>
          </a:prstGeom>
          <a:solidFill>
            <a:srgbClr val="1F2F6B"/>
          </a:solidFill>
          <a:ln/>
        </p:spPr>
      </p:sp>
      <p:sp>
        <p:nvSpPr>
          <p:cNvPr id="31" name="!!bes1"/>
          <p:cNvSpPr/>
          <p:nvPr/>
        </p:nvSpPr>
        <p:spPr>
          <a:xfrm>
            <a:off x="918972" y="4613148"/>
            <a:ext cx="118872" cy="118872"/>
          </a:xfrm>
          <a:prstGeom prst="ellipse">
            <a:avLst/>
          </a:prstGeom>
          <a:solidFill>
            <a:srgbClr val="1F2F6B"/>
          </a:solidFill>
          <a:ln/>
        </p:spPr>
      </p:sp>
      <p:sp>
        <p:nvSpPr>
          <p:cNvPr id="32" name="!!bes2"/>
          <p:cNvSpPr/>
          <p:nvPr/>
        </p:nvSpPr>
        <p:spPr>
          <a:xfrm>
            <a:off x="1120140" y="4613148"/>
            <a:ext cx="118872" cy="118872"/>
          </a:xfrm>
          <a:prstGeom prst="ellipse">
            <a:avLst/>
          </a:prstGeom>
          <a:solidFill>
            <a:srgbClr val="1F2F6B"/>
          </a:solidFill>
          <a:ln/>
        </p:spPr>
      </p:sp>
      <p:sp>
        <p:nvSpPr>
          <p:cNvPr id="33" name="!!bes3"/>
          <p:cNvSpPr/>
          <p:nvPr/>
        </p:nvSpPr>
        <p:spPr>
          <a:xfrm>
            <a:off x="1321308" y="4613148"/>
            <a:ext cx="118872" cy="118872"/>
          </a:xfrm>
          <a:prstGeom prst="ellipse">
            <a:avLst/>
          </a:prstGeom>
          <a:solidFill>
            <a:srgbClr val="1F2F6B"/>
          </a:solidFill>
          <a:ln/>
        </p:spPr>
      </p:sp>
      <p:sp>
        <p:nvSpPr>
          <p:cNvPr id="34" name="!!bes4"/>
          <p:cNvSpPr/>
          <p:nvPr/>
        </p:nvSpPr>
        <p:spPr>
          <a:xfrm>
            <a:off x="1522476" y="4613148"/>
            <a:ext cx="118872" cy="118872"/>
          </a:xfrm>
          <a:prstGeom prst="ellipse">
            <a:avLst/>
          </a:prstGeom>
          <a:solidFill>
            <a:srgbClr val="1F2F6B"/>
          </a:solidFill>
          <a:ln/>
        </p:spPr>
      </p:sp>
      <p:sp>
        <p:nvSpPr>
          <p:cNvPr id="35" name="!!bec0"/>
          <p:cNvSpPr/>
          <p:nvPr/>
        </p:nvSpPr>
        <p:spPr>
          <a:xfrm>
            <a:off x="2089404" y="4594539"/>
            <a:ext cx="118872" cy="118872"/>
          </a:xfrm>
          <a:prstGeom prst="ellipse">
            <a:avLst/>
          </a:prstGeom>
          <a:solidFill>
            <a:srgbClr val="1F2F6B"/>
          </a:solidFill>
          <a:ln/>
        </p:spPr>
      </p:sp>
      <p:sp>
        <p:nvSpPr>
          <p:cNvPr id="36" name="!!bec1"/>
          <p:cNvSpPr/>
          <p:nvPr/>
        </p:nvSpPr>
        <p:spPr>
          <a:xfrm>
            <a:off x="2528316" y="4650064"/>
            <a:ext cx="118872" cy="118872"/>
          </a:xfrm>
          <a:prstGeom prst="ellipse">
            <a:avLst/>
          </a:prstGeom>
          <a:solidFill>
            <a:srgbClr val="1F2F6B"/>
          </a:solidFill>
          <a:ln/>
        </p:spPr>
      </p:sp>
      <p:sp>
        <p:nvSpPr>
          <p:cNvPr id="37" name="!!bec2"/>
          <p:cNvSpPr/>
          <p:nvPr/>
        </p:nvSpPr>
        <p:spPr>
          <a:xfrm>
            <a:off x="2967228" y="4709891"/>
            <a:ext cx="118872" cy="118872"/>
          </a:xfrm>
          <a:prstGeom prst="ellipse">
            <a:avLst/>
          </a:prstGeom>
          <a:solidFill>
            <a:srgbClr val="1F2F6B"/>
          </a:solidFill>
          <a:ln/>
        </p:spPr>
      </p:sp>
      <p:sp>
        <p:nvSpPr>
          <p:cNvPr id="38" name="!!bec3"/>
          <p:cNvSpPr/>
          <p:nvPr/>
        </p:nvSpPr>
        <p:spPr>
          <a:xfrm>
            <a:off x="3406140" y="4769856"/>
            <a:ext cx="118872" cy="118872"/>
          </a:xfrm>
          <a:prstGeom prst="ellipse">
            <a:avLst/>
          </a:prstGeom>
          <a:solidFill>
            <a:srgbClr val="1F2F6B"/>
          </a:solidFill>
          <a:ln/>
        </p:spPr>
      </p:sp>
      <p:sp>
        <p:nvSpPr>
          <p:cNvPr id="39" name="!!bec4"/>
          <p:cNvSpPr/>
          <p:nvPr/>
        </p:nvSpPr>
        <p:spPr>
          <a:xfrm>
            <a:off x="3845052" y="4830228"/>
            <a:ext cx="118872" cy="118872"/>
          </a:xfrm>
          <a:prstGeom prst="ellipse">
            <a:avLst/>
          </a:prstGeom>
          <a:solidFill>
            <a:srgbClr val="1F2F6B"/>
          </a:solidFill>
          <a:ln/>
        </p:spPr>
      </p:sp>
      <p:sp>
        <p:nvSpPr>
          <p:cNvPr id="40" name="!!bec5"/>
          <p:cNvSpPr/>
          <p:nvPr/>
        </p:nvSpPr>
        <p:spPr>
          <a:xfrm>
            <a:off x="4283964" y="4902808"/>
            <a:ext cx="118872" cy="118872"/>
          </a:xfrm>
          <a:prstGeom prst="ellipse">
            <a:avLst/>
          </a:prstGeom>
          <a:solidFill>
            <a:srgbClr val="1F2F6B"/>
          </a:solidFill>
          <a:ln/>
        </p:spPr>
      </p:sp>
      <p:sp>
        <p:nvSpPr>
          <p:cNvPr id="41" name="!!axg0"/>
          <p:cNvSpPr/>
          <p:nvPr/>
        </p:nvSpPr>
        <p:spPr>
          <a:xfrm>
            <a:off x="7315200" y="3931920"/>
            <a:ext cx="4206240" cy="91"/>
          </a:xfrm>
          <a:prstGeom prst="line">
            <a:avLst/>
          </a:prstGeom>
          <a:noFill/>
          <a:ln w="9525">
            <a:solidFill>
              <a:srgbClr val="EDEEF0"/>
            </a:solidFill>
            <a:prstDash val="solid"/>
          </a:ln>
        </p:spPr>
      </p:sp>
      <p:sp>
        <p:nvSpPr>
          <p:cNvPr id="42" name="!!axg1"/>
          <p:cNvSpPr/>
          <p:nvPr/>
        </p:nvSpPr>
        <p:spPr>
          <a:xfrm>
            <a:off x="7315200" y="3265714"/>
            <a:ext cx="4206240" cy="91"/>
          </a:xfrm>
          <a:prstGeom prst="line">
            <a:avLst/>
          </a:prstGeom>
          <a:noFill/>
          <a:ln w="9525">
            <a:solidFill>
              <a:srgbClr val="EDEEF0"/>
            </a:solidFill>
            <a:prstDash val="solid"/>
          </a:ln>
        </p:spPr>
      </p:sp>
      <p:sp>
        <p:nvSpPr>
          <p:cNvPr id="43" name="!!axg2"/>
          <p:cNvSpPr/>
          <p:nvPr/>
        </p:nvSpPr>
        <p:spPr>
          <a:xfrm>
            <a:off x="7315200" y="2599509"/>
            <a:ext cx="4206240" cy="91"/>
          </a:xfrm>
          <a:prstGeom prst="line">
            <a:avLst/>
          </a:prstGeom>
          <a:noFill/>
          <a:ln w="9525">
            <a:solidFill>
              <a:srgbClr val="EDEEF0"/>
            </a:solidFill>
            <a:prstDash val="solid"/>
          </a:ln>
        </p:spPr>
      </p:sp>
      <p:sp>
        <p:nvSpPr>
          <p:cNvPr id="44" name="!!axg3"/>
          <p:cNvSpPr/>
          <p:nvPr/>
        </p:nvSpPr>
        <p:spPr>
          <a:xfrm>
            <a:off x="7315200" y="1933303"/>
            <a:ext cx="4206240" cy="91"/>
          </a:xfrm>
          <a:prstGeom prst="line">
            <a:avLst/>
          </a:prstGeom>
          <a:noFill/>
          <a:ln w="9525">
            <a:solidFill>
              <a:srgbClr val="EDEEF0"/>
            </a:solidFill>
            <a:prstDash val="solid"/>
          </a:ln>
        </p:spPr>
      </p:sp>
      <p:sp>
        <p:nvSpPr>
          <p:cNvPr id="45" name="!!axxa"/>
          <p:cNvSpPr/>
          <p:nvPr/>
        </p:nvSpPr>
        <p:spPr>
          <a:xfrm>
            <a:off x="7315200" y="3931920"/>
            <a:ext cx="4206240" cy="91"/>
          </a:xfrm>
          <a:prstGeom prst="line">
            <a:avLst/>
          </a:prstGeom>
          <a:noFill/>
          <a:ln w="12700">
            <a:solidFill>
              <a:srgbClr val="8A8D93"/>
            </a:solidFill>
            <a:prstDash val="solid"/>
          </a:ln>
        </p:spPr>
      </p:sp>
      <p:sp>
        <p:nvSpPr>
          <p:cNvPr id="46" name="!!axya"/>
          <p:cNvSpPr/>
          <p:nvPr/>
        </p:nvSpPr>
        <p:spPr>
          <a:xfrm>
            <a:off x="7315200" y="1600200"/>
            <a:ext cx="91" cy="2331720"/>
          </a:xfrm>
          <a:prstGeom prst="line">
            <a:avLst/>
          </a:prstGeom>
          <a:noFill/>
          <a:ln w="12700">
            <a:solidFill>
              <a:srgbClr val="8A8D93"/>
            </a:solidFill>
            <a:prstDash val="solid"/>
          </a:ln>
        </p:spPr>
      </p:sp>
      <p:sp>
        <p:nvSpPr>
          <p:cNvPr id="47" name="!!axxt0"/>
          <p:cNvSpPr txBox="1"/>
          <p:nvPr/>
        </p:nvSpPr>
        <p:spPr>
          <a:xfrm>
            <a:off x="699516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8" name="!!axxt1"/>
          <p:cNvSpPr txBox="1"/>
          <p:nvPr/>
        </p:nvSpPr>
        <p:spPr>
          <a:xfrm>
            <a:off x="8196943"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49" name="!!axxt2"/>
          <p:cNvSpPr txBox="1"/>
          <p:nvPr/>
        </p:nvSpPr>
        <p:spPr>
          <a:xfrm>
            <a:off x="9398726"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50" name="!!axxt3"/>
          <p:cNvSpPr txBox="1"/>
          <p:nvPr/>
        </p:nvSpPr>
        <p:spPr>
          <a:xfrm>
            <a:off x="10600509"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51" name="!!axyt0"/>
          <p:cNvSpPr txBox="1"/>
          <p:nvPr/>
        </p:nvSpPr>
        <p:spPr>
          <a:xfrm>
            <a:off x="6629400" y="3831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 µA</a:t>
            </a:r>
            <a:endParaRPr lang="en-US" sz="900" dirty="0"/>
          </a:p>
        </p:txBody>
      </p:sp>
      <p:sp>
        <p:nvSpPr>
          <p:cNvPr id="52" name="!!axyt1"/>
          <p:cNvSpPr txBox="1"/>
          <p:nvPr/>
        </p:nvSpPr>
        <p:spPr>
          <a:xfrm>
            <a:off x="6629400" y="316513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µA</a:t>
            </a:r>
            <a:endParaRPr lang="en-US" sz="900" dirty="0"/>
          </a:p>
        </p:txBody>
      </p:sp>
      <p:sp>
        <p:nvSpPr>
          <p:cNvPr id="53" name="!!axyt2"/>
          <p:cNvSpPr txBox="1"/>
          <p:nvPr/>
        </p:nvSpPr>
        <p:spPr>
          <a:xfrm>
            <a:off x="6629400" y="2498925"/>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20 µA</a:t>
            </a:r>
            <a:endParaRPr lang="en-US" sz="900" dirty="0"/>
          </a:p>
        </p:txBody>
      </p:sp>
      <p:sp>
        <p:nvSpPr>
          <p:cNvPr id="54" name="!!axyt3"/>
          <p:cNvSpPr txBox="1"/>
          <p:nvPr/>
        </p:nvSpPr>
        <p:spPr>
          <a:xfrm>
            <a:off x="6629400" y="1832719"/>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30 µA</a:t>
            </a:r>
            <a:endParaRPr lang="en-US" sz="900" dirty="0"/>
          </a:p>
        </p:txBody>
      </p:sp>
      <p:sp>
        <p:nvSpPr>
          <p:cNvPr id="55" name="!!axxl"/>
          <p:cNvSpPr txBox="1"/>
          <p:nvPr/>
        </p:nvSpPr>
        <p:spPr>
          <a:xfrm>
            <a:off x="7315200" y="420624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drain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56" name="!!axyl"/>
          <p:cNvSpPr txBox="1"/>
          <p:nvPr/>
        </p:nvSpPr>
        <p:spPr>
          <a:xfrm>
            <a:off x="713232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(linear)</a:t>
            </a:r>
            <a:endParaRPr lang="en-US" sz="1100" dirty="0"/>
          </a:p>
        </p:txBody>
      </p:sp>
      <p:sp>
        <p:nvSpPr>
          <p:cNvPr id="57" name="!!ivGhost"/>
          <p:cNvSpPr/>
          <p:nvPr/>
        </p:nvSpPr>
        <p:spPr>
          <a:xfrm>
            <a:off x="7315200" y="1934694"/>
            <a:ext cx="4206240" cy="1997226"/>
          </a:xfrm>
          <a:custGeom>
            <a:avLst/>
            <a:gdLst/>
            <a:ahLst/>
            <a:cxnLst/>
            <a:rect l="l" t="t" r="r" b="b"/>
            <a:pathLst>
              <a:path w="4206240" h="1997226">
                <a:moveTo>
                  <a:pt x="0" y="1997226"/>
                </a:moveTo>
                <a:lnTo>
                  <a:pt x="120178" y="1827108"/>
                </a:lnTo>
                <a:lnTo>
                  <a:pt x="240357" y="1664523"/>
                </a:lnTo>
                <a:lnTo>
                  <a:pt x="360535" y="1509486"/>
                </a:lnTo>
                <a:lnTo>
                  <a:pt x="480713" y="1362010"/>
                </a:lnTo>
                <a:lnTo>
                  <a:pt x="600891" y="1222109"/>
                </a:lnTo>
                <a:lnTo>
                  <a:pt x="721070" y="1089796"/>
                </a:lnTo>
                <a:lnTo>
                  <a:pt x="841248" y="965087"/>
                </a:lnTo>
                <a:lnTo>
                  <a:pt x="961426" y="847994"/>
                </a:lnTo>
                <a:lnTo>
                  <a:pt x="1081605" y="738531"/>
                </a:lnTo>
                <a:lnTo>
                  <a:pt x="1201783" y="636714"/>
                </a:lnTo>
                <a:lnTo>
                  <a:pt x="1321961" y="542554"/>
                </a:lnTo>
                <a:lnTo>
                  <a:pt x="1442139" y="456067"/>
                </a:lnTo>
                <a:lnTo>
                  <a:pt x="1562318" y="377267"/>
                </a:lnTo>
                <a:lnTo>
                  <a:pt x="1682496" y="306166"/>
                </a:lnTo>
                <a:lnTo>
                  <a:pt x="1802674" y="242780"/>
                </a:lnTo>
                <a:lnTo>
                  <a:pt x="1922853" y="187121"/>
                </a:lnTo>
                <a:lnTo>
                  <a:pt x="2043031" y="139204"/>
                </a:lnTo>
                <a:lnTo>
                  <a:pt x="2163209" y="99044"/>
                </a:lnTo>
                <a:lnTo>
                  <a:pt x="2283387" y="66653"/>
                </a:lnTo>
                <a:lnTo>
                  <a:pt x="2403566" y="42045"/>
                </a:lnTo>
                <a:lnTo>
                  <a:pt x="2523744" y="25235"/>
                </a:lnTo>
                <a:lnTo>
                  <a:pt x="2643922" y="16237"/>
                </a:lnTo>
                <a:lnTo>
                  <a:pt x="2764101" y="14084"/>
                </a:lnTo>
                <a:lnTo>
                  <a:pt x="2884279" y="12911"/>
                </a:lnTo>
                <a:lnTo>
                  <a:pt x="3004457" y="11737"/>
                </a:lnTo>
                <a:lnTo>
                  <a:pt x="3124635" y="10563"/>
                </a:lnTo>
                <a:lnTo>
                  <a:pt x="3244814" y="9390"/>
                </a:lnTo>
                <a:lnTo>
                  <a:pt x="3364992" y="8216"/>
                </a:lnTo>
                <a:lnTo>
                  <a:pt x="3485170" y="7042"/>
                </a:lnTo>
                <a:lnTo>
                  <a:pt x="3605349" y="5868"/>
                </a:lnTo>
                <a:lnTo>
                  <a:pt x="3725527" y="4695"/>
                </a:lnTo>
                <a:lnTo>
                  <a:pt x="3845705" y="3521"/>
                </a:lnTo>
                <a:lnTo>
                  <a:pt x="3965883" y="2347"/>
                </a:lnTo>
                <a:lnTo>
                  <a:pt x="4086062" y="1174"/>
                </a:lnTo>
                <a:lnTo>
                  <a:pt x="4206240" y="0"/>
                </a:lnTo>
              </a:path>
            </a:pathLst>
          </a:custGeom>
          <a:ln w="25400">
            <a:solidFill>
              <a:srgbClr val="C9CCD3"/>
            </a:solidFill>
            <a:prstDash val="solid"/>
          </a:ln>
        </p:spPr>
      </p:sp>
      <p:sp>
        <p:nvSpPr>
          <p:cNvPr id="58" name="!!ivTrail"/>
          <p:cNvSpPr/>
          <p:nvPr/>
        </p:nvSpPr>
        <p:spPr>
          <a:xfrm>
            <a:off x="7315200" y="1949365"/>
            <a:ext cx="2704011" cy="1982555"/>
          </a:xfrm>
          <a:custGeom>
            <a:avLst/>
            <a:gdLst/>
            <a:ahLst/>
            <a:cxnLst/>
            <a:rect l="l" t="t" r="r" b="b"/>
            <a:pathLst>
              <a:path w="2704011" h="1982555">
                <a:moveTo>
                  <a:pt x="0" y="1982555"/>
                </a:moveTo>
                <a:lnTo>
                  <a:pt x="77257" y="1872329"/>
                </a:lnTo>
                <a:lnTo>
                  <a:pt x="154515" y="1765215"/>
                </a:lnTo>
                <a:lnTo>
                  <a:pt x="231772" y="1661215"/>
                </a:lnTo>
                <a:lnTo>
                  <a:pt x="309030" y="1560335"/>
                </a:lnTo>
                <a:lnTo>
                  <a:pt x="386287" y="1462576"/>
                </a:lnTo>
                <a:lnTo>
                  <a:pt x="463545" y="1367943"/>
                </a:lnTo>
                <a:lnTo>
                  <a:pt x="540802" y="1276440"/>
                </a:lnTo>
                <a:lnTo>
                  <a:pt x="618060" y="1188071"/>
                </a:lnTo>
                <a:lnTo>
                  <a:pt x="695317" y="1102838"/>
                </a:lnTo>
                <a:lnTo>
                  <a:pt x="772575" y="1020746"/>
                </a:lnTo>
                <a:lnTo>
                  <a:pt x="849832" y="941799"/>
                </a:lnTo>
                <a:lnTo>
                  <a:pt x="927090" y="866000"/>
                </a:lnTo>
                <a:lnTo>
                  <a:pt x="1004347" y="793352"/>
                </a:lnTo>
                <a:lnTo>
                  <a:pt x="1081605" y="723860"/>
                </a:lnTo>
                <a:lnTo>
                  <a:pt x="1158862" y="657528"/>
                </a:lnTo>
                <a:lnTo>
                  <a:pt x="1236120" y="594358"/>
                </a:lnTo>
                <a:lnTo>
                  <a:pt x="1313377" y="534355"/>
                </a:lnTo>
                <a:lnTo>
                  <a:pt x="1390634" y="477522"/>
                </a:lnTo>
                <a:lnTo>
                  <a:pt x="1467892" y="423863"/>
                </a:lnTo>
                <a:lnTo>
                  <a:pt x="1545149" y="373382"/>
                </a:lnTo>
                <a:lnTo>
                  <a:pt x="1622407" y="326082"/>
                </a:lnTo>
                <a:lnTo>
                  <a:pt x="1699664" y="281967"/>
                </a:lnTo>
                <a:lnTo>
                  <a:pt x="1776922" y="241041"/>
                </a:lnTo>
                <a:lnTo>
                  <a:pt x="1854179" y="203308"/>
                </a:lnTo>
                <a:lnTo>
                  <a:pt x="1931437" y="168770"/>
                </a:lnTo>
                <a:lnTo>
                  <a:pt x="2008694" y="137433"/>
                </a:lnTo>
                <a:lnTo>
                  <a:pt x="2085952" y="109299"/>
                </a:lnTo>
                <a:lnTo>
                  <a:pt x="2163209" y="84373"/>
                </a:lnTo>
                <a:lnTo>
                  <a:pt x="2240467" y="62657"/>
                </a:lnTo>
                <a:lnTo>
                  <a:pt x="2317724" y="44156"/>
                </a:lnTo>
                <a:lnTo>
                  <a:pt x="2394982" y="28873"/>
                </a:lnTo>
                <a:lnTo>
                  <a:pt x="2472239" y="16813"/>
                </a:lnTo>
                <a:lnTo>
                  <a:pt x="2549496" y="7978"/>
                </a:lnTo>
                <a:lnTo>
                  <a:pt x="2626754" y="2372"/>
                </a:lnTo>
                <a:lnTo>
                  <a:pt x="2704011" y="0"/>
                </a:lnTo>
              </a:path>
            </a:pathLst>
          </a:custGeom>
          <a:ln w="38100">
            <a:solidFill>
              <a:srgbClr val="3E6AE1"/>
            </a:solidFill>
            <a:prstDash val="solid"/>
          </a:ln>
        </p:spPr>
      </p:sp>
      <p:sp>
        <p:nvSpPr>
          <p:cNvPr id="59" name="!!ivVT"/>
          <p:cNvSpPr/>
          <p:nvPr/>
        </p:nvSpPr>
        <p:spPr>
          <a:xfrm>
            <a:off x="10019211" y="1600200"/>
            <a:ext cx="91" cy="2331720"/>
          </a:xfrm>
          <a:prstGeom prst="line">
            <a:avLst/>
          </a:prstGeom>
          <a:noFill/>
          <a:ln w="9525">
            <a:solidFill>
              <a:srgbClr val="D64545"/>
            </a:solidFill>
            <a:prstDash val="dash"/>
          </a:ln>
        </p:spPr>
      </p:sp>
      <p:sp>
        <p:nvSpPr>
          <p:cNvPr id="60" name="!!ivVTl"/>
          <p:cNvSpPr txBox="1"/>
          <p:nvPr/>
        </p:nvSpPr>
        <p:spPr>
          <a:xfrm>
            <a:off x="10055787" y="3694176"/>
            <a:ext cx="914400" cy="182880"/>
          </a:xfrm>
          <a:prstGeom prst="rect">
            <a:avLst/>
          </a:prstGeom>
          <a:noFill/>
          <a:ln/>
        </p:spPr>
        <p:txBody>
          <a:bodyPr wrap="square" lIns="0" tIns="0" rIns="0" bIns="0" rtlCol="0" anchor="t"/>
          <a:lstStyle/>
          <a:p>
            <a:pPr algn="l" indent="0" marL="0">
              <a:buNone/>
            </a:pPr>
            <a:r>
              <a:rPr lang="en-US" sz="900" dirty="0">
                <a:solidFill>
                  <a:srgbClr val="D64545"/>
                </a:solidFill>
                <a:latin typeface="Segoe UI" pitchFamily="34" charset="0"/>
                <a:ea typeface="Segoe UI" pitchFamily="34" charset="-122"/>
                <a:cs typeface="Segoe UI" pitchFamily="34" charset="-120"/>
              </a:rPr>
              <a:t>pinch-off</a:t>
            </a:r>
            <a:endParaRPr lang="en-US" sz="900" dirty="0"/>
          </a:p>
        </p:txBody>
      </p:sp>
      <p:sp>
        <p:nvSpPr>
          <p:cNvPr id="61" name="!!ivPt"/>
          <p:cNvSpPr/>
          <p:nvPr/>
        </p:nvSpPr>
        <p:spPr>
          <a:xfrm>
            <a:off x="9936915" y="1867069"/>
            <a:ext cx="164592" cy="164592"/>
          </a:xfrm>
          <a:prstGeom prst="ellipse">
            <a:avLst/>
          </a:prstGeom>
          <a:solidFill>
            <a:srgbClr val="D64545"/>
          </a:solidFill>
          <a:ln w="19050">
            <a:solidFill>
              <a:srgbClr val="FFFFFF"/>
            </a:solidFill>
            <a:prstDash val="solid"/>
          </a:ln>
        </p:spPr>
      </p:sp>
      <p:sp>
        <p:nvSpPr>
          <p:cNvPr id="62" name="!!ivPtL"/>
          <p:cNvSpPr txBox="1"/>
          <p:nvPr/>
        </p:nvSpPr>
        <p:spPr>
          <a:xfrm>
            <a:off x="9150531" y="1620181"/>
            <a:ext cx="822960" cy="219456"/>
          </a:xfrm>
          <a:prstGeom prst="rect">
            <a:avLst/>
          </a:prstGeom>
          <a:noFill/>
          <a:ln/>
        </p:spPr>
        <p:txBody>
          <a:bodyPr wrap="square" lIns="0" tIns="0" rIns="0" bIns="0" rtlCol="0" anchor="t"/>
          <a:lstStyle/>
          <a:p>
            <a:pPr algn="r" indent="0" marL="0">
              <a:buNone/>
            </a:pPr>
            <a:r>
              <a:rPr lang="en-US" sz="1100" dirty="0">
                <a:solidFill>
                  <a:srgbClr val="D64545"/>
                </a:solidFill>
                <a:latin typeface="Segoe UI Semibold" pitchFamily="34" charset="0"/>
                <a:ea typeface="Segoe UI Semibold" pitchFamily="34" charset="-122"/>
                <a:cs typeface="Segoe UI Semibold" pitchFamily="34" charset="-120"/>
              </a:rPr>
              <a:t>29.8 µA</a:t>
            </a:r>
            <a:endParaRPr lang="en-US" sz="1100" dirty="0"/>
          </a:p>
        </p:txBody>
      </p:sp>
      <p:sp>
        <p:nvSpPr>
          <p:cNvPr id="63" name="!!ivRead"/>
          <p:cNvSpPr txBox="1"/>
          <p:nvPr/>
        </p:nvSpPr>
        <p:spPr>
          <a:xfrm>
            <a:off x="6858000" y="4526280"/>
            <a:ext cx="4754880" cy="256032"/>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0.45 V     I</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29.8 µA</a:t>
            </a:r>
            <a:endParaRPr lang="en-US" sz="1400" dirty="0"/>
          </a:p>
        </p:txBody>
      </p:sp>
      <p:sp>
        <p:nvSpPr>
          <p:cNvPr id="64" name="!!ivReg"/>
          <p:cNvSpPr txBox="1"/>
          <p:nvPr/>
        </p:nvSpPr>
        <p:spPr>
          <a:xfrm>
            <a:off x="6858000" y="4773168"/>
            <a:ext cx="4754880" cy="219456"/>
          </a:xfrm>
          <a:prstGeom prst="rect">
            <a:avLst/>
          </a:prstGeom>
          <a:noFill/>
          <a:ln/>
        </p:spPr>
        <p:txBody>
          <a:bodyPr wrap="square" lIns="0" tIns="0" rIns="0" bIns="0" rtlCol="0" anchor="t"/>
          <a:lstStyle/>
          <a:p>
            <a:pPr algn="l" indent="0" marL="0">
              <a:buNone/>
            </a:pPr>
            <a:r>
              <a:rPr lang="en-US" sz="1100" dirty="0">
                <a:solidFill>
                  <a:srgbClr val="D64545"/>
                </a:solidFill>
                <a:latin typeface="Segoe UI Semibold" pitchFamily="34" charset="0"/>
                <a:ea typeface="Segoe UI Semibold" pitchFamily="34" charset="-122"/>
                <a:cs typeface="Segoe UI Semibold" pitchFamily="34" charset="-120"/>
              </a:rPr>
              <a:t>PINCH-OFF: V</a:t>
            </a:r>
            <a:pPr algn="l" indent="0" marL="0">
              <a:buNone/>
            </a:pPr>
            <a:r>
              <a:rPr lang="en-US" sz="1100" baseline="-40000" dirty="0">
                <a:solidFill>
                  <a:srgbClr val="D64545"/>
                </a:solidFill>
                <a:latin typeface="Segoe UI Semibold" pitchFamily="34" charset="0"/>
                <a:ea typeface="Segoe UI Semibold" pitchFamily="34" charset="-122"/>
                <a:cs typeface="Segoe UI Semibold" pitchFamily="34" charset="-120"/>
              </a:rPr>
              <a:t>D</a:t>
            </a:r>
            <a:pPr algn="l" indent="0" marL="0">
              <a:buNone/>
            </a:pPr>
            <a:r>
              <a:rPr lang="en-US" sz="1100" dirty="0">
                <a:solidFill>
                  <a:srgbClr val="D64545"/>
                </a:solidFill>
                <a:latin typeface="Segoe UI Semibold" pitchFamily="34" charset="0"/>
                <a:ea typeface="Segoe UI Semibold" pitchFamily="34" charset="-122"/>
                <a:cs typeface="Segoe UI Semibold" pitchFamily="34" charset="-120"/>
              </a:rPr>
              <a:t> = V</a:t>
            </a:r>
            <a:pPr algn="l" indent="0" marL="0">
              <a:buNone/>
            </a:pPr>
            <a:r>
              <a:rPr lang="en-US" sz="1100" baseline="-40000" dirty="0">
                <a:solidFill>
                  <a:srgbClr val="D64545"/>
                </a:solidFill>
                <a:latin typeface="Segoe UI Semibold" pitchFamily="34" charset="0"/>
                <a:ea typeface="Segoe UI Semibold" pitchFamily="34" charset="-122"/>
                <a:cs typeface="Segoe UI Semibold" pitchFamily="34" charset="-120"/>
              </a:rPr>
              <a:t>G</a:t>
            </a:r>
            <a:pPr algn="l" indent="0" marL="0">
              <a:buNone/>
            </a:pPr>
            <a:r>
              <a:rPr lang="en-US" sz="1100" dirty="0">
                <a:solidFill>
                  <a:srgbClr val="D64545"/>
                </a:solidFill>
                <a:latin typeface="Segoe UI Semibold" pitchFamily="34" charset="0"/>
                <a:ea typeface="Segoe UI Semibold" pitchFamily="34" charset="-122"/>
                <a:cs typeface="Segoe UI Semibold" pitchFamily="34" charset="-120"/>
              </a:rPr>
              <a:t> − V</a:t>
            </a:r>
            <a:pPr algn="l" indent="0" marL="0">
              <a:buNone/>
            </a:pPr>
            <a:r>
              <a:rPr lang="en-US" sz="1100" baseline="-40000" dirty="0">
                <a:solidFill>
                  <a:srgbClr val="D64545"/>
                </a:solidFill>
                <a:latin typeface="Segoe UI Semibold" pitchFamily="34" charset="0"/>
                <a:ea typeface="Segoe UI Semibold" pitchFamily="34" charset="-122"/>
                <a:cs typeface="Segoe UI Semibold" pitchFamily="34" charset="-120"/>
              </a:rPr>
              <a:t>T</a:t>
            </a:r>
            <a:endParaRPr lang="en-US" sz="1100" dirty="0"/>
          </a:p>
        </p:txBody>
      </p:sp>
      <p:sp>
        <p:nvSpPr>
          <p:cNvPr id="65" name="!!knobLbl"/>
          <p:cNvSpPr txBox="1"/>
          <p:nvPr/>
        </p:nvSpPr>
        <p:spPr>
          <a:xfrm>
            <a:off x="7022592" y="5001768"/>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drain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D</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11998E"/>
                </a:solidFill>
                <a:latin typeface="Segoe UI Semibold" pitchFamily="34" charset="0"/>
                <a:ea typeface="Segoe UI Semibold" pitchFamily="34" charset="-122"/>
                <a:cs typeface="Segoe UI Semibold" pitchFamily="34" charset="-120"/>
              </a:rPr>
              <a:t>0.5 V</a:t>
            </a:r>
            <a:endParaRPr lang="en-US" sz="1200" dirty="0"/>
          </a:p>
        </p:txBody>
      </p:sp>
      <p:sp>
        <p:nvSpPr>
          <p:cNvPr id="66" name="!!knobTrack"/>
          <p:cNvSpPr/>
          <p:nvPr/>
        </p:nvSpPr>
        <p:spPr>
          <a:xfrm>
            <a:off x="7040880" y="5385816"/>
            <a:ext cx="4480560" cy="54864"/>
          </a:xfrm>
          <a:prstGeom prst="roundRect">
            <a:avLst>
              <a:gd name="adj" fmla="val 50000"/>
            </a:avLst>
          </a:prstGeom>
          <a:solidFill>
            <a:srgbClr val="E2E3E3"/>
          </a:solidFill>
          <a:ln/>
        </p:spPr>
      </p:sp>
      <p:sp>
        <p:nvSpPr>
          <p:cNvPr id="67" name="!!knobFill"/>
          <p:cNvSpPr/>
          <p:nvPr/>
        </p:nvSpPr>
        <p:spPr>
          <a:xfrm>
            <a:off x="7040880" y="5385816"/>
            <a:ext cx="2880360" cy="54864"/>
          </a:xfrm>
          <a:prstGeom prst="roundRect">
            <a:avLst>
              <a:gd name="adj" fmla="val 50000"/>
            </a:avLst>
          </a:prstGeom>
          <a:solidFill>
            <a:srgbClr val="11998E"/>
          </a:solidFill>
          <a:ln/>
        </p:spPr>
      </p:sp>
      <p:sp>
        <p:nvSpPr>
          <p:cNvPr id="68" name="!!knobT0"/>
          <p:cNvSpPr txBox="1"/>
          <p:nvPr/>
        </p:nvSpPr>
        <p:spPr>
          <a:xfrm>
            <a:off x="667512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69" name="!!knobT1"/>
          <p:cNvSpPr txBox="1"/>
          <p:nvPr/>
        </p:nvSpPr>
        <p:spPr>
          <a:xfrm>
            <a:off x="79552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70" name="!!knobT2"/>
          <p:cNvSpPr txBox="1"/>
          <p:nvPr/>
        </p:nvSpPr>
        <p:spPr>
          <a:xfrm>
            <a:off x="923544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71" name="!!knobT3"/>
          <p:cNvSpPr txBox="1"/>
          <p:nvPr/>
        </p:nvSpPr>
        <p:spPr>
          <a:xfrm>
            <a:off x="1051560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72" name="!!knobT4"/>
          <p:cNvSpPr txBox="1"/>
          <p:nvPr/>
        </p:nvSpPr>
        <p:spPr>
          <a:xfrm>
            <a:off x="111556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73" name="!!knobThumb"/>
          <p:cNvSpPr/>
          <p:nvPr/>
        </p:nvSpPr>
        <p:spPr>
          <a:xfrm>
            <a:off x="9820656" y="5312664"/>
            <a:ext cx="201168" cy="201168"/>
          </a:xfrm>
          <a:prstGeom prst="ellipse">
            <a:avLst/>
          </a:prstGeom>
          <a:solidFill>
            <a:srgbClr val="FFFFFF"/>
          </a:solidFill>
          <a:ln w="28575">
            <a:solidFill>
              <a:srgbClr val="11998E"/>
            </a:solidFill>
            <a:prstDash val="solid"/>
          </a:ln>
        </p:spPr>
      </p:sp>
      <p:sp>
        <p:nvSpPr>
          <p:cNvPr id="74"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At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D</a:t>
            </a:r>
            <a:pPr algn="ctr" indent="0" marL="0">
              <a:buNone/>
            </a:pPr>
            <a:r>
              <a:rPr lang="en-US" sz="1600" dirty="0">
                <a:solidFill>
                  <a:srgbClr val="171A20"/>
                </a:solidFill>
                <a:latin typeface="Segoe UI" pitchFamily="34" charset="0"/>
                <a:ea typeface="Segoe UI" pitchFamily="34" charset="-122"/>
                <a:cs typeface="Segoe UI" pitchFamily="34" charset="-120"/>
              </a:rPr>
              <a:t> =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G</a:t>
            </a:r>
            <a:pPr algn="ctr" indent="0" marL="0">
              <a:buNone/>
            </a:pPr>
            <a:r>
              <a:rPr lang="en-US" sz="1600" dirty="0">
                <a:solidFill>
                  <a:srgbClr val="171A20"/>
                </a:solidFill>
                <a:latin typeface="Segoe UI" pitchFamily="34" charset="0"/>
                <a:ea typeface="Segoe UI" pitchFamily="34" charset="-122"/>
                <a:cs typeface="Segoe UI" pitchFamily="34" charset="-120"/>
              </a:rPr>
              <a:t> −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T</a:t>
            </a:r>
            <a:pPr algn="ctr" indent="0" marL="0">
              <a:buNone/>
            </a:pPr>
            <a:r>
              <a:rPr lang="en-US" sz="1600" dirty="0">
                <a:solidFill>
                  <a:srgbClr val="171A20"/>
                </a:solidFill>
                <a:latin typeface="Segoe UI" pitchFamily="34" charset="0"/>
                <a:ea typeface="Segoe UI" pitchFamily="34" charset="-122"/>
                <a:cs typeface="Segoe UI" pitchFamily="34" charset="-120"/>
              </a:rPr>
              <a:t> the channel thins to zero at the drain end: pinch-off.</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33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MOSFET – Turning the drain</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Gate fixed at 0.7 V; now the second knob,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goes up step by step</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171A20"/>
          </a:solidFill>
          <a:ln/>
        </p:spPr>
      </p:sp>
      <p:sp>
        <p:nvSpPr>
          <p:cNvPr id="8" name="!!sdot4"/>
          <p:cNvSpPr/>
          <p:nvPr/>
        </p:nvSpPr>
        <p:spPr>
          <a:xfrm>
            <a:off x="11599164" y="525780"/>
            <a:ext cx="82296" cy="82296"/>
          </a:xfrm>
          <a:prstGeom prst="ellipse">
            <a:avLst/>
          </a:prstGeom>
          <a:solidFill>
            <a:srgbClr val="171A20"/>
          </a:solidFill>
          <a:ln/>
        </p:spPr>
      </p:sp>
      <p:sp>
        <p:nvSpPr>
          <p:cNvPr id="9" name="!!mBody"/>
          <p:cNvSpPr/>
          <p:nvPr/>
        </p:nvSpPr>
        <p:spPr>
          <a:xfrm>
            <a:off x="640080" y="2240280"/>
            <a:ext cx="5120640" cy="1417320"/>
          </a:xfrm>
          <a:prstGeom prst="rect">
            <a:avLst/>
          </a:prstGeom>
          <a:solidFill>
            <a:srgbClr val="F6E7B8"/>
          </a:solidFill>
          <a:ln/>
        </p:spPr>
      </p:sp>
      <p:sp>
        <p:nvSpPr>
          <p:cNvPr id="10"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1" name="!!mDepl"/>
          <p:cNvSpPr/>
          <p:nvPr/>
        </p:nvSpPr>
        <p:spPr>
          <a:xfrm>
            <a:off x="1920240" y="2240280"/>
            <a:ext cx="2560320" cy="493776"/>
          </a:xfrm>
          <a:prstGeom prst="rect">
            <a:avLst/>
          </a:prstGeom>
          <a:solidFill>
            <a:srgbClr val="F7D4D9"/>
          </a:solidFill>
          <a:ln/>
        </p:spPr>
      </p:sp>
      <p:sp>
        <p:nvSpPr>
          <p:cNvPr id="12" name="!!mSrc"/>
          <p:cNvSpPr/>
          <p:nvPr/>
        </p:nvSpPr>
        <p:spPr>
          <a:xfrm>
            <a:off x="640080" y="2240280"/>
            <a:ext cx="1325880" cy="548640"/>
          </a:xfrm>
          <a:prstGeom prst="roundRect">
            <a:avLst>
              <a:gd name="adj" fmla="val 8333"/>
            </a:avLst>
          </a:prstGeom>
          <a:solidFill>
            <a:srgbClr val="7D9BE6"/>
          </a:solidFill>
          <a:ln/>
        </p:spPr>
      </p:sp>
      <p:sp>
        <p:nvSpPr>
          <p:cNvPr id="13" name="!!mDrn"/>
          <p:cNvSpPr/>
          <p:nvPr/>
        </p:nvSpPr>
        <p:spPr>
          <a:xfrm>
            <a:off x="4434840" y="2240280"/>
            <a:ext cx="1325880" cy="548640"/>
          </a:xfrm>
          <a:prstGeom prst="roundRect">
            <a:avLst>
              <a:gd name="adj" fmla="val 8333"/>
            </a:avLst>
          </a:prstGeom>
          <a:solidFill>
            <a:srgbClr val="7D9BE6"/>
          </a:solidFill>
          <a:ln/>
        </p:spPr>
      </p:sp>
      <p:sp>
        <p:nvSpPr>
          <p:cNvPr id="14" name="!!mSrcL"/>
          <p:cNvSpPr txBox="1"/>
          <p:nvPr/>
        </p:nvSpPr>
        <p:spPr>
          <a:xfrm>
            <a:off x="64008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5" name="!!mDrnL"/>
          <p:cNvSpPr txBox="1"/>
          <p:nvPr/>
        </p:nvSpPr>
        <p:spPr>
          <a:xfrm>
            <a:off x="4480560" y="2395728"/>
            <a:ext cx="12801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6" name="!!mChan"/>
          <p:cNvSpPr/>
          <p:nvPr/>
        </p:nvSpPr>
        <p:spPr>
          <a:xfrm>
            <a:off x="1920240" y="2240280"/>
            <a:ext cx="2103120" cy="182880"/>
          </a:xfrm>
          <a:custGeom>
            <a:avLst/>
            <a:gdLst/>
            <a:ahLst/>
            <a:cxnLst/>
            <a:rect l="l" t="t" r="r" b="b"/>
            <a:pathLst>
              <a:path w="2103120" h="182880">
                <a:moveTo>
                  <a:pt x="0" y="0"/>
                </a:moveTo>
                <a:lnTo>
                  <a:pt x="2103120" y="0"/>
                </a:lnTo>
                <a:lnTo>
                  <a:pt x="2103120" y="3658"/>
                </a:lnTo>
                <a:lnTo>
                  <a:pt x="0" y="182880"/>
                </a:lnTo>
                <a:close/>
              </a:path>
            </a:pathLst>
          </a:custGeom>
          <a:solidFill>
            <a:srgbClr val="1F2F6B"/>
          </a:solidFill>
          <a:ln/>
        </p:spPr>
      </p:sp>
      <p:sp>
        <p:nvSpPr>
          <p:cNvPr id="17" name="!!mOx"/>
          <p:cNvSpPr/>
          <p:nvPr/>
        </p:nvSpPr>
        <p:spPr>
          <a:xfrm>
            <a:off x="1920240" y="2167128"/>
            <a:ext cx="2560320" cy="73152"/>
          </a:xfrm>
          <a:prstGeom prst="rect">
            <a:avLst/>
          </a:prstGeom>
          <a:solidFill>
            <a:srgbClr val="CDEBF5"/>
          </a:solidFill>
          <a:ln/>
        </p:spPr>
      </p:sp>
      <p:sp>
        <p:nvSpPr>
          <p:cNvPr id="18" name="!!mGate"/>
          <p:cNvSpPr/>
          <p:nvPr/>
        </p:nvSpPr>
        <p:spPr>
          <a:xfrm>
            <a:off x="1920240" y="1783080"/>
            <a:ext cx="2560320" cy="384048"/>
          </a:xfrm>
          <a:prstGeom prst="roundRect">
            <a:avLst>
              <a:gd name="adj" fmla="val 9524"/>
            </a:avLst>
          </a:prstGeom>
          <a:solidFill>
            <a:srgbClr val="B3A6E6"/>
          </a:solidFill>
          <a:ln/>
        </p:spPr>
      </p:sp>
      <p:sp>
        <p:nvSpPr>
          <p:cNvPr id="19" name="!!mGateL"/>
          <p:cNvSpPr txBox="1"/>
          <p:nvPr/>
        </p:nvSpPr>
        <p:spPr>
          <a:xfrm>
            <a:off x="1920240" y="1837944"/>
            <a:ext cx="2560320"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20" name="!!mVS"/>
          <p:cNvSpPr txBox="1"/>
          <p:nvPr/>
        </p:nvSpPr>
        <p:spPr>
          <a:xfrm>
            <a:off x="640080" y="1856232"/>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S</a:t>
            </a:r>
            <a:pPr algn="l" indent="0" marL="0">
              <a:buNone/>
            </a:pPr>
            <a:r>
              <a:rPr lang="en-US" sz="1100" dirty="0">
                <a:solidFill>
                  <a:srgbClr val="5C5E62"/>
                </a:solidFill>
                <a:latin typeface="Segoe UI" pitchFamily="34" charset="0"/>
                <a:ea typeface="Segoe UI" pitchFamily="34" charset="-122"/>
                <a:cs typeface="Segoe UI" pitchFamily="34" charset="-120"/>
              </a:rPr>
              <a:t> = 0</a:t>
            </a:r>
            <a:endParaRPr lang="en-US" sz="1100" dirty="0"/>
          </a:p>
        </p:txBody>
      </p:sp>
      <p:sp>
        <p:nvSpPr>
          <p:cNvPr id="21" name="!!mVG"/>
          <p:cNvSpPr txBox="1"/>
          <p:nvPr/>
        </p:nvSpPr>
        <p:spPr>
          <a:xfrm>
            <a:off x="2286000" y="1490472"/>
            <a:ext cx="1828800" cy="237744"/>
          </a:xfrm>
          <a:prstGeom prst="rect">
            <a:avLst/>
          </a:prstGeom>
          <a:noFill/>
          <a:ln/>
        </p:spPr>
        <p:txBody>
          <a:bodyPr wrap="square" lIns="0" tIns="0" rIns="0" bIns="0" rtlCol="0" anchor="t"/>
          <a:lstStyle/>
          <a:p>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ctr"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 = 0.70 V</a:t>
            </a:r>
            <a:endParaRPr lang="en-US" sz="1200" dirty="0"/>
          </a:p>
        </p:txBody>
      </p:sp>
      <p:sp>
        <p:nvSpPr>
          <p:cNvPr id="22" name="!!mVD"/>
          <p:cNvSpPr txBox="1"/>
          <p:nvPr/>
        </p:nvSpPr>
        <p:spPr>
          <a:xfrm>
            <a:off x="4480560" y="1856232"/>
            <a:ext cx="1280160" cy="228600"/>
          </a:xfrm>
          <a:prstGeom prst="rect">
            <a:avLst/>
          </a:prstGeom>
          <a:noFill/>
          <a:ln/>
        </p:spPr>
        <p:txBody>
          <a:bodyPr wrap="square" lIns="0" tIns="0" rIns="0" bIns="0" rtlCol="0" anchor="t"/>
          <a:lstStyle/>
          <a:p>
            <a:pPr algn="r" indent="0" marL="0">
              <a:buNone/>
            </a:pPr>
            <a:r>
              <a:rPr lang="en-US" sz="1100" dirty="0">
                <a:solidFill>
                  <a:srgbClr val="5C5E62"/>
                </a:solidFill>
                <a:latin typeface="Segoe UI" pitchFamily="34" charset="0"/>
                <a:ea typeface="Segoe UI" pitchFamily="34" charset="-122"/>
                <a:cs typeface="Segoe UI" pitchFamily="34" charset="-120"/>
              </a:rPr>
              <a:t>V</a:t>
            </a:r>
            <a:pPr algn="r" indent="0" marL="0">
              <a:buNone/>
            </a:pPr>
            <a:r>
              <a:rPr lang="en-US" sz="1100" baseline="-40000" dirty="0">
                <a:solidFill>
                  <a:srgbClr val="5C5E62"/>
                </a:solidFill>
                <a:latin typeface="Segoe UI" pitchFamily="34" charset="0"/>
                <a:ea typeface="Segoe UI" pitchFamily="34" charset="-122"/>
                <a:cs typeface="Segoe UI" pitchFamily="34" charset="-120"/>
              </a:rPr>
              <a:t>D</a:t>
            </a:r>
            <a:pPr algn="r" indent="0" marL="0">
              <a:buNone/>
            </a:pPr>
            <a:r>
              <a:rPr lang="en-US" sz="1100" dirty="0">
                <a:solidFill>
                  <a:srgbClr val="5C5E62"/>
                </a:solidFill>
                <a:latin typeface="Segoe UI" pitchFamily="34" charset="0"/>
                <a:ea typeface="Segoe UI" pitchFamily="34" charset="-122"/>
                <a:cs typeface="Segoe UI" pitchFamily="34" charset="-120"/>
              </a:rPr>
              <a:t> = 0.70 V</a:t>
            </a:r>
            <a:endParaRPr lang="en-US" sz="1100" dirty="0"/>
          </a:p>
        </p:txBody>
      </p:sp>
      <p:sp>
        <p:nvSpPr>
          <p:cNvPr id="23" name="!!lg1"/>
          <p:cNvSpPr/>
          <p:nvPr/>
        </p:nvSpPr>
        <p:spPr>
          <a:xfrm>
            <a:off x="658368" y="3767328"/>
            <a:ext cx="164592" cy="109728"/>
          </a:xfrm>
          <a:prstGeom prst="rect">
            <a:avLst/>
          </a:prstGeom>
          <a:solidFill>
            <a:srgbClr val="1F2F6B"/>
          </a:solidFill>
          <a:ln/>
        </p:spPr>
      </p:sp>
      <p:sp>
        <p:nvSpPr>
          <p:cNvPr id="24" name="!!lg1t"/>
          <p:cNvSpPr txBox="1"/>
          <p:nvPr/>
        </p:nvSpPr>
        <p:spPr>
          <a:xfrm>
            <a:off x="868680" y="3721608"/>
            <a:ext cx="146304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electron channel</a:t>
            </a:r>
            <a:endParaRPr lang="en-US" sz="900" dirty="0"/>
          </a:p>
        </p:txBody>
      </p:sp>
      <p:sp>
        <p:nvSpPr>
          <p:cNvPr id="25" name="!!lg2"/>
          <p:cNvSpPr/>
          <p:nvPr/>
        </p:nvSpPr>
        <p:spPr>
          <a:xfrm>
            <a:off x="2240280" y="3767328"/>
            <a:ext cx="164592" cy="109728"/>
          </a:xfrm>
          <a:prstGeom prst="rect">
            <a:avLst/>
          </a:prstGeom>
          <a:solidFill>
            <a:srgbClr val="F7D4D9"/>
          </a:solidFill>
          <a:ln/>
        </p:spPr>
      </p:sp>
      <p:sp>
        <p:nvSpPr>
          <p:cNvPr id="26" name="!!lg2t"/>
          <p:cNvSpPr txBox="1"/>
          <p:nvPr/>
        </p:nvSpPr>
        <p:spPr>
          <a:xfrm>
            <a:off x="2450592" y="3721608"/>
            <a:ext cx="201168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depletion (no free carriers)</a:t>
            </a:r>
            <a:endParaRPr lang="en-US" sz="900" dirty="0"/>
          </a:p>
        </p:txBody>
      </p:sp>
      <p:sp>
        <p:nvSpPr>
          <p:cNvPr id="27" name="!!dsPinch"/>
          <p:cNvSpPr txBox="1"/>
          <p:nvPr/>
        </p:nvSpPr>
        <p:spPr>
          <a:xfrm>
            <a:off x="3291840" y="2807208"/>
            <a:ext cx="1463040" cy="219456"/>
          </a:xfrm>
          <a:prstGeom prst="rect">
            <a:avLst/>
          </a:prstGeom>
          <a:noFill/>
          <a:ln/>
        </p:spPr>
        <p:txBody>
          <a:bodyPr wrap="square" lIns="0" tIns="0" rIns="0" bIns="0" rtlCol="0" anchor="t"/>
          <a:lstStyle/>
          <a:p>
            <a:pPr algn="ctr" indent="0" marL="0">
              <a:buNone/>
            </a:pPr>
            <a:r>
              <a:rPr lang="en-US" sz="1000" dirty="0">
                <a:solidFill>
                  <a:srgbClr val="D64545"/>
                </a:solidFill>
                <a:latin typeface="Segoe UI Semibold" pitchFamily="34" charset="0"/>
                <a:ea typeface="Segoe UI Semibold" pitchFamily="34" charset="-122"/>
                <a:cs typeface="Segoe UI Semibold" pitchFamily="34" charset="-120"/>
              </a:rPr>
              <a:t>pinch-off point</a:t>
            </a:r>
            <a:endParaRPr lang="en-US" sz="1000" dirty="0"/>
          </a:p>
        </p:txBody>
      </p:sp>
      <p:sp>
        <p:nvSpPr>
          <p:cNvPr id="28" name="!!bCurve"/>
          <p:cNvSpPr/>
          <p:nvPr/>
        </p:nvSpPr>
        <p:spPr>
          <a:xfrm>
            <a:off x="640080" y="4730916"/>
            <a:ext cx="5120640" cy="568031"/>
          </a:xfrm>
          <a:custGeom>
            <a:avLst/>
            <a:gdLst/>
            <a:ahLst/>
            <a:cxnLst/>
            <a:rect l="l" t="t" r="r" b="b"/>
            <a:pathLst>
              <a:path w="5120640" h="568031">
                <a:moveTo>
                  <a:pt x="0" y="23963"/>
                </a:moveTo>
                <a:lnTo>
                  <a:pt x="113792" y="23961"/>
                </a:lnTo>
                <a:lnTo>
                  <a:pt x="227584" y="23956"/>
                </a:lnTo>
                <a:lnTo>
                  <a:pt x="341376" y="23944"/>
                </a:lnTo>
                <a:lnTo>
                  <a:pt x="455168" y="23911"/>
                </a:lnTo>
                <a:lnTo>
                  <a:pt x="568960" y="23827"/>
                </a:lnTo>
                <a:lnTo>
                  <a:pt x="682752" y="23609"/>
                </a:lnTo>
                <a:lnTo>
                  <a:pt x="796544" y="23049"/>
                </a:lnTo>
                <a:lnTo>
                  <a:pt x="910336" y="21643"/>
                </a:lnTo>
                <a:lnTo>
                  <a:pt x="1024128" y="18307"/>
                </a:lnTo>
                <a:lnTo>
                  <a:pt x="1137920" y="11337"/>
                </a:lnTo>
                <a:lnTo>
                  <a:pt x="1251712" y="0"/>
                </a:lnTo>
                <a:lnTo>
                  <a:pt x="1365504" y="411"/>
                </a:lnTo>
                <a:lnTo>
                  <a:pt x="1479296" y="16149"/>
                </a:lnTo>
                <a:lnTo>
                  <a:pt x="1593088" y="37602"/>
                </a:lnTo>
                <a:lnTo>
                  <a:pt x="1706880" y="60852"/>
                </a:lnTo>
                <a:lnTo>
                  <a:pt x="1820672" y="84676"/>
                </a:lnTo>
                <a:lnTo>
                  <a:pt x="1934464" y="108709"/>
                </a:lnTo>
                <a:lnTo>
                  <a:pt x="2048256" y="132826"/>
                </a:lnTo>
                <a:lnTo>
                  <a:pt x="2162048" y="156979"/>
                </a:lnTo>
                <a:lnTo>
                  <a:pt x="2275840" y="181148"/>
                </a:lnTo>
                <a:lnTo>
                  <a:pt x="2389632" y="205324"/>
                </a:lnTo>
                <a:lnTo>
                  <a:pt x="2503424" y="229503"/>
                </a:lnTo>
                <a:lnTo>
                  <a:pt x="2617216" y="253684"/>
                </a:lnTo>
                <a:lnTo>
                  <a:pt x="2731008" y="277867"/>
                </a:lnTo>
                <a:lnTo>
                  <a:pt x="2844800" y="302056"/>
                </a:lnTo>
                <a:lnTo>
                  <a:pt x="2958592" y="326256"/>
                </a:lnTo>
                <a:lnTo>
                  <a:pt x="3072384" y="350489"/>
                </a:lnTo>
                <a:lnTo>
                  <a:pt x="3186176" y="374806"/>
                </a:lnTo>
                <a:lnTo>
                  <a:pt x="3299968" y="399337"/>
                </a:lnTo>
                <a:lnTo>
                  <a:pt x="3413760" y="424409"/>
                </a:lnTo>
                <a:lnTo>
                  <a:pt x="3527552" y="450777"/>
                </a:lnTo>
                <a:lnTo>
                  <a:pt x="3641344" y="479890"/>
                </a:lnTo>
                <a:lnTo>
                  <a:pt x="3755136" y="513326"/>
                </a:lnTo>
                <a:lnTo>
                  <a:pt x="3868928" y="544068"/>
                </a:lnTo>
                <a:lnTo>
                  <a:pt x="3982720" y="555405"/>
                </a:lnTo>
                <a:lnTo>
                  <a:pt x="4096512" y="562375"/>
                </a:lnTo>
                <a:lnTo>
                  <a:pt x="4210304" y="565711"/>
                </a:lnTo>
                <a:lnTo>
                  <a:pt x="4324096" y="567117"/>
                </a:lnTo>
                <a:lnTo>
                  <a:pt x="4437888" y="567677"/>
                </a:lnTo>
                <a:lnTo>
                  <a:pt x="4551680" y="567895"/>
                </a:lnTo>
                <a:lnTo>
                  <a:pt x="4665472" y="567979"/>
                </a:lnTo>
                <a:lnTo>
                  <a:pt x="4779264" y="568012"/>
                </a:lnTo>
                <a:lnTo>
                  <a:pt x="4893056" y="568024"/>
                </a:lnTo>
                <a:lnTo>
                  <a:pt x="5006848" y="568029"/>
                </a:lnTo>
                <a:lnTo>
                  <a:pt x="5120640" y="568031"/>
                </a:lnTo>
              </a:path>
            </a:pathLst>
          </a:custGeom>
          <a:ln w="28575">
            <a:solidFill>
              <a:srgbClr val="171A20"/>
            </a:solidFill>
            <a:prstDash val="solid"/>
          </a:ln>
        </p:spPr>
      </p:sp>
      <p:sp>
        <p:nvSpPr>
          <p:cNvPr id="29" name="!!bLbl"/>
          <p:cNvSpPr txBox="1"/>
          <p:nvPr/>
        </p:nvSpPr>
        <p:spPr>
          <a:xfrm>
            <a:off x="640080" y="3977640"/>
            <a:ext cx="182880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electron energy ↑</a:t>
            </a:r>
            <a:endParaRPr lang="en-US" sz="1000" dirty="0"/>
          </a:p>
        </p:txBody>
      </p:sp>
      <p:sp>
        <p:nvSpPr>
          <p:cNvPr id="30" name="!!bes0"/>
          <p:cNvSpPr/>
          <p:nvPr/>
        </p:nvSpPr>
        <p:spPr>
          <a:xfrm>
            <a:off x="717804" y="4613148"/>
            <a:ext cx="118872" cy="118872"/>
          </a:xfrm>
          <a:prstGeom prst="ellipse">
            <a:avLst/>
          </a:prstGeom>
          <a:solidFill>
            <a:srgbClr val="1F2F6B"/>
          </a:solidFill>
          <a:ln/>
        </p:spPr>
      </p:sp>
      <p:sp>
        <p:nvSpPr>
          <p:cNvPr id="31" name="!!bes1"/>
          <p:cNvSpPr/>
          <p:nvPr/>
        </p:nvSpPr>
        <p:spPr>
          <a:xfrm>
            <a:off x="918972" y="4613148"/>
            <a:ext cx="118872" cy="118872"/>
          </a:xfrm>
          <a:prstGeom prst="ellipse">
            <a:avLst/>
          </a:prstGeom>
          <a:solidFill>
            <a:srgbClr val="1F2F6B"/>
          </a:solidFill>
          <a:ln/>
        </p:spPr>
      </p:sp>
      <p:sp>
        <p:nvSpPr>
          <p:cNvPr id="32" name="!!bes2"/>
          <p:cNvSpPr/>
          <p:nvPr/>
        </p:nvSpPr>
        <p:spPr>
          <a:xfrm>
            <a:off x="1120140" y="4613148"/>
            <a:ext cx="118872" cy="118872"/>
          </a:xfrm>
          <a:prstGeom prst="ellipse">
            <a:avLst/>
          </a:prstGeom>
          <a:solidFill>
            <a:srgbClr val="1F2F6B"/>
          </a:solidFill>
          <a:ln/>
        </p:spPr>
      </p:sp>
      <p:sp>
        <p:nvSpPr>
          <p:cNvPr id="33" name="!!bes3"/>
          <p:cNvSpPr/>
          <p:nvPr/>
        </p:nvSpPr>
        <p:spPr>
          <a:xfrm>
            <a:off x="1321308" y="4613148"/>
            <a:ext cx="118872" cy="118872"/>
          </a:xfrm>
          <a:prstGeom prst="ellipse">
            <a:avLst/>
          </a:prstGeom>
          <a:solidFill>
            <a:srgbClr val="1F2F6B"/>
          </a:solidFill>
          <a:ln/>
        </p:spPr>
      </p:sp>
      <p:sp>
        <p:nvSpPr>
          <p:cNvPr id="34" name="!!bes4"/>
          <p:cNvSpPr/>
          <p:nvPr/>
        </p:nvSpPr>
        <p:spPr>
          <a:xfrm>
            <a:off x="1522476" y="4613148"/>
            <a:ext cx="118872" cy="118872"/>
          </a:xfrm>
          <a:prstGeom prst="ellipse">
            <a:avLst/>
          </a:prstGeom>
          <a:solidFill>
            <a:srgbClr val="1F2F6B"/>
          </a:solidFill>
          <a:ln/>
        </p:spPr>
      </p:sp>
      <p:sp>
        <p:nvSpPr>
          <p:cNvPr id="35" name="!!bec0"/>
          <p:cNvSpPr/>
          <p:nvPr/>
        </p:nvSpPr>
        <p:spPr>
          <a:xfrm>
            <a:off x="2089404" y="4610572"/>
            <a:ext cx="118872" cy="118872"/>
          </a:xfrm>
          <a:prstGeom prst="ellipse">
            <a:avLst/>
          </a:prstGeom>
          <a:solidFill>
            <a:srgbClr val="1F2F6B"/>
          </a:solidFill>
          <a:ln/>
        </p:spPr>
      </p:sp>
      <p:sp>
        <p:nvSpPr>
          <p:cNvPr id="36" name="!!bec1"/>
          <p:cNvSpPr/>
          <p:nvPr/>
        </p:nvSpPr>
        <p:spPr>
          <a:xfrm>
            <a:off x="2528316" y="4700689"/>
            <a:ext cx="118872" cy="118872"/>
          </a:xfrm>
          <a:prstGeom prst="ellipse">
            <a:avLst/>
          </a:prstGeom>
          <a:solidFill>
            <a:srgbClr val="1F2F6B"/>
          </a:solidFill>
          <a:ln/>
        </p:spPr>
      </p:sp>
      <p:sp>
        <p:nvSpPr>
          <p:cNvPr id="37" name="!!bec2"/>
          <p:cNvSpPr/>
          <p:nvPr/>
        </p:nvSpPr>
        <p:spPr>
          <a:xfrm>
            <a:off x="2967228" y="4793860"/>
            <a:ext cx="118872" cy="118872"/>
          </a:xfrm>
          <a:prstGeom prst="ellipse">
            <a:avLst/>
          </a:prstGeom>
          <a:solidFill>
            <a:srgbClr val="1F2F6B"/>
          </a:solidFill>
          <a:ln/>
        </p:spPr>
      </p:sp>
      <p:sp>
        <p:nvSpPr>
          <p:cNvPr id="38" name="!!bec3"/>
          <p:cNvSpPr/>
          <p:nvPr/>
        </p:nvSpPr>
        <p:spPr>
          <a:xfrm>
            <a:off x="3406140" y="4887136"/>
            <a:ext cx="118872" cy="118872"/>
          </a:xfrm>
          <a:prstGeom prst="ellipse">
            <a:avLst/>
          </a:prstGeom>
          <a:solidFill>
            <a:srgbClr val="1F2F6B"/>
          </a:solidFill>
          <a:ln/>
        </p:spPr>
      </p:sp>
      <p:sp>
        <p:nvSpPr>
          <p:cNvPr id="39" name="!!bec4"/>
          <p:cNvSpPr/>
          <p:nvPr/>
        </p:nvSpPr>
        <p:spPr>
          <a:xfrm>
            <a:off x="3845052" y="4980818"/>
            <a:ext cx="118872" cy="118872"/>
          </a:xfrm>
          <a:prstGeom prst="ellipse">
            <a:avLst/>
          </a:prstGeom>
          <a:solidFill>
            <a:srgbClr val="1F2F6B"/>
          </a:solidFill>
          <a:ln/>
        </p:spPr>
      </p:sp>
      <p:sp>
        <p:nvSpPr>
          <p:cNvPr id="40" name="!!bec5"/>
          <p:cNvSpPr/>
          <p:nvPr/>
        </p:nvSpPr>
        <p:spPr>
          <a:xfrm>
            <a:off x="4283964" y="5086709"/>
            <a:ext cx="118872" cy="118872"/>
          </a:xfrm>
          <a:prstGeom prst="ellipse">
            <a:avLst/>
          </a:prstGeom>
          <a:solidFill>
            <a:srgbClr val="1F2F6B"/>
          </a:solidFill>
          <a:ln/>
        </p:spPr>
      </p:sp>
      <p:sp>
        <p:nvSpPr>
          <p:cNvPr id="41" name="!!axg0"/>
          <p:cNvSpPr/>
          <p:nvPr/>
        </p:nvSpPr>
        <p:spPr>
          <a:xfrm>
            <a:off x="7315200" y="3931920"/>
            <a:ext cx="4206240" cy="91"/>
          </a:xfrm>
          <a:prstGeom prst="line">
            <a:avLst/>
          </a:prstGeom>
          <a:noFill/>
          <a:ln w="9525">
            <a:solidFill>
              <a:srgbClr val="EDEEF0"/>
            </a:solidFill>
            <a:prstDash val="solid"/>
          </a:ln>
        </p:spPr>
      </p:sp>
      <p:sp>
        <p:nvSpPr>
          <p:cNvPr id="42" name="!!axg1"/>
          <p:cNvSpPr/>
          <p:nvPr/>
        </p:nvSpPr>
        <p:spPr>
          <a:xfrm>
            <a:off x="7315200" y="3265714"/>
            <a:ext cx="4206240" cy="91"/>
          </a:xfrm>
          <a:prstGeom prst="line">
            <a:avLst/>
          </a:prstGeom>
          <a:noFill/>
          <a:ln w="9525">
            <a:solidFill>
              <a:srgbClr val="EDEEF0"/>
            </a:solidFill>
            <a:prstDash val="solid"/>
          </a:ln>
        </p:spPr>
      </p:sp>
      <p:sp>
        <p:nvSpPr>
          <p:cNvPr id="43" name="!!axg2"/>
          <p:cNvSpPr/>
          <p:nvPr/>
        </p:nvSpPr>
        <p:spPr>
          <a:xfrm>
            <a:off x="7315200" y="2599509"/>
            <a:ext cx="4206240" cy="91"/>
          </a:xfrm>
          <a:prstGeom prst="line">
            <a:avLst/>
          </a:prstGeom>
          <a:noFill/>
          <a:ln w="9525">
            <a:solidFill>
              <a:srgbClr val="EDEEF0"/>
            </a:solidFill>
            <a:prstDash val="solid"/>
          </a:ln>
        </p:spPr>
      </p:sp>
      <p:sp>
        <p:nvSpPr>
          <p:cNvPr id="44" name="!!axg3"/>
          <p:cNvSpPr/>
          <p:nvPr/>
        </p:nvSpPr>
        <p:spPr>
          <a:xfrm>
            <a:off x="7315200" y="1933303"/>
            <a:ext cx="4206240" cy="91"/>
          </a:xfrm>
          <a:prstGeom prst="line">
            <a:avLst/>
          </a:prstGeom>
          <a:noFill/>
          <a:ln w="9525">
            <a:solidFill>
              <a:srgbClr val="EDEEF0"/>
            </a:solidFill>
            <a:prstDash val="solid"/>
          </a:ln>
        </p:spPr>
      </p:sp>
      <p:sp>
        <p:nvSpPr>
          <p:cNvPr id="45" name="!!axxa"/>
          <p:cNvSpPr/>
          <p:nvPr/>
        </p:nvSpPr>
        <p:spPr>
          <a:xfrm>
            <a:off x="7315200" y="3931920"/>
            <a:ext cx="4206240" cy="91"/>
          </a:xfrm>
          <a:prstGeom prst="line">
            <a:avLst/>
          </a:prstGeom>
          <a:noFill/>
          <a:ln w="12700">
            <a:solidFill>
              <a:srgbClr val="8A8D93"/>
            </a:solidFill>
            <a:prstDash val="solid"/>
          </a:ln>
        </p:spPr>
      </p:sp>
      <p:sp>
        <p:nvSpPr>
          <p:cNvPr id="46" name="!!axya"/>
          <p:cNvSpPr/>
          <p:nvPr/>
        </p:nvSpPr>
        <p:spPr>
          <a:xfrm>
            <a:off x="7315200" y="1600200"/>
            <a:ext cx="91" cy="2331720"/>
          </a:xfrm>
          <a:prstGeom prst="line">
            <a:avLst/>
          </a:prstGeom>
          <a:noFill/>
          <a:ln w="12700">
            <a:solidFill>
              <a:srgbClr val="8A8D93"/>
            </a:solidFill>
            <a:prstDash val="solid"/>
          </a:ln>
        </p:spPr>
      </p:sp>
      <p:sp>
        <p:nvSpPr>
          <p:cNvPr id="47" name="!!axxt0"/>
          <p:cNvSpPr txBox="1"/>
          <p:nvPr/>
        </p:nvSpPr>
        <p:spPr>
          <a:xfrm>
            <a:off x="699516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8" name="!!axxt1"/>
          <p:cNvSpPr txBox="1"/>
          <p:nvPr/>
        </p:nvSpPr>
        <p:spPr>
          <a:xfrm>
            <a:off x="8196943"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49" name="!!axxt2"/>
          <p:cNvSpPr txBox="1"/>
          <p:nvPr/>
        </p:nvSpPr>
        <p:spPr>
          <a:xfrm>
            <a:off x="9398726"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50" name="!!axxt3"/>
          <p:cNvSpPr txBox="1"/>
          <p:nvPr/>
        </p:nvSpPr>
        <p:spPr>
          <a:xfrm>
            <a:off x="10600509"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51" name="!!axyt0"/>
          <p:cNvSpPr txBox="1"/>
          <p:nvPr/>
        </p:nvSpPr>
        <p:spPr>
          <a:xfrm>
            <a:off x="6629400" y="3831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 µA</a:t>
            </a:r>
            <a:endParaRPr lang="en-US" sz="900" dirty="0"/>
          </a:p>
        </p:txBody>
      </p:sp>
      <p:sp>
        <p:nvSpPr>
          <p:cNvPr id="52" name="!!axyt1"/>
          <p:cNvSpPr txBox="1"/>
          <p:nvPr/>
        </p:nvSpPr>
        <p:spPr>
          <a:xfrm>
            <a:off x="6629400" y="316513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µA</a:t>
            </a:r>
            <a:endParaRPr lang="en-US" sz="900" dirty="0"/>
          </a:p>
        </p:txBody>
      </p:sp>
      <p:sp>
        <p:nvSpPr>
          <p:cNvPr id="53" name="!!axyt2"/>
          <p:cNvSpPr txBox="1"/>
          <p:nvPr/>
        </p:nvSpPr>
        <p:spPr>
          <a:xfrm>
            <a:off x="6629400" y="2498925"/>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20 µA</a:t>
            </a:r>
            <a:endParaRPr lang="en-US" sz="900" dirty="0"/>
          </a:p>
        </p:txBody>
      </p:sp>
      <p:sp>
        <p:nvSpPr>
          <p:cNvPr id="54" name="!!axyt3"/>
          <p:cNvSpPr txBox="1"/>
          <p:nvPr/>
        </p:nvSpPr>
        <p:spPr>
          <a:xfrm>
            <a:off x="6629400" y="1832719"/>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30 µA</a:t>
            </a:r>
            <a:endParaRPr lang="en-US" sz="900" dirty="0"/>
          </a:p>
        </p:txBody>
      </p:sp>
      <p:sp>
        <p:nvSpPr>
          <p:cNvPr id="55" name="!!axxl"/>
          <p:cNvSpPr txBox="1"/>
          <p:nvPr/>
        </p:nvSpPr>
        <p:spPr>
          <a:xfrm>
            <a:off x="7315200" y="420624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drain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56" name="!!axyl"/>
          <p:cNvSpPr txBox="1"/>
          <p:nvPr/>
        </p:nvSpPr>
        <p:spPr>
          <a:xfrm>
            <a:off x="713232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(linear)</a:t>
            </a:r>
            <a:endParaRPr lang="en-US" sz="1100" dirty="0"/>
          </a:p>
        </p:txBody>
      </p:sp>
      <p:sp>
        <p:nvSpPr>
          <p:cNvPr id="57" name="!!ivGhost"/>
          <p:cNvSpPr/>
          <p:nvPr/>
        </p:nvSpPr>
        <p:spPr>
          <a:xfrm>
            <a:off x="7315200" y="1934694"/>
            <a:ext cx="4206240" cy="1997226"/>
          </a:xfrm>
          <a:custGeom>
            <a:avLst/>
            <a:gdLst/>
            <a:ahLst/>
            <a:cxnLst/>
            <a:rect l="l" t="t" r="r" b="b"/>
            <a:pathLst>
              <a:path w="4206240" h="1997226">
                <a:moveTo>
                  <a:pt x="0" y="1997226"/>
                </a:moveTo>
                <a:lnTo>
                  <a:pt x="120178" y="1827108"/>
                </a:lnTo>
                <a:lnTo>
                  <a:pt x="240357" y="1664523"/>
                </a:lnTo>
                <a:lnTo>
                  <a:pt x="360535" y="1509486"/>
                </a:lnTo>
                <a:lnTo>
                  <a:pt x="480713" y="1362010"/>
                </a:lnTo>
                <a:lnTo>
                  <a:pt x="600891" y="1222109"/>
                </a:lnTo>
                <a:lnTo>
                  <a:pt x="721070" y="1089796"/>
                </a:lnTo>
                <a:lnTo>
                  <a:pt x="841248" y="965087"/>
                </a:lnTo>
                <a:lnTo>
                  <a:pt x="961426" y="847994"/>
                </a:lnTo>
                <a:lnTo>
                  <a:pt x="1081605" y="738531"/>
                </a:lnTo>
                <a:lnTo>
                  <a:pt x="1201783" y="636714"/>
                </a:lnTo>
                <a:lnTo>
                  <a:pt x="1321961" y="542554"/>
                </a:lnTo>
                <a:lnTo>
                  <a:pt x="1442139" y="456067"/>
                </a:lnTo>
                <a:lnTo>
                  <a:pt x="1562318" y="377267"/>
                </a:lnTo>
                <a:lnTo>
                  <a:pt x="1682496" y="306166"/>
                </a:lnTo>
                <a:lnTo>
                  <a:pt x="1802674" y="242780"/>
                </a:lnTo>
                <a:lnTo>
                  <a:pt x="1922853" y="187121"/>
                </a:lnTo>
                <a:lnTo>
                  <a:pt x="2043031" y="139204"/>
                </a:lnTo>
                <a:lnTo>
                  <a:pt x="2163209" y="99044"/>
                </a:lnTo>
                <a:lnTo>
                  <a:pt x="2283387" y="66653"/>
                </a:lnTo>
                <a:lnTo>
                  <a:pt x="2403566" y="42045"/>
                </a:lnTo>
                <a:lnTo>
                  <a:pt x="2523744" y="25235"/>
                </a:lnTo>
                <a:lnTo>
                  <a:pt x="2643922" y="16237"/>
                </a:lnTo>
                <a:lnTo>
                  <a:pt x="2764101" y="14084"/>
                </a:lnTo>
                <a:lnTo>
                  <a:pt x="2884279" y="12911"/>
                </a:lnTo>
                <a:lnTo>
                  <a:pt x="3004457" y="11737"/>
                </a:lnTo>
                <a:lnTo>
                  <a:pt x="3124635" y="10563"/>
                </a:lnTo>
                <a:lnTo>
                  <a:pt x="3244814" y="9390"/>
                </a:lnTo>
                <a:lnTo>
                  <a:pt x="3364992" y="8216"/>
                </a:lnTo>
                <a:lnTo>
                  <a:pt x="3485170" y="7042"/>
                </a:lnTo>
                <a:lnTo>
                  <a:pt x="3605349" y="5868"/>
                </a:lnTo>
                <a:lnTo>
                  <a:pt x="3725527" y="4695"/>
                </a:lnTo>
                <a:lnTo>
                  <a:pt x="3845705" y="3521"/>
                </a:lnTo>
                <a:lnTo>
                  <a:pt x="3965883" y="2347"/>
                </a:lnTo>
                <a:lnTo>
                  <a:pt x="4086062" y="1174"/>
                </a:lnTo>
                <a:lnTo>
                  <a:pt x="4206240" y="0"/>
                </a:lnTo>
              </a:path>
            </a:pathLst>
          </a:custGeom>
          <a:ln w="25400">
            <a:solidFill>
              <a:srgbClr val="C9CCD3"/>
            </a:solidFill>
            <a:prstDash val="solid"/>
          </a:ln>
        </p:spPr>
      </p:sp>
      <p:sp>
        <p:nvSpPr>
          <p:cNvPr id="58" name="!!ivTrail"/>
          <p:cNvSpPr/>
          <p:nvPr/>
        </p:nvSpPr>
        <p:spPr>
          <a:xfrm>
            <a:off x="7315200" y="1934694"/>
            <a:ext cx="4206240" cy="1997226"/>
          </a:xfrm>
          <a:custGeom>
            <a:avLst/>
            <a:gdLst/>
            <a:ahLst/>
            <a:cxnLst/>
            <a:rect l="l" t="t" r="r" b="b"/>
            <a:pathLst>
              <a:path w="4206240" h="1997226">
                <a:moveTo>
                  <a:pt x="0" y="1997226"/>
                </a:moveTo>
                <a:lnTo>
                  <a:pt x="120178" y="1827108"/>
                </a:lnTo>
                <a:lnTo>
                  <a:pt x="240357" y="1664523"/>
                </a:lnTo>
                <a:lnTo>
                  <a:pt x="360535" y="1509486"/>
                </a:lnTo>
                <a:lnTo>
                  <a:pt x="480713" y="1362010"/>
                </a:lnTo>
                <a:lnTo>
                  <a:pt x="600891" y="1222109"/>
                </a:lnTo>
                <a:lnTo>
                  <a:pt x="721070" y="1089796"/>
                </a:lnTo>
                <a:lnTo>
                  <a:pt x="841248" y="965087"/>
                </a:lnTo>
                <a:lnTo>
                  <a:pt x="961426" y="847994"/>
                </a:lnTo>
                <a:lnTo>
                  <a:pt x="1081605" y="738531"/>
                </a:lnTo>
                <a:lnTo>
                  <a:pt x="1201783" y="636714"/>
                </a:lnTo>
                <a:lnTo>
                  <a:pt x="1321961" y="542554"/>
                </a:lnTo>
                <a:lnTo>
                  <a:pt x="1442139" y="456067"/>
                </a:lnTo>
                <a:lnTo>
                  <a:pt x="1562318" y="377267"/>
                </a:lnTo>
                <a:lnTo>
                  <a:pt x="1682496" y="306166"/>
                </a:lnTo>
                <a:lnTo>
                  <a:pt x="1802674" y="242780"/>
                </a:lnTo>
                <a:lnTo>
                  <a:pt x="1922853" y="187121"/>
                </a:lnTo>
                <a:lnTo>
                  <a:pt x="2043031" y="139204"/>
                </a:lnTo>
                <a:lnTo>
                  <a:pt x="2163209" y="99044"/>
                </a:lnTo>
                <a:lnTo>
                  <a:pt x="2283387" y="66653"/>
                </a:lnTo>
                <a:lnTo>
                  <a:pt x="2403566" y="42045"/>
                </a:lnTo>
                <a:lnTo>
                  <a:pt x="2523744" y="25235"/>
                </a:lnTo>
                <a:lnTo>
                  <a:pt x="2643922" y="16237"/>
                </a:lnTo>
                <a:lnTo>
                  <a:pt x="2764101" y="14084"/>
                </a:lnTo>
                <a:lnTo>
                  <a:pt x="2884279" y="12911"/>
                </a:lnTo>
                <a:lnTo>
                  <a:pt x="3004457" y="11737"/>
                </a:lnTo>
                <a:lnTo>
                  <a:pt x="3124635" y="10563"/>
                </a:lnTo>
                <a:lnTo>
                  <a:pt x="3244814" y="9390"/>
                </a:lnTo>
                <a:lnTo>
                  <a:pt x="3364992" y="8216"/>
                </a:lnTo>
                <a:lnTo>
                  <a:pt x="3485170" y="7042"/>
                </a:lnTo>
                <a:lnTo>
                  <a:pt x="3605349" y="5868"/>
                </a:lnTo>
                <a:lnTo>
                  <a:pt x="3725527" y="4695"/>
                </a:lnTo>
                <a:lnTo>
                  <a:pt x="3845705" y="3521"/>
                </a:lnTo>
                <a:lnTo>
                  <a:pt x="3965883" y="2347"/>
                </a:lnTo>
                <a:lnTo>
                  <a:pt x="4086062" y="1174"/>
                </a:lnTo>
                <a:lnTo>
                  <a:pt x="4206240" y="0"/>
                </a:lnTo>
              </a:path>
            </a:pathLst>
          </a:custGeom>
          <a:ln w="38100">
            <a:solidFill>
              <a:srgbClr val="3E6AE1"/>
            </a:solidFill>
            <a:prstDash val="solid"/>
          </a:ln>
        </p:spPr>
      </p:sp>
      <p:sp>
        <p:nvSpPr>
          <p:cNvPr id="59" name="!!ivVT"/>
          <p:cNvSpPr/>
          <p:nvPr/>
        </p:nvSpPr>
        <p:spPr>
          <a:xfrm>
            <a:off x="10019211" y="1600200"/>
            <a:ext cx="91" cy="2331720"/>
          </a:xfrm>
          <a:prstGeom prst="line">
            <a:avLst/>
          </a:prstGeom>
          <a:noFill/>
          <a:ln w="9525">
            <a:solidFill>
              <a:srgbClr val="D64545"/>
            </a:solidFill>
            <a:prstDash val="dash"/>
          </a:ln>
        </p:spPr>
      </p:sp>
      <p:sp>
        <p:nvSpPr>
          <p:cNvPr id="60" name="!!ivVTl"/>
          <p:cNvSpPr txBox="1"/>
          <p:nvPr/>
        </p:nvSpPr>
        <p:spPr>
          <a:xfrm>
            <a:off x="10055787" y="3694176"/>
            <a:ext cx="914400" cy="182880"/>
          </a:xfrm>
          <a:prstGeom prst="rect">
            <a:avLst/>
          </a:prstGeom>
          <a:noFill/>
          <a:ln/>
        </p:spPr>
        <p:txBody>
          <a:bodyPr wrap="square" lIns="0" tIns="0" rIns="0" bIns="0" rtlCol="0" anchor="t"/>
          <a:lstStyle/>
          <a:p>
            <a:pPr algn="l" indent="0" marL="0">
              <a:buNone/>
            </a:pPr>
            <a:r>
              <a:rPr lang="en-US" sz="900" dirty="0">
                <a:solidFill>
                  <a:srgbClr val="D64545"/>
                </a:solidFill>
                <a:latin typeface="Segoe UI" pitchFamily="34" charset="0"/>
                <a:ea typeface="Segoe UI" pitchFamily="34" charset="-122"/>
                <a:cs typeface="Segoe UI" pitchFamily="34" charset="-120"/>
              </a:rPr>
              <a:t>pinch-off</a:t>
            </a:r>
            <a:endParaRPr lang="en-US" sz="900" dirty="0"/>
          </a:p>
        </p:txBody>
      </p:sp>
      <p:sp>
        <p:nvSpPr>
          <p:cNvPr id="61" name="!!ivPt"/>
          <p:cNvSpPr/>
          <p:nvPr/>
        </p:nvSpPr>
        <p:spPr>
          <a:xfrm>
            <a:off x="11439144" y="1852398"/>
            <a:ext cx="164592" cy="164592"/>
          </a:xfrm>
          <a:prstGeom prst="ellipse">
            <a:avLst/>
          </a:prstGeom>
          <a:solidFill>
            <a:srgbClr val="2E9E4F"/>
          </a:solidFill>
          <a:ln w="19050">
            <a:solidFill>
              <a:srgbClr val="FFFFFF"/>
            </a:solidFill>
            <a:prstDash val="solid"/>
          </a:ln>
        </p:spPr>
      </p:sp>
      <p:sp>
        <p:nvSpPr>
          <p:cNvPr id="62" name="!!ivPtL"/>
          <p:cNvSpPr txBox="1"/>
          <p:nvPr/>
        </p:nvSpPr>
        <p:spPr>
          <a:xfrm>
            <a:off x="10652760" y="1605510"/>
            <a:ext cx="822960" cy="219456"/>
          </a:xfrm>
          <a:prstGeom prst="rect">
            <a:avLst/>
          </a:prstGeom>
          <a:noFill/>
          <a:ln/>
        </p:spPr>
        <p:txBody>
          <a:bodyPr wrap="square" lIns="0" tIns="0" rIns="0" bIns="0" rtlCol="0" anchor="t"/>
          <a:lstStyle/>
          <a:p>
            <a:pPr algn="r" indent="0" marL="0">
              <a:buNone/>
            </a:pPr>
            <a:r>
              <a:rPr lang="en-US" sz="1100" dirty="0">
                <a:solidFill>
                  <a:srgbClr val="2E9E4F"/>
                </a:solidFill>
                <a:latin typeface="Segoe UI Semibold" pitchFamily="34" charset="0"/>
                <a:ea typeface="Segoe UI Semibold" pitchFamily="34" charset="-122"/>
                <a:cs typeface="Segoe UI Semibold" pitchFamily="34" charset="-120"/>
              </a:rPr>
              <a:t>30.0 µA</a:t>
            </a:r>
            <a:endParaRPr lang="en-US" sz="1100" dirty="0"/>
          </a:p>
        </p:txBody>
      </p:sp>
      <p:sp>
        <p:nvSpPr>
          <p:cNvPr id="63" name="!!ivRead"/>
          <p:cNvSpPr txBox="1"/>
          <p:nvPr/>
        </p:nvSpPr>
        <p:spPr>
          <a:xfrm>
            <a:off x="6858000" y="4526280"/>
            <a:ext cx="4754880" cy="256032"/>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0.70 V     I</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30.0 µA</a:t>
            </a:r>
            <a:endParaRPr lang="en-US" sz="1400" dirty="0"/>
          </a:p>
        </p:txBody>
      </p:sp>
      <p:sp>
        <p:nvSpPr>
          <p:cNvPr id="64" name="!!ivReg"/>
          <p:cNvSpPr txBox="1"/>
          <p:nvPr/>
        </p:nvSpPr>
        <p:spPr>
          <a:xfrm>
            <a:off x="6858000" y="4773168"/>
            <a:ext cx="4754880" cy="219456"/>
          </a:xfrm>
          <a:prstGeom prst="rect">
            <a:avLst/>
          </a:prstGeom>
          <a:noFill/>
          <a:ln/>
        </p:spPr>
        <p:txBody>
          <a:bodyPr wrap="square" lIns="0" tIns="0" rIns="0" bIns="0" rtlCol="0" anchor="t"/>
          <a:lstStyle/>
          <a:p>
            <a:pPr algn="l" indent="0" marL="0">
              <a:buNone/>
            </a:pPr>
            <a:r>
              <a:rPr lang="en-US" sz="1100" dirty="0">
                <a:solidFill>
                  <a:srgbClr val="2E9E4F"/>
                </a:solidFill>
                <a:latin typeface="Segoe UI Semibold" pitchFamily="34" charset="0"/>
                <a:ea typeface="Segoe UI Semibold" pitchFamily="34" charset="-122"/>
                <a:cs typeface="Segoe UI Semibold" pitchFamily="34" charset="-120"/>
              </a:rPr>
              <a:t>SATURATION: I</a:t>
            </a:r>
            <a:pPr algn="l" indent="0" marL="0">
              <a:buNone/>
            </a:pPr>
            <a:r>
              <a:rPr lang="en-US" sz="1100" baseline="-40000" dirty="0">
                <a:solidFill>
                  <a:srgbClr val="2E9E4F"/>
                </a:solidFill>
                <a:latin typeface="Segoe UI Semibold" pitchFamily="34" charset="0"/>
                <a:ea typeface="Segoe UI Semibold" pitchFamily="34" charset="-122"/>
                <a:cs typeface="Segoe UI Semibold" pitchFamily="34" charset="-120"/>
              </a:rPr>
              <a:t>D</a:t>
            </a:r>
            <a:pPr algn="l" indent="0" marL="0">
              <a:buNone/>
            </a:pPr>
            <a:r>
              <a:rPr lang="en-US" sz="1100" dirty="0">
                <a:solidFill>
                  <a:srgbClr val="2E9E4F"/>
                </a:solidFill>
                <a:latin typeface="Segoe UI Semibold" pitchFamily="34" charset="0"/>
                <a:ea typeface="Segoe UI Semibold" pitchFamily="34" charset="-122"/>
                <a:cs typeface="Segoe UI Semibold" pitchFamily="34" charset="-120"/>
              </a:rPr>
              <a:t> ≈ constant = I</a:t>
            </a:r>
            <a:pPr algn="l" indent="0" marL="0">
              <a:buNone/>
            </a:pPr>
            <a:r>
              <a:rPr lang="en-US" sz="1100" baseline="-40000" dirty="0">
                <a:solidFill>
                  <a:srgbClr val="2E9E4F"/>
                </a:solidFill>
                <a:latin typeface="Segoe UI Semibold" pitchFamily="34" charset="0"/>
                <a:ea typeface="Segoe UI Semibold" pitchFamily="34" charset="-122"/>
                <a:cs typeface="Segoe UI Semibold" pitchFamily="34" charset="-120"/>
              </a:rPr>
              <a:t>on</a:t>
            </a:r>
            <a:endParaRPr lang="en-US" sz="1100" dirty="0"/>
          </a:p>
        </p:txBody>
      </p:sp>
      <p:sp>
        <p:nvSpPr>
          <p:cNvPr id="65" name="!!knobLbl"/>
          <p:cNvSpPr txBox="1"/>
          <p:nvPr/>
        </p:nvSpPr>
        <p:spPr>
          <a:xfrm>
            <a:off x="7022592" y="5001768"/>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drain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D</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11998E"/>
                </a:solidFill>
                <a:latin typeface="Segoe UI Semibold" pitchFamily="34" charset="0"/>
                <a:ea typeface="Segoe UI Semibold" pitchFamily="34" charset="-122"/>
                <a:cs typeface="Segoe UI Semibold" pitchFamily="34" charset="-120"/>
              </a:rPr>
              <a:t>0.7 V</a:t>
            </a:r>
            <a:endParaRPr lang="en-US" sz="1200" dirty="0"/>
          </a:p>
        </p:txBody>
      </p:sp>
      <p:sp>
        <p:nvSpPr>
          <p:cNvPr id="66" name="!!knobTrack"/>
          <p:cNvSpPr/>
          <p:nvPr/>
        </p:nvSpPr>
        <p:spPr>
          <a:xfrm>
            <a:off x="7040880" y="5385816"/>
            <a:ext cx="4480560" cy="54864"/>
          </a:xfrm>
          <a:prstGeom prst="roundRect">
            <a:avLst>
              <a:gd name="adj" fmla="val 50000"/>
            </a:avLst>
          </a:prstGeom>
          <a:solidFill>
            <a:srgbClr val="E2E3E3"/>
          </a:solidFill>
          <a:ln/>
        </p:spPr>
      </p:sp>
      <p:sp>
        <p:nvSpPr>
          <p:cNvPr id="67" name="!!knobFill"/>
          <p:cNvSpPr/>
          <p:nvPr/>
        </p:nvSpPr>
        <p:spPr>
          <a:xfrm>
            <a:off x="7040880" y="5385816"/>
            <a:ext cx="4480560" cy="54864"/>
          </a:xfrm>
          <a:prstGeom prst="roundRect">
            <a:avLst>
              <a:gd name="adj" fmla="val 50000"/>
            </a:avLst>
          </a:prstGeom>
          <a:solidFill>
            <a:srgbClr val="11998E"/>
          </a:solidFill>
          <a:ln/>
        </p:spPr>
      </p:sp>
      <p:sp>
        <p:nvSpPr>
          <p:cNvPr id="68" name="!!knobT0"/>
          <p:cNvSpPr txBox="1"/>
          <p:nvPr/>
        </p:nvSpPr>
        <p:spPr>
          <a:xfrm>
            <a:off x="667512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69" name="!!knobT1"/>
          <p:cNvSpPr txBox="1"/>
          <p:nvPr/>
        </p:nvSpPr>
        <p:spPr>
          <a:xfrm>
            <a:off x="79552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70" name="!!knobT2"/>
          <p:cNvSpPr txBox="1"/>
          <p:nvPr/>
        </p:nvSpPr>
        <p:spPr>
          <a:xfrm>
            <a:off x="923544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71" name="!!knobT3"/>
          <p:cNvSpPr txBox="1"/>
          <p:nvPr/>
        </p:nvSpPr>
        <p:spPr>
          <a:xfrm>
            <a:off x="1051560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72" name="!!knobT4"/>
          <p:cNvSpPr txBox="1"/>
          <p:nvPr/>
        </p:nvSpPr>
        <p:spPr>
          <a:xfrm>
            <a:off x="11155680" y="552297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73" name="!!knobThumb"/>
          <p:cNvSpPr/>
          <p:nvPr/>
        </p:nvSpPr>
        <p:spPr>
          <a:xfrm>
            <a:off x="11420856" y="5312664"/>
            <a:ext cx="201168" cy="201168"/>
          </a:xfrm>
          <a:prstGeom prst="ellipse">
            <a:avLst/>
          </a:prstGeom>
          <a:solidFill>
            <a:srgbClr val="FFFFFF"/>
          </a:solidFill>
          <a:ln w="28575">
            <a:solidFill>
              <a:srgbClr val="11998E"/>
            </a:solidFill>
            <a:prstDash val="solid"/>
          </a:ln>
        </p:spPr>
      </p:sp>
      <p:sp>
        <p:nvSpPr>
          <p:cNvPr id="74"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Beyond pinch-off I</a:t>
            </a:r>
            <a:pPr algn="ctr" indent="0" marL="0">
              <a:buNone/>
            </a:pPr>
            <a:r>
              <a:rPr lang="en-US" sz="1600" baseline="-40000" dirty="0">
                <a:solidFill>
                  <a:srgbClr val="171A20"/>
                </a:solidFill>
                <a:latin typeface="Segoe UI" pitchFamily="34" charset="0"/>
                <a:ea typeface="Segoe UI" pitchFamily="34" charset="-122"/>
                <a:cs typeface="Segoe UI" pitchFamily="34" charset="-120"/>
              </a:rPr>
              <a:t>D</a:t>
            </a:r>
            <a:pPr algn="ctr" indent="0" marL="0">
              <a:buNone/>
            </a:pPr>
            <a:r>
              <a:rPr lang="en-US" sz="1600" dirty="0">
                <a:solidFill>
                  <a:srgbClr val="171A20"/>
                </a:solidFill>
                <a:latin typeface="Segoe UI" pitchFamily="34" charset="0"/>
                <a:ea typeface="Segoe UI" pitchFamily="34" charset="-122"/>
                <a:cs typeface="Segoe UI" pitchFamily="34" charset="-120"/>
              </a:rPr>
              <a:t> stays flat: I</a:t>
            </a:r>
            <a:pPr algn="ctr" indent="0" marL="0">
              <a:buNone/>
            </a:pPr>
            <a:r>
              <a:rPr lang="en-US" sz="1600" baseline="-40000" dirty="0">
                <a:solidFill>
                  <a:srgbClr val="171A20"/>
                </a:solidFill>
                <a:latin typeface="Segoe UI" pitchFamily="34" charset="0"/>
                <a:ea typeface="Segoe UI" pitchFamily="34" charset="-122"/>
                <a:cs typeface="Segoe UI" pitchFamily="34" charset="-120"/>
              </a:rPr>
              <a:t>on</a:t>
            </a:r>
            <a:pPr algn="ctr" indent="0" marL="0">
              <a:buNone/>
            </a:pPr>
            <a:r>
              <a:rPr lang="en-US" sz="1600" dirty="0">
                <a:solidFill>
                  <a:srgbClr val="171A20"/>
                </a:solidFill>
                <a:latin typeface="Segoe UI" pitchFamily="34" charset="0"/>
                <a:ea typeface="Segoe UI" pitchFamily="34" charset="-122"/>
                <a:cs typeface="Segoe UI" pitchFamily="34" charset="-120"/>
              </a:rPr>
              <a:t> is read here, and so is every heat number in this project.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34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Contents</a:t>
            </a:r>
            <a:endParaRPr lang="en-US" sz="3000" dirty="0"/>
          </a:p>
        </p:txBody>
      </p:sp>
      <p:sp>
        <p:nvSpPr>
          <p:cNvPr id="3" name="!!tocLine"/>
          <p:cNvSpPr/>
          <p:nvPr/>
        </p:nvSpPr>
        <p:spPr>
          <a:xfrm>
            <a:off x="868680" y="1508760"/>
            <a:ext cx="91" cy="3840480"/>
          </a:xfrm>
          <a:prstGeom prst="line">
            <a:avLst/>
          </a:prstGeom>
          <a:noFill/>
          <a:ln w="38100">
            <a:solidFill>
              <a:srgbClr val="E2E3E3"/>
            </a:solidFill>
            <a:prstDash val="solid"/>
          </a:ln>
        </p:spPr>
      </p:sp>
      <p:sp>
        <p:nvSpPr>
          <p:cNvPr id="4" name="!!tocC0"/>
          <p:cNvSpPr/>
          <p:nvPr/>
        </p:nvSpPr>
        <p:spPr>
          <a:xfrm>
            <a:off x="685800" y="1325880"/>
            <a:ext cx="365760" cy="365760"/>
          </a:xfrm>
          <a:prstGeom prst="ellipse">
            <a:avLst/>
          </a:prstGeom>
          <a:solidFill>
            <a:srgbClr val="FFFFFF"/>
          </a:solidFill>
          <a:ln w="15875">
            <a:solidFill>
              <a:srgbClr val="2E9E4F"/>
            </a:solidFill>
            <a:prstDash val="solid"/>
          </a:ln>
        </p:spPr>
      </p:sp>
      <p:sp>
        <p:nvSpPr>
          <p:cNvPr id="5" name="!!tocN0"/>
          <p:cNvSpPr txBox="1"/>
          <p:nvPr/>
        </p:nvSpPr>
        <p:spPr>
          <a:xfrm>
            <a:off x="685800" y="135331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01</a:t>
            </a:r>
            <a:endParaRPr lang="en-US" sz="1000" dirty="0"/>
          </a:p>
        </p:txBody>
      </p:sp>
      <p:sp>
        <p:nvSpPr>
          <p:cNvPr id="6" name="!!tocH0"/>
          <p:cNvSpPr txBox="1"/>
          <p:nvPr/>
        </p:nvSpPr>
        <p:spPr>
          <a:xfrm>
            <a:off x="1325880" y="128016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The MOSFET switch</a:t>
            </a:r>
            <a:endParaRPr lang="en-US" sz="1800" dirty="0"/>
          </a:p>
        </p:txBody>
      </p:sp>
      <p:sp>
        <p:nvSpPr>
          <p:cNvPr id="7" name="!!tocS0"/>
          <p:cNvSpPr txBox="1"/>
          <p:nvPr/>
        </p:nvSpPr>
        <p:spPr>
          <a:xfrm>
            <a:off x="1325880" y="162763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Build it · turn the gate · turn the drain · V</a:t>
            </a:r>
            <a:pPr algn="l" indent="0" marL="0">
              <a:buNone/>
            </a:pPr>
            <a:r>
              <a:rPr lang="en-US" sz="1100" baseline="-40000" dirty="0">
                <a:solidFill>
                  <a:srgbClr val="A9ACB1"/>
                </a:solidFill>
                <a:latin typeface="Segoe UI" pitchFamily="34" charset="0"/>
                <a:ea typeface="Segoe UI" pitchFamily="34" charset="-122"/>
                <a:cs typeface="Segoe UI" pitchFamily="34" charset="-120"/>
              </a:rPr>
              <a:t>T</a:t>
            </a:r>
            <a:pPr algn="l" indent="0" marL="0">
              <a:buNone/>
            </a:pPr>
            <a:r>
              <a:rPr lang="en-US" sz="1100" dirty="0">
                <a:solidFill>
                  <a:srgbClr val="A9ACB1"/>
                </a:solidFill>
                <a:latin typeface="Segoe UI" pitchFamily="34" charset="0"/>
                <a:ea typeface="Segoe UI" pitchFamily="34" charset="-122"/>
                <a:cs typeface="Segoe UI" pitchFamily="34" charset="-120"/>
              </a:rPr>
              <a:t> and SS in depth</a:t>
            </a:r>
            <a:endParaRPr lang="en-US" sz="1100" dirty="0"/>
          </a:p>
        </p:txBody>
      </p:sp>
      <p:sp>
        <p:nvSpPr>
          <p:cNvPr id="8" name="!!tocC1"/>
          <p:cNvSpPr/>
          <p:nvPr/>
        </p:nvSpPr>
        <p:spPr>
          <a:xfrm>
            <a:off x="685800" y="1965960"/>
            <a:ext cx="365760" cy="365760"/>
          </a:xfrm>
          <a:prstGeom prst="ellipse">
            <a:avLst/>
          </a:prstGeom>
          <a:solidFill>
            <a:srgbClr val="171A20"/>
          </a:solidFill>
          <a:ln w="15875">
            <a:solidFill>
              <a:srgbClr val="171A20"/>
            </a:solidFill>
            <a:prstDash val="solid"/>
          </a:ln>
        </p:spPr>
      </p:sp>
      <p:sp>
        <p:nvSpPr>
          <p:cNvPr id="9" name="!!tocN1"/>
          <p:cNvSpPr txBox="1"/>
          <p:nvPr/>
        </p:nvSpPr>
        <p:spPr>
          <a:xfrm>
            <a:off x="685800" y="1993392"/>
            <a:ext cx="365760" cy="310896"/>
          </a:xfrm>
          <a:prstGeom prst="rect">
            <a:avLst/>
          </a:prstGeom>
          <a:noFill/>
          <a:ln/>
        </p:spPr>
        <p:txBody>
          <a:bodyPr wrap="square" lIns="0" tIns="0" rIns="0" bIns="0" rtlCol="0" anchor="ctr"/>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02</a:t>
            </a:r>
            <a:endParaRPr lang="en-US" sz="1000" dirty="0"/>
          </a:p>
        </p:txBody>
      </p:sp>
      <p:sp>
        <p:nvSpPr>
          <p:cNvPr id="10" name="!!tocH1"/>
          <p:cNvSpPr txBox="1"/>
          <p:nvPr/>
        </p:nvSpPr>
        <p:spPr>
          <a:xfrm>
            <a:off x="1325880" y="1920240"/>
            <a:ext cx="6400800" cy="347472"/>
          </a:xfrm>
          <a:prstGeom prst="rect">
            <a:avLst/>
          </a:prstGeom>
          <a:noFill/>
          <a:ln/>
        </p:spPr>
        <p:txBody>
          <a:bodyPr wrap="square" lIns="0" tIns="0" rIns="0" bIns="0" rtlCol="0" anchor="ctr"/>
          <a:lstStyle/>
          <a:p>
            <a:pPr algn="l" indent="0" marL="0">
              <a:buNone/>
            </a:pPr>
            <a:r>
              <a:rPr lang="en-US" sz="2000" dirty="0">
                <a:solidFill>
                  <a:srgbClr val="171A20"/>
                </a:solidFill>
                <a:latin typeface="Segoe UI Semibold" pitchFamily="34" charset="0"/>
                <a:ea typeface="Segoe UI Semibold" pitchFamily="34" charset="-122"/>
                <a:cs typeface="Segoe UI Semibold" pitchFamily="34" charset="-120"/>
              </a:rPr>
              <a:t>Shrinking the gate</a:t>
            </a:r>
            <a:endParaRPr lang="en-US" sz="2000" dirty="0"/>
          </a:p>
        </p:txBody>
      </p:sp>
      <p:sp>
        <p:nvSpPr>
          <p:cNvPr id="11" name="!!tocS1"/>
          <p:cNvSpPr txBox="1"/>
          <p:nvPr/>
        </p:nvSpPr>
        <p:spPr>
          <a:xfrm>
            <a:off x="1325880" y="2267712"/>
            <a:ext cx="8229600" cy="237744"/>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Shorter L</a:t>
            </a:r>
            <a:pPr algn="l" indent="0" marL="0">
              <a:buNone/>
            </a:pPr>
            <a:r>
              <a:rPr lang="en-US" sz="1100" baseline="-40000" dirty="0">
                <a:solidFill>
                  <a:srgbClr val="5C5E62"/>
                </a:solidFill>
                <a:latin typeface="Segoe UI" pitchFamily="34" charset="0"/>
                <a:ea typeface="Segoe UI" pitchFamily="34" charset="-122"/>
                <a:cs typeface="Segoe UI" pitchFamily="34" charset="-120"/>
              </a:rPr>
              <a:t>g</a:t>
            </a:r>
            <a:pPr algn="l" indent="0" marL="0">
              <a:buNone/>
            </a:pPr>
            <a:r>
              <a:rPr lang="en-US" sz="1100" dirty="0">
                <a:solidFill>
                  <a:srgbClr val="5C5E62"/>
                </a:solidFill>
                <a:latin typeface="Segoe UI" pitchFamily="34" charset="0"/>
                <a:ea typeface="Segoe UI" pitchFamily="34" charset="-122"/>
                <a:cs typeface="Segoe UI" pitchFamily="34" charset="-120"/>
              </a:rPr>
              <a:t> · DIBL and leakage · the scale length λ</a:t>
            </a:r>
            <a:endParaRPr lang="en-US" sz="1100" dirty="0"/>
          </a:p>
        </p:txBody>
      </p:sp>
      <p:sp>
        <p:nvSpPr>
          <p:cNvPr id="12" name="!!tocC2"/>
          <p:cNvSpPr/>
          <p:nvPr/>
        </p:nvSpPr>
        <p:spPr>
          <a:xfrm>
            <a:off x="685800" y="2606040"/>
            <a:ext cx="365760" cy="365760"/>
          </a:xfrm>
          <a:prstGeom prst="ellipse">
            <a:avLst/>
          </a:prstGeom>
          <a:solidFill>
            <a:srgbClr val="FFFFFF"/>
          </a:solidFill>
          <a:ln w="15875">
            <a:solidFill>
              <a:srgbClr val="9C7A3C"/>
            </a:solidFill>
            <a:prstDash val="solid"/>
          </a:ln>
        </p:spPr>
      </p:sp>
      <p:sp>
        <p:nvSpPr>
          <p:cNvPr id="13" name="!!tocN2"/>
          <p:cNvSpPr txBox="1"/>
          <p:nvPr/>
        </p:nvSpPr>
        <p:spPr>
          <a:xfrm>
            <a:off x="685800" y="263347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03</a:t>
            </a:r>
            <a:endParaRPr lang="en-US" sz="1000" dirty="0"/>
          </a:p>
        </p:txBody>
      </p:sp>
      <p:sp>
        <p:nvSpPr>
          <p:cNvPr id="14" name="!!tocH2"/>
          <p:cNvSpPr txBox="1"/>
          <p:nvPr/>
        </p:nvSpPr>
        <p:spPr>
          <a:xfrm>
            <a:off x="1325880" y="256032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FinFET → GAAFET</a:t>
            </a:r>
            <a:endParaRPr lang="en-US" sz="1800" dirty="0"/>
          </a:p>
        </p:txBody>
      </p:sp>
      <p:sp>
        <p:nvSpPr>
          <p:cNvPr id="15" name="!!tocS2"/>
          <p:cNvSpPr txBox="1"/>
          <p:nvPr/>
        </p:nvSpPr>
        <p:spPr>
          <a:xfrm>
            <a:off x="1325880" y="290779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More gate sides · fin width · wire, sheet, stack · our GAA in numbers</a:t>
            </a:r>
            <a:endParaRPr lang="en-US" sz="1100" dirty="0"/>
          </a:p>
        </p:txBody>
      </p:sp>
      <p:sp>
        <p:nvSpPr>
          <p:cNvPr id="16" name="!!tocC3"/>
          <p:cNvSpPr/>
          <p:nvPr/>
        </p:nvSpPr>
        <p:spPr>
          <a:xfrm>
            <a:off x="685800" y="3246120"/>
            <a:ext cx="365760" cy="365760"/>
          </a:xfrm>
          <a:prstGeom prst="ellipse">
            <a:avLst/>
          </a:prstGeom>
          <a:solidFill>
            <a:srgbClr val="FFFFFF"/>
          </a:solidFill>
          <a:ln w="15875">
            <a:solidFill>
              <a:srgbClr val="9C7A3C"/>
            </a:solidFill>
            <a:prstDash val="solid"/>
          </a:ln>
        </p:spPr>
      </p:sp>
      <p:sp>
        <p:nvSpPr>
          <p:cNvPr id="17" name="!!tocN3"/>
          <p:cNvSpPr txBox="1"/>
          <p:nvPr/>
        </p:nvSpPr>
        <p:spPr>
          <a:xfrm>
            <a:off x="685800" y="327355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04</a:t>
            </a:r>
            <a:endParaRPr lang="en-US" sz="1000" dirty="0"/>
          </a:p>
        </p:txBody>
      </p:sp>
      <p:sp>
        <p:nvSpPr>
          <p:cNvPr id="18" name="!!tocH3"/>
          <p:cNvSpPr txBox="1"/>
          <p:nvPr/>
        </p:nvSpPr>
        <p:spPr>
          <a:xfrm>
            <a:off x="1325880" y="320040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The new problem: heat</a:t>
            </a:r>
            <a:endParaRPr lang="en-US" sz="1800" dirty="0"/>
          </a:p>
        </p:txBody>
      </p:sp>
      <p:sp>
        <p:nvSpPr>
          <p:cNvPr id="19" name="!!tocS3"/>
          <p:cNvSpPr txBox="1"/>
          <p:nvPr/>
        </p:nvSpPr>
        <p:spPr>
          <a:xfrm>
            <a:off x="1325880" y="354787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Oxide traps heat · ΔT = R</a:t>
            </a:r>
            <a:pPr algn="l" indent="0" marL="0">
              <a:buNone/>
            </a:pPr>
            <a:r>
              <a:rPr lang="en-US" sz="1100" baseline="-40000" dirty="0">
                <a:solidFill>
                  <a:srgbClr val="A9ACB1"/>
                </a:solidFill>
                <a:latin typeface="Segoe UI" pitchFamily="34" charset="0"/>
                <a:ea typeface="Segoe UI" pitchFamily="34" charset="-122"/>
                <a:cs typeface="Segoe UI" pitchFamily="34" charset="-120"/>
              </a:rPr>
              <a:t>th</a:t>
            </a:r>
            <a:pPr algn="l" indent="0" marL="0">
              <a:buNone/>
            </a:pPr>
            <a:r>
              <a:rPr lang="en-US" sz="1100" dirty="0">
                <a:solidFill>
                  <a:srgbClr val="A9ACB1"/>
                </a:solidFill>
                <a:latin typeface="Segoe UI" pitchFamily="34" charset="0"/>
                <a:ea typeface="Segoe UI" pitchFamily="34" charset="-122"/>
                <a:cs typeface="Segoe UI" pitchFamily="34" charset="-120"/>
              </a:rPr>
              <a:t> · P · what heat does to every metric</a:t>
            </a:r>
            <a:endParaRPr lang="en-US" sz="1100" dirty="0"/>
          </a:p>
        </p:txBody>
      </p:sp>
      <p:sp>
        <p:nvSpPr>
          <p:cNvPr id="20" name="!!tocC4"/>
          <p:cNvSpPr/>
          <p:nvPr/>
        </p:nvSpPr>
        <p:spPr>
          <a:xfrm>
            <a:off x="685800" y="3886200"/>
            <a:ext cx="365760" cy="365760"/>
          </a:xfrm>
          <a:prstGeom prst="ellipse">
            <a:avLst/>
          </a:prstGeom>
          <a:solidFill>
            <a:srgbClr val="FFFFFF"/>
          </a:solidFill>
          <a:ln w="15875">
            <a:solidFill>
              <a:srgbClr val="9C7A3C"/>
            </a:solidFill>
            <a:prstDash val="solid"/>
          </a:ln>
        </p:spPr>
      </p:sp>
      <p:sp>
        <p:nvSpPr>
          <p:cNvPr id="21" name="!!tocN4"/>
          <p:cNvSpPr txBox="1"/>
          <p:nvPr/>
        </p:nvSpPr>
        <p:spPr>
          <a:xfrm>
            <a:off x="685800" y="391363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05</a:t>
            </a:r>
            <a:endParaRPr lang="en-US" sz="1000" dirty="0"/>
          </a:p>
        </p:txBody>
      </p:sp>
      <p:sp>
        <p:nvSpPr>
          <p:cNvPr id="22" name="!!tocH4"/>
          <p:cNvSpPr txBox="1"/>
          <p:nvPr/>
        </p:nvSpPr>
        <p:spPr>
          <a:xfrm>
            <a:off x="1325880" y="384048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Literature and method</a:t>
            </a:r>
            <a:endParaRPr lang="en-US" sz="1800" dirty="0"/>
          </a:p>
        </p:txBody>
      </p:sp>
      <p:sp>
        <p:nvSpPr>
          <p:cNvPr id="23" name="!!tocS4"/>
          <p:cNvSpPr txBox="1"/>
          <p:nvPr/>
        </p:nvSpPr>
        <p:spPr>
          <a:xfrm>
            <a:off x="1325880" y="418795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Five papers · base paper Chen et al. 2025 · Silvaco Atlas flow</a:t>
            </a:r>
            <a:endParaRPr lang="en-US" sz="1100" dirty="0"/>
          </a:p>
        </p:txBody>
      </p:sp>
      <p:sp>
        <p:nvSpPr>
          <p:cNvPr id="24" name="!!tocC5"/>
          <p:cNvSpPr/>
          <p:nvPr/>
        </p:nvSpPr>
        <p:spPr>
          <a:xfrm>
            <a:off x="685800" y="4526280"/>
            <a:ext cx="365760" cy="365760"/>
          </a:xfrm>
          <a:prstGeom prst="ellipse">
            <a:avLst/>
          </a:prstGeom>
          <a:solidFill>
            <a:srgbClr val="FFFFFF"/>
          </a:solidFill>
          <a:ln w="15875">
            <a:solidFill>
              <a:srgbClr val="9C7A3C"/>
            </a:solidFill>
            <a:prstDash val="solid"/>
          </a:ln>
        </p:spPr>
      </p:sp>
      <p:sp>
        <p:nvSpPr>
          <p:cNvPr id="25" name="!!tocN5"/>
          <p:cNvSpPr txBox="1"/>
          <p:nvPr/>
        </p:nvSpPr>
        <p:spPr>
          <a:xfrm>
            <a:off x="685800" y="455371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06</a:t>
            </a:r>
            <a:endParaRPr lang="en-US" sz="1000" dirty="0"/>
          </a:p>
        </p:txBody>
      </p:sp>
      <p:sp>
        <p:nvSpPr>
          <p:cNvPr id="26" name="!!tocH5"/>
          <p:cNvSpPr txBox="1"/>
          <p:nvPr/>
        </p:nvSpPr>
        <p:spPr>
          <a:xfrm>
            <a:off x="1325880" y="448056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Three stages in TCAD</a:t>
            </a:r>
            <a:endParaRPr lang="en-US" sz="1800" dirty="0"/>
          </a:p>
        </p:txBody>
      </p:sp>
      <p:sp>
        <p:nvSpPr>
          <p:cNvPr id="27" name="!!tocS5"/>
          <p:cNvSpPr txBox="1"/>
          <p:nvPr/>
        </p:nvSpPr>
        <p:spPr>
          <a:xfrm>
            <a:off x="1325880" y="482803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Standard GAAFET · reproduce the paper · optimal design D</a:t>
            </a:r>
            <a:endParaRPr lang="en-US" sz="1100" dirty="0"/>
          </a:p>
        </p:txBody>
      </p:sp>
      <p:sp>
        <p:nvSpPr>
          <p:cNvPr id="28" name="!!tocC6"/>
          <p:cNvSpPr/>
          <p:nvPr/>
        </p:nvSpPr>
        <p:spPr>
          <a:xfrm>
            <a:off x="685800" y="5166360"/>
            <a:ext cx="365760" cy="365760"/>
          </a:xfrm>
          <a:prstGeom prst="ellipse">
            <a:avLst/>
          </a:prstGeom>
          <a:solidFill>
            <a:srgbClr val="FFFFFF"/>
          </a:solidFill>
          <a:ln w="15875">
            <a:solidFill>
              <a:srgbClr val="9C7A3C"/>
            </a:solidFill>
            <a:prstDash val="solid"/>
          </a:ln>
        </p:spPr>
      </p:sp>
      <p:sp>
        <p:nvSpPr>
          <p:cNvPr id="29" name="!!tocN6"/>
          <p:cNvSpPr txBox="1"/>
          <p:nvPr/>
        </p:nvSpPr>
        <p:spPr>
          <a:xfrm>
            <a:off x="685800" y="519379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07</a:t>
            </a:r>
            <a:endParaRPr lang="en-US" sz="1000" dirty="0"/>
          </a:p>
        </p:txBody>
      </p:sp>
      <p:sp>
        <p:nvSpPr>
          <p:cNvPr id="30" name="!!tocH6"/>
          <p:cNvSpPr txBox="1"/>
          <p:nvPr/>
        </p:nvSpPr>
        <p:spPr>
          <a:xfrm>
            <a:off x="1325880" y="512064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Conclusion</a:t>
            </a:r>
            <a:endParaRPr lang="en-US" sz="1800" dirty="0"/>
          </a:p>
        </p:txBody>
      </p:sp>
      <p:sp>
        <p:nvSpPr>
          <p:cNvPr id="31" name="!!tocS6"/>
          <p:cNvSpPr txBox="1"/>
          <p:nvPr/>
        </p:nvSpPr>
        <p:spPr>
          <a:xfrm>
            <a:off x="1325880" y="546811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Gains and limits · the whole story · next steps</a:t>
            </a:r>
            <a:endParaRPr lang="en-US" sz="1100" dirty="0"/>
          </a:p>
        </p:txBody>
      </p:sp>
      <p:sp>
        <p:nvSpPr>
          <p:cNvPr id="32" name="!!tocCard"/>
          <p:cNvSpPr/>
          <p:nvPr/>
        </p:nvSpPr>
        <p:spPr>
          <a:xfrm>
            <a:off x="8503920" y="2011680"/>
            <a:ext cx="3136392" cy="2377440"/>
          </a:xfrm>
          <a:prstGeom prst="roundRect">
            <a:avLst>
              <a:gd name="adj" fmla="val 3077"/>
            </a:avLst>
          </a:prstGeom>
          <a:solidFill>
            <a:srgbClr val="F4F5F7"/>
          </a:solidFill>
          <a:ln/>
        </p:spPr>
      </p:sp>
      <p:sp>
        <p:nvSpPr>
          <p:cNvPr id="33" name="!!tocCk"/>
          <p:cNvSpPr txBox="1"/>
          <p:nvPr/>
        </p:nvSpPr>
        <p:spPr>
          <a:xfrm>
            <a:off x="8732520" y="2240280"/>
            <a:ext cx="27432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Chapter 02</a:t>
            </a:r>
            <a:endParaRPr lang="en-US" sz="1200" dirty="0"/>
          </a:p>
        </p:txBody>
      </p:sp>
      <p:sp>
        <p:nvSpPr>
          <p:cNvPr id="34" name="!!tocCh"/>
          <p:cNvSpPr txBox="1"/>
          <p:nvPr/>
        </p:nvSpPr>
        <p:spPr>
          <a:xfrm>
            <a:off x="8732520" y="2560320"/>
            <a:ext cx="2743200" cy="822960"/>
          </a:xfrm>
          <a:prstGeom prst="rect">
            <a:avLst/>
          </a:prstGeom>
          <a:noFill/>
          <a:ln/>
        </p:spPr>
        <p:txBody>
          <a:bodyPr wrap="square" lIns="0" tIns="0" rIns="0" bIns="0" rtlCol="0" anchor="t"/>
          <a:lstStyle/>
          <a:p>
            <a:pPr algn="l" indent="0" marL="0">
              <a:buNone/>
            </a:pPr>
            <a:r>
              <a:rPr lang="en-US" sz="2200" dirty="0">
                <a:solidFill>
                  <a:srgbClr val="171A20"/>
                </a:solidFill>
                <a:latin typeface="Segoe UI Semibold" pitchFamily="34" charset="0"/>
                <a:ea typeface="Segoe UI Semibold" pitchFamily="34" charset="-122"/>
                <a:cs typeface="Segoe UI Semibold" pitchFamily="34" charset="-120"/>
              </a:rPr>
              <a:t>Shrinking the gate</a:t>
            </a:r>
            <a:endParaRPr lang="en-US" sz="2200" dirty="0"/>
          </a:p>
        </p:txBody>
      </p:sp>
      <p:sp>
        <p:nvSpPr>
          <p:cNvPr id="35" name="!!tocCs"/>
          <p:cNvSpPr txBox="1"/>
          <p:nvPr/>
        </p:nvSpPr>
        <p:spPr>
          <a:xfrm>
            <a:off x="8732520" y="3383280"/>
            <a:ext cx="2743200" cy="9144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Shorter L</a:t>
            </a:r>
            <a:pPr algn="l" indent="0" marL="0">
              <a:buNone/>
            </a:pPr>
            <a:r>
              <a:rPr lang="en-US" sz="1100" baseline="-40000" dirty="0">
                <a:solidFill>
                  <a:srgbClr val="5C5E62"/>
                </a:solidFill>
                <a:latin typeface="Segoe UI" pitchFamily="34" charset="0"/>
                <a:ea typeface="Segoe UI" pitchFamily="34" charset="-122"/>
                <a:cs typeface="Segoe UI" pitchFamily="34" charset="-120"/>
              </a:rPr>
              <a:t>g</a:t>
            </a:r>
            <a:pPr algn="l" indent="0" marL="0">
              <a:buNone/>
            </a:pP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DIBL and leakage</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the scale length λ</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35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Shrinking the gate – Why shorten L</a:t>
            </a:r>
            <a:pPr algn="l" indent="0" marL="0">
              <a:buNone/>
            </a:pPr>
            <a:r>
              <a:rPr lang="en-US" sz="3000" baseline="-40000" dirty="0">
                <a:solidFill>
                  <a:srgbClr val="171A20"/>
                </a:solidFill>
                <a:latin typeface="Segoe UI" pitchFamily="34" charset="0"/>
                <a:ea typeface="Segoe UI" pitchFamily="34" charset="-122"/>
                <a:cs typeface="Segoe UI" pitchFamily="34" charset="-120"/>
              </a:rPr>
              <a:t>g</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Every new node made the gate shorter: faster, smaller and cheaper chips</a:t>
            </a:r>
            <a:endParaRPr lang="en-US" sz="1600" dirty="0"/>
          </a:p>
        </p:txBody>
      </p:sp>
      <p:sp>
        <p:nvSpPr>
          <p:cNvPr id="4" name="Shape 2"/>
          <p:cNvSpPr/>
          <p:nvPr/>
        </p:nvSpPr>
        <p:spPr>
          <a:xfrm>
            <a:off x="822960" y="2651760"/>
            <a:ext cx="2377440" cy="822960"/>
          </a:xfrm>
          <a:prstGeom prst="roundRect">
            <a:avLst>
              <a:gd name="adj" fmla="val 4444"/>
            </a:avLst>
          </a:prstGeom>
          <a:solidFill>
            <a:srgbClr val="F6E7B8"/>
          </a:solidFill>
          <a:ln/>
        </p:spPr>
      </p:sp>
      <p:sp>
        <p:nvSpPr>
          <p:cNvPr id="5" name="Shape 3"/>
          <p:cNvSpPr/>
          <p:nvPr/>
        </p:nvSpPr>
        <p:spPr>
          <a:xfrm>
            <a:off x="845820" y="2148840"/>
            <a:ext cx="2331720" cy="411480"/>
          </a:xfrm>
          <a:prstGeom prst="roundRect">
            <a:avLst>
              <a:gd name="adj" fmla="val 8889"/>
            </a:avLst>
          </a:prstGeom>
          <a:solidFill>
            <a:srgbClr val="B3A6E6"/>
          </a:solidFill>
          <a:ln/>
        </p:spPr>
      </p:sp>
      <p:sp>
        <p:nvSpPr>
          <p:cNvPr id="6" name="Shape 4"/>
          <p:cNvSpPr/>
          <p:nvPr/>
        </p:nvSpPr>
        <p:spPr>
          <a:xfrm>
            <a:off x="822960" y="2651760"/>
            <a:ext cx="50292" cy="320040"/>
          </a:xfrm>
          <a:prstGeom prst="rect">
            <a:avLst/>
          </a:prstGeom>
          <a:solidFill>
            <a:srgbClr val="7D9BE6"/>
          </a:solidFill>
          <a:ln/>
        </p:spPr>
      </p:sp>
      <p:sp>
        <p:nvSpPr>
          <p:cNvPr id="7" name="Shape 5"/>
          <p:cNvSpPr/>
          <p:nvPr/>
        </p:nvSpPr>
        <p:spPr>
          <a:xfrm>
            <a:off x="3150108" y="2651760"/>
            <a:ext cx="50292" cy="320040"/>
          </a:xfrm>
          <a:prstGeom prst="rect">
            <a:avLst/>
          </a:prstGeom>
          <a:solidFill>
            <a:srgbClr val="7D9BE6"/>
          </a:solidFill>
          <a:ln/>
        </p:spPr>
      </p:sp>
      <p:sp>
        <p:nvSpPr>
          <p:cNvPr id="8" name="Text 6"/>
          <p:cNvSpPr txBox="1"/>
          <p:nvPr/>
        </p:nvSpPr>
        <p:spPr>
          <a:xfrm>
            <a:off x="822960" y="3657600"/>
            <a:ext cx="2377440" cy="365760"/>
          </a:xfrm>
          <a:prstGeom prst="rect">
            <a:avLst/>
          </a:prstGeom>
          <a:noFill/>
          <a:ln/>
        </p:spPr>
        <p:txBody>
          <a:bodyPr wrap="square" lIns="0" tIns="0" rIns="0" bIns="0" rtlCol="0" anchor="t"/>
          <a:lstStyle/>
          <a:p>
            <a:pPr algn="ctr" indent="0" marL="0">
              <a:buNone/>
            </a:pPr>
            <a:r>
              <a:rPr lang="en-US" sz="2000" dirty="0">
                <a:solidFill>
                  <a:srgbClr val="171A20"/>
                </a:solidFill>
                <a:latin typeface="Segoe UI Semibold" pitchFamily="34" charset="0"/>
                <a:ea typeface="Segoe UI Semibold" pitchFamily="34" charset="-122"/>
                <a:cs typeface="Segoe UI Semibold" pitchFamily="34" charset="-120"/>
              </a:rPr>
              <a:t>~1 µm</a:t>
            </a:r>
            <a:endParaRPr lang="en-US" sz="2000" dirty="0"/>
          </a:p>
        </p:txBody>
      </p:sp>
      <p:sp>
        <p:nvSpPr>
          <p:cNvPr id="9" name="Text 7"/>
          <p:cNvSpPr txBox="1"/>
          <p:nvPr/>
        </p:nvSpPr>
        <p:spPr>
          <a:xfrm>
            <a:off x="822960" y="4023360"/>
            <a:ext cx="2377440" cy="274320"/>
          </a:xfrm>
          <a:prstGeom prst="rect">
            <a:avLst/>
          </a:prstGeom>
          <a:noFill/>
          <a:ln/>
        </p:spPr>
        <p:txBody>
          <a:bodyPr wrap="square" lIns="0" tIns="0" rIns="0" bIns="0" rtlCol="0" anchor="t"/>
          <a:lstStyle/>
          <a:p>
            <a:pPr algn="ctr" indent="0" marL="0">
              <a:buNone/>
            </a:pPr>
            <a:r>
              <a:rPr lang="en-US" sz="1200" dirty="0">
                <a:solidFill>
                  <a:srgbClr val="5C5E62"/>
                </a:solidFill>
                <a:latin typeface="Segoe UI" pitchFamily="34" charset="0"/>
                <a:ea typeface="Segoe UI" pitchFamily="34" charset="-122"/>
                <a:cs typeface="Segoe UI" pitchFamily="34" charset="-120"/>
              </a:rPr>
              <a:t>1980s</a:t>
            </a:r>
            <a:endParaRPr lang="en-US" sz="1200" dirty="0"/>
          </a:p>
        </p:txBody>
      </p:sp>
      <p:sp>
        <p:nvSpPr>
          <p:cNvPr id="10" name="Text 8"/>
          <p:cNvSpPr txBox="1"/>
          <p:nvPr/>
        </p:nvSpPr>
        <p:spPr>
          <a:xfrm>
            <a:off x="3200400" y="2697480"/>
            <a:ext cx="411480" cy="457200"/>
          </a:xfrm>
          <a:prstGeom prst="rect">
            <a:avLst/>
          </a:prstGeom>
          <a:noFill/>
          <a:ln/>
        </p:spPr>
        <p:txBody>
          <a:bodyPr wrap="square" lIns="0" tIns="0" rIns="0" bIns="0" rtlCol="0" anchor="t"/>
          <a:lstStyle/>
          <a:p>
            <a:pPr algn="ctr" indent="0" marL="0">
              <a:buNone/>
            </a:pPr>
            <a:r>
              <a:rPr lang="en-US" sz="2200" dirty="0">
                <a:solidFill>
                  <a:srgbClr val="8A8D93"/>
                </a:solidFill>
                <a:latin typeface="Segoe UI" pitchFamily="34" charset="0"/>
                <a:ea typeface="Segoe UI" pitchFamily="34" charset="-122"/>
                <a:cs typeface="Segoe UI" pitchFamily="34" charset="-120"/>
              </a:rPr>
              <a:t>→</a:t>
            </a:r>
            <a:endParaRPr lang="en-US" sz="2200" dirty="0"/>
          </a:p>
        </p:txBody>
      </p:sp>
      <p:sp>
        <p:nvSpPr>
          <p:cNvPr id="11" name="Shape 9"/>
          <p:cNvSpPr/>
          <p:nvPr/>
        </p:nvSpPr>
        <p:spPr>
          <a:xfrm>
            <a:off x="3611880" y="2651760"/>
            <a:ext cx="2377440" cy="822960"/>
          </a:xfrm>
          <a:prstGeom prst="roundRect">
            <a:avLst>
              <a:gd name="adj" fmla="val 4444"/>
            </a:avLst>
          </a:prstGeom>
          <a:solidFill>
            <a:srgbClr val="F6E7B8"/>
          </a:solidFill>
          <a:ln/>
        </p:spPr>
      </p:sp>
      <p:sp>
        <p:nvSpPr>
          <p:cNvPr id="12" name="Shape 10"/>
          <p:cNvSpPr/>
          <p:nvPr/>
        </p:nvSpPr>
        <p:spPr>
          <a:xfrm>
            <a:off x="3970020" y="2148840"/>
            <a:ext cx="1661160" cy="411480"/>
          </a:xfrm>
          <a:prstGeom prst="roundRect">
            <a:avLst>
              <a:gd name="adj" fmla="val 8889"/>
            </a:avLst>
          </a:prstGeom>
          <a:solidFill>
            <a:srgbClr val="B3A6E6"/>
          </a:solidFill>
          <a:ln/>
        </p:spPr>
      </p:sp>
      <p:sp>
        <p:nvSpPr>
          <p:cNvPr id="13" name="Shape 11"/>
          <p:cNvSpPr/>
          <p:nvPr/>
        </p:nvSpPr>
        <p:spPr>
          <a:xfrm>
            <a:off x="3611880" y="2651760"/>
            <a:ext cx="385572" cy="320040"/>
          </a:xfrm>
          <a:prstGeom prst="rect">
            <a:avLst/>
          </a:prstGeom>
          <a:solidFill>
            <a:srgbClr val="7D9BE6"/>
          </a:solidFill>
          <a:ln/>
        </p:spPr>
      </p:sp>
      <p:sp>
        <p:nvSpPr>
          <p:cNvPr id="14" name="Shape 12"/>
          <p:cNvSpPr/>
          <p:nvPr/>
        </p:nvSpPr>
        <p:spPr>
          <a:xfrm>
            <a:off x="5603748" y="2651760"/>
            <a:ext cx="385572" cy="320040"/>
          </a:xfrm>
          <a:prstGeom prst="rect">
            <a:avLst/>
          </a:prstGeom>
          <a:solidFill>
            <a:srgbClr val="7D9BE6"/>
          </a:solidFill>
          <a:ln/>
        </p:spPr>
      </p:sp>
      <p:sp>
        <p:nvSpPr>
          <p:cNvPr id="15" name="Text 13"/>
          <p:cNvSpPr txBox="1"/>
          <p:nvPr/>
        </p:nvSpPr>
        <p:spPr>
          <a:xfrm>
            <a:off x="3611880" y="3657600"/>
            <a:ext cx="2377440" cy="365760"/>
          </a:xfrm>
          <a:prstGeom prst="rect">
            <a:avLst/>
          </a:prstGeom>
          <a:noFill/>
          <a:ln/>
        </p:spPr>
        <p:txBody>
          <a:bodyPr wrap="square" lIns="0" tIns="0" rIns="0" bIns="0" rtlCol="0" anchor="t"/>
          <a:lstStyle/>
          <a:p>
            <a:pPr algn="ctr" indent="0" marL="0">
              <a:buNone/>
            </a:pPr>
            <a:r>
              <a:rPr lang="en-US" sz="2000" dirty="0">
                <a:solidFill>
                  <a:srgbClr val="171A20"/>
                </a:solidFill>
                <a:latin typeface="Segoe UI Semibold" pitchFamily="34" charset="0"/>
                <a:ea typeface="Segoe UI Semibold" pitchFamily="34" charset="-122"/>
                <a:cs typeface="Segoe UI Semibold" pitchFamily="34" charset="-120"/>
              </a:rPr>
              <a:t>~100 nm</a:t>
            </a:r>
            <a:endParaRPr lang="en-US" sz="2000" dirty="0"/>
          </a:p>
        </p:txBody>
      </p:sp>
      <p:sp>
        <p:nvSpPr>
          <p:cNvPr id="16" name="Text 14"/>
          <p:cNvSpPr txBox="1"/>
          <p:nvPr/>
        </p:nvSpPr>
        <p:spPr>
          <a:xfrm>
            <a:off x="3611880" y="4023360"/>
            <a:ext cx="2377440" cy="274320"/>
          </a:xfrm>
          <a:prstGeom prst="rect">
            <a:avLst/>
          </a:prstGeom>
          <a:noFill/>
          <a:ln/>
        </p:spPr>
        <p:txBody>
          <a:bodyPr wrap="square" lIns="0" tIns="0" rIns="0" bIns="0" rtlCol="0" anchor="t"/>
          <a:lstStyle/>
          <a:p>
            <a:pPr algn="ctr" indent="0" marL="0">
              <a:buNone/>
            </a:pPr>
            <a:r>
              <a:rPr lang="en-US" sz="1200" dirty="0">
                <a:solidFill>
                  <a:srgbClr val="5C5E62"/>
                </a:solidFill>
                <a:latin typeface="Segoe UI" pitchFamily="34" charset="0"/>
                <a:ea typeface="Segoe UI" pitchFamily="34" charset="-122"/>
                <a:cs typeface="Segoe UI" pitchFamily="34" charset="-120"/>
              </a:rPr>
              <a:t>2000s</a:t>
            </a:r>
            <a:endParaRPr lang="en-US" sz="1200" dirty="0"/>
          </a:p>
        </p:txBody>
      </p:sp>
      <p:sp>
        <p:nvSpPr>
          <p:cNvPr id="17" name="Text 15"/>
          <p:cNvSpPr txBox="1"/>
          <p:nvPr/>
        </p:nvSpPr>
        <p:spPr>
          <a:xfrm>
            <a:off x="5989320" y="2697480"/>
            <a:ext cx="411480" cy="457200"/>
          </a:xfrm>
          <a:prstGeom prst="rect">
            <a:avLst/>
          </a:prstGeom>
          <a:noFill/>
          <a:ln/>
        </p:spPr>
        <p:txBody>
          <a:bodyPr wrap="square" lIns="0" tIns="0" rIns="0" bIns="0" rtlCol="0" anchor="t"/>
          <a:lstStyle/>
          <a:p>
            <a:pPr algn="ctr" indent="0" marL="0">
              <a:buNone/>
            </a:pPr>
            <a:r>
              <a:rPr lang="en-US" sz="2200" dirty="0">
                <a:solidFill>
                  <a:srgbClr val="8A8D93"/>
                </a:solidFill>
                <a:latin typeface="Segoe UI" pitchFamily="34" charset="0"/>
                <a:ea typeface="Segoe UI" pitchFamily="34" charset="-122"/>
                <a:cs typeface="Segoe UI" pitchFamily="34" charset="-120"/>
              </a:rPr>
              <a:t>→</a:t>
            </a:r>
            <a:endParaRPr lang="en-US" sz="2200" dirty="0"/>
          </a:p>
        </p:txBody>
      </p:sp>
      <p:sp>
        <p:nvSpPr>
          <p:cNvPr id="18" name="Shape 16"/>
          <p:cNvSpPr/>
          <p:nvPr/>
        </p:nvSpPr>
        <p:spPr>
          <a:xfrm>
            <a:off x="6400800" y="2651760"/>
            <a:ext cx="2377440" cy="822960"/>
          </a:xfrm>
          <a:prstGeom prst="roundRect">
            <a:avLst>
              <a:gd name="adj" fmla="val 4444"/>
            </a:avLst>
          </a:prstGeom>
          <a:solidFill>
            <a:srgbClr val="F6E7B8"/>
          </a:solidFill>
          <a:ln/>
        </p:spPr>
      </p:sp>
      <p:sp>
        <p:nvSpPr>
          <p:cNvPr id="19" name="Shape 17"/>
          <p:cNvSpPr/>
          <p:nvPr/>
        </p:nvSpPr>
        <p:spPr>
          <a:xfrm>
            <a:off x="6993291" y="2148840"/>
            <a:ext cx="1192459" cy="411480"/>
          </a:xfrm>
          <a:prstGeom prst="roundRect">
            <a:avLst>
              <a:gd name="adj" fmla="val 8889"/>
            </a:avLst>
          </a:prstGeom>
          <a:solidFill>
            <a:srgbClr val="B3A6E6"/>
          </a:solidFill>
          <a:ln/>
        </p:spPr>
      </p:sp>
      <p:sp>
        <p:nvSpPr>
          <p:cNvPr id="20" name="Shape 18"/>
          <p:cNvSpPr/>
          <p:nvPr/>
        </p:nvSpPr>
        <p:spPr>
          <a:xfrm>
            <a:off x="6400800" y="2651760"/>
            <a:ext cx="619923" cy="320040"/>
          </a:xfrm>
          <a:prstGeom prst="rect">
            <a:avLst/>
          </a:prstGeom>
          <a:solidFill>
            <a:srgbClr val="7D9BE6"/>
          </a:solidFill>
          <a:ln/>
        </p:spPr>
      </p:sp>
      <p:sp>
        <p:nvSpPr>
          <p:cNvPr id="21" name="Shape 19"/>
          <p:cNvSpPr/>
          <p:nvPr/>
        </p:nvSpPr>
        <p:spPr>
          <a:xfrm>
            <a:off x="8158317" y="2651760"/>
            <a:ext cx="619923" cy="320040"/>
          </a:xfrm>
          <a:prstGeom prst="rect">
            <a:avLst/>
          </a:prstGeom>
          <a:solidFill>
            <a:srgbClr val="7D9BE6"/>
          </a:solidFill>
          <a:ln/>
        </p:spPr>
      </p:sp>
      <p:sp>
        <p:nvSpPr>
          <p:cNvPr id="22" name="Text 20"/>
          <p:cNvSpPr txBox="1"/>
          <p:nvPr/>
        </p:nvSpPr>
        <p:spPr>
          <a:xfrm>
            <a:off x="6400800" y="3657600"/>
            <a:ext cx="2377440" cy="365760"/>
          </a:xfrm>
          <a:prstGeom prst="rect">
            <a:avLst/>
          </a:prstGeom>
          <a:noFill/>
          <a:ln/>
        </p:spPr>
        <p:txBody>
          <a:bodyPr wrap="square" lIns="0" tIns="0" rIns="0" bIns="0" rtlCol="0" anchor="t"/>
          <a:lstStyle/>
          <a:p>
            <a:pPr algn="ctr" indent="0" marL="0">
              <a:buNone/>
            </a:pPr>
            <a:r>
              <a:rPr lang="en-US" sz="2000" dirty="0">
                <a:solidFill>
                  <a:srgbClr val="171A20"/>
                </a:solidFill>
                <a:latin typeface="Segoe UI Semibold" pitchFamily="34" charset="0"/>
                <a:ea typeface="Segoe UI Semibold" pitchFamily="34" charset="-122"/>
                <a:cs typeface="Segoe UI Semibold" pitchFamily="34" charset="-120"/>
              </a:rPr>
              <a:t>~20 nm</a:t>
            </a:r>
            <a:endParaRPr lang="en-US" sz="2000" dirty="0"/>
          </a:p>
        </p:txBody>
      </p:sp>
      <p:sp>
        <p:nvSpPr>
          <p:cNvPr id="23" name="Text 21"/>
          <p:cNvSpPr txBox="1"/>
          <p:nvPr/>
        </p:nvSpPr>
        <p:spPr>
          <a:xfrm>
            <a:off x="6400800" y="4023360"/>
            <a:ext cx="2377440" cy="274320"/>
          </a:xfrm>
          <a:prstGeom prst="rect">
            <a:avLst/>
          </a:prstGeom>
          <a:noFill/>
          <a:ln/>
        </p:spPr>
        <p:txBody>
          <a:bodyPr wrap="square" lIns="0" tIns="0" rIns="0" bIns="0" rtlCol="0" anchor="t"/>
          <a:lstStyle/>
          <a:p>
            <a:pPr algn="ctr" indent="0" marL="0">
              <a:buNone/>
            </a:pPr>
            <a:r>
              <a:rPr lang="en-US" sz="1200" dirty="0">
                <a:solidFill>
                  <a:srgbClr val="5C5E62"/>
                </a:solidFill>
                <a:latin typeface="Segoe UI" pitchFamily="34" charset="0"/>
                <a:ea typeface="Segoe UI" pitchFamily="34" charset="-122"/>
                <a:cs typeface="Segoe UI" pitchFamily="34" charset="-120"/>
              </a:rPr>
              <a:t>2012</a:t>
            </a:r>
            <a:endParaRPr lang="en-US" sz="1200" dirty="0"/>
          </a:p>
        </p:txBody>
      </p:sp>
      <p:sp>
        <p:nvSpPr>
          <p:cNvPr id="24" name="Text 22"/>
          <p:cNvSpPr txBox="1"/>
          <p:nvPr/>
        </p:nvSpPr>
        <p:spPr>
          <a:xfrm>
            <a:off x="8778240" y="2697480"/>
            <a:ext cx="411480" cy="457200"/>
          </a:xfrm>
          <a:prstGeom prst="rect">
            <a:avLst/>
          </a:prstGeom>
          <a:noFill/>
          <a:ln/>
        </p:spPr>
        <p:txBody>
          <a:bodyPr wrap="square" lIns="0" tIns="0" rIns="0" bIns="0" rtlCol="0" anchor="t"/>
          <a:lstStyle/>
          <a:p>
            <a:pPr algn="ctr" indent="0" marL="0">
              <a:buNone/>
            </a:pPr>
            <a:r>
              <a:rPr lang="en-US" sz="2200" dirty="0">
                <a:solidFill>
                  <a:srgbClr val="8A8D93"/>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9189720" y="2651760"/>
            <a:ext cx="2377440" cy="822960"/>
          </a:xfrm>
          <a:prstGeom prst="roundRect">
            <a:avLst>
              <a:gd name="adj" fmla="val 4444"/>
            </a:avLst>
          </a:prstGeom>
          <a:solidFill>
            <a:srgbClr val="F6E7B8"/>
          </a:solidFill>
          <a:ln/>
        </p:spPr>
      </p:sp>
      <p:sp>
        <p:nvSpPr>
          <p:cNvPr id="26" name="Shape 24"/>
          <p:cNvSpPr/>
          <p:nvPr/>
        </p:nvSpPr>
        <p:spPr>
          <a:xfrm>
            <a:off x="9834146" y="2148840"/>
            <a:ext cx="1088588" cy="411480"/>
          </a:xfrm>
          <a:prstGeom prst="roundRect">
            <a:avLst>
              <a:gd name="adj" fmla="val 8889"/>
            </a:avLst>
          </a:prstGeom>
          <a:solidFill>
            <a:srgbClr val="6B5BC4"/>
          </a:solidFill>
          <a:ln/>
        </p:spPr>
      </p:sp>
      <p:sp>
        <p:nvSpPr>
          <p:cNvPr id="27" name="Shape 25"/>
          <p:cNvSpPr/>
          <p:nvPr/>
        </p:nvSpPr>
        <p:spPr>
          <a:xfrm>
            <a:off x="9189720" y="2651760"/>
            <a:ext cx="671858" cy="320040"/>
          </a:xfrm>
          <a:prstGeom prst="rect">
            <a:avLst/>
          </a:prstGeom>
          <a:solidFill>
            <a:srgbClr val="7D9BE6"/>
          </a:solidFill>
          <a:ln/>
        </p:spPr>
      </p:sp>
      <p:sp>
        <p:nvSpPr>
          <p:cNvPr id="28" name="Shape 26"/>
          <p:cNvSpPr/>
          <p:nvPr/>
        </p:nvSpPr>
        <p:spPr>
          <a:xfrm>
            <a:off x="10895302" y="2651760"/>
            <a:ext cx="671858" cy="320040"/>
          </a:xfrm>
          <a:prstGeom prst="rect">
            <a:avLst/>
          </a:prstGeom>
          <a:solidFill>
            <a:srgbClr val="7D9BE6"/>
          </a:solidFill>
          <a:ln/>
        </p:spPr>
      </p:sp>
      <p:sp>
        <p:nvSpPr>
          <p:cNvPr id="29" name="Text 27"/>
          <p:cNvSpPr txBox="1"/>
          <p:nvPr/>
        </p:nvSpPr>
        <p:spPr>
          <a:xfrm>
            <a:off x="9189720" y="3657600"/>
            <a:ext cx="2377440" cy="365760"/>
          </a:xfrm>
          <a:prstGeom prst="rect">
            <a:avLst/>
          </a:prstGeom>
          <a:noFill/>
          <a:ln/>
        </p:spPr>
        <p:txBody>
          <a:bodyPr wrap="square" lIns="0" tIns="0" rIns="0" bIns="0" rtlCol="0" anchor="t"/>
          <a:lstStyle/>
          <a:p>
            <a:pPr algn="ctr" indent="0" marL="0">
              <a:buNone/>
            </a:pPr>
            <a:r>
              <a:rPr lang="en-US" sz="2000" dirty="0">
                <a:solidFill>
                  <a:srgbClr val="6B5BC4"/>
                </a:solidFill>
                <a:latin typeface="Segoe UI Semibold" pitchFamily="34" charset="0"/>
                <a:ea typeface="Segoe UI Semibold" pitchFamily="34" charset="-122"/>
                <a:cs typeface="Segoe UI Semibold" pitchFamily="34" charset="-120"/>
              </a:rPr>
              <a:t>~14 nm</a:t>
            </a:r>
            <a:endParaRPr lang="en-US" sz="2000" dirty="0"/>
          </a:p>
        </p:txBody>
      </p:sp>
      <p:sp>
        <p:nvSpPr>
          <p:cNvPr id="30" name="Text 28"/>
          <p:cNvSpPr txBox="1"/>
          <p:nvPr/>
        </p:nvSpPr>
        <p:spPr>
          <a:xfrm>
            <a:off x="9189720" y="4023360"/>
            <a:ext cx="2377440" cy="274320"/>
          </a:xfrm>
          <a:prstGeom prst="rect">
            <a:avLst/>
          </a:prstGeom>
          <a:noFill/>
          <a:ln/>
        </p:spPr>
        <p:txBody>
          <a:bodyPr wrap="square" lIns="0" tIns="0" rIns="0" bIns="0" rtlCol="0" anchor="t"/>
          <a:lstStyle/>
          <a:p>
            <a:pPr algn="ctr" indent="0" marL="0">
              <a:buNone/>
            </a:pPr>
            <a:r>
              <a:rPr lang="en-US" sz="1200" dirty="0">
                <a:solidFill>
                  <a:srgbClr val="5C5E62"/>
                </a:solidFill>
                <a:latin typeface="Segoe UI" pitchFamily="34" charset="0"/>
                <a:ea typeface="Segoe UI" pitchFamily="34" charset="-122"/>
                <a:cs typeface="Segoe UI" pitchFamily="34" charset="-120"/>
              </a:rPr>
              <a:t>our device</a:t>
            </a:r>
            <a:endParaRPr lang="en-US" sz="1200" dirty="0"/>
          </a:p>
        </p:txBody>
      </p:sp>
      <p:sp>
        <p:nvSpPr>
          <p:cNvPr id="31" name="Shape 29"/>
          <p:cNvSpPr/>
          <p:nvPr/>
        </p:nvSpPr>
        <p:spPr>
          <a:xfrm>
            <a:off x="822960" y="4572000"/>
            <a:ext cx="10789920" cy="868680"/>
          </a:xfrm>
          <a:prstGeom prst="roundRect">
            <a:avLst>
              <a:gd name="adj" fmla="val 6316"/>
            </a:avLst>
          </a:prstGeom>
          <a:solidFill>
            <a:srgbClr val="F4F5F7"/>
          </a:solidFill>
          <a:ln/>
        </p:spPr>
      </p:sp>
      <p:sp>
        <p:nvSpPr>
          <p:cNvPr id="32" name="Text 30"/>
          <p:cNvSpPr txBox="1"/>
          <p:nvPr/>
        </p:nvSpPr>
        <p:spPr>
          <a:xfrm>
            <a:off x="1051560" y="4663440"/>
            <a:ext cx="10332720" cy="685800"/>
          </a:xfrm>
          <a:prstGeom prst="rect">
            <a:avLst/>
          </a:prstGeom>
          <a:noFill/>
          <a:ln/>
        </p:spPr>
        <p:txBody>
          <a:bodyPr wrap="square" lIns="0" tIns="0" rIns="0" bIns="0" rtlCol="0" anchor="ctr"/>
          <a:lstStyle/>
          <a:p>
            <a:pPr algn="l" indent="0" marL="0">
              <a:buNone/>
            </a:pPr>
            <a:r>
              <a:rPr lang="en-US" sz="1500" b="1" dirty="0">
                <a:solidFill>
                  <a:srgbClr val="D64545"/>
                </a:solidFill>
                <a:latin typeface="Segoe UI" pitchFamily="34" charset="0"/>
                <a:ea typeface="Segoe UI" pitchFamily="34" charset="-122"/>
                <a:cs typeface="Segoe UI" pitchFamily="34" charset="-120"/>
              </a:rPr>
              <a:t>The catch: </a:t>
            </a:r>
            <a:pPr algn="l" indent="0" marL="0">
              <a:buNone/>
            </a:pPr>
            <a:r>
              <a:rPr lang="en-US" sz="1500" dirty="0">
                <a:solidFill>
                  <a:srgbClr val="171A20"/>
                </a:solidFill>
                <a:latin typeface="Segoe UI" pitchFamily="34" charset="0"/>
                <a:ea typeface="Segoe UI" pitchFamily="34" charset="-122"/>
                <a:cs typeface="Segoe UI" pitchFamily="34" charset="-120"/>
              </a:rPr>
              <a:t>a shorter gate also brings source and drain closer together. Below about 20 nm the drain starts to reach under the gate and steal control from it.</a:t>
            </a:r>
            <a:endParaRPr lang="en-US" sz="1500" dirty="0"/>
          </a:p>
        </p:txBody>
      </p:sp>
      <p:sp>
        <p:nvSpPr>
          <p:cNvPr id="3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Shorter L</a:t>
            </a:r>
            <a:pPr algn="ctr" indent="0" marL="0">
              <a:buNone/>
            </a:pPr>
            <a:r>
              <a:rPr lang="en-US" sz="1600" baseline="-40000" dirty="0">
                <a:solidFill>
                  <a:srgbClr val="171A20"/>
                </a:solidFill>
                <a:latin typeface="Segoe UI" pitchFamily="34" charset="0"/>
                <a:ea typeface="Segoe UI" pitchFamily="34" charset="-122"/>
                <a:cs typeface="Segoe UI" pitchFamily="34" charset="-120"/>
              </a:rPr>
              <a:t>g</a:t>
            </a:r>
            <a:pPr algn="ctr" indent="0" marL="0">
              <a:buNone/>
            </a:pPr>
            <a:r>
              <a:rPr lang="en-US" sz="1600" dirty="0">
                <a:solidFill>
                  <a:srgbClr val="171A20"/>
                </a:solidFill>
                <a:latin typeface="Segoe UI" pitchFamily="34" charset="0"/>
                <a:ea typeface="Segoe UI" pitchFamily="34" charset="-122"/>
                <a:cs typeface="Segoe UI" pitchFamily="34" charset="-120"/>
              </a:rPr>
              <a:t>: more speed, but source and drain move closer.</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36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Shrinking the gate – Planar MOSFET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Same voltages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0,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 only the knob L</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changes</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E2E3E3"/>
          </a:solidFill>
          <a:ln/>
        </p:spPr>
      </p:sp>
      <p:sp>
        <p:nvSpPr>
          <p:cNvPr id="6" name="!!sdot2"/>
          <p:cNvSpPr/>
          <p:nvPr/>
        </p:nvSpPr>
        <p:spPr>
          <a:xfrm>
            <a:off x="11288268" y="525780"/>
            <a:ext cx="82296" cy="82296"/>
          </a:xfrm>
          <a:prstGeom prst="ellipse">
            <a:avLst/>
          </a:prstGeom>
          <a:solidFill>
            <a:srgbClr val="E2E3E3"/>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mBody"/>
          <p:cNvSpPr/>
          <p:nvPr/>
        </p:nvSpPr>
        <p:spPr>
          <a:xfrm>
            <a:off x="640080" y="2240280"/>
            <a:ext cx="5120640" cy="1417320"/>
          </a:xfrm>
          <a:prstGeom prst="rect">
            <a:avLst/>
          </a:prstGeom>
          <a:solidFill>
            <a:srgbClr val="F6E7B8"/>
          </a:solidFill>
          <a:ln/>
        </p:spPr>
      </p:sp>
      <p:sp>
        <p:nvSpPr>
          <p:cNvPr id="10"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1" name="!!mDepS"/>
          <p:cNvSpPr/>
          <p:nvPr/>
        </p:nvSpPr>
        <p:spPr>
          <a:xfrm>
            <a:off x="640080" y="2240280"/>
            <a:ext cx="1298448" cy="932688"/>
          </a:xfrm>
          <a:prstGeom prst="roundRect">
            <a:avLst>
              <a:gd name="adj" fmla="val 11765"/>
            </a:avLst>
          </a:prstGeom>
          <a:solidFill>
            <a:srgbClr val="F7D4D9"/>
          </a:solidFill>
          <a:ln/>
        </p:spPr>
      </p:sp>
      <p:sp>
        <p:nvSpPr>
          <p:cNvPr id="12" name="!!mDepD"/>
          <p:cNvSpPr/>
          <p:nvPr/>
        </p:nvSpPr>
        <p:spPr>
          <a:xfrm>
            <a:off x="4462272" y="2240280"/>
            <a:ext cx="1298448" cy="932688"/>
          </a:xfrm>
          <a:prstGeom prst="roundRect">
            <a:avLst>
              <a:gd name="adj" fmla="val 11765"/>
            </a:avLst>
          </a:prstGeom>
          <a:solidFill>
            <a:srgbClr val="F7D4D9"/>
          </a:solidFill>
          <a:ln/>
        </p:spPr>
      </p:sp>
      <p:sp>
        <p:nvSpPr>
          <p:cNvPr id="13" name="!!mSrc"/>
          <p:cNvSpPr/>
          <p:nvPr/>
        </p:nvSpPr>
        <p:spPr>
          <a:xfrm>
            <a:off x="640080" y="2240280"/>
            <a:ext cx="960120" cy="548640"/>
          </a:xfrm>
          <a:prstGeom prst="roundRect">
            <a:avLst>
              <a:gd name="adj" fmla="val 8333"/>
            </a:avLst>
          </a:prstGeom>
          <a:solidFill>
            <a:srgbClr val="7D9BE6"/>
          </a:solidFill>
          <a:ln/>
        </p:spPr>
      </p:sp>
      <p:sp>
        <p:nvSpPr>
          <p:cNvPr id="14" name="!!mDrn"/>
          <p:cNvSpPr/>
          <p:nvPr/>
        </p:nvSpPr>
        <p:spPr>
          <a:xfrm>
            <a:off x="4800600" y="2240280"/>
            <a:ext cx="960120" cy="548640"/>
          </a:xfrm>
          <a:prstGeom prst="roundRect">
            <a:avLst>
              <a:gd name="adj" fmla="val 8333"/>
            </a:avLst>
          </a:prstGeom>
          <a:solidFill>
            <a:srgbClr val="7D9BE6"/>
          </a:solidFill>
          <a:ln/>
        </p:spPr>
      </p:sp>
      <p:sp>
        <p:nvSpPr>
          <p:cNvPr id="15" name="!!mSrcL"/>
          <p:cNvSpPr txBox="1"/>
          <p:nvPr/>
        </p:nvSpPr>
        <p:spPr>
          <a:xfrm>
            <a:off x="640080" y="2395728"/>
            <a:ext cx="91440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6" name="!!mDrnL"/>
          <p:cNvSpPr txBox="1"/>
          <p:nvPr/>
        </p:nvSpPr>
        <p:spPr>
          <a:xfrm>
            <a:off x="4846320" y="2395728"/>
            <a:ext cx="91440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7" name="!!mOx"/>
          <p:cNvSpPr/>
          <p:nvPr/>
        </p:nvSpPr>
        <p:spPr>
          <a:xfrm>
            <a:off x="1554480" y="2167128"/>
            <a:ext cx="3291840" cy="73152"/>
          </a:xfrm>
          <a:prstGeom prst="rect">
            <a:avLst/>
          </a:prstGeom>
          <a:solidFill>
            <a:srgbClr val="CDEBF5"/>
          </a:solidFill>
          <a:ln/>
        </p:spPr>
      </p:sp>
      <p:sp>
        <p:nvSpPr>
          <p:cNvPr id="18" name="!!mGate"/>
          <p:cNvSpPr/>
          <p:nvPr/>
        </p:nvSpPr>
        <p:spPr>
          <a:xfrm>
            <a:off x="1554480" y="1783080"/>
            <a:ext cx="3291840" cy="384048"/>
          </a:xfrm>
          <a:prstGeom prst="roundRect">
            <a:avLst>
              <a:gd name="adj" fmla="val 9524"/>
            </a:avLst>
          </a:prstGeom>
          <a:solidFill>
            <a:srgbClr val="B3A6E6"/>
          </a:solidFill>
          <a:ln/>
        </p:spPr>
      </p:sp>
      <p:sp>
        <p:nvSpPr>
          <p:cNvPr id="19" name="!!mGateL"/>
          <p:cNvSpPr txBox="1"/>
          <p:nvPr/>
        </p:nvSpPr>
        <p:spPr>
          <a:xfrm>
            <a:off x="1554480" y="1837944"/>
            <a:ext cx="3291840"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20" name="!!mVS"/>
          <p:cNvSpPr txBox="1"/>
          <p:nvPr/>
        </p:nvSpPr>
        <p:spPr>
          <a:xfrm>
            <a:off x="640080" y="1856232"/>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S</a:t>
            </a:r>
            <a:pPr algn="l" indent="0" marL="0">
              <a:buNone/>
            </a:pPr>
            <a:r>
              <a:rPr lang="en-US" sz="1100" dirty="0">
                <a:solidFill>
                  <a:srgbClr val="5C5E62"/>
                </a:solidFill>
                <a:latin typeface="Segoe UI" pitchFamily="34" charset="0"/>
                <a:ea typeface="Segoe UI" pitchFamily="34" charset="-122"/>
                <a:cs typeface="Segoe UI" pitchFamily="34" charset="-120"/>
              </a:rPr>
              <a:t> = 0</a:t>
            </a:r>
            <a:endParaRPr lang="en-US" sz="1100" dirty="0"/>
          </a:p>
        </p:txBody>
      </p:sp>
      <p:sp>
        <p:nvSpPr>
          <p:cNvPr id="21" name="!!mVG"/>
          <p:cNvSpPr txBox="1"/>
          <p:nvPr/>
        </p:nvSpPr>
        <p:spPr>
          <a:xfrm>
            <a:off x="2286000" y="1490472"/>
            <a:ext cx="1828800" cy="237744"/>
          </a:xfrm>
          <a:prstGeom prst="rect">
            <a:avLst/>
          </a:prstGeom>
          <a:noFill/>
          <a:ln/>
        </p:spPr>
        <p:txBody>
          <a:bodyPr wrap="square" lIns="0" tIns="0" rIns="0" bIns="0" rtlCol="0" anchor="t"/>
          <a:lstStyle/>
          <a:p>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ctr"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 = 0.00 V</a:t>
            </a:r>
            <a:endParaRPr lang="en-US" sz="1200" dirty="0"/>
          </a:p>
        </p:txBody>
      </p:sp>
      <p:sp>
        <p:nvSpPr>
          <p:cNvPr id="22" name="!!mVD"/>
          <p:cNvSpPr txBox="1"/>
          <p:nvPr/>
        </p:nvSpPr>
        <p:spPr>
          <a:xfrm>
            <a:off x="4480560" y="1856232"/>
            <a:ext cx="1280160" cy="228600"/>
          </a:xfrm>
          <a:prstGeom prst="rect">
            <a:avLst/>
          </a:prstGeom>
          <a:noFill/>
          <a:ln/>
        </p:spPr>
        <p:txBody>
          <a:bodyPr wrap="square" lIns="0" tIns="0" rIns="0" bIns="0" rtlCol="0" anchor="t"/>
          <a:lstStyle/>
          <a:p>
            <a:pPr algn="r" indent="0" marL="0">
              <a:buNone/>
            </a:pPr>
            <a:r>
              <a:rPr lang="en-US" sz="1100" dirty="0">
                <a:solidFill>
                  <a:srgbClr val="5C5E62"/>
                </a:solidFill>
                <a:latin typeface="Segoe UI" pitchFamily="34" charset="0"/>
                <a:ea typeface="Segoe UI" pitchFamily="34" charset="-122"/>
                <a:cs typeface="Segoe UI" pitchFamily="34" charset="-120"/>
              </a:rPr>
              <a:t>V</a:t>
            </a:r>
            <a:pPr algn="r" indent="0" marL="0">
              <a:buNone/>
            </a:pPr>
            <a:r>
              <a:rPr lang="en-US" sz="1100" baseline="-40000" dirty="0">
                <a:solidFill>
                  <a:srgbClr val="5C5E62"/>
                </a:solidFill>
                <a:latin typeface="Segoe UI" pitchFamily="34" charset="0"/>
                <a:ea typeface="Segoe UI" pitchFamily="34" charset="-122"/>
                <a:cs typeface="Segoe UI" pitchFamily="34" charset="-120"/>
              </a:rPr>
              <a:t>D</a:t>
            </a:r>
            <a:pPr algn="r" indent="0" marL="0">
              <a:buNone/>
            </a:pPr>
            <a:r>
              <a:rPr lang="en-US" sz="1100" dirty="0">
                <a:solidFill>
                  <a:srgbClr val="5C5E62"/>
                </a:solidFill>
                <a:latin typeface="Segoe UI" pitchFamily="34" charset="0"/>
                <a:ea typeface="Segoe UI" pitchFamily="34" charset="-122"/>
                <a:cs typeface="Segoe UI" pitchFamily="34" charset="-120"/>
              </a:rPr>
              <a:t> = 0.70 V</a:t>
            </a:r>
            <a:endParaRPr lang="en-US" sz="1100" dirty="0"/>
          </a:p>
        </p:txBody>
      </p:sp>
      <p:sp>
        <p:nvSpPr>
          <p:cNvPr id="23" name="!!lg2t"/>
          <p:cNvSpPr txBox="1"/>
          <p:nvPr/>
        </p:nvSpPr>
        <p:spPr>
          <a:xfrm>
            <a:off x="640080" y="3721608"/>
            <a:ext cx="320040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pink = depletion around source and drain</a:t>
            </a:r>
            <a:endParaRPr lang="en-US" sz="900" dirty="0"/>
          </a:p>
        </p:txBody>
      </p:sp>
      <p:sp>
        <p:nvSpPr>
          <p:cNvPr id="24" name="!!bCurve"/>
          <p:cNvSpPr/>
          <p:nvPr/>
        </p:nvSpPr>
        <p:spPr>
          <a:xfrm>
            <a:off x="640080" y="4133187"/>
            <a:ext cx="5120640" cy="1165346"/>
          </a:xfrm>
          <a:custGeom>
            <a:avLst/>
            <a:gdLst/>
            <a:ahLst/>
            <a:cxnLst/>
            <a:rect l="l" t="t" r="r" b="b"/>
            <a:pathLst>
              <a:path w="5120640" h="1165346">
                <a:moveTo>
                  <a:pt x="0" y="621409"/>
                </a:moveTo>
                <a:lnTo>
                  <a:pt x="113792" y="620954"/>
                </a:lnTo>
                <a:lnTo>
                  <a:pt x="227584" y="619774"/>
                </a:lnTo>
                <a:lnTo>
                  <a:pt x="341376" y="616719"/>
                </a:lnTo>
                <a:lnTo>
                  <a:pt x="455168" y="608904"/>
                </a:lnTo>
                <a:lnTo>
                  <a:pt x="568960" y="589447"/>
                </a:lnTo>
                <a:lnTo>
                  <a:pt x="682752" y="544159"/>
                </a:lnTo>
                <a:lnTo>
                  <a:pt x="796544" y="453420"/>
                </a:lnTo>
                <a:lnTo>
                  <a:pt x="910336" y="316111"/>
                </a:lnTo>
                <a:lnTo>
                  <a:pt x="1024128" y="176696"/>
                </a:lnTo>
                <a:lnTo>
                  <a:pt x="1137920" y="82195"/>
                </a:lnTo>
                <a:lnTo>
                  <a:pt x="1251712" y="34303"/>
                </a:lnTo>
                <a:lnTo>
                  <a:pt x="1365504" y="13578"/>
                </a:lnTo>
                <a:lnTo>
                  <a:pt x="1479296" y="5228"/>
                </a:lnTo>
                <a:lnTo>
                  <a:pt x="1593088" y="1963"/>
                </a:lnTo>
                <a:lnTo>
                  <a:pt x="1706880" y="704"/>
                </a:lnTo>
                <a:lnTo>
                  <a:pt x="1820672" y="226"/>
                </a:lnTo>
                <a:lnTo>
                  <a:pt x="1934464" y="52"/>
                </a:lnTo>
                <a:lnTo>
                  <a:pt x="2048256" y="0"/>
                </a:lnTo>
                <a:lnTo>
                  <a:pt x="2162048" y="2"/>
                </a:lnTo>
                <a:lnTo>
                  <a:pt x="2275840" y="34"/>
                </a:lnTo>
                <a:lnTo>
                  <a:pt x="2389632" y="86"/>
                </a:lnTo>
                <a:lnTo>
                  <a:pt x="2503424" y="151"/>
                </a:lnTo>
                <a:lnTo>
                  <a:pt x="2617216" y="221"/>
                </a:lnTo>
                <a:lnTo>
                  <a:pt x="2731008" y="289"/>
                </a:lnTo>
                <a:lnTo>
                  <a:pt x="2844800" y="350"/>
                </a:lnTo>
                <a:lnTo>
                  <a:pt x="2958592" y="407"/>
                </a:lnTo>
                <a:lnTo>
                  <a:pt x="3072384" y="476"/>
                </a:lnTo>
                <a:lnTo>
                  <a:pt x="3186176" y="600"/>
                </a:lnTo>
                <a:lnTo>
                  <a:pt x="3299968" y="891"/>
                </a:lnTo>
                <a:lnTo>
                  <a:pt x="3413760" y="1642"/>
                </a:lnTo>
                <a:lnTo>
                  <a:pt x="3527552" y="3631"/>
                </a:lnTo>
                <a:lnTo>
                  <a:pt x="3641344" y="8924"/>
                </a:lnTo>
                <a:lnTo>
                  <a:pt x="3755136" y="22900"/>
                </a:lnTo>
                <a:lnTo>
                  <a:pt x="3868928" y="58878"/>
                </a:lnTo>
                <a:lnTo>
                  <a:pt x="3982720" y="145455"/>
                </a:lnTo>
                <a:lnTo>
                  <a:pt x="4096512" y="323424"/>
                </a:lnTo>
                <a:lnTo>
                  <a:pt x="4210304" y="593460"/>
                </a:lnTo>
                <a:lnTo>
                  <a:pt x="4324096" y="859106"/>
                </a:lnTo>
                <a:lnTo>
                  <a:pt x="4437888" y="1029527"/>
                </a:lnTo>
                <a:lnTo>
                  <a:pt x="4551680" y="1111149"/>
                </a:lnTo>
                <a:lnTo>
                  <a:pt x="4665472" y="1144827"/>
                </a:lnTo>
                <a:lnTo>
                  <a:pt x="4779264" y="1157872"/>
                </a:lnTo>
                <a:lnTo>
                  <a:pt x="4893056" y="1162805"/>
                </a:lnTo>
                <a:lnTo>
                  <a:pt x="5006848" y="1164654"/>
                </a:lnTo>
                <a:lnTo>
                  <a:pt x="5120640" y="1165346"/>
                </a:lnTo>
              </a:path>
            </a:pathLst>
          </a:custGeom>
          <a:ln w="28575">
            <a:solidFill>
              <a:srgbClr val="171A20"/>
            </a:solidFill>
            <a:prstDash val="solid"/>
          </a:ln>
        </p:spPr>
      </p:sp>
      <p:sp>
        <p:nvSpPr>
          <p:cNvPr id="25" name="!!bLbl"/>
          <p:cNvSpPr txBox="1"/>
          <p:nvPr/>
        </p:nvSpPr>
        <p:spPr>
          <a:xfrm>
            <a:off x="640080" y="3977640"/>
            <a:ext cx="182880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electron energy ↑</a:t>
            </a:r>
            <a:endParaRPr lang="en-US" sz="1000" dirty="0"/>
          </a:p>
        </p:txBody>
      </p:sp>
      <p:sp>
        <p:nvSpPr>
          <p:cNvPr id="26" name="!!bes0"/>
          <p:cNvSpPr/>
          <p:nvPr/>
        </p:nvSpPr>
        <p:spPr>
          <a:xfrm>
            <a:off x="717804" y="4613148"/>
            <a:ext cx="118872" cy="118872"/>
          </a:xfrm>
          <a:prstGeom prst="ellipse">
            <a:avLst/>
          </a:prstGeom>
          <a:solidFill>
            <a:srgbClr val="1F2F6B"/>
          </a:solidFill>
          <a:ln/>
        </p:spPr>
      </p:sp>
      <p:sp>
        <p:nvSpPr>
          <p:cNvPr id="27" name="!!bes1"/>
          <p:cNvSpPr/>
          <p:nvPr/>
        </p:nvSpPr>
        <p:spPr>
          <a:xfrm>
            <a:off x="918972" y="4613148"/>
            <a:ext cx="118872" cy="118872"/>
          </a:xfrm>
          <a:prstGeom prst="ellipse">
            <a:avLst/>
          </a:prstGeom>
          <a:solidFill>
            <a:srgbClr val="1F2F6B"/>
          </a:solidFill>
          <a:ln/>
        </p:spPr>
      </p:sp>
      <p:sp>
        <p:nvSpPr>
          <p:cNvPr id="28" name="!!bes2"/>
          <p:cNvSpPr/>
          <p:nvPr/>
        </p:nvSpPr>
        <p:spPr>
          <a:xfrm>
            <a:off x="1120140" y="4613148"/>
            <a:ext cx="118872" cy="118872"/>
          </a:xfrm>
          <a:prstGeom prst="ellipse">
            <a:avLst/>
          </a:prstGeom>
          <a:solidFill>
            <a:srgbClr val="1F2F6B"/>
          </a:solidFill>
          <a:ln/>
        </p:spPr>
      </p:sp>
      <p:sp>
        <p:nvSpPr>
          <p:cNvPr id="29" name="!!bes3"/>
          <p:cNvSpPr/>
          <p:nvPr/>
        </p:nvSpPr>
        <p:spPr>
          <a:xfrm>
            <a:off x="1321308" y="4613148"/>
            <a:ext cx="118872" cy="118872"/>
          </a:xfrm>
          <a:prstGeom prst="ellipse">
            <a:avLst/>
          </a:prstGeom>
          <a:solidFill>
            <a:srgbClr val="1F2F6B"/>
          </a:solidFill>
          <a:ln/>
        </p:spPr>
      </p:sp>
      <p:sp>
        <p:nvSpPr>
          <p:cNvPr id="30" name="!!bes4"/>
          <p:cNvSpPr/>
          <p:nvPr/>
        </p:nvSpPr>
        <p:spPr>
          <a:xfrm>
            <a:off x="1522476" y="4613148"/>
            <a:ext cx="118872" cy="118872"/>
          </a:xfrm>
          <a:prstGeom prst="ellipse">
            <a:avLst/>
          </a:prstGeom>
          <a:solidFill>
            <a:srgbClr val="1F2F6B"/>
          </a:solidFill>
          <a:ln/>
        </p:spPr>
      </p:sp>
      <p:sp>
        <p:nvSpPr>
          <p:cNvPr id="31" name="!!bec0"/>
          <p:cNvSpPr/>
          <p:nvPr/>
        </p:nvSpPr>
        <p:spPr>
          <a:xfrm>
            <a:off x="818388" y="4613148"/>
            <a:ext cx="118872" cy="118872"/>
          </a:xfrm>
          <a:prstGeom prst="ellipse">
            <a:avLst/>
          </a:prstGeom>
          <a:solidFill>
            <a:srgbClr val="1F2F6B"/>
          </a:solidFill>
          <a:ln/>
        </p:spPr>
      </p:sp>
      <p:sp>
        <p:nvSpPr>
          <p:cNvPr id="32" name="!!bec1"/>
          <p:cNvSpPr/>
          <p:nvPr/>
        </p:nvSpPr>
        <p:spPr>
          <a:xfrm>
            <a:off x="1019556" y="4613148"/>
            <a:ext cx="118872" cy="118872"/>
          </a:xfrm>
          <a:prstGeom prst="ellipse">
            <a:avLst/>
          </a:prstGeom>
          <a:solidFill>
            <a:srgbClr val="1F2F6B"/>
          </a:solidFill>
          <a:ln/>
        </p:spPr>
      </p:sp>
      <p:sp>
        <p:nvSpPr>
          <p:cNvPr id="33" name="!!bec2"/>
          <p:cNvSpPr/>
          <p:nvPr/>
        </p:nvSpPr>
        <p:spPr>
          <a:xfrm>
            <a:off x="1220724" y="4613148"/>
            <a:ext cx="118872" cy="118872"/>
          </a:xfrm>
          <a:prstGeom prst="ellipse">
            <a:avLst/>
          </a:prstGeom>
          <a:solidFill>
            <a:srgbClr val="1F2F6B"/>
          </a:solidFill>
          <a:ln/>
        </p:spPr>
      </p:sp>
      <p:sp>
        <p:nvSpPr>
          <p:cNvPr id="34" name="!!bec3"/>
          <p:cNvSpPr/>
          <p:nvPr/>
        </p:nvSpPr>
        <p:spPr>
          <a:xfrm>
            <a:off x="1421892" y="4613148"/>
            <a:ext cx="118872" cy="118872"/>
          </a:xfrm>
          <a:prstGeom prst="ellipse">
            <a:avLst/>
          </a:prstGeom>
          <a:solidFill>
            <a:srgbClr val="1F2F6B"/>
          </a:solidFill>
          <a:ln/>
        </p:spPr>
      </p:sp>
      <p:sp>
        <p:nvSpPr>
          <p:cNvPr id="35" name="!!bec4"/>
          <p:cNvSpPr/>
          <p:nvPr/>
        </p:nvSpPr>
        <p:spPr>
          <a:xfrm>
            <a:off x="818388" y="4613148"/>
            <a:ext cx="118872" cy="118872"/>
          </a:xfrm>
          <a:prstGeom prst="ellipse">
            <a:avLst/>
          </a:prstGeom>
          <a:solidFill>
            <a:srgbClr val="1F2F6B"/>
          </a:solidFill>
          <a:ln/>
        </p:spPr>
      </p:sp>
      <p:sp>
        <p:nvSpPr>
          <p:cNvPr id="36" name="!!bec5"/>
          <p:cNvSpPr/>
          <p:nvPr/>
        </p:nvSpPr>
        <p:spPr>
          <a:xfrm>
            <a:off x="1019556" y="4613148"/>
            <a:ext cx="118872" cy="118872"/>
          </a:xfrm>
          <a:prstGeom prst="ellipse">
            <a:avLst/>
          </a:prstGeom>
          <a:solidFill>
            <a:srgbClr val="1F2F6B"/>
          </a:solidFill>
          <a:ln/>
        </p:spPr>
      </p:sp>
      <p:sp>
        <p:nvSpPr>
          <p:cNvPr id="37" name="!!bTop"/>
          <p:cNvSpPr/>
          <p:nvPr/>
        </p:nvSpPr>
        <p:spPr>
          <a:xfrm>
            <a:off x="640080" y="4133088"/>
            <a:ext cx="5120640" cy="91"/>
          </a:xfrm>
          <a:prstGeom prst="line">
            <a:avLst/>
          </a:prstGeom>
          <a:noFill/>
          <a:ln w="9525">
            <a:solidFill>
              <a:srgbClr val="8A8D93"/>
            </a:solidFill>
            <a:prstDash val="dash"/>
          </a:ln>
        </p:spPr>
      </p:sp>
      <p:sp>
        <p:nvSpPr>
          <p:cNvPr id="38" name="!!bTopL"/>
          <p:cNvSpPr txBox="1"/>
          <p:nvPr/>
        </p:nvSpPr>
        <p:spPr>
          <a:xfrm>
            <a:off x="4206240" y="3904488"/>
            <a:ext cx="1554480" cy="201168"/>
          </a:xfrm>
          <a:prstGeom prst="rect">
            <a:avLst/>
          </a:prstGeom>
          <a:noFill/>
          <a:ln/>
        </p:spPr>
        <p:txBody>
          <a:bodyPr wrap="square" lIns="0" tIns="0" rIns="0" bIns="0" rtlCol="0" anchor="t"/>
          <a:lstStyle/>
          <a:p>
            <a:pPr algn="r" indent="0" marL="0">
              <a:buNone/>
            </a:pPr>
            <a:r>
              <a:rPr lang="en-US" sz="900" dirty="0">
                <a:solidFill>
                  <a:srgbClr val="8A8D93"/>
                </a:solidFill>
                <a:latin typeface="Segoe UI" pitchFamily="34" charset="0"/>
                <a:ea typeface="Segoe UI" pitchFamily="34" charset="-122"/>
                <a:cs typeface="Segoe UI" pitchFamily="34" charset="-120"/>
              </a:rPr>
              <a:t>long-channel hill top</a:t>
            </a:r>
            <a:endParaRPr lang="en-US" sz="900" dirty="0"/>
          </a:p>
        </p:txBody>
      </p:sp>
      <p:sp>
        <p:nvSpPr>
          <p:cNvPr id="39" name="!!axg0"/>
          <p:cNvSpPr/>
          <p:nvPr/>
        </p:nvSpPr>
        <p:spPr>
          <a:xfrm>
            <a:off x="7315200" y="3931920"/>
            <a:ext cx="4206240" cy="91"/>
          </a:xfrm>
          <a:prstGeom prst="line">
            <a:avLst/>
          </a:prstGeom>
          <a:noFill/>
          <a:ln w="9525">
            <a:solidFill>
              <a:srgbClr val="EDEEF0"/>
            </a:solidFill>
            <a:prstDash val="solid"/>
          </a:ln>
        </p:spPr>
      </p:sp>
      <p:sp>
        <p:nvSpPr>
          <p:cNvPr id="40" name="!!axg1"/>
          <p:cNvSpPr/>
          <p:nvPr/>
        </p:nvSpPr>
        <p:spPr>
          <a:xfrm>
            <a:off x="7315200" y="3465576"/>
            <a:ext cx="4206240" cy="91"/>
          </a:xfrm>
          <a:prstGeom prst="line">
            <a:avLst/>
          </a:prstGeom>
          <a:noFill/>
          <a:ln w="9525">
            <a:solidFill>
              <a:srgbClr val="EDEEF0"/>
            </a:solidFill>
            <a:prstDash val="solid"/>
          </a:ln>
        </p:spPr>
      </p:sp>
      <p:sp>
        <p:nvSpPr>
          <p:cNvPr id="41" name="!!axg2"/>
          <p:cNvSpPr/>
          <p:nvPr/>
        </p:nvSpPr>
        <p:spPr>
          <a:xfrm>
            <a:off x="7315200" y="2999232"/>
            <a:ext cx="4206240" cy="91"/>
          </a:xfrm>
          <a:prstGeom prst="line">
            <a:avLst/>
          </a:prstGeom>
          <a:noFill/>
          <a:ln w="9525">
            <a:solidFill>
              <a:srgbClr val="EDEEF0"/>
            </a:solidFill>
            <a:prstDash val="solid"/>
          </a:ln>
        </p:spPr>
      </p:sp>
      <p:sp>
        <p:nvSpPr>
          <p:cNvPr id="42" name="!!axg3"/>
          <p:cNvSpPr/>
          <p:nvPr/>
        </p:nvSpPr>
        <p:spPr>
          <a:xfrm>
            <a:off x="7315200" y="2532888"/>
            <a:ext cx="4206240" cy="91"/>
          </a:xfrm>
          <a:prstGeom prst="line">
            <a:avLst/>
          </a:prstGeom>
          <a:noFill/>
          <a:ln w="9525">
            <a:solidFill>
              <a:srgbClr val="EDEEF0"/>
            </a:solidFill>
            <a:prstDash val="solid"/>
          </a:ln>
        </p:spPr>
      </p:sp>
      <p:sp>
        <p:nvSpPr>
          <p:cNvPr id="43" name="!!axg4"/>
          <p:cNvSpPr/>
          <p:nvPr/>
        </p:nvSpPr>
        <p:spPr>
          <a:xfrm>
            <a:off x="7315200" y="2066544"/>
            <a:ext cx="4206240" cy="91"/>
          </a:xfrm>
          <a:prstGeom prst="line">
            <a:avLst/>
          </a:prstGeom>
          <a:noFill/>
          <a:ln w="9525">
            <a:solidFill>
              <a:srgbClr val="EDEEF0"/>
            </a:solidFill>
            <a:prstDash val="solid"/>
          </a:ln>
        </p:spPr>
      </p:sp>
      <p:sp>
        <p:nvSpPr>
          <p:cNvPr id="44" name="!!axg5"/>
          <p:cNvSpPr/>
          <p:nvPr/>
        </p:nvSpPr>
        <p:spPr>
          <a:xfrm>
            <a:off x="7315200" y="1600200"/>
            <a:ext cx="4206240" cy="91"/>
          </a:xfrm>
          <a:prstGeom prst="line">
            <a:avLst/>
          </a:prstGeom>
          <a:noFill/>
          <a:ln w="9525">
            <a:solidFill>
              <a:srgbClr val="EDEEF0"/>
            </a:solidFill>
            <a:prstDash val="solid"/>
          </a:ln>
        </p:spPr>
      </p:sp>
      <p:sp>
        <p:nvSpPr>
          <p:cNvPr id="45" name="!!axxa"/>
          <p:cNvSpPr/>
          <p:nvPr/>
        </p:nvSpPr>
        <p:spPr>
          <a:xfrm>
            <a:off x="7315200" y="3931920"/>
            <a:ext cx="4206240" cy="91"/>
          </a:xfrm>
          <a:prstGeom prst="line">
            <a:avLst/>
          </a:prstGeom>
          <a:noFill/>
          <a:ln w="12700">
            <a:solidFill>
              <a:srgbClr val="8A8D93"/>
            </a:solidFill>
            <a:prstDash val="solid"/>
          </a:ln>
        </p:spPr>
      </p:sp>
      <p:sp>
        <p:nvSpPr>
          <p:cNvPr id="46" name="!!axya"/>
          <p:cNvSpPr/>
          <p:nvPr/>
        </p:nvSpPr>
        <p:spPr>
          <a:xfrm>
            <a:off x="7315200" y="1600200"/>
            <a:ext cx="91" cy="2331720"/>
          </a:xfrm>
          <a:prstGeom prst="line">
            <a:avLst/>
          </a:prstGeom>
          <a:noFill/>
          <a:ln w="12700">
            <a:solidFill>
              <a:srgbClr val="8A8D93"/>
            </a:solidFill>
            <a:prstDash val="solid"/>
          </a:ln>
        </p:spPr>
      </p:sp>
      <p:sp>
        <p:nvSpPr>
          <p:cNvPr id="47" name="!!axxt0"/>
          <p:cNvSpPr txBox="1"/>
          <p:nvPr/>
        </p:nvSpPr>
        <p:spPr>
          <a:xfrm>
            <a:off x="699516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48" name="!!axxt1"/>
          <p:cNvSpPr txBox="1"/>
          <p:nvPr/>
        </p:nvSpPr>
        <p:spPr>
          <a:xfrm>
            <a:off x="7836408"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49" name="!!axxt2"/>
          <p:cNvSpPr txBox="1"/>
          <p:nvPr/>
        </p:nvSpPr>
        <p:spPr>
          <a:xfrm>
            <a:off x="8677656"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30</a:t>
            </a:r>
            <a:endParaRPr lang="en-US" sz="900" dirty="0"/>
          </a:p>
        </p:txBody>
      </p:sp>
      <p:sp>
        <p:nvSpPr>
          <p:cNvPr id="50" name="!!axxt3"/>
          <p:cNvSpPr txBox="1"/>
          <p:nvPr/>
        </p:nvSpPr>
        <p:spPr>
          <a:xfrm>
            <a:off x="9518904"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40</a:t>
            </a:r>
            <a:endParaRPr lang="en-US" sz="900" dirty="0"/>
          </a:p>
        </p:txBody>
      </p:sp>
      <p:sp>
        <p:nvSpPr>
          <p:cNvPr id="51" name="!!axxt4"/>
          <p:cNvSpPr txBox="1"/>
          <p:nvPr/>
        </p:nvSpPr>
        <p:spPr>
          <a:xfrm>
            <a:off x="10360152"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50</a:t>
            </a:r>
            <a:endParaRPr lang="en-US" sz="900" dirty="0"/>
          </a:p>
        </p:txBody>
      </p:sp>
      <p:sp>
        <p:nvSpPr>
          <p:cNvPr id="52" name="!!axxt5"/>
          <p:cNvSpPr txBox="1"/>
          <p:nvPr/>
        </p:nvSpPr>
        <p:spPr>
          <a:xfrm>
            <a:off x="1120140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60</a:t>
            </a:r>
            <a:endParaRPr lang="en-US" sz="900" dirty="0"/>
          </a:p>
        </p:txBody>
      </p:sp>
      <p:sp>
        <p:nvSpPr>
          <p:cNvPr id="53" name="!!axyt0"/>
          <p:cNvSpPr txBox="1"/>
          <p:nvPr/>
        </p:nvSpPr>
        <p:spPr>
          <a:xfrm>
            <a:off x="6629400" y="3831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54" name="!!axyt1"/>
          <p:cNvSpPr txBox="1"/>
          <p:nvPr/>
        </p:nvSpPr>
        <p:spPr>
          <a:xfrm>
            <a:off x="6629400" y="336499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55" name="!!axyt2"/>
          <p:cNvSpPr txBox="1"/>
          <p:nvPr/>
        </p:nvSpPr>
        <p:spPr>
          <a:xfrm>
            <a:off x="6629400" y="2898648"/>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0.0</a:t>
            </a:r>
            <a:endParaRPr lang="en-US" sz="900" dirty="0"/>
          </a:p>
        </p:txBody>
      </p:sp>
      <p:sp>
        <p:nvSpPr>
          <p:cNvPr id="56" name="!!axyt3"/>
          <p:cNvSpPr txBox="1"/>
          <p:nvPr/>
        </p:nvSpPr>
        <p:spPr>
          <a:xfrm>
            <a:off x="6629400" y="2432304"/>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57" name="!!axyt4"/>
          <p:cNvSpPr txBox="1"/>
          <p:nvPr/>
        </p:nvSpPr>
        <p:spPr>
          <a:xfrm>
            <a:off x="6629400" y="196596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58" name="!!axyt5"/>
          <p:cNvSpPr txBox="1"/>
          <p:nvPr/>
        </p:nvSpPr>
        <p:spPr>
          <a:xfrm>
            <a:off x="6629400" y="14996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59" name="!!axxl"/>
          <p:cNvSpPr txBox="1"/>
          <p:nvPr/>
        </p:nvSpPr>
        <p:spPr>
          <a:xfrm>
            <a:off x="7315200" y="420624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length L</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(nm)</a:t>
            </a:r>
            <a:endParaRPr lang="en-US" sz="1100" dirty="0"/>
          </a:p>
        </p:txBody>
      </p:sp>
      <p:sp>
        <p:nvSpPr>
          <p:cNvPr id="60" name="!!axyl"/>
          <p:cNvSpPr txBox="1"/>
          <p:nvPr/>
        </p:nvSpPr>
        <p:spPr>
          <a:xfrm>
            <a:off x="713232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threshold voltage V</a:t>
            </a:r>
            <a:pPr algn="l" indent="0" marL="0">
              <a:buNone/>
            </a:pPr>
            <a:r>
              <a:rPr lang="en-US" sz="1100" baseline="-40000" dirty="0">
                <a:solidFill>
                  <a:srgbClr val="5C5E62"/>
                </a:solidFill>
                <a:latin typeface="Segoe UI" pitchFamily="34" charset="0"/>
                <a:ea typeface="Segoe UI" pitchFamily="34" charset="-122"/>
                <a:cs typeface="Segoe UI" pitchFamily="34" charset="-120"/>
              </a:rPr>
              <a:t>T</a:t>
            </a:r>
            <a:pPr algn="l"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61" name="!!vtLo"/>
          <p:cNvSpPr/>
          <p:nvPr/>
        </p:nvSpPr>
        <p:spPr>
          <a:xfrm>
            <a:off x="7315200" y="1838483"/>
            <a:ext cx="4206240" cy="1554411"/>
          </a:xfrm>
          <a:custGeom>
            <a:avLst/>
            <a:gdLst/>
            <a:ahLst/>
            <a:cxnLst/>
            <a:rect l="l" t="t" r="r" b="b"/>
            <a:pathLst>
              <a:path w="4206240" h="1554411">
                <a:moveTo>
                  <a:pt x="0" y="1554411"/>
                </a:moveTo>
                <a:lnTo>
                  <a:pt x="107852" y="1341635"/>
                </a:lnTo>
                <a:lnTo>
                  <a:pt x="215705" y="1157890"/>
                </a:lnTo>
                <a:lnTo>
                  <a:pt x="323557" y="999214"/>
                </a:lnTo>
                <a:lnTo>
                  <a:pt x="431409" y="862188"/>
                </a:lnTo>
                <a:lnTo>
                  <a:pt x="539262" y="743857"/>
                </a:lnTo>
                <a:lnTo>
                  <a:pt x="647114" y="641670"/>
                </a:lnTo>
                <a:lnTo>
                  <a:pt x="754966" y="553426"/>
                </a:lnTo>
                <a:lnTo>
                  <a:pt x="862818" y="477221"/>
                </a:lnTo>
                <a:lnTo>
                  <a:pt x="970671" y="411413"/>
                </a:lnTo>
                <a:lnTo>
                  <a:pt x="1078523" y="354584"/>
                </a:lnTo>
                <a:lnTo>
                  <a:pt x="1186375" y="305509"/>
                </a:lnTo>
                <a:lnTo>
                  <a:pt x="1294228" y="263129"/>
                </a:lnTo>
                <a:lnTo>
                  <a:pt x="1402080" y="226531"/>
                </a:lnTo>
                <a:lnTo>
                  <a:pt x="1509932" y="194927"/>
                </a:lnTo>
                <a:lnTo>
                  <a:pt x="1617785" y="167635"/>
                </a:lnTo>
                <a:lnTo>
                  <a:pt x="1725637" y="144066"/>
                </a:lnTo>
                <a:lnTo>
                  <a:pt x="1833489" y="123713"/>
                </a:lnTo>
                <a:lnTo>
                  <a:pt x="1941342" y="106137"/>
                </a:lnTo>
                <a:lnTo>
                  <a:pt x="2049194" y="90958"/>
                </a:lnTo>
                <a:lnTo>
                  <a:pt x="2157046" y="77851"/>
                </a:lnTo>
                <a:lnTo>
                  <a:pt x="2264898" y="66532"/>
                </a:lnTo>
                <a:lnTo>
                  <a:pt x="2372751" y="56757"/>
                </a:lnTo>
                <a:lnTo>
                  <a:pt x="2480603" y="48316"/>
                </a:lnTo>
                <a:lnTo>
                  <a:pt x="2588455" y="41027"/>
                </a:lnTo>
                <a:lnTo>
                  <a:pt x="2696308" y="34732"/>
                </a:lnTo>
                <a:lnTo>
                  <a:pt x="2804160" y="29296"/>
                </a:lnTo>
                <a:lnTo>
                  <a:pt x="2912012" y="24602"/>
                </a:lnTo>
                <a:lnTo>
                  <a:pt x="3019865" y="20548"/>
                </a:lnTo>
                <a:lnTo>
                  <a:pt x="3127717" y="17047"/>
                </a:lnTo>
                <a:lnTo>
                  <a:pt x="3235569" y="14024"/>
                </a:lnTo>
                <a:lnTo>
                  <a:pt x="3343422" y="11413"/>
                </a:lnTo>
                <a:lnTo>
                  <a:pt x="3451274" y="9159"/>
                </a:lnTo>
                <a:lnTo>
                  <a:pt x="3559126" y="7212"/>
                </a:lnTo>
                <a:lnTo>
                  <a:pt x="3666978" y="5531"/>
                </a:lnTo>
                <a:lnTo>
                  <a:pt x="3774831" y="4079"/>
                </a:lnTo>
                <a:lnTo>
                  <a:pt x="3882683" y="2825"/>
                </a:lnTo>
                <a:lnTo>
                  <a:pt x="3990535" y="1742"/>
                </a:lnTo>
                <a:lnTo>
                  <a:pt x="4098388" y="807"/>
                </a:lnTo>
                <a:lnTo>
                  <a:pt x="4206240" y="0"/>
                </a:lnTo>
              </a:path>
            </a:pathLst>
          </a:custGeom>
          <a:ln w="28575">
            <a:solidFill>
              <a:srgbClr val="11998E"/>
            </a:solidFill>
            <a:prstDash val="solid"/>
          </a:ln>
        </p:spPr>
      </p:sp>
      <p:sp>
        <p:nvSpPr>
          <p:cNvPr id="62" name="!!vtHi"/>
          <p:cNvSpPr/>
          <p:nvPr/>
        </p:nvSpPr>
        <p:spPr>
          <a:xfrm>
            <a:off x="7315200" y="1841646"/>
            <a:ext cx="4206240" cy="2516665"/>
          </a:xfrm>
          <a:custGeom>
            <a:avLst/>
            <a:gdLst/>
            <a:ahLst/>
            <a:cxnLst/>
            <a:rect l="l" t="t" r="r" b="b"/>
            <a:pathLst>
              <a:path w="4206240" h="2516665">
                <a:moveTo>
                  <a:pt x="0" y="2516665"/>
                </a:moveTo>
                <a:lnTo>
                  <a:pt x="107852" y="2172171"/>
                </a:lnTo>
                <a:lnTo>
                  <a:pt x="215705" y="1874679"/>
                </a:lnTo>
                <a:lnTo>
                  <a:pt x="323557" y="1617775"/>
                </a:lnTo>
                <a:lnTo>
                  <a:pt x="431409" y="1395923"/>
                </a:lnTo>
                <a:lnTo>
                  <a:pt x="539262" y="1204339"/>
                </a:lnTo>
                <a:lnTo>
                  <a:pt x="647114" y="1038895"/>
                </a:lnTo>
                <a:lnTo>
                  <a:pt x="754966" y="896023"/>
                </a:lnTo>
                <a:lnTo>
                  <a:pt x="862818" y="772643"/>
                </a:lnTo>
                <a:lnTo>
                  <a:pt x="970671" y="666098"/>
                </a:lnTo>
                <a:lnTo>
                  <a:pt x="1078523" y="574089"/>
                </a:lnTo>
                <a:lnTo>
                  <a:pt x="1186375" y="494633"/>
                </a:lnTo>
                <a:lnTo>
                  <a:pt x="1294228" y="426018"/>
                </a:lnTo>
                <a:lnTo>
                  <a:pt x="1402080" y="366765"/>
                </a:lnTo>
                <a:lnTo>
                  <a:pt x="1509932" y="315596"/>
                </a:lnTo>
                <a:lnTo>
                  <a:pt x="1617785" y="271408"/>
                </a:lnTo>
                <a:lnTo>
                  <a:pt x="1725637" y="233249"/>
                </a:lnTo>
                <a:lnTo>
                  <a:pt x="1833489" y="200297"/>
                </a:lnTo>
                <a:lnTo>
                  <a:pt x="1941342" y="171840"/>
                </a:lnTo>
                <a:lnTo>
                  <a:pt x="2049194" y="147266"/>
                </a:lnTo>
                <a:lnTo>
                  <a:pt x="2157046" y="126045"/>
                </a:lnTo>
                <a:lnTo>
                  <a:pt x="2264898" y="107719"/>
                </a:lnTo>
                <a:lnTo>
                  <a:pt x="2372751" y="91893"/>
                </a:lnTo>
                <a:lnTo>
                  <a:pt x="2480603" y="78226"/>
                </a:lnTo>
                <a:lnTo>
                  <a:pt x="2588455" y="66425"/>
                </a:lnTo>
                <a:lnTo>
                  <a:pt x="2696308" y="56233"/>
                </a:lnTo>
                <a:lnTo>
                  <a:pt x="2804160" y="47432"/>
                </a:lnTo>
                <a:lnTo>
                  <a:pt x="2912012" y="39832"/>
                </a:lnTo>
                <a:lnTo>
                  <a:pt x="3019865" y="33268"/>
                </a:lnTo>
                <a:lnTo>
                  <a:pt x="3127717" y="27600"/>
                </a:lnTo>
                <a:lnTo>
                  <a:pt x="3235569" y="22706"/>
                </a:lnTo>
                <a:lnTo>
                  <a:pt x="3343422" y="18479"/>
                </a:lnTo>
                <a:lnTo>
                  <a:pt x="3451274" y="14829"/>
                </a:lnTo>
                <a:lnTo>
                  <a:pt x="3559126" y="11677"/>
                </a:lnTo>
                <a:lnTo>
                  <a:pt x="3666978" y="8955"/>
                </a:lnTo>
                <a:lnTo>
                  <a:pt x="3774831" y="6604"/>
                </a:lnTo>
                <a:lnTo>
                  <a:pt x="3882683" y="4574"/>
                </a:lnTo>
                <a:lnTo>
                  <a:pt x="3990535" y="2821"/>
                </a:lnTo>
                <a:lnTo>
                  <a:pt x="4098388" y="1307"/>
                </a:lnTo>
                <a:lnTo>
                  <a:pt x="4206240" y="0"/>
                </a:lnTo>
              </a:path>
            </a:pathLst>
          </a:custGeom>
          <a:ln w="28575">
            <a:solidFill>
              <a:srgbClr val="D64545"/>
            </a:solidFill>
            <a:prstDash val="solid"/>
          </a:ln>
        </p:spPr>
      </p:sp>
      <p:sp>
        <p:nvSpPr>
          <p:cNvPr id="63" name="!!vtLoL"/>
          <p:cNvSpPr txBox="1"/>
          <p:nvPr/>
        </p:nvSpPr>
        <p:spPr>
          <a:xfrm>
            <a:off x="10175443" y="1540764"/>
            <a:ext cx="1097280" cy="201168"/>
          </a:xfrm>
          <a:prstGeom prst="rect">
            <a:avLst/>
          </a:prstGeom>
          <a:noFill/>
          <a:ln/>
        </p:spPr>
        <p:txBody>
          <a:bodyPr wrap="square" lIns="0" tIns="0" rIns="0" bIns="0" rtlCol="0" anchor="t"/>
          <a:lstStyle/>
          <a:p>
            <a:pPr algn="l" indent="0" marL="0">
              <a:buNone/>
            </a:pPr>
            <a:r>
              <a:rPr lang="en-US" sz="1000" dirty="0">
                <a:solidFill>
                  <a:srgbClr val="11998E"/>
                </a:solidFill>
                <a:latin typeface="Segoe UI Semibold" pitchFamily="34" charset="0"/>
                <a:ea typeface="Segoe UI Semibold" pitchFamily="34" charset="-122"/>
                <a:cs typeface="Segoe UI Semibold" pitchFamily="34" charset="-120"/>
              </a:rPr>
              <a:t>V</a:t>
            </a:r>
            <a:pPr algn="l" indent="0" marL="0">
              <a:buNone/>
            </a:pPr>
            <a:r>
              <a:rPr lang="en-US" sz="1000" baseline="-40000" dirty="0">
                <a:solidFill>
                  <a:srgbClr val="11998E"/>
                </a:solidFill>
                <a:latin typeface="Segoe UI Semibold" pitchFamily="34" charset="0"/>
                <a:ea typeface="Segoe UI Semibold" pitchFamily="34" charset="-122"/>
                <a:cs typeface="Segoe UI Semibold" pitchFamily="34" charset="-120"/>
              </a:rPr>
              <a:t>D</a:t>
            </a:r>
            <a:pPr algn="l" indent="0" marL="0">
              <a:buNone/>
            </a:pPr>
            <a:r>
              <a:rPr lang="en-US" sz="1000" dirty="0">
                <a:solidFill>
                  <a:srgbClr val="11998E"/>
                </a:solidFill>
                <a:latin typeface="Segoe UI Semibold" pitchFamily="34" charset="0"/>
                <a:ea typeface="Segoe UI Semibold" pitchFamily="34" charset="-122"/>
                <a:cs typeface="Segoe UI Semibold" pitchFamily="34" charset="-120"/>
              </a:rPr>
              <a:t> = 0.05 V</a:t>
            </a:r>
            <a:endParaRPr lang="en-US" sz="1000" dirty="0"/>
          </a:p>
        </p:txBody>
      </p:sp>
      <p:sp>
        <p:nvSpPr>
          <p:cNvPr id="64" name="!!vtHiL"/>
          <p:cNvSpPr txBox="1"/>
          <p:nvPr/>
        </p:nvSpPr>
        <p:spPr>
          <a:xfrm>
            <a:off x="10175443" y="1943100"/>
            <a:ext cx="1097280" cy="201168"/>
          </a:xfrm>
          <a:prstGeom prst="rect">
            <a:avLst/>
          </a:prstGeom>
          <a:noFill/>
          <a:ln/>
        </p:spPr>
        <p:txBody>
          <a:bodyPr wrap="square" lIns="0" tIns="0" rIns="0" bIns="0" rtlCol="0" anchor="t"/>
          <a:lstStyle/>
          <a:p>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V</a:t>
            </a:r>
            <a:pPr algn="l" indent="0" marL="0">
              <a:buNone/>
            </a:pPr>
            <a:r>
              <a:rPr lang="en-US" sz="1000" baseline="-40000" dirty="0">
                <a:solidFill>
                  <a:srgbClr val="D64545"/>
                </a:solidFill>
                <a:latin typeface="Segoe UI Semibold" pitchFamily="34" charset="0"/>
                <a:ea typeface="Segoe UI Semibold" pitchFamily="34" charset="-122"/>
                <a:cs typeface="Segoe UI Semibold" pitchFamily="34" charset="-120"/>
              </a:rPr>
              <a:t>D</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 0.7 V</a:t>
            </a:r>
            <a:endParaRPr lang="en-US" sz="1000" dirty="0"/>
          </a:p>
        </p:txBody>
      </p:sp>
      <p:sp>
        <p:nvSpPr>
          <p:cNvPr id="65" name="!!vtGap"/>
          <p:cNvSpPr/>
          <p:nvPr/>
        </p:nvSpPr>
        <p:spPr>
          <a:xfrm>
            <a:off x="11521440" y="1838483"/>
            <a:ext cx="91" cy="3164"/>
          </a:xfrm>
          <a:prstGeom prst="line">
            <a:avLst/>
          </a:prstGeom>
          <a:noFill/>
          <a:ln w="25400">
            <a:solidFill>
              <a:srgbClr val="6B5BC4"/>
            </a:solidFill>
            <a:prstDash val="solid"/>
          </a:ln>
        </p:spPr>
      </p:sp>
      <p:sp>
        <p:nvSpPr>
          <p:cNvPr id="66" name="!!vtPtLo"/>
          <p:cNvSpPr/>
          <p:nvPr/>
        </p:nvSpPr>
        <p:spPr>
          <a:xfrm>
            <a:off x="11448288" y="1765331"/>
            <a:ext cx="146304" cy="146304"/>
          </a:xfrm>
          <a:prstGeom prst="ellipse">
            <a:avLst/>
          </a:prstGeom>
          <a:solidFill>
            <a:srgbClr val="11998E"/>
          </a:solidFill>
          <a:ln w="19050">
            <a:solidFill>
              <a:srgbClr val="FFFFFF"/>
            </a:solidFill>
            <a:prstDash val="solid"/>
          </a:ln>
        </p:spPr>
      </p:sp>
      <p:sp>
        <p:nvSpPr>
          <p:cNvPr id="67" name="!!vtPtHi"/>
          <p:cNvSpPr/>
          <p:nvPr/>
        </p:nvSpPr>
        <p:spPr>
          <a:xfrm>
            <a:off x="11448288" y="1768494"/>
            <a:ext cx="146304" cy="146304"/>
          </a:xfrm>
          <a:prstGeom prst="ellipse">
            <a:avLst/>
          </a:prstGeom>
          <a:solidFill>
            <a:srgbClr val="D64545"/>
          </a:solidFill>
          <a:ln w="19050">
            <a:solidFill>
              <a:srgbClr val="FFFFFF"/>
            </a:solidFill>
            <a:prstDash val="solid"/>
          </a:ln>
        </p:spPr>
      </p:sp>
      <p:sp>
        <p:nvSpPr>
          <p:cNvPr id="68" name="!!chip0"/>
          <p:cNvSpPr/>
          <p:nvPr/>
        </p:nvSpPr>
        <p:spPr>
          <a:xfrm>
            <a:off x="6858000" y="4434840"/>
            <a:ext cx="1508760" cy="658368"/>
          </a:xfrm>
          <a:prstGeom prst="roundRect">
            <a:avLst>
              <a:gd name="adj" fmla="val 8333"/>
            </a:avLst>
          </a:prstGeom>
          <a:solidFill>
            <a:srgbClr val="F4F5F7"/>
          </a:solidFill>
          <a:ln/>
        </p:spPr>
      </p:sp>
      <p:sp>
        <p:nvSpPr>
          <p:cNvPr id="69" name="!!chipk0"/>
          <p:cNvSpPr txBox="1"/>
          <p:nvPr/>
        </p:nvSpPr>
        <p:spPr>
          <a:xfrm>
            <a:off x="6967728"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a:t>
            </a:r>
            <a:pPr algn="l" indent="0" marL="0">
              <a:buNone/>
            </a:pPr>
            <a:r>
              <a:rPr lang="en-US" sz="1000" baseline="-40000" dirty="0">
                <a:solidFill>
                  <a:srgbClr val="5C5E62"/>
                </a:solidFill>
                <a:latin typeface="Segoe UI" pitchFamily="34" charset="0"/>
                <a:ea typeface="Segoe UI" pitchFamily="34" charset="-122"/>
                <a:cs typeface="Segoe UI" pitchFamily="34" charset="-120"/>
              </a:rPr>
              <a:t>T</a:t>
            </a:r>
            <a:pPr algn="l" indent="0" marL="0">
              <a:buNone/>
            </a:pPr>
            <a:r>
              <a:rPr lang="en-US" sz="1000" dirty="0">
                <a:solidFill>
                  <a:srgbClr val="5C5E62"/>
                </a:solidFill>
                <a:latin typeface="Segoe UI" pitchFamily="34" charset="0"/>
                <a:ea typeface="Segoe UI" pitchFamily="34" charset="-122"/>
                <a:cs typeface="Segoe UI" pitchFamily="34" charset="-120"/>
              </a:rPr>
              <a:t> (V</a:t>
            </a:r>
            <a:pPr algn="l" indent="0" marL="0">
              <a:buNone/>
            </a:pPr>
            <a:r>
              <a:rPr lang="en-US" sz="1000" baseline="-40000" dirty="0">
                <a:solidFill>
                  <a:srgbClr val="5C5E62"/>
                </a:solidFill>
                <a:latin typeface="Segoe UI" pitchFamily="34" charset="0"/>
                <a:ea typeface="Segoe UI" pitchFamily="34" charset="-122"/>
                <a:cs typeface="Segoe UI" pitchFamily="34" charset="-120"/>
              </a:rPr>
              <a:t>D</a:t>
            </a:r>
            <a:pPr algn="l" indent="0" marL="0">
              <a:buNone/>
            </a:pPr>
            <a:r>
              <a:rPr lang="en-US" sz="1000" dirty="0">
                <a:solidFill>
                  <a:srgbClr val="5C5E62"/>
                </a:solidFill>
                <a:latin typeface="Segoe UI" pitchFamily="34" charset="0"/>
                <a:ea typeface="Segoe UI" pitchFamily="34" charset="-122"/>
                <a:cs typeface="Segoe UI" pitchFamily="34" charset="-120"/>
              </a:rPr>
              <a:t> = 0.05 V)</a:t>
            </a:r>
            <a:endParaRPr lang="en-US" sz="1000" dirty="0"/>
          </a:p>
        </p:txBody>
      </p:sp>
      <p:sp>
        <p:nvSpPr>
          <p:cNvPr id="70" name="!!chipv0"/>
          <p:cNvSpPr txBox="1"/>
          <p:nvPr/>
        </p:nvSpPr>
        <p:spPr>
          <a:xfrm>
            <a:off x="6967728"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0.25 V</a:t>
            </a:r>
            <a:endParaRPr lang="en-US" sz="1500" dirty="0"/>
          </a:p>
        </p:txBody>
      </p:sp>
      <p:sp>
        <p:nvSpPr>
          <p:cNvPr id="71" name="!!chip1"/>
          <p:cNvSpPr/>
          <p:nvPr/>
        </p:nvSpPr>
        <p:spPr>
          <a:xfrm>
            <a:off x="8476488" y="4434840"/>
            <a:ext cx="1508760" cy="658368"/>
          </a:xfrm>
          <a:prstGeom prst="roundRect">
            <a:avLst>
              <a:gd name="adj" fmla="val 8333"/>
            </a:avLst>
          </a:prstGeom>
          <a:solidFill>
            <a:srgbClr val="F4F5F7"/>
          </a:solidFill>
          <a:ln/>
        </p:spPr>
      </p:sp>
      <p:sp>
        <p:nvSpPr>
          <p:cNvPr id="72" name="!!chipk1"/>
          <p:cNvSpPr txBox="1"/>
          <p:nvPr/>
        </p:nvSpPr>
        <p:spPr>
          <a:xfrm>
            <a:off x="8586216"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a:t>
            </a:r>
            <a:pPr algn="l" indent="0" marL="0">
              <a:buNone/>
            </a:pPr>
            <a:r>
              <a:rPr lang="en-US" sz="1000" baseline="-40000" dirty="0">
                <a:solidFill>
                  <a:srgbClr val="5C5E62"/>
                </a:solidFill>
                <a:latin typeface="Segoe UI" pitchFamily="34" charset="0"/>
                <a:ea typeface="Segoe UI" pitchFamily="34" charset="-122"/>
                <a:cs typeface="Segoe UI" pitchFamily="34" charset="-120"/>
              </a:rPr>
              <a:t>T</a:t>
            </a:r>
            <a:pPr algn="l" indent="0" marL="0">
              <a:buNone/>
            </a:pPr>
            <a:r>
              <a:rPr lang="en-US" sz="1000" dirty="0">
                <a:solidFill>
                  <a:srgbClr val="5C5E62"/>
                </a:solidFill>
                <a:latin typeface="Segoe UI" pitchFamily="34" charset="0"/>
                <a:ea typeface="Segoe UI" pitchFamily="34" charset="-122"/>
                <a:cs typeface="Segoe UI" pitchFamily="34" charset="-120"/>
              </a:rPr>
              <a:t> (V</a:t>
            </a:r>
            <a:pPr algn="l" indent="0" marL="0">
              <a:buNone/>
            </a:pPr>
            <a:r>
              <a:rPr lang="en-US" sz="1000" baseline="-40000" dirty="0">
                <a:solidFill>
                  <a:srgbClr val="5C5E62"/>
                </a:solidFill>
                <a:latin typeface="Segoe UI" pitchFamily="34" charset="0"/>
                <a:ea typeface="Segoe UI" pitchFamily="34" charset="-122"/>
                <a:cs typeface="Segoe UI" pitchFamily="34" charset="-120"/>
              </a:rPr>
              <a:t>D</a:t>
            </a:r>
            <a:pPr algn="l" indent="0" marL="0">
              <a:buNone/>
            </a:pPr>
            <a:r>
              <a:rPr lang="en-US" sz="1000" dirty="0">
                <a:solidFill>
                  <a:srgbClr val="5C5E62"/>
                </a:solidFill>
                <a:latin typeface="Segoe UI" pitchFamily="34" charset="0"/>
                <a:ea typeface="Segoe UI" pitchFamily="34" charset="-122"/>
                <a:cs typeface="Segoe UI" pitchFamily="34" charset="-120"/>
              </a:rPr>
              <a:t> = 0.7 V)</a:t>
            </a:r>
            <a:endParaRPr lang="en-US" sz="1000" dirty="0"/>
          </a:p>
        </p:txBody>
      </p:sp>
      <p:sp>
        <p:nvSpPr>
          <p:cNvPr id="73" name="!!chipv1"/>
          <p:cNvSpPr txBox="1"/>
          <p:nvPr/>
        </p:nvSpPr>
        <p:spPr>
          <a:xfrm>
            <a:off x="8586216"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0.25 V</a:t>
            </a:r>
            <a:endParaRPr lang="en-US" sz="1500" dirty="0"/>
          </a:p>
        </p:txBody>
      </p:sp>
      <p:sp>
        <p:nvSpPr>
          <p:cNvPr id="74" name="!!chip2"/>
          <p:cNvSpPr/>
          <p:nvPr/>
        </p:nvSpPr>
        <p:spPr>
          <a:xfrm>
            <a:off x="10094976" y="4434840"/>
            <a:ext cx="1508760" cy="658368"/>
          </a:xfrm>
          <a:prstGeom prst="roundRect">
            <a:avLst>
              <a:gd name="adj" fmla="val 8333"/>
            </a:avLst>
          </a:prstGeom>
          <a:solidFill>
            <a:srgbClr val="F4F5F7"/>
          </a:solidFill>
          <a:ln/>
        </p:spPr>
      </p:sp>
      <p:sp>
        <p:nvSpPr>
          <p:cNvPr id="75" name="!!chipk2"/>
          <p:cNvSpPr txBox="1"/>
          <p:nvPr/>
        </p:nvSpPr>
        <p:spPr>
          <a:xfrm>
            <a:off x="10204704"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DIBL</a:t>
            </a:r>
            <a:endParaRPr lang="en-US" sz="1000" dirty="0"/>
          </a:p>
        </p:txBody>
      </p:sp>
      <p:sp>
        <p:nvSpPr>
          <p:cNvPr id="76" name="!!chipv2"/>
          <p:cNvSpPr txBox="1"/>
          <p:nvPr/>
        </p:nvSpPr>
        <p:spPr>
          <a:xfrm>
            <a:off x="10204704"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 mV/V</a:t>
            </a:r>
            <a:endParaRPr lang="en-US" sz="1500" dirty="0"/>
          </a:p>
        </p:txBody>
      </p:sp>
      <p:sp>
        <p:nvSpPr>
          <p:cNvPr id="77" name="!!knobLbl"/>
          <p:cNvSpPr txBox="1"/>
          <p:nvPr/>
        </p:nvSpPr>
        <p:spPr>
          <a:xfrm>
            <a:off x="7022592" y="512064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length L</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60 nm</a:t>
            </a:r>
            <a:endParaRPr lang="en-US" sz="1200" dirty="0"/>
          </a:p>
        </p:txBody>
      </p:sp>
      <p:sp>
        <p:nvSpPr>
          <p:cNvPr id="78" name="!!knobTrack"/>
          <p:cNvSpPr/>
          <p:nvPr/>
        </p:nvSpPr>
        <p:spPr>
          <a:xfrm>
            <a:off x="7040880" y="5504688"/>
            <a:ext cx="4480560" cy="54864"/>
          </a:xfrm>
          <a:prstGeom prst="roundRect">
            <a:avLst>
              <a:gd name="adj" fmla="val 50000"/>
            </a:avLst>
          </a:prstGeom>
          <a:solidFill>
            <a:srgbClr val="E2E3E3"/>
          </a:solidFill>
          <a:ln/>
        </p:spPr>
      </p:sp>
      <p:sp>
        <p:nvSpPr>
          <p:cNvPr id="79" name="!!knobFill"/>
          <p:cNvSpPr/>
          <p:nvPr/>
        </p:nvSpPr>
        <p:spPr>
          <a:xfrm>
            <a:off x="7040880" y="5504688"/>
            <a:ext cx="4480560" cy="54864"/>
          </a:xfrm>
          <a:prstGeom prst="roundRect">
            <a:avLst>
              <a:gd name="adj" fmla="val 50000"/>
            </a:avLst>
          </a:prstGeom>
          <a:solidFill>
            <a:srgbClr val="6B5BC4"/>
          </a:solidFill>
          <a:ln/>
        </p:spPr>
      </p:sp>
      <p:sp>
        <p:nvSpPr>
          <p:cNvPr id="80" name="!!knobT0"/>
          <p:cNvSpPr txBox="1"/>
          <p:nvPr/>
        </p:nvSpPr>
        <p:spPr>
          <a:xfrm>
            <a:off x="667512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10</a:t>
            </a:r>
            <a:endParaRPr lang="en-US" sz="900" dirty="0"/>
          </a:p>
        </p:txBody>
      </p:sp>
      <p:sp>
        <p:nvSpPr>
          <p:cNvPr id="81" name="!!knobT1"/>
          <p:cNvSpPr txBox="1"/>
          <p:nvPr/>
        </p:nvSpPr>
        <p:spPr>
          <a:xfrm>
            <a:off x="7571232"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20</a:t>
            </a:r>
            <a:endParaRPr lang="en-US" sz="900" dirty="0"/>
          </a:p>
        </p:txBody>
      </p:sp>
      <p:sp>
        <p:nvSpPr>
          <p:cNvPr id="82" name="!!knobT2"/>
          <p:cNvSpPr txBox="1"/>
          <p:nvPr/>
        </p:nvSpPr>
        <p:spPr>
          <a:xfrm>
            <a:off x="8467344"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30</a:t>
            </a:r>
            <a:endParaRPr lang="en-US" sz="900" dirty="0"/>
          </a:p>
        </p:txBody>
      </p:sp>
      <p:sp>
        <p:nvSpPr>
          <p:cNvPr id="83" name="!!knobT3"/>
          <p:cNvSpPr txBox="1"/>
          <p:nvPr/>
        </p:nvSpPr>
        <p:spPr>
          <a:xfrm>
            <a:off x="9363456"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40</a:t>
            </a:r>
            <a:endParaRPr lang="en-US" sz="900" dirty="0"/>
          </a:p>
        </p:txBody>
      </p:sp>
      <p:sp>
        <p:nvSpPr>
          <p:cNvPr id="84" name="!!knobT4"/>
          <p:cNvSpPr txBox="1"/>
          <p:nvPr/>
        </p:nvSpPr>
        <p:spPr>
          <a:xfrm>
            <a:off x="10259568"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50</a:t>
            </a:r>
            <a:endParaRPr lang="en-US" sz="900" dirty="0"/>
          </a:p>
        </p:txBody>
      </p:sp>
      <p:sp>
        <p:nvSpPr>
          <p:cNvPr id="85" name="!!knobT5"/>
          <p:cNvSpPr txBox="1"/>
          <p:nvPr/>
        </p:nvSpPr>
        <p:spPr>
          <a:xfrm>
            <a:off x="111556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60</a:t>
            </a:r>
            <a:endParaRPr lang="en-US" sz="900" dirty="0"/>
          </a:p>
        </p:txBody>
      </p:sp>
      <p:sp>
        <p:nvSpPr>
          <p:cNvPr id="86" name="!!knobThumb"/>
          <p:cNvSpPr/>
          <p:nvPr/>
        </p:nvSpPr>
        <p:spPr>
          <a:xfrm>
            <a:off x="11420856" y="5431536"/>
            <a:ext cx="201168" cy="201168"/>
          </a:xfrm>
          <a:prstGeom prst="ellipse">
            <a:avLst/>
          </a:prstGeom>
          <a:solidFill>
            <a:srgbClr val="FFFFFF"/>
          </a:solidFill>
          <a:ln w="28575">
            <a:solidFill>
              <a:srgbClr val="6B5BC4"/>
            </a:solidFill>
            <a:prstDash val="solid"/>
          </a:ln>
        </p:spPr>
      </p:sp>
      <p:sp>
        <p:nvSpPr>
          <p:cNvPr id="8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Long gate: the drain cannot reach the hill top.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T</a:t>
            </a:r>
            <a:pPr algn="ctr" indent="0" marL="0">
              <a:buNone/>
            </a:pPr>
            <a:r>
              <a:rPr lang="en-US" sz="1600" dirty="0">
                <a:solidFill>
                  <a:srgbClr val="171A20"/>
                </a:solidFill>
                <a:latin typeface="Segoe UI" pitchFamily="34" charset="0"/>
                <a:ea typeface="Segoe UI" pitchFamily="34" charset="-122"/>
                <a:cs typeface="Segoe UI" pitchFamily="34" charset="-120"/>
              </a:rPr>
              <a:t> is set by the gate alone.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37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Shrinking the gate – Planar MOSFET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Same voltages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0,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 only the knob L</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changes</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E2E3E3"/>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mBody"/>
          <p:cNvSpPr/>
          <p:nvPr/>
        </p:nvSpPr>
        <p:spPr>
          <a:xfrm>
            <a:off x="640080" y="2240280"/>
            <a:ext cx="5120640" cy="1417320"/>
          </a:xfrm>
          <a:prstGeom prst="rect">
            <a:avLst/>
          </a:prstGeom>
          <a:solidFill>
            <a:srgbClr val="F6E7B8"/>
          </a:solidFill>
          <a:ln/>
        </p:spPr>
      </p:sp>
      <p:sp>
        <p:nvSpPr>
          <p:cNvPr id="10"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1" name="!!mDepS"/>
          <p:cNvSpPr/>
          <p:nvPr/>
        </p:nvSpPr>
        <p:spPr>
          <a:xfrm>
            <a:off x="640080" y="2240280"/>
            <a:ext cx="1847088" cy="932688"/>
          </a:xfrm>
          <a:prstGeom prst="roundRect">
            <a:avLst>
              <a:gd name="adj" fmla="val 11765"/>
            </a:avLst>
          </a:prstGeom>
          <a:solidFill>
            <a:srgbClr val="F7D4D9"/>
          </a:solidFill>
          <a:ln/>
        </p:spPr>
      </p:sp>
      <p:sp>
        <p:nvSpPr>
          <p:cNvPr id="12" name="!!mDepD"/>
          <p:cNvSpPr/>
          <p:nvPr/>
        </p:nvSpPr>
        <p:spPr>
          <a:xfrm>
            <a:off x="3913632" y="2240280"/>
            <a:ext cx="1847088" cy="932688"/>
          </a:xfrm>
          <a:prstGeom prst="roundRect">
            <a:avLst>
              <a:gd name="adj" fmla="val 11765"/>
            </a:avLst>
          </a:prstGeom>
          <a:solidFill>
            <a:srgbClr val="F7D4D9"/>
          </a:solidFill>
          <a:ln/>
        </p:spPr>
      </p:sp>
      <p:sp>
        <p:nvSpPr>
          <p:cNvPr id="13" name="!!mSrc"/>
          <p:cNvSpPr/>
          <p:nvPr/>
        </p:nvSpPr>
        <p:spPr>
          <a:xfrm>
            <a:off x="640080" y="2240280"/>
            <a:ext cx="1508760" cy="548640"/>
          </a:xfrm>
          <a:prstGeom prst="roundRect">
            <a:avLst>
              <a:gd name="adj" fmla="val 8333"/>
            </a:avLst>
          </a:prstGeom>
          <a:solidFill>
            <a:srgbClr val="7D9BE6"/>
          </a:solidFill>
          <a:ln/>
        </p:spPr>
      </p:sp>
      <p:sp>
        <p:nvSpPr>
          <p:cNvPr id="14" name="!!mDrn"/>
          <p:cNvSpPr/>
          <p:nvPr/>
        </p:nvSpPr>
        <p:spPr>
          <a:xfrm>
            <a:off x="4251960" y="2240280"/>
            <a:ext cx="1508760" cy="548640"/>
          </a:xfrm>
          <a:prstGeom prst="roundRect">
            <a:avLst>
              <a:gd name="adj" fmla="val 8333"/>
            </a:avLst>
          </a:prstGeom>
          <a:solidFill>
            <a:srgbClr val="7D9BE6"/>
          </a:solidFill>
          <a:ln/>
        </p:spPr>
      </p:sp>
      <p:sp>
        <p:nvSpPr>
          <p:cNvPr id="15" name="!!mSrcL"/>
          <p:cNvSpPr txBox="1"/>
          <p:nvPr/>
        </p:nvSpPr>
        <p:spPr>
          <a:xfrm>
            <a:off x="640080" y="2395728"/>
            <a:ext cx="146304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6" name="!!mDrnL"/>
          <p:cNvSpPr txBox="1"/>
          <p:nvPr/>
        </p:nvSpPr>
        <p:spPr>
          <a:xfrm>
            <a:off x="4297680" y="2395728"/>
            <a:ext cx="146304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7" name="!!mOx"/>
          <p:cNvSpPr/>
          <p:nvPr/>
        </p:nvSpPr>
        <p:spPr>
          <a:xfrm>
            <a:off x="2103120" y="2167128"/>
            <a:ext cx="2194560" cy="73152"/>
          </a:xfrm>
          <a:prstGeom prst="rect">
            <a:avLst/>
          </a:prstGeom>
          <a:solidFill>
            <a:srgbClr val="CDEBF5"/>
          </a:solidFill>
          <a:ln/>
        </p:spPr>
      </p:sp>
      <p:sp>
        <p:nvSpPr>
          <p:cNvPr id="18" name="!!mGate"/>
          <p:cNvSpPr/>
          <p:nvPr/>
        </p:nvSpPr>
        <p:spPr>
          <a:xfrm>
            <a:off x="2103120" y="1783080"/>
            <a:ext cx="2194560" cy="384048"/>
          </a:xfrm>
          <a:prstGeom prst="roundRect">
            <a:avLst>
              <a:gd name="adj" fmla="val 9524"/>
            </a:avLst>
          </a:prstGeom>
          <a:solidFill>
            <a:srgbClr val="B3A6E6"/>
          </a:solidFill>
          <a:ln/>
        </p:spPr>
      </p:sp>
      <p:sp>
        <p:nvSpPr>
          <p:cNvPr id="19" name="!!mGateL"/>
          <p:cNvSpPr txBox="1"/>
          <p:nvPr/>
        </p:nvSpPr>
        <p:spPr>
          <a:xfrm>
            <a:off x="2103120" y="1837944"/>
            <a:ext cx="2194560"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20" name="!!mVS"/>
          <p:cNvSpPr txBox="1"/>
          <p:nvPr/>
        </p:nvSpPr>
        <p:spPr>
          <a:xfrm>
            <a:off x="640080" y="1856232"/>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S</a:t>
            </a:r>
            <a:pPr algn="l" indent="0" marL="0">
              <a:buNone/>
            </a:pPr>
            <a:r>
              <a:rPr lang="en-US" sz="1100" dirty="0">
                <a:solidFill>
                  <a:srgbClr val="5C5E62"/>
                </a:solidFill>
                <a:latin typeface="Segoe UI" pitchFamily="34" charset="0"/>
                <a:ea typeface="Segoe UI" pitchFamily="34" charset="-122"/>
                <a:cs typeface="Segoe UI" pitchFamily="34" charset="-120"/>
              </a:rPr>
              <a:t> = 0</a:t>
            </a:r>
            <a:endParaRPr lang="en-US" sz="1100" dirty="0"/>
          </a:p>
        </p:txBody>
      </p:sp>
      <p:sp>
        <p:nvSpPr>
          <p:cNvPr id="21" name="!!mVG"/>
          <p:cNvSpPr txBox="1"/>
          <p:nvPr/>
        </p:nvSpPr>
        <p:spPr>
          <a:xfrm>
            <a:off x="2286000" y="1490472"/>
            <a:ext cx="1828800" cy="237744"/>
          </a:xfrm>
          <a:prstGeom prst="rect">
            <a:avLst/>
          </a:prstGeom>
          <a:noFill/>
          <a:ln/>
        </p:spPr>
        <p:txBody>
          <a:bodyPr wrap="square" lIns="0" tIns="0" rIns="0" bIns="0" rtlCol="0" anchor="t"/>
          <a:lstStyle/>
          <a:p>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ctr"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 = 0.00 V</a:t>
            </a:r>
            <a:endParaRPr lang="en-US" sz="1200" dirty="0"/>
          </a:p>
        </p:txBody>
      </p:sp>
      <p:sp>
        <p:nvSpPr>
          <p:cNvPr id="22" name="!!mVD"/>
          <p:cNvSpPr txBox="1"/>
          <p:nvPr/>
        </p:nvSpPr>
        <p:spPr>
          <a:xfrm>
            <a:off x="4480560" y="1856232"/>
            <a:ext cx="1280160" cy="228600"/>
          </a:xfrm>
          <a:prstGeom prst="rect">
            <a:avLst/>
          </a:prstGeom>
          <a:noFill/>
          <a:ln/>
        </p:spPr>
        <p:txBody>
          <a:bodyPr wrap="square" lIns="0" tIns="0" rIns="0" bIns="0" rtlCol="0" anchor="t"/>
          <a:lstStyle/>
          <a:p>
            <a:pPr algn="r" indent="0" marL="0">
              <a:buNone/>
            </a:pPr>
            <a:r>
              <a:rPr lang="en-US" sz="1100" dirty="0">
                <a:solidFill>
                  <a:srgbClr val="5C5E62"/>
                </a:solidFill>
                <a:latin typeface="Segoe UI" pitchFamily="34" charset="0"/>
                <a:ea typeface="Segoe UI" pitchFamily="34" charset="-122"/>
                <a:cs typeface="Segoe UI" pitchFamily="34" charset="-120"/>
              </a:rPr>
              <a:t>V</a:t>
            </a:r>
            <a:pPr algn="r" indent="0" marL="0">
              <a:buNone/>
            </a:pPr>
            <a:r>
              <a:rPr lang="en-US" sz="1100" baseline="-40000" dirty="0">
                <a:solidFill>
                  <a:srgbClr val="5C5E62"/>
                </a:solidFill>
                <a:latin typeface="Segoe UI" pitchFamily="34" charset="0"/>
                <a:ea typeface="Segoe UI" pitchFamily="34" charset="-122"/>
                <a:cs typeface="Segoe UI" pitchFamily="34" charset="-120"/>
              </a:rPr>
              <a:t>D</a:t>
            </a:r>
            <a:pPr algn="r" indent="0" marL="0">
              <a:buNone/>
            </a:pPr>
            <a:r>
              <a:rPr lang="en-US" sz="1100" dirty="0">
                <a:solidFill>
                  <a:srgbClr val="5C5E62"/>
                </a:solidFill>
                <a:latin typeface="Segoe UI" pitchFamily="34" charset="0"/>
                <a:ea typeface="Segoe UI" pitchFamily="34" charset="-122"/>
                <a:cs typeface="Segoe UI" pitchFamily="34" charset="-120"/>
              </a:rPr>
              <a:t> = 0.70 V</a:t>
            </a:r>
            <a:endParaRPr lang="en-US" sz="1100" dirty="0"/>
          </a:p>
        </p:txBody>
      </p:sp>
      <p:sp>
        <p:nvSpPr>
          <p:cNvPr id="23" name="!!lg2t"/>
          <p:cNvSpPr txBox="1"/>
          <p:nvPr/>
        </p:nvSpPr>
        <p:spPr>
          <a:xfrm>
            <a:off x="640080" y="3721608"/>
            <a:ext cx="320040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pink = depletion around source and drain</a:t>
            </a:r>
            <a:endParaRPr lang="en-US" sz="900" dirty="0"/>
          </a:p>
        </p:txBody>
      </p:sp>
      <p:sp>
        <p:nvSpPr>
          <p:cNvPr id="24" name="!!bCurve"/>
          <p:cNvSpPr/>
          <p:nvPr/>
        </p:nvSpPr>
        <p:spPr>
          <a:xfrm>
            <a:off x="640080" y="4135012"/>
            <a:ext cx="5120640" cy="1163932"/>
          </a:xfrm>
          <a:custGeom>
            <a:avLst/>
            <a:gdLst/>
            <a:ahLst/>
            <a:cxnLst/>
            <a:rect l="l" t="t" r="r" b="b"/>
            <a:pathLst>
              <a:path w="5120640" h="1163932">
                <a:moveTo>
                  <a:pt x="0" y="619865"/>
                </a:moveTo>
                <a:lnTo>
                  <a:pt x="113792" y="619860"/>
                </a:lnTo>
                <a:lnTo>
                  <a:pt x="227584" y="619849"/>
                </a:lnTo>
                <a:lnTo>
                  <a:pt x="341376" y="619818"/>
                </a:lnTo>
                <a:lnTo>
                  <a:pt x="455168" y="619738"/>
                </a:lnTo>
                <a:lnTo>
                  <a:pt x="568960" y="619531"/>
                </a:lnTo>
                <a:lnTo>
                  <a:pt x="682752" y="618992"/>
                </a:lnTo>
                <a:lnTo>
                  <a:pt x="796544" y="617592"/>
                </a:lnTo>
                <a:lnTo>
                  <a:pt x="910336" y="613976"/>
                </a:lnTo>
                <a:lnTo>
                  <a:pt x="1024128" y="604753"/>
                </a:lnTo>
                <a:lnTo>
                  <a:pt x="1137920" y="581978"/>
                </a:lnTo>
                <a:lnTo>
                  <a:pt x="1251712" y="529973"/>
                </a:lnTo>
                <a:lnTo>
                  <a:pt x="1365504" y="429823"/>
                </a:lnTo>
                <a:lnTo>
                  <a:pt x="1479296" y="287773"/>
                </a:lnTo>
                <a:lnTo>
                  <a:pt x="1593088" y="154120"/>
                </a:lnTo>
                <a:lnTo>
                  <a:pt x="1706880" y="69028"/>
                </a:lnTo>
                <a:lnTo>
                  <a:pt x="1820672" y="27528"/>
                </a:lnTo>
                <a:lnTo>
                  <a:pt x="1934464" y="9975"/>
                </a:lnTo>
                <a:lnTo>
                  <a:pt x="2048256" y="3103"/>
                </a:lnTo>
                <a:lnTo>
                  <a:pt x="2162048" y="643"/>
                </a:lnTo>
                <a:lnTo>
                  <a:pt x="2275840" y="0"/>
                </a:lnTo>
                <a:lnTo>
                  <a:pt x="2389632" y="151"/>
                </a:lnTo>
                <a:lnTo>
                  <a:pt x="2503424" y="678"/>
                </a:lnTo>
                <a:lnTo>
                  <a:pt x="2617216" y="1398"/>
                </a:lnTo>
                <a:lnTo>
                  <a:pt x="2731008" y="2259"/>
                </a:lnTo>
                <a:lnTo>
                  <a:pt x="2844800" y="3419"/>
                </a:lnTo>
                <a:lnTo>
                  <a:pt x="2958592" y="5490"/>
                </a:lnTo>
                <a:lnTo>
                  <a:pt x="3072384" y="10205"/>
                </a:lnTo>
                <a:lnTo>
                  <a:pt x="3186176" y="22111"/>
                </a:lnTo>
                <a:lnTo>
                  <a:pt x="3299968" y="52586"/>
                </a:lnTo>
                <a:lnTo>
                  <a:pt x="3413760" y="126951"/>
                </a:lnTo>
                <a:lnTo>
                  <a:pt x="3527552" y="285571"/>
                </a:lnTo>
                <a:lnTo>
                  <a:pt x="3641344" y="542631"/>
                </a:lnTo>
                <a:lnTo>
                  <a:pt x="3755136" y="817075"/>
                </a:lnTo>
                <a:lnTo>
                  <a:pt x="3868928" y="1005638"/>
                </a:lnTo>
                <a:lnTo>
                  <a:pt x="3982720" y="1099657"/>
                </a:lnTo>
                <a:lnTo>
                  <a:pt x="4096512" y="1139171"/>
                </a:lnTo>
                <a:lnTo>
                  <a:pt x="4210304" y="1154587"/>
                </a:lnTo>
                <a:lnTo>
                  <a:pt x="4324096" y="1160431"/>
                </a:lnTo>
                <a:lnTo>
                  <a:pt x="4437888" y="1162624"/>
                </a:lnTo>
                <a:lnTo>
                  <a:pt x="4551680" y="1163445"/>
                </a:lnTo>
                <a:lnTo>
                  <a:pt x="4665472" y="1163752"/>
                </a:lnTo>
                <a:lnTo>
                  <a:pt x="4779264" y="1163867"/>
                </a:lnTo>
                <a:lnTo>
                  <a:pt x="4893056" y="1163910"/>
                </a:lnTo>
                <a:lnTo>
                  <a:pt x="5006848" y="1163926"/>
                </a:lnTo>
                <a:lnTo>
                  <a:pt x="5120640" y="1163932"/>
                </a:lnTo>
              </a:path>
            </a:pathLst>
          </a:custGeom>
          <a:ln w="28575">
            <a:solidFill>
              <a:srgbClr val="171A20"/>
            </a:solidFill>
            <a:prstDash val="solid"/>
          </a:ln>
        </p:spPr>
      </p:sp>
      <p:sp>
        <p:nvSpPr>
          <p:cNvPr id="25" name="!!bLbl"/>
          <p:cNvSpPr txBox="1"/>
          <p:nvPr/>
        </p:nvSpPr>
        <p:spPr>
          <a:xfrm>
            <a:off x="640080" y="3977640"/>
            <a:ext cx="182880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electron energy ↑</a:t>
            </a:r>
            <a:endParaRPr lang="en-US" sz="1000" dirty="0"/>
          </a:p>
        </p:txBody>
      </p:sp>
      <p:sp>
        <p:nvSpPr>
          <p:cNvPr id="26" name="!!bes0"/>
          <p:cNvSpPr/>
          <p:nvPr/>
        </p:nvSpPr>
        <p:spPr>
          <a:xfrm>
            <a:off x="717804" y="4613148"/>
            <a:ext cx="118872" cy="118872"/>
          </a:xfrm>
          <a:prstGeom prst="ellipse">
            <a:avLst/>
          </a:prstGeom>
          <a:solidFill>
            <a:srgbClr val="1F2F6B"/>
          </a:solidFill>
          <a:ln/>
        </p:spPr>
      </p:sp>
      <p:sp>
        <p:nvSpPr>
          <p:cNvPr id="27" name="!!bes1"/>
          <p:cNvSpPr/>
          <p:nvPr/>
        </p:nvSpPr>
        <p:spPr>
          <a:xfrm>
            <a:off x="918972" y="4613148"/>
            <a:ext cx="118872" cy="118872"/>
          </a:xfrm>
          <a:prstGeom prst="ellipse">
            <a:avLst/>
          </a:prstGeom>
          <a:solidFill>
            <a:srgbClr val="1F2F6B"/>
          </a:solidFill>
          <a:ln/>
        </p:spPr>
      </p:sp>
      <p:sp>
        <p:nvSpPr>
          <p:cNvPr id="28" name="!!bes2"/>
          <p:cNvSpPr/>
          <p:nvPr/>
        </p:nvSpPr>
        <p:spPr>
          <a:xfrm>
            <a:off x="1120140" y="4613148"/>
            <a:ext cx="118872" cy="118872"/>
          </a:xfrm>
          <a:prstGeom prst="ellipse">
            <a:avLst/>
          </a:prstGeom>
          <a:solidFill>
            <a:srgbClr val="1F2F6B"/>
          </a:solidFill>
          <a:ln/>
        </p:spPr>
      </p:sp>
      <p:sp>
        <p:nvSpPr>
          <p:cNvPr id="29" name="!!bes3"/>
          <p:cNvSpPr/>
          <p:nvPr/>
        </p:nvSpPr>
        <p:spPr>
          <a:xfrm>
            <a:off x="1321308" y="4613148"/>
            <a:ext cx="118872" cy="118872"/>
          </a:xfrm>
          <a:prstGeom prst="ellipse">
            <a:avLst/>
          </a:prstGeom>
          <a:solidFill>
            <a:srgbClr val="1F2F6B"/>
          </a:solidFill>
          <a:ln/>
        </p:spPr>
      </p:sp>
      <p:sp>
        <p:nvSpPr>
          <p:cNvPr id="30" name="!!bes4"/>
          <p:cNvSpPr/>
          <p:nvPr/>
        </p:nvSpPr>
        <p:spPr>
          <a:xfrm>
            <a:off x="1522476" y="4613148"/>
            <a:ext cx="118872" cy="118872"/>
          </a:xfrm>
          <a:prstGeom prst="ellipse">
            <a:avLst/>
          </a:prstGeom>
          <a:solidFill>
            <a:srgbClr val="1F2F6B"/>
          </a:solidFill>
          <a:ln/>
        </p:spPr>
      </p:sp>
      <p:sp>
        <p:nvSpPr>
          <p:cNvPr id="31" name="!!bec0"/>
          <p:cNvSpPr/>
          <p:nvPr/>
        </p:nvSpPr>
        <p:spPr>
          <a:xfrm>
            <a:off x="818388" y="4613148"/>
            <a:ext cx="118872" cy="118872"/>
          </a:xfrm>
          <a:prstGeom prst="ellipse">
            <a:avLst/>
          </a:prstGeom>
          <a:solidFill>
            <a:srgbClr val="1F2F6B"/>
          </a:solidFill>
          <a:ln/>
        </p:spPr>
      </p:sp>
      <p:sp>
        <p:nvSpPr>
          <p:cNvPr id="32" name="!!bec1"/>
          <p:cNvSpPr/>
          <p:nvPr/>
        </p:nvSpPr>
        <p:spPr>
          <a:xfrm>
            <a:off x="1019556" y="4613148"/>
            <a:ext cx="118872" cy="118872"/>
          </a:xfrm>
          <a:prstGeom prst="ellipse">
            <a:avLst/>
          </a:prstGeom>
          <a:solidFill>
            <a:srgbClr val="1F2F6B"/>
          </a:solidFill>
          <a:ln/>
        </p:spPr>
      </p:sp>
      <p:sp>
        <p:nvSpPr>
          <p:cNvPr id="33" name="!!bec2"/>
          <p:cNvSpPr/>
          <p:nvPr/>
        </p:nvSpPr>
        <p:spPr>
          <a:xfrm>
            <a:off x="1220724" y="4613148"/>
            <a:ext cx="118872" cy="118872"/>
          </a:xfrm>
          <a:prstGeom prst="ellipse">
            <a:avLst/>
          </a:prstGeom>
          <a:solidFill>
            <a:srgbClr val="1F2F6B"/>
          </a:solidFill>
          <a:ln/>
        </p:spPr>
      </p:sp>
      <p:sp>
        <p:nvSpPr>
          <p:cNvPr id="34" name="!!bec3"/>
          <p:cNvSpPr/>
          <p:nvPr/>
        </p:nvSpPr>
        <p:spPr>
          <a:xfrm>
            <a:off x="1421892" y="4613148"/>
            <a:ext cx="118872" cy="118872"/>
          </a:xfrm>
          <a:prstGeom prst="ellipse">
            <a:avLst/>
          </a:prstGeom>
          <a:solidFill>
            <a:srgbClr val="1F2F6B"/>
          </a:solidFill>
          <a:ln/>
        </p:spPr>
      </p:sp>
      <p:sp>
        <p:nvSpPr>
          <p:cNvPr id="35" name="!!bec4"/>
          <p:cNvSpPr/>
          <p:nvPr/>
        </p:nvSpPr>
        <p:spPr>
          <a:xfrm>
            <a:off x="818388" y="4613148"/>
            <a:ext cx="118872" cy="118872"/>
          </a:xfrm>
          <a:prstGeom prst="ellipse">
            <a:avLst/>
          </a:prstGeom>
          <a:solidFill>
            <a:srgbClr val="1F2F6B"/>
          </a:solidFill>
          <a:ln/>
        </p:spPr>
      </p:sp>
      <p:sp>
        <p:nvSpPr>
          <p:cNvPr id="36" name="!!bec5"/>
          <p:cNvSpPr/>
          <p:nvPr/>
        </p:nvSpPr>
        <p:spPr>
          <a:xfrm>
            <a:off x="1019556" y="4613148"/>
            <a:ext cx="118872" cy="118872"/>
          </a:xfrm>
          <a:prstGeom prst="ellipse">
            <a:avLst/>
          </a:prstGeom>
          <a:solidFill>
            <a:srgbClr val="1F2F6B"/>
          </a:solidFill>
          <a:ln/>
        </p:spPr>
      </p:sp>
      <p:sp>
        <p:nvSpPr>
          <p:cNvPr id="37" name="!!bTop"/>
          <p:cNvSpPr/>
          <p:nvPr/>
        </p:nvSpPr>
        <p:spPr>
          <a:xfrm>
            <a:off x="640080" y="4133088"/>
            <a:ext cx="5120640" cy="91"/>
          </a:xfrm>
          <a:prstGeom prst="line">
            <a:avLst/>
          </a:prstGeom>
          <a:noFill/>
          <a:ln w="9525">
            <a:solidFill>
              <a:srgbClr val="8A8D93"/>
            </a:solidFill>
            <a:prstDash val="dash"/>
          </a:ln>
        </p:spPr>
      </p:sp>
      <p:sp>
        <p:nvSpPr>
          <p:cNvPr id="38" name="!!bTopL"/>
          <p:cNvSpPr txBox="1"/>
          <p:nvPr/>
        </p:nvSpPr>
        <p:spPr>
          <a:xfrm>
            <a:off x="4206240" y="3904488"/>
            <a:ext cx="1554480" cy="201168"/>
          </a:xfrm>
          <a:prstGeom prst="rect">
            <a:avLst/>
          </a:prstGeom>
          <a:noFill/>
          <a:ln/>
        </p:spPr>
        <p:txBody>
          <a:bodyPr wrap="square" lIns="0" tIns="0" rIns="0" bIns="0" rtlCol="0" anchor="t"/>
          <a:lstStyle/>
          <a:p>
            <a:pPr algn="r" indent="0" marL="0">
              <a:buNone/>
            </a:pPr>
            <a:r>
              <a:rPr lang="en-US" sz="900" dirty="0">
                <a:solidFill>
                  <a:srgbClr val="8A8D93"/>
                </a:solidFill>
                <a:latin typeface="Segoe UI" pitchFamily="34" charset="0"/>
                <a:ea typeface="Segoe UI" pitchFamily="34" charset="-122"/>
                <a:cs typeface="Segoe UI" pitchFamily="34" charset="-120"/>
              </a:rPr>
              <a:t>long-channel hill top</a:t>
            </a:r>
            <a:endParaRPr lang="en-US" sz="900" dirty="0"/>
          </a:p>
        </p:txBody>
      </p:sp>
      <p:sp>
        <p:nvSpPr>
          <p:cNvPr id="39" name="!!axg0"/>
          <p:cNvSpPr/>
          <p:nvPr/>
        </p:nvSpPr>
        <p:spPr>
          <a:xfrm>
            <a:off x="7315200" y="3931920"/>
            <a:ext cx="4206240" cy="91"/>
          </a:xfrm>
          <a:prstGeom prst="line">
            <a:avLst/>
          </a:prstGeom>
          <a:noFill/>
          <a:ln w="9525">
            <a:solidFill>
              <a:srgbClr val="EDEEF0"/>
            </a:solidFill>
            <a:prstDash val="solid"/>
          </a:ln>
        </p:spPr>
      </p:sp>
      <p:sp>
        <p:nvSpPr>
          <p:cNvPr id="40" name="!!axg1"/>
          <p:cNvSpPr/>
          <p:nvPr/>
        </p:nvSpPr>
        <p:spPr>
          <a:xfrm>
            <a:off x="7315200" y="3465576"/>
            <a:ext cx="4206240" cy="91"/>
          </a:xfrm>
          <a:prstGeom prst="line">
            <a:avLst/>
          </a:prstGeom>
          <a:noFill/>
          <a:ln w="9525">
            <a:solidFill>
              <a:srgbClr val="EDEEF0"/>
            </a:solidFill>
            <a:prstDash val="solid"/>
          </a:ln>
        </p:spPr>
      </p:sp>
      <p:sp>
        <p:nvSpPr>
          <p:cNvPr id="41" name="!!axg2"/>
          <p:cNvSpPr/>
          <p:nvPr/>
        </p:nvSpPr>
        <p:spPr>
          <a:xfrm>
            <a:off x="7315200" y="2999232"/>
            <a:ext cx="4206240" cy="91"/>
          </a:xfrm>
          <a:prstGeom prst="line">
            <a:avLst/>
          </a:prstGeom>
          <a:noFill/>
          <a:ln w="9525">
            <a:solidFill>
              <a:srgbClr val="EDEEF0"/>
            </a:solidFill>
            <a:prstDash val="solid"/>
          </a:ln>
        </p:spPr>
      </p:sp>
      <p:sp>
        <p:nvSpPr>
          <p:cNvPr id="42" name="!!axg3"/>
          <p:cNvSpPr/>
          <p:nvPr/>
        </p:nvSpPr>
        <p:spPr>
          <a:xfrm>
            <a:off x="7315200" y="2532888"/>
            <a:ext cx="4206240" cy="91"/>
          </a:xfrm>
          <a:prstGeom prst="line">
            <a:avLst/>
          </a:prstGeom>
          <a:noFill/>
          <a:ln w="9525">
            <a:solidFill>
              <a:srgbClr val="EDEEF0"/>
            </a:solidFill>
            <a:prstDash val="solid"/>
          </a:ln>
        </p:spPr>
      </p:sp>
      <p:sp>
        <p:nvSpPr>
          <p:cNvPr id="43" name="!!axg4"/>
          <p:cNvSpPr/>
          <p:nvPr/>
        </p:nvSpPr>
        <p:spPr>
          <a:xfrm>
            <a:off x="7315200" y="2066544"/>
            <a:ext cx="4206240" cy="91"/>
          </a:xfrm>
          <a:prstGeom prst="line">
            <a:avLst/>
          </a:prstGeom>
          <a:noFill/>
          <a:ln w="9525">
            <a:solidFill>
              <a:srgbClr val="EDEEF0"/>
            </a:solidFill>
            <a:prstDash val="solid"/>
          </a:ln>
        </p:spPr>
      </p:sp>
      <p:sp>
        <p:nvSpPr>
          <p:cNvPr id="44" name="!!axg5"/>
          <p:cNvSpPr/>
          <p:nvPr/>
        </p:nvSpPr>
        <p:spPr>
          <a:xfrm>
            <a:off x="7315200" y="1600200"/>
            <a:ext cx="4206240" cy="91"/>
          </a:xfrm>
          <a:prstGeom prst="line">
            <a:avLst/>
          </a:prstGeom>
          <a:noFill/>
          <a:ln w="9525">
            <a:solidFill>
              <a:srgbClr val="EDEEF0"/>
            </a:solidFill>
            <a:prstDash val="solid"/>
          </a:ln>
        </p:spPr>
      </p:sp>
      <p:sp>
        <p:nvSpPr>
          <p:cNvPr id="45" name="!!axxa"/>
          <p:cNvSpPr/>
          <p:nvPr/>
        </p:nvSpPr>
        <p:spPr>
          <a:xfrm>
            <a:off x="7315200" y="3931920"/>
            <a:ext cx="4206240" cy="91"/>
          </a:xfrm>
          <a:prstGeom prst="line">
            <a:avLst/>
          </a:prstGeom>
          <a:noFill/>
          <a:ln w="12700">
            <a:solidFill>
              <a:srgbClr val="8A8D93"/>
            </a:solidFill>
            <a:prstDash val="solid"/>
          </a:ln>
        </p:spPr>
      </p:sp>
      <p:sp>
        <p:nvSpPr>
          <p:cNvPr id="46" name="!!axya"/>
          <p:cNvSpPr/>
          <p:nvPr/>
        </p:nvSpPr>
        <p:spPr>
          <a:xfrm>
            <a:off x="7315200" y="1600200"/>
            <a:ext cx="91" cy="2331720"/>
          </a:xfrm>
          <a:prstGeom prst="line">
            <a:avLst/>
          </a:prstGeom>
          <a:noFill/>
          <a:ln w="12700">
            <a:solidFill>
              <a:srgbClr val="8A8D93"/>
            </a:solidFill>
            <a:prstDash val="solid"/>
          </a:ln>
        </p:spPr>
      </p:sp>
      <p:sp>
        <p:nvSpPr>
          <p:cNvPr id="47" name="!!axxt0"/>
          <p:cNvSpPr txBox="1"/>
          <p:nvPr/>
        </p:nvSpPr>
        <p:spPr>
          <a:xfrm>
            <a:off x="699516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48" name="!!axxt1"/>
          <p:cNvSpPr txBox="1"/>
          <p:nvPr/>
        </p:nvSpPr>
        <p:spPr>
          <a:xfrm>
            <a:off x="7836408"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49" name="!!axxt2"/>
          <p:cNvSpPr txBox="1"/>
          <p:nvPr/>
        </p:nvSpPr>
        <p:spPr>
          <a:xfrm>
            <a:off x="8677656"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30</a:t>
            </a:r>
            <a:endParaRPr lang="en-US" sz="900" dirty="0"/>
          </a:p>
        </p:txBody>
      </p:sp>
      <p:sp>
        <p:nvSpPr>
          <p:cNvPr id="50" name="!!axxt3"/>
          <p:cNvSpPr txBox="1"/>
          <p:nvPr/>
        </p:nvSpPr>
        <p:spPr>
          <a:xfrm>
            <a:off x="9518904"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40</a:t>
            </a:r>
            <a:endParaRPr lang="en-US" sz="900" dirty="0"/>
          </a:p>
        </p:txBody>
      </p:sp>
      <p:sp>
        <p:nvSpPr>
          <p:cNvPr id="51" name="!!axxt4"/>
          <p:cNvSpPr txBox="1"/>
          <p:nvPr/>
        </p:nvSpPr>
        <p:spPr>
          <a:xfrm>
            <a:off x="10360152"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50</a:t>
            </a:r>
            <a:endParaRPr lang="en-US" sz="900" dirty="0"/>
          </a:p>
        </p:txBody>
      </p:sp>
      <p:sp>
        <p:nvSpPr>
          <p:cNvPr id="52" name="!!axxt5"/>
          <p:cNvSpPr txBox="1"/>
          <p:nvPr/>
        </p:nvSpPr>
        <p:spPr>
          <a:xfrm>
            <a:off x="1120140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60</a:t>
            </a:r>
            <a:endParaRPr lang="en-US" sz="900" dirty="0"/>
          </a:p>
        </p:txBody>
      </p:sp>
      <p:sp>
        <p:nvSpPr>
          <p:cNvPr id="53" name="!!axyt0"/>
          <p:cNvSpPr txBox="1"/>
          <p:nvPr/>
        </p:nvSpPr>
        <p:spPr>
          <a:xfrm>
            <a:off x="6629400" y="3831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54" name="!!axyt1"/>
          <p:cNvSpPr txBox="1"/>
          <p:nvPr/>
        </p:nvSpPr>
        <p:spPr>
          <a:xfrm>
            <a:off x="6629400" y="336499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55" name="!!axyt2"/>
          <p:cNvSpPr txBox="1"/>
          <p:nvPr/>
        </p:nvSpPr>
        <p:spPr>
          <a:xfrm>
            <a:off x="6629400" y="2898648"/>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0.0</a:t>
            </a:r>
            <a:endParaRPr lang="en-US" sz="900" dirty="0"/>
          </a:p>
        </p:txBody>
      </p:sp>
      <p:sp>
        <p:nvSpPr>
          <p:cNvPr id="56" name="!!axyt3"/>
          <p:cNvSpPr txBox="1"/>
          <p:nvPr/>
        </p:nvSpPr>
        <p:spPr>
          <a:xfrm>
            <a:off x="6629400" y="2432304"/>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57" name="!!axyt4"/>
          <p:cNvSpPr txBox="1"/>
          <p:nvPr/>
        </p:nvSpPr>
        <p:spPr>
          <a:xfrm>
            <a:off x="6629400" y="196596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58" name="!!axyt5"/>
          <p:cNvSpPr txBox="1"/>
          <p:nvPr/>
        </p:nvSpPr>
        <p:spPr>
          <a:xfrm>
            <a:off x="6629400" y="14996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59" name="!!axxl"/>
          <p:cNvSpPr txBox="1"/>
          <p:nvPr/>
        </p:nvSpPr>
        <p:spPr>
          <a:xfrm>
            <a:off x="7315200" y="420624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length L</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(nm)</a:t>
            </a:r>
            <a:endParaRPr lang="en-US" sz="1100" dirty="0"/>
          </a:p>
        </p:txBody>
      </p:sp>
      <p:sp>
        <p:nvSpPr>
          <p:cNvPr id="60" name="!!axyl"/>
          <p:cNvSpPr txBox="1"/>
          <p:nvPr/>
        </p:nvSpPr>
        <p:spPr>
          <a:xfrm>
            <a:off x="713232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threshold voltage V</a:t>
            </a:r>
            <a:pPr algn="l" indent="0" marL="0">
              <a:buNone/>
            </a:pPr>
            <a:r>
              <a:rPr lang="en-US" sz="1100" baseline="-40000" dirty="0">
                <a:solidFill>
                  <a:srgbClr val="5C5E62"/>
                </a:solidFill>
                <a:latin typeface="Segoe UI" pitchFamily="34" charset="0"/>
                <a:ea typeface="Segoe UI" pitchFamily="34" charset="-122"/>
                <a:cs typeface="Segoe UI" pitchFamily="34" charset="-120"/>
              </a:rPr>
              <a:t>T</a:t>
            </a:r>
            <a:pPr algn="l"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61" name="!!vtLo"/>
          <p:cNvSpPr/>
          <p:nvPr/>
        </p:nvSpPr>
        <p:spPr>
          <a:xfrm>
            <a:off x="7315200" y="1838483"/>
            <a:ext cx="4206240" cy="1554411"/>
          </a:xfrm>
          <a:custGeom>
            <a:avLst/>
            <a:gdLst/>
            <a:ahLst/>
            <a:cxnLst/>
            <a:rect l="l" t="t" r="r" b="b"/>
            <a:pathLst>
              <a:path w="4206240" h="1554411">
                <a:moveTo>
                  <a:pt x="0" y="1554411"/>
                </a:moveTo>
                <a:lnTo>
                  <a:pt x="107852" y="1341635"/>
                </a:lnTo>
                <a:lnTo>
                  <a:pt x="215705" y="1157890"/>
                </a:lnTo>
                <a:lnTo>
                  <a:pt x="323557" y="999214"/>
                </a:lnTo>
                <a:lnTo>
                  <a:pt x="431409" y="862188"/>
                </a:lnTo>
                <a:lnTo>
                  <a:pt x="539262" y="743857"/>
                </a:lnTo>
                <a:lnTo>
                  <a:pt x="647114" y="641670"/>
                </a:lnTo>
                <a:lnTo>
                  <a:pt x="754966" y="553426"/>
                </a:lnTo>
                <a:lnTo>
                  <a:pt x="862818" y="477221"/>
                </a:lnTo>
                <a:lnTo>
                  <a:pt x="970671" y="411413"/>
                </a:lnTo>
                <a:lnTo>
                  <a:pt x="1078523" y="354584"/>
                </a:lnTo>
                <a:lnTo>
                  <a:pt x="1186375" y="305509"/>
                </a:lnTo>
                <a:lnTo>
                  <a:pt x="1294228" y="263129"/>
                </a:lnTo>
                <a:lnTo>
                  <a:pt x="1402080" y="226531"/>
                </a:lnTo>
                <a:lnTo>
                  <a:pt x="1509932" y="194927"/>
                </a:lnTo>
                <a:lnTo>
                  <a:pt x="1617785" y="167635"/>
                </a:lnTo>
                <a:lnTo>
                  <a:pt x="1725637" y="144066"/>
                </a:lnTo>
                <a:lnTo>
                  <a:pt x="1833489" y="123713"/>
                </a:lnTo>
                <a:lnTo>
                  <a:pt x="1941342" y="106137"/>
                </a:lnTo>
                <a:lnTo>
                  <a:pt x="2049194" y="90958"/>
                </a:lnTo>
                <a:lnTo>
                  <a:pt x="2157046" y="77851"/>
                </a:lnTo>
                <a:lnTo>
                  <a:pt x="2264898" y="66532"/>
                </a:lnTo>
                <a:lnTo>
                  <a:pt x="2372751" y="56757"/>
                </a:lnTo>
                <a:lnTo>
                  <a:pt x="2480603" y="48316"/>
                </a:lnTo>
                <a:lnTo>
                  <a:pt x="2588455" y="41027"/>
                </a:lnTo>
                <a:lnTo>
                  <a:pt x="2696308" y="34732"/>
                </a:lnTo>
                <a:lnTo>
                  <a:pt x="2804160" y="29296"/>
                </a:lnTo>
                <a:lnTo>
                  <a:pt x="2912012" y="24602"/>
                </a:lnTo>
                <a:lnTo>
                  <a:pt x="3019865" y="20548"/>
                </a:lnTo>
                <a:lnTo>
                  <a:pt x="3127717" y="17047"/>
                </a:lnTo>
                <a:lnTo>
                  <a:pt x="3235569" y="14024"/>
                </a:lnTo>
                <a:lnTo>
                  <a:pt x="3343422" y="11413"/>
                </a:lnTo>
                <a:lnTo>
                  <a:pt x="3451274" y="9159"/>
                </a:lnTo>
                <a:lnTo>
                  <a:pt x="3559126" y="7212"/>
                </a:lnTo>
                <a:lnTo>
                  <a:pt x="3666978" y="5531"/>
                </a:lnTo>
                <a:lnTo>
                  <a:pt x="3774831" y="4079"/>
                </a:lnTo>
                <a:lnTo>
                  <a:pt x="3882683" y="2825"/>
                </a:lnTo>
                <a:lnTo>
                  <a:pt x="3990535" y="1742"/>
                </a:lnTo>
                <a:lnTo>
                  <a:pt x="4098388" y="807"/>
                </a:lnTo>
                <a:lnTo>
                  <a:pt x="4206240" y="0"/>
                </a:lnTo>
              </a:path>
            </a:pathLst>
          </a:custGeom>
          <a:ln w="28575">
            <a:solidFill>
              <a:srgbClr val="11998E"/>
            </a:solidFill>
            <a:prstDash val="solid"/>
          </a:ln>
        </p:spPr>
      </p:sp>
      <p:sp>
        <p:nvSpPr>
          <p:cNvPr id="62" name="!!vtHi"/>
          <p:cNvSpPr/>
          <p:nvPr/>
        </p:nvSpPr>
        <p:spPr>
          <a:xfrm>
            <a:off x="7315200" y="1841646"/>
            <a:ext cx="4206240" cy="2516665"/>
          </a:xfrm>
          <a:custGeom>
            <a:avLst/>
            <a:gdLst/>
            <a:ahLst/>
            <a:cxnLst/>
            <a:rect l="l" t="t" r="r" b="b"/>
            <a:pathLst>
              <a:path w="4206240" h="2516665">
                <a:moveTo>
                  <a:pt x="0" y="2516665"/>
                </a:moveTo>
                <a:lnTo>
                  <a:pt x="107852" y="2172171"/>
                </a:lnTo>
                <a:lnTo>
                  <a:pt x="215705" y="1874679"/>
                </a:lnTo>
                <a:lnTo>
                  <a:pt x="323557" y="1617775"/>
                </a:lnTo>
                <a:lnTo>
                  <a:pt x="431409" y="1395923"/>
                </a:lnTo>
                <a:lnTo>
                  <a:pt x="539262" y="1204339"/>
                </a:lnTo>
                <a:lnTo>
                  <a:pt x="647114" y="1038895"/>
                </a:lnTo>
                <a:lnTo>
                  <a:pt x="754966" y="896023"/>
                </a:lnTo>
                <a:lnTo>
                  <a:pt x="862818" y="772643"/>
                </a:lnTo>
                <a:lnTo>
                  <a:pt x="970671" y="666098"/>
                </a:lnTo>
                <a:lnTo>
                  <a:pt x="1078523" y="574089"/>
                </a:lnTo>
                <a:lnTo>
                  <a:pt x="1186375" y="494633"/>
                </a:lnTo>
                <a:lnTo>
                  <a:pt x="1294228" y="426018"/>
                </a:lnTo>
                <a:lnTo>
                  <a:pt x="1402080" y="366765"/>
                </a:lnTo>
                <a:lnTo>
                  <a:pt x="1509932" y="315596"/>
                </a:lnTo>
                <a:lnTo>
                  <a:pt x="1617785" y="271408"/>
                </a:lnTo>
                <a:lnTo>
                  <a:pt x="1725637" y="233249"/>
                </a:lnTo>
                <a:lnTo>
                  <a:pt x="1833489" y="200297"/>
                </a:lnTo>
                <a:lnTo>
                  <a:pt x="1941342" y="171840"/>
                </a:lnTo>
                <a:lnTo>
                  <a:pt x="2049194" y="147266"/>
                </a:lnTo>
                <a:lnTo>
                  <a:pt x="2157046" y="126045"/>
                </a:lnTo>
                <a:lnTo>
                  <a:pt x="2264898" y="107719"/>
                </a:lnTo>
                <a:lnTo>
                  <a:pt x="2372751" y="91893"/>
                </a:lnTo>
                <a:lnTo>
                  <a:pt x="2480603" y="78226"/>
                </a:lnTo>
                <a:lnTo>
                  <a:pt x="2588455" y="66425"/>
                </a:lnTo>
                <a:lnTo>
                  <a:pt x="2696308" y="56233"/>
                </a:lnTo>
                <a:lnTo>
                  <a:pt x="2804160" y="47432"/>
                </a:lnTo>
                <a:lnTo>
                  <a:pt x="2912012" y="39832"/>
                </a:lnTo>
                <a:lnTo>
                  <a:pt x="3019865" y="33268"/>
                </a:lnTo>
                <a:lnTo>
                  <a:pt x="3127717" y="27600"/>
                </a:lnTo>
                <a:lnTo>
                  <a:pt x="3235569" y="22706"/>
                </a:lnTo>
                <a:lnTo>
                  <a:pt x="3343422" y="18479"/>
                </a:lnTo>
                <a:lnTo>
                  <a:pt x="3451274" y="14829"/>
                </a:lnTo>
                <a:lnTo>
                  <a:pt x="3559126" y="11677"/>
                </a:lnTo>
                <a:lnTo>
                  <a:pt x="3666978" y="8955"/>
                </a:lnTo>
                <a:lnTo>
                  <a:pt x="3774831" y="6604"/>
                </a:lnTo>
                <a:lnTo>
                  <a:pt x="3882683" y="4574"/>
                </a:lnTo>
                <a:lnTo>
                  <a:pt x="3990535" y="2821"/>
                </a:lnTo>
                <a:lnTo>
                  <a:pt x="4098388" y="1307"/>
                </a:lnTo>
                <a:lnTo>
                  <a:pt x="4206240" y="0"/>
                </a:lnTo>
              </a:path>
            </a:pathLst>
          </a:custGeom>
          <a:ln w="28575">
            <a:solidFill>
              <a:srgbClr val="D64545"/>
            </a:solidFill>
            <a:prstDash val="solid"/>
          </a:ln>
        </p:spPr>
      </p:sp>
      <p:sp>
        <p:nvSpPr>
          <p:cNvPr id="63" name="!!vtLoL"/>
          <p:cNvSpPr txBox="1"/>
          <p:nvPr/>
        </p:nvSpPr>
        <p:spPr>
          <a:xfrm>
            <a:off x="10175443" y="1540764"/>
            <a:ext cx="1097280" cy="201168"/>
          </a:xfrm>
          <a:prstGeom prst="rect">
            <a:avLst/>
          </a:prstGeom>
          <a:noFill/>
          <a:ln/>
        </p:spPr>
        <p:txBody>
          <a:bodyPr wrap="square" lIns="0" tIns="0" rIns="0" bIns="0" rtlCol="0" anchor="t"/>
          <a:lstStyle/>
          <a:p>
            <a:pPr algn="l" indent="0" marL="0">
              <a:buNone/>
            </a:pPr>
            <a:r>
              <a:rPr lang="en-US" sz="1000" dirty="0">
                <a:solidFill>
                  <a:srgbClr val="11998E"/>
                </a:solidFill>
                <a:latin typeface="Segoe UI Semibold" pitchFamily="34" charset="0"/>
                <a:ea typeface="Segoe UI Semibold" pitchFamily="34" charset="-122"/>
                <a:cs typeface="Segoe UI Semibold" pitchFamily="34" charset="-120"/>
              </a:rPr>
              <a:t>V</a:t>
            </a:r>
            <a:pPr algn="l" indent="0" marL="0">
              <a:buNone/>
            </a:pPr>
            <a:r>
              <a:rPr lang="en-US" sz="1000" baseline="-40000" dirty="0">
                <a:solidFill>
                  <a:srgbClr val="11998E"/>
                </a:solidFill>
                <a:latin typeface="Segoe UI Semibold" pitchFamily="34" charset="0"/>
                <a:ea typeface="Segoe UI Semibold" pitchFamily="34" charset="-122"/>
                <a:cs typeface="Segoe UI Semibold" pitchFamily="34" charset="-120"/>
              </a:rPr>
              <a:t>D</a:t>
            </a:r>
            <a:pPr algn="l" indent="0" marL="0">
              <a:buNone/>
            </a:pPr>
            <a:r>
              <a:rPr lang="en-US" sz="1000" dirty="0">
                <a:solidFill>
                  <a:srgbClr val="11998E"/>
                </a:solidFill>
                <a:latin typeface="Segoe UI Semibold" pitchFamily="34" charset="0"/>
                <a:ea typeface="Segoe UI Semibold" pitchFamily="34" charset="-122"/>
                <a:cs typeface="Segoe UI Semibold" pitchFamily="34" charset="-120"/>
              </a:rPr>
              <a:t> = 0.05 V</a:t>
            </a:r>
            <a:endParaRPr lang="en-US" sz="1000" dirty="0"/>
          </a:p>
        </p:txBody>
      </p:sp>
      <p:sp>
        <p:nvSpPr>
          <p:cNvPr id="64" name="!!vtHiL"/>
          <p:cNvSpPr txBox="1"/>
          <p:nvPr/>
        </p:nvSpPr>
        <p:spPr>
          <a:xfrm>
            <a:off x="10175443" y="1943100"/>
            <a:ext cx="1097280" cy="201168"/>
          </a:xfrm>
          <a:prstGeom prst="rect">
            <a:avLst/>
          </a:prstGeom>
          <a:noFill/>
          <a:ln/>
        </p:spPr>
        <p:txBody>
          <a:bodyPr wrap="square" lIns="0" tIns="0" rIns="0" bIns="0" rtlCol="0" anchor="t"/>
          <a:lstStyle/>
          <a:p>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V</a:t>
            </a:r>
            <a:pPr algn="l" indent="0" marL="0">
              <a:buNone/>
            </a:pPr>
            <a:r>
              <a:rPr lang="en-US" sz="1000" baseline="-40000" dirty="0">
                <a:solidFill>
                  <a:srgbClr val="D64545"/>
                </a:solidFill>
                <a:latin typeface="Segoe UI Semibold" pitchFamily="34" charset="0"/>
                <a:ea typeface="Segoe UI Semibold" pitchFamily="34" charset="-122"/>
                <a:cs typeface="Segoe UI Semibold" pitchFamily="34" charset="-120"/>
              </a:rPr>
              <a:t>D</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 0.7 V</a:t>
            </a:r>
            <a:endParaRPr lang="en-US" sz="1000" dirty="0"/>
          </a:p>
        </p:txBody>
      </p:sp>
      <p:sp>
        <p:nvSpPr>
          <p:cNvPr id="65" name="!!vtGap"/>
          <p:cNvSpPr/>
          <p:nvPr/>
        </p:nvSpPr>
        <p:spPr>
          <a:xfrm>
            <a:off x="9838944" y="1883754"/>
            <a:ext cx="91" cy="31189"/>
          </a:xfrm>
          <a:prstGeom prst="line">
            <a:avLst/>
          </a:prstGeom>
          <a:noFill/>
          <a:ln w="25400">
            <a:solidFill>
              <a:srgbClr val="6B5BC4"/>
            </a:solidFill>
            <a:prstDash val="solid"/>
          </a:ln>
        </p:spPr>
      </p:sp>
      <p:sp>
        <p:nvSpPr>
          <p:cNvPr id="66" name="!!vtPtLo"/>
          <p:cNvSpPr/>
          <p:nvPr/>
        </p:nvSpPr>
        <p:spPr>
          <a:xfrm>
            <a:off x="9765792" y="1810602"/>
            <a:ext cx="146304" cy="146304"/>
          </a:xfrm>
          <a:prstGeom prst="ellipse">
            <a:avLst/>
          </a:prstGeom>
          <a:solidFill>
            <a:srgbClr val="11998E"/>
          </a:solidFill>
          <a:ln w="19050">
            <a:solidFill>
              <a:srgbClr val="FFFFFF"/>
            </a:solidFill>
            <a:prstDash val="solid"/>
          </a:ln>
        </p:spPr>
      </p:sp>
      <p:sp>
        <p:nvSpPr>
          <p:cNvPr id="67" name="!!vtPtHi"/>
          <p:cNvSpPr/>
          <p:nvPr/>
        </p:nvSpPr>
        <p:spPr>
          <a:xfrm>
            <a:off x="9765792" y="1841791"/>
            <a:ext cx="146304" cy="146304"/>
          </a:xfrm>
          <a:prstGeom prst="ellipse">
            <a:avLst/>
          </a:prstGeom>
          <a:solidFill>
            <a:srgbClr val="D64545"/>
          </a:solidFill>
          <a:ln w="19050">
            <a:solidFill>
              <a:srgbClr val="FFFFFF"/>
            </a:solidFill>
            <a:prstDash val="solid"/>
          </a:ln>
        </p:spPr>
      </p:sp>
      <p:sp>
        <p:nvSpPr>
          <p:cNvPr id="68" name="!!chip0"/>
          <p:cNvSpPr/>
          <p:nvPr/>
        </p:nvSpPr>
        <p:spPr>
          <a:xfrm>
            <a:off x="6858000" y="4434840"/>
            <a:ext cx="1508760" cy="658368"/>
          </a:xfrm>
          <a:prstGeom prst="roundRect">
            <a:avLst>
              <a:gd name="adj" fmla="val 8333"/>
            </a:avLst>
          </a:prstGeom>
          <a:solidFill>
            <a:srgbClr val="F4F5F7"/>
          </a:solidFill>
          <a:ln/>
        </p:spPr>
      </p:sp>
      <p:sp>
        <p:nvSpPr>
          <p:cNvPr id="69" name="!!chipk0"/>
          <p:cNvSpPr txBox="1"/>
          <p:nvPr/>
        </p:nvSpPr>
        <p:spPr>
          <a:xfrm>
            <a:off x="6967728"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a:t>
            </a:r>
            <a:pPr algn="l" indent="0" marL="0">
              <a:buNone/>
            </a:pPr>
            <a:r>
              <a:rPr lang="en-US" sz="1000" baseline="-40000" dirty="0">
                <a:solidFill>
                  <a:srgbClr val="5C5E62"/>
                </a:solidFill>
                <a:latin typeface="Segoe UI" pitchFamily="34" charset="0"/>
                <a:ea typeface="Segoe UI" pitchFamily="34" charset="-122"/>
                <a:cs typeface="Segoe UI" pitchFamily="34" charset="-120"/>
              </a:rPr>
              <a:t>T</a:t>
            </a:r>
            <a:pPr algn="l" indent="0" marL="0">
              <a:buNone/>
            </a:pPr>
            <a:r>
              <a:rPr lang="en-US" sz="1000" dirty="0">
                <a:solidFill>
                  <a:srgbClr val="5C5E62"/>
                </a:solidFill>
                <a:latin typeface="Segoe UI" pitchFamily="34" charset="0"/>
                <a:ea typeface="Segoe UI" pitchFamily="34" charset="-122"/>
                <a:cs typeface="Segoe UI" pitchFamily="34" charset="-120"/>
              </a:rPr>
              <a:t> (V</a:t>
            </a:r>
            <a:pPr algn="l" indent="0" marL="0">
              <a:buNone/>
            </a:pPr>
            <a:r>
              <a:rPr lang="en-US" sz="1000" baseline="-40000" dirty="0">
                <a:solidFill>
                  <a:srgbClr val="5C5E62"/>
                </a:solidFill>
                <a:latin typeface="Segoe UI" pitchFamily="34" charset="0"/>
                <a:ea typeface="Segoe UI" pitchFamily="34" charset="-122"/>
                <a:cs typeface="Segoe UI" pitchFamily="34" charset="-120"/>
              </a:rPr>
              <a:t>D</a:t>
            </a:r>
            <a:pPr algn="l" indent="0" marL="0">
              <a:buNone/>
            </a:pPr>
            <a:r>
              <a:rPr lang="en-US" sz="1000" dirty="0">
                <a:solidFill>
                  <a:srgbClr val="5C5E62"/>
                </a:solidFill>
                <a:latin typeface="Segoe UI" pitchFamily="34" charset="0"/>
                <a:ea typeface="Segoe UI" pitchFamily="34" charset="-122"/>
                <a:cs typeface="Segoe UI" pitchFamily="34" charset="-120"/>
              </a:rPr>
              <a:t> = 0.05 V)</a:t>
            </a:r>
            <a:endParaRPr lang="en-US" sz="1000" dirty="0"/>
          </a:p>
        </p:txBody>
      </p:sp>
      <p:sp>
        <p:nvSpPr>
          <p:cNvPr id="70" name="!!chipv0"/>
          <p:cNvSpPr txBox="1"/>
          <p:nvPr/>
        </p:nvSpPr>
        <p:spPr>
          <a:xfrm>
            <a:off x="6967728"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0.24 V</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71" name="!!chip1"/>
          <p:cNvSpPr/>
          <p:nvPr/>
        </p:nvSpPr>
        <p:spPr>
          <a:xfrm>
            <a:off x="8476488" y="4434840"/>
            <a:ext cx="1508760" cy="658368"/>
          </a:xfrm>
          <a:prstGeom prst="roundRect">
            <a:avLst>
              <a:gd name="adj" fmla="val 8333"/>
            </a:avLst>
          </a:prstGeom>
          <a:solidFill>
            <a:srgbClr val="F4F5F7"/>
          </a:solidFill>
          <a:ln/>
        </p:spPr>
      </p:sp>
      <p:sp>
        <p:nvSpPr>
          <p:cNvPr id="72" name="!!chipk1"/>
          <p:cNvSpPr txBox="1"/>
          <p:nvPr/>
        </p:nvSpPr>
        <p:spPr>
          <a:xfrm>
            <a:off x="8586216"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a:t>
            </a:r>
            <a:pPr algn="l" indent="0" marL="0">
              <a:buNone/>
            </a:pPr>
            <a:r>
              <a:rPr lang="en-US" sz="1000" baseline="-40000" dirty="0">
                <a:solidFill>
                  <a:srgbClr val="5C5E62"/>
                </a:solidFill>
                <a:latin typeface="Segoe UI" pitchFamily="34" charset="0"/>
                <a:ea typeface="Segoe UI" pitchFamily="34" charset="-122"/>
                <a:cs typeface="Segoe UI" pitchFamily="34" charset="-120"/>
              </a:rPr>
              <a:t>T</a:t>
            </a:r>
            <a:pPr algn="l" indent="0" marL="0">
              <a:buNone/>
            </a:pPr>
            <a:r>
              <a:rPr lang="en-US" sz="1000" dirty="0">
                <a:solidFill>
                  <a:srgbClr val="5C5E62"/>
                </a:solidFill>
                <a:latin typeface="Segoe UI" pitchFamily="34" charset="0"/>
                <a:ea typeface="Segoe UI" pitchFamily="34" charset="-122"/>
                <a:cs typeface="Segoe UI" pitchFamily="34" charset="-120"/>
              </a:rPr>
              <a:t> (V</a:t>
            </a:r>
            <a:pPr algn="l" indent="0" marL="0">
              <a:buNone/>
            </a:pPr>
            <a:r>
              <a:rPr lang="en-US" sz="1000" baseline="-40000" dirty="0">
                <a:solidFill>
                  <a:srgbClr val="5C5E62"/>
                </a:solidFill>
                <a:latin typeface="Segoe UI" pitchFamily="34" charset="0"/>
                <a:ea typeface="Segoe UI" pitchFamily="34" charset="-122"/>
                <a:cs typeface="Segoe UI" pitchFamily="34" charset="-120"/>
              </a:rPr>
              <a:t>D</a:t>
            </a:r>
            <a:pPr algn="l" indent="0" marL="0">
              <a:buNone/>
            </a:pPr>
            <a:r>
              <a:rPr lang="en-US" sz="1000" dirty="0">
                <a:solidFill>
                  <a:srgbClr val="5C5E62"/>
                </a:solidFill>
                <a:latin typeface="Segoe UI" pitchFamily="34" charset="0"/>
                <a:ea typeface="Segoe UI" pitchFamily="34" charset="-122"/>
                <a:cs typeface="Segoe UI" pitchFamily="34" charset="-120"/>
              </a:rPr>
              <a:t> = 0.7 V)</a:t>
            </a:r>
            <a:endParaRPr lang="en-US" sz="1000" dirty="0"/>
          </a:p>
        </p:txBody>
      </p:sp>
      <p:sp>
        <p:nvSpPr>
          <p:cNvPr id="73" name="!!chipv1"/>
          <p:cNvSpPr txBox="1"/>
          <p:nvPr/>
        </p:nvSpPr>
        <p:spPr>
          <a:xfrm>
            <a:off x="8586216"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0.23 V</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74" name="!!chip2"/>
          <p:cNvSpPr/>
          <p:nvPr/>
        </p:nvSpPr>
        <p:spPr>
          <a:xfrm>
            <a:off x="10094976" y="4434840"/>
            <a:ext cx="1508760" cy="658368"/>
          </a:xfrm>
          <a:prstGeom prst="roundRect">
            <a:avLst>
              <a:gd name="adj" fmla="val 8333"/>
            </a:avLst>
          </a:prstGeom>
          <a:solidFill>
            <a:srgbClr val="F4F5F7"/>
          </a:solidFill>
          <a:ln/>
        </p:spPr>
      </p:sp>
      <p:sp>
        <p:nvSpPr>
          <p:cNvPr id="75" name="!!chipk2"/>
          <p:cNvSpPr txBox="1"/>
          <p:nvPr/>
        </p:nvSpPr>
        <p:spPr>
          <a:xfrm>
            <a:off x="10204704"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DIBL</a:t>
            </a:r>
            <a:endParaRPr lang="en-US" sz="1000" dirty="0"/>
          </a:p>
        </p:txBody>
      </p:sp>
      <p:sp>
        <p:nvSpPr>
          <p:cNvPr id="76" name="!!chipv2"/>
          <p:cNvSpPr txBox="1"/>
          <p:nvPr/>
        </p:nvSpPr>
        <p:spPr>
          <a:xfrm>
            <a:off x="10204704"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10 mV/V</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77" name="!!knobLbl"/>
          <p:cNvSpPr txBox="1"/>
          <p:nvPr/>
        </p:nvSpPr>
        <p:spPr>
          <a:xfrm>
            <a:off x="7022592" y="512064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length L</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40 nm</a:t>
            </a:r>
            <a:endParaRPr lang="en-US" sz="1200" dirty="0"/>
          </a:p>
        </p:txBody>
      </p:sp>
      <p:sp>
        <p:nvSpPr>
          <p:cNvPr id="78" name="!!knobTrack"/>
          <p:cNvSpPr/>
          <p:nvPr/>
        </p:nvSpPr>
        <p:spPr>
          <a:xfrm>
            <a:off x="7040880" y="5504688"/>
            <a:ext cx="4480560" cy="54864"/>
          </a:xfrm>
          <a:prstGeom prst="roundRect">
            <a:avLst>
              <a:gd name="adj" fmla="val 50000"/>
            </a:avLst>
          </a:prstGeom>
          <a:solidFill>
            <a:srgbClr val="E2E3E3"/>
          </a:solidFill>
          <a:ln/>
        </p:spPr>
      </p:sp>
      <p:sp>
        <p:nvSpPr>
          <p:cNvPr id="79" name="!!knobFill"/>
          <p:cNvSpPr/>
          <p:nvPr/>
        </p:nvSpPr>
        <p:spPr>
          <a:xfrm>
            <a:off x="7040880" y="5504688"/>
            <a:ext cx="2688336" cy="54864"/>
          </a:xfrm>
          <a:prstGeom prst="roundRect">
            <a:avLst>
              <a:gd name="adj" fmla="val 50000"/>
            </a:avLst>
          </a:prstGeom>
          <a:solidFill>
            <a:srgbClr val="6B5BC4"/>
          </a:solidFill>
          <a:ln/>
        </p:spPr>
      </p:sp>
      <p:sp>
        <p:nvSpPr>
          <p:cNvPr id="80" name="!!knobT0"/>
          <p:cNvSpPr txBox="1"/>
          <p:nvPr/>
        </p:nvSpPr>
        <p:spPr>
          <a:xfrm>
            <a:off x="667512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10</a:t>
            </a:r>
            <a:endParaRPr lang="en-US" sz="900" dirty="0"/>
          </a:p>
        </p:txBody>
      </p:sp>
      <p:sp>
        <p:nvSpPr>
          <p:cNvPr id="81" name="!!knobT1"/>
          <p:cNvSpPr txBox="1"/>
          <p:nvPr/>
        </p:nvSpPr>
        <p:spPr>
          <a:xfrm>
            <a:off x="7571232"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20</a:t>
            </a:r>
            <a:endParaRPr lang="en-US" sz="900" dirty="0"/>
          </a:p>
        </p:txBody>
      </p:sp>
      <p:sp>
        <p:nvSpPr>
          <p:cNvPr id="82" name="!!knobT2"/>
          <p:cNvSpPr txBox="1"/>
          <p:nvPr/>
        </p:nvSpPr>
        <p:spPr>
          <a:xfrm>
            <a:off x="8467344"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30</a:t>
            </a:r>
            <a:endParaRPr lang="en-US" sz="900" dirty="0"/>
          </a:p>
        </p:txBody>
      </p:sp>
      <p:sp>
        <p:nvSpPr>
          <p:cNvPr id="83" name="!!knobT3"/>
          <p:cNvSpPr txBox="1"/>
          <p:nvPr/>
        </p:nvSpPr>
        <p:spPr>
          <a:xfrm>
            <a:off x="9363456"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40</a:t>
            </a:r>
            <a:endParaRPr lang="en-US" sz="900" dirty="0"/>
          </a:p>
        </p:txBody>
      </p:sp>
      <p:sp>
        <p:nvSpPr>
          <p:cNvPr id="84" name="!!knobT4"/>
          <p:cNvSpPr txBox="1"/>
          <p:nvPr/>
        </p:nvSpPr>
        <p:spPr>
          <a:xfrm>
            <a:off x="10259568"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50</a:t>
            </a:r>
            <a:endParaRPr lang="en-US" sz="900" dirty="0"/>
          </a:p>
        </p:txBody>
      </p:sp>
      <p:sp>
        <p:nvSpPr>
          <p:cNvPr id="85" name="!!knobT5"/>
          <p:cNvSpPr txBox="1"/>
          <p:nvPr/>
        </p:nvSpPr>
        <p:spPr>
          <a:xfrm>
            <a:off x="111556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60</a:t>
            </a:r>
            <a:endParaRPr lang="en-US" sz="900" dirty="0"/>
          </a:p>
        </p:txBody>
      </p:sp>
      <p:sp>
        <p:nvSpPr>
          <p:cNvPr id="86" name="!!knobThumb"/>
          <p:cNvSpPr/>
          <p:nvPr/>
        </p:nvSpPr>
        <p:spPr>
          <a:xfrm>
            <a:off x="9628632" y="5431536"/>
            <a:ext cx="201168" cy="201168"/>
          </a:xfrm>
          <a:prstGeom prst="ellipse">
            <a:avLst/>
          </a:prstGeom>
          <a:solidFill>
            <a:srgbClr val="FFFFFF"/>
          </a:solidFill>
          <a:ln w="28575">
            <a:solidFill>
              <a:srgbClr val="6B5BC4"/>
            </a:solidFill>
            <a:prstDash val="solid"/>
          </a:ln>
        </p:spPr>
      </p:sp>
      <p:sp>
        <p:nvSpPr>
          <p:cNvPr id="8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Shorter: the drain depletion starts to reach under the gate;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T</a:t>
            </a:r>
            <a:pPr algn="ctr" indent="0" marL="0">
              <a:buNone/>
            </a:pPr>
            <a:r>
              <a:rPr lang="en-US" sz="1600" dirty="0">
                <a:solidFill>
                  <a:srgbClr val="171A20"/>
                </a:solidFill>
                <a:latin typeface="Segoe UI" pitchFamily="34" charset="0"/>
                <a:ea typeface="Segoe UI" pitchFamily="34" charset="-122"/>
                <a:cs typeface="Segoe UI" pitchFamily="34" charset="-120"/>
              </a:rPr>
              <a:t> barely moves.</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38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Shrinking the gate – Planar MOSFET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Same voltages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0,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 only the knob L</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changes</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mBody"/>
          <p:cNvSpPr/>
          <p:nvPr/>
        </p:nvSpPr>
        <p:spPr>
          <a:xfrm>
            <a:off x="640080" y="2240280"/>
            <a:ext cx="5120640" cy="1417320"/>
          </a:xfrm>
          <a:prstGeom prst="rect">
            <a:avLst/>
          </a:prstGeom>
          <a:solidFill>
            <a:srgbClr val="F6E7B8"/>
          </a:solidFill>
          <a:ln/>
        </p:spPr>
      </p:sp>
      <p:sp>
        <p:nvSpPr>
          <p:cNvPr id="10"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1" name="!!mDepS"/>
          <p:cNvSpPr/>
          <p:nvPr/>
        </p:nvSpPr>
        <p:spPr>
          <a:xfrm>
            <a:off x="640080" y="2240280"/>
            <a:ext cx="2121408" cy="932688"/>
          </a:xfrm>
          <a:prstGeom prst="roundRect">
            <a:avLst>
              <a:gd name="adj" fmla="val 11765"/>
            </a:avLst>
          </a:prstGeom>
          <a:solidFill>
            <a:srgbClr val="F7D4D9"/>
          </a:solidFill>
          <a:ln/>
        </p:spPr>
      </p:sp>
      <p:sp>
        <p:nvSpPr>
          <p:cNvPr id="12" name="!!mDepD"/>
          <p:cNvSpPr/>
          <p:nvPr/>
        </p:nvSpPr>
        <p:spPr>
          <a:xfrm>
            <a:off x="3639312" y="2240280"/>
            <a:ext cx="2121408" cy="932688"/>
          </a:xfrm>
          <a:prstGeom prst="roundRect">
            <a:avLst>
              <a:gd name="adj" fmla="val 11765"/>
            </a:avLst>
          </a:prstGeom>
          <a:solidFill>
            <a:srgbClr val="F7D4D9"/>
          </a:solidFill>
          <a:ln/>
        </p:spPr>
      </p:sp>
      <p:sp>
        <p:nvSpPr>
          <p:cNvPr id="13" name="!!mSrc"/>
          <p:cNvSpPr/>
          <p:nvPr/>
        </p:nvSpPr>
        <p:spPr>
          <a:xfrm>
            <a:off x="640080" y="2240280"/>
            <a:ext cx="1783080" cy="548640"/>
          </a:xfrm>
          <a:prstGeom prst="roundRect">
            <a:avLst>
              <a:gd name="adj" fmla="val 8333"/>
            </a:avLst>
          </a:prstGeom>
          <a:solidFill>
            <a:srgbClr val="7D9BE6"/>
          </a:solidFill>
          <a:ln/>
        </p:spPr>
      </p:sp>
      <p:sp>
        <p:nvSpPr>
          <p:cNvPr id="14" name="!!mDrn"/>
          <p:cNvSpPr/>
          <p:nvPr/>
        </p:nvSpPr>
        <p:spPr>
          <a:xfrm>
            <a:off x="3977640" y="2240280"/>
            <a:ext cx="1783080" cy="548640"/>
          </a:xfrm>
          <a:prstGeom prst="roundRect">
            <a:avLst>
              <a:gd name="adj" fmla="val 8333"/>
            </a:avLst>
          </a:prstGeom>
          <a:solidFill>
            <a:srgbClr val="7D9BE6"/>
          </a:solidFill>
          <a:ln/>
        </p:spPr>
      </p:sp>
      <p:sp>
        <p:nvSpPr>
          <p:cNvPr id="15" name="!!mSrcL"/>
          <p:cNvSpPr txBox="1"/>
          <p:nvPr/>
        </p:nvSpPr>
        <p:spPr>
          <a:xfrm>
            <a:off x="640080" y="2395728"/>
            <a:ext cx="17373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6" name="!!mDrnL"/>
          <p:cNvSpPr txBox="1"/>
          <p:nvPr/>
        </p:nvSpPr>
        <p:spPr>
          <a:xfrm>
            <a:off x="4023360" y="2395728"/>
            <a:ext cx="173736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7" name="!!mOx"/>
          <p:cNvSpPr/>
          <p:nvPr/>
        </p:nvSpPr>
        <p:spPr>
          <a:xfrm>
            <a:off x="2377440" y="2167128"/>
            <a:ext cx="1645920" cy="73152"/>
          </a:xfrm>
          <a:prstGeom prst="rect">
            <a:avLst/>
          </a:prstGeom>
          <a:solidFill>
            <a:srgbClr val="CDEBF5"/>
          </a:solidFill>
          <a:ln/>
        </p:spPr>
      </p:sp>
      <p:sp>
        <p:nvSpPr>
          <p:cNvPr id="18" name="!!mGate"/>
          <p:cNvSpPr/>
          <p:nvPr/>
        </p:nvSpPr>
        <p:spPr>
          <a:xfrm>
            <a:off x="2377440" y="1783080"/>
            <a:ext cx="1645920" cy="384048"/>
          </a:xfrm>
          <a:prstGeom prst="roundRect">
            <a:avLst>
              <a:gd name="adj" fmla="val 9524"/>
            </a:avLst>
          </a:prstGeom>
          <a:solidFill>
            <a:srgbClr val="B3A6E6"/>
          </a:solidFill>
          <a:ln/>
        </p:spPr>
      </p:sp>
      <p:sp>
        <p:nvSpPr>
          <p:cNvPr id="19" name="!!mGateL"/>
          <p:cNvSpPr txBox="1"/>
          <p:nvPr/>
        </p:nvSpPr>
        <p:spPr>
          <a:xfrm>
            <a:off x="2377440" y="1837944"/>
            <a:ext cx="1645920"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20" name="!!mVS"/>
          <p:cNvSpPr txBox="1"/>
          <p:nvPr/>
        </p:nvSpPr>
        <p:spPr>
          <a:xfrm>
            <a:off x="640080" y="1856232"/>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S</a:t>
            </a:r>
            <a:pPr algn="l" indent="0" marL="0">
              <a:buNone/>
            </a:pPr>
            <a:r>
              <a:rPr lang="en-US" sz="1100" dirty="0">
                <a:solidFill>
                  <a:srgbClr val="5C5E62"/>
                </a:solidFill>
                <a:latin typeface="Segoe UI" pitchFamily="34" charset="0"/>
                <a:ea typeface="Segoe UI" pitchFamily="34" charset="-122"/>
                <a:cs typeface="Segoe UI" pitchFamily="34" charset="-120"/>
              </a:rPr>
              <a:t> = 0</a:t>
            </a:r>
            <a:endParaRPr lang="en-US" sz="1100" dirty="0"/>
          </a:p>
        </p:txBody>
      </p:sp>
      <p:sp>
        <p:nvSpPr>
          <p:cNvPr id="21" name="!!mVG"/>
          <p:cNvSpPr txBox="1"/>
          <p:nvPr/>
        </p:nvSpPr>
        <p:spPr>
          <a:xfrm>
            <a:off x="2286000" y="1490472"/>
            <a:ext cx="1828800" cy="237744"/>
          </a:xfrm>
          <a:prstGeom prst="rect">
            <a:avLst/>
          </a:prstGeom>
          <a:noFill/>
          <a:ln/>
        </p:spPr>
        <p:txBody>
          <a:bodyPr wrap="square" lIns="0" tIns="0" rIns="0" bIns="0" rtlCol="0" anchor="t"/>
          <a:lstStyle/>
          <a:p>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ctr"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 = 0.00 V</a:t>
            </a:r>
            <a:endParaRPr lang="en-US" sz="1200" dirty="0"/>
          </a:p>
        </p:txBody>
      </p:sp>
      <p:sp>
        <p:nvSpPr>
          <p:cNvPr id="22" name="!!mVD"/>
          <p:cNvSpPr txBox="1"/>
          <p:nvPr/>
        </p:nvSpPr>
        <p:spPr>
          <a:xfrm>
            <a:off x="4480560" y="1856232"/>
            <a:ext cx="1280160" cy="228600"/>
          </a:xfrm>
          <a:prstGeom prst="rect">
            <a:avLst/>
          </a:prstGeom>
          <a:noFill/>
          <a:ln/>
        </p:spPr>
        <p:txBody>
          <a:bodyPr wrap="square" lIns="0" tIns="0" rIns="0" bIns="0" rtlCol="0" anchor="t"/>
          <a:lstStyle/>
          <a:p>
            <a:pPr algn="r" indent="0" marL="0">
              <a:buNone/>
            </a:pPr>
            <a:r>
              <a:rPr lang="en-US" sz="1100" dirty="0">
                <a:solidFill>
                  <a:srgbClr val="5C5E62"/>
                </a:solidFill>
                <a:latin typeface="Segoe UI" pitchFamily="34" charset="0"/>
                <a:ea typeface="Segoe UI" pitchFamily="34" charset="-122"/>
                <a:cs typeface="Segoe UI" pitchFamily="34" charset="-120"/>
              </a:rPr>
              <a:t>V</a:t>
            </a:r>
            <a:pPr algn="r" indent="0" marL="0">
              <a:buNone/>
            </a:pPr>
            <a:r>
              <a:rPr lang="en-US" sz="1100" baseline="-40000" dirty="0">
                <a:solidFill>
                  <a:srgbClr val="5C5E62"/>
                </a:solidFill>
                <a:latin typeface="Segoe UI" pitchFamily="34" charset="0"/>
                <a:ea typeface="Segoe UI" pitchFamily="34" charset="-122"/>
                <a:cs typeface="Segoe UI" pitchFamily="34" charset="-120"/>
              </a:rPr>
              <a:t>D</a:t>
            </a:r>
            <a:pPr algn="r" indent="0" marL="0">
              <a:buNone/>
            </a:pPr>
            <a:r>
              <a:rPr lang="en-US" sz="1100" dirty="0">
                <a:solidFill>
                  <a:srgbClr val="5C5E62"/>
                </a:solidFill>
                <a:latin typeface="Segoe UI" pitchFamily="34" charset="0"/>
                <a:ea typeface="Segoe UI" pitchFamily="34" charset="-122"/>
                <a:cs typeface="Segoe UI" pitchFamily="34" charset="-120"/>
              </a:rPr>
              <a:t> = 0.70 V</a:t>
            </a:r>
            <a:endParaRPr lang="en-US" sz="1100" dirty="0"/>
          </a:p>
        </p:txBody>
      </p:sp>
      <p:sp>
        <p:nvSpPr>
          <p:cNvPr id="23" name="!!lg2t"/>
          <p:cNvSpPr txBox="1"/>
          <p:nvPr/>
        </p:nvSpPr>
        <p:spPr>
          <a:xfrm>
            <a:off x="640080" y="3721608"/>
            <a:ext cx="320040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pink = depletion around source and drain</a:t>
            </a:r>
            <a:endParaRPr lang="en-US" sz="900" dirty="0"/>
          </a:p>
        </p:txBody>
      </p:sp>
      <p:sp>
        <p:nvSpPr>
          <p:cNvPr id="24" name="!!bCurve"/>
          <p:cNvSpPr/>
          <p:nvPr/>
        </p:nvSpPr>
        <p:spPr>
          <a:xfrm>
            <a:off x="640080" y="4141487"/>
            <a:ext cx="5120640" cy="1157461"/>
          </a:xfrm>
          <a:custGeom>
            <a:avLst/>
            <a:gdLst/>
            <a:ahLst/>
            <a:cxnLst/>
            <a:rect l="l" t="t" r="r" b="b"/>
            <a:pathLst>
              <a:path w="5120640" h="1157461">
                <a:moveTo>
                  <a:pt x="0" y="613393"/>
                </a:moveTo>
                <a:lnTo>
                  <a:pt x="113792" y="613392"/>
                </a:lnTo>
                <a:lnTo>
                  <a:pt x="227584" y="613391"/>
                </a:lnTo>
                <a:lnTo>
                  <a:pt x="341376" y="613388"/>
                </a:lnTo>
                <a:lnTo>
                  <a:pt x="455168" y="613380"/>
                </a:lnTo>
                <a:lnTo>
                  <a:pt x="568960" y="613359"/>
                </a:lnTo>
                <a:lnTo>
                  <a:pt x="682752" y="613306"/>
                </a:lnTo>
                <a:lnTo>
                  <a:pt x="796544" y="613166"/>
                </a:lnTo>
                <a:lnTo>
                  <a:pt x="910336" y="612802"/>
                </a:lnTo>
                <a:lnTo>
                  <a:pt x="1024128" y="611856"/>
                </a:lnTo>
                <a:lnTo>
                  <a:pt x="1137920" y="609405"/>
                </a:lnTo>
                <a:lnTo>
                  <a:pt x="1251712" y="603111"/>
                </a:lnTo>
                <a:lnTo>
                  <a:pt x="1365504" y="587307"/>
                </a:lnTo>
                <a:lnTo>
                  <a:pt x="1479296" y="549743"/>
                </a:lnTo>
                <a:lnTo>
                  <a:pt x="1593088" y="471028"/>
                </a:lnTo>
                <a:lnTo>
                  <a:pt x="1706880" y="342318"/>
                </a:lnTo>
                <a:lnTo>
                  <a:pt x="1820672" y="198247"/>
                </a:lnTo>
                <a:lnTo>
                  <a:pt x="1934464" y="91998"/>
                </a:lnTo>
                <a:lnTo>
                  <a:pt x="2048256" y="35566"/>
                </a:lnTo>
                <a:lnTo>
                  <a:pt x="2162048" y="11162"/>
                </a:lnTo>
                <a:lnTo>
                  <a:pt x="2275840" y="2200"/>
                </a:lnTo>
                <a:lnTo>
                  <a:pt x="2389632" y="0"/>
                </a:lnTo>
                <a:lnTo>
                  <a:pt x="2503424" y="829"/>
                </a:lnTo>
                <a:lnTo>
                  <a:pt x="2617216" y="3326"/>
                </a:lnTo>
                <a:lnTo>
                  <a:pt x="2731008" y="7604"/>
                </a:lnTo>
                <a:lnTo>
                  <a:pt x="2844800" y="15780"/>
                </a:lnTo>
                <a:lnTo>
                  <a:pt x="2958592" y="34266"/>
                </a:lnTo>
                <a:lnTo>
                  <a:pt x="3072384" y="79012"/>
                </a:lnTo>
                <a:lnTo>
                  <a:pt x="3186176" y="182388"/>
                </a:lnTo>
                <a:lnTo>
                  <a:pt x="3299968" y="382558"/>
                </a:lnTo>
                <a:lnTo>
                  <a:pt x="3413760" y="659203"/>
                </a:lnTo>
                <a:lnTo>
                  <a:pt x="3527552" y="903837"/>
                </a:lnTo>
                <a:lnTo>
                  <a:pt x="3641344" y="1048290"/>
                </a:lnTo>
                <a:lnTo>
                  <a:pt x="3755136" y="1114344"/>
                </a:lnTo>
                <a:lnTo>
                  <a:pt x="3868928" y="1141036"/>
                </a:lnTo>
                <a:lnTo>
                  <a:pt x="3982720" y="1151287"/>
                </a:lnTo>
                <a:lnTo>
                  <a:pt x="4096512" y="1155150"/>
                </a:lnTo>
                <a:lnTo>
                  <a:pt x="4210304" y="1156597"/>
                </a:lnTo>
                <a:lnTo>
                  <a:pt x="4324096" y="1157138"/>
                </a:lnTo>
                <a:lnTo>
                  <a:pt x="4437888" y="1157340"/>
                </a:lnTo>
                <a:lnTo>
                  <a:pt x="4551680" y="1157416"/>
                </a:lnTo>
                <a:lnTo>
                  <a:pt x="4665472" y="1157444"/>
                </a:lnTo>
                <a:lnTo>
                  <a:pt x="4779264" y="1157455"/>
                </a:lnTo>
                <a:lnTo>
                  <a:pt x="4893056" y="1157459"/>
                </a:lnTo>
                <a:lnTo>
                  <a:pt x="5006848" y="1157460"/>
                </a:lnTo>
                <a:lnTo>
                  <a:pt x="5120640" y="1157461"/>
                </a:lnTo>
              </a:path>
            </a:pathLst>
          </a:custGeom>
          <a:ln w="28575">
            <a:solidFill>
              <a:srgbClr val="171A20"/>
            </a:solidFill>
            <a:prstDash val="solid"/>
          </a:ln>
        </p:spPr>
      </p:sp>
      <p:sp>
        <p:nvSpPr>
          <p:cNvPr id="25" name="!!bLbl"/>
          <p:cNvSpPr txBox="1"/>
          <p:nvPr/>
        </p:nvSpPr>
        <p:spPr>
          <a:xfrm>
            <a:off x="640080" y="3977640"/>
            <a:ext cx="182880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electron energy ↑</a:t>
            </a:r>
            <a:endParaRPr lang="en-US" sz="1000" dirty="0"/>
          </a:p>
        </p:txBody>
      </p:sp>
      <p:sp>
        <p:nvSpPr>
          <p:cNvPr id="26" name="!!bes0"/>
          <p:cNvSpPr/>
          <p:nvPr/>
        </p:nvSpPr>
        <p:spPr>
          <a:xfrm>
            <a:off x="717804" y="4613148"/>
            <a:ext cx="118872" cy="118872"/>
          </a:xfrm>
          <a:prstGeom prst="ellipse">
            <a:avLst/>
          </a:prstGeom>
          <a:solidFill>
            <a:srgbClr val="1F2F6B"/>
          </a:solidFill>
          <a:ln/>
        </p:spPr>
      </p:sp>
      <p:sp>
        <p:nvSpPr>
          <p:cNvPr id="27" name="!!bes1"/>
          <p:cNvSpPr/>
          <p:nvPr/>
        </p:nvSpPr>
        <p:spPr>
          <a:xfrm>
            <a:off x="918972" y="4613148"/>
            <a:ext cx="118872" cy="118872"/>
          </a:xfrm>
          <a:prstGeom prst="ellipse">
            <a:avLst/>
          </a:prstGeom>
          <a:solidFill>
            <a:srgbClr val="1F2F6B"/>
          </a:solidFill>
          <a:ln/>
        </p:spPr>
      </p:sp>
      <p:sp>
        <p:nvSpPr>
          <p:cNvPr id="28" name="!!bes2"/>
          <p:cNvSpPr/>
          <p:nvPr/>
        </p:nvSpPr>
        <p:spPr>
          <a:xfrm>
            <a:off x="1120140" y="4613148"/>
            <a:ext cx="118872" cy="118872"/>
          </a:xfrm>
          <a:prstGeom prst="ellipse">
            <a:avLst/>
          </a:prstGeom>
          <a:solidFill>
            <a:srgbClr val="1F2F6B"/>
          </a:solidFill>
          <a:ln/>
        </p:spPr>
      </p:sp>
      <p:sp>
        <p:nvSpPr>
          <p:cNvPr id="29" name="!!bes3"/>
          <p:cNvSpPr/>
          <p:nvPr/>
        </p:nvSpPr>
        <p:spPr>
          <a:xfrm>
            <a:off x="1321308" y="4613148"/>
            <a:ext cx="118872" cy="118872"/>
          </a:xfrm>
          <a:prstGeom prst="ellipse">
            <a:avLst/>
          </a:prstGeom>
          <a:solidFill>
            <a:srgbClr val="1F2F6B"/>
          </a:solidFill>
          <a:ln/>
        </p:spPr>
      </p:sp>
      <p:sp>
        <p:nvSpPr>
          <p:cNvPr id="30" name="!!bes4"/>
          <p:cNvSpPr/>
          <p:nvPr/>
        </p:nvSpPr>
        <p:spPr>
          <a:xfrm>
            <a:off x="1522476" y="4613148"/>
            <a:ext cx="118872" cy="118872"/>
          </a:xfrm>
          <a:prstGeom prst="ellipse">
            <a:avLst/>
          </a:prstGeom>
          <a:solidFill>
            <a:srgbClr val="1F2F6B"/>
          </a:solidFill>
          <a:ln/>
        </p:spPr>
      </p:sp>
      <p:sp>
        <p:nvSpPr>
          <p:cNvPr id="31" name="!!bec0"/>
          <p:cNvSpPr/>
          <p:nvPr/>
        </p:nvSpPr>
        <p:spPr>
          <a:xfrm>
            <a:off x="818388" y="4613148"/>
            <a:ext cx="118872" cy="118872"/>
          </a:xfrm>
          <a:prstGeom prst="ellipse">
            <a:avLst/>
          </a:prstGeom>
          <a:solidFill>
            <a:srgbClr val="1F2F6B"/>
          </a:solidFill>
          <a:ln/>
        </p:spPr>
      </p:sp>
      <p:sp>
        <p:nvSpPr>
          <p:cNvPr id="32" name="!!bec1"/>
          <p:cNvSpPr/>
          <p:nvPr/>
        </p:nvSpPr>
        <p:spPr>
          <a:xfrm>
            <a:off x="1019556" y="4613148"/>
            <a:ext cx="118872" cy="118872"/>
          </a:xfrm>
          <a:prstGeom prst="ellipse">
            <a:avLst/>
          </a:prstGeom>
          <a:solidFill>
            <a:srgbClr val="1F2F6B"/>
          </a:solidFill>
          <a:ln/>
        </p:spPr>
      </p:sp>
      <p:sp>
        <p:nvSpPr>
          <p:cNvPr id="33" name="!!bec2"/>
          <p:cNvSpPr/>
          <p:nvPr/>
        </p:nvSpPr>
        <p:spPr>
          <a:xfrm>
            <a:off x="1220724" y="4613148"/>
            <a:ext cx="118872" cy="118872"/>
          </a:xfrm>
          <a:prstGeom prst="ellipse">
            <a:avLst/>
          </a:prstGeom>
          <a:solidFill>
            <a:srgbClr val="1F2F6B"/>
          </a:solidFill>
          <a:ln/>
        </p:spPr>
      </p:sp>
      <p:sp>
        <p:nvSpPr>
          <p:cNvPr id="34" name="!!bec3"/>
          <p:cNvSpPr/>
          <p:nvPr/>
        </p:nvSpPr>
        <p:spPr>
          <a:xfrm>
            <a:off x="1421892" y="4613148"/>
            <a:ext cx="118872" cy="118872"/>
          </a:xfrm>
          <a:prstGeom prst="ellipse">
            <a:avLst/>
          </a:prstGeom>
          <a:solidFill>
            <a:srgbClr val="1F2F6B"/>
          </a:solidFill>
          <a:ln/>
        </p:spPr>
      </p:sp>
      <p:sp>
        <p:nvSpPr>
          <p:cNvPr id="35" name="!!bec4"/>
          <p:cNvSpPr/>
          <p:nvPr/>
        </p:nvSpPr>
        <p:spPr>
          <a:xfrm>
            <a:off x="818388" y="4613148"/>
            <a:ext cx="118872" cy="118872"/>
          </a:xfrm>
          <a:prstGeom prst="ellipse">
            <a:avLst/>
          </a:prstGeom>
          <a:solidFill>
            <a:srgbClr val="1F2F6B"/>
          </a:solidFill>
          <a:ln/>
        </p:spPr>
      </p:sp>
      <p:sp>
        <p:nvSpPr>
          <p:cNvPr id="36" name="!!bec5"/>
          <p:cNvSpPr/>
          <p:nvPr/>
        </p:nvSpPr>
        <p:spPr>
          <a:xfrm>
            <a:off x="1019556" y="4613148"/>
            <a:ext cx="118872" cy="118872"/>
          </a:xfrm>
          <a:prstGeom prst="ellipse">
            <a:avLst/>
          </a:prstGeom>
          <a:solidFill>
            <a:srgbClr val="1F2F6B"/>
          </a:solidFill>
          <a:ln/>
        </p:spPr>
      </p:sp>
      <p:sp>
        <p:nvSpPr>
          <p:cNvPr id="37" name="!!bTop"/>
          <p:cNvSpPr/>
          <p:nvPr/>
        </p:nvSpPr>
        <p:spPr>
          <a:xfrm>
            <a:off x="640080" y="4133088"/>
            <a:ext cx="5120640" cy="91"/>
          </a:xfrm>
          <a:prstGeom prst="line">
            <a:avLst/>
          </a:prstGeom>
          <a:noFill/>
          <a:ln w="9525">
            <a:solidFill>
              <a:srgbClr val="8A8D93"/>
            </a:solidFill>
            <a:prstDash val="dash"/>
          </a:ln>
        </p:spPr>
      </p:sp>
      <p:sp>
        <p:nvSpPr>
          <p:cNvPr id="38" name="!!bTopL"/>
          <p:cNvSpPr txBox="1"/>
          <p:nvPr/>
        </p:nvSpPr>
        <p:spPr>
          <a:xfrm>
            <a:off x="4206240" y="3904488"/>
            <a:ext cx="1554480" cy="201168"/>
          </a:xfrm>
          <a:prstGeom prst="rect">
            <a:avLst/>
          </a:prstGeom>
          <a:noFill/>
          <a:ln/>
        </p:spPr>
        <p:txBody>
          <a:bodyPr wrap="square" lIns="0" tIns="0" rIns="0" bIns="0" rtlCol="0" anchor="t"/>
          <a:lstStyle/>
          <a:p>
            <a:pPr algn="r" indent="0" marL="0">
              <a:buNone/>
            </a:pPr>
            <a:r>
              <a:rPr lang="en-US" sz="900" dirty="0">
                <a:solidFill>
                  <a:srgbClr val="8A8D93"/>
                </a:solidFill>
                <a:latin typeface="Segoe UI" pitchFamily="34" charset="0"/>
                <a:ea typeface="Segoe UI" pitchFamily="34" charset="-122"/>
                <a:cs typeface="Segoe UI" pitchFamily="34" charset="-120"/>
              </a:rPr>
              <a:t>long-channel hill top</a:t>
            </a:r>
            <a:endParaRPr lang="en-US" sz="900" dirty="0"/>
          </a:p>
        </p:txBody>
      </p:sp>
      <p:sp>
        <p:nvSpPr>
          <p:cNvPr id="39" name="!!axg0"/>
          <p:cNvSpPr/>
          <p:nvPr/>
        </p:nvSpPr>
        <p:spPr>
          <a:xfrm>
            <a:off x="7315200" y="3931920"/>
            <a:ext cx="4206240" cy="91"/>
          </a:xfrm>
          <a:prstGeom prst="line">
            <a:avLst/>
          </a:prstGeom>
          <a:noFill/>
          <a:ln w="9525">
            <a:solidFill>
              <a:srgbClr val="EDEEF0"/>
            </a:solidFill>
            <a:prstDash val="solid"/>
          </a:ln>
        </p:spPr>
      </p:sp>
      <p:sp>
        <p:nvSpPr>
          <p:cNvPr id="40" name="!!axg1"/>
          <p:cNvSpPr/>
          <p:nvPr/>
        </p:nvSpPr>
        <p:spPr>
          <a:xfrm>
            <a:off x="7315200" y="3465576"/>
            <a:ext cx="4206240" cy="91"/>
          </a:xfrm>
          <a:prstGeom prst="line">
            <a:avLst/>
          </a:prstGeom>
          <a:noFill/>
          <a:ln w="9525">
            <a:solidFill>
              <a:srgbClr val="EDEEF0"/>
            </a:solidFill>
            <a:prstDash val="solid"/>
          </a:ln>
        </p:spPr>
      </p:sp>
      <p:sp>
        <p:nvSpPr>
          <p:cNvPr id="41" name="!!axg2"/>
          <p:cNvSpPr/>
          <p:nvPr/>
        </p:nvSpPr>
        <p:spPr>
          <a:xfrm>
            <a:off x="7315200" y="2999232"/>
            <a:ext cx="4206240" cy="91"/>
          </a:xfrm>
          <a:prstGeom prst="line">
            <a:avLst/>
          </a:prstGeom>
          <a:noFill/>
          <a:ln w="9525">
            <a:solidFill>
              <a:srgbClr val="EDEEF0"/>
            </a:solidFill>
            <a:prstDash val="solid"/>
          </a:ln>
        </p:spPr>
      </p:sp>
      <p:sp>
        <p:nvSpPr>
          <p:cNvPr id="42" name="!!axg3"/>
          <p:cNvSpPr/>
          <p:nvPr/>
        </p:nvSpPr>
        <p:spPr>
          <a:xfrm>
            <a:off x="7315200" y="2532888"/>
            <a:ext cx="4206240" cy="91"/>
          </a:xfrm>
          <a:prstGeom prst="line">
            <a:avLst/>
          </a:prstGeom>
          <a:noFill/>
          <a:ln w="9525">
            <a:solidFill>
              <a:srgbClr val="EDEEF0"/>
            </a:solidFill>
            <a:prstDash val="solid"/>
          </a:ln>
        </p:spPr>
      </p:sp>
      <p:sp>
        <p:nvSpPr>
          <p:cNvPr id="43" name="!!axg4"/>
          <p:cNvSpPr/>
          <p:nvPr/>
        </p:nvSpPr>
        <p:spPr>
          <a:xfrm>
            <a:off x="7315200" y="2066544"/>
            <a:ext cx="4206240" cy="91"/>
          </a:xfrm>
          <a:prstGeom prst="line">
            <a:avLst/>
          </a:prstGeom>
          <a:noFill/>
          <a:ln w="9525">
            <a:solidFill>
              <a:srgbClr val="EDEEF0"/>
            </a:solidFill>
            <a:prstDash val="solid"/>
          </a:ln>
        </p:spPr>
      </p:sp>
      <p:sp>
        <p:nvSpPr>
          <p:cNvPr id="44" name="!!axg5"/>
          <p:cNvSpPr/>
          <p:nvPr/>
        </p:nvSpPr>
        <p:spPr>
          <a:xfrm>
            <a:off x="7315200" y="1600200"/>
            <a:ext cx="4206240" cy="91"/>
          </a:xfrm>
          <a:prstGeom prst="line">
            <a:avLst/>
          </a:prstGeom>
          <a:noFill/>
          <a:ln w="9525">
            <a:solidFill>
              <a:srgbClr val="EDEEF0"/>
            </a:solidFill>
            <a:prstDash val="solid"/>
          </a:ln>
        </p:spPr>
      </p:sp>
      <p:sp>
        <p:nvSpPr>
          <p:cNvPr id="45" name="!!axxa"/>
          <p:cNvSpPr/>
          <p:nvPr/>
        </p:nvSpPr>
        <p:spPr>
          <a:xfrm>
            <a:off x="7315200" y="3931920"/>
            <a:ext cx="4206240" cy="91"/>
          </a:xfrm>
          <a:prstGeom prst="line">
            <a:avLst/>
          </a:prstGeom>
          <a:noFill/>
          <a:ln w="12700">
            <a:solidFill>
              <a:srgbClr val="8A8D93"/>
            </a:solidFill>
            <a:prstDash val="solid"/>
          </a:ln>
        </p:spPr>
      </p:sp>
      <p:sp>
        <p:nvSpPr>
          <p:cNvPr id="46" name="!!axya"/>
          <p:cNvSpPr/>
          <p:nvPr/>
        </p:nvSpPr>
        <p:spPr>
          <a:xfrm>
            <a:off x="7315200" y="1600200"/>
            <a:ext cx="91" cy="2331720"/>
          </a:xfrm>
          <a:prstGeom prst="line">
            <a:avLst/>
          </a:prstGeom>
          <a:noFill/>
          <a:ln w="12700">
            <a:solidFill>
              <a:srgbClr val="8A8D93"/>
            </a:solidFill>
            <a:prstDash val="solid"/>
          </a:ln>
        </p:spPr>
      </p:sp>
      <p:sp>
        <p:nvSpPr>
          <p:cNvPr id="47" name="!!axxt0"/>
          <p:cNvSpPr txBox="1"/>
          <p:nvPr/>
        </p:nvSpPr>
        <p:spPr>
          <a:xfrm>
            <a:off x="699516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48" name="!!axxt1"/>
          <p:cNvSpPr txBox="1"/>
          <p:nvPr/>
        </p:nvSpPr>
        <p:spPr>
          <a:xfrm>
            <a:off x="7836408"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49" name="!!axxt2"/>
          <p:cNvSpPr txBox="1"/>
          <p:nvPr/>
        </p:nvSpPr>
        <p:spPr>
          <a:xfrm>
            <a:off x="8677656"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30</a:t>
            </a:r>
            <a:endParaRPr lang="en-US" sz="900" dirty="0"/>
          </a:p>
        </p:txBody>
      </p:sp>
      <p:sp>
        <p:nvSpPr>
          <p:cNvPr id="50" name="!!axxt3"/>
          <p:cNvSpPr txBox="1"/>
          <p:nvPr/>
        </p:nvSpPr>
        <p:spPr>
          <a:xfrm>
            <a:off x="9518904"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40</a:t>
            </a:r>
            <a:endParaRPr lang="en-US" sz="900" dirty="0"/>
          </a:p>
        </p:txBody>
      </p:sp>
      <p:sp>
        <p:nvSpPr>
          <p:cNvPr id="51" name="!!axxt4"/>
          <p:cNvSpPr txBox="1"/>
          <p:nvPr/>
        </p:nvSpPr>
        <p:spPr>
          <a:xfrm>
            <a:off x="10360152"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50</a:t>
            </a:r>
            <a:endParaRPr lang="en-US" sz="900" dirty="0"/>
          </a:p>
        </p:txBody>
      </p:sp>
      <p:sp>
        <p:nvSpPr>
          <p:cNvPr id="52" name="!!axxt5"/>
          <p:cNvSpPr txBox="1"/>
          <p:nvPr/>
        </p:nvSpPr>
        <p:spPr>
          <a:xfrm>
            <a:off x="1120140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60</a:t>
            </a:r>
            <a:endParaRPr lang="en-US" sz="900" dirty="0"/>
          </a:p>
        </p:txBody>
      </p:sp>
      <p:sp>
        <p:nvSpPr>
          <p:cNvPr id="53" name="!!axyt0"/>
          <p:cNvSpPr txBox="1"/>
          <p:nvPr/>
        </p:nvSpPr>
        <p:spPr>
          <a:xfrm>
            <a:off x="6629400" y="3831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54" name="!!axyt1"/>
          <p:cNvSpPr txBox="1"/>
          <p:nvPr/>
        </p:nvSpPr>
        <p:spPr>
          <a:xfrm>
            <a:off x="6629400" y="336499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55" name="!!axyt2"/>
          <p:cNvSpPr txBox="1"/>
          <p:nvPr/>
        </p:nvSpPr>
        <p:spPr>
          <a:xfrm>
            <a:off x="6629400" y="2898648"/>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0.0</a:t>
            </a:r>
            <a:endParaRPr lang="en-US" sz="900" dirty="0"/>
          </a:p>
        </p:txBody>
      </p:sp>
      <p:sp>
        <p:nvSpPr>
          <p:cNvPr id="56" name="!!axyt3"/>
          <p:cNvSpPr txBox="1"/>
          <p:nvPr/>
        </p:nvSpPr>
        <p:spPr>
          <a:xfrm>
            <a:off x="6629400" y="2432304"/>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57" name="!!axyt4"/>
          <p:cNvSpPr txBox="1"/>
          <p:nvPr/>
        </p:nvSpPr>
        <p:spPr>
          <a:xfrm>
            <a:off x="6629400" y="196596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58" name="!!axyt5"/>
          <p:cNvSpPr txBox="1"/>
          <p:nvPr/>
        </p:nvSpPr>
        <p:spPr>
          <a:xfrm>
            <a:off x="6629400" y="14996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59" name="!!axxl"/>
          <p:cNvSpPr txBox="1"/>
          <p:nvPr/>
        </p:nvSpPr>
        <p:spPr>
          <a:xfrm>
            <a:off x="7315200" y="420624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length L</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(nm)</a:t>
            </a:r>
            <a:endParaRPr lang="en-US" sz="1100" dirty="0"/>
          </a:p>
        </p:txBody>
      </p:sp>
      <p:sp>
        <p:nvSpPr>
          <p:cNvPr id="60" name="!!axyl"/>
          <p:cNvSpPr txBox="1"/>
          <p:nvPr/>
        </p:nvSpPr>
        <p:spPr>
          <a:xfrm>
            <a:off x="713232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threshold voltage V</a:t>
            </a:r>
            <a:pPr algn="l" indent="0" marL="0">
              <a:buNone/>
            </a:pPr>
            <a:r>
              <a:rPr lang="en-US" sz="1100" baseline="-40000" dirty="0">
                <a:solidFill>
                  <a:srgbClr val="5C5E62"/>
                </a:solidFill>
                <a:latin typeface="Segoe UI" pitchFamily="34" charset="0"/>
                <a:ea typeface="Segoe UI" pitchFamily="34" charset="-122"/>
                <a:cs typeface="Segoe UI" pitchFamily="34" charset="-120"/>
              </a:rPr>
              <a:t>T</a:t>
            </a:r>
            <a:pPr algn="l"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61" name="!!vtLo"/>
          <p:cNvSpPr/>
          <p:nvPr/>
        </p:nvSpPr>
        <p:spPr>
          <a:xfrm>
            <a:off x="7315200" y="1838483"/>
            <a:ext cx="4206240" cy="1554411"/>
          </a:xfrm>
          <a:custGeom>
            <a:avLst/>
            <a:gdLst/>
            <a:ahLst/>
            <a:cxnLst/>
            <a:rect l="l" t="t" r="r" b="b"/>
            <a:pathLst>
              <a:path w="4206240" h="1554411">
                <a:moveTo>
                  <a:pt x="0" y="1554411"/>
                </a:moveTo>
                <a:lnTo>
                  <a:pt x="107852" y="1341635"/>
                </a:lnTo>
                <a:lnTo>
                  <a:pt x="215705" y="1157890"/>
                </a:lnTo>
                <a:lnTo>
                  <a:pt x="323557" y="999214"/>
                </a:lnTo>
                <a:lnTo>
                  <a:pt x="431409" y="862188"/>
                </a:lnTo>
                <a:lnTo>
                  <a:pt x="539262" y="743857"/>
                </a:lnTo>
                <a:lnTo>
                  <a:pt x="647114" y="641670"/>
                </a:lnTo>
                <a:lnTo>
                  <a:pt x="754966" y="553426"/>
                </a:lnTo>
                <a:lnTo>
                  <a:pt x="862818" y="477221"/>
                </a:lnTo>
                <a:lnTo>
                  <a:pt x="970671" y="411413"/>
                </a:lnTo>
                <a:lnTo>
                  <a:pt x="1078523" y="354584"/>
                </a:lnTo>
                <a:lnTo>
                  <a:pt x="1186375" y="305509"/>
                </a:lnTo>
                <a:lnTo>
                  <a:pt x="1294228" y="263129"/>
                </a:lnTo>
                <a:lnTo>
                  <a:pt x="1402080" y="226531"/>
                </a:lnTo>
                <a:lnTo>
                  <a:pt x="1509932" y="194927"/>
                </a:lnTo>
                <a:lnTo>
                  <a:pt x="1617785" y="167635"/>
                </a:lnTo>
                <a:lnTo>
                  <a:pt x="1725637" y="144066"/>
                </a:lnTo>
                <a:lnTo>
                  <a:pt x="1833489" y="123713"/>
                </a:lnTo>
                <a:lnTo>
                  <a:pt x="1941342" y="106137"/>
                </a:lnTo>
                <a:lnTo>
                  <a:pt x="2049194" y="90958"/>
                </a:lnTo>
                <a:lnTo>
                  <a:pt x="2157046" y="77851"/>
                </a:lnTo>
                <a:lnTo>
                  <a:pt x="2264898" y="66532"/>
                </a:lnTo>
                <a:lnTo>
                  <a:pt x="2372751" y="56757"/>
                </a:lnTo>
                <a:lnTo>
                  <a:pt x="2480603" y="48316"/>
                </a:lnTo>
                <a:lnTo>
                  <a:pt x="2588455" y="41027"/>
                </a:lnTo>
                <a:lnTo>
                  <a:pt x="2696308" y="34732"/>
                </a:lnTo>
                <a:lnTo>
                  <a:pt x="2804160" y="29296"/>
                </a:lnTo>
                <a:lnTo>
                  <a:pt x="2912012" y="24602"/>
                </a:lnTo>
                <a:lnTo>
                  <a:pt x="3019865" y="20548"/>
                </a:lnTo>
                <a:lnTo>
                  <a:pt x="3127717" y="17047"/>
                </a:lnTo>
                <a:lnTo>
                  <a:pt x="3235569" y="14024"/>
                </a:lnTo>
                <a:lnTo>
                  <a:pt x="3343422" y="11413"/>
                </a:lnTo>
                <a:lnTo>
                  <a:pt x="3451274" y="9159"/>
                </a:lnTo>
                <a:lnTo>
                  <a:pt x="3559126" y="7212"/>
                </a:lnTo>
                <a:lnTo>
                  <a:pt x="3666978" y="5531"/>
                </a:lnTo>
                <a:lnTo>
                  <a:pt x="3774831" y="4079"/>
                </a:lnTo>
                <a:lnTo>
                  <a:pt x="3882683" y="2825"/>
                </a:lnTo>
                <a:lnTo>
                  <a:pt x="3990535" y="1742"/>
                </a:lnTo>
                <a:lnTo>
                  <a:pt x="4098388" y="807"/>
                </a:lnTo>
                <a:lnTo>
                  <a:pt x="4206240" y="0"/>
                </a:lnTo>
              </a:path>
            </a:pathLst>
          </a:custGeom>
          <a:ln w="28575">
            <a:solidFill>
              <a:srgbClr val="11998E"/>
            </a:solidFill>
            <a:prstDash val="solid"/>
          </a:ln>
        </p:spPr>
      </p:sp>
      <p:sp>
        <p:nvSpPr>
          <p:cNvPr id="62" name="!!vtHi"/>
          <p:cNvSpPr/>
          <p:nvPr/>
        </p:nvSpPr>
        <p:spPr>
          <a:xfrm>
            <a:off x="7315200" y="1841646"/>
            <a:ext cx="4206240" cy="2516665"/>
          </a:xfrm>
          <a:custGeom>
            <a:avLst/>
            <a:gdLst/>
            <a:ahLst/>
            <a:cxnLst/>
            <a:rect l="l" t="t" r="r" b="b"/>
            <a:pathLst>
              <a:path w="4206240" h="2516665">
                <a:moveTo>
                  <a:pt x="0" y="2516665"/>
                </a:moveTo>
                <a:lnTo>
                  <a:pt x="107852" y="2172171"/>
                </a:lnTo>
                <a:lnTo>
                  <a:pt x="215705" y="1874679"/>
                </a:lnTo>
                <a:lnTo>
                  <a:pt x="323557" y="1617775"/>
                </a:lnTo>
                <a:lnTo>
                  <a:pt x="431409" y="1395923"/>
                </a:lnTo>
                <a:lnTo>
                  <a:pt x="539262" y="1204339"/>
                </a:lnTo>
                <a:lnTo>
                  <a:pt x="647114" y="1038895"/>
                </a:lnTo>
                <a:lnTo>
                  <a:pt x="754966" y="896023"/>
                </a:lnTo>
                <a:lnTo>
                  <a:pt x="862818" y="772643"/>
                </a:lnTo>
                <a:lnTo>
                  <a:pt x="970671" y="666098"/>
                </a:lnTo>
                <a:lnTo>
                  <a:pt x="1078523" y="574089"/>
                </a:lnTo>
                <a:lnTo>
                  <a:pt x="1186375" y="494633"/>
                </a:lnTo>
                <a:lnTo>
                  <a:pt x="1294228" y="426018"/>
                </a:lnTo>
                <a:lnTo>
                  <a:pt x="1402080" y="366765"/>
                </a:lnTo>
                <a:lnTo>
                  <a:pt x="1509932" y="315596"/>
                </a:lnTo>
                <a:lnTo>
                  <a:pt x="1617785" y="271408"/>
                </a:lnTo>
                <a:lnTo>
                  <a:pt x="1725637" y="233249"/>
                </a:lnTo>
                <a:lnTo>
                  <a:pt x="1833489" y="200297"/>
                </a:lnTo>
                <a:lnTo>
                  <a:pt x="1941342" y="171840"/>
                </a:lnTo>
                <a:lnTo>
                  <a:pt x="2049194" y="147266"/>
                </a:lnTo>
                <a:lnTo>
                  <a:pt x="2157046" y="126045"/>
                </a:lnTo>
                <a:lnTo>
                  <a:pt x="2264898" y="107719"/>
                </a:lnTo>
                <a:lnTo>
                  <a:pt x="2372751" y="91893"/>
                </a:lnTo>
                <a:lnTo>
                  <a:pt x="2480603" y="78226"/>
                </a:lnTo>
                <a:lnTo>
                  <a:pt x="2588455" y="66425"/>
                </a:lnTo>
                <a:lnTo>
                  <a:pt x="2696308" y="56233"/>
                </a:lnTo>
                <a:lnTo>
                  <a:pt x="2804160" y="47432"/>
                </a:lnTo>
                <a:lnTo>
                  <a:pt x="2912012" y="39832"/>
                </a:lnTo>
                <a:lnTo>
                  <a:pt x="3019865" y="33268"/>
                </a:lnTo>
                <a:lnTo>
                  <a:pt x="3127717" y="27600"/>
                </a:lnTo>
                <a:lnTo>
                  <a:pt x="3235569" y="22706"/>
                </a:lnTo>
                <a:lnTo>
                  <a:pt x="3343422" y="18479"/>
                </a:lnTo>
                <a:lnTo>
                  <a:pt x="3451274" y="14829"/>
                </a:lnTo>
                <a:lnTo>
                  <a:pt x="3559126" y="11677"/>
                </a:lnTo>
                <a:lnTo>
                  <a:pt x="3666978" y="8955"/>
                </a:lnTo>
                <a:lnTo>
                  <a:pt x="3774831" y="6604"/>
                </a:lnTo>
                <a:lnTo>
                  <a:pt x="3882683" y="4574"/>
                </a:lnTo>
                <a:lnTo>
                  <a:pt x="3990535" y="2821"/>
                </a:lnTo>
                <a:lnTo>
                  <a:pt x="4098388" y="1307"/>
                </a:lnTo>
                <a:lnTo>
                  <a:pt x="4206240" y="0"/>
                </a:lnTo>
              </a:path>
            </a:pathLst>
          </a:custGeom>
          <a:ln w="28575">
            <a:solidFill>
              <a:srgbClr val="D64545"/>
            </a:solidFill>
            <a:prstDash val="solid"/>
          </a:ln>
        </p:spPr>
      </p:sp>
      <p:sp>
        <p:nvSpPr>
          <p:cNvPr id="63" name="!!vtLoL"/>
          <p:cNvSpPr txBox="1"/>
          <p:nvPr/>
        </p:nvSpPr>
        <p:spPr>
          <a:xfrm>
            <a:off x="10175443" y="1540764"/>
            <a:ext cx="1097280" cy="201168"/>
          </a:xfrm>
          <a:prstGeom prst="rect">
            <a:avLst/>
          </a:prstGeom>
          <a:noFill/>
          <a:ln/>
        </p:spPr>
        <p:txBody>
          <a:bodyPr wrap="square" lIns="0" tIns="0" rIns="0" bIns="0" rtlCol="0" anchor="t"/>
          <a:lstStyle/>
          <a:p>
            <a:pPr algn="l" indent="0" marL="0">
              <a:buNone/>
            </a:pPr>
            <a:r>
              <a:rPr lang="en-US" sz="1000" dirty="0">
                <a:solidFill>
                  <a:srgbClr val="11998E"/>
                </a:solidFill>
                <a:latin typeface="Segoe UI Semibold" pitchFamily="34" charset="0"/>
                <a:ea typeface="Segoe UI Semibold" pitchFamily="34" charset="-122"/>
                <a:cs typeface="Segoe UI Semibold" pitchFamily="34" charset="-120"/>
              </a:rPr>
              <a:t>V</a:t>
            </a:r>
            <a:pPr algn="l" indent="0" marL="0">
              <a:buNone/>
            </a:pPr>
            <a:r>
              <a:rPr lang="en-US" sz="1000" baseline="-40000" dirty="0">
                <a:solidFill>
                  <a:srgbClr val="11998E"/>
                </a:solidFill>
                <a:latin typeface="Segoe UI Semibold" pitchFamily="34" charset="0"/>
                <a:ea typeface="Segoe UI Semibold" pitchFamily="34" charset="-122"/>
                <a:cs typeface="Segoe UI Semibold" pitchFamily="34" charset="-120"/>
              </a:rPr>
              <a:t>D</a:t>
            </a:r>
            <a:pPr algn="l" indent="0" marL="0">
              <a:buNone/>
            </a:pPr>
            <a:r>
              <a:rPr lang="en-US" sz="1000" dirty="0">
                <a:solidFill>
                  <a:srgbClr val="11998E"/>
                </a:solidFill>
                <a:latin typeface="Segoe UI Semibold" pitchFamily="34" charset="0"/>
                <a:ea typeface="Segoe UI Semibold" pitchFamily="34" charset="-122"/>
                <a:cs typeface="Segoe UI Semibold" pitchFamily="34" charset="-120"/>
              </a:rPr>
              <a:t> = 0.05 V</a:t>
            </a:r>
            <a:endParaRPr lang="en-US" sz="1000" dirty="0"/>
          </a:p>
        </p:txBody>
      </p:sp>
      <p:sp>
        <p:nvSpPr>
          <p:cNvPr id="64" name="!!vtHiL"/>
          <p:cNvSpPr txBox="1"/>
          <p:nvPr/>
        </p:nvSpPr>
        <p:spPr>
          <a:xfrm>
            <a:off x="10175443" y="1943100"/>
            <a:ext cx="1097280" cy="201168"/>
          </a:xfrm>
          <a:prstGeom prst="rect">
            <a:avLst/>
          </a:prstGeom>
          <a:noFill/>
          <a:ln/>
        </p:spPr>
        <p:txBody>
          <a:bodyPr wrap="square" lIns="0" tIns="0" rIns="0" bIns="0" rtlCol="0" anchor="t"/>
          <a:lstStyle/>
          <a:p>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V</a:t>
            </a:r>
            <a:pPr algn="l" indent="0" marL="0">
              <a:buNone/>
            </a:pPr>
            <a:r>
              <a:rPr lang="en-US" sz="1000" baseline="-40000" dirty="0">
                <a:solidFill>
                  <a:srgbClr val="D64545"/>
                </a:solidFill>
                <a:latin typeface="Segoe UI Semibold" pitchFamily="34" charset="0"/>
                <a:ea typeface="Segoe UI Semibold" pitchFamily="34" charset="-122"/>
                <a:cs typeface="Segoe UI Semibold" pitchFamily="34" charset="-120"/>
              </a:rPr>
              <a:t>D</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 0.7 V</a:t>
            </a:r>
            <a:endParaRPr lang="en-US" sz="1000" dirty="0"/>
          </a:p>
        </p:txBody>
      </p:sp>
      <p:sp>
        <p:nvSpPr>
          <p:cNvPr id="65" name="!!vtGap"/>
          <p:cNvSpPr/>
          <p:nvPr/>
        </p:nvSpPr>
        <p:spPr>
          <a:xfrm>
            <a:off x="8997696" y="1991563"/>
            <a:ext cx="91" cy="97928"/>
          </a:xfrm>
          <a:prstGeom prst="line">
            <a:avLst/>
          </a:prstGeom>
          <a:noFill/>
          <a:ln w="25400">
            <a:solidFill>
              <a:srgbClr val="6B5BC4"/>
            </a:solidFill>
            <a:prstDash val="solid"/>
          </a:ln>
        </p:spPr>
      </p:sp>
      <p:sp>
        <p:nvSpPr>
          <p:cNvPr id="66" name="!!vtPtLo"/>
          <p:cNvSpPr/>
          <p:nvPr/>
        </p:nvSpPr>
        <p:spPr>
          <a:xfrm>
            <a:off x="8924544" y="1918411"/>
            <a:ext cx="146304" cy="146304"/>
          </a:xfrm>
          <a:prstGeom prst="ellipse">
            <a:avLst/>
          </a:prstGeom>
          <a:solidFill>
            <a:srgbClr val="11998E"/>
          </a:solidFill>
          <a:ln w="19050">
            <a:solidFill>
              <a:srgbClr val="FFFFFF"/>
            </a:solidFill>
            <a:prstDash val="solid"/>
          </a:ln>
        </p:spPr>
      </p:sp>
      <p:sp>
        <p:nvSpPr>
          <p:cNvPr id="67" name="!!vtPtHi"/>
          <p:cNvSpPr/>
          <p:nvPr/>
        </p:nvSpPr>
        <p:spPr>
          <a:xfrm>
            <a:off x="8924544" y="2016339"/>
            <a:ext cx="146304" cy="146304"/>
          </a:xfrm>
          <a:prstGeom prst="ellipse">
            <a:avLst/>
          </a:prstGeom>
          <a:solidFill>
            <a:srgbClr val="D64545"/>
          </a:solidFill>
          <a:ln w="19050">
            <a:solidFill>
              <a:srgbClr val="FFFFFF"/>
            </a:solidFill>
            <a:prstDash val="solid"/>
          </a:ln>
        </p:spPr>
      </p:sp>
      <p:sp>
        <p:nvSpPr>
          <p:cNvPr id="68" name="!!chip0"/>
          <p:cNvSpPr/>
          <p:nvPr/>
        </p:nvSpPr>
        <p:spPr>
          <a:xfrm>
            <a:off x="6858000" y="4434840"/>
            <a:ext cx="1508760" cy="658368"/>
          </a:xfrm>
          <a:prstGeom prst="roundRect">
            <a:avLst>
              <a:gd name="adj" fmla="val 8333"/>
            </a:avLst>
          </a:prstGeom>
          <a:solidFill>
            <a:srgbClr val="F4F5F7"/>
          </a:solidFill>
          <a:ln/>
        </p:spPr>
      </p:sp>
      <p:sp>
        <p:nvSpPr>
          <p:cNvPr id="69" name="!!chipk0"/>
          <p:cNvSpPr txBox="1"/>
          <p:nvPr/>
        </p:nvSpPr>
        <p:spPr>
          <a:xfrm>
            <a:off x="6967728"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a:t>
            </a:r>
            <a:pPr algn="l" indent="0" marL="0">
              <a:buNone/>
            </a:pPr>
            <a:r>
              <a:rPr lang="en-US" sz="1000" baseline="-40000" dirty="0">
                <a:solidFill>
                  <a:srgbClr val="5C5E62"/>
                </a:solidFill>
                <a:latin typeface="Segoe UI" pitchFamily="34" charset="0"/>
                <a:ea typeface="Segoe UI" pitchFamily="34" charset="-122"/>
                <a:cs typeface="Segoe UI" pitchFamily="34" charset="-120"/>
              </a:rPr>
              <a:t>T</a:t>
            </a:r>
            <a:pPr algn="l" indent="0" marL="0">
              <a:buNone/>
            </a:pPr>
            <a:r>
              <a:rPr lang="en-US" sz="1000" dirty="0">
                <a:solidFill>
                  <a:srgbClr val="5C5E62"/>
                </a:solidFill>
                <a:latin typeface="Segoe UI" pitchFamily="34" charset="0"/>
                <a:ea typeface="Segoe UI" pitchFamily="34" charset="-122"/>
                <a:cs typeface="Segoe UI" pitchFamily="34" charset="-120"/>
              </a:rPr>
              <a:t> (V</a:t>
            </a:r>
            <a:pPr algn="l" indent="0" marL="0">
              <a:buNone/>
            </a:pPr>
            <a:r>
              <a:rPr lang="en-US" sz="1000" baseline="-40000" dirty="0">
                <a:solidFill>
                  <a:srgbClr val="5C5E62"/>
                </a:solidFill>
                <a:latin typeface="Segoe UI" pitchFamily="34" charset="0"/>
                <a:ea typeface="Segoe UI" pitchFamily="34" charset="-122"/>
                <a:cs typeface="Segoe UI" pitchFamily="34" charset="-120"/>
              </a:rPr>
              <a:t>D</a:t>
            </a:r>
            <a:pPr algn="l" indent="0" marL="0">
              <a:buNone/>
            </a:pPr>
            <a:r>
              <a:rPr lang="en-US" sz="1000" dirty="0">
                <a:solidFill>
                  <a:srgbClr val="5C5E62"/>
                </a:solidFill>
                <a:latin typeface="Segoe UI" pitchFamily="34" charset="0"/>
                <a:ea typeface="Segoe UI" pitchFamily="34" charset="-122"/>
                <a:cs typeface="Segoe UI" pitchFamily="34" charset="-120"/>
              </a:rPr>
              <a:t> = 0.05 V)</a:t>
            </a:r>
            <a:endParaRPr lang="en-US" sz="1000" dirty="0"/>
          </a:p>
        </p:txBody>
      </p:sp>
      <p:sp>
        <p:nvSpPr>
          <p:cNvPr id="70" name="!!chipv0"/>
          <p:cNvSpPr txBox="1"/>
          <p:nvPr/>
        </p:nvSpPr>
        <p:spPr>
          <a:xfrm>
            <a:off x="6967728"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0.22 V</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71" name="!!chip1"/>
          <p:cNvSpPr/>
          <p:nvPr/>
        </p:nvSpPr>
        <p:spPr>
          <a:xfrm>
            <a:off x="8476488" y="4434840"/>
            <a:ext cx="1508760" cy="658368"/>
          </a:xfrm>
          <a:prstGeom prst="roundRect">
            <a:avLst>
              <a:gd name="adj" fmla="val 8333"/>
            </a:avLst>
          </a:prstGeom>
          <a:solidFill>
            <a:srgbClr val="F4F5F7"/>
          </a:solidFill>
          <a:ln/>
        </p:spPr>
      </p:sp>
      <p:sp>
        <p:nvSpPr>
          <p:cNvPr id="72" name="!!chipk1"/>
          <p:cNvSpPr txBox="1"/>
          <p:nvPr/>
        </p:nvSpPr>
        <p:spPr>
          <a:xfrm>
            <a:off x="8586216"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a:t>
            </a:r>
            <a:pPr algn="l" indent="0" marL="0">
              <a:buNone/>
            </a:pPr>
            <a:r>
              <a:rPr lang="en-US" sz="1000" baseline="-40000" dirty="0">
                <a:solidFill>
                  <a:srgbClr val="5C5E62"/>
                </a:solidFill>
                <a:latin typeface="Segoe UI" pitchFamily="34" charset="0"/>
                <a:ea typeface="Segoe UI" pitchFamily="34" charset="-122"/>
                <a:cs typeface="Segoe UI" pitchFamily="34" charset="-120"/>
              </a:rPr>
              <a:t>T</a:t>
            </a:r>
            <a:pPr algn="l" indent="0" marL="0">
              <a:buNone/>
            </a:pPr>
            <a:r>
              <a:rPr lang="en-US" sz="1000" dirty="0">
                <a:solidFill>
                  <a:srgbClr val="5C5E62"/>
                </a:solidFill>
                <a:latin typeface="Segoe UI" pitchFamily="34" charset="0"/>
                <a:ea typeface="Segoe UI" pitchFamily="34" charset="-122"/>
                <a:cs typeface="Segoe UI" pitchFamily="34" charset="-120"/>
              </a:rPr>
              <a:t> (V</a:t>
            </a:r>
            <a:pPr algn="l" indent="0" marL="0">
              <a:buNone/>
            </a:pPr>
            <a:r>
              <a:rPr lang="en-US" sz="1000" baseline="-40000" dirty="0">
                <a:solidFill>
                  <a:srgbClr val="5C5E62"/>
                </a:solidFill>
                <a:latin typeface="Segoe UI" pitchFamily="34" charset="0"/>
                <a:ea typeface="Segoe UI" pitchFamily="34" charset="-122"/>
                <a:cs typeface="Segoe UI" pitchFamily="34" charset="-120"/>
              </a:rPr>
              <a:t>D</a:t>
            </a:r>
            <a:pPr algn="l" indent="0" marL="0">
              <a:buNone/>
            </a:pPr>
            <a:r>
              <a:rPr lang="en-US" sz="1000" dirty="0">
                <a:solidFill>
                  <a:srgbClr val="5C5E62"/>
                </a:solidFill>
                <a:latin typeface="Segoe UI" pitchFamily="34" charset="0"/>
                <a:ea typeface="Segoe UI" pitchFamily="34" charset="-122"/>
                <a:cs typeface="Segoe UI" pitchFamily="34" charset="-120"/>
              </a:rPr>
              <a:t> = 0.7 V)</a:t>
            </a:r>
            <a:endParaRPr lang="en-US" sz="1000" dirty="0"/>
          </a:p>
        </p:txBody>
      </p:sp>
      <p:sp>
        <p:nvSpPr>
          <p:cNvPr id="73" name="!!chipv1"/>
          <p:cNvSpPr txBox="1"/>
          <p:nvPr/>
        </p:nvSpPr>
        <p:spPr>
          <a:xfrm>
            <a:off x="8586216"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0.20 V</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74" name="!!chip2"/>
          <p:cNvSpPr/>
          <p:nvPr/>
        </p:nvSpPr>
        <p:spPr>
          <a:xfrm>
            <a:off x="10094976" y="4434840"/>
            <a:ext cx="1508760" cy="658368"/>
          </a:xfrm>
          <a:prstGeom prst="roundRect">
            <a:avLst>
              <a:gd name="adj" fmla="val 8333"/>
            </a:avLst>
          </a:prstGeom>
          <a:solidFill>
            <a:srgbClr val="F4F5F7"/>
          </a:solidFill>
          <a:ln/>
        </p:spPr>
      </p:sp>
      <p:sp>
        <p:nvSpPr>
          <p:cNvPr id="75" name="!!chipk2"/>
          <p:cNvSpPr txBox="1"/>
          <p:nvPr/>
        </p:nvSpPr>
        <p:spPr>
          <a:xfrm>
            <a:off x="10204704"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DIBL</a:t>
            </a:r>
            <a:endParaRPr lang="en-US" sz="1000" dirty="0"/>
          </a:p>
        </p:txBody>
      </p:sp>
      <p:sp>
        <p:nvSpPr>
          <p:cNvPr id="76" name="!!chipv2"/>
          <p:cNvSpPr txBox="1"/>
          <p:nvPr/>
        </p:nvSpPr>
        <p:spPr>
          <a:xfrm>
            <a:off x="10204704"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32 mV/V</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77" name="!!knobLbl"/>
          <p:cNvSpPr txBox="1"/>
          <p:nvPr/>
        </p:nvSpPr>
        <p:spPr>
          <a:xfrm>
            <a:off x="7022592" y="512064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length L</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30 nm</a:t>
            </a:r>
            <a:endParaRPr lang="en-US" sz="1200" dirty="0"/>
          </a:p>
        </p:txBody>
      </p:sp>
      <p:sp>
        <p:nvSpPr>
          <p:cNvPr id="78" name="!!knobTrack"/>
          <p:cNvSpPr/>
          <p:nvPr/>
        </p:nvSpPr>
        <p:spPr>
          <a:xfrm>
            <a:off x="7040880" y="5504688"/>
            <a:ext cx="4480560" cy="54864"/>
          </a:xfrm>
          <a:prstGeom prst="roundRect">
            <a:avLst>
              <a:gd name="adj" fmla="val 50000"/>
            </a:avLst>
          </a:prstGeom>
          <a:solidFill>
            <a:srgbClr val="E2E3E3"/>
          </a:solidFill>
          <a:ln/>
        </p:spPr>
      </p:sp>
      <p:sp>
        <p:nvSpPr>
          <p:cNvPr id="79" name="!!knobFill"/>
          <p:cNvSpPr/>
          <p:nvPr/>
        </p:nvSpPr>
        <p:spPr>
          <a:xfrm>
            <a:off x="7040880" y="5504688"/>
            <a:ext cx="1792224" cy="54864"/>
          </a:xfrm>
          <a:prstGeom prst="roundRect">
            <a:avLst>
              <a:gd name="adj" fmla="val 50000"/>
            </a:avLst>
          </a:prstGeom>
          <a:solidFill>
            <a:srgbClr val="6B5BC4"/>
          </a:solidFill>
          <a:ln/>
        </p:spPr>
      </p:sp>
      <p:sp>
        <p:nvSpPr>
          <p:cNvPr id="80" name="!!knobT0"/>
          <p:cNvSpPr txBox="1"/>
          <p:nvPr/>
        </p:nvSpPr>
        <p:spPr>
          <a:xfrm>
            <a:off x="667512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10</a:t>
            </a:r>
            <a:endParaRPr lang="en-US" sz="900" dirty="0"/>
          </a:p>
        </p:txBody>
      </p:sp>
      <p:sp>
        <p:nvSpPr>
          <p:cNvPr id="81" name="!!knobT1"/>
          <p:cNvSpPr txBox="1"/>
          <p:nvPr/>
        </p:nvSpPr>
        <p:spPr>
          <a:xfrm>
            <a:off x="7571232"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20</a:t>
            </a:r>
            <a:endParaRPr lang="en-US" sz="900" dirty="0"/>
          </a:p>
        </p:txBody>
      </p:sp>
      <p:sp>
        <p:nvSpPr>
          <p:cNvPr id="82" name="!!knobT2"/>
          <p:cNvSpPr txBox="1"/>
          <p:nvPr/>
        </p:nvSpPr>
        <p:spPr>
          <a:xfrm>
            <a:off x="8467344"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30</a:t>
            </a:r>
            <a:endParaRPr lang="en-US" sz="900" dirty="0"/>
          </a:p>
        </p:txBody>
      </p:sp>
      <p:sp>
        <p:nvSpPr>
          <p:cNvPr id="83" name="!!knobT3"/>
          <p:cNvSpPr txBox="1"/>
          <p:nvPr/>
        </p:nvSpPr>
        <p:spPr>
          <a:xfrm>
            <a:off x="9363456"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40</a:t>
            </a:r>
            <a:endParaRPr lang="en-US" sz="900" dirty="0"/>
          </a:p>
        </p:txBody>
      </p:sp>
      <p:sp>
        <p:nvSpPr>
          <p:cNvPr id="84" name="!!knobT4"/>
          <p:cNvSpPr txBox="1"/>
          <p:nvPr/>
        </p:nvSpPr>
        <p:spPr>
          <a:xfrm>
            <a:off x="10259568"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50</a:t>
            </a:r>
            <a:endParaRPr lang="en-US" sz="900" dirty="0"/>
          </a:p>
        </p:txBody>
      </p:sp>
      <p:sp>
        <p:nvSpPr>
          <p:cNvPr id="85" name="!!knobT5"/>
          <p:cNvSpPr txBox="1"/>
          <p:nvPr/>
        </p:nvSpPr>
        <p:spPr>
          <a:xfrm>
            <a:off x="111556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60</a:t>
            </a:r>
            <a:endParaRPr lang="en-US" sz="900" dirty="0"/>
          </a:p>
        </p:txBody>
      </p:sp>
      <p:sp>
        <p:nvSpPr>
          <p:cNvPr id="86" name="!!knobThumb"/>
          <p:cNvSpPr/>
          <p:nvPr/>
        </p:nvSpPr>
        <p:spPr>
          <a:xfrm>
            <a:off x="8732520" y="5431536"/>
            <a:ext cx="201168" cy="201168"/>
          </a:xfrm>
          <a:prstGeom prst="ellipse">
            <a:avLst/>
          </a:prstGeom>
          <a:solidFill>
            <a:srgbClr val="FFFFFF"/>
          </a:solidFill>
          <a:ln w="28575">
            <a:solidFill>
              <a:srgbClr val="6B5BC4"/>
            </a:solidFill>
            <a:prstDash val="solid"/>
          </a:ln>
        </p:spPr>
      </p:sp>
      <p:sp>
        <p:nvSpPr>
          <p:cNvPr id="8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Shorter still: with high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D</a:t>
            </a:r>
            <a:pPr algn="ctr" indent="0" marL="0">
              <a:buNone/>
            </a:pPr>
            <a:r>
              <a:rPr lang="en-US" sz="1600" dirty="0">
                <a:solidFill>
                  <a:srgbClr val="171A20"/>
                </a:solidFill>
                <a:latin typeface="Segoe UI" pitchFamily="34" charset="0"/>
                <a:ea typeface="Segoe UI" pitchFamily="34" charset="-122"/>
                <a:cs typeface="Segoe UI" pitchFamily="34" charset="-120"/>
              </a:rPr>
              <a:t> the hill top sinks a little (DIBL = 32 mV/V).</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39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Shrinking the gate – Planar MOSFET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Same voltages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0,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 only the knob L</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changes</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171A20"/>
          </a:solidFill>
          <a:ln/>
        </p:spPr>
      </p:sp>
      <p:sp>
        <p:nvSpPr>
          <p:cNvPr id="8" name="!!sdot4"/>
          <p:cNvSpPr/>
          <p:nvPr/>
        </p:nvSpPr>
        <p:spPr>
          <a:xfrm>
            <a:off x="11599164" y="525780"/>
            <a:ext cx="82296" cy="82296"/>
          </a:xfrm>
          <a:prstGeom prst="ellipse">
            <a:avLst/>
          </a:prstGeom>
          <a:solidFill>
            <a:srgbClr val="E2E3E3"/>
          </a:solidFill>
          <a:ln/>
        </p:spPr>
      </p:sp>
      <p:sp>
        <p:nvSpPr>
          <p:cNvPr id="9" name="!!mBody"/>
          <p:cNvSpPr/>
          <p:nvPr/>
        </p:nvSpPr>
        <p:spPr>
          <a:xfrm>
            <a:off x="640080" y="2240280"/>
            <a:ext cx="5120640" cy="1417320"/>
          </a:xfrm>
          <a:prstGeom prst="rect">
            <a:avLst/>
          </a:prstGeom>
          <a:solidFill>
            <a:srgbClr val="F6E7B8"/>
          </a:solidFill>
          <a:ln/>
        </p:spPr>
      </p:sp>
      <p:sp>
        <p:nvSpPr>
          <p:cNvPr id="10"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1" name="!!mDepS"/>
          <p:cNvSpPr/>
          <p:nvPr/>
        </p:nvSpPr>
        <p:spPr>
          <a:xfrm>
            <a:off x="640080" y="2240280"/>
            <a:ext cx="2395728" cy="932688"/>
          </a:xfrm>
          <a:prstGeom prst="roundRect">
            <a:avLst>
              <a:gd name="adj" fmla="val 11765"/>
            </a:avLst>
          </a:prstGeom>
          <a:solidFill>
            <a:srgbClr val="F7D4D9"/>
          </a:solidFill>
          <a:ln/>
        </p:spPr>
      </p:sp>
      <p:sp>
        <p:nvSpPr>
          <p:cNvPr id="12" name="!!mDepD"/>
          <p:cNvSpPr/>
          <p:nvPr/>
        </p:nvSpPr>
        <p:spPr>
          <a:xfrm>
            <a:off x="3364992" y="2240280"/>
            <a:ext cx="2395728" cy="932688"/>
          </a:xfrm>
          <a:prstGeom prst="roundRect">
            <a:avLst>
              <a:gd name="adj" fmla="val 11765"/>
            </a:avLst>
          </a:prstGeom>
          <a:solidFill>
            <a:srgbClr val="F7D4D9"/>
          </a:solidFill>
          <a:ln/>
        </p:spPr>
      </p:sp>
      <p:sp>
        <p:nvSpPr>
          <p:cNvPr id="13" name="!!mSrc"/>
          <p:cNvSpPr/>
          <p:nvPr/>
        </p:nvSpPr>
        <p:spPr>
          <a:xfrm>
            <a:off x="640080" y="2240280"/>
            <a:ext cx="2057400" cy="548640"/>
          </a:xfrm>
          <a:prstGeom prst="roundRect">
            <a:avLst>
              <a:gd name="adj" fmla="val 8333"/>
            </a:avLst>
          </a:prstGeom>
          <a:solidFill>
            <a:srgbClr val="7D9BE6"/>
          </a:solidFill>
          <a:ln/>
        </p:spPr>
      </p:sp>
      <p:sp>
        <p:nvSpPr>
          <p:cNvPr id="14" name="!!mDrn"/>
          <p:cNvSpPr/>
          <p:nvPr/>
        </p:nvSpPr>
        <p:spPr>
          <a:xfrm>
            <a:off x="3703320" y="2240280"/>
            <a:ext cx="2057400" cy="548640"/>
          </a:xfrm>
          <a:prstGeom prst="roundRect">
            <a:avLst>
              <a:gd name="adj" fmla="val 8333"/>
            </a:avLst>
          </a:prstGeom>
          <a:solidFill>
            <a:srgbClr val="7D9BE6"/>
          </a:solidFill>
          <a:ln/>
        </p:spPr>
      </p:sp>
      <p:sp>
        <p:nvSpPr>
          <p:cNvPr id="15" name="!!mSrcL"/>
          <p:cNvSpPr txBox="1"/>
          <p:nvPr/>
        </p:nvSpPr>
        <p:spPr>
          <a:xfrm>
            <a:off x="640080" y="2395728"/>
            <a:ext cx="201168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6" name="!!mDrnL"/>
          <p:cNvSpPr txBox="1"/>
          <p:nvPr/>
        </p:nvSpPr>
        <p:spPr>
          <a:xfrm>
            <a:off x="3749040" y="2395728"/>
            <a:ext cx="2011680"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7" name="!!mOx"/>
          <p:cNvSpPr/>
          <p:nvPr/>
        </p:nvSpPr>
        <p:spPr>
          <a:xfrm>
            <a:off x="2651760" y="2167128"/>
            <a:ext cx="1097280" cy="73152"/>
          </a:xfrm>
          <a:prstGeom prst="rect">
            <a:avLst/>
          </a:prstGeom>
          <a:solidFill>
            <a:srgbClr val="CDEBF5"/>
          </a:solidFill>
          <a:ln/>
        </p:spPr>
      </p:sp>
      <p:sp>
        <p:nvSpPr>
          <p:cNvPr id="18" name="!!mGate"/>
          <p:cNvSpPr/>
          <p:nvPr/>
        </p:nvSpPr>
        <p:spPr>
          <a:xfrm>
            <a:off x="2651760" y="1783080"/>
            <a:ext cx="1097280" cy="384048"/>
          </a:xfrm>
          <a:prstGeom prst="roundRect">
            <a:avLst>
              <a:gd name="adj" fmla="val 9524"/>
            </a:avLst>
          </a:prstGeom>
          <a:solidFill>
            <a:srgbClr val="B3A6E6"/>
          </a:solidFill>
          <a:ln/>
        </p:spPr>
      </p:sp>
      <p:sp>
        <p:nvSpPr>
          <p:cNvPr id="19" name="!!mGateL"/>
          <p:cNvSpPr txBox="1"/>
          <p:nvPr/>
        </p:nvSpPr>
        <p:spPr>
          <a:xfrm>
            <a:off x="2651760" y="1837944"/>
            <a:ext cx="1097280"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20" name="!!mVS"/>
          <p:cNvSpPr txBox="1"/>
          <p:nvPr/>
        </p:nvSpPr>
        <p:spPr>
          <a:xfrm>
            <a:off x="640080" y="1856232"/>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S</a:t>
            </a:r>
            <a:pPr algn="l" indent="0" marL="0">
              <a:buNone/>
            </a:pPr>
            <a:r>
              <a:rPr lang="en-US" sz="1100" dirty="0">
                <a:solidFill>
                  <a:srgbClr val="5C5E62"/>
                </a:solidFill>
                <a:latin typeface="Segoe UI" pitchFamily="34" charset="0"/>
                <a:ea typeface="Segoe UI" pitchFamily="34" charset="-122"/>
                <a:cs typeface="Segoe UI" pitchFamily="34" charset="-120"/>
              </a:rPr>
              <a:t> = 0</a:t>
            </a:r>
            <a:endParaRPr lang="en-US" sz="1100" dirty="0"/>
          </a:p>
        </p:txBody>
      </p:sp>
      <p:sp>
        <p:nvSpPr>
          <p:cNvPr id="21" name="!!mVG"/>
          <p:cNvSpPr txBox="1"/>
          <p:nvPr/>
        </p:nvSpPr>
        <p:spPr>
          <a:xfrm>
            <a:off x="2286000" y="1490472"/>
            <a:ext cx="1828800" cy="237744"/>
          </a:xfrm>
          <a:prstGeom prst="rect">
            <a:avLst/>
          </a:prstGeom>
          <a:noFill/>
          <a:ln/>
        </p:spPr>
        <p:txBody>
          <a:bodyPr wrap="square" lIns="0" tIns="0" rIns="0" bIns="0" rtlCol="0" anchor="t"/>
          <a:lstStyle/>
          <a:p>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ctr"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 = 0.00 V</a:t>
            </a:r>
            <a:endParaRPr lang="en-US" sz="1200" dirty="0"/>
          </a:p>
        </p:txBody>
      </p:sp>
      <p:sp>
        <p:nvSpPr>
          <p:cNvPr id="22" name="!!mVD"/>
          <p:cNvSpPr txBox="1"/>
          <p:nvPr/>
        </p:nvSpPr>
        <p:spPr>
          <a:xfrm>
            <a:off x="4480560" y="1856232"/>
            <a:ext cx="1280160" cy="228600"/>
          </a:xfrm>
          <a:prstGeom prst="rect">
            <a:avLst/>
          </a:prstGeom>
          <a:noFill/>
          <a:ln/>
        </p:spPr>
        <p:txBody>
          <a:bodyPr wrap="square" lIns="0" tIns="0" rIns="0" bIns="0" rtlCol="0" anchor="t"/>
          <a:lstStyle/>
          <a:p>
            <a:pPr algn="r" indent="0" marL="0">
              <a:buNone/>
            </a:pPr>
            <a:r>
              <a:rPr lang="en-US" sz="1100" dirty="0">
                <a:solidFill>
                  <a:srgbClr val="5C5E62"/>
                </a:solidFill>
                <a:latin typeface="Segoe UI" pitchFamily="34" charset="0"/>
                <a:ea typeface="Segoe UI" pitchFamily="34" charset="-122"/>
                <a:cs typeface="Segoe UI" pitchFamily="34" charset="-120"/>
              </a:rPr>
              <a:t>V</a:t>
            </a:r>
            <a:pPr algn="r" indent="0" marL="0">
              <a:buNone/>
            </a:pPr>
            <a:r>
              <a:rPr lang="en-US" sz="1100" baseline="-40000" dirty="0">
                <a:solidFill>
                  <a:srgbClr val="5C5E62"/>
                </a:solidFill>
                <a:latin typeface="Segoe UI" pitchFamily="34" charset="0"/>
                <a:ea typeface="Segoe UI" pitchFamily="34" charset="-122"/>
                <a:cs typeface="Segoe UI" pitchFamily="34" charset="-120"/>
              </a:rPr>
              <a:t>D</a:t>
            </a:r>
            <a:pPr algn="r" indent="0" marL="0">
              <a:buNone/>
            </a:pPr>
            <a:r>
              <a:rPr lang="en-US" sz="1100" dirty="0">
                <a:solidFill>
                  <a:srgbClr val="5C5E62"/>
                </a:solidFill>
                <a:latin typeface="Segoe UI" pitchFamily="34" charset="0"/>
                <a:ea typeface="Segoe UI" pitchFamily="34" charset="-122"/>
                <a:cs typeface="Segoe UI" pitchFamily="34" charset="-120"/>
              </a:rPr>
              <a:t> = 0.70 V</a:t>
            </a:r>
            <a:endParaRPr lang="en-US" sz="1100" dirty="0"/>
          </a:p>
        </p:txBody>
      </p:sp>
      <p:sp>
        <p:nvSpPr>
          <p:cNvPr id="23" name="!!mLeak"/>
          <p:cNvSpPr/>
          <p:nvPr/>
        </p:nvSpPr>
        <p:spPr>
          <a:xfrm>
            <a:off x="2560320" y="2926080"/>
            <a:ext cx="1280160" cy="182880"/>
          </a:xfrm>
          <a:custGeom>
            <a:avLst/>
            <a:gdLst/>
            <a:ahLst/>
            <a:cxnLst/>
            <a:rect l="l" t="t" r="r" b="b"/>
            <a:pathLst>
              <a:path w="1280160" h="182880">
                <a:moveTo>
                  <a:pt x="0" y="0"/>
                </a:moveTo>
                <a:lnTo>
                  <a:pt x="640080" y="182880"/>
                </a:lnTo>
                <a:lnTo>
                  <a:pt x="1280160" y="0"/>
                </a:lnTo>
              </a:path>
            </a:pathLst>
          </a:custGeom>
          <a:ln w="28575">
            <a:solidFill>
              <a:srgbClr val="D64545"/>
            </a:solidFill>
            <a:prstDash val="dash"/>
          </a:ln>
        </p:spPr>
      </p:sp>
      <p:sp>
        <p:nvSpPr>
          <p:cNvPr id="24" name="!!mLeakL"/>
          <p:cNvSpPr txBox="1"/>
          <p:nvPr/>
        </p:nvSpPr>
        <p:spPr>
          <a:xfrm>
            <a:off x="2011680" y="3154680"/>
            <a:ext cx="2377440" cy="219456"/>
          </a:xfrm>
          <a:prstGeom prst="rect">
            <a:avLst/>
          </a:prstGeom>
          <a:noFill/>
          <a:ln/>
        </p:spPr>
        <p:txBody>
          <a:bodyPr wrap="square" lIns="0" tIns="0" rIns="0" bIns="0" rtlCol="0" anchor="t"/>
          <a:lstStyle/>
          <a:p>
            <a:pPr algn="ctr" indent="0" marL="0">
              <a:buNone/>
            </a:pPr>
            <a:r>
              <a:rPr lang="en-US" sz="1000" dirty="0">
                <a:solidFill>
                  <a:srgbClr val="D64545"/>
                </a:solidFill>
                <a:latin typeface="Segoe UI Semibold" pitchFamily="34" charset="0"/>
                <a:ea typeface="Segoe UI Semibold" pitchFamily="34" charset="-122"/>
                <a:cs typeface="Segoe UI Semibold" pitchFamily="34" charset="-120"/>
              </a:rPr>
              <a:t>leakage path below the gate</a:t>
            </a:r>
            <a:endParaRPr lang="en-US" sz="1000" dirty="0"/>
          </a:p>
        </p:txBody>
      </p:sp>
      <p:sp>
        <p:nvSpPr>
          <p:cNvPr id="25" name="!!lg2t"/>
          <p:cNvSpPr txBox="1"/>
          <p:nvPr/>
        </p:nvSpPr>
        <p:spPr>
          <a:xfrm>
            <a:off x="640080" y="3721608"/>
            <a:ext cx="320040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pink = depletion around source and drain</a:t>
            </a:r>
            <a:endParaRPr lang="en-US" sz="900" dirty="0"/>
          </a:p>
        </p:txBody>
      </p:sp>
      <p:sp>
        <p:nvSpPr>
          <p:cNvPr id="26" name="!!bCurve"/>
          <p:cNvSpPr/>
          <p:nvPr/>
        </p:nvSpPr>
        <p:spPr>
          <a:xfrm>
            <a:off x="640080" y="4172422"/>
            <a:ext cx="5120640" cy="1126526"/>
          </a:xfrm>
          <a:custGeom>
            <a:avLst/>
            <a:gdLst/>
            <a:ahLst/>
            <a:cxnLst/>
            <a:rect l="l" t="t" r="r" b="b"/>
            <a:pathLst>
              <a:path w="5120640" h="1126526">
                <a:moveTo>
                  <a:pt x="0" y="582458"/>
                </a:moveTo>
                <a:lnTo>
                  <a:pt x="113792" y="582458"/>
                </a:lnTo>
                <a:lnTo>
                  <a:pt x="227584" y="582458"/>
                </a:lnTo>
                <a:lnTo>
                  <a:pt x="341376" y="582458"/>
                </a:lnTo>
                <a:lnTo>
                  <a:pt x="455168" y="582457"/>
                </a:lnTo>
                <a:lnTo>
                  <a:pt x="568960" y="582455"/>
                </a:lnTo>
                <a:lnTo>
                  <a:pt x="682752" y="582449"/>
                </a:lnTo>
                <a:lnTo>
                  <a:pt x="796544" y="582435"/>
                </a:lnTo>
                <a:lnTo>
                  <a:pt x="910336" y="582399"/>
                </a:lnTo>
                <a:lnTo>
                  <a:pt x="1024128" y="582305"/>
                </a:lnTo>
                <a:lnTo>
                  <a:pt x="1137920" y="582059"/>
                </a:lnTo>
                <a:lnTo>
                  <a:pt x="1251712" y="581420"/>
                </a:lnTo>
                <a:lnTo>
                  <a:pt x="1365504" y="579762"/>
                </a:lnTo>
                <a:lnTo>
                  <a:pt x="1479296" y="575486"/>
                </a:lnTo>
                <a:lnTo>
                  <a:pt x="1593088" y="564629"/>
                </a:lnTo>
                <a:lnTo>
                  <a:pt x="1706880" y="538103"/>
                </a:lnTo>
                <a:lnTo>
                  <a:pt x="1820672" y="478957"/>
                </a:lnTo>
                <a:lnTo>
                  <a:pt x="1934464" y="370304"/>
                </a:lnTo>
                <a:lnTo>
                  <a:pt x="2048256" y="227248"/>
                </a:lnTo>
                <a:lnTo>
                  <a:pt x="2162048" y="104214"/>
                </a:lnTo>
                <a:lnTo>
                  <a:pt x="2275840" y="33368"/>
                </a:lnTo>
                <a:lnTo>
                  <a:pt x="2389632" y="4675"/>
                </a:lnTo>
                <a:lnTo>
                  <a:pt x="2503424" y="0"/>
                </a:lnTo>
                <a:lnTo>
                  <a:pt x="2617216" y="10598"/>
                </a:lnTo>
                <a:lnTo>
                  <a:pt x="2731008" y="39599"/>
                </a:lnTo>
                <a:lnTo>
                  <a:pt x="2844800" y="105533"/>
                </a:lnTo>
                <a:lnTo>
                  <a:pt x="2958592" y="244524"/>
                </a:lnTo>
                <a:lnTo>
                  <a:pt x="3072384" y="480006"/>
                </a:lnTo>
                <a:lnTo>
                  <a:pt x="3186176" y="750909"/>
                </a:lnTo>
                <a:lnTo>
                  <a:pt x="3299968" y="950355"/>
                </a:lnTo>
                <a:lnTo>
                  <a:pt x="3413760" y="1054083"/>
                </a:lnTo>
                <a:lnTo>
                  <a:pt x="3527552" y="1098502"/>
                </a:lnTo>
                <a:lnTo>
                  <a:pt x="3641344" y="1115944"/>
                </a:lnTo>
                <a:lnTo>
                  <a:pt x="3755136" y="1122564"/>
                </a:lnTo>
                <a:lnTo>
                  <a:pt x="3868928" y="1125046"/>
                </a:lnTo>
                <a:lnTo>
                  <a:pt x="3982720" y="1125973"/>
                </a:lnTo>
                <a:lnTo>
                  <a:pt x="4096512" y="1126319"/>
                </a:lnTo>
                <a:lnTo>
                  <a:pt x="4210304" y="1126449"/>
                </a:lnTo>
                <a:lnTo>
                  <a:pt x="4324096" y="1126497"/>
                </a:lnTo>
                <a:lnTo>
                  <a:pt x="4437888" y="1126515"/>
                </a:lnTo>
                <a:lnTo>
                  <a:pt x="4551680" y="1126522"/>
                </a:lnTo>
                <a:lnTo>
                  <a:pt x="4665472" y="1126525"/>
                </a:lnTo>
                <a:lnTo>
                  <a:pt x="4779264" y="1126525"/>
                </a:lnTo>
                <a:lnTo>
                  <a:pt x="4893056" y="1126526"/>
                </a:lnTo>
                <a:lnTo>
                  <a:pt x="5006848" y="1126526"/>
                </a:lnTo>
                <a:lnTo>
                  <a:pt x="5120640" y="1126526"/>
                </a:lnTo>
              </a:path>
            </a:pathLst>
          </a:custGeom>
          <a:ln w="28575">
            <a:solidFill>
              <a:srgbClr val="171A20"/>
            </a:solidFill>
            <a:prstDash val="solid"/>
          </a:ln>
        </p:spPr>
      </p:sp>
      <p:sp>
        <p:nvSpPr>
          <p:cNvPr id="27" name="!!bLbl"/>
          <p:cNvSpPr txBox="1"/>
          <p:nvPr/>
        </p:nvSpPr>
        <p:spPr>
          <a:xfrm>
            <a:off x="640080" y="3977640"/>
            <a:ext cx="182880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electron energy ↑</a:t>
            </a:r>
            <a:endParaRPr lang="en-US" sz="1000" dirty="0"/>
          </a:p>
        </p:txBody>
      </p:sp>
      <p:sp>
        <p:nvSpPr>
          <p:cNvPr id="28" name="!!bes0"/>
          <p:cNvSpPr/>
          <p:nvPr/>
        </p:nvSpPr>
        <p:spPr>
          <a:xfrm>
            <a:off x="717804" y="4613148"/>
            <a:ext cx="118872" cy="118872"/>
          </a:xfrm>
          <a:prstGeom prst="ellipse">
            <a:avLst/>
          </a:prstGeom>
          <a:solidFill>
            <a:srgbClr val="1F2F6B"/>
          </a:solidFill>
          <a:ln/>
        </p:spPr>
      </p:sp>
      <p:sp>
        <p:nvSpPr>
          <p:cNvPr id="29" name="!!bes1"/>
          <p:cNvSpPr/>
          <p:nvPr/>
        </p:nvSpPr>
        <p:spPr>
          <a:xfrm>
            <a:off x="918972" y="4613148"/>
            <a:ext cx="118872" cy="118872"/>
          </a:xfrm>
          <a:prstGeom prst="ellipse">
            <a:avLst/>
          </a:prstGeom>
          <a:solidFill>
            <a:srgbClr val="1F2F6B"/>
          </a:solidFill>
          <a:ln/>
        </p:spPr>
      </p:sp>
      <p:sp>
        <p:nvSpPr>
          <p:cNvPr id="30" name="!!bes2"/>
          <p:cNvSpPr/>
          <p:nvPr/>
        </p:nvSpPr>
        <p:spPr>
          <a:xfrm>
            <a:off x="1120140" y="4613148"/>
            <a:ext cx="118872" cy="118872"/>
          </a:xfrm>
          <a:prstGeom prst="ellipse">
            <a:avLst/>
          </a:prstGeom>
          <a:solidFill>
            <a:srgbClr val="1F2F6B"/>
          </a:solidFill>
          <a:ln/>
        </p:spPr>
      </p:sp>
      <p:sp>
        <p:nvSpPr>
          <p:cNvPr id="31" name="!!bes3"/>
          <p:cNvSpPr/>
          <p:nvPr/>
        </p:nvSpPr>
        <p:spPr>
          <a:xfrm>
            <a:off x="1321308" y="4613148"/>
            <a:ext cx="118872" cy="118872"/>
          </a:xfrm>
          <a:prstGeom prst="ellipse">
            <a:avLst/>
          </a:prstGeom>
          <a:solidFill>
            <a:srgbClr val="1F2F6B"/>
          </a:solidFill>
          <a:ln/>
        </p:spPr>
      </p:sp>
      <p:sp>
        <p:nvSpPr>
          <p:cNvPr id="32" name="!!bes4"/>
          <p:cNvSpPr/>
          <p:nvPr/>
        </p:nvSpPr>
        <p:spPr>
          <a:xfrm>
            <a:off x="1522476" y="4613148"/>
            <a:ext cx="118872" cy="118872"/>
          </a:xfrm>
          <a:prstGeom prst="ellipse">
            <a:avLst/>
          </a:prstGeom>
          <a:solidFill>
            <a:srgbClr val="1F2F6B"/>
          </a:solidFill>
          <a:ln/>
        </p:spPr>
      </p:sp>
      <p:sp>
        <p:nvSpPr>
          <p:cNvPr id="33" name="!!bec0"/>
          <p:cNvSpPr/>
          <p:nvPr/>
        </p:nvSpPr>
        <p:spPr>
          <a:xfrm>
            <a:off x="2820924" y="4080726"/>
            <a:ext cx="118872" cy="118872"/>
          </a:xfrm>
          <a:prstGeom prst="ellipse">
            <a:avLst/>
          </a:prstGeom>
          <a:solidFill>
            <a:srgbClr val="1F2F6B"/>
          </a:solidFill>
          <a:ln/>
        </p:spPr>
      </p:sp>
      <p:sp>
        <p:nvSpPr>
          <p:cNvPr id="34" name="!!bec1"/>
          <p:cNvSpPr/>
          <p:nvPr/>
        </p:nvSpPr>
        <p:spPr>
          <a:xfrm>
            <a:off x="2967228" y="4035756"/>
            <a:ext cx="118872" cy="118872"/>
          </a:xfrm>
          <a:prstGeom prst="ellipse">
            <a:avLst/>
          </a:prstGeom>
          <a:solidFill>
            <a:srgbClr val="1F2F6B"/>
          </a:solidFill>
          <a:ln/>
        </p:spPr>
      </p:sp>
      <p:sp>
        <p:nvSpPr>
          <p:cNvPr id="35" name="!!bec2"/>
          <p:cNvSpPr/>
          <p:nvPr/>
        </p:nvSpPr>
        <p:spPr>
          <a:xfrm>
            <a:off x="1220724" y="4613148"/>
            <a:ext cx="118872" cy="118872"/>
          </a:xfrm>
          <a:prstGeom prst="ellipse">
            <a:avLst/>
          </a:prstGeom>
          <a:solidFill>
            <a:srgbClr val="1F2F6B"/>
          </a:solidFill>
          <a:ln/>
        </p:spPr>
      </p:sp>
      <p:sp>
        <p:nvSpPr>
          <p:cNvPr id="36" name="!!bec3"/>
          <p:cNvSpPr/>
          <p:nvPr/>
        </p:nvSpPr>
        <p:spPr>
          <a:xfrm>
            <a:off x="1421892" y="4613148"/>
            <a:ext cx="118872" cy="118872"/>
          </a:xfrm>
          <a:prstGeom prst="ellipse">
            <a:avLst/>
          </a:prstGeom>
          <a:solidFill>
            <a:srgbClr val="1F2F6B"/>
          </a:solidFill>
          <a:ln/>
        </p:spPr>
      </p:sp>
      <p:sp>
        <p:nvSpPr>
          <p:cNvPr id="37" name="!!bec4"/>
          <p:cNvSpPr/>
          <p:nvPr/>
        </p:nvSpPr>
        <p:spPr>
          <a:xfrm>
            <a:off x="818388" y="4613148"/>
            <a:ext cx="118872" cy="118872"/>
          </a:xfrm>
          <a:prstGeom prst="ellipse">
            <a:avLst/>
          </a:prstGeom>
          <a:solidFill>
            <a:srgbClr val="1F2F6B"/>
          </a:solidFill>
          <a:ln/>
        </p:spPr>
      </p:sp>
      <p:sp>
        <p:nvSpPr>
          <p:cNvPr id="38" name="!!bec5"/>
          <p:cNvSpPr/>
          <p:nvPr/>
        </p:nvSpPr>
        <p:spPr>
          <a:xfrm>
            <a:off x="1019556" y="4613148"/>
            <a:ext cx="118872" cy="118872"/>
          </a:xfrm>
          <a:prstGeom prst="ellipse">
            <a:avLst/>
          </a:prstGeom>
          <a:solidFill>
            <a:srgbClr val="1F2F6B"/>
          </a:solidFill>
          <a:ln/>
        </p:spPr>
      </p:sp>
      <p:sp>
        <p:nvSpPr>
          <p:cNvPr id="39" name="!!bTop"/>
          <p:cNvSpPr/>
          <p:nvPr/>
        </p:nvSpPr>
        <p:spPr>
          <a:xfrm>
            <a:off x="640080" y="4133088"/>
            <a:ext cx="5120640" cy="91"/>
          </a:xfrm>
          <a:prstGeom prst="line">
            <a:avLst/>
          </a:prstGeom>
          <a:noFill/>
          <a:ln w="9525">
            <a:solidFill>
              <a:srgbClr val="8A8D93"/>
            </a:solidFill>
            <a:prstDash val="dash"/>
          </a:ln>
        </p:spPr>
      </p:sp>
      <p:sp>
        <p:nvSpPr>
          <p:cNvPr id="40" name="!!bTopL"/>
          <p:cNvSpPr txBox="1"/>
          <p:nvPr/>
        </p:nvSpPr>
        <p:spPr>
          <a:xfrm>
            <a:off x="4206240" y="3904488"/>
            <a:ext cx="1554480" cy="201168"/>
          </a:xfrm>
          <a:prstGeom prst="rect">
            <a:avLst/>
          </a:prstGeom>
          <a:noFill/>
          <a:ln/>
        </p:spPr>
        <p:txBody>
          <a:bodyPr wrap="square" lIns="0" tIns="0" rIns="0" bIns="0" rtlCol="0" anchor="t"/>
          <a:lstStyle/>
          <a:p>
            <a:pPr algn="r" indent="0" marL="0">
              <a:buNone/>
            </a:pPr>
            <a:r>
              <a:rPr lang="en-US" sz="900" dirty="0">
                <a:solidFill>
                  <a:srgbClr val="8A8D93"/>
                </a:solidFill>
                <a:latin typeface="Segoe UI" pitchFamily="34" charset="0"/>
                <a:ea typeface="Segoe UI" pitchFamily="34" charset="-122"/>
                <a:cs typeface="Segoe UI" pitchFamily="34" charset="-120"/>
              </a:rPr>
              <a:t>long-channel hill top</a:t>
            </a:r>
            <a:endParaRPr lang="en-US" sz="900" dirty="0"/>
          </a:p>
        </p:txBody>
      </p:sp>
      <p:sp>
        <p:nvSpPr>
          <p:cNvPr id="41" name="!!axg0"/>
          <p:cNvSpPr/>
          <p:nvPr/>
        </p:nvSpPr>
        <p:spPr>
          <a:xfrm>
            <a:off x="7315200" y="3931920"/>
            <a:ext cx="4206240" cy="91"/>
          </a:xfrm>
          <a:prstGeom prst="line">
            <a:avLst/>
          </a:prstGeom>
          <a:noFill/>
          <a:ln w="9525">
            <a:solidFill>
              <a:srgbClr val="EDEEF0"/>
            </a:solidFill>
            <a:prstDash val="solid"/>
          </a:ln>
        </p:spPr>
      </p:sp>
      <p:sp>
        <p:nvSpPr>
          <p:cNvPr id="42" name="!!axg1"/>
          <p:cNvSpPr/>
          <p:nvPr/>
        </p:nvSpPr>
        <p:spPr>
          <a:xfrm>
            <a:off x="7315200" y="3465576"/>
            <a:ext cx="4206240" cy="91"/>
          </a:xfrm>
          <a:prstGeom prst="line">
            <a:avLst/>
          </a:prstGeom>
          <a:noFill/>
          <a:ln w="9525">
            <a:solidFill>
              <a:srgbClr val="EDEEF0"/>
            </a:solidFill>
            <a:prstDash val="solid"/>
          </a:ln>
        </p:spPr>
      </p:sp>
      <p:sp>
        <p:nvSpPr>
          <p:cNvPr id="43" name="!!axg2"/>
          <p:cNvSpPr/>
          <p:nvPr/>
        </p:nvSpPr>
        <p:spPr>
          <a:xfrm>
            <a:off x="7315200" y="2999232"/>
            <a:ext cx="4206240" cy="91"/>
          </a:xfrm>
          <a:prstGeom prst="line">
            <a:avLst/>
          </a:prstGeom>
          <a:noFill/>
          <a:ln w="9525">
            <a:solidFill>
              <a:srgbClr val="EDEEF0"/>
            </a:solidFill>
            <a:prstDash val="solid"/>
          </a:ln>
        </p:spPr>
      </p:sp>
      <p:sp>
        <p:nvSpPr>
          <p:cNvPr id="44" name="!!axg3"/>
          <p:cNvSpPr/>
          <p:nvPr/>
        </p:nvSpPr>
        <p:spPr>
          <a:xfrm>
            <a:off x="7315200" y="2532888"/>
            <a:ext cx="4206240" cy="91"/>
          </a:xfrm>
          <a:prstGeom prst="line">
            <a:avLst/>
          </a:prstGeom>
          <a:noFill/>
          <a:ln w="9525">
            <a:solidFill>
              <a:srgbClr val="EDEEF0"/>
            </a:solidFill>
            <a:prstDash val="solid"/>
          </a:ln>
        </p:spPr>
      </p:sp>
      <p:sp>
        <p:nvSpPr>
          <p:cNvPr id="45" name="!!axg4"/>
          <p:cNvSpPr/>
          <p:nvPr/>
        </p:nvSpPr>
        <p:spPr>
          <a:xfrm>
            <a:off x="7315200" y="2066544"/>
            <a:ext cx="4206240" cy="91"/>
          </a:xfrm>
          <a:prstGeom prst="line">
            <a:avLst/>
          </a:prstGeom>
          <a:noFill/>
          <a:ln w="9525">
            <a:solidFill>
              <a:srgbClr val="EDEEF0"/>
            </a:solidFill>
            <a:prstDash val="solid"/>
          </a:ln>
        </p:spPr>
      </p:sp>
      <p:sp>
        <p:nvSpPr>
          <p:cNvPr id="46" name="!!axg5"/>
          <p:cNvSpPr/>
          <p:nvPr/>
        </p:nvSpPr>
        <p:spPr>
          <a:xfrm>
            <a:off x="7315200" y="1600200"/>
            <a:ext cx="4206240" cy="91"/>
          </a:xfrm>
          <a:prstGeom prst="line">
            <a:avLst/>
          </a:prstGeom>
          <a:noFill/>
          <a:ln w="9525">
            <a:solidFill>
              <a:srgbClr val="EDEEF0"/>
            </a:solidFill>
            <a:prstDash val="solid"/>
          </a:ln>
        </p:spPr>
      </p:sp>
      <p:sp>
        <p:nvSpPr>
          <p:cNvPr id="47" name="!!axxa"/>
          <p:cNvSpPr/>
          <p:nvPr/>
        </p:nvSpPr>
        <p:spPr>
          <a:xfrm>
            <a:off x="7315200" y="3931920"/>
            <a:ext cx="4206240" cy="91"/>
          </a:xfrm>
          <a:prstGeom prst="line">
            <a:avLst/>
          </a:prstGeom>
          <a:noFill/>
          <a:ln w="12700">
            <a:solidFill>
              <a:srgbClr val="8A8D93"/>
            </a:solidFill>
            <a:prstDash val="solid"/>
          </a:ln>
        </p:spPr>
      </p:sp>
      <p:sp>
        <p:nvSpPr>
          <p:cNvPr id="48" name="!!axya"/>
          <p:cNvSpPr/>
          <p:nvPr/>
        </p:nvSpPr>
        <p:spPr>
          <a:xfrm>
            <a:off x="7315200" y="1600200"/>
            <a:ext cx="91" cy="2331720"/>
          </a:xfrm>
          <a:prstGeom prst="line">
            <a:avLst/>
          </a:prstGeom>
          <a:noFill/>
          <a:ln w="12700">
            <a:solidFill>
              <a:srgbClr val="8A8D93"/>
            </a:solidFill>
            <a:prstDash val="solid"/>
          </a:ln>
        </p:spPr>
      </p:sp>
      <p:sp>
        <p:nvSpPr>
          <p:cNvPr id="49" name="!!axxt0"/>
          <p:cNvSpPr txBox="1"/>
          <p:nvPr/>
        </p:nvSpPr>
        <p:spPr>
          <a:xfrm>
            <a:off x="699516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50" name="!!axxt1"/>
          <p:cNvSpPr txBox="1"/>
          <p:nvPr/>
        </p:nvSpPr>
        <p:spPr>
          <a:xfrm>
            <a:off x="7836408"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51" name="!!axxt2"/>
          <p:cNvSpPr txBox="1"/>
          <p:nvPr/>
        </p:nvSpPr>
        <p:spPr>
          <a:xfrm>
            <a:off x="8677656"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30</a:t>
            </a:r>
            <a:endParaRPr lang="en-US" sz="900" dirty="0"/>
          </a:p>
        </p:txBody>
      </p:sp>
      <p:sp>
        <p:nvSpPr>
          <p:cNvPr id="52" name="!!axxt3"/>
          <p:cNvSpPr txBox="1"/>
          <p:nvPr/>
        </p:nvSpPr>
        <p:spPr>
          <a:xfrm>
            <a:off x="9518904"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40</a:t>
            </a:r>
            <a:endParaRPr lang="en-US" sz="900" dirty="0"/>
          </a:p>
        </p:txBody>
      </p:sp>
      <p:sp>
        <p:nvSpPr>
          <p:cNvPr id="53" name="!!axxt4"/>
          <p:cNvSpPr txBox="1"/>
          <p:nvPr/>
        </p:nvSpPr>
        <p:spPr>
          <a:xfrm>
            <a:off x="10360152"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50</a:t>
            </a:r>
            <a:endParaRPr lang="en-US" sz="900" dirty="0"/>
          </a:p>
        </p:txBody>
      </p:sp>
      <p:sp>
        <p:nvSpPr>
          <p:cNvPr id="54" name="!!axxt5"/>
          <p:cNvSpPr txBox="1"/>
          <p:nvPr/>
        </p:nvSpPr>
        <p:spPr>
          <a:xfrm>
            <a:off x="1120140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60</a:t>
            </a:r>
            <a:endParaRPr lang="en-US" sz="900" dirty="0"/>
          </a:p>
        </p:txBody>
      </p:sp>
      <p:sp>
        <p:nvSpPr>
          <p:cNvPr id="55" name="!!axyt0"/>
          <p:cNvSpPr txBox="1"/>
          <p:nvPr/>
        </p:nvSpPr>
        <p:spPr>
          <a:xfrm>
            <a:off x="6629400" y="3831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56" name="!!axyt1"/>
          <p:cNvSpPr txBox="1"/>
          <p:nvPr/>
        </p:nvSpPr>
        <p:spPr>
          <a:xfrm>
            <a:off x="6629400" y="336499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57" name="!!axyt2"/>
          <p:cNvSpPr txBox="1"/>
          <p:nvPr/>
        </p:nvSpPr>
        <p:spPr>
          <a:xfrm>
            <a:off x="6629400" y="2898648"/>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0.0</a:t>
            </a:r>
            <a:endParaRPr lang="en-US" sz="900" dirty="0"/>
          </a:p>
        </p:txBody>
      </p:sp>
      <p:sp>
        <p:nvSpPr>
          <p:cNvPr id="58" name="!!axyt3"/>
          <p:cNvSpPr txBox="1"/>
          <p:nvPr/>
        </p:nvSpPr>
        <p:spPr>
          <a:xfrm>
            <a:off x="6629400" y="2432304"/>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59" name="!!axyt4"/>
          <p:cNvSpPr txBox="1"/>
          <p:nvPr/>
        </p:nvSpPr>
        <p:spPr>
          <a:xfrm>
            <a:off x="6629400" y="196596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60" name="!!axyt5"/>
          <p:cNvSpPr txBox="1"/>
          <p:nvPr/>
        </p:nvSpPr>
        <p:spPr>
          <a:xfrm>
            <a:off x="6629400" y="14996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61" name="!!axxl"/>
          <p:cNvSpPr txBox="1"/>
          <p:nvPr/>
        </p:nvSpPr>
        <p:spPr>
          <a:xfrm>
            <a:off x="7315200" y="420624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length L</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(nm)</a:t>
            </a:r>
            <a:endParaRPr lang="en-US" sz="1100" dirty="0"/>
          </a:p>
        </p:txBody>
      </p:sp>
      <p:sp>
        <p:nvSpPr>
          <p:cNvPr id="62" name="!!axyl"/>
          <p:cNvSpPr txBox="1"/>
          <p:nvPr/>
        </p:nvSpPr>
        <p:spPr>
          <a:xfrm>
            <a:off x="713232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threshold voltage V</a:t>
            </a:r>
            <a:pPr algn="l" indent="0" marL="0">
              <a:buNone/>
            </a:pPr>
            <a:r>
              <a:rPr lang="en-US" sz="1100" baseline="-40000" dirty="0">
                <a:solidFill>
                  <a:srgbClr val="5C5E62"/>
                </a:solidFill>
                <a:latin typeface="Segoe UI" pitchFamily="34" charset="0"/>
                <a:ea typeface="Segoe UI" pitchFamily="34" charset="-122"/>
                <a:cs typeface="Segoe UI" pitchFamily="34" charset="-120"/>
              </a:rPr>
              <a:t>T</a:t>
            </a:r>
            <a:pPr algn="l"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63" name="!!vtLo"/>
          <p:cNvSpPr/>
          <p:nvPr/>
        </p:nvSpPr>
        <p:spPr>
          <a:xfrm>
            <a:off x="7315200" y="1838483"/>
            <a:ext cx="4206240" cy="1554411"/>
          </a:xfrm>
          <a:custGeom>
            <a:avLst/>
            <a:gdLst/>
            <a:ahLst/>
            <a:cxnLst/>
            <a:rect l="l" t="t" r="r" b="b"/>
            <a:pathLst>
              <a:path w="4206240" h="1554411">
                <a:moveTo>
                  <a:pt x="0" y="1554411"/>
                </a:moveTo>
                <a:lnTo>
                  <a:pt x="107852" y="1341635"/>
                </a:lnTo>
                <a:lnTo>
                  <a:pt x="215705" y="1157890"/>
                </a:lnTo>
                <a:lnTo>
                  <a:pt x="323557" y="999214"/>
                </a:lnTo>
                <a:lnTo>
                  <a:pt x="431409" y="862188"/>
                </a:lnTo>
                <a:lnTo>
                  <a:pt x="539262" y="743857"/>
                </a:lnTo>
                <a:lnTo>
                  <a:pt x="647114" y="641670"/>
                </a:lnTo>
                <a:lnTo>
                  <a:pt x="754966" y="553426"/>
                </a:lnTo>
                <a:lnTo>
                  <a:pt x="862818" y="477221"/>
                </a:lnTo>
                <a:lnTo>
                  <a:pt x="970671" y="411413"/>
                </a:lnTo>
                <a:lnTo>
                  <a:pt x="1078523" y="354584"/>
                </a:lnTo>
                <a:lnTo>
                  <a:pt x="1186375" y="305509"/>
                </a:lnTo>
                <a:lnTo>
                  <a:pt x="1294228" y="263129"/>
                </a:lnTo>
                <a:lnTo>
                  <a:pt x="1402080" y="226531"/>
                </a:lnTo>
                <a:lnTo>
                  <a:pt x="1509932" y="194927"/>
                </a:lnTo>
                <a:lnTo>
                  <a:pt x="1617785" y="167635"/>
                </a:lnTo>
                <a:lnTo>
                  <a:pt x="1725637" y="144066"/>
                </a:lnTo>
                <a:lnTo>
                  <a:pt x="1833489" y="123713"/>
                </a:lnTo>
                <a:lnTo>
                  <a:pt x="1941342" y="106137"/>
                </a:lnTo>
                <a:lnTo>
                  <a:pt x="2049194" y="90958"/>
                </a:lnTo>
                <a:lnTo>
                  <a:pt x="2157046" y="77851"/>
                </a:lnTo>
                <a:lnTo>
                  <a:pt x="2264898" y="66532"/>
                </a:lnTo>
                <a:lnTo>
                  <a:pt x="2372751" y="56757"/>
                </a:lnTo>
                <a:lnTo>
                  <a:pt x="2480603" y="48316"/>
                </a:lnTo>
                <a:lnTo>
                  <a:pt x="2588455" y="41027"/>
                </a:lnTo>
                <a:lnTo>
                  <a:pt x="2696308" y="34732"/>
                </a:lnTo>
                <a:lnTo>
                  <a:pt x="2804160" y="29296"/>
                </a:lnTo>
                <a:lnTo>
                  <a:pt x="2912012" y="24602"/>
                </a:lnTo>
                <a:lnTo>
                  <a:pt x="3019865" y="20548"/>
                </a:lnTo>
                <a:lnTo>
                  <a:pt x="3127717" y="17047"/>
                </a:lnTo>
                <a:lnTo>
                  <a:pt x="3235569" y="14024"/>
                </a:lnTo>
                <a:lnTo>
                  <a:pt x="3343422" y="11413"/>
                </a:lnTo>
                <a:lnTo>
                  <a:pt x="3451274" y="9159"/>
                </a:lnTo>
                <a:lnTo>
                  <a:pt x="3559126" y="7212"/>
                </a:lnTo>
                <a:lnTo>
                  <a:pt x="3666978" y="5531"/>
                </a:lnTo>
                <a:lnTo>
                  <a:pt x="3774831" y="4079"/>
                </a:lnTo>
                <a:lnTo>
                  <a:pt x="3882683" y="2825"/>
                </a:lnTo>
                <a:lnTo>
                  <a:pt x="3990535" y="1742"/>
                </a:lnTo>
                <a:lnTo>
                  <a:pt x="4098388" y="807"/>
                </a:lnTo>
                <a:lnTo>
                  <a:pt x="4206240" y="0"/>
                </a:lnTo>
              </a:path>
            </a:pathLst>
          </a:custGeom>
          <a:ln w="28575">
            <a:solidFill>
              <a:srgbClr val="11998E"/>
            </a:solidFill>
            <a:prstDash val="solid"/>
          </a:ln>
        </p:spPr>
      </p:sp>
      <p:sp>
        <p:nvSpPr>
          <p:cNvPr id="64" name="!!vtHi"/>
          <p:cNvSpPr/>
          <p:nvPr/>
        </p:nvSpPr>
        <p:spPr>
          <a:xfrm>
            <a:off x="7315200" y="1841646"/>
            <a:ext cx="4206240" cy="2516665"/>
          </a:xfrm>
          <a:custGeom>
            <a:avLst/>
            <a:gdLst/>
            <a:ahLst/>
            <a:cxnLst/>
            <a:rect l="l" t="t" r="r" b="b"/>
            <a:pathLst>
              <a:path w="4206240" h="2516665">
                <a:moveTo>
                  <a:pt x="0" y="2516665"/>
                </a:moveTo>
                <a:lnTo>
                  <a:pt x="107852" y="2172171"/>
                </a:lnTo>
                <a:lnTo>
                  <a:pt x="215705" y="1874679"/>
                </a:lnTo>
                <a:lnTo>
                  <a:pt x="323557" y="1617775"/>
                </a:lnTo>
                <a:lnTo>
                  <a:pt x="431409" y="1395923"/>
                </a:lnTo>
                <a:lnTo>
                  <a:pt x="539262" y="1204339"/>
                </a:lnTo>
                <a:lnTo>
                  <a:pt x="647114" y="1038895"/>
                </a:lnTo>
                <a:lnTo>
                  <a:pt x="754966" y="896023"/>
                </a:lnTo>
                <a:lnTo>
                  <a:pt x="862818" y="772643"/>
                </a:lnTo>
                <a:lnTo>
                  <a:pt x="970671" y="666098"/>
                </a:lnTo>
                <a:lnTo>
                  <a:pt x="1078523" y="574089"/>
                </a:lnTo>
                <a:lnTo>
                  <a:pt x="1186375" y="494633"/>
                </a:lnTo>
                <a:lnTo>
                  <a:pt x="1294228" y="426018"/>
                </a:lnTo>
                <a:lnTo>
                  <a:pt x="1402080" y="366765"/>
                </a:lnTo>
                <a:lnTo>
                  <a:pt x="1509932" y="315596"/>
                </a:lnTo>
                <a:lnTo>
                  <a:pt x="1617785" y="271408"/>
                </a:lnTo>
                <a:lnTo>
                  <a:pt x="1725637" y="233249"/>
                </a:lnTo>
                <a:lnTo>
                  <a:pt x="1833489" y="200297"/>
                </a:lnTo>
                <a:lnTo>
                  <a:pt x="1941342" y="171840"/>
                </a:lnTo>
                <a:lnTo>
                  <a:pt x="2049194" y="147266"/>
                </a:lnTo>
                <a:lnTo>
                  <a:pt x="2157046" y="126045"/>
                </a:lnTo>
                <a:lnTo>
                  <a:pt x="2264898" y="107719"/>
                </a:lnTo>
                <a:lnTo>
                  <a:pt x="2372751" y="91893"/>
                </a:lnTo>
                <a:lnTo>
                  <a:pt x="2480603" y="78226"/>
                </a:lnTo>
                <a:lnTo>
                  <a:pt x="2588455" y="66425"/>
                </a:lnTo>
                <a:lnTo>
                  <a:pt x="2696308" y="56233"/>
                </a:lnTo>
                <a:lnTo>
                  <a:pt x="2804160" y="47432"/>
                </a:lnTo>
                <a:lnTo>
                  <a:pt x="2912012" y="39832"/>
                </a:lnTo>
                <a:lnTo>
                  <a:pt x="3019865" y="33268"/>
                </a:lnTo>
                <a:lnTo>
                  <a:pt x="3127717" y="27600"/>
                </a:lnTo>
                <a:lnTo>
                  <a:pt x="3235569" y="22706"/>
                </a:lnTo>
                <a:lnTo>
                  <a:pt x="3343422" y="18479"/>
                </a:lnTo>
                <a:lnTo>
                  <a:pt x="3451274" y="14829"/>
                </a:lnTo>
                <a:lnTo>
                  <a:pt x="3559126" y="11677"/>
                </a:lnTo>
                <a:lnTo>
                  <a:pt x="3666978" y="8955"/>
                </a:lnTo>
                <a:lnTo>
                  <a:pt x="3774831" y="6604"/>
                </a:lnTo>
                <a:lnTo>
                  <a:pt x="3882683" y="4574"/>
                </a:lnTo>
                <a:lnTo>
                  <a:pt x="3990535" y="2821"/>
                </a:lnTo>
                <a:lnTo>
                  <a:pt x="4098388" y="1307"/>
                </a:lnTo>
                <a:lnTo>
                  <a:pt x="4206240" y="0"/>
                </a:lnTo>
              </a:path>
            </a:pathLst>
          </a:custGeom>
          <a:ln w="28575">
            <a:solidFill>
              <a:srgbClr val="D64545"/>
            </a:solidFill>
            <a:prstDash val="solid"/>
          </a:ln>
        </p:spPr>
      </p:sp>
      <p:sp>
        <p:nvSpPr>
          <p:cNvPr id="65" name="!!vtLoL"/>
          <p:cNvSpPr txBox="1"/>
          <p:nvPr/>
        </p:nvSpPr>
        <p:spPr>
          <a:xfrm>
            <a:off x="10175443" y="1540764"/>
            <a:ext cx="1097280" cy="201168"/>
          </a:xfrm>
          <a:prstGeom prst="rect">
            <a:avLst/>
          </a:prstGeom>
          <a:noFill/>
          <a:ln/>
        </p:spPr>
        <p:txBody>
          <a:bodyPr wrap="square" lIns="0" tIns="0" rIns="0" bIns="0" rtlCol="0" anchor="t"/>
          <a:lstStyle/>
          <a:p>
            <a:pPr algn="l" indent="0" marL="0">
              <a:buNone/>
            </a:pPr>
            <a:r>
              <a:rPr lang="en-US" sz="1000" dirty="0">
                <a:solidFill>
                  <a:srgbClr val="11998E"/>
                </a:solidFill>
                <a:latin typeface="Segoe UI Semibold" pitchFamily="34" charset="0"/>
                <a:ea typeface="Segoe UI Semibold" pitchFamily="34" charset="-122"/>
                <a:cs typeface="Segoe UI Semibold" pitchFamily="34" charset="-120"/>
              </a:rPr>
              <a:t>V</a:t>
            </a:r>
            <a:pPr algn="l" indent="0" marL="0">
              <a:buNone/>
            </a:pPr>
            <a:r>
              <a:rPr lang="en-US" sz="1000" baseline="-40000" dirty="0">
                <a:solidFill>
                  <a:srgbClr val="11998E"/>
                </a:solidFill>
                <a:latin typeface="Segoe UI Semibold" pitchFamily="34" charset="0"/>
                <a:ea typeface="Segoe UI Semibold" pitchFamily="34" charset="-122"/>
                <a:cs typeface="Segoe UI Semibold" pitchFamily="34" charset="-120"/>
              </a:rPr>
              <a:t>D</a:t>
            </a:r>
            <a:pPr algn="l" indent="0" marL="0">
              <a:buNone/>
            </a:pPr>
            <a:r>
              <a:rPr lang="en-US" sz="1000" dirty="0">
                <a:solidFill>
                  <a:srgbClr val="11998E"/>
                </a:solidFill>
                <a:latin typeface="Segoe UI Semibold" pitchFamily="34" charset="0"/>
                <a:ea typeface="Segoe UI Semibold" pitchFamily="34" charset="-122"/>
                <a:cs typeface="Segoe UI Semibold" pitchFamily="34" charset="-120"/>
              </a:rPr>
              <a:t> = 0.05 V</a:t>
            </a:r>
            <a:endParaRPr lang="en-US" sz="1000" dirty="0"/>
          </a:p>
        </p:txBody>
      </p:sp>
      <p:sp>
        <p:nvSpPr>
          <p:cNvPr id="66" name="!!vtHiL"/>
          <p:cNvSpPr txBox="1"/>
          <p:nvPr/>
        </p:nvSpPr>
        <p:spPr>
          <a:xfrm>
            <a:off x="10175443" y="1943100"/>
            <a:ext cx="1097280" cy="201168"/>
          </a:xfrm>
          <a:prstGeom prst="rect">
            <a:avLst/>
          </a:prstGeom>
          <a:noFill/>
          <a:ln/>
        </p:spPr>
        <p:txBody>
          <a:bodyPr wrap="square" lIns="0" tIns="0" rIns="0" bIns="0" rtlCol="0" anchor="t"/>
          <a:lstStyle/>
          <a:p>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V</a:t>
            </a:r>
            <a:pPr algn="l" indent="0" marL="0">
              <a:buNone/>
            </a:pPr>
            <a:r>
              <a:rPr lang="en-US" sz="1000" baseline="-40000" dirty="0">
                <a:solidFill>
                  <a:srgbClr val="D64545"/>
                </a:solidFill>
                <a:latin typeface="Segoe UI Semibold" pitchFamily="34" charset="0"/>
                <a:ea typeface="Segoe UI Semibold" pitchFamily="34" charset="-122"/>
                <a:cs typeface="Segoe UI Semibold" pitchFamily="34" charset="-120"/>
              </a:rPr>
              <a:t>D</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 0.7 V</a:t>
            </a:r>
            <a:endParaRPr lang="en-US" sz="1000" dirty="0"/>
          </a:p>
        </p:txBody>
      </p:sp>
      <p:sp>
        <p:nvSpPr>
          <p:cNvPr id="67" name="!!vtGap"/>
          <p:cNvSpPr/>
          <p:nvPr/>
        </p:nvSpPr>
        <p:spPr>
          <a:xfrm>
            <a:off x="8156448" y="2330064"/>
            <a:ext cx="91" cy="307476"/>
          </a:xfrm>
          <a:prstGeom prst="line">
            <a:avLst/>
          </a:prstGeom>
          <a:noFill/>
          <a:ln w="25400">
            <a:solidFill>
              <a:srgbClr val="6B5BC4"/>
            </a:solidFill>
            <a:prstDash val="solid"/>
          </a:ln>
        </p:spPr>
      </p:sp>
      <p:sp>
        <p:nvSpPr>
          <p:cNvPr id="68" name="!!vtPtLo"/>
          <p:cNvSpPr/>
          <p:nvPr/>
        </p:nvSpPr>
        <p:spPr>
          <a:xfrm>
            <a:off x="8083296" y="2256912"/>
            <a:ext cx="146304" cy="146304"/>
          </a:xfrm>
          <a:prstGeom prst="ellipse">
            <a:avLst/>
          </a:prstGeom>
          <a:solidFill>
            <a:srgbClr val="11998E"/>
          </a:solidFill>
          <a:ln w="19050">
            <a:solidFill>
              <a:srgbClr val="FFFFFF"/>
            </a:solidFill>
            <a:prstDash val="solid"/>
          </a:ln>
        </p:spPr>
      </p:sp>
      <p:sp>
        <p:nvSpPr>
          <p:cNvPr id="69" name="!!vtPtHi"/>
          <p:cNvSpPr/>
          <p:nvPr/>
        </p:nvSpPr>
        <p:spPr>
          <a:xfrm>
            <a:off x="8083296" y="2564387"/>
            <a:ext cx="146304" cy="146304"/>
          </a:xfrm>
          <a:prstGeom prst="ellipse">
            <a:avLst/>
          </a:prstGeom>
          <a:solidFill>
            <a:srgbClr val="D64545"/>
          </a:solidFill>
          <a:ln w="19050">
            <a:solidFill>
              <a:srgbClr val="FFFFFF"/>
            </a:solidFill>
            <a:prstDash val="solid"/>
          </a:ln>
        </p:spPr>
      </p:sp>
      <p:sp>
        <p:nvSpPr>
          <p:cNvPr id="70" name="!!chip0"/>
          <p:cNvSpPr/>
          <p:nvPr/>
        </p:nvSpPr>
        <p:spPr>
          <a:xfrm>
            <a:off x="6858000" y="4434840"/>
            <a:ext cx="1508760" cy="658368"/>
          </a:xfrm>
          <a:prstGeom prst="roundRect">
            <a:avLst>
              <a:gd name="adj" fmla="val 8333"/>
            </a:avLst>
          </a:prstGeom>
          <a:solidFill>
            <a:srgbClr val="F4F5F7"/>
          </a:solidFill>
          <a:ln/>
        </p:spPr>
      </p:sp>
      <p:sp>
        <p:nvSpPr>
          <p:cNvPr id="71" name="!!chipk0"/>
          <p:cNvSpPr txBox="1"/>
          <p:nvPr/>
        </p:nvSpPr>
        <p:spPr>
          <a:xfrm>
            <a:off x="6967728"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a:t>
            </a:r>
            <a:pPr algn="l" indent="0" marL="0">
              <a:buNone/>
            </a:pPr>
            <a:r>
              <a:rPr lang="en-US" sz="1000" baseline="-40000" dirty="0">
                <a:solidFill>
                  <a:srgbClr val="5C5E62"/>
                </a:solidFill>
                <a:latin typeface="Segoe UI" pitchFamily="34" charset="0"/>
                <a:ea typeface="Segoe UI" pitchFamily="34" charset="-122"/>
                <a:cs typeface="Segoe UI" pitchFamily="34" charset="-120"/>
              </a:rPr>
              <a:t>T</a:t>
            </a:r>
            <a:pPr algn="l" indent="0" marL="0">
              <a:buNone/>
            </a:pPr>
            <a:r>
              <a:rPr lang="en-US" sz="1000" dirty="0">
                <a:solidFill>
                  <a:srgbClr val="5C5E62"/>
                </a:solidFill>
                <a:latin typeface="Segoe UI" pitchFamily="34" charset="0"/>
                <a:ea typeface="Segoe UI" pitchFamily="34" charset="-122"/>
                <a:cs typeface="Segoe UI" pitchFamily="34" charset="-120"/>
              </a:rPr>
              <a:t> (V</a:t>
            </a:r>
            <a:pPr algn="l" indent="0" marL="0">
              <a:buNone/>
            </a:pPr>
            <a:r>
              <a:rPr lang="en-US" sz="1000" baseline="-40000" dirty="0">
                <a:solidFill>
                  <a:srgbClr val="5C5E62"/>
                </a:solidFill>
                <a:latin typeface="Segoe UI" pitchFamily="34" charset="0"/>
                <a:ea typeface="Segoe UI" pitchFamily="34" charset="-122"/>
                <a:cs typeface="Segoe UI" pitchFamily="34" charset="-120"/>
              </a:rPr>
              <a:t>D</a:t>
            </a:r>
            <a:pPr algn="l" indent="0" marL="0">
              <a:buNone/>
            </a:pPr>
            <a:r>
              <a:rPr lang="en-US" sz="1000" dirty="0">
                <a:solidFill>
                  <a:srgbClr val="5C5E62"/>
                </a:solidFill>
                <a:latin typeface="Segoe UI" pitchFamily="34" charset="0"/>
                <a:ea typeface="Segoe UI" pitchFamily="34" charset="-122"/>
                <a:cs typeface="Segoe UI" pitchFamily="34" charset="-120"/>
              </a:rPr>
              <a:t> = 0.05 V)</a:t>
            </a:r>
            <a:endParaRPr lang="en-US" sz="1000" dirty="0"/>
          </a:p>
        </p:txBody>
      </p:sp>
      <p:sp>
        <p:nvSpPr>
          <p:cNvPr id="72" name="!!chipv0"/>
          <p:cNvSpPr txBox="1"/>
          <p:nvPr/>
        </p:nvSpPr>
        <p:spPr>
          <a:xfrm>
            <a:off x="6967728"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0.14 V</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73" name="!!chip1"/>
          <p:cNvSpPr/>
          <p:nvPr/>
        </p:nvSpPr>
        <p:spPr>
          <a:xfrm>
            <a:off x="8476488" y="4434840"/>
            <a:ext cx="1508760" cy="658368"/>
          </a:xfrm>
          <a:prstGeom prst="roundRect">
            <a:avLst>
              <a:gd name="adj" fmla="val 8333"/>
            </a:avLst>
          </a:prstGeom>
          <a:solidFill>
            <a:srgbClr val="F4F5F7"/>
          </a:solidFill>
          <a:ln/>
        </p:spPr>
      </p:sp>
      <p:sp>
        <p:nvSpPr>
          <p:cNvPr id="74" name="!!chipk1"/>
          <p:cNvSpPr txBox="1"/>
          <p:nvPr/>
        </p:nvSpPr>
        <p:spPr>
          <a:xfrm>
            <a:off x="8586216"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a:t>
            </a:r>
            <a:pPr algn="l" indent="0" marL="0">
              <a:buNone/>
            </a:pPr>
            <a:r>
              <a:rPr lang="en-US" sz="1000" baseline="-40000" dirty="0">
                <a:solidFill>
                  <a:srgbClr val="5C5E62"/>
                </a:solidFill>
                <a:latin typeface="Segoe UI" pitchFamily="34" charset="0"/>
                <a:ea typeface="Segoe UI" pitchFamily="34" charset="-122"/>
                <a:cs typeface="Segoe UI" pitchFamily="34" charset="-120"/>
              </a:rPr>
              <a:t>T</a:t>
            </a:r>
            <a:pPr algn="l" indent="0" marL="0">
              <a:buNone/>
            </a:pPr>
            <a:r>
              <a:rPr lang="en-US" sz="1000" dirty="0">
                <a:solidFill>
                  <a:srgbClr val="5C5E62"/>
                </a:solidFill>
                <a:latin typeface="Segoe UI" pitchFamily="34" charset="0"/>
                <a:ea typeface="Segoe UI" pitchFamily="34" charset="-122"/>
                <a:cs typeface="Segoe UI" pitchFamily="34" charset="-120"/>
              </a:rPr>
              <a:t> (V</a:t>
            </a:r>
            <a:pPr algn="l" indent="0" marL="0">
              <a:buNone/>
            </a:pPr>
            <a:r>
              <a:rPr lang="en-US" sz="1000" baseline="-40000" dirty="0">
                <a:solidFill>
                  <a:srgbClr val="5C5E62"/>
                </a:solidFill>
                <a:latin typeface="Segoe UI" pitchFamily="34" charset="0"/>
                <a:ea typeface="Segoe UI" pitchFamily="34" charset="-122"/>
                <a:cs typeface="Segoe UI" pitchFamily="34" charset="-120"/>
              </a:rPr>
              <a:t>D</a:t>
            </a:r>
            <a:pPr algn="l" indent="0" marL="0">
              <a:buNone/>
            </a:pPr>
            <a:r>
              <a:rPr lang="en-US" sz="1000" dirty="0">
                <a:solidFill>
                  <a:srgbClr val="5C5E62"/>
                </a:solidFill>
                <a:latin typeface="Segoe UI" pitchFamily="34" charset="0"/>
                <a:ea typeface="Segoe UI" pitchFamily="34" charset="-122"/>
                <a:cs typeface="Segoe UI" pitchFamily="34" charset="-120"/>
              </a:rPr>
              <a:t> = 0.7 V)</a:t>
            </a:r>
            <a:endParaRPr lang="en-US" sz="1000" dirty="0"/>
          </a:p>
        </p:txBody>
      </p:sp>
      <p:sp>
        <p:nvSpPr>
          <p:cNvPr id="75" name="!!chipv1"/>
          <p:cNvSpPr txBox="1"/>
          <p:nvPr/>
        </p:nvSpPr>
        <p:spPr>
          <a:xfrm>
            <a:off x="8586216"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0.08 V</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76" name="!!chip2"/>
          <p:cNvSpPr/>
          <p:nvPr/>
        </p:nvSpPr>
        <p:spPr>
          <a:xfrm>
            <a:off x="10094976" y="4434840"/>
            <a:ext cx="1508760" cy="658368"/>
          </a:xfrm>
          <a:prstGeom prst="roundRect">
            <a:avLst>
              <a:gd name="adj" fmla="val 8333"/>
            </a:avLst>
          </a:prstGeom>
          <a:solidFill>
            <a:srgbClr val="F4F5F7"/>
          </a:solidFill>
          <a:ln/>
        </p:spPr>
      </p:sp>
      <p:sp>
        <p:nvSpPr>
          <p:cNvPr id="77" name="!!chipk2"/>
          <p:cNvSpPr txBox="1"/>
          <p:nvPr/>
        </p:nvSpPr>
        <p:spPr>
          <a:xfrm>
            <a:off x="10204704"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DIBL</a:t>
            </a:r>
            <a:endParaRPr lang="en-US" sz="1000" dirty="0"/>
          </a:p>
        </p:txBody>
      </p:sp>
      <p:sp>
        <p:nvSpPr>
          <p:cNvPr id="78" name="!!chipv2"/>
          <p:cNvSpPr txBox="1"/>
          <p:nvPr/>
        </p:nvSpPr>
        <p:spPr>
          <a:xfrm>
            <a:off x="10204704"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101 mV/V</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79" name="!!knobLbl"/>
          <p:cNvSpPr txBox="1"/>
          <p:nvPr/>
        </p:nvSpPr>
        <p:spPr>
          <a:xfrm>
            <a:off x="7022592" y="512064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length L</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20 nm</a:t>
            </a:r>
            <a:endParaRPr lang="en-US" sz="1200" dirty="0"/>
          </a:p>
        </p:txBody>
      </p:sp>
      <p:sp>
        <p:nvSpPr>
          <p:cNvPr id="80" name="!!knobTrack"/>
          <p:cNvSpPr/>
          <p:nvPr/>
        </p:nvSpPr>
        <p:spPr>
          <a:xfrm>
            <a:off x="7040880" y="5504688"/>
            <a:ext cx="4480560" cy="54864"/>
          </a:xfrm>
          <a:prstGeom prst="roundRect">
            <a:avLst>
              <a:gd name="adj" fmla="val 50000"/>
            </a:avLst>
          </a:prstGeom>
          <a:solidFill>
            <a:srgbClr val="E2E3E3"/>
          </a:solidFill>
          <a:ln/>
        </p:spPr>
      </p:sp>
      <p:sp>
        <p:nvSpPr>
          <p:cNvPr id="81" name="!!knobFill"/>
          <p:cNvSpPr/>
          <p:nvPr/>
        </p:nvSpPr>
        <p:spPr>
          <a:xfrm>
            <a:off x="7040880" y="5504688"/>
            <a:ext cx="896112" cy="54864"/>
          </a:xfrm>
          <a:prstGeom prst="roundRect">
            <a:avLst>
              <a:gd name="adj" fmla="val 50000"/>
            </a:avLst>
          </a:prstGeom>
          <a:solidFill>
            <a:srgbClr val="6B5BC4"/>
          </a:solidFill>
          <a:ln/>
        </p:spPr>
      </p:sp>
      <p:sp>
        <p:nvSpPr>
          <p:cNvPr id="82" name="!!knobT0"/>
          <p:cNvSpPr txBox="1"/>
          <p:nvPr/>
        </p:nvSpPr>
        <p:spPr>
          <a:xfrm>
            <a:off x="667512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10</a:t>
            </a:r>
            <a:endParaRPr lang="en-US" sz="900" dirty="0"/>
          </a:p>
        </p:txBody>
      </p:sp>
      <p:sp>
        <p:nvSpPr>
          <p:cNvPr id="83" name="!!knobT1"/>
          <p:cNvSpPr txBox="1"/>
          <p:nvPr/>
        </p:nvSpPr>
        <p:spPr>
          <a:xfrm>
            <a:off x="7571232"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20</a:t>
            </a:r>
            <a:endParaRPr lang="en-US" sz="900" dirty="0"/>
          </a:p>
        </p:txBody>
      </p:sp>
      <p:sp>
        <p:nvSpPr>
          <p:cNvPr id="84" name="!!knobT2"/>
          <p:cNvSpPr txBox="1"/>
          <p:nvPr/>
        </p:nvSpPr>
        <p:spPr>
          <a:xfrm>
            <a:off x="8467344"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30</a:t>
            </a:r>
            <a:endParaRPr lang="en-US" sz="900" dirty="0"/>
          </a:p>
        </p:txBody>
      </p:sp>
      <p:sp>
        <p:nvSpPr>
          <p:cNvPr id="85" name="!!knobT3"/>
          <p:cNvSpPr txBox="1"/>
          <p:nvPr/>
        </p:nvSpPr>
        <p:spPr>
          <a:xfrm>
            <a:off x="9363456"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40</a:t>
            </a:r>
            <a:endParaRPr lang="en-US" sz="900" dirty="0"/>
          </a:p>
        </p:txBody>
      </p:sp>
      <p:sp>
        <p:nvSpPr>
          <p:cNvPr id="86" name="!!knobT4"/>
          <p:cNvSpPr txBox="1"/>
          <p:nvPr/>
        </p:nvSpPr>
        <p:spPr>
          <a:xfrm>
            <a:off x="10259568"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50</a:t>
            </a:r>
            <a:endParaRPr lang="en-US" sz="900" dirty="0"/>
          </a:p>
        </p:txBody>
      </p:sp>
      <p:sp>
        <p:nvSpPr>
          <p:cNvPr id="87" name="!!knobT5"/>
          <p:cNvSpPr txBox="1"/>
          <p:nvPr/>
        </p:nvSpPr>
        <p:spPr>
          <a:xfrm>
            <a:off x="111556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60</a:t>
            </a:r>
            <a:endParaRPr lang="en-US" sz="900" dirty="0"/>
          </a:p>
        </p:txBody>
      </p:sp>
      <p:sp>
        <p:nvSpPr>
          <p:cNvPr id="88" name="!!knobThumb"/>
          <p:cNvSpPr/>
          <p:nvPr/>
        </p:nvSpPr>
        <p:spPr>
          <a:xfrm>
            <a:off x="7836408" y="5431536"/>
            <a:ext cx="201168" cy="201168"/>
          </a:xfrm>
          <a:prstGeom prst="ellipse">
            <a:avLst/>
          </a:prstGeom>
          <a:solidFill>
            <a:srgbClr val="FFFFFF"/>
          </a:solidFill>
          <a:ln w="28575">
            <a:solidFill>
              <a:srgbClr val="6B5BC4"/>
            </a:solidFill>
            <a:prstDash val="solid"/>
          </a:ln>
        </p:spPr>
      </p:sp>
      <p:sp>
        <p:nvSpPr>
          <p:cNvPr id="8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Source and drain depletions almost touch;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T</a:t>
            </a:r>
            <a:pPr algn="ctr" indent="0" marL="0">
              <a:buNone/>
            </a:pPr>
            <a:r>
              <a:rPr lang="en-US" sz="1600" dirty="0">
                <a:solidFill>
                  <a:srgbClr val="171A20"/>
                </a:solidFill>
                <a:latin typeface="Segoe UI" pitchFamily="34" charset="0"/>
                <a:ea typeface="Segoe UI" pitchFamily="34" charset="-122"/>
                <a:cs typeface="Segoe UI" pitchFamily="34" charset="-120"/>
              </a:rPr>
              <a:t> drops and leakage starts below the gate.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40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Shrinking the gate – Planar MOSFET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Same voltages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0,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 only the knob L</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changes</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171A20"/>
          </a:solidFill>
          <a:ln/>
        </p:spPr>
      </p:sp>
      <p:sp>
        <p:nvSpPr>
          <p:cNvPr id="8" name="!!sdot4"/>
          <p:cNvSpPr/>
          <p:nvPr/>
        </p:nvSpPr>
        <p:spPr>
          <a:xfrm>
            <a:off x="11599164" y="525780"/>
            <a:ext cx="82296" cy="82296"/>
          </a:xfrm>
          <a:prstGeom prst="ellipse">
            <a:avLst/>
          </a:prstGeom>
          <a:solidFill>
            <a:srgbClr val="171A20"/>
          </a:solidFill>
          <a:ln/>
        </p:spPr>
      </p:sp>
      <p:sp>
        <p:nvSpPr>
          <p:cNvPr id="9" name="!!mBody"/>
          <p:cNvSpPr/>
          <p:nvPr/>
        </p:nvSpPr>
        <p:spPr>
          <a:xfrm>
            <a:off x="640080" y="2240280"/>
            <a:ext cx="5120640" cy="1417320"/>
          </a:xfrm>
          <a:prstGeom prst="rect">
            <a:avLst/>
          </a:prstGeom>
          <a:solidFill>
            <a:srgbClr val="F6E7B8"/>
          </a:solidFill>
          <a:ln/>
        </p:spPr>
      </p:sp>
      <p:sp>
        <p:nvSpPr>
          <p:cNvPr id="10"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11" name="!!mDepS"/>
          <p:cNvSpPr/>
          <p:nvPr/>
        </p:nvSpPr>
        <p:spPr>
          <a:xfrm>
            <a:off x="640080" y="2240280"/>
            <a:ext cx="2560320" cy="932688"/>
          </a:xfrm>
          <a:prstGeom prst="roundRect">
            <a:avLst>
              <a:gd name="adj" fmla="val 11765"/>
            </a:avLst>
          </a:prstGeom>
          <a:solidFill>
            <a:srgbClr val="F7D4D9"/>
          </a:solidFill>
          <a:ln/>
        </p:spPr>
      </p:sp>
      <p:sp>
        <p:nvSpPr>
          <p:cNvPr id="12" name="!!mDepD"/>
          <p:cNvSpPr/>
          <p:nvPr/>
        </p:nvSpPr>
        <p:spPr>
          <a:xfrm>
            <a:off x="3200400" y="2240280"/>
            <a:ext cx="2560320" cy="932688"/>
          </a:xfrm>
          <a:prstGeom prst="roundRect">
            <a:avLst>
              <a:gd name="adj" fmla="val 11765"/>
            </a:avLst>
          </a:prstGeom>
          <a:solidFill>
            <a:srgbClr val="F7D4D9"/>
          </a:solidFill>
          <a:ln/>
        </p:spPr>
      </p:sp>
      <p:sp>
        <p:nvSpPr>
          <p:cNvPr id="13" name="!!mSrc"/>
          <p:cNvSpPr/>
          <p:nvPr/>
        </p:nvSpPr>
        <p:spPr>
          <a:xfrm>
            <a:off x="640080" y="2240280"/>
            <a:ext cx="2221992" cy="548640"/>
          </a:xfrm>
          <a:prstGeom prst="roundRect">
            <a:avLst>
              <a:gd name="adj" fmla="val 8333"/>
            </a:avLst>
          </a:prstGeom>
          <a:solidFill>
            <a:srgbClr val="7D9BE6"/>
          </a:solidFill>
          <a:ln/>
        </p:spPr>
      </p:sp>
      <p:sp>
        <p:nvSpPr>
          <p:cNvPr id="14" name="!!mDrn"/>
          <p:cNvSpPr/>
          <p:nvPr/>
        </p:nvSpPr>
        <p:spPr>
          <a:xfrm>
            <a:off x="3538728" y="2240280"/>
            <a:ext cx="2221992" cy="548640"/>
          </a:xfrm>
          <a:prstGeom prst="roundRect">
            <a:avLst>
              <a:gd name="adj" fmla="val 8333"/>
            </a:avLst>
          </a:prstGeom>
          <a:solidFill>
            <a:srgbClr val="7D9BE6"/>
          </a:solidFill>
          <a:ln/>
        </p:spPr>
      </p:sp>
      <p:sp>
        <p:nvSpPr>
          <p:cNvPr id="15" name="!!mSrcL"/>
          <p:cNvSpPr txBox="1"/>
          <p:nvPr/>
        </p:nvSpPr>
        <p:spPr>
          <a:xfrm>
            <a:off x="640080" y="2395728"/>
            <a:ext cx="2176272"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6" name="!!mDrnL"/>
          <p:cNvSpPr txBox="1"/>
          <p:nvPr/>
        </p:nvSpPr>
        <p:spPr>
          <a:xfrm>
            <a:off x="3584448" y="2395728"/>
            <a:ext cx="2176272"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7" name="!!mOx"/>
          <p:cNvSpPr/>
          <p:nvPr/>
        </p:nvSpPr>
        <p:spPr>
          <a:xfrm>
            <a:off x="2816352" y="2167128"/>
            <a:ext cx="768096" cy="73152"/>
          </a:xfrm>
          <a:prstGeom prst="rect">
            <a:avLst/>
          </a:prstGeom>
          <a:solidFill>
            <a:srgbClr val="CDEBF5"/>
          </a:solidFill>
          <a:ln/>
        </p:spPr>
      </p:sp>
      <p:sp>
        <p:nvSpPr>
          <p:cNvPr id="18" name="!!mGate"/>
          <p:cNvSpPr/>
          <p:nvPr/>
        </p:nvSpPr>
        <p:spPr>
          <a:xfrm>
            <a:off x="2816352" y="1783080"/>
            <a:ext cx="768096" cy="384048"/>
          </a:xfrm>
          <a:prstGeom prst="roundRect">
            <a:avLst>
              <a:gd name="adj" fmla="val 9524"/>
            </a:avLst>
          </a:prstGeom>
          <a:solidFill>
            <a:srgbClr val="B3A6E6"/>
          </a:solidFill>
          <a:ln/>
        </p:spPr>
      </p:sp>
      <p:sp>
        <p:nvSpPr>
          <p:cNvPr id="19" name="!!mGateL"/>
          <p:cNvSpPr txBox="1"/>
          <p:nvPr/>
        </p:nvSpPr>
        <p:spPr>
          <a:xfrm>
            <a:off x="2816352" y="1837944"/>
            <a:ext cx="768096"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20" name="!!mVS"/>
          <p:cNvSpPr txBox="1"/>
          <p:nvPr/>
        </p:nvSpPr>
        <p:spPr>
          <a:xfrm>
            <a:off x="640080" y="1856232"/>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S</a:t>
            </a:r>
            <a:pPr algn="l" indent="0" marL="0">
              <a:buNone/>
            </a:pPr>
            <a:r>
              <a:rPr lang="en-US" sz="1100" dirty="0">
                <a:solidFill>
                  <a:srgbClr val="5C5E62"/>
                </a:solidFill>
                <a:latin typeface="Segoe UI" pitchFamily="34" charset="0"/>
                <a:ea typeface="Segoe UI" pitchFamily="34" charset="-122"/>
                <a:cs typeface="Segoe UI" pitchFamily="34" charset="-120"/>
              </a:rPr>
              <a:t> = 0</a:t>
            </a:r>
            <a:endParaRPr lang="en-US" sz="1100" dirty="0"/>
          </a:p>
        </p:txBody>
      </p:sp>
      <p:sp>
        <p:nvSpPr>
          <p:cNvPr id="21" name="!!mVG"/>
          <p:cNvSpPr txBox="1"/>
          <p:nvPr/>
        </p:nvSpPr>
        <p:spPr>
          <a:xfrm>
            <a:off x="2286000" y="1490472"/>
            <a:ext cx="1828800" cy="237744"/>
          </a:xfrm>
          <a:prstGeom prst="rect">
            <a:avLst/>
          </a:prstGeom>
          <a:noFill/>
          <a:ln/>
        </p:spPr>
        <p:txBody>
          <a:bodyPr wrap="square" lIns="0" tIns="0" rIns="0" bIns="0" rtlCol="0" anchor="t"/>
          <a:lstStyle/>
          <a:p>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ctr"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 = 0.00 V</a:t>
            </a:r>
            <a:endParaRPr lang="en-US" sz="1200" dirty="0"/>
          </a:p>
        </p:txBody>
      </p:sp>
      <p:sp>
        <p:nvSpPr>
          <p:cNvPr id="22" name="!!mVD"/>
          <p:cNvSpPr txBox="1"/>
          <p:nvPr/>
        </p:nvSpPr>
        <p:spPr>
          <a:xfrm>
            <a:off x="4480560" y="1856232"/>
            <a:ext cx="1280160" cy="228600"/>
          </a:xfrm>
          <a:prstGeom prst="rect">
            <a:avLst/>
          </a:prstGeom>
          <a:noFill/>
          <a:ln/>
        </p:spPr>
        <p:txBody>
          <a:bodyPr wrap="square" lIns="0" tIns="0" rIns="0" bIns="0" rtlCol="0" anchor="t"/>
          <a:lstStyle/>
          <a:p>
            <a:pPr algn="r" indent="0" marL="0">
              <a:buNone/>
            </a:pPr>
            <a:r>
              <a:rPr lang="en-US" sz="1100" dirty="0">
                <a:solidFill>
                  <a:srgbClr val="5C5E62"/>
                </a:solidFill>
                <a:latin typeface="Segoe UI" pitchFamily="34" charset="0"/>
                <a:ea typeface="Segoe UI" pitchFamily="34" charset="-122"/>
                <a:cs typeface="Segoe UI" pitchFamily="34" charset="-120"/>
              </a:rPr>
              <a:t>V</a:t>
            </a:r>
            <a:pPr algn="r" indent="0" marL="0">
              <a:buNone/>
            </a:pPr>
            <a:r>
              <a:rPr lang="en-US" sz="1100" baseline="-40000" dirty="0">
                <a:solidFill>
                  <a:srgbClr val="5C5E62"/>
                </a:solidFill>
                <a:latin typeface="Segoe UI" pitchFamily="34" charset="0"/>
                <a:ea typeface="Segoe UI" pitchFamily="34" charset="-122"/>
                <a:cs typeface="Segoe UI" pitchFamily="34" charset="-120"/>
              </a:rPr>
              <a:t>D</a:t>
            </a:r>
            <a:pPr algn="r" indent="0" marL="0">
              <a:buNone/>
            </a:pPr>
            <a:r>
              <a:rPr lang="en-US" sz="1100" dirty="0">
                <a:solidFill>
                  <a:srgbClr val="5C5E62"/>
                </a:solidFill>
                <a:latin typeface="Segoe UI" pitchFamily="34" charset="0"/>
                <a:ea typeface="Segoe UI" pitchFamily="34" charset="-122"/>
                <a:cs typeface="Segoe UI" pitchFamily="34" charset="-120"/>
              </a:rPr>
              <a:t> = 0.70 V</a:t>
            </a:r>
            <a:endParaRPr lang="en-US" sz="1100" dirty="0"/>
          </a:p>
        </p:txBody>
      </p:sp>
      <p:sp>
        <p:nvSpPr>
          <p:cNvPr id="23" name="!!mLeak"/>
          <p:cNvSpPr/>
          <p:nvPr/>
        </p:nvSpPr>
        <p:spPr>
          <a:xfrm>
            <a:off x="2724912" y="2926080"/>
            <a:ext cx="950976" cy="182880"/>
          </a:xfrm>
          <a:custGeom>
            <a:avLst/>
            <a:gdLst/>
            <a:ahLst/>
            <a:cxnLst/>
            <a:rect l="l" t="t" r="r" b="b"/>
            <a:pathLst>
              <a:path w="950976" h="182880">
                <a:moveTo>
                  <a:pt x="0" y="0"/>
                </a:moveTo>
                <a:lnTo>
                  <a:pt x="475488" y="182880"/>
                </a:lnTo>
                <a:lnTo>
                  <a:pt x="950976" y="0"/>
                </a:lnTo>
              </a:path>
            </a:pathLst>
          </a:custGeom>
          <a:ln w="28575">
            <a:solidFill>
              <a:srgbClr val="D64545"/>
            </a:solidFill>
            <a:prstDash val="dash"/>
          </a:ln>
        </p:spPr>
      </p:sp>
      <p:sp>
        <p:nvSpPr>
          <p:cNvPr id="24" name="!!mLeakL"/>
          <p:cNvSpPr txBox="1"/>
          <p:nvPr/>
        </p:nvSpPr>
        <p:spPr>
          <a:xfrm>
            <a:off x="2011680" y="3154680"/>
            <a:ext cx="2377440" cy="219456"/>
          </a:xfrm>
          <a:prstGeom prst="rect">
            <a:avLst/>
          </a:prstGeom>
          <a:noFill/>
          <a:ln/>
        </p:spPr>
        <p:txBody>
          <a:bodyPr wrap="square" lIns="0" tIns="0" rIns="0" bIns="0" rtlCol="0" anchor="t"/>
          <a:lstStyle/>
          <a:p>
            <a:pPr algn="ctr" indent="0" marL="0">
              <a:buNone/>
            </a:pPr>
            <a:r>
              <a:rPr lang="en-US" sz="1000" dirty="0">
                <a:solidFill>
                  <a:srgbClr val="D64545"/>
                </a:solidFill>
                <a:latin typeface="Segoe UI Semibold" pitchFamily="34" charset="0"/>
                <a:ea typeface="Segoe UI Semibold" pitchFamily="34" charset="-122"/>
                <a:cs typeface="Segoe UI Semibold" pitchFamily="34" charset="-120"/>
              </a:rPr>
              <a:t>leakage path below the gate</a:t>
            </a:r>
            <a:endParaRPr lang="en-US" sz="1000" dirty="0"/>
          </a:p>
        </p:txBody>
      </p:sp>
      <p:sp>
        <p:nvSpPr>
          <p:cNvPr id="25" name="!!lg2t"/>
          <p:cNvSpPr txBox="1"/>
          <p:nvPr/>
        </p:nvSpPr>
        <p:spPr>
          <a:xfrm>
            <a:off x="640080" y="3721608"/>
            <a:ext cx="3200400" cy="201168"/>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pink = depletion around source and drain</a:t>
            </a:r>
            <a:endParaRPr lang="en-US" sz="900" dirty="0"/>
          </a:p>
        </p:txBody>
      </p:sp>
      <p:sp>
        <p:nvSpPr>
          <p:cNvPr id="26" name="!!bCurve"/>
          <p:cNvSpPr/>
          <p:nvPr/>
        </p:nvSpPr>
        <p:spPr>
          <a:xfrm>
            <a:off x="640080" y="4238032"/>
            <a:ext cx="5120640" cy="1060916"/>
          </a:xfrm>
          <a:custGeom>
            <a:avLst/>
            <a:gdLst/>
            <a:ahLst/>
            <a:cxnLst/>
            <a:rect l="l" t="t" r="r" b="b"/>
            <a:pathLst>
              <a:path w="5120640" h="1060916">
                <a:moveTo>
                  <a:pt x="0" y="516848"/>
                </a:moveTo>
                <a:lnTo>
                  <a:pt x="113792" y="516848"/>
                </a:lnTo>
                <a:lnTo>
                  <a:pt x="227584" y="516848"/>
                </a:lnTo>
                <a:lnTo>
                  <a:pt x="341376" y="516848"/>
                </a:lnTo>
                <a:lnTo>
                  <a:pt x="455168" y="516847"/>
                </a:lnTo>
                <a:lnTo>
                  <a:pt x="568960" y="516847"/>
                </a:lnTo>
                <a:lnTo>
                  <a:pt x="682752" y="516846"/>
                </a:lnTo>
                <a:lnTo>
                  <a:pt x="796544" y="516842"/>
                </a:lnTo>
                <a:lnTo>
                  <a:pt x="910336" y="516833"/>
                </a:lnTo>
                <a:lnTo>
                  <a:pt x="1024128" y="516809"/>
                </a:lnTo>
                <a:lnTo>
                  <a:pt x="1137920" y="516748"/>
                </a:lnTo>
                <a:lnTo>
                  <a:pt x="1251712" y="516588"/>
                </a:lnTo>
                <a:lnTo>
                  <a:pt x="1365504" y="516171"/>
                </a:lnTo>
                <a:lnTo>
                  <a:pt x="1479296" y="515089"/>
                </a:lnTo>
                <a:lnTo>
                  <a:pt x="1593088" y="512293"/>
                </a:lnTo>
                <a:lnTo>
                  <a:pt x="1706880" y="505142"/>
                </a:lnTo>
                <a:lnTo>
                  <a:pt x="1820672" y="487338"/>
                </a:lnTo>
                <a:lnTo>
                  <a:pt x="1934464" y="445771"/>
                </a:lnTo>
                <a:lnTo>
                  <a:pt x="2048256" y="361775"/>
                </a:lnTo>
                <a:lnTo>
                  <a:pt x="2162048" y="233042"/>
                </a:lnTo>
                <a:lnTo>
                  <a:pt x="2275840" y="102704"/>
                </a:lnTo>
                <a:lnTo>
                  <a:pt x="2389632" y="22011"/>
                </a:lnTo>
                <a:lnTo>
                  <a:pt x="2503424" y="0"/>
                </a:lnTo>
                <a:lnTo>
                  <a:pt x="2617216" y="29108"/>
                </a:lnTo>
                <a:lnTo>
                  <a:pt x="2731008" y="119905"/>
                </a:lnTo>
                <a:lnTo>
                  <a:pt x="2844800" y="300056"/>
                </a:lnTo>
                <a:lnTo>
                  <a:pt x="2958592" y="558379"/>
                </a:lnTo>
                <a:lnTo>
                  <a:pt x="3072384" y="798982"/>
                </a:lnTo>
                <a:lnTo>
                  <a:pt x="3186176" y="946832"/>
                </a:lnTo>
                <a:lnTo>
                  <a:pt x="3299968" y="1015741"/>
                </a:lnTo>
                <a:lnTo>
                  <a:pt x="3413760" y="1043736"/>
                </a:lnTo>
                <a:lnTo>
                  <a:pt x="3527552" y="1054478"/>
                </a:lnTo>
                <a:lnTo>
                  <a:pt x="3641344" y="1058515"/>
                </a:lnTo>
                <a:lnTo>
                  <a:pt x="3755136" y="1060021"/>
                </a:lnTo>
                <a:lnTo>
                  <a:pt x="3868928" y="1060582"/>
                </a:lnTo>
                <a:lnTo>
                  <a:pt x="3982720" y="1060791"/>
                </a:lnTo>
                <a:lnTo>
                  <a:pt x="4096512" y="1060869"/>
                </a:lnTo>
                <a:lnTo>
                  <a:pt x="4210304" y="1060898"/>
                </a:lnTo>
                <a:lnTo>
                  <a:pt x="4324096" y="1060909"/>
                </a:lnTo>
                <a:lnTo>
                  <a:pt x="4437888" y="1060913"/>
                </a:lnTo>
                <a:lnTo>
                  <a:pt x="4551680" y="1060915"/>
                </a:lnTo>
                <a:lnTo>
                  <a:pt x="4665472" y="1060915"/>
                </a:lnTo>
                <a:lnTo>
                  <a:pt x="4779264" y="1060916"/>
                </a:lnTo>
                <a:lnTo>
                  <a:pt x="4893056" y="1060916"/>
                </a:lnTo>
                <a:lnTo>
                  <a:pt x="5006848" y="1060916"/>
                </a:lnTo>
                <a:lnTo>
                  <a:pt x="5120640" y="1060916"/>
                </a:lnTo>
              </a:path>
            </a:pathLst>
          </a:custGeom>
          <a:ln w="28575">
            <a:solidFill>
              <a:srgbClr val="171A20"/>
            </a:solidFill>
            <a:prstDash val="solid"/>
          </a:ln>
        </p:spPr>
      </p:sp>
      <p:sp>
        <p:nvSpPr>
          <p:cNvPr id="27" name="!!bLbl"/>
          <p:cNvSpPr txBox="1"/>
          <p:nvPr/>
        </p:nvSpPr>
        <p:spPr>
          <a:xfrm>
            <a:off x="640080" y="3977640"/>
            <a:ext cx="182880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electron energy ↑</a:t>
            </a:r>
            <a:endParaRPr lang="en-US" sz="1000" dirty="0"/>
          </a:p>
        </p:txBody>
      </p:sp>
      <p:sp>
        <p:nvSpPr>
          <p:cNvPr id="28" name="!!bes0"/>
          <p:cNvSpPr/>
          <p:nvPr/>
        </p:nvSpPr>
        <p:spPr>
          <a:xfrm>
            <a:off x="717804" y="4613148"/>
            <a:ext cx="118872" cy="118872"/>
          </a:xfrm>
          <a:prstGeom prst="ellipse">
            <a:avLst/>
          </a:prstGeom>
          <a:solidFill>
            <a:srgbClr val="1F2F6B"/>
          </a:solidFill>
          <a:ln/>
        </p:spPr>
      </p:sp>
      <p:sp>
        <p:nvSpPr>
          <p:cNvPr id="29" name="!!bes1"/>
          <p:cNvSpPr/>
          <p:nvPr/>
        </p:nvSpPr>
        <p:spPr>
          <a:xfrm>
            <a:off x="918972" y="4613148"/>
            <a:ext cx="118872" cy="118872"/>
          </a:xfrm>
          <a:prstGeom prst="ellipse">
            <a:avLst/>
          </a:prstGeom>
          <a:solidFill>
            <a:srgbClr val="1F2F6B"/>
          </a:solidFill>
          <a:ln/>
        </p:spPr>
      </p:sp>
      <p:sp>
        <p:nvSpPr>
          <p:cNvPr id="30" name="!!bes2"/>
          <p:cNvSpPr/>
          <p:nvPr/>
        </p:nvSpPr>
        <p:spPr>
          <a:xfrm>
            <a:off x="1120140" y="4613148"/>
            <a:ext cx="118872" cy="118872"/>
          </a:xfrm>
          <a:prstGeom prst="ellipse">
            <a:avLst/>
          </a:prstGeom>
          <a:solidFill>
            <a:srgbClr val="1F2F6B"/>
          </a:solidFill>
          <a:ln/>
        </p:spPr>
      </p:sp>
      <p:sp>
        <p:nvSpPr>
          <p:cNvPr id="31" name="!!bes3"/>
          <p:cNvSpPr/>
          <p:nvPr/>
        </p:nvSpPr>
        <p:spPr>
          <a:xfrm>
            <a:off x="1321308" y="4613148"/>
            <a:ext cx="118872" cy="118872"/>
          </a:xfrm>
          <a:prstGeom prst="ellipse">
            <a:avLst/>
          </a:prstGeom>
          <a:solidFill>
            <a:srgbClr val="1F2F6B"/>
          </a:solidFill>
          <a:ln/>
        </p:spPr>
      </p:sp>
      <p:sp>
        <p:nvSpPr>
          <p:cNvPr id="32" name="!!bes4"/>
          <p:cNvSpPr/>
          <p:nvPr/>
        </p:nvSpPr>
        <p:spPr>
          <a:xfrm>
            <a:off x="1522476" y="4613148"/>
            <a:ext cx="118872" cy="118872"/>
          </a:xfrm>
          <a:prstGeom prst="ellipse">
            <a:avLst/>
          </a:prstGeom>
          <a:solidFill>
            <a:srgbClr val="1F2F6B"/>
          </a:solidFill>
          <a:ln/>
        </p:spPr>
      </p:sp>
      <p:sp>
        <p:nvSpPr>
          <p:cNvPr id="33" name="!!bec0"/>
          <p:cNvSpPr/>
          <p:nvPr/>
        </p:nvSpPr>
        <p:spPr>
          <a:xfrm>
            <a:off x="2985516" y="4112167"/>
            <a:ext cx="118872" cy="118872"/>
          </a:xfrm>
          <a:prstGeom prst="ellipse">
            <a:avLst/>
          </a:prstGeom>
          <a:solidFill>
            <a:srgbClr val="1F2F6B"/>
          </a:solidFill>
          <a:ln/>
        </p:spPr>
      </p:sp>
      <p:sp>
        <p:nvSpPr>
          <p:cNvPr id="34" name="!!bec1"/>
          <p:cNvSpPr/>
          <p:nvPr/>
        </p:nvSpPr>
        <p:spPr>
          <a:xfrm>
            <a:off x="3065983" y="4096298"/>
            <a:ext cx="118872" cy="118872"/>
          </a:xfrm>
          <a:prstGeom prst="ellipse">
            <a:avLst/>
          </a:prstGeom>
          <a:solidFill>
            <a:srgbClr val="1F2F6B"/>
          </a:solidFill>
          <a:ln/>
        </p:spPr>
      </p:sp>
      <p:sp>
        <p:nvSpPr>
          <p:cNvPr id="35" name="!!bec2"/>
          <p:cNvSpPr/>
          <p:nvPr/>
        </p:nvSpPr>
        <p:spPr>
          <a:xfrm>
            <a:off x="1220724" y="4613148"/>
            <a:ext cx="118872" cy="118872"/>
          </a:xfrm>
          <a:prstGeom prst="ellipse">
            <a:avLst/>
          </a:prstGeom>
          <a:solidFill>
            <a:srgbClr val="1F2F6B"/>
          </a:solidFill>
          <a:ln/>
        </p:spPr>
      </p:sp>
      <p:sp>
        <p:nvSpPr>
          <p:cNvPr id="36" name="!!bec3"/>
          <p:cNvSpPr/>
          <p:nvPr/>
        </p:nvSpPr>
        <p:spPr>
          <a:xfrm>
            <a:off x="1421892" y="4613148"/>
            <a:ext cx="118872" cy="118872"/>
          </a:xfrm>
          <a:prstGeom prst="ellipse">
            <a:avLst/>
          </a:prstGeom>
          <a:solidFill>
            <a:srgbClr val="1F2F6B"/>
          </a:solidFill>
          <a:ln/>
        </p:spPr>
      </p:sp>
      <p:sp>
        <p:nvSpPr>
          <p:cNvPr id="37" name="!!bec4"/>
          <p:cNvSpPr/>
          <p:nvPr/>
        </p:nvSpPr>
        <p:spPr>
          <a:xfrm>
            <a:off x="818388" y="4613148"/>
            <a:ext cx="118872" cy="118872"/>
          </a:xfrm>
          <a:prstGeom prst="ellipse">
            <a:avLst/>
          </a:prstGeom>
          <a:solidFill>
            <a:srgbClr val="1F2F6B"/>
          </a:solidFill>
          <a:ln/>
        </p:spPr>
      </p:sp>
      <p:sp>
        <p:nvSpPr>
          <p:cNvPr id="38" name="!!bec5"/>
          <p:cNvSpPr/>
          <p:nvPr/>
        </p:nvSpPr>
        <p:spPr>
          <a:xfrm>
            <a:off x="1019556" y="4613148"/>
            <a:ext cx="118872" cy="118872"/>
          </a:xfrm>
          <a:prstGeom prst="ellipse">
            <a:avLst/>
          </a:prstGeom>
          <a:solidFill>
            <a:srgbClr val="1F2F6B"/>
          </a:solidFill>
          <a:ln/>
        </p:spPr>
      </p:sp>
      <p:sp>
        <p:nvSpPr>
          <p:cNvPr id="39" name="!!bTop"/>
          <p:cNvSpPr/>
          <p:nvPr/>
        </p:nvSpPr>
        <p:spPr>
          <a:xfrm>
            <a:off x="640080" y="4133088"/>
            <a:ext cx="5120640" cy="91"/>
          </a:xfrm>
          <a:prstGeom prst="line">
            <a:avLst/>
          </a:prstGeom>
          <a:noFill/>
          <a:ln w="9525">
            <a:solidFill>
              <a:srgbClr val="8A8D93"/>
            </a:solidFill>
            <a:prstDash val="dash"/>
          </a:ln>
        </p:spPr>
      </p:sp>
      <p:sp>
        <p:nvSpPr>
          <p:cNvPr id="40" name="!!bTopL"/>
          <p:cNvSpPr txBox="1"/>
          <p:nvPr/>
        </p:nvSpPr>
        <p:spPr>
          <a:xfrm>
            <a:off x="4206240" y="3904488"/>
            <a:ext cx="1554480" cy="201168"/>
          </a:xfrm>
          <a:prstGeom prst="rect">
            <a:avLst/>
          </a:prstGeom>
          <a:noFill/>
          <a:ln/>
        </p:spPr>
        <p:txBody>
          <a:bodyPr wrap="square" lIns="0" tIns="0" rIns="0" bIns="0" rtlCol="0" anchor="t"/>
          <a:lstStyle/>
          <a:p>
            <a:pPr algn="r" indent="0" marL="0">
              <a:buNone/>
            </a:pPr>
            <a:r>
              <a:rPr lang="en-US" sz="900" dirty="0">
                <a:solidFill>
                  <a:srgbClr val="8A8D93"/>
                </a:solidFill>
                <a:latin typeface="Segoe UI" pitchFamily="34" charset="0"/>
                <a:ea typeface="Segoe UI" pitchFamily="34" charset="-122"/>
                <a:cs typeface="Segoe UI" pitchFamily="34" charset="-120"/>
              </a:rPr>
              <a:t>long-channel hill top</a:t>
            </a:r>
            <a:endParaRPr lang="en-US" sz="900" dirty="0"/>
          </a:p>
        </p:txBody>
      </p:sp>
      <p:sp>
        <p:nvSpPr>
          <p:cNvPr id="41" name="!!axg0"/>
          <p:cNvSpPr/>
          <p:nvPr/>
        </p:nvSpPr>
        <p:spPr>
          <a:xfrm>
            <a:off x="7315200" y="3931920"/>
            <a:ext cx="4206240" cy="91"/>
          </a:xfrm>
          <a:prstGeom prst="line">
            <a:avLst/>
          </a:prstGeom>
          <a:noFill/>
          <a:ln w="9525">
            <a:solidFill>
              <a:srgbClr val="EDEEF0"/>
            </a:solidFill>
            <a:prstDash val="solid"/>
          </a:ln>
        </p:spPr>
      </p:sp>
      <p:sp>
        <p:nvSpPr>
          <p:cNvPr id="42" name="!!axg1"/>
          <p:cNvSpPr/>
          <p:nvPr/>
        </p:nvSpPr>
        <p:spPr>
          <a:xfrm>
            <a:off x="7315200" y="3465576"/>
            <a:ext cx="4206240" cy="91"/>
          </a:xfrm>
          <a:prstGeom prst="line">
            <a:avLst/>
          </a:prstGeom>
          <a:noFill/>
          <a:ln w="9525">
            <a:solidFill>
              <a:srgbClr val="EDEEF0"/>
            </a:solidFill>
            <a:prstDash val="solid"/>
          </a:ln>
        </p:spPr>
      </p:sp>
      <p:sp>
        <p:nvSpPr>
          <p:cNvPr id="43" name="!!axg2"/>
          <p:cNvSpPr/>
          <p:nvPr/>
        </p:nvSpPr>
        <p:spPr>
          <a:xfrm>
            <a:off x="7315200" y="2999232"/>
            <a:ext cx="4206240" cy="91"/>
          </a:xfrm>
          <a:prstGeom prst="line">
            <a:avLst/>
          </a:prstGeom>
          <a:noFill/>
          <a:ln w="9525">
            <a:solidFill>
              <a:srgbClr val="EDEEF0"/>
            </a:solidFill>
            <a:prstDash val="solid"/>
          </a:ln>
        </p:spPr>
      </p:sp>
      <p:sp>
        <p:nvSpPr>
          <p:cNvPr id="44" name="!!axg3"/>
          <p:cNvSpPr/>
          <p:nvPr/>
        </p:nvSpPr>
        <p:spPr>
          <a:xfrm>
            <a:off x="7315200" y="2532888"/>
            <a:ext cx="4206240" cy="91"/>
          </a:xfrm>
          <a:prstGeom prst="line">
            <a:avLst/>
          </a:prstGeom>
          <a:noFill/>
          <a:ln w="9525">
            <a:solidFill>
              <a:srgbClr val="EDEEF0"/>
            </a:solidFill>
            <a:prstDash val="solid"/>
          </a:ln>
        </p:spPr>
      </p:sp>
      <p:sp>
        <p:nvSpPr>
          <p:cNvPr id="45" name="!!axg4"/>
          <p:cNvSpPr/>
          <p:nvPr/>
        </p:nvSpPr>
        <p:spPr>
          <a:xfrm>
            <a:off x="7315200" y="2066544"/>
            <a:ext cx="4206240" cy="91"/>
          </a:xfrm>
          <a:prstGeom prst="line">
            <a:avLst/>
          </a:prstGeom>
          <a:noFill/>
          <a:ln w="9525">
            <a:solidFill>
              <a:srgbClr val="EDEEF0"/>
            </a:solidFill>
            <a:prstDash val="solid"/>
          </a:ln>
        </p:spPr>
      </p:sp>
      <p:sp>
        <p:nvSpPr>
          <p:cNvPr id="46" name="!!axg5"/>
          <p:cNvSpPr/>
          <p:nvPr/>
        </p:nvSpPr>
        <p:spPr>
          <a:xfrm>
            <a:off x="7315200" y="1600200"/>
            <a:ext cx="4206240" cy="91"/>
          </a:xfrm>
          <a:prstGeom prst="line">
            <a:avLst/>
          </a:prstGeom>
          <a:noFill/>
          <a:ln w="9525">
            <a:solidFill>
              <a:srgbClr val="EDEEF0"/>
            </a:solidFill>
            <a:prstDash val="solid"/>
          </a:ln>
        </p:spPr>
      </p:sp>
      <p:sp>
        <p:nvSpPr>
          <p:cNvPr id="47" name="!!axxa"/>
          <p:cNvSpPr/>
          <p:nvPr/>
        </p:nvSpPr>
        <p:spPr>
          <a:xfrm>
            <a:off x="7315200" y="3931920"/>
            <a:ext cx="4206240" cy="91"/>
          </a:xfrm>
          <a:prstGeom prst="line">
            <a:avLst/>
          </a:prstGeom>
          <a:noFill/>
          <a:ln w="12700">
            <a:solidFill>
              <a:srgbClr val="8A8D93"/>
            </a:solidFill>
            <a:prstDash val="solid"/>
          </a:ln>
        </p:spPr>
      </p:sp>
      <p:sp>
        <p:nvSpPr>
          <p:cNvPr id="48" name="!!axya"/>
          <p:cNvSpPr/>
          <p:nvPr/>
        </p:nvSpPr>
        <p:spPr>
          <a:xfrm>
            <a:off x="7315200" y="1600200"/>
            <a:ext cx="91" cy="2331720"/>
          </a:xfrm>
          <a:prstGeom prst="line">
            <a:avLst/>
          </a:prstGeom>
          <a:noFill/>
          <a:ln w="12700">
            <a:solidFill>
              <a:srgbClr val="8A8D93"/>
            </a:solidFill>
            <a:prstDash val="solid"/>
          </a:ln>
        </p:spPr>
      </p:sp>
      <p:sp>
        <p:nvSpPr>
          <p:cNvPr id="49" name="!!axxt0"/>
          <p:cNvSpPr txBox="1"/>
          <p:nvPr/>
        </p:nvSpPr>
        <p:spPr>
          <a:xfrm>
            <a:off x="699516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50" name="!!axxt1"/>
          <p:cNvSpPr txBox="1"/>
          <p:nvPr/>
        </p:nvSpPr>
        <p:spPr>
          <a:xfrm>
            <a:off x="7836408"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51" name="!!axxt2"/>
          <p:cNvSpPr txBox="1"/>
          <p:nvPr/>
        </p:nvSpPr>
        <p:spPr>
          <a:xfrm>
            <a:off x="8677656"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30</a:t>
            </a:r>
            <a:endParaRPr lang="en-US" sz="900" dirty="0"/>
          </a:p>
        </p:txBody>
      </p:sp>
      <p:sp>
        <p:nvSpPr>
          <p:cNvPr id="52" name="!!axxt3"/>
          <p:cNvSpPr txBox="1"/>
          <p:nvPr/>
        </p:nvSpPr>
        <p:spPr>
          <a:xfrm>
            <a:off x="9518904"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40</a:t>
            </a:r>
            <a:endParaRPr lang="en-US" sz="900" dirty="0"/>
          </a:p>
        </p:txBody>
      </p:sp>
      <p:sp>
        <p:nvSpPr>
          <p:cNvPr id="53" name="!!axxt4"/>
          <p:cNvSpPr txBox="1"/>
          <p:nvPr/>
        </p:nvSpPr>
        <p:spPr>
          <a:xfrm>
            <a:off x="10360152"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50</a:t>
            </a:r>
            <a:endParaRPr lang="en-US" sz="900" dirty="0"/>
          </a:p>
        </p:txBody>
      </p:sp>
      <p:sp>
        <p:nvSpPr>
          <p:cNvPr id="54" name="!!axxt5"/>
          <p:cNvSpPr txBox="1"/>
          <p:nvPr/>
        </p:nvSpPr>
        <p:spPr>
          <a:xfrm>
            <a:off x="11201400" y="3977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60</a:t>
            </a:r>
            <a:endParaRPr lang="en-US" sz="900" dirty="0"/>
          </a:p>
        </p:txBody>
      </p:sp>
      <p:sp>
        <p:nvSpPr>
          <p:cNvPr id="55" name="!!axyt0"/>
          <p:cNvSpPr txBox="1"/>
          <p:nvPr/>
        </p:nvSpPr>
        <p:spPr>
          <a:xfrm>
            <a:off x="6629400" y="3831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56" name="!!axyt1"/>
          <p:cNvSpPr txBox="1"/>
          <p:nvPr/>
        </p:nvSpPr>
        <p:spPr>
          <a:xfrm>
            <a:off x="6629400" y="336499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57" name="!!axyt2"/>
          <p:cNvSpPr txBox="1"/>
          <p:nvPr/>
        </p:nvSpPr>
        <p:spPr>
          <a:xfrm>
            <a:off x="6629400" y="2898648"/>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0.0</a:t>
            </a:r>
            <a:endParaRPr lang="en-US" sz="900" dirty="0"/>
          </a:p>
        </p:txBody>
      </p:sp>
      <p:sp>
        <p:nvSpPr>
          <p:cNvPr id="58" name="!!axyt3"/>
          <p:cNvSpPr txBox="1"/>
          <p:nvPr/>
        </p:nvSpPr>
        <p:spPr>
          <a:xfrm>
            <a:off x="6629400" y="2432304"/>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59" name="!!axyt4"/>
          <p:cNvSpPr txBox="1"/>
          <p:nvPr/>
        </p:nvSpPr>
        <p:spPr>
          <a:xfrm>
            <a:off x="6629400" y="196596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60" name="!!axyt5"/>
          <p:cNvSpPr txBox="1"/>
          <p:nvPr/>
        </p:nvSpPr>
        <p:spPr>
          <a:xfrm>
            <a:off x="6629400" y="14996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61" name="!!axxl"/>
          <p:cNvSpPr txBox="1"/>
          <p:nvPr/>
        </p:nvSpPr>
        <p:spPr>
          <a:xfrm>
            <a:off x="7315200" y="420624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length L</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(nm)</a:t>
            </a:r>
            <a:endParaRPr lang="en-US" sz="1100" dirty="0"/>
          </a:p>
        </p:txBody>
      </p:sp>
      <p:sp>
        <p:nvSpPr>
          <p:cNvPr id="62" name="!!axyl"/>
          <p:cNvSpPr txBox="1"/>
          <p:nvPr/>
        </p:nvSpPr>
        <p:spPr>
          <a:xfrm>
            <a:off x="7132320" y="129844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threshold voltage V</a:t>
            </a:r>
            <a:pPr algn="l" indent="0" marL="0">
              <a:buNone/>
            </a:pPr>
            <a:r>
              <a:rPr lang="en-US" sz="1100" baseline="-40000" dirty="0">
                <a:solidFill>
                  <a:srgbClr val="5C5E62"/>
                </a:solidFill>
                <a:latin typeface="Segoe UI" pitchFamily="34" charset="0"/>
                <a:ea typeface="Segoe UI" pitchFamily="34" charset="-122"/>
                <a:cs typeface="Segoe UI" pitchFamily="34" charset="-120"/>
              </a:rPr>
              <a:t>T</a:t>
            </a:r>
            <a:pPr algn="l"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63" name="!!vtLo"/>
          <p:cNvSpPr/>
          <p:nvPr/>
        </p:nvSpPr>
        <p:spPr>
          <a:xfrm>
            <a:off x="7315200" y="1838483"/>
            <a:ext cx="4206240" cy="1554411"/>
          </a:xfrm>
          <a:custGeom>
            <a:avLst/>
            <a:gdLst/>
            <a:ahLst/>
            <a:cxnLst/>
            <a:rect l="l" t="t" r="r" b="b"/>
            <a:pathLst>
              <a:path w="4206240" h="1554411">
                <a:moveTo>
                  <a:pt x="0" y="1554411"/>
                </a:moveTo>
                <a:lnTo>
                  <a:pt x="107852" y="1341635"/>
                </a:lnTo>
                <a:lnTo>
                  <a:pt x="215705" y="1157890"/>
                </a:lnTo>
                <a:lnTo>
                  <a:pt x="323557" y="999214"/>
                </a:lnTo>
                <a:lnTo>
                  <a:pt x="431409" y="862188"/>
                </a:lnTo>
                <a:lnTo>
                  <a:pt x="539262" y="743857"/>
                </a:lnTo>
                <a:lnTo>
                  <a:pt x="647114" y="641670"/>
                </a:lnTo>
                <a:lnTo>
                  <a:pt x="754966" y="553426"/>
                </a:lnTo>
                <a:lnTo>
                  <a:pt x="862818" y="477221"/>
                </a:lnTo>
                <a:lnTo>
                  <a:pt x="970671" y="411413"/>
                </a:lnTo>
                <a:lnTo>
                  <a:pt x="1078523" y="354584"/>
                </a:lnTo>
                <a:lnTo>
                  <a:pt x="1186375" y="305509"/>
                </a:lnTo>
                <a:lnTo>
                  <a:pt x="1294228" y="263129"/>
                </a:lnTo>
                <a:lnTo>
                  <a:pt x="1402080" y="226531"/>
                </a:lnTo>
                <a:lnTo>
                  <a:pt x="1509932" y="194927"/>
                </a:lnTo>
                <a:lnTo>
                  <a:pt x="1617785" y="167635"/>
                </a:lnTo>
                <a:lnTo>
                  <a:pt x="1725637" y="144066"/>
                </a:lnTo>
                <a:lnTo>
                  <a:pt x="1833489" y="123713"/>
                </a:lnTo>
                <a:lnTo>
                  <a:pt x="1941342" y="106137"/>
                </a:lnTo>
                <a:lnTo>
                  <a:pt x="2049194" y="90958"/>
                </a:lnTo>
                <a:lnTo>
                  <a:pt x="2157046" y="77851"/>
                </a:lnTo>
                <a:lnTo>
                  <a:pt x="2264898" y="66532"/>
                </a:lnTo>
                <a:lnTo>
                  <a:pt x="2372751" y="56757"/>
                </a:lnTo>
                <a:lnTo>
                  <a:pt x="2480603" y="48316"/>
                </a:lnTo>
                <a:lnTo>
                  <a:pt x="2588455" y="41027"/>
                </a:lnTo>
                <a:lnTo>
                  <a:pt x="2696308" y="34732"/>
                </a:lnTo>
                <a:lnTo>
                  <a:pt x="2804160" y="29296"/>
                </a:lnTo>
                <a:lnTo>
                  <a:pt x="2912012" y="24602"/>
                </a:lnTo>
                <a:lnTo>
                  <a:pt x="3019865" y="20548"/>
                </a:lnTo>
                <a:lnTo>
                  <a:pt x="3127717" y="17047"/>
                </a:lnTo>
                <a:lnTo>
                  <a:pt x="3235569" y="14024"/>
                </a:lnTo>
                <a:lnTo>
                  <a:pt x="3343422" y="11413"/>
                </a:lnTo>
                <a:lnTo>
                  <a:pt x="3451274" y="9159"/>
                </a:lnTo>
                <a:lnTo>
                  <a:pt x="3559126" y="7212"/>
                </a:lnTo>
                <a:lnTo>
                  <a:pt x="3666978" y="5531"/>
                </a:lnTo>
                <a:lnTo>
                  <a:pt x="3774831" y="4079"/>
                </a:lnTo>
                <a:lnTo>
                  <a:pt x="3882683" y="2825"/>
                </a:lnTo>
                <a:lnTo>
                  <a:pt x="3990535" y="1742"/>
                </a:lnTo>
                <a:lnTo>
                  <a:pt x="4098388" y="807"/>
                </a:lnTo>
                <a:lnTo>
                  <a:pt x="4206240" y="0"/>
                </a:lnTo>
              </a:path>
            </a:pathLst>
          </a:custGeom>
          <a:ln w="28575">
            <a:solidFill>
              <a:srgbClr val="11998E"/>
            </a:solidFill>
            <a:prstDash val="solid"/>
          </a:ln>
        </p:spPr>
      </p:sp>
      <p:sp>
        <p:nvSpPr>
          <p:cNvPr id="64" name="!!vtHi"/>
          <p:cNvSpPr/>
          <p:nvPr/>
        </p:nvSpPr>
        <p:spPr>
          <a:xfrm>
            <a:off x="7315200" y="1841646"/>
            <a:ext cx="4206240" cy="2516665"/>
          </a:xfrm>
          <a:custGeom>
            <a:avLst/>
            <a:gdLst/>
            <a:ahLst/>
            <a:cxnLst/>
            <a:rect l="l" t="t" r="r" b="b"/>
            <a:pathLst>
              <a:path w="4206240" h="2516665">
                <a:moveTo>
                  <a:pt x="0" y="2516665"/>
                </a:moveTo>
                <a:lnTo>
                  <a:pt x="107852" y="2172171"/>
                </a:lnTo>
                <a:lnTo>
                  <a:pt x="215705" y="1874679"/>
                </a:lnTo>
                <a:lnTo>
                  <a:pt x="323557" y="1617775"/>
                </a:lnTo>
                <a:lnTo>
                  <a:pt x="431409" y="1395923"/>
                </a:lnTo>
                <a:lnTo>
                  <a:pt x="539262" y="1204339"/>
                </a:lnTo>
                <a:lnTo>
                  <a:pt x="647114" y="1038895"/>
                </a:lnTo>
                <a:lnTo>
                  <a:pt x="754966" y="896023"/>
                </a:lnTo>
                <a:lnTo>
                  <a:pt x="862818" y="772643"/>
                </a:lnTo>
                <a:lnTo>
                  <a:pt x="970671" y="666098"/>
                </a:lnTo>
                <a:lnTo>
                  <a:pt x="1078523" y="574089"/>
                </a:lnTo>
                <a:lnTo>
                  <a:pt x="1186375" y="494633"/>
                </a:lnTo>
                <a:lnTo>
                  <a:pt x="1294228" y="426018"/>
                </a:lnTo>
                <a:lnTo>
                  <a:pt x="1402080" y="366765"/>
                </a:lnTo>
                <a:lnTo>
                  <a:pt x="1509932" y="315596"/>
                </a:lnTo>
                <a:lnTo>
                  <a:pt x="1617785" y="271408"/>
                </a:lnTo>
                <a:lnTo>
                  <a:pt x="1725637" y="233249"/>
                </a:lnTo>
                <a:lnTo>
                  <a:pt x="1833489" y="200297"/>
                </a:lnTo>
                <a:lnTo>
                  <a:pt x="1941342" y="171840"/>
                </a:lnTo>
                <a:lnTo>
                  <a:pt x="2049194" y="147266"/>
                </a:lnTo>
                <a:lnTo>
                  <a:pt x="2157046" y="126045"/>
                </a:lnTo>
                <a:lnTo>
                  <a:pt x="2264898" y="107719"/>
                </a:lnTo>
                <a:lnTo>
                  <a:pt x="2372751" y="91893"/>
                </a:lnTo>
                <a:lnTo>
                  <a:pt x="2480603" y="78226"/>
                </a:lnTo>
                <a:lnTo>
                  <a:pt x="2588455" y="66425"/>
                </a:lnTo>
                <a:lnTo>
                  <a:pt x="2696308" y="56233"/>
                </a:lnTo>
                <a:lnTo>
                  <a:pt x="2804160" y="47432"/>
                </a:lnTo>
                <a:lnTo>
                  <a:pt x="2912012" y="39832"/>
                </a:lnTo>
                <a:lnTo>
                  <a:pt x="3019865" y="33268"/>
                </a:lnTo>
                <a:lnTo>
                  <a:pt x="3127717" y="27600"/>
                </a:lnTo>
                <a:lnTo>
                  <a:pt x="3235569" y="22706"/>
                </a:lnTo>
                <a:lnTo>
                  <a:pt x="3343422" y="18479"/>
                </a:lnTo>
                <a:lnTo>
                  <a:pt x="3451274" y="14829"/>
                </a:lnTo>
                <a:lnTo>
                  <a:pt x="3559126" y="11677"/>
                </a:lnTo>
                <a:lnTo>
                  <a:pt x="3666978" y="8955"/>
                </a:lnTo>
                <a:lnTo>
                  <a:pt x="3774831" y="6604"/>
                </a:lnTo>
                <a:lnTo>
                  <a:pt x="3882683" y="4574"/>
                </a:lnTo>
                <a:lnTo>
                  <a:pt x="3990535" y="2821"/>
                </a:lnTo>
                <a:lnTo>
                  <a:pt x="4098388" y="1307"/>
                </a:lnTo>
                <a:lnTo>
                  <a:pt x="4206240" y="0"/>
                </a:lnTo>
              </a:path>
            </a:pathLst>
          </a:custGeom>
          <a:ln w="28575">
            <a:solidFill>
              <a:srgbClr val="D64545"/>
            </a:solidFill>
            <a:prstDash val="solid"/>
          </a:ln>
        </p:spPr>
      </p:sp>
      <p:sp>
        <p:nvSpPr>
          <p:cNvPr id="65" name="!!vtLoL"/>
          <p:cNvSpPr txBox="1"/>
          <p:nvPr/>
        </p:nvSpPr>
        <p:spPr>
          <a:xfrm>
            <a:off x="10175443" y="1540764"/>
            <a:ext cx="1097280" cy="201168"/>
          </a:xfrm>
          <a:prstGeom prst="rect">
            <a:avLst/>
          </a:prstGeom>
          <a:noFill/>
          <a:ln/>
        </p:spPr>
        <p:txBody>
          <a:bodyPr wrap="square" lIns="0" tIns="0" rIns="0" bIns="0" rtlCol="0" anchor="t"/>
          <a:lstStyle/>
          <a:p>
            <a:pPr algn="l" indent="0" marL="0">
              <a:buNone/>
            </a:pPr>
            <a:r>
              <a:rPr lang="en-US" sz="1000" dirty="0">
                <a:solidFill>
                  <a:srgbClr val="11998E"/>
                </a:solidFill>
                <a:latin typeface="Segoe UI Semibold" pitchFamily="34" charset="0"/>
                <a:ea typeface="Segoe UI Semibold" pitchFamily="34" charset="-122"/>
                <a:cs typeface="Segoe UI Semibold" pitchFamily="34" charset="-120"/>
              </a:rPr>
              <a:t>V</a:t>
            </a:r>
            <a:pPr algn="l" indent="0" marL="0">
              <a:buNone/>
            </a:pPr>
            <a:r>
              <a:rPr lang="en-US" sz="1000" baseline="-40000" dirty="0">
                <a:solidFill>
                  <a:srgbClr val="11998E"/>
                </a:solidFill>
                <a:latin typeface="Segoe UI Semibold" pitchFamily="34" charset="0"/>
                <a:ea typeface="Segoe UI Semibold" pitchFamily="34" charset="-122"/>
                <a:cs typeface="Segoe UI Semibold" pitchFamily="34" charset="-120"/>
              </a:rPr>
              <a:t>D</a:t>
            </a:r>
            <a:pPr algn="l" indent="0" marL="0">
              <a:buNone/>
            </a:pPr>
            <a:r>
              <a:rPr lang="en-US" sz="1000" dirty="0">
                <a:solidFill>
                  <a:srgbClr val="11998E"/>
                </a:solidFill>
                <a:latin typeface="Segoe UI Semibold" pitchFamily="34" charset="0"/>
                <a:ea typeface="Segoe UI Semibold" pitchFamily="34" charset="-122"/>
                <a:cs typeface="Segoe UI Semibold" pitchFamily="34" charset="-120"/>
              </a:rPr>
              <a:t> = 0.05 V</a:t>
            </a:r>
            <a:endParaRPr lang="en-US" sz="1000" dirty="0"/>
          </a:p>
        </p:txBody>
      </p:sp>
      <p:sp>
        <p:nvSpPr>
          <p:cNvPr id="66" name="!!vtHiL"/>
          <p:cNvSpPr txBox="1"/>
          <p:nvPr/>
        </p:nvSpPr>
        <p:spPr>
          <a:xfrm>
            <a:off x="10175443" y="1943100"/>
            <a:ext cx="1097280" cy="201168"/>
          </a:xfrm>
          <a:prstGeom prst="rect">
            <a:avLst/>
          </a:prstGeom>
          <a:noFill/>
          <a:ln/>
        </p:spPr>
        <p:txBody>
          <a:bodyPr wrap="square" lIns="0" tIns="0" rIns="0" bIns="0" rtlCol="0" anchor="t"/>
          <a:lstStyle/>
          <a:p>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V</a:t>
            </a:r>
            <a:pPr algn="l" indent="0" marL="0">
              <a:buNone/>
            </a:pPr>
            <a:r>
              <a:rPr lang="en-US" sz="1000" baseline="-40000" dirty="0">
                <a:solidFill>
                  <a:srgbClr val="D64545"/>
                </a:solidFill>
                <a:latin typeface="Segoe UI Semibold" pitchFamily="34" charset="0"/>
                <a:ea typeface="Segoe UI Semibold" pitchFamily="34" charset="-122"/>
                <a:cs typeface="Segoe UI Semibold" pitchFamily="34" charset="-120"/>
              </a:rPr>
              <a:t>D</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 0.7 V</a:t>
            </a:r>
            <a:endParaRPr lang="en-US" sz="1000" dirty="0"/>
          </a:p>
        </p:txBody>
      </p:sp>
      <p:sp>
        <p:nvSpPr>
          <p:cNvPr id="67" name="!!vtGap"/>
          <p:cNvSpPr/>
          <p:nvPr/>
        </p:nvSpPr>
        <p:spPr>
          <a:xfrm>
            <a:off x="7651699" y="2820173"/>
            <a:ext cx="91" cy="610877"/>
          </a:xfrm>
          <a:prstGeom prst="line">
            <a:avLst/>
          </a:prstGeom>
          <a:noFill/>
          <a:ln w="25400">
            <a:solidFill>
              <a:srgbClr val="6B5BC4"/>
            </a:solidFill>
            <a:prstDash val="solid"/>
          </a:ln>
        </p:spPr>
      </p:sp>
      <p:sp>
        <p:nvSpPr>
          <p:cNvPr id="68" name="!!vtPtLo"/>
          <p:cNvSpPr/>
          <p:nvPr/>
        </p:nvSpPr>
        <p:spPr>
          <a:xfrm>
            <a:off x="7578547" y="2747021"/>
            <a:ext cx="146304" cy="146304"/>
          </a:xfrm>
          <a:prstGeom prst="ellipse">
            <a:avLst/>
          </a:prstGeom>
          <a:solidFill>
            <a:srgbClr val="11998E"/>
          </a:solidFill>
          <a:ln w="19050">
            <a:solidFill>
              <a:srgbClr val="FFFFFF"/>
            </a:solidFill>
            <a:prstDash val="solid"/>
          </a:ln>
        </p:spPr>
      </p:sp>
      <p:sp>
        <p:nvSpPr>
          <p:cNvPr id="69" name="!!vtPtHi"/>
          <p:cNvSpPr/>
          <p:nvPr/>
        </p:nvSpPr>
        <p:spPr>
          <a:xfrm>
            <a:off x="7578547" y="3357897"/>
            <a:ext cx="146304" cy="146304"/>
          </a:xfrm>
          <a:prstGeom prst="ellipse">
            <a:avLst/>
          </a:prstGeom>
          <a:solidFill>
            <a:srgbClr val="D64545"/>
          </a:solidFill>
          <a:ln w="19050">
            <a:solidFill>
              <a:srgbClr val="FFFFFF"/>
            </a:solidFill>
            <a:prstDash val="solid"/>
          </a:ln>
        </p:spPr>
      </p:sp>
      <p:sp>
        <p:nvSpPr>
          <p:cNvPr id="70" name="!!chip0"/>
          <p:cNvSpPr/>
          <p:nvPr/>
        </p:nvSpPr>
        <p:spPr>
          <a:xfrm>
            <a:off x="6858000" y="4434840"/>
            <a:ext cx="1508760" cy="658368"/>
          </a:xfrm>
          <a:prstGeom prst="roundRect">
            <a:avLst>
              <a:gd name="adj" fmla="val 8333"/>
            </a:avLst>
          </a:prstGeom>
          <a:solidFill>
            <a:srgbClr val="F4F5F7"/>
          </a:solidFill>
          <a:ln/>
        </p:spPr>
      </p:sp>
      <p:sp>
        <p:nvSpPr>
          <p:cNvPr id="71" name="!!chipk0"/>
          <p:cNvSpPr txBox="1"/>
          <p:nvPr/>
        </p:nvSpPr>
        <p:spPr>
          <a:xfrm>
            <a:off x="6967728"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a:t>
            </a:r>
            <a:pPr algn="l" indent="0" marL="0">
              <a:buNone/>
            </a:pPr>
            <a:r>
              <a:rPr lang="en-US" sz="1000" baseline="-40000" dirty="0">
                <a:solidFill>
                  <a:srgbClr val="5C5E62"/>
                </a:solidFill>
                <a:latin typeface="Segoe UI" pitchFamily="34" charset="0"/>
                <a:ea typeface="Segoe UI" pitchFamily="34" charset="-122"/>
                <a:cs typeface="Segoe UI" pitchFamily="34" charset="-120"/>
              </a:rPr>
              <a:t>T</a:t>
            </a:r>
            <a:pPr algn="l" indent="0" marL="0">
              <a:buNone/>
            </a:pPr>
            <a:r>
              <a:rPr lang="en-US" sz="1000" dirty="0">
                <a:solidFill>
                  <a:srgbClr val="5C5E62"/>
                </a:solidFill>
                <a:latin typeface="Segoe UI" pitchFamily="34" charset="0"/>
                <a:ea typeface="Segoe UI" pitchFamily="34" charset="-122"/>
                <a:cs typeface="Segoe UI" pitchFamily="34" charset="-120"/>
              </a:rPr>
              <a:t> (V</a:t>
            </a:r>
            <a:pPr algn="l" indent="0" marL="0">
              <a:buNone/>
            </a:pPr>
            <a:r>
              <a:rPr lang="en-US" sz="1000" baseline="-40000" dirty="0">
                <a:solidFill>
                  <a:srgbClr val="5C5E62"/>
                </a:solidFill>
                <a:latin typeface="Segoe UI" pitchFamily="34" charset="0"/>
                <a:ea typeface="Segoe UI" pitchFamily="34" charset="-122"/>
                <a:cs typeface="Segoe UI" pitchFamily="34" charset="-120"/>
              </a:rPr>
              <a:t>D</a:t>
            </a:r>
            <a:pPr algn="l" indent="0" marL="0">
              <a:buNone/>
            </a:pPr>
            <a:r>
              <a:rPr lang="en-US" sz="1000" dirty="0">
                <a:solidFill>
                  <a:srgbClr val="5C5E62"/>
                </a:solidFill>
                <a:latin typeface="Segoe UI" pitchFamily="34" charset="0"/>
                <a:ea typeface="Segoe UI" pitchFamily="34" charset="-122"/>
                <a:cs typeface="Segoe UI" pitchFamily="34" charset="-120"/>
              </a:rPr>
              <a:t> = 0.05 V)</a:t>
            </a:r>
            <a:endParaRPr lang="en-US" sz="1000" dirty="0"/>
          </a:p>
        </p:txBody>
      </p:sp>
      <p:sp>
        <p:nvSpPr>
          <p:cNvPr id="72" name="!!chipv0"/>
          <p:cNvSpPr txBox="1"/>
          <p:nvPr/>
        </p:nvSpPr>
        <p:spPr>
          <a:xfrm>
            <a:off x="6967728"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0.04 V</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73" name="!!chip1"/>
          <p:cNvSpPr/>
          <p:nvPr/>
        </p:nvSpPr>
        <p:spPr>
          <a:xfrm>
            <a:off x="8476488" y="4434840"/>
            <a:ext cx="1508760" cy="658368"/>
          </a:xfrm>
          <a:prstGeom prst="roundRect">
            <a:avLst>
              <a:gd name="adj" fmla="val 8333"/>
            </a:avLst>
          </a:prstGeom>
          <a:solidFill>
            <a:srgbClr val="F4F5F7"/>
          </a:solidFill>
          <a:ln/>
        </p:spPr>
      </p:sp>
      <p:sp>
        <p:nvSpPr>
          <p:cNvPr id="74" name="!!chipk1"/>
          <p:cNvSpPr txBox="1"/>
          <p:nvPr/>
        </p:nvSpPr>
        <p:spPr>
          <a:xfrm>
            <a:off x="8586216"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a:t>
            </a:r>
            <a:pPr algn="l" indent="0" marL="0">
              <a:buNone/>
            </a:pPr>
            <a:r>
              <a:rPr lang="en-US" sz="1000" baseline="-40000" dirty="0">
                <a:solidFill>
                  <a:srgbClr val="5C5E62"/>
                </a:solidFill>
                <a:latin typeface="Segoe UI" pitchFamily="34" charset="0"/>
                <a:ea typeface="Segoe UI" pitchFamily="34" charset="-122"/>
                <a:cs typeface="Segoe UI" pitchFamily="34" charset="-120"/>
              </a:rPr>
              <a:t>T</a:t>
            </a:r>
            <a:pPr algn="l" indent="0" marL="0">
              <a:buNone/>
            </a:pPr>
            <a:r>
              <a:rPr lang="en-US" sz="1000" dirty="0">
                <a:solidFill>
                  <a:srgbClr val="5C5E62"/>
                </a:solidFill>
                <a:latin typeface="Segoe UI" pitchFamily="34" charset="0"/>
                <a:ea typeface="Segoe UI" pitchFamily="34" charset="-122"/>
                <a:cs typeface="Segoe UI" pitchFamily="34" charset="-120"/>
              </a:rPr>
              <a:t> (V</a:t>
            </a:r>
            <a:pPr algn="l" indent="0" marL="0">
              <a:buNone/>
            </a:pPr>
            <a:r>
              <a:rPr lang="en-US" sz="1000" baseline="-40000" dirty="0">
                <a:solidFill>
                  <a:srgbClr val="5C5E62"/>
                </a:solidFill>
                <a:latin typeface="Segoe UI" pitchFamily="34" charset="0"/>
                <a:ea typeface="Segoe UI" pitchFamily="34" charset="-122"/>
                <a:cs typeface="Segoe UI" pitchFamily="34" charset="-120"/>
              </a:rPr>
              <a:t>D</a:t>
            </a:r>
            <a:pPr algn="l" indent="0" marL="0">
              <a:buNone/>
            </a:pPr>
            <a:r>
              <a:rPr lang="en-US" sz="1000" dirty="0">
                <a:solidFill>
                  <a:srgbClr val="5C5E62"/>
                </a:solidFill>
                <a:latin typeface="Segoe UI" pitchFamily="34" charset="0"/>
                <a:ea typeface="Segoe UI" pitchFamily="34" charset="-122"/>
                <a:cs typeface="Segoe UI" pitchFamily="34" charset="-120"/>
              </a:rPr>
              <a:t> = 0.7 V)</a:t>
            </a:r>
            <a:endParaRPr lang="en-US" sz="1000" dirty="0"/>
          </a:p>
        </p:txBody>
      </p:sp>
      <p:sp>
        <p:nvSpPr>
          <p:cNvPr id="75" name="!!chipv1"/>
          <p:cNvSpPr txBox="1"/>
          <p:nvPr/>
        </p:nvSpPr>
        <p:spPr>
          <a:xfrm>
            <a:off x="8586216"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-0.09 V</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76" name="!!chip2"/>
          <p:cNvSpPr/>
          <p:nvPr/>
        </p:nvSpPr>
        <p:spPr>
          <a:xfrm>
            <a:off x="10094976" y="4434840"/>
            <a:ext cx="1508760" cy="658368"/>
          </a:xfrm>
          <a:prstGeom prst="roundRect">
            <a:avLst>
              <a:gd name="adj" fmla="val 8333"/>
            </a:avLst>
          </a:prstGeom>
          <a:solidFill>
            <a:srgbClr val="F4F5F7"/>
          </a:solidFill>
          <a:ln/>
        </p:spPr>
      </p:sp>
      <p:sp>
        <p:nvSpPr>
          <p:cNvPr id="77" name="!!chipk2"/>
          <p:cNvSpPr txBox="1"/>
          <p:nvPr/>
        </p:nvSpPr>
        <p:spPr>
          <a:xfrm>
            <a:off x="10204704"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DIBL</a:t>
            </a:r>
            <a:endParaRPr lang="en-US" sz="1000" dirty="0"/>
          </a:p>
        </p:txBody>
      </p:sp>
      <p:sp>
        <p:nvSpPr>
          <p:cNvPr id="78" name="!!chipv2"/>
          <p:cNvSpPr txBox="1"/>
          <p:nvPr/>
        </p:nvSpPr>
        <p:spPr>
          <a:xfrm>
            <a:off x="10204704"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202 mV/V</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79" name="!!knobLbl"/>
          <p:cNvSpPr txBox="1"/>
          <p:nvPr/>
        </p:nvSpPr>
        <p:spPr>
          <a:xfrm>
            <a:off x="7022592" y="512064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length L</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14 nm</a:t>
            </a:r>
            <a:endParaRPr lang="en-US" sz="1200" dirty="0"/>
          </a:p>
        </p:txBody>
      </p:sp>
      <p:sp>
        <p:nvSpPr>
          <p:cNvPr id="80" name="!!knobTrack"/>
          <p:cNvSpPr/>
          <p:nvPr/>
        </p:nvSpPr>
        <p:spPr>
          <a:xfrm>
            <a:off x="7040880" y="5504688"/>
            <a:ext cx="4480560" cy="54864"/>
          </a:xfrm>
          <a:prstGeom prst="roundRect">
            <a:avLst>
              <a:gd name="adj" fmla="val 50000"/>
            </a:avLst>
          </a:prstGeom>
          <a:solidFill>
            <a:srgbClr val="E2E3E3"/>
          </a:solidFill>
          <a:ln/>
        </p:spPr>
      </p:sp>
      <p:sp>
        <p:nvSpPr>
          <p:cNvPr id="81" name="!!knobFill"/>
          <p:cNvSpPr/>
          <p:nvPr/>
        </p:nvSpPr>
        <p:spPr>
          <a:xfrm>
            <a:off x="7040880" y="5504688"/>
            <a:ext cx="358445" cy="54864"/>
          </a:xfrm>
          <a:prstGeom prst="roundRect">
            <a:avLst>
              <a:gd name="adj" fmla="val 50000"/>
            </a:avLst>
          </a:prstGeom>
          <a:solidFill>
            <a:srgbClr val="6B5BC4"/>
          </a:solidFill>
          <a:ln/>
        </p:spPr>
      </p:sp>
      <p:sp>
        <p:nvSpPr>
          <p:cNvPr id="82" name="!!knobT0"/>
          <p:cNvSpPr txBox="1"/>
          <p:nvPr/>
        </p:nvSpPr>
        <p:spPr>
          <a:xfrm>
            <a:off x="667512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10</a:t>
            </a:r>
            <a:endParaRPr lang="en-US" sz="900" dirty="0"/>
          </a:p>
        </p:txBody>
      </p:sp>
      <p:sp>
        <p:nvSpPr>
          <p:cNvPr id="83" name="!!knobT1"/>
          <p:cNvSpPr txBox="1"/>
          <p:nvPr/>
        </p:nvSpPr>
        <p:spPr>
          <a:xfrm>
            <a:off x="7571232"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20</a:t>
            </a:r>
            <a:endParaRPr lang="en-US" sz="900" dirty="0"/>
          </a:p>
        </p:txBody>
      </p:sp>
      <p:sp>
        <p:nvSpPr>
          <p:cNvPr id="84" name="!!knobT2"/>
          <p:cNvSpPr txBox="1"/>
          <p:nvPr/>
        </p:nvSpPr>
        <p:spPr>
          <a:xfrm>
            <a:off x="8467344"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30</a:t>
            </a:r>
            <a:endParaRPr lang="en-US" sz="900" dirty="0"/>
          </a:p>
        </p:txBody>
      </p:sp>
      <p:sp>
        <p:nvSpPr>
          <p:cNvPr id="85" name="!!knobT3"/>
          <p:cNvSpPr txBox="1"/>
          <p:nvPr/>
        </p:nvSpPr>
        <p:spPr>
          <a:xfrm>
            <a:off x="9363456"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40</a:t>
            </a:r>
            <a:endParaRPr lang="en-US" sz="900" dirty="0"/>
          </a:p>
        </p:txBody>
      </p:sp>
      <p:sp>
        <p:nvSpPr>
          <p:cNvPr id="86" name="!!knobT4"/>
          <p:cNvSpPr txBox="1"/>
          <p:nvPr/>
        </p:nvSpPr>
        <p:spPr>
          <a:xfrm>
            <a:off x="10259568"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50</a:t>
            </a:r>
            <a:endParaRPr lang="en-US" sz="900" dirty="0"/>
          </a:p>
        </p:txBody>
      </p:sp>
      <p:sp>
        <p:nvSpPr>
          <p:cNvPr id="87" name="!!knobT5"/>
          <p:cNvSpPr txBox="1"/>
          <p:nvPr/>
        </p:nvSpPr>
        <p:spPr>
          <a:xfrm>
            <a:off x="111556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60</a:t>
            </a:r>
            <a:endParaRPr lang="en-US" sz="900" dirty="0"/>
          </a:p>
        </p:txBody>
      </p:sp>
      <p:sp>
        <p:nvSpPr>
          <p:cNvPr id="88" name="!!knobThumb"/>
          <p:cNvSpPr/>
          <p:nvPr/>
        </p:nvSpPr>
        <p:spPr>
          <a:xfrm>
            <a:off x="7298741" y="5431536"/>
            <a:ext cx="201168" cy="201168"/>
          </a:xfrm>
          <a:prstGeom prst="ellipse">
            <a:avLst/>
          </a:prstGeom>
          <a:solidFill>
            <a:srgbClr val="FFFFFF"/>
          </a:solidFill>
          <a:ln w="28575">
            <a:solidFill>
              <a:srgbClr val="6B5BC4"/>
            </a:solidFill>
            <a:prstDash val="solid"/>
          </a:ln>
        </p:spPr>
      </p:sp>
      <p:sp>
        <p:nvSpPr>
          <p:cNvPr id="8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At 14 nm the depletions meet: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T</a:t>
            </a:r>
            <a:pPr algn="ctr" indent="0" marL="0">
              <a:buNone/>
            </a:pPr>
            <a:r>
              <a:rPr lang="en-US" sz="1600" dirty="0">
                <a:solidFill>
                  <a:srgbClr val="171A20"/>
                </a:solidFill>
                <a:latin typeface="Segoe UI" pitchFamily="34" charset="0"/>
                <a:ea typeface="Segoe UI" pitchFamily="34" charset="-122"/>
                <a:cs typeface="Segoe UI" pitchFamily="34" charset="-120"/>
              </a:rPr>
              <a:t> collapses and current leaks below the gate.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41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Shrinking the gate – Short-channel effects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At 14 nm the drain, not the gate, starts to control the channel</a:t>
            </a:r>
            <a:endParaRPr lang="en-US" sz="1600" dirty="0"/>
          </a:p>
        </p:txBody>
      </p:sp>
      <p:sp>
        <p:nvSpPr>
          <p:cNvPr id="4" name="!!mBody"/>
          <p:cNvSpPr/>
          <p:nvPr/>
        </p:nvSpPr>
        <p:spPr>
          <a:xfrm>
            <a:off x="640080" y="2240280"/>
            <a:ext cx="5120640" cy="1417320"/>
          </a:xfrm>
          <a:prstGeom prst="rect">
            <a:avLst/>
          </a:prstGeom>
          <a:solidFill>
            <a:srgbClr val="F6E7B8"/>
          </a:solidFill>
          <a:ln/>
        </p:spPr>
      </p:sp>
      <p:sp>
        <p:nvSpPr>
          <p:cNvPr id="5" name="!!mBodyL"/>
          <p:cNvSpPr txBox="1"/>
          <p:nvPr/>
        </p:nvSpPr>
        <p:spPr>
          <a:xfrm>
            <a:off x="2286000" y="3337560"/>
            <a:ext cx="2011680" cy="228600"/>
          </a:xfrm>
          <a:prstGeom prst="rect">
            <a:avLst/>
          </a:prstGeom>
          <a:noFill/>
          <a:ln/>
        </p:spPr>
        <p:txBody>
          <a:bodyPr wrap="square" lIns="0" tIns="0" rIns="0" bIns="0" rtlCol="0" anchor="t"/>
          <a:lstStyle/>
          <a:p>
            <a:pPr algn="ctr" indent="0" marL="0">
              <a:buNone/>
            </a:pPr>
            <a:r>
              <a:rPr lang="en-US" sz="1000" dirty="0">
                <a:solidFill>
                  <a:srgbClr val="8A6D1F"/>
                </a:solidFill>
                <a:latin typeface="Segoe UI" pitchFamily="34" charset="0"/>
                <a:ea typeface="Segoe UI" pitchFamily="34" charset="-122"/>
                <a:cs typeface="Segoe UI" pitchFamily="34" charset="-120"/>
              </a:rPr>
              <a:t>p-type silicon (body)</a:t>
            </a:r>
            <a:endParaRPr lang="en-US" sz="1000" dirty="0"/>
          </a:p>
        </p:txBody>
      </p:sp>
      <p:sp>
        <p:nvSpPr>
          <p:cNvPr id="6" name="!!mDepS"/>
          <p:cNvSpPr/>
          <p:nvPr/>
        </p:nvSpPr>
        <p:spPr>
          <a:xfrm>
            <a:off x="640080" y="2240280"/>
            <a:ext cx="2560320" cy="932688"/>
          </a:xfrm>
          <a:prstGeom prst="roundRect">
            <a:avLst>
              <a:gd name="adj" fmla="val 11765"/>
            </a:avLst>
          </a:prstGeom>
          <a:solidFill>
            <a:srgbClr val="F7D4D9"/>
          </a:solidFill>
          <a:ln/>
        </p:spPr>
      </p:sp>
      <p:sp>
        <p:nvSpPr>
          <p:cNvPr id="7" name="!!mDepD"/>
          <p:cNvSpPr/>
          <p:nvPr/>
        </p:nvSpPr>
        <p:spPr>
          <a:xfrm>
            <a:off x="3200400" y="2240280"/>
            <a:ext cx="2560320" cy="932688"/>
          </a:xfrm>
          <a:prstGeom prst="roundRect">
            <a:avLst>
              <a:gd name="adj" fmla="val 11765"/>
            </a:avLst>
          </a:prstGeom>
          <a:solidFill>
            <a:srgbClr val="F7D4D9"/>
          </a:solidFill>
          <a:ln/>
        </p:spPr>
      </p:sp>
      <p:sp>
        <p:nvSpPr>
          <p:cNvPr id="8" name="!!mSrc"/>
          <p:cNvSpPr/>
          <p:nvPr/>
        </p:nvSpPr>
        <p:spPr>
          <a:xfrm>
            <a:off x="640080" y="2240280"/>
            <a:ext cx="2221992" cy="548640"/>
          </a:xfrm>
          <a:prstGeom prst="roundRect">
            <a:avLst>
              <a:gd name="adj" fmla="val 8333"/>
            </a:avLst>
          </a:prstGeom>
          <a:solidFill>
            <a:srgbClr val="7D9BE6"/>
          </a:solidFill>
          <a:ln/>
        </p:spPr>
      </p:sp>
      <p:sp>
        <p:nvSpPr>
          <p:cNvPr id="9" name="!!mDrn"/>
          <p:cNvSpPr/>
          <p:nvPr/>
        </p:nvSpPr>
        <p:spPr>
          <a:xfrm>
            <a:off x="3538728" y="2240280"/>
            <a:ext cx="2221992" cy="548640"/>
          </a:xfrm>
          <a:prstGeom prst="roundRect">
            <a:avLst>
              <a:gd name="adj" fmla="val 8333"/>
            </a:avLst>
          </a:prstGeom>
          <a:solidFill>
            <a:srgbClr val="7D9BE6"/>
          </a:solidFill>
          <a:ln/>
        </p:spPr>
      </p:sp>
      <p:sp>
        <p:nvSpPr>
          <p:cNvPr id="10" name="!!mSrcL"/>
          <p:cNvSpPr txBox="1"/>
          <p:nvPr/>
        </p:nvSpPr>
        <p:spPr>
          <a:xfrm>
            <a:off x="640080" y="2395728"/>
            <a:ext cx="2176272"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source</a:t>
            </a:r>
            <a:endParaRPr lang="en-US" sz="1000" dirty="0"/>
          </a:p>
        </p:txBody>
      </p:sp>
      <p:sp>
        <p:nvSpPr>
          <p:cNvPr id="11" name="!!mDrnL"/>
          <p:cNvSpPr txBox="1"/>
          <p:nvPr/>
        </p:nvSpPr>
        <p:spPr>
          <a:xfrm>
            <a:off x="3584448" y="2395728"/>
            <a:ext cx="2176272" cy="228600"/>
          </a:xfrm>
          <a:prstGeom prst="rect">
            <a:avLst/>
          </a:prstGeom>
          <a:noFill/>
          <a:ln/>
        </p:spPr>
        <p:txBody>
          <a:bodyPr wrap="square" lIns="0" tIns="0" rIns="0" bIns="0" rtlCol="0" anchor="t"/>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n+ drain</a:t>
            </a:r>
            <a:endParaRPr lang="en-US" sz="1000" dirty="0"/>
          </a:p>
        </p:txBody>
      </p:sp>
      <p:sp>
        <p:nvSpPr>
          <p:cNvPr id="12" name="!!mOx"/>
          <p:cNvSpPr/>
          <p:nvPr/>
        </p:nvSpPr>
        <p:spPr>
          <a:xfrm>
            <a:off x="2816352" y="2167128"/>
            <a:ext cx="768096" cy="73152"/>
          </a:xfrm>
          <a:prstGeom prst="rect">
            <a:avLst/>
          </a:prstGeom>
          <a:solidFill>
            <a:srgbClr val="CDEBF5"/>
          </a:solidFill>
          <a:ln/>
        </p:spPr>
      </p:sp>
      <p:sp>
        <p:nvSpPr>
          <p:cNvPr id="13" name="!!mGate"/>
          <p:cNvSpPr/>
          <p:nvPr/>
        </p:nvSpPr>
        <p:spPr>
          <a:xfrm>
            <a:off x="2816352" y="1783080"/>
            <a:ext cx="768096" cy="384048"/>
          </a:xfrm>
          <a:prstGeom prst="roundRect">
            <a:avLst>
              <a:gd name="adj" fmla="val 9524"/>
            </a:avLst>
          </a:prstGeom>
          <a:solidFill>
            <a:srgbClr val="B3A6E6"/>
          </a:solidFill>
          <a:ln/>
        </p:spPr>
      </p:sp>
      <p:sp>
        <p:nvSpPr>
          <p:cNvPr id="14" name="!!mGateL"/>
          <p:cNvSpPr txBox="1"/>
          <p:nvPr/>
        </p:nvSpPr>
        <p:spPr>
          <a:xfrm>
            <a:off x="2816352" y="1837944"/>
            <a:ext cx="768096" cy="274320"/>
          </a:xfrm>
          <a:prstGeom prst="rect">
            <a:avLst/>
          </a:prstGeom>
          <a:noFill/>
          <a:ln/>
        </p:spPr>
        <p:txBody>
          <a:bodyPr wrap="square" lIns="0" tIns="0" rIns="0" bIns="0" rtlCol="0" anchor="ctr"/>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a:t>
            </a:r>
            <a:endParaRPr lang="en-US" sz="1100" dirty="0"/>
          </a:p>
        </p:txBody>
      </p:sp>
      <p:sp>
        <p:nvSpPr>
          <p:cNvPr id="15" name="!!mVS"/>
          <p:cNvSpPr txBox="1"/>
          <p:nvPr/>
        </p:nvSpPr>
        <p:spPr>
          <a:xfrm>
            <a:off x="640080" y="1856232"/>
            <a:ext cx="118872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V</a:t>
            </a:r>
            <a:pPr algn="l" indent="0" marL="0">
              <a:buNone/>
            </a:pPr>
            <a:r>
              <a:rPr lang="en-US" sz="1100" baseline="-40000" dirty="0">
                <a:solidFill>
                  <a:srgbClr val="5C5E62"/>
                </a:solidFill>
                <a:latin typeface="Segoe UI" pitchFamily="34" charset="0"/>
                <a:ea typeface="Segoe UI" pitchFamily="34" charset="-122"/>
                <a:cs typeface="Segoe UI" pitchFamily="34" charset="-120"/>
              </a:rPr>
              <a:t>S</a:t>
            </a:r>
            <a:pPr algn="l" indent="0" marL="0">
              <a:buNone/>
            </a:pPr>
            <a:r>
              <a:rPr lang="en-US" sz="1100" dirty="0">
                <a:solidFill>
                  <a:srgbClr val="5C5E62"/>
                </a:solidFill>
                <a:latin typeface="Segoe UI" pitchFamily="34" charset="0"/>
                <a:ea typeface="Segoe UI" pitchFamily="34" charset="-122"/>
                <a:cs typeface="Segoe UI" pitchFamily="34" charset="-120"/>
              </a:rPr>
              <a:t> = 0</a:t>
            </a:r>
            <a:endParaRPr lang="en-US" sz="1100" dirty="0"/>
          </a:p>
        </p:txBody>
      </p:sp>
      <p:sp>
        <p:nvSpPr>
          <p:cNvPr id="16" name="!!mVG"/>
          <p:cNvSpPr txBox="1"/>
          <p:nvPr/>
        </p:nvSpPr>
        <p:spPr>
          <a:xfrm>
            <a:off x="2286000" y="1490472"/>
            <a:ext cx="1828800" cy="237744"/>
          </a:xfrm>
          <a:prstGeom prst="rect">
            <a:avLst/>
          </a:prstGeom>
          <a:noFill/>
          <a:ln/>
        </p:spPr>
        <p:txBody>
          <a:bodyPr wrap="square" lIns="0" tIns="0" rIns="0" bIns="0" rtlCol="0" anchor="t"/>
          <a:lstStyle/>
          <a:p>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V</a:t>
            </a:r>
            <a:pPr algn="ctr" indent="0" marL="0">
              <a:buNone/>
            </a:pPr>
            <a:r>
              <a:rPr lang="en-US" sz="1200" baseline="-40000" dirty="0">
                <a:solidFill>
                  <a:srgbClr val="6B5BC4"/>
                </a:solidFill>
                <a:latin typeface="Segoe UI Semibold" pitchFamily="34" charset="0"/>
                <a:ea typeface="Segoe UI Semibold" pitchFamily="34" charset="-122"/>
                <a:cs typeface="Segoe UI Semibold" pitchFamily="34" charset="-120"/>
              </a:rPr>
              <a:t>G</a:t>
            </a:r>
            <a:pPr algn="ctr" indent="0" marL="0">
              <a:buNone/>
            </a:pPr>
            <a:r>
              <a:rPr lang="en-US" sz="1200" dirty="0">
                <a:solidFill>
                  <a:srgbClr val="6B5BC4"/>
                </a:solidFill>
                <a:latin typeface="Segoe UI Semibold" pitchFamily="34" charset="0"/>
                <a:ea typeface="Segoe UI Semibold" pitchFamily="34" charset="-122"/>
                <a:cs typeface="Segoe UI Semibold" pitchFamily="34" charset="-120"/>
              </a:rPr>
              <a:t> = 0.00 V</a:t>
            </a:r>
            <a:endParaRPr lang="en-US" sz="1200" dirty="0"/>
          </a:p>
        </p:txBody>
      </p:sp>
      <p:sp>
        <p:nvSpPr>
          <p:cNvPr id="17" name="!!mVD"/>
          <p:cNvSpPr txBox="1"/>
          <p:nvPr/>
        </p:nvSpPr>
        <p:spPr>
          <a:xfrm>
            <a:off x="4480560" y="1856232"/>
            <a:ext cx="1280160" cy="228600"/>
          </a:xfrm>
          <a:prstGeom prst="rect">
            <a:avLst/>
          </a:prstGeom>
          <a:noFill/>
          <a:ln/>
        </p:spPr>
        <p:txBody>
          <a:bodyPr wrap="square" lIns="0" tIns="0" rIns="0" bIns="0" rtlCol="0" anchor="t"/>
          <a:lstStyle/>
          <a:p>
            <a:pPr algn="r" indent="0" marL="0">
              <a:buNone/>
            </a:pPr>
            <a:r>
              <a:rPr lang="en-US" sz="1100" dirty="0">
                <a:solidFill>
                  <a:srgbClr val="5C5E62"/>
                </a:solidFill>
                <a:latin typeface="Segoe UI" pitchFamily="34" charset="0"/>
                <a:ea typeface="Segoe UI" pitchFamily="34" charset="-122"/>
                <a:cs typeface="Segoe UI" pitchFamily="34" charset="-120"/>
              </a:rPr>
              <a:t>V</a:t>
            </a:r>
            <a:pPr algn="r" indent="0" marL="0">
              <a:buNone/>
            </a:pPr>
            <a:r>
              <a:rPr lang="en-US" sz="1100" baseline="-40000" dirty="0">
                <a:solidFill>
                  <a:srgbClr val="5C5E62"/>
                </a:solidFill>
                <a:latin typeface="Segoe UI" pitchFamily="34" charset="0"/>
                <a:ea typeface="Segoe UI" pitchFamily="34" charset="-122"/>
                <a:cs typeface="Segoe UI" pitchFamily="34" charset="-120"/>
              </a:rPr>
              <a:t>D</a:t>
            </a:r>
            <a:pPr algn="r" indent="0" marL="0">
              <a:buNone/>
            </a:pPr>
            <a:r>
              <a:rPr lang="en-US" sz="1100" dirty="0">
                <a:solidFill>
                  <a:srgbClr val="5C5E62"/>
                </a:solidFill>
                <a:latin typeface="Segoe UI" pitchFamily="34" charset="0"/>
                <a:ea typeface="Segoe UI" pitchFamily="34" charset="-122"/>
                <a:cs typeface="Segoe UI" pitchFamily="34" charset="-120"/>
              </a:rPr>
              <a:t> = 0.70 V</a:t>
            </a:r>
            <a:endParaRPr lang="en-US" sz="1100" dirty="0"/>
          </a:p>
        </p:txBody>
      </p:sp>
      <p:sp>
        <p:nvSpPr>
          <p:cNvPr id="18" name="!!mLeak"/>
          <p:cNvSpPr/>
          <p:nvPr/>
        </p:nvSpPr>
        <p:spPr>
          <a:xfrm>
            <a:off x="2724912" y="2926080"/>
            <a:ext cx="950976" cy="182880"/>
          </a:xfrm>
          <a:custGeom>
            <a:avLst/>
            <a:gdLst/>
            <a:ahLst/>
            <a:cxnLst/>
            <a:rect l="l" t="t" r="r" b="b"/>
            <a:pathLst>
              <a:path w="950976" h="182880">
                <a:moveTo>
                  <a:pt x="0" y="0"/>
                </a:moveTo>
                <a:lnTo>
                  <a:pt x="475488" y="182880"/>
                </a:lnTo>
                <a:lnTo>
                  <a:pt x="950976" y="0"/>
                </a:lnTo>
              </a:path>
            </a:pathLst>
          </a:custGeom>
          <a:ln w="28575">
            <a:solidFill>
              <a:srgbClr val="D64545"/>
            </a:solidFill>
            <a:prstDash val="dash"/>
          </a:ln>
        </p:spPr>
      </p:sp>
      <p:sp>
        <p:nvSpPr>
          <p:cNvPr id="19" name="!!mLeakL"/>
          <p:cNvSpPr txBox="1"/>
          <p:nvPr/>
        </p:nvSpPr>
        <p:spPr>
          <a:xfrm>
            <a:off x="2011680" y="3154680"/>
            <a:ext cx="2377440" cy="219456"/>
          </a:xfrm>
          <a:prstGeom prst="rect">
            <a:avLst/>
          </a:prstGeom>
          <a:noFill/>
          <a:ln/>
        </p:spPr>
        <p:txBody>
          <a:bodyPr wrap="square" lIns="0" tIns="0" rIns="0" bIns="0" rtlCol="0" anchor="t"/>
          <a:lstStyle/>
          <a:p>
            <a:pPr algn="ctr" indent="0" marL="0">
              <a:buNone/>
            </a:pPr>
            <a:r>
              <a:rPr lang="en-US" sz="1000" dirty="0">
                <a:solidFill>
                  <a:srgbClr val="D64545"/>
                </a:solidFill>
                <a:latin typeface="Segoe UI Semibold" pitchFamily="34" charset="0"/>
                <a:ea typeface="Segoe UI Semibold" pitchFamily="34" charset="-122"/>
                <a:cs typeface="Segoe UI Semibold" pitchFamily="34" charset="-120"/>
              </a:rPr>
              <a:t>leakage path below the gate</a:t>
            </a:r>
            <a:endParaRPr lang="en-US" sz="1000" dirty="0"/>
          </a:p>
        </p:txBody>
      </p:sp>
      <p:sp>
        <p:nvSpPr>
          <p:cNvPr id="20" name="Text 18"/>
          <p:cNvSpPr txBox="1"/>
          <p:nvPr/>
        </p:nvSpPr>
        <p:spPr>
          <a:xfrm>
            <a:off x="640080" y="4114800"/>
            <a:ext cx="5120640" cy="640080"/>
          </a:xfrm>
          <a:prstGeom prst="rect">
            <a:avLst/>
          </a:prstGeom>
          <a:noFill/>
          <a:ln/>
        </p:spPr>
        <p:txBody>
          <a:bodyPr wrap="square" lIns="0" tIns="0" rIns="0" bIns="0" rtlCol="0" anchor="t"/>
          <a:lstStyle/>
          <a:p>
            <a:pPr algn="l" indent="0" marL="0">
              <a:buNone/>
            </a:pPr>
            <a:r>
              <a:rPr lang="en-US" sz="1400" dirty="0">
                <a:solidFill>
                  <a:srgbClr val="5C5E62"/>
                </a:solidFill>
                <a:latin typeface="Segoe UI" pitchFamily="34" charset="0"/>
                <a:ea typeface="Segoe UI" pitchFamily="34" charset="-122"/>
                <a:cs typeface="Segoe UI" pitchFamily="34" charset="-120"/>
              </a:rPr>
              <a:t>The gate sits on one side only. Deep below, its field is weak and the drain takes over.</a:t>
            </a:r>
            <a:endParaRPr lang="en-US" sz="1400" dirty="0"/>
          </a:p>
        </p:txBody>
      </p:sp>
      <p:sp>
        <p:nvSpPr>
          <p:cNvPr id="21" name="Shape 19"/>
          <p:cNvSpPr/>
          <p:nvPr/>
        </p:nvSpPr>
        <p:spPr>
          <a:xfrm>
            <a:off x="6675120" y="1600200"/>
            <a:ext cx="4965192" cy="1005840"/>
          </a:xfrm>
          <a:prstGeom prst="roundRect">
            <a:avLst>
              <a:gd name="adj" fmla="val 7273"/>
            </a:avLst>
          </a:prstGeom>
          <a:solidFill>
            <a:srgbClr val="F4F5F7"/>
          </a:solidFill>
          <a:ln/>
        </p:spPr>
      </p:sp>
      <p:sp>
        <p:nvSpPr>
          <p:cNvPr id="22" name="Text 20"/>
          <p:cNvSpPr txBox="1"/>
          <p:nvPr/>
        </p:nvSpPr>
        <p:spPr>
          <a:xfrm>
            <a:off x="6903720" y="1737360"/>
            <a:ext cx="1828800" cy="365760"/>
          </a:xfrm>
          <a:prstGeom prst="rect">
            <a:avLst/>
          </a:prstGeom>
          <a:noFill/>
          <a:ln/>
        </p:spPr>
        <p:txBody>
          <a:bodyPr wrap="square" lIns="0" tIns="0" rIns="0" bIns="0" rtlCol="0" anchor="t"/>
          <a:lstStyle/>
          <a:p>
            <a:pPr algn="l" indent="0" marL="0">
              <a:buNone/>
            </a:pPr>
            <a:r>
              <a:rPr lang="en-US" sz="2000" dirty="0">
                <a:solidFill>
                  <a:srgbClr val="D64545"/>
                </a:solidFill>
                <a:latin typeface="Segoe UI Semibold" pitchFamily="34" charset="0"/>
                <a:ea typeface="Segoe UI Semibold" pitchFamily="34" charset="-122"/>
                <a:cs typeface="Segoe UI Semibold" pitchFamily="34" charset="-120"/>
              </a:rPr>
              <a:t>DIBL ▲</a:t>
            </a:r>
            <a:endParaRPr lang="en-US" sz="2000" dirty="0"/>
          </a:p>
        </p:txBody>
      </p:sp>
      <p:sp>
        <p:nvSpPr>
          <p:cNvPr id="23" name="Text 21"/>
          <p:cNvSpPr txBox="1"/>
          <p:nvPr/>
        </p:nvSpPr>
        <p:spPr>
          <a:xfrm>
            <a:off x="6903720" y="2148840"/>
            <a:ext cx="3108960" cy="32004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drain voltage lowers V</a:t>
            </a:r>
            <a:pPr algn="l" indent="0" marL="0">
              <a:buNone/>
            </a:pPr>
            <a:r>
              <a:rPr lang="en-US" sz="1300" baseline="-40000" dirty="0">
                <a:solidFill>
                  <a:srgbClr val="5C5E62"/>
                </a:solidFill>
                <a:latin typeface="Segoe UI" pitchFamily="34" charset="0"/>
                <a:ea typeface="Segoe UI" pitchFamily="34" charset="-122"/>
                <a:cs typeface="Segoe UI" pitchFamily="34" charset="-120"/>
              </a:rPr>
              <a:t>T</a:t>
            </a:r>
            <a:endParaRPr lang="en-US" sz="1300" dirty="0"/>
          </a:p>
        </p:txBody>
      </p:sp>
      <p:sp>
        <p:nvSpPr>
          <p:cNvPr id="24" name="Text 22"/>
          <p:cNvSpPr txBox="1"/>
          <p:nvPr/>
        </p:nvSpPr>
        <p:spPr>
          <a:xfrm>
            <a:off x="9418320" y="1801368"/>
            <a:ext cx="2057400" cy="548640"/>
          </a:xfrm>
          <a:prstGeom prst="rect">
            <a:avLst/>
          </a:prstGeom>
          <a:noFill/>
          <a:ln/>
        </p:spPr>
        <p:txBody>
          <a:bodyPr wrap="square" lIns="0" tIns="0" rIns="0" bIns="0" rtlCol="0" anchor="ctr"/>
          <a:lstStyle/>
          <a:p>
            <a:pPr algn="r" indent="0" marL="0">
              <a:buNone/>
            </a:pPr>
            <a:r>
              <a:rPr lang="en-US" sz="1500" dirty="0">
                <a:solidFill>
                  <a:srgbClr val="171A20"/>
                </a:solidFill>
                <a:latin typeface="Segoe UI Semibold" pitchFamily="34" charset="0"/>
                <a:ea typeface="Segoe UI Semibold" pitchFamily="34" charset="-122"/>
                <a:cs typeface="Segoe UI Semibold" pitchFamily="34" charset="-120"/>
              </a:rPr>
              <a:t>1 → 202 mV/V</a:t>
            </a:r>
            <a:endParaRPr lang="en-US" sz="1500" dirty="0"/>
          </a:p>
        </p:txBody>
      </p:sp>
      <p:sp>
        <p:nvSpPr>
          <p:cNvPr id="25" name="Shape 23"/>
          <p:cNvSpPr/>
          <p:nvPr/>
        </p:nvSpPr>
        <p:spPr>
          <a:xfrm>
            <a:off x="6675120" y="2788920"/>
            <a:ext cx="4965192" cy="1005840"/>
          </a:xfrm>
          <a:prstGeom prst="roundRect">
            <a:avLst>
              <a:gd name="adj" fmla="val 7273"/>
            </a:avLst>
          </a:prstGeom>
          <a:solidFill>
            <a:srgbClr val="F4F5F7"/>
          </a:solidFill>
          <a:ln/>
        </p:spPr>
      </p:sp>
      <p:sp>
        <p:nvSpPr>
          <p:cNvPr id="26" name="Text 24"/>
          <p:cNvSpPr txBox="1"/>
          <p:nvPr/>
        </p:nvSpPr>
        <p:spPr>
          <a:xfrm>
            <a:off x="6903720" y="2926080"/>
            <a:ext cx="1828800" cy="365760"/>
          </a:xfrm>
          <a:prstGeom prst="rect">
            <a:avLst/>
          </a:prstGeom>
          <a:noFill/>
          <a:ln/>
        </p:spPr>
        <p:txBody>
          <a:bodyPr wrap="square" lIns="0" tIns="0" rIns="0" bIns="0" rtlCol="0" anchor="t"/>
          <a:lstStyle/>
          <a:p>
            <a:pPr algn="l" indent="0" marL="0">
              <a:buNone/>
            </a:pPr>
            <a:r>
              <a:rPr lang="en-US" sz="2000" dirty="0">
                <a:solidFill>
                  <a:srgbClr val="E07B00"/>
                </a:solidFill>
                <a:latin typeface="Segoe UI Semibold" pitchFamily="34" charset="0"/>
                <a:ea typeface="Segoe UI Semibold" pitchFamily="34" charset="-122"/>
                <a:cs typeface="Segoe UI Semibold" pitchFamily="34" charset="-120"/>
              </a:rPr>
              <a:t>SS ▲</a:t>
            </a:r>
            <a:endParaRPr lang="en-US" sz="2000" dirty="0"/>
          </a:p>
        </p:txBody>
      </p:sp>
      <p:sp>
        <p:nvSpPr>
          <p:cNvPr id="27" name="Text 25"/>
          <p:cNvSpPr txBox="1"/>
          <p:nvPr/>
        </p:nvSpPr>
        <p:spPr>
          <a:xfrm>
            <a:off x="6903720" y="3337560"/>
            <a:ext cx="3108960" cy="32004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turn-on is softer than 60 mV/dec</a:t>
            </a:r>
            <a:endParaRPr lang="en-US" sz="1300" dirty="0"/>
          </a:p>
        </p:txBody>
      </p:sp>
      <p:sp>
        <p:nvSpPr>
          <p:cNvPr id="28" name="Text 26"/>
          <p:cNvSpPr txBox="1"/>
          <p:nvPr/>
        </p:nvSpPr>
        <p:spPr>
          <a:xfrm>
            <a:off x="9418320" y="2990088"/>
            <a:ext cx="2057400" cy="548640"/>
          </a:xfrm>
          <a:prstGeom prst="rect">
            <a:avLst/>
          </a:prstGeom>
          <a:noFill/>
          <a:ln/>
        </p:spPr>
        <p:txBody>
          <a:bodyPr wrap="square" lIns="0" tIns="0" rIns="0" bIns="0" rtlCol="0" anchor="ctr"/>
          <a:lstStyle/>
          <a:p>
            <a:pPr algn="r" indent="0" marL="0">
              <a:buNone/>
            </a:pPr>
            <a:r>
              <a:rPr lang="en-US" sz="1500" dirty="0">
                <a:solidFill>
                  <a:srgbClr val="171A20"/>
                </a:solidFill>
                <a:latin typeface="Segoe UI Semibold" pitchFamily="34" charset="0"/>
                <a:ea typeface="Segoe UI Semibold" pitchFamily="34" charset="-122"/>
                <a:cs typeface="Segoe UI Semibold" pitchFamily="34" charset="-120"/>
              </a:rPr>
              <a:t>≈ 60 → 100 mV/dec</a:t>
            </a:r>
            <a:endParaRPr lang="en-US" sz="1500" dirty="0"/>
          </a:p>
        </p:txBody>
      </p:sp>
      <p:sp>
        <p:nvSpPr>
          <p:cNvPr id="29" name="Shape 27"/>
          <p:cNvSpPr/>
          <p:nvPr/>
        </p:nvSpPr>
        <p:spPr>
          <a:xfrm>
            <a:off x="6675120" y="3977640"/>
            <a:ext cx="4965192" cy="1005840"/>
          </a:xfrm>
          <a:prstGeom prst="roundRect">
            <a:avLst>
              <a:gd name="adj" fmla="val 7273"/>
            </a:avLst>
          </a:prstGeom>
          <a:solidFill>
            <a:srgbClr val="F4F5F7"/>
          </a:solidFill>
          <a:ln/>
        </p:spPr>
      </p:sp>
      <p:sp>
        <p:nvSpPr>
          <p:cNvPr id="30" name="Text 28"/>
          <p:cNvSpPr txBox="1"/>
          <p:nvPr/>
        </p:nvSpPr>
        <p:spPr>
          <a:xfrm>
            <a:off x="6903720" y="4114800"/>
            <a:ext cx="1828800" cy="365760"/>
          </a:xfrm>
          <a:prstGeom prst="rect">
            <a:avLst/>
          </a:prstGeom>
          <a:noFill/>
          <a:ln/>
        </p:spPr>
        <p:txBody>
          <a:bodyPr wrap="square" lIns="0" tIns="0" rIns="0" bIns="0" rtlCol="0" anchor="t"/>
          <a:lstStyle/>
          <a:p>
            <a:pPr algn="l" indent="0" marL="0">
              <a:buNone/>
            </a:pPr>
            <a:r>
              <a:rPr lang="en-US" sz="2000" dirty="0">
                <a:solidFill>
                  <a:srgbClr val="D64545"/>
                </a:solidFill>
                <a:latin typeface="Segoe UI Semibold" pitchFamily="34" charset="0"/>
                <a:ea typeface="Segoe UI Semibold" pitchFamily="34" charset="-122"/>
                <a:cs typeface="Segoe UI Semibold" pitchFamily="34" charset="-120"/>
              </a:rPr>
              <a:t>I</a:t>
            </a:r>
            <a:pPr algn="l" indent="0" marL="0">
              <a:buNone/>
            </a:pPr>
            <a:r>
              <a:rPr lang="en-US" sz="2000" baseline="-40000" dirty="0">
                <a:solidFill>
                  <a:srgbClr val="D64545"/>
                </a:solidFill>
                <a:latin typeface="Segoe UI Semibold" pitchFamily="34" charset="0"/>
                <a:ea typeface="Segoe UI Semibold" pitchFamily="34" charset="-122"/>
                <a:cs typeface="Segoe UI Semibold" pitchFamily="34" charset="-120"/>
              </a:rPr>
              <a:t>off</a:t>
            </a:r>
            <a:pPr algn="l" indent="0" marL="0">
              <a:buNone/>
            </a:pPr>
            <a:r>
              <a:rPr lang="en-US" sz="2000" dirty="0">
                <a:solidFill>
                  <a:srgbClr val="D64545"/>
                </a:solidFill>
                <a:latin typeface="Segoe UI Semibold" pitchFamily="34" charset="0"/>
                <a:ea typeface="Segoe UI Semibold" pitchFamily="34" charset="-122"/>
                <a:cs typeface="Segoe UI Semibold" pitchFamily="34" charset="-120"/>
              </a:rPr>
              <a:t> ▲</a:t>
            </a:r>
            <a:endParaRPr lang="en-US" sz="2000" dirty="0"/>
          </a:p>
        </p:txBody>
      </p:sp>
      <p:sp>
        <p:nvSpPr>
          <p:cNvPr id="31" name="Text 29"/>
          <p:cNvSpPr txBox="1"/>
          <p:nvPr/>
        </p:nvSpPr>
        <p:spPr>
          <a:xfrm>
            <a:off x="6903720" y="4526280"/>
            <a:ext cx="3108960" cy="32004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leakage below the gate even when off</a:t>
            </a:r>
            <a:endParaRPr lang="en-US" sz="1300" dirty="0"/>
          </a:p>
        </p:txBody>
      </p:sp>
      <p:sp>
        <p:nvSpPr>
          <p:cNvPr id="32" name="Text 30"/>
          <p:cNvSpPr txBox="1"/>
          <p:nvPr/>
        </p:nvSpPr>
        <p:spPr>
          <a:xfrm>
            <a:off x="9418320" y="4178808"/>
            <a:ext cx="2057400" cy="548640"/>
          </a:xfrm>
          <a:prstGeom prst="rect">
            <a:avLst/>
          </a:prstGeom>
          <a:noFill/>
          <a:ln/>
        </p:spPr>
        <p:txBody>
          <a:bodyPr wrap="square" lIns="0" tIns="0" rIns="0" bIns="0" rtlCol="0" anchor="ctr"/>
          <a:lstStyle/>
          <a:p>
            <a:pPr algn="r" indent="0" marL="0">
              <a:buNone/>
            </a:pPr>
            <a:r>
              <a:rPr lang="en-US" sz="1500" dirty="0">
                <a:solidFill>
                  <a:srgbClr val="171A20"/>
                </a:solidFill>
                <a:latin typeface="Segoe UI Semibold" pitchFamily="34" charset="0"/>
                <a:ea typeface="Segoe UI Semibold" pitchFamily="34" charset="-122"/>
                <a:cs typeface="Segoe UI Semibold" pitchFamily="34" charset="-120"/>
              </a:rPr>
              <a:t>pA → 241 nA</a:t>
            </a:r>
            <a:endParaRPr lang="en-US" sz="1500" dirty="0"/>
          </a:p>
        </p:txBody>
      </p:sp>
      <p:sp>
        <p:nvSpPr>
          <p:cNvPr id="33" name="Text 31"/>
          <p:cNvSpPr txBox="1"/>
          <p:nvPr/>
        </p:nvSpPr>
        <p:spPr>
          <a:xfrm>
            <a:off x="6675120" y="5166360"/>
            <a:ext cx="4937760" cy="274320"/>
          </a:xfrm>
          <a:prstGeom prst="rect">
            <a:avLst/>
          </a:prstGeom>
          <a:noFill/>
          <a:ln/>
        </p:spPr>
        <p:txBody>
          <a:bodyPr wrap="square" lIns="0" tIns="0" rIns="0" bIns="0" rtlCol="0" anchor="t"/>
          <a:lstStyle/>
          <a:p>
            <a:pPr algn="l" indent="0" marL="0">
              <a:buNone/>
            </a:pPr>
            <a:r>
              <a:rPr lang="en-US" sz="1100" dirty="0">
                <a:solidFill>
                  <a:srgbClr val="8A8D93"/>
                </a:solidFill>
                <a:latin typeface="Segoe UI" pitchFamily="34" charset="0"/>
                <a:ea typeface="Segoe UI" pitchFamily="34" charset="-122"/>
                <a:cs typeface="Segoe UI" pitchFamily="34" charset="-120"/>
              </a:rPr>
              <a:t>Planar values from 60 nm to 14 nm, simple λ model.</a:t>
            </a:r>
            <a:endParaRPr lang="en-US" sz="1100" dirty="0"/>
          </a:p>
        </p:txBody>
      </p:sp>
      <p:sp>
        <p:nvSpPr>
          <p:cNvPr id="34"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Three symptoms, one cause: the gate controls the channel from one side only.</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42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Shrinking the gate – Proof: the scale length λ</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The drain potential fades into the channel as e^(−x/λ); more gate sides → smaller λ</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E2E3E3"/>
          </a:solidFill>
          <a:ln/>
        </p:spPr>
      </p:sp>
      <p:sp>
        <p:nvSpPr>
          <p:cNvPr id="6" name="!!sdot2"/>
          <p:cNvSpPr/>
          <p:nvPr/>
        </p:nvSpPr>
        <p:spPr>
          <a:xfrm>
            <a:off x="11443716" y="525780"/>
            <a:ext cx="82296" cy="82296"/>
          </a:xfrm>
          <a:prstGeom prst="ellipse">
            <a:avLst/>
          </a:prstGeom>
          <a:solidFill>
            <a:srgbClr val="E2E3E3"/>
          </a:solidFill>
          <a:ln/>
        </p:spPr>
      </p:sp>
      <p:sp>
        <p:nvSpPr>
          <p:cNvPr id="7" name="!!sdot3"/>
          <p:cNvSpPr/>
          <p:nvPr/>
        </p:nvSpPr>
        <p:spPr>
          <a:xfrm>
            <a:off x="11599164" y="525780"/>
            <a:ext cx="82296" cy="82296"/>
          </a:xfrm>
          <a:prstGeom prst="ellipse">
            <a:avLst/>
          </a:prstGeom>
          <a:solidFill>
            <a:srgbClr val="E2E3E3"/>
          </a:solidFill>
          <a:ln/>
        </p:spPr>
      </p:sp>
      <p:sp>
        <p:nvSpPr>
          <p:cNvPr id="8" name="!!icSi"/>
          <p:cNvSpPr/>
          <p:nvPr/>
        </p:nvSpPr>
        <p:spPr>
          <a:xfrm>
            <a:off x="1143000" y="2697480"/>
            <a:ext cx="1371600" cy="1371600"/>
          </a:xfrm>
          <a:prstGeom prst="rect">
            <a:avLst/>
          </a:prstGeom>
          <a:solidFill>
            <a:srgbClr val="F6E7B8"/>
          </a:solidFill>
          <a:ln/>
        </p:spPr>
      </p:sp>
      <p:sp>
        <p:nvSpPr>
          <p:cNvPr id="9" name="!!icSiL"/>
          <p:cNvSpPr txBox="1"/>
          <p:nvPr/>
        </p:nvSpPr>
        <p:spPr>
          <a:xfrm>
            <a:off x="1143000" y="3108960"/>
            <a:ext cx="1371600" cy="548640"/>
          </a:xfrm>
          <a:prstGeom prst="rect">
            <a:avLst/>
          </a:prstGeom>
          <a:noFill/>
          <a:ln/>
        </p:spPr>
        <p:txBody>
          <a:bodyPr wrap="square" lIns="0" tIns="0" rIns="0" bIns="0" rtlCol="0" anchor="ctr"/>
          <a:lstStyle/>
          <a:p>
            <a:pPr algn="ctr" indent="0" marL="0">
              <a:buNone/>
            </a:pPr>
            <a:r>
              <a:rPr lang="en-US" sz="1100" dirty="0">
                <a:solidFill>
                  <a:srgbClr val="8A6D1F"/>
                </a:solidFill>
                <a:latin typeface="Segoe UI" pitchFamily="34" charset="0"/>
                <a:ea typeface="Segoe UI" pitchFamily="34" charset="-122"/>
                <a:cs typeface="Segoe UI" pitchFamily="34" charset="-120"/>
              </a:rPr>
              <a:t>silicon</a:t>
            </a:r>
            <a:endParaRPr lang="en-US" sz="1100" dirty="0"/>
          </a:p>
          <a:p>
            <a:pPr algn="ctr" indent="0" marL="0">
              <a:buNone/>
            </a:pPr>
            <a:r>
              <a:rPr lang="en-US" sz="1100" dirty="0">
                <a:solidFill>
                  <a:srgbClr val="8A6D1F"/>
                </a:solidFill>
                <a:latin typeface="Segoe UI" pitchFamily="34" charset="0"/>
                <a:ea typeface="Segoe UI" pitchFamily="34" charset="-122"/>
                <a:cs typeface="Segoe UI" pitchFamily="34" charset="-120"/>
              </a:rPr>
              <a:t>8 nm</a:t>
            </a:r>
            <a:endParaRPr lang="en-US" sz="1100" dirty="0"/>
          </a:p>
        </p:txBody>
      </p:sp>
      <p:sp>
        <p:nvSpPr>
          <p:cNvPr id="10" name="!!icG0"/>
          <p:cNvSpPr/>
          <p:nvPr/>
        </p:nvSpPr>
        <p:spPr>
          <a:xfrm>
            <a:off x="1069848" y="2423160"/>
            <a:ext cx="1517904" cy="201168"/>
          </a:xfrm>
          <a:prstGeom prst="rect">
            <a:avLst/>
          </a:prstGeom>
          <a:solidFill>
            <a:srgbClr val="8E7CC3"/>
          </a:solidFill>
          <a:ln/>
        </p:spPr>
      </p:sp>
      <p:sp>
        <p:nvSpPr>
          <p:cNvPr id="11" name="!!icG1"/>
          <p:cNvSpPr/>
          <p:nvPr/>
        </p:nvSpPr>
        <p:spPr>
          <a:xfrm>
            <a:off x="1069848" y="4142232"/>
            <a:ext cx="1517904" cy="201168"/>
          </a:xfrm>
          <a:prstGeom prst="rect">
            <a:avLst/>
          </a:prstGeom>
          <a:solidFill>
            <a:srgbClr val="F1F2F4"/>
          </a:solidFill>
          <a:ln w="9525">
            <a:solidFill>
              <a:srgbClr val="D9DCE3"/>
            </a:solidFill>
            <a:prstDash val="dash"/>
          </a:ln>
        </p:spPr>
      </p:sp>
      <p:sp>
        <p:nvSpPr>
          <p:cNvPr id="12" name="!!icG2"/>
          <p:cNvSpPr/>
          <p:nvPr/>
        </p:nvSpPr>
        <p:spPr>
          <a:xfrm>
            <a:off x="868680" y="2624328"/>
            <a:ext cx="201168" cy="1517904"/>
          </a:xfrm>
          <a:prstGeom prst="rect">
            <a:avLst/>
          </a:prstGeom>
          <a:solidFill>
            <a:srgbClr val="F1F2F4"/>
          </a:solidFill>
          <a:ln w="9525">
            <a:solidFill>
              <a:srgbClr val="D9DCE3"/>
            </a:solidFill>
            <a:prstDash val="dash"/>
          </a:ln>
        </p:spPr>
      </p:sp>
      <p:sp>
        <p:nvSpPr>
          <p:cNvPr id="13" name="!!icG3"/>
          <p:cNvSpPr/>
          <p:nvPr/>
        </p:nvSpPr>
        <p:spPr>
          <a:xfrm>
            <a:off x="2587752" y="2624328"/>
            <a:ext cx="201168" cy="1517904"/>
          </a:xfrm>
          <a:prstGeom prst="rect">
            <a:avLst/>
          </a:prstGeom>
          <a:solidFill>
            <a:srgbClr val="F1F2F4"/>
          </a:solidFill>
          <a:ln w="9525">
            <a:solidFill>
              <a:srgbClr val="D9DCE3"/>
            </a:solidFill>
            <a:prstDash val="dash"/>
          </a:ln>
        </p:spPr>
      </p:sp>
      <p:sp>
        <p:nvSpPr>
          <p:cNvPr id="14" name="!!icName"/>
          <p:cNvSpPr txBox="1"/>
          <p:nvPr/>
        </p:nvSpPr>
        <p:spPr>
          <a:xfrm>
            <a:off x="548640" y="4526280"/>
            <a:ext cx="2560320" cy="274320"/>
          </a:xfrm>
          <a:prstGeom prst="rect">
            <a:avLst/>
          </a:prstGeom>
          <a:noFill/>
          <a:ln/>
        </p:spPr>
        <p:txBody>
          <a:bodyPr wrap="square" lIns="0" tIns="0" rIns="0" bIns="0" rtlCol="0" anchor="t"/>
          <a:lstStyle/>
          <a:p>
            <a:pPr algn="ctr" indent="0" marL="0">
              <a:buNone/>
            </a:pPr>
            <a:r>
              <a:rPr lang="en-US" sz="1400" dirty="0">
                <a:solidFill>
                  <a:srgbClr val="171A20"/>
                </a:solidFill>
                <a:latin typeface="Segoe UI Semibold" pitchFamily="34" charset="0"/>
                <a:ea typeface="Segoe UI Semibold" pitchFamily="34" charset="-122"/>
                <a:cs typeface="Segoe UI Semibold" pitchFamily="34" charset="-120"/>
              </a:rPr>
              <a:t>planar (1 side)</a:t>
            </a:r>
            <a:endParaRPr lang="en-US" sz="1400" dirty="0"/>
          </a:p>
        </p:txBody>
      </p:sp>
      <p:sp>
        <p:nvSpPr>
          <p:cNvPr id="15" name="!!axg0"/>
          <p:cNvSpPr/>
          <p:nvPr/>
        </p:nvSpPr>
        <p:spPr>
          <a:xfrm>
            <a:off x="4023360" y="4846320"/>
            <a:ext cx="4023360" cy="91"/>
          </a:xfrm>
          <a:prstGeom prst="line">
            <a:avLst/>
          </a:prstGeom>
          <a:noFill/>
          <a:ln w="9525">
            <a:solidFill>
              <a:srgbClr val="EDEEF0"/>
            </a:solidFill>
            <a:prstDash val="solid"/>
          </a:ln>
        </p:spPr>
      </p:sp>
      <p:sp>
        <p:nvSpPr>
          <p:cNvPr id="16" name="!!axg1"/>
          <p:cNvSpPr/>
          <p:nvPr/>
        </p:nvSpPr>
        <p:spPr>
          <a:xfrm>
            <a:off x="4023360" y="4046220"/>
            <a:ext cx="4023360" cy="91"/>
          </a:xfrm>
          <a:prstGeom prst="line">
            <a:avLst/>
          </a:prstGeom>
          <a:noFill/>
          <a:ln w="9525">
            <a:solidFill>
              <a:srgbClr val="EDEEF0"/>
            </a:solidFill>
            <a:prstDash val="solid"/>
          </a:ln>
        </p:spPr>
      </p:sp>
      <p:sp>
        <p:nvSpPr>
          <p:cNvPr id="17" name="!!axg2"/>
          <p:cNvSpPr/>
          <p:nvPr/>
        </p:nvSpPr>
        <p:spPr>
          <a:xfrm>
            <a:off x="4023360" y="3246120"/>
            <a:ext cx="4023360" cy="91"/>
          </a:xfrm>
          <a:prstGeom prst="line">
            <a:avLst/>
          </a:prstGeom>
          <a:noFill/>
          <a:ln w="9525">
            <a:solidFill>
              <a:srgbClr val="EDEEF0"/>
            </a:solidFill>
            <a:prstDash val="solid"/>
          </a:ln>
        </p:spPr>
      </p:sp>
      <p:sp>
        <p:nvSpPr>
          <p:cNvPr id="18" name="!!axg3"/>
          <p:cNvSpPr/>
          <p:nvPr/>
        </p:nvSpPr>
        <p:spPr>
          <a:xfrm>
            <a:off x="4023360" y="2446020"/>
            <a:ext cx="4023360" cy="91"/>
          </a:xfrm>
          <a:prstGeom prst="line">
            <a:avLst/>
          </a:prstGeom>
          <a:noFill/>
          <a:ln w="9525">
            <a:solidFill>
              <a:srgbClr val="EDEEF0"/>
            </a:solidFill>
            <a:prstDash val="solid"/>
          </a:ln>
        </p:spPr>
      </p:sp>
      <p:sp>
        <p:nvSpPr>
          <p:cNvPr id="19" name="!!axg4"/>
          <p:cNvSpPr/>
          <p:nvPr/>
        </p:nvSpPr>
        <p:spPr>
          <a:xfrm>
            <a:off x="4023360" y="1645920"/>
            <a:ext cx="4023360" cy="91"/>
          </a:xfrm>
          <a:prstGeom prst="line">
            <a:avLst/>
          </a:prstGeom>
          <a:noFill/>
          <a:ln w="9525">
            <a:solidFill>
              <a:srgbClr val="EDEEF0"/>
            </a:solidFill>
            <a:prstDash val="solid"/>
          </a:ln>
        </p:spPr>
      </p:sp>
      <p:sp>
        <p:nvSpPr>
          <p:cNvPr id="20" name="!!axxa"/>
          <p:cNvSpPr/>
          <p:nvPr/>
        </p:nvSpPr>
        <p:spPr>
          <a:xfrm>
            <a:off x="4023360" y="4846320"/>
            <a:ext cx="4023360" cy="91"/>
          </a:xfrm>
          <a:prstGeom prst="line">
            <a:avLst/>
          </a:prstGeom>
          <a:noFill/>
          <a:ln w="12700">
            <a:solidFill>
              <a:srgbClr val="8A8D93"/>
            </a:solidFill>
            <a:prstDash val="solid"/>
          </a:ln>
        </p:spPr>
      </p:sp>
      <p:sp>
        <p:nvSpPr>
          <p:cNvPr id="21" name="!!axya"/>
          <p:cNvSpPr/>
          <p:nvPr/>
        </p:nvSpPr>
        <p:spPr>
          <a:xfrm>
            <a:off x="4023360" y="1645920"/>
            <a:ext cx="91" cy="3200400"/>
          </a:xfrm>
          <a:prstGeom prst="line">
            <a:avLst/>
          </a:prstGeom>
          <a:noFill/>
          <a:ln w="12700">
            <a:solidFill>
              <a:srgbClr val="8A8D93"/>
            </a:solidFill>
            <a:prstDash val="solid"/>
          </a:ln>
        </p:spPr>
      </p:sp>
      <p:sp>
        <p:nvSpPr>
          <p:cNvPr id="22" name="!!axxt0"/>
          <p:cNvSpPr txBox="1"/>
          <p:nvPr/>
        </p:nvSpPr>
        <p:spPr>
          <a:xfrm>
            <a:off x="3703320"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23" name="!!axxt1"/>
          <p:cNvSpPr txBox="1"/>
          <p:nvPr/>
        </p:nvSpPr>
        <p:spPr>
          <a:xfrm>
            <a:off x="4278086"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a:t>
            </a:r>
            <a:endParaRPr lang="en-US" sz="900" dirty="0"/>
          </a:p>
        </p:txBody>
      </p:sp>
      <p:sp>
        <p:nvSpPr>
          <p:cNvPr id="24" name="!!axxt2"/>
          <p:cNvSpPr txBox="1"/>
          <p:nvPr/>
        </p:nvSpPr>
        <p:spPr>
          <a:xfrm>
            <a:off x="4852851"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a:t>
            </a:r>
            <a:endParaRPr lang="en-US" sz="900" dirty="0"/>
          </a:p>
        </p:txBody>
      </p:sp>
      <p:sp>
        <p:nvSpPr>
          <p:cNvPr id="25" name="!!axxt3"/>
          <p:cNvSpPr txBox="1"/>
          <p:nvPr/>
        </p:nvSpPr>
        <p:spPr>
          <a:xfrm>
            <a:off x="5427617"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6</a:t>
            </a:r>
            <a:endParaRPr lang="en-US" sz="900" dirty="0"/>
          </a:p>
        </p:txBody>
      </p:sp>
      <p:sp>
        <p:nvSpPr>
          <p:cNvPr id="26" name="!!axxt4"/>
          <p:cNvSpPr txBox="1"/>
          <p:nvPr/>
        </p:nvSpPr>
        <p:spPr>
          <a:xfrm>
            <a:off x="6002383"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8</a:t>
            </a:r>
            <a:endParaRPr lang="en-US" sz="900" dirty="0"/>
          </a:p>
        </p:txBody>
      </p:sp>
      <p:sp>
        <p:nvSpPr>
          <p:cNvPr id="27" name="!!axxt5"/>
          <p:cNvSpPr txBox="1"/>
          <p:nvPr/>
        </p:nvSpPr>
        <p:spPr>
          <a:xfrm>
            <a:off x="6577149"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28" name="!!axxt6"/>
          <p:cNvSpPr txBox="1"/>
          <p:nvPr/>
        </p:nvSpPr>
        <p:spPr>
          <a:xfrm>
            <a:off x="7151914"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12</a:t>
            </a:r>
            <a:endParaRPr lang="en-US" sz="900" dirty="0"/>
          </a:p>
        </p:txBody>
      </p:sp>
      <p:sp>
        <p:nvSpPr>
          <p:cNvPr id="29" name="!!axxt7"/>
          <p:cNvSpPr txBox="1"/>
          <p:nvPr/>
        </p:nvSpPr>
        <p:spPr>
          <a:xfrm>
            <a:off x="7726680"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14</a:t>
            </a:r>
            <a:endParaRPr lang="en-US" sz="900" dirty="0"/>
          </a:p>
        </p:txBody>
      </p:sp>
      <p:sp>
        <p:nvSpPr>
          <p:cNvPr id="30" name="!!axyt0"/>
          <p:cNvSpPr txBox="1"/>
          <p:nvPr/>
        </p:nvSpPr>
        <p:spPr>
          <a:xfrm>
            <a:off x="3337560" y="47457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0 %</a:t>
            </a:r>
            <a:endParaRPr lang="en-US" sz="900" dirty="0"/>
          </a:p>
        </p:txBody>
      </p:sp>
      <p:sp>
        <p:nvSpPr>
          <p:cNvPr id="31" name="!!axyt1"/>
          <p:cNvSpPr txBox="1"/>
          <p:nvPr/>
        </p:nvSpPr>
        <p:spPr>
          <a:xfrm>
            <a:off x="3337560" y="39456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25 %</a:t>
            </a:r>
            <a:endParaRPr lang="en-US" sz="900" dirty="0"/>
          </a:p>
        </p:txBody>
      </p:sp>
      <p:sp>
        <p:nvSpPr>
          <p:cNvPr id="32" name="!!axyt2"/>
          <p:cNvSpPr txBox="1"/>
          <p:nvPr/>
        </p:nvSpPr>
        <p:spPr>
          <a:xfrm>
            <a:off x="3337560" y="31455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50 %</a:t>
            </a:r>
            <a:endParaRPr lang="en-US" sz="900" dirty="0"/>
          </a:p>
        </p:txBody>
      </p:sp>
      <p:sp>
        <p:nvSpPr>
          <p:cNvPr id="33" name="!!axyt3"/>
          <p:cNvSpPr txBox="1"/>
          <p:nvPr/>
        </p:nvSpPr>
        <p:spPr>
          <a:xfrm>
            <a:off x="3337560" y="23454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75 %</a:t>
            </a:r>
            <a:endParaRPr lang="en-US" sz="900" dirty="0"/>
          </a:p>
        </p:txBody>
      </p:sp>
      <p:sp>
        <p:nvSpPr>
          <p:cNvPr id="34" name="!!axyt4"/>
          <p:cNvSpPr txBox="1"/>
          <p:nvPr/>
        </p:nvSpPr>
        <p:spPr>
          <a:xfrm>
            <a:off x="3337560" y="1545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a:t>
            </a:r>
            <a:endParaRPr lang="en-US" sz="900" dirty="0"/>
          </a:p>
        </p:txBody>
      </p:sp>
      <p:sp>
        <p:nvSpPr>
          <p:cNvPr id="35" name="!!axxl"/>
          <p:cNvSpPr txBox="1"/>
          <p:nvPr/>
        </p:nvSpPr>
        <p:spPr>
          <a:xfrm>
            <a:off x="4023360" y="5120640"/>
            <a:ext cx="402336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distance from the drain into the channel x (nm)</a:t>
            </a:r>
            <a:endParaRPr lang="en-US" sz="1100" dirty="0"/>
          </a:p>
        </p:txBody>
      </p:sp>
      <p:sp>
        <p:nvSpPr>
          <p:cNvPr id="36" name="!!axyl"/>
          <p:cNvSpPr txBox="1"/>
          <p:nvPr/>
        </p:nvSpPr>
        <p:spPr>
          <a:xfrm>
            <a:off x="3840480" y="134416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drain pull left  e^(−x/λ)</a:t>
            </a:r>
            <a:endParaRPr lang="en-US" sz="1100" dirty="0"/>
          </a:p>
        </p:txBody>
      </p:sp>
      <p:sp>
        <p:nvSpPr>
          <p:cNvPr id="37" name="!!lmC0"/>
          <p:cNvSpPr/>
          <p:nvPr/>
        </p:nvSpPr>
        <p:spPr>
          <a:xfrm>
            <a:off x="4023360" y="1645920"/>
            <a:ext cx="4023360" cy="3070421"/>
          </a:xfrm>
          <a:custGeom>
            <a:avLst/>
            <a:gdLst/>
            <a:ahLst/>
            <a:cxnLst/>
            <a:rect l="l" t="t" r="r" b="b"/>
            <a:pathLst>
              <a:path w="4023360" h="3070421">
                <a:moveTo>
                  <a:pt x="0" y="0"/>
                </a:moveTo>
                <a:lnTo>
                  <a:pt x="114953" y="279936"/>
                </a:lnTo>
                <a:lnTo>
                  <a:pt x="229906" y="535386"/>
                </a:lnTo>
                <a:lnTo>
                  <a:pt x="344859" y="768492"/>
                </a:lnTo>
                <a:lnTo>
                  <a:pt x="459813" y="981208"/>
                </a:lnTo>
                <a:lnTo>
                  <a:pt x="574766" y="1175319"/>
                </a:lnTo>
                <a:lnTo>
                  <a:pt x="689719" y="1352450"/>
                </a:lnTo>
                <a:lnTo>
                  <a:pt x="804672" y="1514089"/>
                </a:lnTo>
                <a:lnTo>
                  <a:pt x="919625" y="1661589"/>
                </a:lnTo>
                <a:lnTo>
                  <a:pt x="1034578" y="1796187"/>
                </a:lnTo>
                <a:lnTo>
                  <a:pt x="1149531" y="1919012"/>
                </a:lnTo>
                <a:lnTo>
                  <a:pt x="1264485" y="2031094"/>
                </a:lnTo>
                <a:lnTo>
                  <a:pt x="1379438" y="2133372"/>
                </a:lnTo>
                <a:lnTo>
                  <a:pt x="1494391" y="2226703"/>
                </a:lnTo>
                <a:lnTo>
                  <a:pt x="1609344" y="2311872"/>
                </a:lnTo>
                <a:lnTo>
                  <a:pt x="1724297" y="2389590"/>
                </a:lnTo>
                <a:lnTo>
                  <a:pt x="1839250" y="2460511"/>
                </a:lnTo>
                <a:lnTo>
                  <a:pt x="1954203" y="2525228"/>
                </a:lnTo>
                <a:lnTo>
                  <a:pt x="2069157" y="2584285"/>
                </a:lnTo>
                <a:lnTo>
                  <a:pt x="2184110" y="2638176"/>
                </a:lnTo>
                <a:lnTo>
                  <a:pt x="2299063" y="2687353"/>
                </a:lnTo>
                <a:lnTo>
                  <a:pt x="2414016" y="2732229"/>
                </a:lnTo>
                <a:lnTo>
                  <a:pt x="2528969" y="2773179"/>
                </a:lnTo>
                <a:lnTo>
                  <a:pt x="2643922" y="2810548"/>
                </a:lnTo>
                <a:lnTo>
                  <a:pt x="2758875" y="2844648"/>
                </a:lnTo>
                <a:lnTo>
                  <a:pt x="2873829" y="2875765"/>
                </a:lnTo>
                <a:lnTo>
                  <a:pt x="2988782" y="2904160"/>
                </a:lnTo>
                <a:lnTo>
                  <a:pt x="3103735" y="2930072"/>
                </a:lnTo>
                <a:lnTo>
                  <a:pt x="3218688" y="2953718"/>
                </a:lnTo>
                <a:lnTo>
                  <a:pt x="3333641" y="2975295"/>
                </a:lnTo>
                <a:lnTo>
                  <a:pt x="3448594" y="2994984"/>
                </a:lnTo>
                <a:lnTo>
                  <a:pt x="3563547" y="3012952"/>
                </a:lnTo>
                <a:lnTo>
                  <a:pt x="3678501" y="3029348"/>
                </a:lnTo>
                <a:lnTo>
                  <a:pt x="3793454" y="3044309"/>
                </a:lnTo>
                <a:lnTo>
                  <a:pt x="3908407" y="3057963"/>
                </a:lnTo>
                <a:lnTo>
                  <a:pt x="4023360" y="3070421"/>
                </a:lnTo>
              </a:path>
            </a:pathLst>
          </a:custGeom>
          <a:ln w="38100">
            <a:solidFill>
              <a:srgbClr val="D64545"/>
            </a:solidFill>
            <a:prstDash val="solid"/>
          </a:ln>
        </p:spPr>
      </p:sp>
      <p:sp>
        <p:nvSpPr>
          <p:cNvPr id="38" name="!!lmE0"/>
          <p:cNvSpPr txBox="1"/>
          <p:nvPr/>
        </p:nvSpPr>
        <p:spPr>
          <a:xfrm>
            <a:off x="7772400" y="4423733"/>
            <a:ext cx="731520" cy="182880"/>
          </a:xfrm>
          <a:prstGeom prst="rect">
            <a:avLst/>
          </a:prstGeom>
          <a:noFill/>
          <a:ln/>
        </p:spPr>
        <p:txBody>
          <a:bodyPr wrap="square" lIns="0" tIns="0" rIns="0" bIns="0" rtlCol="0" anchor="t"/>
          <a:lstStyle/>
          <a:p>
            <a:pPr algn="l" indent="0" marL="0">
              <a:buNone/>
            </a:pPr>
            <a:r>
              <a:rPr lang="en-US" sz="900" dirty="0">
                <a:solidFill>
                  <a:srgbClr val="D64545"/>
                </a:solidFill>
                <a:latin typeface="Segoe UI Semibold" pitchFamily="34" charset="0"/>
                <a:ea typeface="Segoe UI Semibold" pitchFamily="34" charset="-122"/>
                <a:cs typeface="Segoe UI Semibold" pitchFamily="34" charset="-120"/>
              </a:rPr>
              <a:t>4.06 %</a:t>
            </a:r>
            <a:endParaRPr lang="en-US" sz="900" dirty="0"/>
          </a:p>
        </p:txBody>
      </p:sp>
      <p:sp>
        <p:nvSpPr>
          <p:cNvPr id="39" name="!!lmEq"/>
          <p:cNvSpPr txBox="1"/>
          <p:nvPr/>
        </p:nvSpPr>
        <p:spPr>
          <a:xfrm>
            <a:off x="8686800" y="1600200"/>
            <a:ext cx="3017520" cy="320040"/>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λ = √( ε</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si</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t</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si</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t</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ox</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(N · ε</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ox</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a:t>
            </a:r>
            <a:endParaRPr lang="en-US" sz="1400" dirty="0"/>
          </a:p>
        </p:txBody>
      </p:sp>
      <p:sp>
        <p:nvSpPr>
          <p:cNvPr id="40" name="!!lmEq2"/>
          <p:cNvSpPr txBox="1"/>
          <p:nvPr/>
        </p:nvSpPr>
        <p:spPr>
          <a:xfrm>
            <a:off x="8686800" y="1965960"/>
            <a:ext cx="3017520" cy="50292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N = gate sides · ε</a:t>
            </a:r>
            <a:pPr algn="l" indent="0" marL="0">
              <a:buNone/>
            </a:pPr>
            <a:r>
              <a:rPr lang="en-US" sz="1100" baseline="-40000" dirty="0">
                <a:solidFill>
                  <a:srgbClr val="5C5E62"/>
                </a:solidFill>
                <a:latin typeface="Segoe UI" pitchFamily="34" charset="0"/>
                <a:ea typeface="Segoe UI" pitchFamily="34" charset="-122"/>
                <a:cs typeface="Segoe UI" pitchFamily="34" charset="-120"/>
              </a:rPr>
              <a:t>si</a:t>
            </a:r>
            <a:pPr algn="l" indent="0" marL="0">
              <a:buNone/>
            </a:pPr>
            <a:r>
              <a:rPr lang="en-US" sz="1100" dirty="0">
                <a:solidFill>
                  <a:srgbClr val="5C5E62"/>
                </a:solidFill>
                <a:latin typeface="Segoe UI" pitchFamily="34" charset="0"/>
                <a:ea typeface="Segoe UI" pitchFamily="34" charset="-122"/>
                <a:cs typeface="Segoe UI" pitchFamily="34" charset="-120"/>
              </a:rPr>
              <a:t>/ε</a:t>
            </a:r>
            <a:pPr algn="l" indent="0" marL="0">
              <a:buNone/>
            </a:pPr>
            <a:r>
              <a:rPr lang="en-US" sz="1100" baseline="-40000" dirty="0">
                <a:solidFill>
                  <a:srgbClr val="5C5E62"/>
                </a:solidFill>
                <a:latin typeface="Segoe UI" pitchFamily="34" charset="0"/>
                <a:ea typeface="Segoe UI" pitchFamily="34" charset="-122"/>
                <a:cs typeface="Segoe UI" pitchFamily="34" charset="-120"/>
              </a:rPr>
              <a:t>ox</a:t>
            </a:r>
            <a:pPr algn="l" indent="0" marL="0">
              <a:buNone/>
            </a:pPr>
            <a:r>
              <a:rPr lang="en-US" sz="1100" dirty="0">
                <a:solidFill>
                  <a:srgbClr val="5C5E62"/>
                </a:solidFill>
                <a:latin typeface="Segoe UI" pitchFamily="34" charset="0"/>
                <a:ea typeface="Segoe UI" pitchFamily="34" charset="-122"/>
                <a:cs typeface="Segoe UI" pitchFamily="34" charset="-120"/>
              </a:rPr>
              <a:t> = 3</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t</a:t>
            </a:r>
            <a:pPr algn="l" indent="0" marL="0">
              <a:buNone/>
            </a:pPr>
            <a:r>
              <a:rPr lang="en-US" sz="1100" baseline="-40000" dirty="0">
                <a:solidFill>
                  <a:srgbClr val="5C5E62"/>
                </a:solidFill>
                <a:latin typeface="Segoe UI" pitchFamily="34" charset="0"/>
                <a:ea typeface="Segoe UI" pitchFamily="34" charset="-122"/>
                <a:cs typeface="Segoe UI" pitchFamily="34" charset="-120"/>
              </a:rPr>
              <a:t>si</a:t>
            </a:r>
            <a:pPr algn="l" indent="0" marL="0">
              <a:buNone/>
            </a:pPr>
            <a:r>
              <a:rPr lang="en-US" sz="1100" dirty="0">
                <a:solidFill>
                  <a:srgbClr val="5C5E62"/>
                </a:solidFill>
                <a:latin typeface="Segoe UI" pitchFamily="34" charset="0"/>
                <a:ea typeface="Segoe UI" pitchFamily="34" charset="-122"/>
                <a:cs typeface="Segoe UI" pitchFamily="34" charset="-120"/>
              </a:rPr>
              <a:t> = 8 nm, t</a:t>
            </a:r>
            <a:pPr algn="l" indent="0" marL="0">
              <a:buNone/>
            </a:pPr>
            <a:r>
              <a:rPr lang="en-US" sz="1100" baseline="-40000" dirty="0">
                <a:solidFill>
                  <a:srgbClr val="5C5E62"/>
                </a:solidFill>
                <a:latin typeface="Segoe UI" pitchFamily="34" charset="0"/>
                <a:ea typeface="Segoe UI" pitchFamily="34" charset="-122"/>
                <a:cs typeface="Segoe UI" pitchFamily="34" charset="-120"/>
              </a:rPr>
              <a:t>ox</a:t>
            </a:r>
            <a:pPr algn="l" indent="0" marL="0">
              <a:buNone/>
            </a:pPr>
            <a:r>
              <a:rPr lang="en-US" sz="1100" dirty="0">
                <a:solidFill>
                  <a:srgbClr val="5C5E62"/>
                </a:solidFill>
                <a:latin typeface="Segoe UI" pitchFamily="34" charset="0"/>
                <a:ea typeface="Segoe UI" pitchFamily="34" charset="-122"/>
                <a:cs typeface="Segoe UI" pitchFamily="34" charset="-120"/>
              </a:rPr>
              <a:t> = EOT 0.8 nm</a:t>
            </a:r>
            <a:endParaRPr lang="en-US" sz="1100" dirty="0"/>
          </a:p>
        </p:txBody>
      </p:sp>
      <p:sp>
        <p:nvSpPr>
          <p:cNvPr id="41" name="!!chip0"/>
          <p:cNvSpPr/>
          <p:nvPr/>
        </p:nvSpPr>
        <p:spPr>
          <a:xfrm>
            <a:off x="8686800" y="2651760"/>
            <a:ext cx="2953512" cy="621792"/>
          </a:xfrm>
          <a:prstGeom prst="roundRect">
            <a:avLst>
              <a:gd name="adj" fmla="val 8824"/>
            </a:avLst>
          </a:prstGeom>
          <a:solidFill>
            <a:srgbClr val="F4F5F7"/>
          </a:solidFill>
          <a:ln/>
        </p:spPr>
      </p:sp>
      <p:sp>
        <p:nvSpPr>
          <p:cNvPr id="42" name="!!chipk0"/>
          <p:cNvSpPr txBox="1"/>
          <p:nvPr/>
        </p:nvSpPr>
        <p:spPr>
          <a:xfrm>
            <a:off x="8796528" y="2724912"/>
            <a:ext cx="27340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scale length λ</a:t>
            </a:r>
            <a:endParaRPr lang="en-US" sz="1000" dirty="0"/>
          </a:p>
        </p:txBody>
      </p:sp>
      <p:sp>
        <p:nvSpPr>
          <p:cNvPr id="43" name="!!chipv0"/>
          <p:cNvSpPr txBox="1"/>
          <p:nvPr/>
        </p:nvSpPr>
        <p:spPr>
          <a:xfrm>
            <a:off x="8796528" y="2962656"/>
            <a:ext cx="27706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4.37 nm</a:t>
            </a:r>
            <a:endParaRPr lang="en-US" sz="1500" dirty="0"/>
          </a:p>
        </p:txBody>
      </p:sp>
      <p:sp>
        <p:nvSpPr>
          <p:cNvPr id="44" name="!!chip1"/>
          <p:cNvSpPr/>
          <p:nvPr/>
        </p:nvSpPr>
        <p:spPr>
          <a:xfrm>
            <a:off x="8686800" y="3364992"/>
            <a:ext cx="2953512" cy="621792"/>
          </a:xfrm>
          <a:prstGeom prst="roundRect">
            <a:avLst>
              <a:gd name="adj" fmla="val 8824"/>
            </a:avLst>
          </a:prstGeom>
          <a:solidFill>
            <a:srgbClr val="F4F5F7"/>
          </a:solidFill>
          <a:ln/>
        </p:spPr>
      </p:sp>
      <p:sp>
        <p:nvSpPr>
          <p:cNvPr id="45" name="!!chipk1"/>
          <p:cNvSpPr txBox="1"/>
          <p:nvPr/>
        </p:nvSpPr>
        <p:spPr>
          <a:xfrm>
            <a:off x="8796528" y="3438144"/>
            <a:ext cx="27340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L</a:t>
            </a:r>
            <a:pPr algn="l" indent="0" marL="0">
              <a:buNone/>
            </a:pPr>
            <a:r>
              <a:rPr lang="en-US" sz="1000" baseline="-40000" dirty="0">
                <a:solidFill>
                  <a:srgbClr val="5C5E62"/>
                </a:solidFill>
                <a:latin typeface="Segoe UI" pitchFamily="34" charset="0"/>
                <a:ea typeface="Segoe UI" pitchFamily="34" charset="-122"/>
                <a:cs typeface="Segoe UI" pitchFamily="34" charset="-120"/>
              </a:rPr>
              <a:t>g</a:t>
            </a:r>
            <a:pPr algn="l" indent="0" marL="0">
              <a:buNone/>
            </a:pPr>
            <a:r>
              <a:rPr lang="en-US" sz="1000" dirty="0">
                <a:solidFill>
                  <a:srgbClr val="5C5E62"/>
                </a:solidFill>
                <a:latin typeface="Segoe UI" pitchFamily="34" charset="0"/>
                <a:ea typeface="Segoe UI" pitchFamily="34" charset="-122"/>
                <a:cs typeface="Segoe UI" pitchFamily="34" charset="-120"/>
              </a:rPr>
              <a:t> / λ at 14 nm</a:t>
            </a:r>
            <a:endParaRPr lang="en-US" sz="1000" dirty="0"/>
          </a:p>
        </p:txBody>
      </p:sp>
      <p:sp>
        <p:nvSpPr>
          <p:cNvPr id="46" name="!!chipv1"/>
          <p:cNvSpPr txBox="1"/>
          <p:nvPr/>
        </p:nvSpPr>
        <p:spPr>
          <a:xfrm>
            <a:off x="8796528" y="3675888"/>
            <a:ext cx="27706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3.2</a:t>
            </a:r>
            <a:endParaRPr lang="en-US" sz="1500" dirty="0"/>
          </a:p>
        </p:txBody>
      </p:sp>
      <p:sp>
        <p:nvSpPr>
          <p:cNvPr id="47" name="!!chip2"/>
          <p:cNvSpPr/>
          <p:nvPr/>
        </p:nvSpPr>
        <p:spPr>
          <a:xfrm>
            <a:off x="8686800" y="4078224"/>
            <a:ext cx="2953512" cy="621792"/>
          </a:xfrm>
          <a:prstGeom prst="roundRect">
            <a:avLst>
              <a:gd name="adj" fmla="val 8824"/>
            </a:avLst>
          </a:prstGeom>
          <a:solidFill>
            <a:srgbClr val="F4F5F7"/>
          </a:solidFill>
          <a:ln/>
        </p:spPr>
      </p:sp>
      <p:sp>
        <p:nvSpPr>
          <p:cNvPr id="48" name="!!chipk2"/>
          <p:cNvSpPr txBox="1"/>
          <p:nvPr/>
        </p:nvSpPr>
        <p:spPr>
          <a:xfrm>
            <a:off x="8796528" y="4151376"/>
            <a:ext cx="27340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drain pull at source end</a:t>
            </a:r>
            <a:endParaRPr lang="en-US" sz="1000" dirty="0"/>
          </a:p>
        </p:txBody>
      </p:sp>
      <p:sp>
        <p:nvSpPr>
          <p:cNvPr id="49" name="!!chipv2"/>
          <p:cNvSpPr txBox="1"/>
          <p:nvPr/>
        </p:nvSpPr>
        <p:spPr>
          <a:xfrm>
            <a:off x="8796528" y="4389120"/>
            <a:ext cx="27706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4.06 %</a:t>
            </a:r>
            <a:endParaRPr lang="en-US" sz="1500" dirty="0"/>
          </a:p>
        </p:txBody>
      </p:sp>
      <p:sp>
        <p:nvSpPr>
          <p:cNvPr id="50" name="!!knobLbl"/>
          <p:cNvSpPr txBox="1"/>
          <p:nvPr/>
        </p:nvSpPr>
        <p:spPr>
          <a:xfrm>
            <a:off x="8759952" y="4846320"/>
            <a:ext cx="283464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sides N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1</a:t>
            </a:r>
            <a:endParaRPr lang="en-US" sz="1200" dirty="0"/>
          </a:p>
        </p:txBody>
      </p:sp>
      <p:sp>
        <p:nvSpPr>
          <p:cNvPr id="51" name="!!knobTrack"/>
          <p:cNvSpPr/>
          <p:nvPr/>
        </p:nvSpPr>
        <p:spPr>
          <a:xfrm>
            <a:off x="8778240" y="5230368"/>
            <a:ext cx="2743200" cy="54864"/>
          </a:xfrm>
          <a:prstGeom prst="roundRect">
            <a:avLst>
              <a:gd name="adj" fmla="val 50000"/>
            </a:avLst>
          </a:prstGeom>
          <a:solidFill>
            <a:srgbClr val="E2E3E3"/>
          </a:solidFill>
          <a:ln/>
        </p:spPr>
      </p:sp>
      <p:sp>
        <p:nvSpPr>
          <p:cNvPr id="52" name="!!knobFill"/>
          <p:cNvSpPr/>
          <p:nvPr/>
        </p:nvSpPr>
        <p:spPr>
          <a:xfrm>
            <a:off x="8778240" y="5230368"/>
            <a:ext cx="18288" cy="54864"/>
          </a:xfrm>
          <a:prstGeom prst="roundRect">
            <a:avLst>
              <a:gd name="adj" fmla="val 150000"/>
            </a:avLst>
          </a:prstGeom>
          <a:solidFill>
            <a:srgbClr val="6B5BC4"/>
          </a:solidFill>
          <a:ln/>
        </p:spPr>
      </p:sp>
      <p:sp>
        <p:nvSpPr>
          <p:cNvPr id="53" name="!!knobT0"/>
          <p:cNvSpPr txBox="1"/>
          <p:nvPr/>
        </p:nvSpPr>
        <p:spPr>
          <a:xfrm>
            <a:off x="84124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1</a:t>
            </a:r>
            <a:endParaRPr lang="en-US" sz="900" dirty="0"/>
          </a:p>
        </p:txBody>
      </p:sp>
      <p:sp>
        <p:nvSpPr>
          <p:cNvPr id="54" name="!!knobT1"/>
          <p:cNvSpPr txBox="1"/>
          <p:nvPr/>
        </p:nvSpPr>
        <p:spPr>
          <a:xfrm>
            <a:off x="93268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2</a:t>
            </a:r>
            <a:endParaRPr lang="en-US" sz="900" dirty="0"/>
          </a:p>
        </p:txBody>
      </p:sp>
      <p:sp>
        <p:nvSpPr>
          <p:cNvPr id="55" name="!!knobT2"/>
          <p:cNvSpPr txBox="1"/>
          <p:nvPr/>
        </p:nvSpPr>
        <p:spPr>
          <a:xfrm>
            <a:off x="102412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a:t>
            </a:r>
            <a:endParaRPr lang="en-US" sz="900" dirty="0"/>
          </a:p>
        </p:txBody>
      </p:sp>
      <p:sp>
        <p:nvSpPr>
          <p:cNvPr id="56" name="!!knobT3"/>
          <p:cNvSpPr txBox="1"/>
          <p:nvPr/>
        </p:nvSpPr>
        <p:spPr>
          <a:xfrm>
            <a:off x="111556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a:t>
            </a:r>
            <a:endParaRPr lang="en-US" sz="900" dirty="0"/>
          </a:p>
        </p:txBody>
      </p:sp>
      <p:sp>
        <p:nvSpPr>
          <p:cNvPr id="57" name="!!knobThumb"/>
          <p:cNvSpPr/>
          <p:nvPr/>
        </p:nvSpPr>
        <p:spPr>
          <a:xfrm>
            <a:off x="8677656" y="5157216"/>
            <a:ext cx="201168" cy="201168"/>
          </a:xfrm>
          <a:prstGeom prst="ellipse">
            <a:avLst/>
          </a:prstGeom>
          <a:solidFill>
            <a:srgbClr val="FFFFFF"/>
          </a:solidFill>
          <a:ln w="28575">
            <a:solidFill>
              <a:srgbClr val="6B5BC4"/>
            </a:solidFill>
            <a:prstDash val="solid"/>
          </a:ln>
        </p:spPr>
      </p:sp>
      <p:sp>
        <p:nvSpPr>
          <p:cNvPr id="58"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Planar: λ = 4.37 nm; 4 % of the drain pull still reaches the source end of a 14 nm gate.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43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Shrinking the gate – Proof: the scale length λ</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The drain potential fades into the channel as e^(−x/λ); more gate sides → smaller λ</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171A20"/>
          </a:solidFill>
          <a:ln/>
        </p:spPr>
      </p:sp>
      <p:sp>
        <p:nvSpPr>
          <p:cNvPr id="6" name="!!sdot2"/>
          <p:cNvSpPr/>
          <p:nvPr/>
        </p:nvSpPr>
        <p:spPr>
          <a:xfrm>
            <a:off x="11443716" y="525780"/>
            <a:ext cx="82296" cy="82296"/>
          </a:xfrm>
          <a:prstGeom prst="ellipse">
            <a:avLst/>
          </a:prstGeom>
          <a:solidFill>
            <a:srgbClr val="E2E3E3"/>
          </a:solidFill>
          <a:ln/>
        </p:spPr>
      </p:sp>
      <p:sp>
        <p:nvSpPr>
          <p:cNvPr id="7" name="!!sdot3"/>
          <p:cNvSpPr/>
          <p:nvPr/>
        </p:nvSpPr>
        <p:spPr>
          <a:xfrm>
            <a:off x="11599164" y="525780"/>
            <a:ext cx="82296" cy="82296"/>
          </a:xfrm>
          <a:prstGeom prst="ellipse">
            <a:avLst/>
          </a:prstGeom>
          <a:solidFill>
            <a:srgbClr val="E2E3E3"/>
          </a:solidFill>
          <a:ln/>
        </p:spPr>
      </p:sp>
      <p:sp>
        <p:nvSpPr>
          <p:cNvPr id="8" name="!!icSi"/>
          <p:cNvSpPr/>
          <p:nvPr/>
        </p:nvSpPr>
        <p:spPr>
          <a:xfrm>
            <a:off x="1143000" y="2697480"/>
            <a:ext cx="1371600" cy="1371600"/>
          </a:xfrm>
          <a:prstGeom prst="rect">
            <a:avLst/>
          </a:prstGeom>
          <a:solidFill>
            <a:srgbClr val="F6E7B8"/>
          </a:solidFill>
          <a:ln/>
        </p:spPr>
      </p:sp>
      <p:sp>
        <p:nvSpPr>
          <p:cNvPr id="9" name="!!icSiL"/>
          <p:cNvSpPr txBox="1"/>
          <p:nvPr/>
        </p:nvSpPr>
        <p:spPr>
          <a:xfrm>
            <a:off x="1143000" y="3108960"/>
            <a:ext cx="1371600" cy="548640"/>
          </a:xfrm>
          <a:prstGeom prst="rect">
            <a:avLst/>
          </a:prstGeom>
          <a:noFill/>
          <a:ln/>
        </p:spPr>
        <p:txBody>
          <a:bodyPr wrap="square" lIns="0" tIns="0" rIns="0" bIns="0" rtlCol="0" anchor="ctr"/>
          <a:lstStyle/>
          <a:p>
            <a:pPr algn="ctr" indent="0" marL="0">
              <a:buNone/>
            </a:pPr>
            <a:r>
              <a:rPr lang="en-US" sz="1100" dirty="0">
                <a:solidFill>
                  <a:srgbClr val="8A6D1F"/>
                </a:solidFill>
                <a:latin typeface="Segoe UI" pitchFamily="34" charset="0"/>
                <a:ea typeface="Segoe UI" pitchFamily="34" charset="-122"/>
                <a:cs typeface="Segoe UI" pitchFamily="34" charset="-120"/>
              </a:rPr>
              <a:t>silicon</a:t>
            </a:r>
            <a:endParaRPr lang="en-US" sz="1100" dirty="0"/>
          </a:p>
          <a:p>
            <a:pPr algn="ctr" indent="0" marL="0">
              <a:buNone/>
            </a:pPr>
            <a:r>
              <a:rPr lang="en-US" sz="1100" dirty="0">
                <a:solidFill>
                  <a:srgbClr val="8A6D1F"/>
                </a:solidFill>
                <a:latin typeface="Segoe UI" pitchFamily="34" charset="0"/>
                <a:ea typeface="Segoe UI" pitchFamily="34" charset="-122"/>
                <a:cs typeface="Segoe UI" pitchFamily="34" charset="-120"/>
              </a:rPr>
              <a:t>8 nm</a:t>
            </a:r>
            <a:endParaRPr lang="en-US" sz="1100" dirty="0"/>
          </a:p>
        </p:txBody>
      </p:sp>
      <p:sp>
        <p:nvSpPr>
          <p:cNvPr id="10" name="!!icG0"/>
          <p:cNvSpPr/>
          <p:nvPr/>
        </p:nvSpPr>
        <p:spPr>
          <a:xfrm>
            <a:off x="1069848" y="2423160"/>
            <a:ext cx="1517904" cy="201168"/>
          </a:xfrm>
          <a:prstGeom prst="rect">
            <a:avLst/>
          </a:prstGeom>
          <a:solidFill>
            <a:srgbClr val="8E7CC3"/>
          </a:solidFill>
          <a:ln/>
        </p:spPr>
      </p:sp>
      <p:sp>
        <p:nvSpPr>
          <p:cNvPr id="11" name="!!icG1"/>
          <p:cNvSpPr/>
          <p:nvPr/>
        </p:nvSpPr>
        <p:spPr>
          <a:xfrm>
            <a:off x="1069848" y="4142232"/>
            <a:ext cx="1517904" cy="201168"/>
          </a:xfrm>
          <a:prstGeom prst="rect">
            <a:avLst/>
          </a:prstGeom>
          <a:solidFill>
            <a:srgbClr val="8E7CC3"/>
          </a:solidFill>
          <a:ln/>
        </p:spPr>
      </p:sp>
      <p:sp>
        <p:nvSpPr>
          <p:cNvPr id="12" name="!!icG2"/>
          <p:cNvSpPr/>
          <p:nvPr/>
        </p:nvSpPr>
        <p:spPr>
          <a:xfrm>
            <a:off x="868680" y="2624328"/>
            <a:ext cx="201168" cy="1517904"/>
          </a:xfrm>
          <a:prstGeom prst="rect">
            <a:avLst/>
          </a:prstGeom>
          <a:solidFill>
            <a:srgbClr val="F1F2F4"/>
          </a:solidFill>
          <a:ln w="9525">
            <a:solidFill>
              <a:srgbClr val="D9DCE3"/>
            </a:solidFill>
            <a:prstDash val="dash"/>
          </a:ln>
        </p:spPr>
      </p:sp>
      <p:sp>
        <p:nvSpPr>
          <p:cNvPr id="13" name="!!icG3"/>
          <p:cNvSpPr/>
          <p:nvPr/>
        </p:nvSpPr>
        <p:spPr>
          <a:xfrm>
            <a:off x="2587752" y="2624328"/>
            <a:ext cx="201168" cy="1517904"/>
          </a:xfrm>
          <a:prstGeom prst="rect">
            <a:avLst/>
          </a:prstGeom>
          <a:solidFill>
            <a:srgbClr val="F1F2F4"/>
          </a:solidFill>
          <a:ln w="9525">
            <a:solidFill>
              <a:srgbClr val="D9DCE3"/>
            </a:solidFill>
            <a:prstDash val="dash"/>
          </a:ln>
        </p:spPr>
      </p:sp>
      <p:sp>
        <p:nvSpPr>
          <p:cNvPr id="14" name="!!icName"/>
          <p:cNvSpPr txBox="1"/>
          <p:nvPr/>
        </p:nvSpPr>
        <p:spPr>
          <a:xfrm>
            <a:off x="548640" y="4526280"/>
            <a:ext cx="2560320" cy="274320"/>
          </a:xfrm>
          <a:prstGeom prst="rect">
            <a:avLst/>
          </a:prstGeom>
          <a:noFill/>
          <a:ln/>
        </p:spPr>
        <p:txBody>
          <a:bodyPr wrap="square" lIns="0" tIns="0" rIns="0" bIns="0" rtlCol="0" anchor="t"/>
          <a:lstStyle/>
          <a:p>
            <a:pPr algn="ctr" indent="0" marL="0">
              <a:buNone/>
            </a:pPr>
            <a:r>
              <a:rPr lang="en-US" sz="1400" dirty="0">
                <a:solidFill>
                  <a:srgbClr val="171A20"/>
                </a:solidFill>
                <a:latin typeface="Segoe UI Semibold" pitchFamily="34" charset="0"/>
                <a:ea typeface="Segoe UI Semibold" pitchFamily="34" charset="-122"/>
                <a:cs typeface="Segoe UI Semibold" pitchFamily="34" charset="-120"/>
              </a:rPr>
              <a:t>double gate (2 sides)</a:t>
            </a:r>
            <a:endParaRPr lang="en-US" sz="1400" dirty="0"/>
          </a:p>
        </p:txBody>
      </p:sp>
      <p:sp>
        <p:nvSpPr>
          <p:cNvPr id="15" name="!!axg0"/>
          <p:cNvSpPr/>
          <p:nvPr/>
        </p:nvSpPr>
        <p:spPr>
          <a:xfrm>
            <a:off x="4023360" y="4846320"/>
            <a:ext cx="4023360" cy="91"/>
          </a:xfrm>
          <a:prstGeom prst="line">
            <a:avLst/>
          </a:prstGeom>
          <a:noFill/>
          <a:ln w="9525">
            <a:solidFill>
              <a:srgbClr val="EDEEF0"/>
            </a:solidFill>
            <a:prstDash val="solid"/>
          </a:ln>
        </p:spPr>
      </p:sp>
      <p:sp>
        <p:nvSpPr>
          <p:cNvPr id="16" name="!!axg1"/>
          <p:cNvSpPr/>
          <p:nvPr/>
        </p:nvSpPr>
        <p:spPr>
          <a:xfrm>
            <a:off x="4023360" y="4046220"/>
            <a:ext cx="4023360" cy="91"/>
          </a:xfrm>
          <a:prstGeom prst="line">
            <a:avLst/>
          </a:prstGeom>
          <a:noFill/>
          <a:ln w="9525">
            <a:solidFill>
              <a:srgbClr val="EDEEF0"/>
            </a:solidFill>
            <a:prstDash val="solid"/>
          </a:ln>
        </p:spPr>
      </p:sp>
      <p:sp>
        <p:nvSpPr>
          <p:cNvPr id="17" name="!!axg2"/>
          <p:cNvSpPr/>
          <p:nvPr/>
        </p:nvSpPr>
        <p:spPr>
          <a:xfrm>
            <a:off x="4023360" y="3246120"/>
            <a:ext cx="4023360" cy="91"/>
          </a:xfrm>
          <a:prstGeom prst="line">
            <a:avLst/>
          </a:prstGeom>
          <a:noFill/>
          <a:ln w="9525">
            <a:solidFill>
              <a:srgbClr val="EDEEF0"/>
            </a:solidFill>
            <a:prstDash val="solid"/>
          </a:ln>
        </p:spPr>
      </p:sp>
      <p:sp>
        <p:nvSpPr>
          <p:cNvPr id="18" name="!!axg3"/>
          <p:cNvSpPr/>
          <p:nvPr/>
        </p:nvSpPr>
        <p:spPr>
          <a:xfrm>
            <a:off x="4023360" y="2446020"/>
            <a:ext cx="4023360" cy="91"/>
          </a:xfrm>
          <a:prstGeom prst="line">
            <a:avLst/>
          </a:prstGeom>
          <a:noFill/>
          <a:ln w="9525">
            <a:solidFill>
              <a:srgbClr val="EDEEF0"/>
            </a:solidFill>
            <a:prstDash val="solid"/>
          </a:ln>
        </p:spPr>
      </p:sp>
      <p:sp>
        <p:nvSpPr>
          <p:cNvPr id="19" name="!!axg4"/>
          <p:cNvSpPr/>
          <p:nvPr/>
        </p:nvSpPr>
        <p:spPr>
          <a:xfrm>
            <a:off x="4023360" y="1645920"/>
            <a:ext cx="4023360" cy="91"/>
          </a:xfrm>
          <a:prstGeom prst="line">
            <a:avLst/>
          </a:prstGeom>
          <a:noFill/>
          <a:ln w="9525">
            <a:solidFill>
              <a:srgbClr val="EDEEF0"/>
            </a:solidFill>
            <a:prstDash val="solid"/>
          </a:ln>
        </p:spPr>
      </p:sp>
      <p:sp>
        <p:nvSpPr>
          <p:cNvPr id="20" name="!!axxa"/>
          <p:cNvSpPr/>
          <p:nvPr/>
        </p:nvSpPr>
        <p:spPr>
          <a:xfrm>
            <a:off x="4023360" y="4846320"/>
            <a:ext cx="4023360" cy="91"/>
          </a:xfrm>
          <a:prstGeom prst="line">
            <a:avLst/>
          </a:prstGeom>
          <a:noFill/>
          <a:ln w="12700">
            <a:solidFill>
              <a:srgbClr val="8A8D93"/>
            </a:solidFill>
            <a:prstDash val="solid"/>
          </a:ln>
        </p:spPr>
      </p:sp>
      <p:sp>
        <p:nvSpPr>
          <p:cNvPr id="21" name="!!axya"/>
          <p:cNvSpPr/>
          <p:nvPr/>
        </p:nvSpPr>
        <p:spPr>
          <a:xfrm>
            <a:off x="4023360" y="1645920"/>
            <a:ext cx="91" cy="3200400"/>
          </a:xfrm>
          <a:prstGeom prst="line">
            <a:avLst/>
          </a:prstGeom>
          <a:noFill/>
          <a:ln w="12700">
            <a:solidFill>
              <a:srgbClr val="8A8D93"/>
            </a:solidFill>
            <a:prstDash val="solid"/>
          </a:ln>
        </p:spPr>
      </p:sp>
      <p:sp>
        <p:nvSpPr>
          <p:cNvPr id="22" name="!!axxt0"/>
          <p:cNvSpPr txBox="1"/>
          <p:nvPr/>
        </p:nvSpPr>
        <p:spPr>
          <a:xfrm>
            <a:off x="3703320"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23" name="!!axxt1"/>
          <p:cNvSpPr txBox="1"/>
          <p:nvPr/>
        </p:nvSpPr>
        <p:spPr>
          <a:xfrm>
            <a:off x="4278086"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a:t>
            </a:r>
            <a:endParaRPr lang="en-US" sz="900" dirty="0"/>
          </a:p>
        </p:txBody>
      </p:sp>
      <p:sp>
        <p:nvSpPr>
          <p:cNvPr id="24" name="!!axxt2"/>
          <p:cNvSpPr txBox="1"/>
          <p:nvPr/>
        </p:nvSpPr>
        <p:spPr>
          <a:xfrm>
            <a:off x="4852851"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a:t>
            </a:r>
            <a:endParaRPr lang="en-US" sz="900" dirty="0"/>
          </a:p>
        </p:txBody>
      </p:sp>
      <p:sp>
        <p:nvSpPr>
          <p:cNvPr id="25" name="!!axxt3"/>
          <p:cNvSpPr txBox="1"/>
          <p:nvPr/>
        </p:nvSpPr>
        <p:spPr>
          <a:xfrm>
            <a:off x="5427617"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6</a:t>
            </a:r>
            <a:endParaRPr lang="en-US" sz="900" dirty="0"/>
          </a:p>
        </p:txBody>
      </p:sp>
      <p:sp>
        <p:nvSpPr>
          <p:cNvPr id="26" name="!!axxt4"/>
          <p:cNvSpPr txBox="1"/>
          <p:nvPr/>
        </p:nvSpPr>
        <p:spPr>
          <a:xfrm>
            <a:off x="6002383"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8</a:t>
            </a:r>
            <a:endParaRPr lang="en-US" sz="900" dirty="0"/>
          </a:p>
        </p:txBody>
      </p:sp>
      <p:sp>
        <p:nvSpPr>
          <p:cNvPr id="27" name="!!axxt5"/>
          <p:cNvSpPr txBox="1"/>
          <p:nvPr/>
        </p:nvSpPr>
        <p:spPr>
          <a:xfrm>
            <a:off x="6577149"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28" name="!!axxt6"/>
          <p:cNvSpPr txBox="1"/>
          <p:nvPr/>
        </p:nvSpPr>
        <p:spPr>
          <a:xfrm>
            <a:off x="7151914"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12</a:t>
            </a:r>
            <a:endParaRPr lang="en-US" sz="900" dirty="0"/>
          </a:p>
        </p:txBody>
      </p:sp>
      <p:sp>
        <p:nvSpPr>
          <p:cNvPr id="29" name="!!axxt7"/>
          <p:cNvSpPr txBox="1"/>
          <p:nvPr/>
        </p:nvSpPr>
        <p:spPr>
          <a:xfrm>
            <a:off x="7726680"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14</a:t>
            </a:r>
            <a:endParaRPr lang="en-US" sz="900" dirty="0"/>
          </a:p>
        </p:txBody>
      </p:sp>
      <p:sp>
        <p:nvSpPr>
          <p:cNvPr id="30" name="!!axyt0"/>
          <p:cNvSpPr txBox="1"/>
          <p:nvPr/>
        </p:nvSpPr>
        <p:spPr>
          <a:xfrm>
            <a:off x="3337560" y="47457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0 %</a:t>
            </a:r>
            <a:endParaRPr lang="en-US" sz="900" dirty="0"/>
          </a:p>
        </p:txBody>
      </p:sp>
      <p:sp>
        <p:nvSpPr>
          <p:cNvPr id="31" name="!!axyt1"/>
          <p:cNvSpPr txBox="1"/>
          <p:nvPr/>
        </p:nvSpPr>
        <p:spPr>
          <a:xfrm>
            <a:off x="3337560" y="39456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25 %</a:t>
            </a:r>
            <a:endParaRPr lang="en-US" sz="900" dirty="0"/>
          </a:p>
        </p:txBody>
      </p:sp>
      <p:sp>
        <p:nvSpPr>
          <p:cNvPr id="32" name="!!axyt2"/>
          <p:cNvSpPr txBox="1"/>
          <p:nvPr/>
        </p:nvSpPr>
        <p:spPr>
          <a:xfrm>
            <a:off x="3337560" y="31455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50 %</a:t>
            </a:r>
            <a:endParaRPr lang="en-US" sz="900" dirty="0"/>
          </a:p>
        </p:txBody>
      </p:sp>
      <p:sp>
        <p:nvSpPr>
          <p:cNvPr id="33" name="!!axyt3"/>
          <p:cNvSpPr txBox="1"/>
          <p:nvPr/>
        </p:nvSpPr>
        <p:spPr>
          <a:xfrm>
            <a:off x="3337560" y="23454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75 %</a:t>
            </a:r>
            <a:endParaRPr lang="en-US" sz="900" dirty="0"/>
          </a:p>
        </p:txBody>
      </p:sp>
      <p:sp>
        <p:nvSpPr>
          <p:cNvPr id="34" name="!!axyt4"/>
          <p:cNvSpPr txBox="1"/>
          <p:nvPr/>
        </p:nvSpPr>
        <p:spPr>
          <a:xfrm>
            <a:off x="3337560" y="1545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a:t>
            </a:r>
            <a:endParaRPr lang="en-US" sz="900" dirty="0"/>
          </a:p>
        </p:txBody>
      </p:sp>
      <p:sp>
        <p:nvSpPr>
          <p:cNvPr id="35" name="!!axxl"/>
          <p:cNvSpPr txBox="1"/>
          <p:nvPr/>
        </p:nvSpPr>
        <p:spPr>
          <a:xfrm>
            <a:off x="4023360" y="5120640"/>
            <a:ext cx="402336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distance from the drain into the channel x (nm)</a:t>
            </a:r>
            <a:endParaRPr lang="en-US" sz="1100" dirty="0"/>
          </a:p>
        </p:txBody>
      </p:sp>
      <p:sp>
        <p:nvSpPr>
          <p:cNvPr id="36" name="!!axyl"/>
          <p:cNvSpPr txBox="1"/>
          <p:nvPr/>
        </p:nvSpPr>
        <p:spPr>
          <a:xfrm>
            <a:off x="3840480" y="134416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drain pull left  e^(−x/λ)</a:t>
            </a:r>
            <a:endParaRPr lang="en-US" sz="1100" dirty="0"/>
          </a:p>
        </p:txBody>
      </p:sp>
      <p:sp>
        <p:nvSpPr>
          <p:cNvPr id="37" name="!!lmC0"/>
          <p:cNvSpPr/>
          <p:nvPr/>
        </p:nvSpPr>
        <p:spPr>
          <a:xfrm>
            <a:off x="4023360" y="1645920"/>
            <a:ext cx="4023360" cy="3070421"/>
          </a:xfrm>
          <a:custGeom>
            <a:avLst/>
            <a:gdLst/>
            <a:ahLst/>
            <a:cxnLst/>
            <a:rect l="l" t="t" r="r" b="b"/>
            <a:pathLst>
              <a:path w="4023360" h="3070421">
                <a:moveTo>
                  <a:pt x="0" y="0"/>
                </a:moveTo>
                <a:lnTo>
                  <a:pt x="114953" y="279936"/>
                </a:lnTo>
                <a:lnTo>
                  <a:pt x="229906" y="535386"/>
                </a:lnTo>
                <a:lnTo>
                  <a:pt x="344859" y="768492"/>
                </a:lnTo>
                <a:lnTo>
                  <a:pt x="459813" y="981208"/>
                </a:lnTo>
                <a:lnTo>
                  <a:pt x="574766" y="1175319"/>
                </a:lnTo>
                <a:lnTo>
                  <a:pt x="689719" y="1352450"/>
                </a:lnTo>
                <a:lnTo>
                  <a:pt x="804672" y="1514089"/>
                </a:lnTo>
                <a:lnTo>
                  <a:pt x="919625" y="1661589"/>
                </a:lnTo>
                <a:lnTo>
                  <a:pt x="1034578" y="1796187"/>
                </a:lnTo>
                <a:lnTo>
                  <a:pt x="1149531" y="1919012"/>
                </a:lnTo>
                <a:lnTo>
                  <a:pt x="1264485" y="2031094"/>
                </a:lnTo>
                <a:lnTo>
                  <a:pt x="1379438" y="2133372"/>
                </a:lnTo>
                <a:lnTo>
                  <a:pt x="1494391" y="2226703"/>
                </a:lnTo>
                <a:lnTo>
                  <a:pt x="1609344" y="2311872"/>
                </a:lnTo>
                <a:lnTo>
                  <a:pt x="1724297" y="2389590"/>
                </a:lnTo>
                <a:lnTo>
                  <a:pt x="1839250" y="2460511"/>
                </a:lnTo>
                <a:lnTo>
                  <a:pt x="1954203" y="2525228"/>
                </a:lnTo>
                <a:lnTo>
                  <a:pt x="2069157" y="2584285"/>
                </a:lnTo>
                <a:lnTo>
                  <a:pt x="2184110" y="2638176"/>
                </a:lnTo>
                <a:lnTo>
                  <a:pt x="2299063" y="2687353"/>
                </a:lnTo>
                <a:lnTo>
                  <a:pt x="2414016" y="2732229"/>
                </a:lnTo>
                <a:lnTo>
                  <a:pt x="2528969" y="2773179"/>
                </a:lnTo>
                <a:lnTo>
                  <a:pt x="2643922" y="2810548"/>
                </a:lnTo>
                <a:lnTo>
                  <a:pt x="2758875" y="2844648"/>
                </a:lnTo>
                <a:lnTo>
                  <a:pt x="2873829" y="2875765"/>
                </a:lnTo>
                <a:lnTo>
                  <a:pt x="2988782" y="2904160"/>
                </a:lnTo>
                <a:lnTo>
                  <a:pt x="3103735" y="2930072"/>
                </a:lnTo>
                <a:lnTo>
                  <a:pt x="3218688" y="2953718"/>
                </a:lnTo>
                <a:lnTo>
                  <a:pt x="3333641" y="2975295"/>
                </a:lnTo>
                <a:lnTo>
                  <a:pt x="3448594" y="2994984"/>
                </a:lnTo>
                <a:lnTo>
                  <a:pt x="3563547" y="3012952"/>
                </a:lnTo>
                <a:lnTo>
                  <a:pt x="3678501" y="3029348"/>
                </a:lnTo>
                <a:lnTo>
                  <a:pt x="3793454" y="3044309"/>
                </a:lnTo>
                <a:lnTo>
                  <a:pt x="3908407" y="3057963"/>
                </a:lnTo>
                <a:lnTo>
                  <a:pt x="4023360" y="3070421"/>
                </a:lnTo>
              </a:path>
            </a:pathLst>
          </a:custGeom>
          <a:ln w="22225">
            <a:solidFill>
              <a:srgbClr val="D64545"/>
            </a:solidFill>
            <a:prstDash val="solid"/>
          </a:ln>
        </p:spPr>
      </p:sp>
      <p:sp>
        <p:nvSpPr>
          <p:cNvPr id="38" name="!!lmC1"/>
          <p:cNvSpPr/>
          <p:nvPr/>
        </p:nvSpPr>
        <p:spPr>
          <a:xfrm>
            <a:off x="4023360" y="1645920"/>
            <a:ext cx="4023360" cy="3165923"/>
          </a:xfrm>
          <a:custGeom>
            <a:avLst/>
            <a:gdLst/>
            <a:ahLst/>
            <a:cxnLst/>
            <a:rect l="l" t="t" r="r" b="b"/>
            <a:pathLst>
              <a:path w="4023360" h="3165923">
                <a:moveTo>
                  <a:pt x="0" y="0"/>
                </a:moveTo>
                <a:lnTo>
                  <a:pt x="114953" y="388597"/>
                </a:lnTo>
                <a:lnTo>
                  <a:pt x="229906" y="730010"/>
                </a:lnTo>
                <a:lnTo>
                  <a:pt x="344859" y="1029968"/>
                </a:lnTo>
                <a:lnTo>
                  <a:pt x="459813" y="1293505"/>
                </a:lnTo>
                <a:lnTo>
                  <a:pt x="574766" y="1525042"/>
                </a:lnTo>
                <a:lnTo>
                  <a:pt x="689719" y="1728467"/>
                </a:lnTo>
                <a:lnTo>
                  <a:pt x="804672" y="1907191"/>
                </a:lnTo>
                <a:lnTo>
                  <a:pt x="919625" y="2064214"/>
                </a:lnTo>
                <a:lnTo>
                  <a:pt x="1034578" y="2202171"/>
                </a:lnTo>
                <a:lnTo>
                  <a:pt x="1149531" y="2323377"/>
                </a:lnTo>
                <a:lnTo>
                  <a:pt x="1264485" y="2429867"/>
                </a:lnTo>
                <a:lnTo>
                  <a:pt x="1379438" y="2523426"/>
                </a:lnTo>
                <a:lnTo>
                  <a:pt x="1494391" y="2605625"/>
                </a:lnTo>
                <a:lnTo>
                  <a:pt x="1609344" y="2677843"/>
                </a:lnTo>
                <a:lnTo>
                  <a:pt x="1724297" y="2741293"/>
                </a:lnTo>
                <a:lnTo>
                  <a:pt x="1839250" y="2797038"/>
                </a:lnTo>
                <a:lnTo>
                  <a:pt x="1954203" y="2846015"/>
                </a:lnTo>
                <a:lnTo>
                  <a:pt x="2069157" y="2889045"/>
                </a:lnTo>
                <a:lnTo>
                  <a:pt x="2184110" y="2926850"/>
                </a:lnTo>
                <a:lnTo>
                  <a:pt x="2299063" y="2960065"/>
                </a:lnTo>
                <a:lnTo>
                  <a:pt x="2414016" y="2989247"/>
                </a:lnTo>
                <a:lnTo>
                  <a:pt x="2528969" y="3014885"/>
                </a:lnTo>
                <a:lnTo>
                  <a:pt x="2643922" y="3037411"/>
                </a:lnTo>
                <a:lnTo>
                  <a:pt x="2758875" y="3057201"/>
                </a:lnTo>
                <a:lnTo>
                  <a:pt x="2873829" y="3074588"/>
                </a:lnTo>
                <a:lnTo>
                  <a:pt x="2988782" y="3089865"/>
                </a:lnTo>
                <a:lnTo>
                  <a:pt x="3103735" y="3103286"/>
                </a:lnTo>
                <a:lnTo>
                  <a:pt x="3218688" y="3115078"/>
                </a:lnTo>
                <a:lnTo>
                  <a:pt x="3333641" y="3125438"/>
                </a:lnTo>
                <a:lnTo>
                  <a:pt x="3448594" y="3134540"/>
                </a:lnTo>
                <a:lnTo>
                  <a:pt x="3563547" y="3142537"/>
                </a:lnTo>
                <a:lnTo>
                  <a:pt x="3678501" y="3149562"/>
                </a:lnTo>
                <a:lnTo>
                  <a:pt x="3793454" y="3155735"/>
                </a:lnTo>
                <a:lnTo>
                  <a:pt x="3908407" y="3161158"/>
                </a:lnTo>
                <a:lnTo>
                  <a:pt x="4023360" y="3165923"/>
                </a:lnTo>
              </a:path>
            </a:pathLst>
          </a:custGeom>
          <a:ln w="38100">
            <a:solidFill>
              <a:srgbClr val="E07B00"/>
            </a:solidFill>
            <a:prstDash val="solid"/>
          </a:ln>
        </p:spPr>
      </p:sp>
      <p:sp>
        <p:nvSpPr>
          <p:cNvPr id="39" name="!!lmE1"/>
          <p:cNvSpPr txBox="1"/>
          <p:nvPr/>
        </p:nvSpPr>
        <p:spPr>
          <a:xfrm>
            <a:off x="7772400" y="4519235"/>
            <a:ext cx="731520" cy="182880"/>
          </a:xfrm>
          <a:prstGeom prst="rect">
            <a:avLst/>
          </a:prstGeom>
          <a:noFill/>
          <a:ln/>
        </p:spPr>
        <p:txBody>
          <a:bodyPr wrap="square" lIns="0" tIns="0" rIns="0" bIns="0" rtlCol="0" anchor="t"/>
          <a:lstStyle/>
          <a:p>
            <a:pPr algn="l" indent="0" marL="0">
              <a:buNone/>
            </a:pPr>
            <a:r>
              <a:rPr lang="en-US" sz="900" dirty="0">
                <a:solidFill>
                  <a:srgbClr val="E07B00"/>
                </a:solidFill>
                <a:latin typeface="Segoe UI Semibold" pitchFamily="34" charset="0"/>
                <a:ea typeface="Segoe UI Semibold" pitchFamily="34" charset="-122"/>
                <a:cs typeface="Segoe UI Semibold" pitchFamily="34" charset="-120"/>
              </a:rPr>
              <a:t>1.08 %</a:t>
            </a:r>
            <a:endParaRPr lang="en-US" sz="900" dirty="0"/>
          </a:p>
        </p:txBody>
      </p:sp>
      <p:sp>
        <p:nvSpPr>
          <p:cNvPr id="40" name="!!lmEq"/>
          <p:cNvSpPr txBox="1"/>
          <p:nvPr/>
        </p:nvSpPr>
        <p:spPr>
          <a:xfrm>
            <a:off x="8686800" y="1600200"/>
            <a:ext cx="3017520" cy="320040"/>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λ = √( ε</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si</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t</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si</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t</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ox</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(N · ε</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ox</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a:t>
            </a:r>
            <a:endParaRPr lang="en-US" sz="1400" dirty="0"/>
          </a:p>
        </p:txBody>
      </p:sp>
      <p:sp>
        <p:nvSpPr>
          <p:cNvPr id="41" name="!!lmEq2"/>
          <p:cNvSpPr txBox="1"/>
          <p:nvPr/>
        </p:nvSpPr>
        <p:spPr>
          <a:xfrm>
            <a:off x="8686800" y="1965960"/>
            <a:ext cx="3017520" cy="50292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N = gate sides · ε</a:t>
            </a:r>
            <a:pPr algn="l" indent="0" marL="0">
              <a:buNone/>
            </a:pPr>
            <a:r>
              <a:rPr lang="en-US" sz="1100" baseline="-40000" dirty="0">
                <a:solidFill>
                  <a:srgbClr val="5C5E62"/>
                </a:solidFill>
                <a:latin typeface="Segoe UI" pitchFamily="34" charset="0"/>
                <a:ea typeface="Segoe UI" pitchFamily="34" charset="-122"/>
                <a:cs typeface="Segoe UI" pitchFamily="34" charset="-120"/>
              </a:rPr>
              <a:t>si</a:t>
            </a:r>
            <a:pPr algn="l" indent="0" marL="0">
              <a:buNone/>
            </a:pPr>
            <a:r>
              <a:rPr lang="en-US" sz="1100" dirty="0">
                <a:solidFill>
                  <a:srgbClr val="5C5E62"/>
                </a:solidFill>
                <a:latin typeface="Segoe UI" pitchFamily="34" charset="0"/>
                <a:ea typeface="Segoe UI" pitchFamily="34" charset="-122"/>
                <a:cs typeface="Segoe UI" pitchFamily="34" charset="-120"/>
              </a:rPr>
              <a:t>/ε</a:t>
            </a:r>
            <a:pPr algn="l" indent="0" marL="0">
              <a:buNone/>
            </a:pPr>
            <a:r>
              <a:rPr lang="en-US" sz="1100" baseline="-40000" dirty="0">
                <a:solidFill>
                  <a:srgbClr val="5C5E62"/>
                </a:solidFill>
                <a:latin typeface="Segoe UI" pitchFamily="34" charset="0"/>
                <a:ea typeface="Segoe UI" pitchFamily="34" charset="-122"/>
                <a:cs typeface="Segoe UI" pitchFamily="34" charset="-120"/>
              </a:rPr>
              <a:t>ox</a:t>
            </a:r>
            <a:pPr algn="l" indent="0" marL="0">
              <a:buNone/>
            </a:pPr>
            <a:r>
              <a:rPr lang="en-US" sz="1100" dirty="0">
                <a:solidFill>
                  <a:srgbClr val="5C5E62"/>
                </a:solidFill>
                <a:latin typeface="Segoe UI" pitchFamily="34" charset="0"/>
                <a:ea typeface="Segoe UI" pitchFamily="34" charset="-122"/>
                <a:cs typeface="Segoe UI" pitchFamily="34" charset="-120"/>
              </a:rPr>
              <a:t> = 3</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t</a:t>
            </a:r>
            <a:pPr algn="l" indent="0" marL="0">
              <a:buNone/>
            </a:pPr>
            <a:r>
              <a:rPr lang="en-US" sz="1100" baseline="-40000" dirty="0">
                <a:solidFill>
                  <a:srgbClr val="5C5E62"/>
                </a:solidFill>
                <a:latin typeface="Segoe UI" pitchFamily="34" charset="0"/>
                <a:ea typeface="Segoe UI" pitchFamily="34" charset="-122"/>
                <a:cs typeface="Segoe UI" pitchFamily="34" charset="-120"/>
              </a:rPr>
              <a:t>si</a:t>
            </a:r>
            <a:pPr algn="l" indent="0" marL="0">
              <a:buNone/>
            </a:pPr>
            <a:r>
              <a:rPr lang="en-US" sz="1100" dirty="0">
                <a:solidFill>
                  <a:srgbClr val="5C5E62"/>
                </a:solidFill>
                <a:latin typeface="Segoe UI" pitchFamily="34" charset="0"/>
                <a:ea typeface="Segoe UI" pitchFamily="34" charset="-122"/>
                <a:cs typeface="Segoe UI" pitchFamily="34" charset="-120"/>
              </a:rPr>
              <a:t> = 8 nm, t</a:t>
            </a:r>
            <a:pPr algn="l" indent="0" marL="0">
              <a:buNone/>
            </a:pPr>
            <a:r>
              <a:rPr lang="en-US" sz="1100" baseline="-40000" dirty="0">
                <a:solidFill>
                  <a:srgbClr val="5C5E62"/>
                </a:solidFill>
                <a:latin typeface="Segoe UI" pitchFamily="34" charset="0"/>
                <a:ea typeface="Segoe UI" pitchFamily="34" charset="-122"/>
                <a:cs typeface="Segoe UI" pitchFamily="34" charset="-120"/>
              </a:rPr>
              <a:t>ox</a:t>
            </a:r>
            <a:pPr algn="l" indent="0" marL="0">
              <a:buNone/>
            </a:pPr>
            <a:r>
              <a:rPr lang="en-US" sz="1100" dirty="0">
                <a:solidFill>
                  <a:srgbClr val="5C5E62"/>
                </a:solidFill>
                <a:latin typeface="Segoe UI" pitchFamily="34" charset="0"/>
                <a:ea typeface="Segoe UI" pitchFamily="34" charset="-122"/>
                <a:cs typeface="Segoe UI" pitchFamily="34" charset="-120"/>
              </a:rPr>
              <a:t> = EOT 0.8 nm</a:t>
            </a:r>
            <a:endParaRPr lang="en-US" sz="1100" dirty="0"/>
          </a:p>
        </p:txBody>
      </p:sp>
      <p:sp>
        <p:nvSpPr>
          <p:cNvPr id="42" name="!!chip0"/>
          <p:cNvSpPr/>
          <p:nvPr/>
        </p:nvSpPr>
        <p:spPr>
          <a:xfrm>
            <a:off x="8686800" y="2651760"/>
            <a:ext cx="2953512" cy="621792"/>
          </a:xfrm>
          <a:prstGeom prst="roundRect">
            <a:avLst>
              <a:gd name="adj" fmla="val 8824"/>
            </a:avLst>
          </a:prstGeom>
          <a:solidFill>
            <a:srgbClr val="F4F5F7"/>
          </a:solidFill>
          <a:ln/>
        </p:spPr>
      </p:sp>
      <p:sp>
        <p:nvSpPr>
          <p:cNvPr id="43" name="!!chipk0"/>
          <p:cNvSpPr txBox="1"/>
          <p:nvPr/>
        </p:nvSpPr>
        <p:spPr>
          <a:xfrm>
            <a:off x="8796528" y="2724912"/>
            <a:ext cx="27340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scale length λ</a:t>
            </a:r>
            <a:endParaRPr lang="en-US" sz="1000" dirty="0"/>
          </a:p>
        </p:txBody>
      </p:sp>
      <p:sp>
        <p:nvSpPr>
          <p:cNvPr id="44" name="!!chipv0"/>
          <p:cNvSpPr txBox="1"/>
          <p:nvPr/>
        </p:nvSpPr>
        <p:spPr>
          <a:xfrm>
            <a:off x="8796528" y="2962656"/>
            <a:ext cx="27706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3.09 nm</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5" name="!!chip1"/>
          <p:cNvSpPr/>
          <p:nvPr/>
        </p:nvSpPr>
        <p:spPr>
          <a:xfrm>
            <a:off x="8686800" y="3364992"/>
            <a:ext cx="2953512" cy="621792"/>
          </a:xfrm>
          <a:prstGeom prst="roundRect">
            <a:avLst>
              <a:gd name="adj" fmla="val 8824"/>
            </a:avLst>
          </a:prstGeom>
          <a:solidFill>
            <a:srgbClr val="F4F5F7"/>
          </a:solidFill>
          <a:ln/>
        </p:spPr>
      </p:sp>
      <p:sp>
        <p:nvSpPr>
          <p:cNvPr id="46" name="!!chipk1"/>
          <p:cNvSpPr txBox="1"/>
          <p:nvPr/>
        </p:nvSpPr>
        <p:spPr>
          <a:xfrm>
            <a:off x="8796528" y="3438144"/>
            <a:ext cx="27340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L</a:t>
            </a:r>
            <a:pPr algn="l" indent="0" marL="0">
              <a:buNone/>
            </a:pPr>
            <a:r>
              <a:rPr lang="en-US" sz="1000" baseline="-40000" dirty="0">
                <a:solidFill>
                  <a:srgbClr val="5C5E62"/>
                </a:solidFill>
                <a:latin typeface="Segoe UI" pitchFamily="34" charset="0"/>
                <a:ea typeface="Segoe UI" pitchFamily="34" charset="-122"/>
                <a:cs typeface="Segoe UI" pitchFamily="34" charset="-120"/>
              </a:rPr>
              <a:t>g</a:t>
            </a:r>
            <a:pPr algn="l" indent="0" marL="0">
              <a:buNone/>
            </a:pPr>
            <a:r>
              <a:rPr lang="en-US" sz="1000" dirty="0">
                <a:solidFill>
                  <a:srgbClr val="5C5E62"/>
                </a:solidFill>
                <a:latin typeface="Segoe UI" pitchFamily="34" charset="0"/>
                <a:ea typeface="Segoe UI" pitchFamily="34" charset="-122"/>
                <a:cs typeface="Segoe UI" pitchFamily="34" charset="-120"/>
              </a:rPr>
              <a:t> / λ at 14 nm</a:t>
            </a:r>
            <a:endParaRPr lang="en-US" sz="1000" dirty="0"/>
          </a:p>
        </p:txBody>
      </p:sp>
      <p:sp>
        <p:nvSpPr>
          <p:cNvPr id="47" name="!!chipv1"/>
          <p:cNvSpPr txBox="1"/>
          <p:nvPr/>
        </p:nvSpPr>
        <p:spPr>
          <a:xfrm>
            <a:off x="8796528" y="3675888"/>
            <a:ext cx="27706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4.5</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8" name="!!chip2"/>
          <p:cNvSpPr/>
          <p:nvPr/>
        </p:nvSpPr>
        <p:spPr>
          <a:xfrm>
            <a:off x="8686800" y="4078224"/>
            <a:ext cx="2953512" cy="621792"/>
          </a:xfrm>
          <a:prstGeom prst="roundRect">
            <a:avLst>
              <a:gd name="adj" fmla="val 8824"/>
            </a:avLst>
          </a:prstGeom>
          <a:solidFill>
            <a:srgbClr val="F4F5F7"/>
          </a:solidFill>
          <a:ln/>
        </p:spPr>
      </p:sp>
      <p:sp>
        <p:nvSpPr>
          <p:cNvPr id="49" name="!!chipk2"/>
          <p:cNvSpPr txBox="1"/>
          <p:nvPr/>
        </p:nvSpPr>
        <p:spPr>
          <a:xfrm>
            <a:off x="8796528" y="4151376"/>
            <a:ext cx="27340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drain pull at source end</a:t>
            </a:r>
            <a:endParaRPr lang="en-US" sz="1000" dirty="0"/>
          </a:p>
        </p:txBody>
      </p:sp>
      <p:sp>
        <p:nvSpPr>
          <p:cNvPr id="50" name="!!chipv2"/>
          <p:cNvSpPr txBox="1"/>
          <p:nvPr/>
        </p:nvSpPr>
        <p:spPr>
          <a:xfrm>
            <a:off x="8796528" y="4389120"/>
            <a:ext cx="27706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1.08 %</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51" name="!!knobLbl"/>
          <p:cNvSpPr txBox="1"/>
          <p:nvPr/>
        </p:nvSpPr>
        <p:spPr>
          <a:xfrm>
            <a:off x="8759952" y="4846320"/>
            <a:ext cx="283464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sides N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2</a:t>
            </a:r>
            <a:endParaRPr lang="en-US" sz="1200" dirty="0"/>
          </a:p>
        </p:txBody>
      </p:sp>
      <p:sp>
        <p:nvSpPr>
          <p:cNvPr id="52" name="!!knobTrack"/>
          <p:cNvSpPr/>
          <p:nvPr/>
        </p:nvSpPr>
        <p:spPr>
          <a:xfrm>
            <a:off x="8778240" y="5230368"/>
            <a:ext cx="2743200" cy="54864"/>
          </a:xfrm>
          <a:prstGeom prst="roundRect">
            <a:avLst>
              <a:gd name="adj" fmla="val 50000"/>
            </a:avLst>
          </a:prstGeom>
          <a:solidFill>
            <a:srgbClr val="E2E3E3"/>
          </a:solidFill>
          <a:ln/>
        </p:spPr>
      </p:sp>
      <p:sp>
        <p:nvSpPr>
          <p:cNvPr id="53" name="!!knobFill"/>
          <p:cNvSpPr/>
          <p:nvPr/>
        </p:nvSpPr>
        <p:spPr>
          <a:xfrm>
            <a:off x="8778240" y="5230368"/>
            <a:ext cx="914400" cy="54864"/>
          </a:xfrm>
          <a:prstGeom prst="roundRect">
            <a:avLst>
              <a:gd name="adj" fmla="val 50000"/>
            </a:avLst>
          </a:prstGeom>
          <a:solidFill>
            <a:srgbClr val="6B5BC4"/>
          </a:solidFill>
          <a:ln/>
        </p:spPr>
      </p:sp>
      <p:sp>
        <p:nvSpPr>
          <p:cNvPr id="54" name="!!knobT0"/>
          <p:cNvSpPr txBox="1"/>
          <p:nvPr/>
        </p:nvSpPr>
        <p:spPr>
          <a:xfrm>
            <a:off x="84124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1</a:t>
            </a:r>
            <a:endParaRPr lang="en-US" sz="900" dirty="0"/>
          </a:p>
        </p:txBody>
      </p:sp>
      <p:sp>
        <p:nvSpPr>
          <p:cNvPr id="55" name="!!knobT1"/>
          <p:cNvSpPr txBox="1"/>
          <p:nvPr/>
        </p:nvSpPr>
        <p:spPr>
          <a:xfrm>
            <a:off x="93268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2</a:t>
            </a:r>
            <a:endParaRPr lang="en-US" sz="900" dirty="0"/>
          </a:p>
        </p:txBody>
      </p:sp>
      <p:sp>
        <p:nvSpPr>
          <p:cNvPr id="56" name="!!knobT2"/>
          <p:cNvSpPr txBox="1"/>
          <p:nvPr/>
        </p:nvSpPr>
        <p:spPr>
          <a:xfrm>
            <a:off x="102412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a:t>
            </a:r>
            <a:endParaRPr lang="en-US" sz="900" dirty="0"/>
          </a:p>
        </p:txBody>
      </p:sp>
      <p:sp>
        <p:nvSpPr>
          <p:cNvPr id="57" name="!!knobT3"/>
          <p:cNvSpPr txBox="1"/>
          <p:nvPr/>
        </p:nvSpPr>
        <p:spPr>
          <a:xfrm>
            <a:off x="111556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a:t>
            </a:r>
            <a:endParaRPr lang="en-US" sz="900" dirty="0"/>
          </a:p>
        </p:txBody>
      </p:sp>
      <p:sp>
        <p:nvSpPr>
          <p:cNvPr id="58" name="!!knobThumb"/>
          <p:cNvSpPr/>
          <p:nvPr/>
        </p:nvSpPr>
        <p:spPr>
          <a:xfrm>
            <a:off x="9592056" y="5157216"/>
            <a:ext cx="201168" cy="201168"/>
          </a:xfrm>
          <a:prstGeom prst="ellipse">
            <a:avLst/>
          </a:prstGeom>
          <a:solidFill>
            <a:srgbClr val="FFFFFF"/>
          </a:solidFill>
          <a:ln w="28575">
            <a:solidFill>
              <a:srgbClr val="6B5BC4"/>
            </a:solidFill>
            <a:prstDash val="solid"/>
          </a:ln>
        </p:spPr>
      </p:sp>
      <p:sp>
        <p:nvSpPr>
          <p:cNvPr id="5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Two gate sides: λ = 3.09 nm, the pull drops to 1 %.</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44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Shrinking the gate – Proof: the scale length λ</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The drain potential fades into the channel as e^(−x/λ); more gate sides → smaller λ</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171A20"/>
          </a:solidFill>
          <a:ln/>
        </p:spPr>
      </p:sp>
      <p:sp>
        <p:nvSpPr>
          <p:cNvPr id="6" name="!!sdot2"/>
          <p:cNvSpPr/>
          <p:nvPr/>
        </p:nvSpPr>
        <p:spPr>
          <a:xfrm>
            <a:off x="11443716" y="525780"/>
            <a:ext cx="82296" cy="82296"/>
          </a:xfrm>
          <a:prstGeom prst="ellipse">
            <a:avLst/>
          </a:prstGeom>
          <a:solidFill>
            <a:srgbClr val="171A20"/>
          </a:solidFill>
          <a:ln/>
        </p:spPr>
      </p:sp>
      <p:sp>
        <p:nvSpPr>
          <p:cNvPr id="7" name="!!sdot3"/>
          <p:cNvSpPr/>
          <p:nvPr/>
        </p:nvSpPr>
        <p:spPr>
          <a:xfrm>
            <a:off x="11599164" y="525780"/>
            <a:ext cx="82296" cy="82296"/>
          </a:xfrm>
          <a:prstGeom prst="ellipse">
            <a:avLst/>
          </a:prstGeom>
          <a:solidFill>
            <a:srgbClr val="E2E3E3"/>
          </a:solidFill>
          <a:ln/>
        </p:spPr>
      </p:sp>
      <p:sp>
        <p:nvSpPr>
          <p:cNvPr id="8" name="!!icSi"/>
          <p:cNvSpPr/>
          <p:nvPr/>
        </p:nvSpPr>
        <p:spPr>
          <a:xfrm>
            <a:off x="1143000" y="2697480"/>
            <a:ext cx="1371600" cy="1371600"/>
          </a:xfrm>
          <a:prstGeom prst="rect">
            <a:avLst/>
          </a:prstGeom>
          <a:solidFill>
            <a:srgbClr val="F6E7B8"/>
          </a:solidFill>
          <a:ln/>
        </p:spPr>
      </p:sp>
      <p:sp>
        <p:nvSpPr>
          <p:cNvPr id="9" name="!!icSiL"/>
          <p:cNvSpPr txBox="1"/>
          <p:nvPr/>
        </p:nvSpPr>
        <p:spPr>
          <a:xfrm>
            <a:off x="1143000" y="3108960"/>
            <a:ext cx="1371600" cy="548640"/>
          </a:xfrm>
          <a:prstGeom prst="rect">
            <a:avLst/>
          </a:prstGeom>
          <a:noFill/>
          <a:ln/>
        </p:spPr>
        <p:txBody>
          <a:bodyPr wrap="square" lIns="0" tIns="0" rIns="0" bIns="0" rtlCol="0" anchor="ctr"/>
          <a:lstStyle/>
          <a:p>
            <a:pPr algn="ctr" indent="0" marL="0">
              <a:buNone/>
            </a:pPr>
            <a:r>
              <a:rPr lang="en-US" sz="1100" dirty="0">
                <a:solidFill>
                  <a:srgbClr val="8A6D1F"/>
                </a:solidFill>
                <a:latin typeface="Segoe UI" pitchFamily="34" charset="0"/>
                <a:ea typeface="Segoe UI" pitchFamily="34" charset="-122"/>
                <a:cs typeface="Segoe UI" pitchFamily="34" charset="-120"/>
              </a:rPr>
              <a:t>silicon</a:t>
            </a:r>
            <a:endParaRPr lang="en-US" sz="1100" dirty="0"/>
          </a:p>
          <a:p>
            <a:pPr algn="ctr" indent="0" marL="0">
              <a:buNone/>
            </a:pPr>
            <a:r>
              <a:rPr lang="en-US" sz="1100" dirty="0">
                <a:solidFill>
                  <a:srgbClr val="8A6D1F"/>
                </a:solidFill>
                <a:latin typeface="Segoe UI" pitchFamily="34" charset="0"/>
                <a:ea typeface="Segoe UI" pitchFamily="34" charset="-122"/>
                <a:cs typeface="Segoe UI" pitchFamily="34" charset="-120"/>
              </a:rPr>
              <a:t>8 nm</a:t>
            </a:r>
            <a:endParaRPr lang="en-US" sz="1100" dirty="0"/>
          </a:p>
        </p:txBody>
      </p:sp>
      <p:sp>
        <p:nvSpPr>
          <p:cNvPr id="10" name="!!icG0"/>
          <p:cNvSpPr/>
          <p:nvPr/>
        </p:nvSpPr>
        <p:spPr>
          <a:xfrm>
            <a:off x="1069848" y="2423160"/>
            <a:ext cx="1517904" cy="201168"/>
          </a:xfrm>
          <a:prstGeom prst="rect">
            <a:avLst/>
          </a:prstGeom>
          <a:solidFill>
            <a:srgbClr val="8E7CC3"/>
          </a:solidFill>
          <a:ln/>
        </p:spPr>
      </p:sp>
      <p:sp>
        <p:nvSpPr>
          <p:cNvPr id="11" name="!!icG1"/>
          <p:cNvSpPr/>
          <p:nvPr/>
        </p:nvSpPr>
        <p:spPr>
          <a:xfrm>
            <a:off x="1069848" y="4142232"/>
            <a:ext cx="1517904" cy="201168"/>
          </a:xfrm>
          <a:prstGeom prst="rect">
            <a:avLst/>
          </a:prstGeom>
          <a:solidFill>
            <a:srgbClr val="F1F2F4"/>
          </a:solidFill>
          <a:ln w="9525">
            <a:solidFill>
              <a:srgbClr val="D9DCE3"/>
            </a:solidFill>
            <a:prstDash val="dash"/>
          </a:ln>
        </p:spPr>
      </p:sp>
      <p:sp>
        <p:nvSpPr>
          <p:cNvPr id="12" name="!!icG2"/>
          <p:cNvSpPr/>
          <p:nvPr/>
        </p:nvSpPr>
        <p:spPr>
          <a:xfrm>
            <a:off x="868680" y="2624328"/>
            <a:ext cx="201168" cy="1517904"/>
          </a:xfrm>
          <a:prstGeom prst="rect">
            <a:avLst/>
          </a:prstGeom>
          <a:solidFill>
            <a:srgbClr val="8E7CC3"/>
          </a:solidFill>
          <a:ln/>
        </p:spPr>
      </p:sp>
      <p:sp>
        <p:nvSpPr>
          <p:cNvPr id="13" name="!!icG3"/>
          <p:cNvSpPr/>
          <p:nvPr/>
        </p:nvSpPr>
        <p:spPr>
          <a:xfrm>
            <a:off x="2587752" y="2624328"/>
            <a:ext cx="201168" cy="1517904"/>
          </a:xfrm>
          <a:prstGeom prst="rect">
            <a:avLst/>
          </a:prstGeom>
          <a:solidFill>
            <a:srgbClr val="8E7CC3"/>
          </a:solidFill>
          <a:ln/>
        </p:spPr>
      </p:sp>
      <p:sp>
        <p:nvSpPr>
          <p:cNvPr id="14" name="!!icName"/>
          <p:cNvSpPr txBox="1"/>
          <p:nvPr/>
        </p:nvSpPr>
        <p:spPr>
          <a:xfrm>
            <a:off x="548640" y="4526280"/>
            <a:ext cx="2560320" cy="274320"/>
          </a:xfrm>
          <a:prstGeom prst="rect">
            <a:avLst/>
          </a:prstGeom>
          <a:noFill/>
          <a:ln/>
        </p:spPr>
        <p:txBody>
          <a:bodyPr wrap="square" lIns="0" tIns="0" rIns="0" bIns="0" rtlCol="0" anchor="t"/>
          <a:lstStyle/>
          <a:p>
            <a:pPr algn="ctr" indent="0" marL="0">
              <a:buNone/>
            </a:pPr>
            <a:r>
              <a:rPr lang="en-US" sz="1400" dirty="0">
                <a:solidFill>
                  <a:srgbClr val="171A20"/>
                </a:solidFill>
                <a:latin typeface="Segoe UI Semibold" pitchFamily="34" charset="0"/>
                <a:ea typeface="Segoe UI Semibold" pitchFamily="34" charset="-122"/>
                <a:cs typeface="Segoe UI Semibold" pitchFamily="34" charset="-120"/>
              </a:rPr>
              <a:t>FinFET (3 sides)</a:t>
            </a:r>
            <a:endParaRPr lang="en-US" sz="1400" dirty="0"/>
          </a:p>
        </p:txBody>
      </p:sp>
      <p:sp>
        <p:nvSpPr>
          <p:cNvPr id="15" name="!!axg0"/>
          <p:cNvSpPr/>
          <p:nvPr/>
        </p:nvSpPr>
        <p:spPr>
          <a:xfrm>
            <a:off x="4023360" y="4846320"/>
            <a:ext cx="4023360" cy="91"/>
          </a:xfrm>
          <a:prstGeom prst="line">
            <a:avLst/>
          </a:prstGeom>
          <a:noFill/>
          <a:ln w="9525">
            <a:solidFill>
              <a:srgbClr val="EDEEF0"/>
            </a:solidFill>
            <a:prstDash val="solid"/>
          </a:ln>
        </p:spPr>
      </p:sp>
      <p:sp>
        <p:nvSpPr>
          <p:cNvPr id="16" name="!!axg1"/>
          <p:cNvSpPr/>
          <p:nvPr/>
        </p:nvSpPr>
        <p:spPr>
          <a:xfrm>
            <a:off x="4023360" y="4046220"/>
            <a:ext cx="4023360" cy="91"/>
          </a:xfrm>
          <a:prstGeom prst="line">
            <a:avLst/>
          </a:prstGeom>
          <a:noFill/>
          <a:ln w="9525">
            <a:solidFill>
              <a:srgbClr val="EDEEF0"/>
            </a:solidFill>
            <a:prstDash val="solid"/>
          </a:ln>
        </p:spPr>
      </p:sp>
      <p:sp>
        <p:nvSpPr>
          <p:cNvPr id="17" name="!!axg2"/>
          <p:cNvSpPr/>
          <p:nvPr/>
        </p:nvSpPr>
        <p:spPr>
          <a:xfrm>
            <a:off x="4023360" y="3246120"/>
            <a:ext cx="4023360" cy="91"/>
          </a:xfrm>
          <a:prstGeom prst="line">
            <a:avLst/>
          </a:prstGeom>
          <a:noFill/>
          <a:ln w="9525">
            <a:solidFill>
              <a:srgbClr val="EDEEF0"/>
            </a:solidFill>
            <a:prstDash val="solid"/>
          </a:ln>
        </p:spPr>
      </p:sp>
      <p:sp>
        <p:nvSpPr>
          <p:cNvPr id="18" name="!!axg3"/>
          <p:cNvSpPr/>
          <p:nvPr/>
        </p:nvSpPr>
        <p:spPr>
          <a:xfrm>
            <a:off x="4023360" y="2446020"/>
            <a:ext cx="4023360" cy="91"/>
          </a:xfrm>
          <a:prstGeom prst="line">
            <a:avLst/>
          </a:prstGeom>
          <a:noFill/>
          <a:ln w="9525">
            <a:solidFill>
              <a:srgbClr val="EDEEF0"/>
            </a:solidFill>
            <a:prstDash val="solid"/>
          </a:ln>
        </p:spPr>
      </p:sp>
      <p:sp>
        <p:nvSpPr>
          <p:cNvPr id="19" name="!!axg4"/>
          <p:cNvSpPr/>
          <p:nvPr/>
        </p:nvSpPr>
        <p:spPr>
          <a:xfrm>
            <a:off x="4023360" y="1645920"/>
            <a:ext cx="4023360" cy="91"/>
          </a:xfrm>
          <a:prstGeom prst="line">
            <a:avLst/>
          </a:prstGeom>
          <a:noFill/>
          <a:ln w="9525">
            <a:solidFill>
              <a:srgbClr val="EDEEF0"/>
            </a:solidFill>
            <a:prstDash val="solid"/>
          </a:ln>
        </p:spPr>
      </p:sp>
      <p:sp>
        <p:nvSpPr>
          <p:cNvPr id="20" name="!!axxa"/>
          <p:cNvSpPr/>
          <p:nvPr/>
        </p:nvSpPr>
        <p:spPr>
          <a:xfrm>
            <a:off x="4023360" y="4846320"/>
            <a:ext cx="4023360" cy="91"/>
          </a:xfrm>
          <a:prstGeom prst="line">
            <a:avLst/>
          </a:prstGeom>
          <a:noFill/>
          <a:ln w="12700">
            <a:solidFill>
              <a:srgbClr val="8A8D93"/>
            </a:solidFill>
            <a:prstDash val="solid"/>
          </a:ln>
        </p:spPr>
      </p:sp>
      <p:sp>
        <p:nvSpPr>
          <p:cNvPr id="21" name="!!axya"/>
          <p:cNvSpPr/>
          <p:nvPr/>
        </p:nvSpPr>
        <p:spPr>
          <a:xfrm>
            <a:off x="4023360" y="1645920"/>
            <a:ext cx="91" cy="3200400"/>
          </a:xfrm>
          <a:prstGeom prst="line">
            <a:avLst/>
          </a:prstGeom>
          <a:noFill/>
          <a:ln w="12700">
            <a:solidFill>
              <a:srgbClr val="8A8D93"/>
            </a:solidFill>
            <a:prstDash val="solid"/>
          </a:ln>
        </p:spPr>
      </p:sp>
      <p:sp>
        <p:nvSpPr>
          <p:cNvPr id="22" name="!!axxt0"/>
          <p:cNvSpPr txBox="1"/>
          <p:nvPr/>
        </p:nvSpPr>
        <p:spPr>
          <a:xfrm>
            <a:off x="3703320"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23" name="!!axxt1"/>
          <p:cNvSpPr txBox="1"/>
          <p:nvPr/>
        </p:nvSpPr>
        <p:spPr>
          <a:xfrm>
            <a:off x="4278086"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a:t>
            </a:r>
            <a:endParaRPr lang="en-US" sz="900" dirty="0"/>
          </a:p>
        </p:txBody>
      </p:sp>
      <p:sp>
        <p:nvSpPr>
          <p:cNvPr id="24" name="!!axxt2"/>
          <p:cNvSpPr txBox="1"/>
          <p:nvPr/>
        </p:nvSpPr>
        <p:spPr>
          <a:xfrm>
            <a:off x="4852851"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a:t>
            </a:r>
            <a:endParaRPr lang="en-US" sz="900" dirty="0"/>
          </a:p>
        </p:txBody>
      </p:sp>
      <p:sp>
        <p:nvSpPr>
          <p:cNvPr id="25" name="!!axxt3"/>
          <p:cNvSpPr txBox="1"/>
          <p:nvPr/>
        </p:nvSpPr>
        <p:spPr>
          <a:xfrm>
            <a:off x="5427617"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6</a:t>
            </a:r>
            <a:endParaRPr lang="en-US" sz="900" dirty="0"/>
          </a:p>
        </p:txBody>
      </p:sp>
      <p:sp>
        <p:nvSpPr>
          <p:cNvPr id="26" name="!!axxt4"/>
          <p:cNvSpPr txBox="1"/>
          <p:nvPr/>
        </p:nvSpPr>
        <p:spPr>
          <a:xfrm>
            <a:off x="6002383"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8</a:t>
            </a:r>
            <a:endParaRPr lang="en-US" sz="900" dirty="0"/>
          </a:p>
        </p:txBody>
      </p:sp>
      <p:sp>
        <p:nvSpPr>
          <p:cNvPr id="27" name="!!axxt5"/>
          <p:cNvSpPr txBox="1"/>
          <p:nvPr/>
        </p:nvSpPr>
        <p:spPr>
          <a:xfrm>
            <a:off x="6577149"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28" name="!!axxt6"/>
          <p:cNvSpPr txBox="1"/>
          <p:nvPr/>
        </p:nvSpPr>
        <p:spPr>
          <a:xfrm>
            <a:off x="7151914"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12</a:t>
            </a:r>
            <a:endParaRPr lang="en-US" sz="900" dirty="0"/>
          </a:p>
        </p:txBody>
      </p:sp>
      <p:sp>
        <p:nvSpPr>
          <p:cNvPr id="29" name="!!axxt7"/>
          <p:cNvSpPr txBox="1"/>
          <p:nvPr/>
        </p:nvSpPr>
        <p:spPr>
          <a:xfrm>
            <a:off x="7726680"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14</a:t>
            </a:r>
            <a:endParaRPr lang="en-US" sz="900" dirty="0"/>
          </a:p>
        </p:txBody>
      </p:sp>
      <p:sp>
        <p:nvSpPr>
          <p:cNvPr id="30" name="!!axyt0"/>
          <p:cNvSpPr txBox="1"/>
          <p:nvPr/>
        </p:nvSpPr>
        <p:spPr>
          <a:xfrm>
            <a:off x="3337560" y="47457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0 %</a:t>
            </a:r>
            <a:endParaRPr lang="en-US" sz="900" dirty="0"/>
          </a:p>
        </p:txBody>
      </p:sp>
      <p:sp>
        <p:nvSpPr>
          <p:cNvPr id="31" name="!!axyt1"/>
          <p:cNvSpPr txBox="1"/>
          <p:nvPr/>
        </p:nvSpPr>
        <p:spPr>
          <a:xfrm>
            <a:off x="3337560" y="39456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25 %</a:t>
            </a:r>
            <a:endParaRPr lang="en-US" sz="900" dirty="0"/>
          </a:p>
        </p:txBody>
      </p:sp>
      <p:sp>
        <p:nvSpPr>
          <p:cNvPr id="32" name="!!axyt2"/>
          <p:cNvSpPr txBox="1"/>
          <p:nvPr/>
        </p:nvSpPr>
        <p:spPr>
          <a:xfrm>
            <a:off x="3337560" y="31455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50 %</a:t>
            </a:r>
            <a:endParaRPr lang="en-US" sz="900" dirty="0"/>
          </a:p>
        </p:txBody>
      </p:sp>
      <p:sp>
        <p:nvSpPr>
          <p:cNvPr id="33" name="!!axyt3"/>
          <p:cNvSpPr txBox="1"/>
          <p:nvPr/>
        </p:nvSpPr>
        <p:spPr>
          <a:xfrm>
            <a:off x="3337560" y="23454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75 %</a:t>
            </a:r>
            <a:endParaRPr lang="en-US" sz="900" dirty="0"/>
          </a:p>
        </p:txBody>
      </p:sp>
      <p:sp>
        <p:nvSpPr>
          <p:cNvPr id="34" name="!!axyt4"/>
          <p:cNvSpPr txBox="1"/>
          <p:nvPr/>
        </p:nvSpPr>
        <p:spPr>
          <a:xfrm>
            <a:off x="3337560" y="1545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a:t>
            </a:r>
            <a:endParaRPr lang="en-US" sz="900" dirty="0"/>
          </a:p>
        </p:txBody>
      </p:sp>
      <p:sp>
        <p:nvSpPr>
          <p:cNvPr id="35" name="!!axxl"/>
          <p:cNvSpPr txBox="1"/>
          <p:nvPr/>
        </p:nvSpPr>
        <p:spPr>
          <a:xfrm>
            <a:off x="4023360" y="5120640"/>
            <a:ext cx="402336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distance from the drain into the channel x (nm)</a:t>
            </a:r>
            <a:endParaRPr lang="en-US" sz="1100" dirty="0"/>
          </a:p>
        </p:txBody>
      </p:sp>
      <p:sp>
        <p:nvSpPr>
          <p:cNvPr id="36" name="!!axyl"/>
          <p:cNvSpPr txBox="1"/>
          <p:nvPr/>
        </p:nvSpPr>
        <p:spPr>
          <a:xfrm>
            <a:off x="3840480" y="134416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drain pull left  e^(−x/λ)</a:t>
            </a:r>
            <a:endParaRPr lang="en-US" sz="1100" dirty="0"/>
          </a:p>
        </p:txBody>
      </p:sp>
      <p:sp>
        <p:nvSpPr>
          <p:cNvPr id="37" name="!!lmC0"/>
          <p:cNvSpPr/>
          <p:nvPr/>
        </p:nvSpPr>
        <p:spPr>
          <a:xfrm>
            <a:off x="4023360" y="1645920"/>
            <a:ext cx="4023360" cy="3070421"/>
          </a:xfrm>
          <a:custGeom>
            <a:avLst/>
            <a:gdLst/>
            <a:ahLst/>
            <a:cxnLst/>
            <a:rect l="l" t="t" r="r" b="b"/>
            <a:pathLst>
              <a:path w="4023360" h="3070421">
                <a:moveTo>
                  <a:pt x="0" y="0"/>
                </a:moveTo>
                <a:lnTo>
                  <a:pt x="114953" y="279936"/>
                </a:lnTo>
                <a:lnTo>
                  <a:pt x="229906" y="535386"/>
                </a:lnTo>
                <a:lnTo>
                  <a:pt x="344859" y="768492"/>
                </a:lnTo>
                <a:lnTo>
                  <a:pt x="459813" y="981208"/>
                </a:lnTo>
                <a:lnTo>
                  <a:pt x="574766" y="1175319"/>
                </a:lnTo>
                <a:lnTo>
                  <a:pt x="689719" y="1352450"/>
                </a:lnTo>
                <a:lnTo>
                  <a:pt x="804672" y="1514089"/>
                </a:lnTo>
                <a:lnTo>
                  <a:pt x="919625" y="1661589"/>
                </a:lnTo>
                <a:lnTo>
                  <a:pt x="1034578" y="1796187"/>
                </a:lnTo>
                <a:lnTo>
                  <a:pt x="1149531" y="1919012"/>
                </a:lnTo>
                <a:lnTo>
                  <a:pt x="1264485" y="2031094"/>
                </a:lnTo>
                <a:lnTo>
                  <a:pt x="1379438" y="2133372"/>
                </a:lnTo>
                <a:lnTo>
                  <a:pt x="1494391" y="2226703"/>
                </a:lnTo>
                <a:lnTo>
                  <a:pt x="1609344" y="2311872"/>
                </a:lnTo>
                <a:lnTo>
                  <a:pt x="1724297" y="2389590"/>
                </a:lnTo>
                <a:lnTo>
                  <a:pt x="1839250" y="2460511"/>
                </a:lnTo>
                <a:lnTo>
                  <a:pt x="1954203" y="2525228"/>
                </a:lnTo>
                <a:lnTo>
                  <a:pt x="2069157" y="2584285"/>
                </a:lnTo>
                <a:lnTo>
                  <a:pt x="2184110" y="2638176"/>
                </a:lnTo>
                <a:lnTo>
                  <a:pt x="2299063" y="2687353"/>
                </a:lnTo>
                <a:lnTo>
                  <a:pt x="2414016" y="2732229"/>
                </a:lnTo>
                <a:lnTo>
                  <a:pt x="2528969" y="2773179"/>
                </a:lnTo>
                <a:lnTo>
                  <a:pt x="2643922" y="2810548"/>
                </a:lnTo>
                <a:lnTo>
                  <a:pt x="2758875" y="2844648"/>
                </a:lnTo>
                <a:lnTo>
                  <a:pt x="2873829" y="2875765"/>
                </a:lnTo>
                <a:lnTo>
                  <a:pt x="2988782" y="2904160"/>
                </a:lnTo>
                <a:lnTo>
                  <a:pt x="3103735" y="2930072"/>
                </a:lnTo>
                <a:lnTo>
                  <a:pt x="3218688" y="2953718"/>
                </a:lnTo>
                <a:lnTo>
                  <a:pt x="3333641" y="2975295"/>
                </a:lnTo>
                <a:lnTo>
                  <a:pt x="3448594" y="2994984"/>
                </a:lnTo>
                <a:lnTo>
                  <a:pt x="3563547" y="3012952"/>
                </a:lnTo>
                <a:lnTo>
                  <a:pt x="3678501" y="3029348"/>
                </a:lnTo>
                <a:lnTo>
                  <a:pt x="3793454" y="3044309"/>
                </a:lnTo>
                <a:lnTo>
                  <a:pt x="3908407" y="3057963"/>
                </a:lnTo>
                <a:lnTo>
                  <a:pt x="4023360" y="3070421"/>
                </a:lnTo>
              </a:path>
            </a:pathLst>
          </a:custGeom>
          <a:ln w="22225">
            <a:solidFill>
              <a:srgbClr val="D64545"/>
            </a:solidFill>
            <a:prstDash val="solid"/>
          </a:ln>
        </p:spPr>
      </p:sp>
      <p:sp>
        <p:nvSpPr>
          <p:cNvPr id="38" name="!!lmC1"/>
          <p:cNvSpPr/>
          <p:nvPr/>
        </p:nvSpPr>
        <p:spPr>
          <a:xfrm>
            <a:off x="4023360" y="1645920"/>
            <a:ext cx="4023360" cy="3165923"/>
          </a:xfrm>
          <a:custGeom>
            <a:avLst/>
            <a:gdLst/>
            <a:ahLst/>
            <a:cxnLst/>
            <a:rect l="l" t="t" r="r" b="b"/>
            <a:pathLst>
              <a:path w="4023360" h="3165923">
                <a:moveTo>
                  <a:pt x="0" y="0"/>
                </a:moveTo>
                <a:lnTo>
                  <a:pt x="114953" y="388597"/>
                </a:lnTo>
                <a:lnTo>
                  <a:pt x="229906" y="730010"/>
                </a:lnTo>
                <a:lnTo>
                  <a:pt x="344859" y="1029968"/>
                </a:lnTo>
                <a:lnTo>
                  <a:pt x="459813" y="1293505"/>
                </a:lnTo>
                <a:lnTo>
                  <a:pt x="574766" y="1525042"/>
                </a:lnTo>
                <a:lnTo>
                  <a:pt x="689719" y="1728467"/>
                </a:lnTo>
                <a:lnTo>
                  <a:pt x="804672" y="1907191"/>
                </a:lnTo>
                <a:lnTo>
                  <a:pt x="919625" y="2064214"/>
                </a:lnTo>
                <a:lnTo>
                  <a:pt x="1034578" y="2202171"/>
                </a:lnTo>
                <a:lnTo>
                  <a:pt x="1149531" y="2323377"/>
                </a:lnTo>
                <a:lnTo>
                  <a:pt x="1264485" y="2429867"/>
                </a:lnTo>
                <a:lnTo>
                  <a:pt x="1379438" y="2523426"/>
                </a:lnTo>
                <a:lnTo>
                  <a:pt x="1494391" y="2605625"/>
                </a:lnTo>
                <a:lnTo>
                  <a:pt x="1609344" y="2677843"/>
                </a:lnTo>
                <a:lnTo>
                  <a:pt x="1724297" y="2741293"/>
                </a:lnTo>
                <a:lnTo>
                  <a:pt x="1839250" y="2797038"/>
                </a:lnTo>
                <a:lnTo>
                  <a:pt x="1954203" y="2846015"/>
                </a:lnTo>
                <a:lnTo>
                  <a:pt x="2069157" y="2889045"/>
                </a:lnTo>
                <a:lnTo>
                  <a:pt x="2184110" y="2926850"/>
                </a:lnTo>
                <a:lnTo>
                  <a:pt x="2299063" y="2960065"/>
                </a:lnTo>
                <a:lnTo>
                  <a:pt x="2414016" y="2989247"/>
                </a:lnTo>
                <a:lnTo>
                  <a:pt x="2528969" y="3014885"/>
                </a:lnTo>
                <a:lnTo>
                  <a:pt x="2643922" y="3037411"/>
                </a:lnTo>
                <a:lnTo>
                  <a:pt x="2758875" y="3057201"/>
                </a:lnTo>
                <a:lnTo>
                  <a:pt x="2873829" y="3074588"/>
                </a:lnTo>
                <a:lnTo>
                  <a:pt x="2988782" y="3089865"/>
                </a:lnTo>
                <a:lnTo>
                  <a:pt x="3103735" y="3103286"/>
                </a:lnTo>
                <a:lnTo>
                  <a:pt x="3218688" y="3115078"/>
                </a:lnTo>
                <a:lnTo>
                  <a:pt x="3333641" y="3125438"/>
                </a:lnTo>
                <a:lnTo>
                  <a:pt x="3448594" y="3134540"/>
                </a:lnTo>
                <a:lnTo>
                  <a:pt x="3563547" y="3142537"/>
                </a:lnTo>
                <a:lnTo>
                  <a:pt x="3678501" y="3149562"/>
                </a:lnTo>
                <a:lnTo>
                  <a:pt x="3793454" y="3155735"/>
                </a:lnTo>
                <a:lnTo>
                  <a:pt x="3908407" y="3161158"/>
                </a:lnTo>
                <a:lnTo>
                  <a:pt x="4023360" y="3165923"/>
                </a:lnTo>
              </a:path>
            </a:pathLst>
          </a:custGeom>
          <a:ln w="22225">
            <a:solidFill>
              <a:srgbClr val="E07B00"/>
            </a:solidFill>
            <a:prstDash val="solid"/>
          </a:ln>
        </p:spPr>
      </p:sp>
      <p:sp>
        <p:nvSpPr>
          <p:cNvPr id="39" name="!!lmC2"/>
          <p:cNvSpPr/>
          <p:nvPr/>
        </p:nvSpPr>
        <p:spPr>
          <a:xfrm>
            <a:off x="4023360" y="1645920"/>
            <a:ext cx="4023360" cy="3188028"/>
          </a:xfrm>
          <a:custGeom>
            <a:avLst/>
            <a:gdLst/>
            <a:ahLst/>
            <a:cxnLst/>
            <a:rect l="l" t="t" r="r" b="b"/>
            <a:pathLst>
              <a:path w="4023360" h="3188028">
                <a:moveTo>
                  <a:pt x="0" y="0"/>
                </a:moveTo>
                <a:lnTo>
                  <a:pt x="114953" y="469734"/>
                </a:lnTo>
                <a:lnTo>
                  <a:pt x="229906" y="870523"/>
                </a:lnTo>
                <a:lnTo>
                  <a:pt x="344859" y="1212487"/>
                </a:lnTo>
                <a:lnTo>
                  <a:pt x="459813" y="1504260"/>
                </a:lnTo>
                <a:lnTo>
                  <a:pt x="574766" y="1753208"/>
                </a:lnTo>
                <a:lnTo>
                  <a:pt x="689719" y="1965617"/>
                </a:lnTo>
                <a:lnTo>
                  <a:pt x="804672" y="2146851"/>
                </a:lnTo>
                <a:lnTo>
                  <a:pt x="919625" y="2301484"/>
                </a:lnTo>
                <a:lnTo>
                  <a:pt x="1034578" y="2433421"/>
                </a:lnTo>
                <a:lnTo>
                  <a:pt x="1149531" y="2545993"/>
                </a:lnTo>
                <a:lnTo>
                  <a:pt x="1264485" y="2642043"/>
                </a:lnTo>
                <a:lnTo>
                  <a:pt x="1379438" y="2723995"/>
                </a:lnTo>
                <a:lnTo>
                  <a:pt x="1494391" y="2793918"/>
                </a:lnTo>
                <a:lnTo>
                  <a:pt x="1609344" y="2853579"/>
                </a:lnTo>
                <a:lnTo>
                  <a:pt x="1724297" y="2904483"/>
                </a:lnTo>
                <a:lnTo>
                  <a:pt x="1839250" y="2947916"/>
                </a:lnTo>
                <a:lnTo>
                  <a:pt x="1954203" y="2984974"/>
                </a:lnTo>
                <a:lnTo>
                  <a:pt x="2069157" y="3016593"/>
                </a:lnTo>
                <a:lnTo>
                  <a:pt x="2184110" y="3043571"/>
                </a:lnTo>
                <a:lnTo>
                  <a:pt x="2299063" y="3066589"/>
                </a:lnTo>
                <a:lnTo>
                  <a:pt x="2414016" y="3086229"/>
                </a:lnTo>
                <a:lnTo>
                  <a:pt x="2528969" y="3102986"/>
                </a:lnTo>
                <a:lnTo>
                  <a:pt x="2643922" y="3117284"/>
                </a:lnTo>
                <a:lnTo>
                  <a:pt x="2758875" y="3129483"/>
                </a:lnTo>
                <a:lnTo>
                  <a:pt x="2873829" y="3139892"/>
                </a:lnTo>
                <a:lnTo>
                  <a:pt x="2988782" y="3148773"/>
                </a:lnTo>
                <a:lnTo>
                  <a:pt x="3103735" y="3156350"/>
                </a:lnTo>
                <a:lnTo>
                  <a:pt x="3218688" y="3162816"/>
                </a:lnTo>
                <a:lnTo>
                  <a:pt x="3333641" y="3168332"/>
                </a:lnTo>
                <a:lnTo>
                  <a:pt x="3448594" y="3173039"/>
                </a:lnTo>
                <a:lnTo>
                  <a:pt x="3563547" y="3177055"/>
                </a:lnTo>
                <a:lnTo>
                  <a:pt x="3678501" y="3180481"/>
                </a:lnTo>
                <a:lnTo>
                  <a:pt x="3793454" y="3183405"/>
                </a:lnTo>
                <a:lnTo>
                  <a:pt x="3908407" y="3185899"/>
                </a:lnTo>
                <a:lnTo>
                  <a:pt x="4023360" y="3188028"/>
                </a:lnTo>
              </a:path>
            </a:pathLst>
          </a:custGeom>
          <a:ln w="38100">
            <a:solidFill>
              <a:srgbClr val="3E6AE1"/>
            </a:solidFill>
            <a:prstDash val="solid"/>
          </a:ln>
        </p:spPr>
      </p:sp>
      <p:sp>
        <p:nvSpPr>
          <p:cNvPr id="40" name="!!lmE2"/>
          <p:cNvSpPr txBox="1"/>
          <p:nvPr/>
        </p:nvSpPr>
        <p:spPr>
          <a:xfrm>
            <a:off x="7772400" y="4541340"/>
            <a:ext cx="731520" cy="182880"/>
          </a:xfrm>
          <a:prstGeom prst="rect">
            <a:avLst/>
          </a:prstGeom>
          <a:noFill/>
          <a:ln/>
        </p:spPr>
        <p:txBody>
          <a:bodyPr wrap="square" lIns="0" tIns="0" rIns="0" bIns="0" rtlCol="0" anchor="t"/>
          <a:lstStyle/>
          <a:p>
            <a:pPr algn="l" indent="0" marL="0">
              <a:buNone/>
            </a:pPr>
            <a:r>
              <a:rPr lang="en-US" sz="900" dirty="0">
                <a:solidFill>
                  <a:srgbClr val="3E6AE1"/>
                </a:solidFill>
                <a:latin typeface="Segoe UI Semibold" pitchFamily="34" charset="0"/>
                <a:ea typeface="Segoe UI Semibold" pitchFamily="34" charset="-122"/>
                <a:cs typeface="Segoe UI Semibold" pitchFamily="34" charset="-120"/>
              </a:rPr>
              <a:t>0.39 %</a:t>
            </a:r>
            <a:endParaRPr lang="en-US" sz="900" dirty="0"/>
          </a:p>
        </p:txBody>
      </p:sp>
      <p:sp>
        <p:nvSpPr>
          <p:cNvPr id="41" name="!!lmEq"/>
          <p:cNvSpPr txBox="1"/>
          <p:nvPr/>
        </p:nvSpPr>
        <p:spPr>
          <a:xfrm>
            <a:off x="8686800" y="1600200"/>
            <a:ext cx="3017520" cy="320040"/>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λ = √( ε</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si</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t</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si</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t</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ox</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(N · ε</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ox</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a:t>
            </a:r>
            <a:endParaRPr lang="en-US" sz="1400" dirty="0"/>
          </a:p>
        </p:txBody>
      </p:sp>
      <p:sp>
        <p:nvSpPr>
          <p:cNvPr id="42" name="!!lmEq2"/>
          <p:cNvSpPr txBox="1"/>
          <p:nvPr/>
        </p:nvSpPr>
        <p:spPr>
          <a:xfrm>
            <a:off x="8686800" y="1965960"/>
            <a:ext cx="3017520" cy="50292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N = gate sides · ε</a:t>
            </a:r>
            <a:pPr algn="l" indent="0" marL="0">
              <a:buNone/>
            </a:pPr>
            <a:r>
              <a:rPr lang="en-US" sz="1100" baseline="-40000" dirty="0">
                <a:solidFill>
                  <a:srgbClr val="5C5E62"/>
                </a:solidFill>
                <a:latin typeface="Segoe UI" pitchFamily="34" charset="0"/>
                <a:ea typeface="Segoe UI" pitchFamily="34" charset="-122"/>
                <a:cs typeface="Segoe UI" pitchFamily="34" charset="-120"/>
              </a:rPr>
              <a:t>si</a:t>
            </a:r>
            <a:pPr algn="l" indent="0" marL="0">
              <a:buNone/>
            </a:pPr>
            <a:r>
              <a:rPr lang="en-US" sz="1100" dirty="0">
                <a:solidFill>
                  <a:srgbClr val="5C5E62"/>
                </a:solidFill>
                <a:latin typeface="Segoe UI" pitchFamily="34" charset="0"/>
                <a:ea typeface="Segoe UI" pitchFamily="34" charset="-122"/>
                <a:cs typeface="Segoe UI" pitchFamily="34" charset="-120"/>
              </a:rPr>
              <a:t>/ε</a:t>
            </a:r>
            <a:pPr algn="l" indent="0" marL="0">
              <a:buNone/>
            </a:pPr>
            <a:r>
              <a:rPr lang="en-US" sz="1100" baseline="-40000" dirty="0">
                <a:solidFill>
                  <a:srgbClr val="5C5E62"/>
                </a:solidFill>
                <a:latin typeface="Segoe UI" pitchFamily="34" charset="0"/>
                <a:ea typeface="Segoe UI" pitchFamily="34" charset="-122"/>
                <a:cs typeface="Segoe UI" pitchFamily="34" charset="-120"/>
              </a:rPr>
              <a:t>ox</a:t>
            </a:r>
            <a:pPr algn="l" indent="0" marL="0">
              <a:buNone/>
            </a:pPr>
            <a:r>
              <a:rPr lang="en-US" sz="1100" dirty="0">
                <a:solidFill>
                  <a:srgbClr val="5C5E62"/>
                </a:solidFill>
                <a:latin typeface="Segoe UI" pitchFamily="34" charset="0"/>
                <a:ea typeface="Segoe UI" pitchFamily="34" charset="-122"/>
                <a:cs typeface="Segoe UI" pitchFamily="34" charset="-120"/>
              </a:rPr>
              <a:t> = 3</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t</a:t>
            </a:r>
            <a:pPr algn="l" indent="0" marL="0">
              <a:buNone/>
            </a:pPr>
            <a:r>
              <a:rPr lang="en-US" sz="1100" baseline="-40000" dirty="0">
                <a:solidFill>
                  <a:srgbClr val="5C5E62"/>
                </a:solidFill>
                <a:latin typeface="Segoe UI" pitchFamily="34" charset="0"/>
                <a:ea typeface="Segoe UI" pitchFamily="34" charset="-122"/>
                <a:cs typeface="Segoe UI" pitchFamily="34" charset="-120"/>
              </a:rPr>
              <a:t>si</a:t>
            </a:r>
            <a:pPr algn="l" indent="0" marL="0">
              <a:buNone/>
            </a:pPr>
            <a:r>
              <a:rPr lang="en-US" sz="1100" dirty="0">
                <a:solidFill>
                  <a:srgbClr val="5C5E62"/>
                </a:solidFill>
                <a:latin typeface="Segoe UI" pitchFamily="34" charset="0"/>
                <a:ea typeface="Segoe UI" pitchFamily="34" charset="-122"/>
                <a:cs typeface="Segoe UI" pitchFamily="34" charset="-120"/>
              </a:rPr>
              <a:t> = 8 nm, t</a:t>
            </a:r>
            <a:pPr algn="l" indent="0" marL="0">
              <a:buNone/>
            </a:pPr>
            <a:r>
              <a:rPr lang="en-US" sz="1100" baseline="-40000" dirty="0">
                <a:solidFill>
                  <a:srgbClr val="5C5E62"/>
                </a:solidFill>
                <a:latin typeface="Segoe UI" pitchFamily="34" charset="0"/>
                <a:ea typeface="Segoe UI" pitchFamily="34" charset="-122"/>
                <a:cs typeface="Segoe UI" pitchFamily="34" charset="-120"/>
              </a:rPr>
              <a:t>ox</a:t>
            </a:r>
            <a:pPr algn="l" indent="0" marL="0">
              <a:buNone/>
            </a:pPr>
            <a:r>
              <a:rPr lang="en-US" sz="1100" dirty="0">
                <a:solidFill>
                  <a:srgbClr val="5C5E62"/>
                </a:solidFill>
                <a:latin typeface="Segoe UI" pitchFamily="34" charset="0"/>
                <a:ea typeface="Segoe UI" pitchFamily="34" charset="-122"/>
                <a:cs typeface="Segoe UI" pitchFamily="34" charset="-120"/>
              </a:rPr>
              <a:t> = EOT 0.8 nm</a:t>
            </a:r>
            <a:endParaRPr lang="en-US" sz="1100" dirty="0"/>
          </a:p>
        </p:txBody>
      </p:sp>
      <p:sp>
        <p:nvSpPr>
          <p:cNvPr id="43" name="!!chip0"/>
          <p:cNvSpPr/>
          <p:nvPr/>
        </p:nvSpPr>
        <p:spPr>
          <a:xfrm>
            <a:off x="8686800" y="2651760"/>
            <a:ext cx="2953512" cy="621792"/>
          </a:xfrm>
          <a:prstGeom prst="roundRect">
            <a:avLst>
              <a:gd name="adj" fmla="val 8824"/>
            </a:avLst>
          </a:prstGeom>
          <a:solidFill>
            <a:srgbClr val="F4F5F7"/>
          </a:solidFill>
          <a:ln/>
        </p:spPr>
      </p:sp>
      <p:sp>
        <p:nvSpPr>
          <p:cNvPr id="44" name="!!chipk0"/>
          <p:cNvSpPr txBox="1"/>
          <p:nvPr/>
        </p:nvSpPr>
        <p:spPr>
          <a:xfrm>
            <a:off x="8796528" y="2724912"/>
            <a:ext cx="27340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scale length λ</a:t>
            </a:r>
            <a:endParaRPr lang="en-US" sz="1000" dirty="0"/>
          </a:p>
        </p:txBody>
      </p:sp>
      <p:sp>
        <p:nvSpPr>
          <p:cNvPr id="45" name="!!chipv0"/>
          <p:cNvSpPr txBox="1"/>
          <p:nvPr/>
        </p:nvSpPr>
        <p:spPr>
          <a:xfrm>
            <a:off x="8796528" y="2962656"/>
            <a:ext cx="27706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2.52 nm</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6" name="!!chip1"/>
          <p:cNvSpPr/>
          <p:nvPr/>
        </p:nvSpPr>
        <p:spPr>
          <a:xfrm>
            <a:off x="8686800" y="3364992"/>
            <a:ext cx="2953512" cy="621792"/>
          </a:xfrm>
          <a:prstGeom prst="roundRect">
            <a:avLst>
              <a:gd name="adj" fmla="val 8824"/>
            </a:avLst>
          </a:prstGeom>
          <a:solidFill>
            <a:srgbClr val="F4F5F7"/>
          </a:solidFill>
          <a:ln/>
        </p:spPr>
      </p:sp>
      <p:sp>
        <p:nvSpPr>
          <p:cNvPr id="47" name="!!chipk1"/>
          <p:cNvSpPr txBox="1"/>
          <p:nvPr/>
        </p:nvSpPr>
        <p:spPr>
          <a:xfrm>
            <a:off x="8796528" y="3438144"/>
            <a:ext cx="27340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L</a:t>
            </a:r>
            <a:pPr algn="l" indent="0" marL="0">
              <a:buNone/>
            </a:pPr>
            <a:r>
              <a:rPr lang="en-US" sz="1000" baseline="-40000" dirty="0">
                <a:solidFill>
                  <a:srgbClr val="5C5E62"/>
                </a:solidFill>
                <a:latin typeface="Segoe UI" pitchFamily="34" charset="0"/>
                <a:ea typeface="Segoe UI" pitchFamily="34" charset="-122"/>
                <a:cs typeface="Segoe UI" pitchFamily="34" charset="-120"/>
              </a:rPr>
              <a:t>g</a:t>
            </a:r>
            <a:pPr algn="l" indent="0" marL="0">
              <a:buNone/>
            </a:pPr>
            <a:r>
              <a:rPr lang="en-US" sz="1000" dirty="0">
                <a:solidFill>
                  <a:srgbClr val="5C5E62"/>
                </a:solidFill>
                <a:latin typeface="Segoe UI" pitchFamily="34" charset="0"/>
                <a:ea typeface="Segoe UI" pitchFamily="34" charset="-122"/>
                <a:cs typeface="Segoe UI" pitchFamily="34" charset="-120"/>
              </a:rPr>
              <a:t> / λ at 14 nm</a:t>
            </a:r>
            <a:endParaRPr lang="en-US" sz="1000" dirty="0"/>
          </a:p>
        </p:txBody>
      </p:sp>
      <p:sp>
        <p:nvSpPr>
          <p:cNvPr id="48" name="!!chipv1"/>
          <p:cNvSpPr txBox="1"/>
          <p:nvPr/>
        </p:nvSpPr>
        <p:spPr>
          <a:xfrm>
            <a:off x="8796528" y="3675888"/>
            <a:ext cx="27706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5.6</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9" name="!!chip2"/>
          <p:cNvSpPr/>
          <p:nvPr/>
        </p:nvSpPr>
        <p:spPr>
          <a:xfrm>
            <a:off x="8686800" y="4078224"/>
            <a:ext cx="2953512" cy="621792"/>
          </a:xfrm>
          <a:prstGeom prst="roundRect">
            <a:avLst>
              <a:gd name="adj" fmla="val 8824"/>
            </a:avLst>
          </a:prstGeom>
          <a:solidFill>
            <a:srgbClr val="F4F5F7"/>
          </a:solidFill>
          <a:ln/>
        </p:spPr>
      </p:sp>
      <p:sp>
        <p:nvSpPr>
          <p:cNvPr id="50" name="!!chipk2"/>
          <p:cNvSpPr txBox="1"/>
          <p:nvPr/>
        </p:nvSpPr>
        <p:spPr>
          <a:xfrm>
            <a:off x="8796528" y="4151376"/>
            <a:ext cx="27340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drain pull at source end</a:t>
            </a:r>
            <a:endParaRPr lang="en-US" sz="1000" dirty="0"/>
          </a:p>
        </p:txBody>
      </p:sp>
      <p:sp>
        <p:nvSpPr>
          <p:cNvPr id="51" name="!!chipv2"/>
          <p:cNvSpPr txBox="1"/>
          <p:nvPr/>
        </p:nvSpPr>
        <p:spPr>
          <a:xfrm>
            <a:off x="8796528" y="4389120"/>
            <a:ext cx="27706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0.39 %</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52" name="!!knobLbl"/>
          <p:cNvSpPr txBox="1"/>
          <p:nvPr/>
        </p:nvSpPr>
        <p:spPr>
          <a:xfrm>
            <a:off x="8759952" y="4846320"/>
            <a:ext cx="283464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sides N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3</a:t>
            </a:r>
            <a:endParaRPr lang="en-US" sz="1200" dirty="0"/>
          </a:p>
        </p:txBody>
      </p:sp>
      <p:sp>
        <p:nvSpPr>
          <p:cNvPr id="53" name="!!knobTrack"/>
          <p:cNvSpPr/>
          <p:nvPr/>
        </p:nvSpPr>
        <p:spPr>
          <a:xfrm>
            <a:off x="8778240" y="5230368"/>
            <a:ext cx="2743200" cy="54864"/>
          </a:xfrm>
          <a:prstGeom prst="roundRect">
            <a:avLst>
              <a:gd name="adj" fmla="val 50000"/>
            </a:avLst>
          </a:prstGeom>
          <a:solidFill>
            <a:srgbClr val="E2E3E3"/>
          </a:solidFill>
          <a:ln/>
        </p:spPr>
      </p:sp>
      <p:sp>
        <p:nvSpPr>
          <p:cNvPr id="54" name="!!knobFill"/>
          <p:cNvSpPr/>
          <p:nvPr/>
        </p:nvSpPr>
        <p:spPr>
          <a:xfrm>
            <a:off x="8778240" y="5230368"/>
            <a:ext cx="1828800" cy="54864"/>
          </a:xfrm>
          <a:prstGeom prst="roundRect">
            <a:avLst>
              <a:gd name="adj" fmla="val 50000"/>
            </a:avLst>
          </a:prstGeom>
          <a:solidFill>
            <a:srgbClr val="6B5BC4"/>
          </a:solidFill>
          <a:ln/>
        </p:spPr>
      </p:sp>
      <p:sp>
        <p:nvSpPr>
          <p:cNvPr id="55" name="!!knobT0"/>
          <p:cNvSpPr txBox="1"/>
          <p:nvPr/>
        </p:nvSpPr>
        <p:spPr>
          <a:xfrm>
            <a:off x="84124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1</a:t>
            </a:r>
            <a:endParaRPr lang="en-US" sz="900" dirty="0"/>
          </a:p>
        </p:txBody>
      </p:sp>
      <p:sp>
        <p:nvSpPr>
          <p:cNvPr id="56" name="!!knobT1"/>
          <p:cNvSpPr txBox="1"/>
          <p:nvPr/>
        </p:nvSpPr>
        <p:spPr>
          <a:xfrm>
            <a:off x="93268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2</a:t>
            </a:r>
            <a:endParaRPr lang="en-US" sz="900" dirty="0"/>
          </a:p>
        </p:txBody>
      </p:sp>
      <p:sp>
        <p:nvSpPr>
          <p:cNvPr id="57" name="!!knobT2"/>
          <p:cNvSpPr txBox="1"/>
          <p:nvPr/>
        </p:nvSpPr>
        <p:spPr>
          <a:xfrm>
            <a:off x="102412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a:t>
            </a:r>
            <a:endParaRPr lang="en-US" sz="900" dirty="0"/>
          </a:p>
        </p:txBody>
      </p:sp>
      <p:sp>
        <p:nvSpPr>
          <p:cNvPr id="58" name="!!knobT3"/>
          <p:cNvSpPr txBox="1"/>
          <p:nvPr/>
        </p:nvSpPr>
        <p:spPr>
          <a:xfrm>
            <a:off x="111556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a:t>
            </a:r>
            <a:endParaRPr lang="en-US" sz="900" dirty="0"/>
          </a:p>
        </p:txBody>
      </p:sp>
      <p:sp>
        <p:nvSpPr>
          <p:cNvPr id="59" name="!!knobThumb"/>
          <p:cNvSpPr/>
          <p:nvPr/>
        </p:nvSpPr>
        <p:spPr>
          <a:xfrm>
            <a:off x="10506456" y="5157216"/>
            <a:ext cx="201168" cy="201168"/>
          </a:xfrm>
          <a:prstGeom prst="ellipse">
            <a:avLst/>
          </a:prstGeom>
          <a:solidFill>
            <a:srgbClr val="FFFFFF"/>
          </a:solidFill>
          <a:ln w="28575">
            <a:solidFill>
              <a:srgbClr val="6B5BC4"/>
            </a:solidFill>
            <a:prstDash val="solid"/>
          </a:ln>
        </p:spPr>
      </p:sp>
      <p:sp>
        <p:nvSpPr>
          <p:cNvPr id="60"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FinFET, three sides: λ = 2.52 nm, 0.39 %.</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45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Shrinking the gate – Proof: the scale length λ</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The drain potential fades into the channel as e^(−x/λ); more gate sides → smaller λ</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171A20"/>
          </a:solidFill>
          <a:ln/>
        </p:spPr>
      </p:sp>
      <p:sp>
        <p:nvSpPr>
          <p:cNvPr id="6" name="!!sdot2"/>
          <p:cNvSpPr/>
          <p:nvPr/>
        </p:nvSpPr>
        <p:spPr>
          <a:xfrm>
            <a:off x="11443716" y="525780"/>
            <a:ext cx="82296" cy="82296"/>
          </a:xfrm>
          <a:prstGeom prst="ellipse">
            <a:avLst/>
          </a:prstGeom>
          <a:solidFill>
            <a:srgbClr val="171A20"/>
          </a:solidFill>
          <a:ln/>
        </p:spPr>
      </p:sp>
      <p:sp>
        <p:nvSpPr>
          <p:cNvPr id="7" name="!!sdot3"/>
          <p:cNvSpPr/>
          <p:nvPr/>
        </p:nvSpPr>
        <p:spPr>
          <a:xfrm>
            <a:off x="11599164" y="525780"/>
            <a:ext cx="82296" cy="82296"/>
          </a:xfrm>
          <a:prstGeom prst="ellipse">
            <a:avLst/>
          </a:prstGeom>
          <a:solidFill>
            <a:srgbClr val="171A20"/>
          </a:solidFill>
          <a:ln/>
        </p:spPr>
      </p:sp>
      <p:sp>
        <p:nvSpPr>
          <p:cNvPr id="8" name="!!icSi"/>
          <p:cNvSpPr/>
          <p:nvPr/>
        </p:nvSpPr>
        <p:spPr>
          <a:xfrm>
            <a:off x="1143000" y="2697480"/>
            <a:ext cx="1371600" cy="1371600"/>
          </a:xfrm>
          <a:prstGeom prst="rect">
            <a:avLst/>
          </a:prstGeom>
          <a:solidFill>
            <a:srgbClr val="F6E7B8"/>
          </a:solidFill>
          <a:ln/>
        </p:spPr>
      </p:sp>
      <p:sp>
        <p:nvSpPr>
          <p:cNvPr id="9" name="!!icSiL"/>
          <p:cNvSpPr txBox="1"/>
          <p:nvPr/>
        </p:nvSpPr>
        <p:spPr>
          <a:xfrm>
            <a:off x="1143000" y="3108960"/>
            <a:ext cx="1371600" cy="548640"/>
          </a:xfrm>
          <a:prstGeom prst="rect">
            <a:avLst/>
          </a:prstGeom>
          <a:noFill/>
          <a:ln/>
        </p:spPr>
        <p:txBody>
          <a:bodyPr wrap="square" lIns="0" tIns="0" rIns="0" bIns="0" rtlCol="0" anchor="ctr"/>
          <a:lstStyle/>
          <a:p>
            <a:pPr algn="ctr" indent="0" marL="0">
              <a:buNone/>
            </a:pPr>
            <a:r>
              <a:rPr lang="en-US" sz="1100" dirty="0">
                <a:solidFill>
                  <a:srgbClr val="8A6D1F"/>
                </a:solidFill>
                <a:latin typeface="Segoe UI" pitchFamily="34" charset="0"/>
                <a:ea typeface="Segoe UI" pitchFamily="34" charset="-122"/>
                <a:cs typeface="Segoe UI" pitchFamily="34" charset="-120"/>
              </a:rPr>
              <a:t>silicon</a:t>
            </a:r>
            <a:endParaRPr lang="en-US" sz="1100" dirty="0"/>
          </a:p>
          <a:p>
            <a:pPr algn="ctr" indent="0" marL="0">
              <a:buNone/>
            </a:pPr>
            <a:r>
              <a:rPr lang="en-US" sz="1100" dirty="0">
                <a:solidFill>
                  <a:srgbClr val="8A6D1F"/>
                </a:solidFill>
                <a:latin typeface="Segoe UI" pitchFamily="34" charset="0"/>
                <a:ea typeface="Segoe UI" pitchFamily="34" charset="-122"/>
                <a:cs typeface="Segoe UI" pitchFamily="34" charset="-120"/>
              </a:rPr>
              <a:t>8 nm</a:t>
            </a:r>
            <a:endParaRPr lang="en-US" sz="1100" dirty="0"/>
          </a:p>
        </p:txBody>
      </p:sp>
      <p:sp>
        <p:nvSpPr>
          <p:cNvPr id="10" name="!!icG0"/>
          <p:cNvSpPr/>
          <p:nvPr/>
        </p:nvSpPr>
        <p:spPr>
          <a:xfrm>
            <a:off x="1069848" y="2423160"/>
            <a:ext cx="1517904" cy="201168"/>
          </a:xfrm>
          <a:prstGeom prst="rect">
            <a:avLst/>
          </a:prstGeom>
          <a:solidFill>
            <a:srgbClr val="8E7CC3"/>
          </a:solidFill>
          <a:ln/>
        </p:spPr>
      </p:sp>
      <p:sp>
        <p:nvSpPr>
          <p:cNvPr id="11" name="!!icG1"/>
          <p:cNvSpPr/>
          <p:nvPr/>
        </p:nvSpPr>
        <p:spPr>
          <a:xfrm>
            <a:off x="1069848" y="4142232"/>
            <a:ext cx="1517904" cy="201168"/>
          </a:xfrm>
          <a:prstGeom prst="rect">
            <a:avLst/>
          </a:prstGeom>
          <a:solidFill>
            <a:srgbClr val="8E7CC3"/>
          </a:solidFill>
          <a:ln/>
        </p:spPr>
      </p:sp>
      <p:sp>
        <p:nvSpPr>
          <p:cNvPr id="12" name="!!icG2"/>
          <p:cNvSpPr/>
          <p:nvPr/>
        </p:nvSpPr>
        <p:spPr>
          <a:xfrm>
            <a:off x="868680" y="2624328"/>
            <a:ext cx="201168" cy="1517904"/>
          </a:xfrm>
          <a:prstGeom prst="rect">
            <a:avLst/>
          </a:prstGeom>
          <a:solidFill>
            <a:srgbClr val="8E7CC3"/>
          </a:solidFill>
          <a:ln/>
        </p:spPr>
      </p:sp>
      <p:sp>
        <p:nvSpPr>
          <p:cNvPr id="13" name="!!icG3"/>
          <p:cNvSpPr/>
          <p:nvPr/>
        </p:nvSpPr>
        <p:spPr>
          <a:xfrm>
            <a:off x="2587752" y="2624328"/>
            <a:ext cx="201168" cy="1517904"/>
          </a:xfrm>
          <a:prstGeom prst="rect">
            <a:avLst/>
          </a:prstGeom>
          <a:solidFill>
            <a:srgbClr val="8E7CC3"/>
          </a:solidFill>
          <a:ln/>
        </p:spPr>
      </p:sp>
      <p:sp>
        <p:nvSpPr>
          <p:cNvPr id="14" name="!!icName"/>
          <p:cNvSpPr txBox="1"/>
          <p:nvPr/>
        </p:nvSpPr>
        <p:spPr>
          <a:xfrm>
            <a:off x="548640" y="4526280"/>
            <a:ext cx="2560320" cy="274320"/>
          </a:xfrm>
          <a:prstGeom prst="rect">
            <a:avLst/>
          </a:prstGeom>
          <a:noFill/>
          <a:ln/>
        </p:spPr>
        <p:txBody>
          <a:bodyPr wrap="square" lIns="0" tIns="0" rIns="0" bIns="0" rtlCol="0" anchor="t"/>
          <a:lstStyle/>
          <a:p>
            <a:pPr algn="ctr" indent="0" marL="0">
              <a:buNone/>
            </a:pPr>
            <a:r>
              <a:rPr lang="en-US" sz="1400" dirty="0">
                <a:solidFill>
                  <a:srgbClr val="171A20"/>
                </a:solidFill>
                <a:latin typeface="Segoe UI Semibold" pitchFamily="34" charset="0"/>
                <a:ea typeface="Segoe UI Semibold" pitchFamily="34" charset="-122"/>
                <a:cs typeface="Segoe UI Semibold" pitchFamily="34" charset="-120"/>
              </a:rPr>
              <a:t>gate-all-around (4)</a:t>
            </a:r>
            <a:endParaRPr lang="en-US" sz="1400" dirty="0"/>
          </a:p>
        </p:txBody>
      </p:sp>
      <p:sp>
        <p:nvSpPr>
          <p:cNvPr id="15" name="!!axg0"/>
          <p:cNvSpPr/>
          <p:nvPr/>
        </p:nvSpPr>
        <p:spPr>
          <a:xfrm>
            <a:off x="4023360" y="4846320"/>
            <a:ext cx="4023360" cy="91"/>
          </a:xfrm>
          <a:prstGeom prst="line">
            <a:avLst/>
          </a:prstGeom>
          <a:noFill/>
          <a:ln w="9525">
            <a:solidFill>
              <a:srgbClr val="EDEEF0"/>
            </a:solidFill>
            <a:prstDash val="solid"/>
          </a:ln>
        </p:spPr>
      </p:sp>
      <p:sp>
        <p:nvSpPr>
          <p:cNvPr id="16" name="!!axg1"/>
          <p:cNvSpPr/>
          <p:nvPr/>
        </p:nvSpPr>
        <p:spPr>
          <a:xfrm>
            <a:off x="4023360" y="4046220"/>
            <a:ext cx="4023360" cy="91"/>
          </a:xfrm>
          <a:prstGeom prst="line">
            <a:avLst/>
          </a:prstGeom>
          <a:noFill/>
          <a:ln w="9525">
            <a:solidFill>
              <a:srgbClr val="EDEEF0"/>
            </a:solidFill>
            <a:prstDash val="solid"/>
          </a:ln>
        </p:spPr>
      </p:sp>
      <p:sp>
        <p:nvSpPr>
          <p:cNvPr id="17" name="!!axg2"/>
          <p:cNvSpPr/>
          <p:nvPr/>
        </p:nvSpPr>
        <p:spPr>
          <a:xfrm>
            <a:off x="4023360" y="3246120"/>
            <a:ext cx="4023360" cy="91"/>
          </a:xfrm>
          <a:prstGeom prst="line">
            <a:avLst/>
          </a:prstGeom>
          <a:noFill/>
          <a:ln w="9525">
            <a:solidFill>
              <a:srgbClr val="EDEEF0"/>
            </a:solidFill>
            <a:prstDash val="solid"/>
          </a:ln>
        </p:spPr>
      </p:sp>
      <p:sp>
        <p:nvSpPr>
          <p:cNvPr id="18" name="!!axg3"/>
          <p:cNvSpPr/>
          <p:nvPr/>
        </p:nvSpPr>
        <p:spPr>
          <a:xfrm>
            <a:off x="4023360" y="2446020"/>
            <a:ext cx="4023360" cy="91"/>
          </a:xfrm>
          <a:prstGeom prst="line">
            <a:avLst/>
          </a:prstGeom>
          <a:noFill/>
          <a:ln w="9525">
            <a:solidFill>
              <a:srgbClr val="EDEEF0"/>
            </a:solidFill>
            <a:prstDash val="solid"/>
          </a:ln>
        </p:spPr>
      </p:sp>
      <p:sp>
        <p:nvSpPr>
          <p:cNvPr id="19" name="!!axg4"/>
          <p:cNvSpPr/>
          <p:nvPr/>
        </p:nvSpPr>
        <p:spPr>
          <a:xfrm>
            <a:off x="4023360" y="1645920"/>
            <a:ext cx="4023360" cy="91"/>
          </a:xfrm>
          <a:prstGeom prst="line">
            <a:avLst/>
          </a:prstGeom>
          <a:noFill/>
          <a:ln w="9525">
            <a:solidFill>
              <a:srgbClr val="EDEEF0"/>
            </a:solidFill>
            <a:prstDash val="solid"/>
          </a:ln>
        </p:spPr>
      </p:sp>
      <p:sp>
        <p:nvSpPr>
          <p:cNvPr id="20" name="!!axxa"/>
          <p:cNvSpPr/>
          <p:nvPr/>
        </p:nvSpPr>
        <p:spPr>
          <a:xfrm>
            <a:off x="4023360" y="4846320"/>
            <a:ext cx="4023360" cy="91"/>
          </a:xfrm>
          <a:prstGeom prst="line">
            <a:avLst/>
          </a:prstGeom>
          <a:noFill/>
          <a:ln w="12700">
            <a:solidFill>
              <a:srgbClr val="8A8D93"/>
            </a:solidFill>
            <a:prstDash val="solid"/>
          </a:ln>
        </p:spPr>
      </p:sp>
      <p:sp>
        <p:nvSpPr>
          <p:cNvPr id="21" name="!!axya"/>
          <p:cNvSpPr/>
          <p:nvPr/>
        </p:nvSpPr>
        <p:spPr>
          <a:xfrm>
            <a:off x="4023360" y="1645920"/>
            <a:ext cx="91" cy="3200400"/>
          </a:xfrm>
          <a:prstGeom prst="line">
            <a:avLst/>
          </a:prstGeom>
          <a:noFill/>
          <a:ln w="12700">
            <a:solidFill>
              <a:srgbClr val="8A8D93"/>
            </a:solidFill>
            <a:prstDash val="solid"/>
          </a:ln>
        </p:spPr>
      </p:sp>
      <p:sp>
        <p:nvSpPr>
          <p:cNvPr id="22" name="!!axxt0"/>
          <p:cNvSpPr txBox="1"/>
          <p:nvPr/>
        </p:nvSpPr>
        <p:spPr>
          <a:xfrm>
            <a:off x="3703320"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23" name="!!axxt1"/>
          <p:cNvSpPr txBox="1"/>
          <p:nvPr/>
        </p:nvSpPr>
        <p:spPr>
          <a:xfrm>
            <a:off x="4278086"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a:t>
            </a:r>
            <a:endParaRPr lang="en-US" sz="900" dirty="0"/>
          </a:p>
        </p:txBody>
      </p:sp>
      <p:sp>
        <p:nvSpPr>
          <p:cNvPr id="24" name="!!axxt2"/>
          <p:cNvSpPr txBox="1"/>
          <p:nvPr/>
        </p:nvSpPr>
        <p:spPr>
          <a:xfrm>
            <a:off x="4852851"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a:t>
            </a:r>
            <a:endParaRPr lang="en-US" sz="900" dirty="0"/>
          </a:p>
        </p:txBody>
      </p:sp>
      <p:sp>
        <p:nvSpPr>
          <p:cNvPr id="25" name="!!axxt3"/>
          <p:cNvSpPr txBox="1"/>
          <p:nvPr/>
        </p:nvSpPr>
        <p:spPr>
          <a:xfrm>
            <a:off x="5427617"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6</a:t>
            </a:r>
            <a:endParaRPr lang="en-US" sz="900" dirty="0"/>
          </a:p>
        </p:txBody>
      </p:sp>
      <p:sp>
        <p:nvSpPr>
          <p:cNvPr id="26" name="!!axxt4"/>
          <p:cNvSpPr txBox="1"/>
          <p:nvPr/>
        </p:nvSpPr>
        <p:spPr>
          <a:xfrm>
            <a:off x="6002383"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8</a:t>
            </a:r>
            <a:endParaRPr lang="en-US" sz="900" dirty="0"/>
          </a:p>
        </p:txBody>
      </p:sp>
      <p:sp>
        <p:nvSpPr>
          <p:cNvPr id="27" name="!!axxt5"/>
          <p:cNvSpPr txBox="1"/>
          <p:nvPr/>
        </p:nvSpPr>
        <p:spPr>
          <a:xfrm>
            <a:off x="6577149"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28" name="!!axxt6"/>
          <p:cNvSpPr txBox="1"/>
          <p:nvPr/>
        </p:nvSpPr>
        <p:spPr>
          <a:xfrm>
            <a:off x="7151914"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12</a:t>
            </a:r>
            <a:endParaRPr lang="en-US" sz="900" dirty="0"/>
          </a:p>
        </p:txBody>
      </p:sp>
      <p:sp>
        <p:nvSpPr>
          <p:cNvPr id="29" name="!!axxt7"/>
          <p:cNvSpPr txBox="1"/>
          <p:nvPr/>
        </p:nvSpPr>
        <p:spPr>
          <a:xfrm>
            <a:off x="7726680" y="48920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14</a:t>
            </a:r>
            <a:endParaRPr lang="en-US" sz="900" dirty="0"/>
          </a:p>
        </p:txBody>
      </p:sp>
      <p:sp>
        <p:nvSpPr>
          <p:cNvPr id="30" name="!!axyt0"/>
          <p:cNvSpPr txBox="1"/>
          <p:nvPr/>
        </p:nvSpPr>
        <p:spPr>
          <a:xfrm>
            <a:off x="3337560" y="47457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0 %</a:t>
            </a:r>
            <a:endParaRPr lang="en-US" sz="900" dirty="0"/>
          </a:p>
        </p:txBody>
      </p:sp>
      <p:sp>
        <p:nvSpPr>
          <p:cNvPr id="31" name="!!axyt1"/>
          <p:cNvSpPr txBox="1"/>
          <p:nvPr/>
        </p:nvSpPr>
        <p:spPr>
          <a:xfrm>
            <a:off x="3337560" y="39456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25 %</a:t>
            </a:r>
            <a:endParaRPr lang="en-US" sz="900" dirty="0"/>
          </a:p>
        </p:txBody>
      </p:sp>
      <p:sp>
        <p:nvSpPr>
          <p:cNvPr id="32" name="!!axyt2"/>
          <p:cNvSpPr txBox="1"/>
          <p:nvPr/>
        </p:nvSpPr>
        <p:spPr>
          <a:xfrm>
            <a:off x="3337560" y="31455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50 %</a:t>
            </a:r>
            <a:endParaRPr lang="en-US" sz="900" dirty="0"/>
          </a:p>
        </p:txBody>
      </p:sp>
      <p:sp>
        <p:nvSpPr>
          <p:cNvPr id="33" name="!!axyt3"/>
          <p:cNvSpPr txBox="1"/>
          <p:nvPr/>
        </p:nvSpPr>
        <p:spPr>
          <a:xfrm>
            <a:off x="3337560" y="23454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75 %</a:t>
            </a:r>
            <a:endParaRPr lang="en-US" sz="900" dirty="0"/>
          </a:p>
        </p:txBody>
      </p:sp>
      <p:sp>
        <p:nvSpPr>
          <p:cNvPr id="34" name="!!axyt4"/>
          <p:cNvSpPr txBox="1"/>
          <p:nvPr/>
        </p:nvSpPr>
        <p:spPr>
          <a:xfrm>
            <a:off x="3337560" y="1545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a:t>
            </a:r>
            <a:endParaRPr lang="en-US" sz="900" dirty="0"/>
          </a:p>
        </p:txBody>
      </p:sp>
      <p:sp>
        <p:nvSpPr>
          <p:cNvPr id="35" name="!!axxl"/>
          <p:cNvSpPr txBox="1"/>
          <p:nvPr/>
        </p:nvSpPr>
        <p:spPr>
          <a:xfrm>
            <a:off x="4023360" y="5120640"/>
            <a:ext cx="402336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distance from the drain into the channel x (nm)</a:t>
            </a:r>
            <a:endParaRPr lang="en-US" sz="1100" dirty="0"/>
          </a:p>
        </p:txBody>
      </p:sp>
      <p:sp>
        <p:nvSpPr>
          <p:cNvPr id="36" name="!!axyl"/>
          <p:cNvSpPr txBox="1"/>
          <p:nvPr/>
        </p:nvSpPr>
        <p:spPr>
          <a:xfrm>
            <a:off x="3840480" y="134416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drain pull left  e^(−x/λ)</a:t>
            </a:r>
            <a:endParaRPr lang="en-US" sz="1100" dirty="0"/>
          </a:p>
        </p:txBody>
      </p:sp>
      <p:sp>
        <p:nvSpPr>
          <p:cNvPr id="37" name="!!lmC0"/>
          <p:cNvSpPr/>
          <p:nvPr/>
        </p:nvSpPr>
        <p:spPr>
          <a:xfrm>
            <a:off x="4023360" y="1645920"/>
            <a:ext cx="4023360" cy="3070421"/>
          </a:xfrm>
          <a:custGeom>
            <a:avLst/>
            <a:gdLst/>
            <a:ahLst/>
            <a:cxnLst/>
            <a:rect l="l" t="t" r="r" b="b"/>
            <a:pathLst>
              <a:path w="4023360" h="3070421">
                <a:moveTo>
                  <a:pt x="0" y="0"/>
                </a:moveTo>
                <a:lnTo>
                  <a:pt x="114953" y="279936"/>
                </a:lnTo>
                <a:lnTo>
                  <a:pt x="229906" y="535386"/>
                </a:lnTo>
                <a:lnTo>
                  <a:pt x="344859" y="768492"/>
                </a:lnTo>
                <a:lnTo>
                  <a:pt x="459813" y="981208"/>
                </a:lnTo>
                <a:lnTo>
                  <a:pt x="574766" y="1175319"/>
                </a:lnTo>
                <a:lnTo>
                  <a:pt x="689719" y="1352450"/>
                </a:lnTo>
                <a:lnTo>
                  <a:pt x="804672" y="1514089"/>
                </a:lnTo>
                <a:lnTo>
                  <a:pt x="919625" y="1661589"/>
                </a:lnTo>
                <a:lnTo>
                  <a:pt x="1034578" y="1796187"/>
                </a:lnTo>
                <a:lnTo>
                  <a:pt x="1149531" y="1919012"/>
                </a:lnTo>
                <a:lnTo>
                  <a:pt x="1264485" y="2031094"/>
                </a:lnTo>
                <a:lnTo>
                  <a:pt x="1379438" y="2133372"/>
                </a:lnTo>
                <a:lnTo>
                  <a:pt x="1494391" y="2226703"/>
                </a:lnTo>
                <a:lnTo>
                  <a:pt x="1609344" y="2311872"/>
                </a:lnTo>
                <a:lnTo>
                  <a:pt x="1724297" y="2389590"/>
                </a:lnTo>
                <a:lnTo>
                  <a:pt x="1839250" y="2460511"/>
                </a:lnTo>
                <a:lnTo>
                  <a:pt x="1954203" y="2525228"/>
                </a:lnTo>
                <a:lnTo>
                  <a:pt x="2069157" y="2584285"/>
                </a:lnTo>
                <a:lnTo>
                  <a:pt x="2184110" y="2638176"/>
                </a:lnTo>
                <a:lnTo>
                  <a:pt x="2299063" y="2687353"/>
                </a:lnTo>
                <a:lnTo>
                  <a:pt x="2414016" y="2732229"/>
                </a:lnTo>
                <a:lnTo>
                  <a:pt x="2528969" y="2773179"/>
                </a:lnTo>
                <a:lnTo>
                  <a:pt x="2643922" y="2810548"/>
                </a:lnTo>
                <a:lnTo>
                  <a:pt x="2758875" y="2844648"/>
                </a:lnTo>
                <a:lnTo>
                  <a:pt x="2873829" y="2875765"/>
                </a:lnTo>
                <a:lnTo>
                  <a:pt x="2988782" y="2904160"/>
                </a:lnTo>
                <a:lnTo>
                  <a:pt x="3103735" y="2930072"/>
                </a:lnTo>
                <a:lnTo>
                  <a:pt x="3218688" y="2953718"/>
                </a:lnTo>
                <a:lnTo>
                  <a:pt x="3333641" y="2975295"/>
                </a:lnTo>
                <a:lnTo>
                  <a:pt x="3448594" y="2994984"/>
                </a:lnTo>
                <a:lnTo>
                  <a:pt x="3563547" y="3012952"/>
                </a:lnTo>
                <a:lnTo>
                  <a:pt x="3678501" y="3029348"/>
                </a:lnTo>
                <a:lnTo>
                  <a:pt x="3793454" y="3044309"/>
                </a:lnTo>
                <a:lnTo>
                  <a:pt x="3908407" y="3057963"/>
                </a:lnTo>
                <a:lnTo>
                  <a:pt x="4023360" y="3070421"/>
                </a:lnTo>
              </a:path>
            </a:pathLst>
          </a:custGeom>
          <a:ln w="22225">
            <a:solidFill>
              <a:srgbClr val="D64545"/>
            </a:solidFill>
            <a:prstDash val="solid"/>
          </a:ln>
        </p:spPr>
      </p:sp>
      <p:sp>
        <p:nvSpPr>
          <p:cNvPr id="38" name="!!lmC1"/>
          <p:cNvSpPr/>
          <p:nvPr/>
        </p:nvSpPr>
        <p:spPr>
          <a:xfrm>
            <a:off x="4023360" y="1645920"/>
            <a:ext cx="4023360" cy="3165923"/>
          </a:xfrm>
          <a:custGeom>
            <a:avLst/>
            <a:gdLst/>
            <a:ahLst/>
            <a:cxnLst/>
            <a:rect l="l" t="t" r="r" b="b"/>
            <a:pathLst>
              <a:path w="4023360" h="3165923">
                <a:moveTo>
                  <a:pt x="0" y="0"/>
                </a:moveTo>
                <a:lnTo>
                  <a:pt x="114953" y="388597"/>
                </a:lnTo>
                <a:lnTo>
                  <a:pt x="229906" y="730010"/>
                </a:lnTo>
                <a:lnTo>
                  <a:pt x="344859" y="1029968"/>
                </a:lnTo>
                <a:lnTo>
                  <a:pt x="459813" y="1293505"/>
                </a:lnTo>
                <a:lnTo>
                  <a:pt x="574766" y="1525042"/>
                </a:lnTo>
                <a:lnTo>
                  <a:pt x="689719" y="1728467"/>
                </a:lnTo>
                <a:lnTo>
                  <a:pt x="804672" y="1907191"/>
                </a:lnTo>
                <a:lnTo>
                  <a:pt x="919625" y="2064214"/>
                </a:lnTo>
                <a:lnTo>
                  <a:pt x="1034578" y="2202171"/>
                </a:lnTo>
                <a:lnTo>
                  <a:pt x="1149531" y="2323377"/>
                </a:lnTo>
                <a:lnTo>
                  <a:pt x="1264485" y="2429867"/>
                </a:lnTo>
                <a:lnTo>
                  <a:pt x="1379438" y="2523426"/>
                </a:lnTo>
                <a:lnTo>
                  <a:pt x="1494391" y="2605625"/>
                </a:lnTo>
                <a:lnTo>
                  <a:pt x="1609344" y="2677843"/>
                </a:lnTo>
                <a:lnTo>
                  <a:pt x="1724297" y="2741293"/>
                </a:lnTo>
                <a:lnTo>
                  <a:pt x="1839250" y="2797038"/>
                </a:lnTo>
                <a:lnTo>
                  <a:pt x="1954203" y="2846015"/>
                </a:lnTo>
                <a:lnTo>
                  <a:pt x="2069157" y="2889045"/>
                </a:lnTo>
                <a:lnTo>
                  <a:pt x="2184110" y="2926850"/>
                </a:lnTo>
                <a:lnTo>
                  <a:pt x="2299063" y="2960065"/>
                </a:lnTo>
                <a:lnTo>
                  <a:pt x="2414016" y="2989247"/>
                </a:lnTo>
                <a:lnTo>
                  <a:pt x="2528969" y="3014885"/>
                </a:lnTo>
                <a:lnTo>
                  <a:pt x="2643922" y="3037411"/>
                </a:lnTo>
                <a:lnTo>
                  <a:pt x="2758875" y="3057201"/>
                </a:lnTo>
                <a:lnTo>
                  <a:pt x="2873829" y="3074588"/>
                </a:lnTo>
                <a:lnTo>
                  <a:pt x="2988782" y="3089865"/>
                </a:lnTo>
                <a:lnTo>
                  <a:pt x="3103735" y="3103286"/>
                </a:lnTo>
                <a:lnTo>
                  <a:pt x="3218688" y="3115078"/>
                </a:lnTo>
                <a:lnTo>
                  <a:pt x="3333641" y="3125438"/>
                </a:lnTo>
                <a:lnTo>
                  <a:pt x="3448594" y="3134540"/>
                </a:lnTo>
                <a:lnTo>
                  <a:pt x="3563547" y="3142537"/>
                </a:lnTo>
                <a:lnTo>
                  <a:pt x="3678501" y="3149562"/>
                </a:lnTo>
                <a:lnTo>
                  <a:pt x="3793454" y="3155735"/>
                </a:lnTo>
                <a:lnTo>
                  <a:pt x="3908407" y="3161158"/>
                </a:lnTo>
                <a:lnTo>
                  <a:pt x="4023360" y="3165923"/>
                </a:lnTo>
              </a:path>
            </a:pathLst>
          </a:custGeom>
          <a:ln w="22225">
            <a:solidFill>
              <a:srgbClr val="E07B00"/>
            </a:solidFill>
            <a:prstDash val="solid"/>
          </a:ln>
        </p:spPr>
      </p:sp>
      <p:sp>
        <p:nvSpPr>
          <p:cNvPr id="39" name="!!lmC2"/>
          <p:cNvSpPr/>
          <p:nvPr/>
        </p:nvSpPr>
        <p:spPr>
          <a:xfrm>
            <a:off x="4023360" y="1645920"/>
            <a:ext cx="4023360" cy="3188028"/>
          </a:xfrm>
          <a:custGeom>
            <a:avLst/>
            <a:gdLst/>
            <a:ahLst/>
            <a:cxnLst/>
            <a:rect l="l" t="t" r="r" b="b"/>
            <a:pathLst>
              <a:path w="4023360" h="3188028">
                <a:moveTo>
                  <a:pt x="0" y="0"/>
                </a:moveTo>
                <a:lnTo>
                  <a:pt x="114953" y="469734"/>
                </a:lnTo>
                <a:lnTo>
                  <a:pt x="229906" y="870523"/>
                </a:lnTo>
                <a:lnTo>
                  <a:pt x="344859" y="1212487"/>
                </a:lnTo>
                <a:lnTo>
                  <a:pt x="459813" y="1504260"/>
                </a:lnTo>
                <a:lnTo>
                  <a:pt x="574766" y="1753208"/>
                </a:lnTo>
                <a:lnTo>
                  <a:pt x="689719" y="1965617"/>
                </a:lnTo>
                <a:lnTo>
                  <a:pt x="804672" y="2146851"/>
                </a:lnTo>
                <a:lnTo>
                  <a:pt x="919625" y="2301484"/>
                </a:lnTo>
                <a:lnTo>
                  <a:pt x="1034578" y="2433421"/>
                </a:lnTo>
                <a:lnTo>
                  <a:pt x="1149531" y="2545993"/>
                </a:lnTo>
                <a:lnTo>
                  <a:pt x="1264485" y="2642043"/>
                </a:lnTo>
                <a:lnTo>
                  <a:pt x="1379438" y="2723995"/>
                </a:lnTo>
                <a:lnTo>
                  <a:pt x="1494391" y="2793918"/>
                </a:lnTo>
                <a:lnTo>
                  <a:pt x="1609344" y="2853579"/>
                </a:lnTo>
                <a:lnTo>
                  <a:pt x="1724297" y="2904483"/>
                </a:lnTo>
                <a:lnTo>
                  <a:pt x="1839250" y="2947916"/>
                </a:lnTo>
                <a:lnTo>
                  <a:pt x="1954203" y="2984974"/>
                </a:lnTo>
                <a:lnTo>
                  <a:pt x="2069157" y="3016593"/>
                </a:lnTo>
                <a:lnTo>
                  <a:pt x="2184110" y="3043571"/>
                </a:lnTo>
                <a:lnTo>
                  <a:pt x="2299063" y="3066589"/>
                </a:lnTo>
                <a:lnTo>
                  <a:pt x="2414016" y="3086229"/>
                </a:lnTo>
                <a:lnTo>
                  <a:pt x="2528969" y="3102986"/>
                </a:lnTo>
                <a:lnTo>
                  <a:pt x="2643922" y="3117284"/>
                </a:lnTo>
                <a:lnTo>
                  <a:pt x="2758875" y="3129483"/>
                </a:lnTo>
                <a:lnTo>
                  <a:pt x="2873829" y="3139892"/>
                </a:lnTo>
                <a:lnTo>
                  <a:pt x="2988782" y="3148773"/>
                </a:lnTo>
                <a:lnTo>
                  <a:pt x="3103735" y="3156350"/>
                </a:lnTo>
                <a:lnTo>
                  <a:pt x="3218688" y="3162816"/>
                </a:lnTo>
                <a:lnTo>
                  <a:pt x="3333641" y="3168332"/>
                </a:lnTo>
                <a:lnTo>
                  <a:pt x="3448594" y="3173039"/>
                </a:lnTo>
                <a:lnTo>
                  <a:pt x="3563547" y="3177055"/>
                </a:lnTo>
                <a:lnTo>
                  <a:pt x="3678501" y="3180481"/>
                </a:lnTo>
                <a:lnTo>
                  <a:pt x="3793454" y="3183405"/>
                </a:lnTo>
                <a:lnTo>
                  <a:pt x="3908407" y="3185899"/>
                </a:lnTo>
                <a:lnTo>
                  <a:pt x="4023360" y="3188028"/>
                </a:lnTo>
              </a:path>
            </a:pathLst>
          </a:custGeom>
          <a:ln w="22225">
            <a:solidFill>
              <a:srgbClr val="3E6AE1"/>
            </a:solidFill>
            <a:prstDash val="solid"/>
          </a:ln>
        </p:spPr>
      </p:sp>
      <p:sp>
        <p:nvSpPr>
          <p:cNvPr id="40" name="!!lmC3"/>
          <p:cNvSpPr/>
          <p:nvPr/>
        </p:nvSpPr>
        <p:spPr>
          <a:xfrm>
            <a:off x="4023360" y="1645920"/>
            <a:ext cx="4023360" cy="3195198"/>
          </a:xfrm>
          <a:custGeom>
            <a:avLst/>
            <a:gdLst/>
            <a:ahLst/>
            <a:cxnLst/>
            <a:rect l="l" t="t" r="r" b="b"/>
            <a:pathLst>
              <a:path w="4023360" h="3195198">
                <a:moveTo>
                  <a:pt x="0" y="0"/>
                </a:moveTo>
                <a:lnTo>
                  <a:pt x="114953" y="536504"/>
                </a:lnTo>
                <a:lnTo>
                  <a:pt x="229906" y="983071"/>
                </a:lnTo>
                <a:lnTo>
                  <a:pt x="344859" y="1354777"/>
                </a:lnTo>
                <a:lnTo>
                  <a:pt x="459813" y="1664171"/>
                </a:lnTo>
                <a:lnTo>
                  <a:pt x="574766" y="1921699"/>
                </a:lnTo>
                <a:lnTo>
                  <a:pt x="689719" y="2136056"/>
                </a:lnTo>
                <a:lnTo>
                  <a:pt x="804672" y="2314479"/>
                </a:lnTo>
                <a:lnTo>
                  <a:pt x="919625" y="2462992"/>
                </a:lnTo>
                <a:lnTo>
                  <a:pt x="1034578" y="2586609"/>
                </a:lnTo>
                <a:lnTo>
                  <a:pt x="1149531" y="2689503"/>
                </a:lnTo>
                <a:lnTo>
                  <a:pt x="1264485" y="2775148"/>
                </a:lnTo>
                <a:lnTo>
                  <a:pt x="1379438" y="2846436"/>
                </a:lnTo>
                <a:lnTo>
                  <a:pt x="1494391" y="2905773"/>
                </a:lnTo>
                <a:lnTo>
                  <a:pt x="1609344" y="2955163"/>
                </a:lnTo>
                <a:lnTo>
                  <a:pt x="1724297" y="2996274"/>
                </a:lnTo>
                <a:lnTo>
                  <a:pt x="1839250" y="3030493"/>
                </a:lnTo>
                <a:lnTo>
                  <a:pt x="1954203" y="3058976"/>
                </a:lnTo>
                <a:lnTo>
                  <a:pt x="2069157" y="3082684"/>
                </a:lnTo>
                <a:lnTo>
                  <a:pt x="2184110" y="3102417"/>
                </a:lnTo>
                <a:lnTo>
                  <a:pt x="2299063" y="3118843"/>
                </a:lnTo>
                <a:lnTo>
                  <a:pt x="2414016" y="3132515"/>
                </a:lnTo>
                <a:lnTo>
                  <a:pt x="2528969" y="3143895"/>
                </a:lnTo>
                <a:lnTo>
                  <a:pt x="2643922" y="3153367"/>
                </a:lnTo>
                <a:lnTo>
                  <a:pt x="2758875" y="3161252"/>
                </a:lnTo>
                <a:lnTo>
                  <a:pt x="2873829" y="3167814"/>
                </a:lnTo>
                <a:lnTo>
                  <a:pt x="2988782" y="3173277"/>
                </a:lnTo>
                <a:lnTo>
                  <a:pt x="3103735" y="3177824"/>
                </a:lnTo>
                <a:lnTo>
                  <a:pt x="3218688" y="3181608"/>
                </a:lnTo>
                <a:lnTo>
                  <a:pt x="3333641" y="3184758"/>
                </a:lnTo>
                <a:lnTo>
                  <a:pt x="3448594" y="3187381"/>
                </a:lnTo>
                <a:lnTo>
                  <a:pt x="3563547" y="3189563"/>
                </a:lnTo>
                <a:lnTo>
                  <a:pt x="3678501" y="3191380"/>
                </a:lnTo>
                <a:lnTo>
                  <a:pt x="3793454" y="3192892"/>
                </a:lnTo>
                <a:lnTo>
                  <a:pt x="3908407" y="3194151"/>
                </a:lnTo>
                <a:lnTo>
                  <a:pt x="4023360" y="3195198"/>
                </a:lnTo>
              </a:path>
            </a:pathLst>
          </a:custGeom>
          <a:ln w="38100">
            <a:solidFill>
              <a:srgbClr val="2E9E4F"/>
            </a:solidFill>
            <a:prstDash val="solid"/>
          </a:ln>
        </p:spPr>
      </p:sp>
      <p:sp>
        <p:nvSpPr>
          <p:cNvPr id="41" name="!!lmE3"/>
          <p:cNvSpPr txBox="1"/>
          <p:nvPr/>
        </p:nvSpPr>
        <p:spPr>
          <a:xfrm>
            <a:off x="7772400" y="4548510"/>
            <a:ext cx="731520" cy="182880"/>
          </a:xfrm>
          <a:prstGeom prst="rect">
            <a:avLst/>
          </a:prstGeom>
          <a:noFill/>
          <a:ln/>
        </p:spPr>
        <p:txBody>
          <a:bodyPr wrap="square" lIns="0" tIns="0" rIns="0" bIns="0" rtlCol="0" anchor="t"/>
          <a:lstStyle/>
          <a:p>
            <a:pPr algn="l" indent="0" marL="0">
              <a:buNone/>
            </a:pPr>
            <a:r>
              <a:rPr lang="en-US" sz="900" dirty="0">
                <a:solidFill>
                  <a:srgbClr val="2E9E4F"/>
                </a:solidFill>
                <a:latin typeface="Segoe UI Semibold" pitchFamily="34" charset="0"/>
                <a:ea typeface="Segoe UI Semibold" pitchFamily="34" charset="-122"/>
                <a:cs typeface="Segoe UI Semibold" pitchFamily="34" charset="-120"/>
              </a:rPr>
              <a:t>0.16 %</a:t>
            </a:r>
            <a:endParaRPr lang="en-US" sz="900" dirty="0"/>
          </a:p>
        </p:txBody>
      </p:sp>
      <p:sp>
        <p:nvSpPr>
          <p:cNvPr id="42" name="!!lmEq"/>
          <p:cNvSpPr txBox="1"/>
          <p:nvPr/>
        </p:nvSpPr>
        <p:spPr>
          <a:xfrm>
            <a:off x="8686800" y="1600200"/>
            <a:ext cx="3017520" cy="320040"/>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λ = √( ε</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si</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t</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si</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t</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ox</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(N · ε</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ox</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a:t>
            </a:r>
            <a:endParaRPr lang="en-US" sz="1400" dirty="0"/>
          </a:p>
        </p:txBody>
      </p:sp>
      <p:sp>
        <p:nvSpPr>
          <p:cNvPr id="43" name="!!lmEq2"/>
          <p:cNvSpPr txBox="1"/>
          <p:nvPr/>
        </p:nvSpPr>
        <p:spPr>
          <a:xfrm>
            <a:off x="8686800" y="1965960"/>
            <a:ext cx="3017520" cy="50292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N = gate sides · ε</a:t>
            </a:r>
            <a:pPr algn="l" indent="0" marL="0">
              <a:buNone/>
            </a:pPr>
            <a:r>
              <a:rPr lang="en-US" sz="1100" baseline="-40000" dirty="0">
                <a:solidFill>
                  <a:srgbClr val="5C5E62"/>
                </a:solidFill>
                <a:latin typeface="Segoe UI" pitchFamily="34" charset="0"/>
                <a:ea typeface="Segoe UI" pitchFamily="34" charset="-122"/>
                <a:cs typeface="Segoe UI" pitchFamily="34" charset="-120"/>
              </a:rPr>
              <a:t>si</a:t>
            </a:r>
            <a:pPr algn="l" indent="0" marL="0">
              <a:buNone/>
            </a:pPr>
            <a:r>
              <a:rPr lang="en-US" sz="1100" dirty="0">
                <a:solidFill>
                  <a:srgbClr val="5C5E62"/>
                </a:solidFill>
                <a:latin typeface="Segoe UI" pitchFamily="34" charset="0"/>
                <a:ea typeface="Segoe UI" pitchFamily="34" charset="-122"/>
                <a:cs typeface="Segoe UI" pitchFamily="34" charset="-120"/>
              </a:rPr>
              <a:t>/ε</a:t>
            </a:r>
            <a:pPr algn="l" indent="0" marL="0">
              <a:buNone/>
            </a:pPr>
            <a:r>
              <a:rPr lang="en-US" sz="1100" baseline="-40000" dirty="0">
                <a:solidFill>
                  <a:srgbClr val="5C5E62"/>
                </a:solidFill>
                <a:latin typeface="Segoe UI" pitchFamily="34" charset="0"/>
                <a:ea typeface="Segoe UI" pitchFamily="34" charset="-122"/>
                <a:cs typeface="Segoe UI" pitchFamily="34" charset="-120"/>
              </a:rPr>
              <a:t>ox</a:t>
            </a:r>
            <a:pPr algn="l" indent="0" marL="0">
              <a:buNone/>
            </a:pPr>
            <a:r>
              <a:rPr lang="en-US" sz="1100" dirty="0">
                <a:solidFill>
                  <a:srgbClr val="5C5E62"/>
                </a:solidFill>
                <a:latin typeface="Segoe UI" pitchFamily="34" charset="0"/>
                <a:ea typeface="Segoe UI" pitchFamily="34" charset="-122"/>
                <a:cs typeface="Segoe UI" pitchFamily="34" charset="-120"/>
              </a:rPr>
              <a:t> = 3</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t</a:t>
            </a:r>
            <a:pPr algn="l" indent="0" marL="0">
              <a:buNone/>
            </a:pPr>
            <a:r>
              <a:rPr lang="en-US" sz="1100" baseline="-40000" dirty="0">
                <a:solidFill>
                  <a:srgbClr val="5C5E62"/>
                </a:solidFill>
                <a:latin typeface="Segoe UI" pitchFamily="34" charset="0"/>
                <a:ea typeface="Segoe UI" pitchFamily="34" charset="-122"/>
                <a:cs typeface="Segoe UI" pitchFamily="34" charset="-120"/>
              </a:rPr>
              <a:t>si</a:t>
            </a:r>
            <a:pPr algn="l" indent="0" marL="0">
              <a:buNone/>
            </a:pPr>
            <a:r>
              <a:rPr lang="en-US" sz="1100" dirty="0">
                <a:solidFill>
                  <a:srgbClr val="5C5E62"/>
                </a:solidFill>
                <a:latin typeface="Segoe UI" pitchFamily="34" charset="0"/>
                <a:ea typeface="Segoe UI" pitchFamily="34" charset="-122"/>
                <a:cs typeface="Segoe UI" pitchFamily="34" charset="-120"/>
              </a:rPr>
              <a:t> = 8 nm, t</a:t>
            </a:r>
            <a:pPr algn="l" indent="0" marL="0">
              <a:buNone/>
            </a:pPr>
            <a:r>
              <a:rPr lang="en-US" sz="1100" baseline="-40000" dirty="0">
                <a:solidFill>
                  <a:srgbClr val="5C5E62"/>
                </a:solidFill>
                <a:latin typeface="Segoe UI" pitchFamily="34" charset="0"/>
                <a:ea typeface="Segoe UI" pitchFamily="34" charset="-122"/>
                <a:cs typeface="Segoe UI" pitchFamily="34" charset="-120"/>
              </a:rPr>
              <a:t>ox</a:t>
            </a:r>
            <a:pPr algn="l" indent="0" marL="0">
              <a:buNone/>
            </a:pPr>
            <a:r>
              <a:rPr lang="en-US" sz="1100" dirty="0">
                <a:solidFill>
                  <a:srgbClr val="5C5E62"/>
                </a:solidFill>
                <a:latin typeface="Segoe UI" pitchFamily="34" charset="0"/>
                <a:ea typeface="Segoe UI" pitchFamily="34" charset="-122"/>
                <a:cs typeface="Segoe UI" pitchFamily="34" charset="-120"/>
              </a:rPr>
              <a:t> = EOT 0.8 nm</a:t>
            </a:r>
            <a:endParaRPr lang="en-US" sz="1100" dirty="0"/>
          </a:p>
        </p:txBody>
      </p:sp>
      <p:sp>
        <p:nvSpPr>
          <p:cNvPr id="44" name="!!chip0"/>
          <p:cNvSpPr/>
          <p:nvPr/>
        </p:nvSpPr>
        <p:spPr>
          <a:xfrm>
            <a:off x="8686800" y="2651760"/>
            <a:ext cx="2953512" cy="621792"/>
          </a:xfrm>
          <a:prstGeom prst="roundRect">
            <a:avLst>
              <a:gd name="adj" fmla="val 8824"/>
            </a:avLst>
          </a:prstGeom>
          <a:solidFill>
            <a:srgbClr val="F4F5F7"/>
          </a:solidFill>
          <a:ln/>
        </p:spPr>
      </p:sp>
      <p:sp>
        <p:nvSpPr>
          <p:cNvPr id="45" name="!!chipk0"/>
          <p:cNvSpPr txBox="1"/>
          <p:nvPr/>
        </p:nvSpPr>
        <p:spPr>
          <a:xfrm>
            <a:off x="8796528" y="2724912"/>
            <a:ext cx="27340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scale length λ</a:t>
            </a:r>
            <a:endParaRPr lang="en-US" sz="1000" dirty="0"/>
          </a:p>
        </p:txBody>
      </p:sp>
      <p:sp>
        <p:nvSpPr>
          <p:cNvPr id="46" name="!!chipv0"/>
          <p:cNvSpPr txBox="1"/>
          <p:nvPr/>
        </p:nvSpPr>
        <p:spPr>
          <a:xfrm>
            <a:off x="8796528" y="2962656"/>
            <a:ext cx="27706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2.18 nm</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7" name="!!chip1"/>
          <p:cNvSpPr/>
          <p:nvPr/>
        </p:nvSpPr>
        <p:spPr>
          <a:xfrm>
            <a:off x="8686800" y="3364992"/>
            <a:ext cx="2953512" cy="621792"/>
          </a:xfrm>
          <a:prstGeom prst="roundRect">
            <a:avLst>
              <a:gd name="adj" fmla="val 8824"/>
            </a:avLst>
          </a:prstGeom>
          <a:solidFill>
            <a:srgbClr val="F4F5F7"/>
          </a:solidFill>
          <a:ln/>
        </p:spPr>
      </p:sp>
      <p:sp>
        <p:nvSpPr>
          <p:cNvPr id="48" name="!!chipk1"/>
          <p:cNvSpPr txBox="1"/>
          <p:nvPr/>
        </p:nvSpPr>
        <p:spPr>
          <a:xfrm>
            <a:off x="8796528" y="3438144"/>
            <a:ext cx="27340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L</a:t>
            </a:r>
            <a:pPr algn="l" indent="0" marL="0">
              <a:buNone/>
            </a:pPr>
            <a:r>
              <a:rPr lang="en-US" sz="1000" baseline="-40000" dirty="0">
                <a:solidFill>
                  <a:srgbClr val="5C5E62"/>
                </a:solidFill>
                <a:latin typeface="Segoe UI" pitchFamily="34" charset="0"/>
                <a:ea typeface="Segoe UI" pitchFamily="34" charset="-122"/>
                <a:cs typeface="Segoe UI" pitchFamily="34" charset="-120"/>
              </a:rPr>
              <a:t>g</a:t>
            </a:r>
            <a:pPr algn="l" indent="0" marL="0">
              <a:buNone/>
            </a:pPr>
            <a:r>
              <a:rPr lang="en-US" sz="1000" dirty="0">
                <a:solidFill>
                  <a:srgbClr val="5C5E62"/>
                </a:solidFill>
                <a:latin typeface="Segoe UI" pitchFamily="34" charset="0"/>
                <a:ea typeface="Segoe UI" pitchFamily="34" charset="-122"/>
                <a:cs typeface="Segoe UI" pitchFamily="34" charset="-120"/>
              </a:rPr>
              <a:t> / λ at 14 nm</a:t>
            </a:r>
            <a:endParaRPr lang="en-US" sz="1000" dirty="0"/>
          </a:p>
        </p:txBody>
      </p:sp>
      <p:sp>
        <p:nvSpPr>
          <p:cNvPr id="49" name="!!chipv1"/>
          <p:cNvSpPr txBox="1"/>
          <p:nvPr/>
        </p:nvSpPr>
        <p:spPr>
          <a:xfrm>
            <a:off x="8796528" y="3675888"/>
            <a:ext cx="27706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6.4</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50" name="!!chip2"/>
          <p:cNvSpPr/>
          <p:nvPr/>
        </p:nvSpPr>
        <p:spPr>
          <a:xfrm>
            <a:off x="8686800" y="4078224"/>
            <a:ext cx="2953512" cy="621792"/>
          </a:xfrm>
          <a:prstGeom prst="roundRect">
            <a:avLst>
              <a:gd name="adj" fmla="val 8824"/>
            </a:avLst>
          </a:prstGeom>
          <a:solidFill>
            <a:srgbClr val="F4F5F7"/>
          </a:solidFill>
          <a:ln/>
        </p:spPr>
      </p:sp>
      <p:sp>
        <p:nvSpPr>
          <p:cNvPr id="51" name="!!chipk2"/>
          <p:cNvSpPr txBox="1"/>
          <p:nvPr/>
        </p:nvSpPr>
        <p:spPr>
          <a:xfrm>
            <a:off x="8796528" y="4151376"/>
            <a:ext cx="27340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drain pull at source end</a:t>
            </a:r>
            <a:endParaRPr lang="en-US" sz="1000" dirty="0"/>
          </a:p>
        </p:txBody>
      </p:sp>
      <p:sp>
        <p:nvSpPr>
          <p:cNvPr id="52" name="!!chipv2"/>
          <p:cNvSpPr txBox="1"/>
          <p:nvPr/>
        </p:nvSpPr>
        <p:spPr>
          <a:xfrm>
            <a:off x="8796528" y="4389120"/>
            <a:ext cx="27706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0.16 %</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53" name="!!knobLbl"/>
          <p:cNvSpPr txBox="1"/>
          <p:nvPr/>
        </p:nvSpPr>
        <p:spPr>
          <a:xfrm>
            <a:off x="8759952" y="4846320"/>
            <a:ext cx="283464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sides N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4</a:t>
            </a:r>
            <a:endParaRPr lang="en-US" sz="1200" dirty="0"/>
          </a:p>
        </p:txBody>
      </p:sp>
      <p:sp>
        <p:nvSpPr>
          <p:cNvPr id="54" name="!!knobTrack"/>
          <p:cNvSpPr/>
          <p:nvPr/>
        </p:nvSpPr>
        <p:spPr>
          <a:xfrm>
            <a:off x="8778240" y="5230368"/>
            <a:ext cx="2743200" cy="54864"/>
          </a:xfrm>
          <a:prstGeom prst="roundRect">
            <a:avLst>
              <a:gd name="adj" fmla="val 50000"/>
            </a:avLst>
          </a:prstGeom>
          <a:solidFill>
            <a:srgbClr val="E2E3E3"/>
          </a:solidFill>
          <a:ln/>
        </p:spPr>
      </p:sp>
      <p:sp>
        <p:nvSpPr>
          <p:cNvPr id="55" name="!!knobFill"/>
          <p:cNvSpPr/>
          <p:nvPr/>
        </p:nvSpPr>
        <p:spPr>
          <a:xfrm>
            <a:off x="8778240" y="5230368"/>
            <a:ext cx="2743200" cy="54864"/>
          </a:xfrm>
          <a:prstGeom prst="roundRect">
            <a:avLst>
              <a:gd name="adj" fmla="val 50000"/>
            </a:avLst>
          </a:prstGeom>
          <a:solidFill>
            <a:srgbClr val="6B5BC4"/>
          </a:solidFill>
          <a:ln/>
        </p:spPr>
      </p:sp>
      <p:sp>
        <p:nvSpPr>
          <p:cNvPr id="56" name="!!knobT0"/>
          <p:cNvSpPr txBox="1"/>
          <p:nvPr/>
        </p:nvSpPr>
        <p:spPr>
          <a:xfrm>
            <a:off x="84124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1</a:t>
            </a:r>
            <a:endParaRPr lang="en-US" sz="900" dirty="0"/>
          </a:p>
        </p:txBody>
      </p:sp>
      <p:sp>
        <p:nvSpPr>
          <p:cNvPr id="57" name="!!knobT1"/>
          <p:cNvSpPr txBox="1"/>
          <p:nvPr/>
        </p:nvSpPr>
        <p:spPr>
          <a:xfrm>
            <a:off x="93268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2</a:t>
            </a:r>
            <a:endParaRPr lang="en-US" sz="900" dirty="0"/>
          </a:p>
        </p:txBody>
      </p:sp>
      <p:sp>
        <p:nvSpPr>
          <p:cNvPr id="58" name="!!knobT2"/>
          <p:cNvSpPr txBox="1"/>
          <p:nvPr/>
        </p:nvSpPr>
        <p:spPr>
          <a:xfrm>
            <a:off x="102412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a:t>
            </a:r>
            <a:endParaRPr lang="en-US" sz="900" dirty="0"/>
          </a:p>
        </p:txBody>
      </p:sp>
      <p:sp>
        <p:nvSpPr>
          <p:cNvPr id="59" name="!!knobT3"/>
          <p:cNvSpPr txBox="1"/>
          <p:nvPr/>
        </p:nvSpPr>
        <p:spPr>
          <a:xfrm>
            <a:off x="111556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a:t>
            </a:r>
            <a:endParaRPr lang="en-US" sz="900" dirty="0"/>
          </a:p>
        </p:txBody>
      </p:sp>
      <p:sp>
        <p:nvSpPr>
          <p:cNvPr id="60" name="!!knobThumb"/>
          <p:cNvSpPr/>
          <p:nvPr/>
        </p:nvSpPr>
        <p:spPr>
          <a:xfrm>
            <a:off x="11420856" y="5157216"/>
            <a:ext cx="201168" cy="201168"/>
          </a:xfrm>
          <a:prstGeom prst="ellipse">
            <a:avLst/>
          </a:prstGeom>
          <a:solidFill>
            <a:srgbClr val="FFFFFF"/>
          </a:solidFill>
          <a:ln w="28575">
            <a:solidFill>
              <a:srgbClr val="6B5BC4"/>
            </a:solidFill>
            <a:prstDash val="solid"/>
          </a:ln>
        </p:spPr>
      </p:sp>
      <p:sp>
        <p:nvSpPr>
          <p:cNvPr id="61"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Gate-all-around: λ = 2.18 nm, only 0.16 %. The gate needs L</a:t>
            </a:r>
            <a:pPr algn="ctr" indent="0" marL="0">
              <a:buNone/>
            </a:pPr>
            <a:r>
              <a:rPr lang="en-US" sz="1600" baseline="-40000" dirty="0">
                <a:solidFill>
                  <a:srgbClr val="171A20"/>
                </a:solidFill>
                <a:latin typeface="Segoe UI" pitchFamily="34" charset="0"/>
                <a:ea typeface="Segoe UI" pitchFamily="34" charset="-122"/>
                <a:cs typeface="Segoe UI" pitchFamily="34" charset="-120"/>
              </a:rPr>
              <a:t>g</a:t>
            </a:r>
            <a:pPr algn="ctr" indent="0" marL="0">
              <a:buNone/>
            </a:pPr>
            <a:r>
              <a:rPr lang="en-US" sz="1600" dirty="0">
                <a:solidFill>
                  <a:srgbClr val="171A20"/>
                </a:solidFill>
                <a:latin typeface="Segoe UI" pitchFamily="34" charset="0"/>
                <a:ea typeface="Segoe UI" pitchFamily="34" charset="-122"/>
                <a:cs typeface="Segoe UI" pitchFamily="34" charset="-120"/>
              </a:rPr>
              <a:t> ≥ 5–10 λ to stay in control.</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46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Contents</a:t>
            </a:r>
            <a:endParaRPr lang="en-US" sz="3000" dirty="0"/>
          </a:p>
        </p:txBody>
      </p:sp>
      <p:sp>
        <p:nvSpPr>
          <p:cNvPr id="3" name="!!tocLine"/>
          <p:cNvSpPr/>
          <p:nvPr/>
        </p:nvSpPr>
        <p:spPr>
          <a:xfrm>
            <a:off x="868680" y="1508760"/>
            <a:ext cx="91" cy="3840480"/>
          </a:xfrm>
          <a:prstGeom prst="line">
            <a:avLst/>
          </a:prstGeom>
          <a:noFill/>
          <a:ln w="38100">
            <a:solidFill>
              <a:srgbClr val="E2E3E3"/>
            </a:solidFill>
            <a:prstDash val="solid"/>
          </a:ln>
        </p:spPr>
      </p:sp>
      <p:sp>
        <p:nvSpPr>
          <p:cNvPr id="4" name="!!tocC0"/>
          <p:cNvSpPr/>
          <p:nvPr/>
        </p:nvSpPr>
        <p:spPr>
          <a:xfrm>
            <a:off x="685800" y="1325880"/>
            <a:ext cx="365760" cy="365760"/>
          </a:xfrm>
          <a:prstGeom prst="ellipse">
            <a:avLst/>
          </a:prstGeom>
          <a:solidFill>
            <a:srgbClr val="FFFFFF"/>
          </a:solidFill>
          <a:ln w="15875">
            <a:solidFill>
              <a:srgbClr val="2E9E4F"/>
            </a:solidFill>
            <a:prstDash val="solid"/>
          </a:ln>
        </p:spPr>
      </p:sp>
      <p:sp>
        <p:nvSpPr>
          <p:cNvPr id="5" name="!!tocN0"/>
          <p:cNvSpPr txBox="1"/>
          <p:nvPr/>
        </p:nvSpPr>
        <p:spPr>
          <a:xfrm>
            <a:off x="685800" y="135331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01</a:t>
            </a:r>
            <a:endParaRPr lang="en-US" sz="1000" dirty="0"/>
          </a:p>
        </p:txBody>
      </p:sp>
      <p:sp>
        <p:nvSpPr>
          <p:cNvPr id="6" name="!!tocH0"/>
          <p:cNvSpPr txBox="1"/>
          <p:nvPr/>
        </p:nvSpPr>
        <p:spPr>
          <a:xfrm>
            <a:off x="1325880" y="128016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The MOSFET switch</a:t>
            </a:r>
            <a:endParaRPr lang="en-US" sz="1800" dirty="0"/>
          </a:p>
        </p:txBody>
      </p:sp>
      <p:sp>
        <p:nvSpPr>
          <p:cNvPr id="7" name="!!tocS0"/>
          <p:cNvSpPr txBox="1"/>
          <p:nvPr/>
        </p:nvSpPr>
        <p:spPr>
          <a:xfrm>
            <a:off x="1325880" y="162763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Build it · turn the gate · turn the drain · V</a:t>
            </a:r>
            <a:pPr algn="l" indent="0" marL="0">
              <a:buNone/>
            </a:pPr>
            <a:r>
              <a:rPr lang="en-US" sz="1100" baseline="-40000" dirty="0">
                <a:solidFill>
                  <a:srgbClr val="A9ACB1"/>
                </a:solidFill>
                <a:latin typeface="Segoe UI" pitchFamily="34" charset="0"/>
                <a:ea typeface="Segoe UI" pitchFamily="34" charset="-122"/>
                <a:cs typeface="Segoe UI" pitchFamily="34" charset="-120"/>
              </a:rPr>
              <a:t>T</a:t>
            </a:r>
            <a:pPr algn="l" indent="0" marL="0">
              <a:buNone/>
            </a:pPr>
            <a:r>
              <a:rPr lang="en-US" sz="1100" dirty="0">
                <a:solidFill>
                  <a:srgbClr val="A9ACB1"/>
                </a:solidFill>
                <a:latin typeface="Segoe UI" pitchFamily="34" charset="0"/>
                <a:ea typeface="Segoe UI" pitchFamily="34" charset="-122"/>
                <a:cs typeface="Segoe UI" pitchFamily="34" charset="-120"/>
              </a:rPr>
              <a:t> and SS in depth</a:t>
            </a:r>
            <a:endParaRPr lang="en-US" sz="1100" dirty="0"/>
          </a:p>
        </p:txBody>
      </p:sp>
      <p:sp>
        <p:nvSpPr>
          <p:cNvPr id="8" name="!!tocC1"/>
          <p:cNvSpPr/>
          <p:nvPr/>
        </p:nvSpPr>
        <p:spPr>
          <a:xfrm>
            <a:off x="685800" y="1965960"/>
            <a:ext cx="365760" cy="365760"/>
          </a:xfrm>
          <a:prstGeom prst="ellipse">
            <a:avLst/>
          </a:prstGeom>
          <a:solidFill>
            <a:srgbClr val="FFFFFF"/>
          </a:solidFill>
          <a:ln w="15875">
            <a:solidFill>
              <a:srgbClr val="2E9E4F"/>
            </a:solidFill>
            <a:prstDash val="solid"/>
          </a:ln>
        </p:spPr>
      </p:sp>
      <p:sp>
        <p:nvSpPr>
          <p:cNvPr id="9" name="!!tocN1"/>
          <p:cNvSpPr txBox="1"/>
          <p:nvPr/>
        </p:nvSpPr>
        <p:spPr>
          <a:xfrm>
            <a:off x="685800" y="199339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02</a:t>
            </a:r>
            <a:endParaRPr lang="en-US" sz="1000" dirty="0"/>
          </a:p>
        </p:txBody>
      </p:sp>
      <p:sp>
        <p:nvSpPr>
          <p:cNvPr id="10" name="!!tocH1"/>
          <p:cNvSpPr txBox="1"/>
          <p:nvPr/>
        </p:nvSpPr>
        <p:spPr>
          <a:xfrm>
            <a:off x="1325880" y="192024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Shrinking the gate</a:t>
            </a:r>
            <a:endParaRPr lang="en-US" sz="1800" dirty="0"/>
          </a:p>
        </p:txBody>
      </p:sp>
      <p:sp>
        <p:nvSpPr>
          <p:cNvPr id="11" name="!!tocS1"/>
          <p:cNvSpPr txBox="1"/>
          <p:nvPr/>
        </p:nvSpPr>
        <p:spPr>
          <a:xfrm>
            <a:off x="1325880" y="226771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Shorter L</a:t>
            </a:r>
            <a:pPr algn="l" indent="0" marL="0">
              <a:buNone/>
            </a:pPr>
            <a:r>
              <a:rPr lang="en-US" sz="1100" baseline="-40000" dirty="0">
                <a:solidFill>
                  <a:srgbClr val="A9ACB1"/>
                </a:solidFill>
                <a:latin typeface="Segoe UI" pitchFamily="34" charset="0"/>
                <a:ea typeface="Segoe UI" pitchFamily="34" charset="-122"/>
                <a:cs typeface="Segoe UI" pitchFamily="34" charset="-120"/>
              </a:rPr>
              <a:t>g</a:t>
            </a:r>
            <a:pPr algn="l" indent="0" marL="0">
              <a:buNone/>
            </a:pPr>
            <a:r>
              <a:rPr lang="en-US" sz="1100" dirty="0">
                <a:solidFill>
                  <a:srgbClr val="A9ACB1"/>
                </a:solidFill>
                <a:latin typeface="Segoe UI" pitchFamily="34" charset="0"/>
                <a:ea typeface="Segoe UI" pitchFamily="34" charset="-122"/>
                <a:cs typeface="Segoe UI" pitchFamily="34" charset="-120"/>
              </a:rPr>
              <a:t> · DIBL and leakage · the scale length λ</a:t>
            </a:r>
            <a:endParaRPr lang="en-US" sz="1100" dirty="0"/>
          </a:p>
        </p:txBody>
      </p:sp>
      <p:sp>
        <p:nvSpPr>
          <p:cNvPr id="12" name="!!tocC2"/>
          <p:cNvSpPr/>
          <p:nvPr/>
        </p:nvSpPr>
        <p:spPr>
          <a:xfrm>
            <a:off x="685800" y="2606040"/>
            <a:ext cx="365760" cy="365760"/>
          </a:xfrm>
          <a:prstGeom prst="ellipse">
            <a:avLst/>
          </a:prstGeom>
          <a:solidFill>
            <a:srgbClr val="171A20"/>
          </a:solidFill>
          <a:ln w="15875">
            <a:solidFill>
              <a:srgbClr val="171A20"/>
            </a:solidFill>
            <a:prstDash val="solid"/>
          </a:ln>
        </p:spPr>
      </p:sp>
      <p:sp>
        <p:nvSpPr>
          <p:cNvPr id="13" name="!!tocN2"/>
          <p:cNvSpPr txBox="1"/>
          <p:nvPr/>
        </p:nvSpPr>
        <p:spPr>
          <a:xfrm>
            <a:off x="685800" y="2633472"/>
            <a:ext cx="365760" cy="310896"/>
          </a:xfrm>
          <a:prstGeom prst="rect">
            <a:avLst/>
          </a:prstGeom>
          <a:noFill/>
          <a:ln/>
        </p:spPr>
        <p:txBody>
          <a:bodyPr wrap="square" lIns="0" tIns="0" rIns="0" bIns="0" rtlCol="0" anchor="ctr"/>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03</a:t>
            </a:r>
            <a:endParaRPr lang="en-US" sz="1000" dirty="0"/>
          </a:p>
        </p:txBody>
      </p:sp>
      <p:sp>
        <p:nvSpPr>
          <p:cNvPr id="14" name="!!tocH2"/>
          <p:cNvSpPr txBox="1"/>
          <p:nvPr/>
        </p:nvSpPr>
        <p:spPr>
          <a:xfrm>
            <a:off x="1325880" y="2560320"/>
            <a:ext cx="6400800" cy="347472"/>
          </a:xfrm>
          <a:prstGeom prst="rect">
            <a:avLst/>
          </a:prstGeom>
          <a:noFill/>
          <a:ln/>
        </p:spPr>
        <p:txBody>
          <a:bodyPr wrap="square" lIns="0" tIns="0" rIns="0" bIns="0" rtlCol="0" anchor="ctr"/>
          <a:lstStyle/>
          <a:p>
            <a:pPr algn="l" indent="0" marL="0">
              <a:buNone/>
            </a:pPr>
            <a:r>
              <a:rPr lang="en-US" sz="2000" dirty="0">
                <a:solidFill>
                  <a:srgbClr val="171A20"/>
                </a:solidFill>
                <a:latin typeface="Segoe UI Semibold" pitchFamily="34" charset="0"/>
                <a:ea typeface="Segoe UI Semibold" pitchFamily="34" charset="-122"/>
                <a:cs typeface="Segoe UI Semibold" pitchFamily="34" charset="-120"/>
              </a:rPr>
              <a:t>FinFET → GAAFET</a:t>
            </a:r>
            <a:endParaRPr lang="en-US" sz="2000" dirty="0"/>
          </a:p>
        </p:txBody>
      </p:sp>
      <p:sp>
        <p:nvSpPr>
          <p:cNvPr id="15" name="!!tocS2"/>
          <p:cNvSpPr txBox="1"/>
          <p:nvPr/>
        </p:nvSpPr>
        <p:spPr>
          <a:xfrm>
            <a:off x="1325880" y="2907792"/>
            <a:ext cx="8229600" cy="237744"/>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More gate sides · fin width · wire, sheet, stack · our GAA in numbers</a:t>
            </a:r>
            <a:endParaRPr lang="en-US" sz="1100" dirty="0"/>
          </a:p>
        </p:txBody>
      </p:sp>
      <p:sp>
        <p:nvSpPr>
          <p:cNvPr id="16" name="!!tocC3"/>
          <p:cNvSpPr/>
          <p:nvPr/>
        </p:nvSpPr>
        <p:spPr>
          <a:xfrm>
            <a:off x="685800" y="3246120"/>
            <a:ext cx="365760" cy="365760"/>
          </a:xfrm>
          <a:prstGeom prst="ellipse">
            <a:avLst/>
          </a:prstGeom>
          <a:solidFill>
            <a:srgbClr val="FFFFFF"/>
          </a:solidFill>
          <a:ln w="15875">
            <a:solidFill>
              <a:srgbClr val="9C7A3C"/>
            </a:solidFill>
            <a:prstDash val="solid"/>
          </a:ln>
        </p:spPr>
      </p:sp>
      <p:sp>
        <p:nvSpPr>
          <p:cNvPr id="17" name="!!tocN3"/>
          <p:cNvSpPr txBox="1"/>
          <p:nvPr/>
        </p:nvSpPr>
        <p:spPr>
          <a:xfrm>
            <a:off x="685800" y="327355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04</a:t>
            </a:r>
            <a:endParaRPr lang="en-US" sz="1000" dirty="0"/>
          </a:p>
        </p:txBody>
      </p:sp>
      <p:sp>
        <p:nvSpPr>
          <p:cNvPr id="18" name="!!tocH3"/>
          <p:cNvSpPr txBox="1"/>
          <p:nvPr/>
        </p:nvSpPr>
        <p:spPr>
          <a:xfrm>
            <a:off x="1325880" y="320040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The new problem: heat</a:t>
            </a:r>
            <a:endParaRPr lang="en-US" sz="1800" dirty="0"/>
          </a:p>
        </p:txBody>
      </p:sp>
      <p:sp>
        <p:nvSpPr>
          <p:cNvPr id="19" name="!!tocS3"/>
          <p:cNvSpPr txBox="1"/>
          <p:nvPr/>
        </p:nvSpPr>
        <p:spPr>
          <a:xfrm>
            <a:off x="1325880" y="354787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Oxide traps heat · ΔT = R</a:t>
            </a:r>
            <a:pPr algn="l" indent="0" marL="0">
              <a:buNone/>
            </a:pPr>
            <a:r>
              <a:rPr lang="en-US" sz="1100" baseline="-40000" dirty="0">
                <a:solidFill>
                  <a:srgbClr val="A9ACB1"/>
                </a:solidFill>
                <a:latin typeface="Segoe UI" pitchFamily="34" charset="0"/>
                <a:ea typeface="Segoe UI" pitchFamily="34" charset="-122"/>
                <a:cs typeface="Segoe UI" pitchFamily="34" charset="-120"/>
              </a:rPr>
              <a:t>th</a:t>
            </a:r>
            <a:pPr algn="l" indent="0" marL="0">
              <a:buNone/>
            </a:pPr>
            <a:r>
              <a:rPr lang="en-US" sz="1100" dirty="0">
                <a:solidFill>
                  <a:srgbClr val="A9ACB1"/>
                </a:solidFill>
                <a:latin typeface="Segoe UI" pitchFamily="34" charset="0"/>
                <a:ea typeface="Segoe UI" pitchFamily="34" charset="-122"/>
                <a:cs typeface="Segoe UI" pitchFamily="34" charset="-120"/>
              </a:rPr>
              <a:t> · P · what heat does to every metric</a:t>
            </a:r>
            <a:endParaRPr lang="en-US" sz="1100" dirty="0"/>
          </a:p>
        </p:txBody>
      </p:sp>
      <p:sp>
        <p:nvSpPr>
          <p:cNvPr id="20" name="!!tocC4"/>
          <p:cNvSpPr/>
          <p:nvPr/>
        </p:nvSpPr>
        <p:spPr>
          <a:xfrm>
            <a:off x="685800" y="3886200"/>
            <a:ext cx="365760" cy="365760"/>
          </a:xfrm>
          <a:prstGeom prst="ellipse">
            <a:avLst/>
          </a:prstGeom>
          <a:solidFill>
            <a:srgbClr val="FFFFFF"/>
          </a:solidFill>
          <a:ln w="15875">
            <a:solidFill>
              <a:srgbClr val="9C7A3C"/>
            </a:solidFill>
            <a:prstDash val="solid"/>
          </a:ln>
        </p:spPr>
      </p:sp>
      <p:sp>
        <p:nvSpPr>
          <p:cNvPr id="21" name="!!tocN4"/>
          <p:cNvSpPr txBox="1"/>
          <p:nvPr/>
        </p:nvSpPr>
        <p:spPr>
          <a:xfrm>
            <a:off x="685800" y="391363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05</a:t>
            </a:r>
            <a:endParaRPr lang="en-US" sz="1000" dirty="0"/>
          </a:p>
        </p:txBody>
      </p:sp>
      <p:sp>
        <p:nvSpPr>
          <p:cNvPr id="22" name="!!tocH4"/>
          <p:cNvSpPr txBox="1"/>
          <p:nvPr/>
        </p:nvSpPr>
        <p:spPr>
          <a:xfrm>
            <a:off x="1325880" y="384048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Literature and method</a:t>
            </a:r>
            <a:endParaRPr lang="en-US" sz="1800" dirty="0"/>
          </a:p>
        </p:txBody>
      </p:sp>
      <p:sp>
        <p:nvSpPr>
          <p:cNvPr id="23" name="!!tocS4"/>
          <p:cNvSpPr txBox="1"/>
          <p:nvPr/>
        </p:nvSpPr>
        <p:spPr>
          <a:xfrm>
            <a:off x="1325880" y="418795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Five papers · base paper Chen et al. 2025 · Silvaco Atlas flow</a:t>
            </a:r>
            <a:endParaRPr lang="en-US" sz="1100" dirty="0"/>
          </a:p>
        </p:txBody>
      </p:sp>
      <p:sp>
        <p:nvSpPr>
          <p:cNvPr id="24" name="!!tocC5"/>
          <p:cNvSpPr/>
          <p:nvPr/>
        </p:nvSpPr>
        <p:spPr>
          <a:xfrm>
            <a:off x="685800" y="4526280"/>
            <a:ext cx="365760" cy="365760"/>
          </a:xfrm>
          <a:prstGeom prst="ellipse">
            <a:avLst/>
          </a:prstGeom>
          <a:solidFill>
            <a:srgbClr val="FFFFFF"/>
          </a:solidFill>
          <a:ln w="15875">
            <a:solidFill>
              <a:srgbClr val="9C7A3C"/>
            </a:solidFill>
            <a:prstDash val="solid"/>
          </a:ln>
        </p:spPr>
      </p:sp>
      <p:sp>
        <p:nvSpPr>
          <p:cNvPr id="25" name="!!tocN5"/>
          <p:cNvSpPr txBox="1"/>
          <p:nvPr/>
        </p:nvSpPr>
        <p:spPr>
          <a:xfrm>
            <a:off x="685800" y="455371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06</a:t>
            </a:r>
            <a:endParaRPr lang="en-US" sz="1000" dirty="0"/>
          </a:p>
        </p:txBody>
      </p:sp>
      <p:sp>
        <p:nvSpPr>
          <p:cNvPr id="26" name="!!tocH5"/>
          <p:cNvSpPr txBox="1"/>
          <p:nvPr/>
        </p:nvSpPr>
        <p:spPr>
          <a:xfrm>
            <a:off x="1325880" y="448056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Three stages in TCAD</a:t>
            </a:r>
            <a:endParaRPr lang="en-US" sz="1800" dirty="0"/>
          </a:p>
        </p:txBody>
      </p:sp>
      <p:sp>
        <p:nvSpPr>
          <p:cNvPr id="27" name="!!tocS5"/>
          <p:cNvSpPr txBox="1"/>
          <p:nvPr/>
        </p:nvSpPr>
        <p:spPr>
          <a:xfrm>
            <a:off x="1325880" y="482803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Standard GAAFET · reproduce the paper · optimal design D</a:t>
            </a:r>
            <a:endParaRPr lang="en-US" sz="1100" dirty="0"/>
          </a:p>
        </p:txBody>
      </p:sp>
      <p:sp>
        <p:nvSpPr>
          <p:cNvPr id="28" name="!!tocC6"/>
          <p:cNvSpPr/>
          <p:nvPr/>
        </p:nvSpPr>
        <p:spPr>
          <a:xfrm>
            <a:off x="685800" y="5166360"/>
            <a:ext cx="365760" cy="365760"/>
          </a:xfrm>
          <a:prstGeom prst="ellipse">
            <a:avLst/>
          </a:prstGeom>
          <a:solidFill>
            <a:srgbClr val="FFFFFF"/>
          </a:solidFill>
          <a:ln w="15875">
            <a:solidFill>
              <a:srgbClr val="9C7A3C"/>
            </a:solidFill>
            <a:prstDash val="solid"/>
          </a:ln>
        </p:spPr>
      </p:sp>
      <p:sp>
        <p:nvSpPr>
          <p:cNvPr id="29" name="!!tocN6"/>
          <p:cNvSpPr txBox="1"/>
          <p:nvPr/>
        </p:nvSpPr>
        <p:spPr>
          <a:xfrm>
            <a:off x="685800" y="519379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07</a:t>
            </a:r>
            <a:endParaRPr lang="en-US" sz="1000" dirty="0"/>
          </a:p>
        </p:txBody>
      </p:sp>
      <p:sp>
        <p:nvSpPr>
          <p:cNvPr id="30" name="!!tocH6"/>
          <p:cNvSpPr txBox="1"/>
          <p:nvPr/>
        </p:nvSpPr>
        <p:spPr>
          <a:xfrm>
            <a:off x="1325880" y="512064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Conclusion</a:t>
            </a:r>
            <a:endParaRPr lang="en-US" sz="1800" dirty="0"/>
          </a:p>
        </p:txBody>
      </p:sp>
      <p:sp>
        <p:nvSpPr>
          <p:cNvPr id="31" name="!!tocS6"/>
          <p:cNvSpPr txBox="1"/>
          <p:nvPr/>
        </p:nvSpPr>
        <p:spPr>
          <a:xfrm>
            <a:off x="1325880" y="546811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Gains and limits · the whole story · next steps</a:t>
            </a:r>
            <a:endParaRPr lang="en-US" sz="1100" dirty="0"/>
          </a:p>
        </p:txBody>
      </p:sp>
      <p:sp>
        <p:nvSpPr>
          <p:cNvPr id="32" name="!!tocCard"/>
          <p:cNvSpPr/>
          <p:nvPr/>
        </p:nvSpPr>
        <p:spPr>
          <a:xfrm>
            <a:off x="8503920" y="2011680"/>
            <a:ext cx="3136392" cy="2377440"/>
          </a:xfrm>
          <a:prstGeom prst="roundRect">
            <a:avLst>
              <a:gd name="adj" fmla="val 3077"/>
            </a:avLst>
          </a:prstGeom>
          <a:solidFill>
            <a:srgbClr val="F4F5F7"/>
          </a:solidFill>
          <a:ln/>
        </p:spPr>
      </p:sp>
      <p:sp>
        <p:nvSpPr>
          <p:cNvPr id="33" name="!!tocCk"/>
          <p:cNvSpPr txBox="1"/>
          <p:nvPr/>
        </p:nvSpPr>
        <p:spPr>
          <a:xfrm>
            <a:off x="8732520" y="2240280"/>
            <a:ext cx="27432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Chapter 03</a:t>
            </a:r>
            <a:endParaRPr lang="en-US" sz="1200" dirty="0"/>
          </a:p>
        </p:txBody>
      </p:sp>
      <p:sp>
        <p:nvSpPr>
          <p:cNvPr id="34" name="!!tocCh"/>
          <p:cNvSpPr txBox="1"/>
          <p:nvPr/>
        </p:nvSpPr>
        <p:spPr>
          <a:xfrm>
            <a:off x="8732520" y="2560320"/>
            <a:ext cx="2743200" cy="822960"/>
          </a:xfrm>
          <a:prstGeom prst="rect">
            <a:avLst/>
          </a:prstGeom>
          <a:noFill/>
          <a:ln/>
        </p:spPr>
        <p:txBody>
          <a:bodyPr wrap="square" lIns="0" tIns="0" rIns="0" bIns="0" rtlCol="0" anchor="t"/>
          <a:lstStyle/>
          <a:p>
            <a:pPr algn="l" indent="0" marL="0">
              <a:buNone/>
            </a:pPr>
            <a:r>
              <a:rPr lang="en-US" sz="2200" dirty="0">
                <a:solidFill>
                  <a:srgbClr val="171A20"/>
                </a:solidFill>
                <a:latin typeface="Segoe UI Semibold" pitchFamily="34" charset="0"/>
                <a:ea typeface="Segoe UI Semibold" pitchFamily="34" charset="-122"/>
                <a:cs typeface="Segoe UI Semibold" pitchFamily="34" charset="-120"/>
              </a:rPr>
              <a:t>FinFET → GAAFET</a:t>
            </a:r>
            <a:endParaRPr lang="en-US" sz="2200" dirty="0"/>
          </a:p>
        </p:txBody>
      </p:sp>
      <p:sp>
        <p:nvSpPr>
          <p:cNvPr id="35" name="!!tocCs"/>
          <p:cNvSpPr txBox="1"/>
          <p:nvPr/>
        </p:nvSpPr>
        <p:spPr>
          <a:xfrm>
            <a:off x="8732520" y="3383280"/>
            <a:ext cx="2743200" cy="9144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More gate sides</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fin width</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wire, sheet, stack</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our GAA in numbers</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47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From planar to GAA – One camera, four transistors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Looking along the channel: current flows into the screen</a:t>
            </a:r>
            <a:endParaRPr lang="en-US" sz="1600" dirty="0"/>
          </a:p>
        </p:txBody>
      </p:sp>
      <p:sp>
        <p:nvSpPr>
          <p:cNvPr id="4" name="!!sdot0"/>
          <p:cNvSpPr/>
          <p:nvPr/>
        </p:nvSpPr>
        <p:spPr>
          <a:xfrm>
            <a:off x="10666476" y="525780"/>
            <a:ext cx="82296" cy="82296"/>
          </a:xfrm>
          <a:prstGeom prst="ellipse">
            <a:avLst/>
          </a:prstGeom>
          <a:solidFill>
            <a:srgbClr val="171A20"/>
          </a:solidFill>
          <a:ln/>
        </p:spPr>
      </p:sp>
      <p:sp>
        <p:nvSpPr>
          <p:cNvPr id="5" name="!!sdot1"/>
          <p:cNvSpPr/>
          <p:nvPr/>
        </p:nvSpPr>
        <p:spPr>
          <a:xfrm>
            <a:off x="10821924" y="525780"/>
            <a:ext cx="82296" cy="82296"/>
          </a:xfrm>
          <a:prstGeom prst="ellipse">
            <a:avLst/>
          </a:prstGeom>
          <a:solidFill>
            <a:srgbClr val="E2E3E3"/>
          </a:solidFill>
          <a:ln/>
        </p:spPr>
      </p:sp>
      <p:sp>
        <p:nvSpPr>
          <p:cNvPr id="6" name="!!sdot2"/>
          <p:cNvSpPr/>
          <p:nvPr/>
        </p:nvSpPr>
        <p:spPr>
          <a:xfrm>
            <a:off x="10977372" y="525780"/>
            <a:ext cx="82296" cy="82296"/>
          </a:xfrm>
          <a:prstGeom prst="ellipse">
            <a:avLst/>
          </a:prstGeom>
          <a:solidFill>
            <a:srgbClr val="E2E3E3"/>
          </a:solidFill>
          <a:ln/>
        </p:spPr>
      </p:sp>
      <p:sp>
        <p:nvSpPr>
          <p:cNvPr id="7" name="!!sdot3"/>
          <p:cNvSpPr/>
          <p:nvPr/>
        </p:nvSpPr>
        <p:spPr>
          <a:xfrm>
            <a:off x="11132820" y="525780"/>
            <a:ext cx="82296" cy="82296"/>
          </a:xfrm>
          <a:prstGeom prst="ellipse">
            <a:avLst/>
          </a:prstGeom>
          <a:solidFill>
            <a:srgbClr val="E2E3E3"/>
          </a:solidFill>
          <a:ln/>
        </p:spPr>
      </p:sp>
      <p:sp>
        <p:nvSpPr>
          <p:cNvPr id="8" name="!!sdot4"/>
          <p:cNvSpPr/>
          <p:nvPr/>
        </p:nvSpPr>
        <p:spPr>
          <a:xfrm>
            <a:off x="11288268" y="525780"/>
            <a:ext cx="82296" cy="82296"/>
          </a:xfrm>
          <a:prstGeom prst="ellipse">
            <a:avLst/>
          </a:prstGeom>
          <a:solidFill>
            <a:srgbClr val="E2E3E3"/>
          </a:solidFill>
          <a:ln/>
        </p:spPr>
      </p:sp>
      <p:sp>
        <p:nvSpPr>
          <p:cNvPr id="9" name="!!sdot5"/>
          <p:cNvSpPr/>
          <p:nvPr/>
        </p:nvSpPr>
        <p:spPr>
          <a:xfrm>
            <a:off x="11443716" y="525780"/>
            <a:ext cx="82296" cy="82296"/>
          </a:xfrm>
          <a:prstGeom prst="ellipse">
            <a:avLst/>
          </a:prstGeom>
          <a:solidFill>
            <a:srgbClr val="E2E3E3"/>
          </a:solidFill>
          <a:ln/>
        </p:spPr>
      </p:sp>
      <p:sp>
        <p:nvSpPr>
          <p:cNvPr id="10" name="!!sdot6"/>
          <p:cNvSpPr/>
          <p:nvPr/>
        </p:nvSpPr>
        <p:spPr>
          <a:xfrm>
            <a:off x="11599164" y="525780"/>
            <a:ext cx="82296" cy="82296"/>
          </a:xfrm>
          <a:prstGeom prst="ellipse">
            <a:avLst/>
          </a:prstGeom>
          <a:solidFill>
            <a:srgbClr val="E2E3E3"/>
          </a:solidFill>
          <a:ln/>
        </p:spPr>
      </p:sp>
      <p:sp>
        <p:nvSpPr>
          <p:cNvPr id="11" name="!!evSub"/>
          <p:cNvSpPr/>
          <p:nvPr/>
        </p:nvSpPr>
        <p:spPr>
          <a:xfrm>
            <a:off x="822960" y="4480560"/>
            <a:ext cx="4572000" cy="914400"/>
          </a:xfrm>
          <a:prstGeom prst="rect">
            <a:avLst/>
          </a:prstGeom>
          <a:solidFill>
            <a:srgbClr val="EDE3C8"/>
          </a:solidFill>
          <a:ln/>
        </p:spPr>
      </p:sp>
      <p:sp>
        <p:nvSpPr>
          <p:cNvPr id="12" name="!!evSubL"/>
          <p:cNvSpPr txBox="1"/>
          <p:nvPr/>
        </p:nvSpPr>
        <p:spPr>
          <a:xfrm>
            <a:off x="3931920" y="5102352"/>
            <a:ext cx="1371600" cy="256032"/>
          </a:xfrm>
          <a:prstGeom prst="rect">
            <a:avLst/>
          </a:prstGeom>
          <a:noFill/>
          <a:ln/>
        </p:spPr>
        <p:txBody>
          <a:bodyPr wrap="square" lIns="0" tIns="0" rIns="0" bIns="0" rtlCol="0" anchor="t"/>
          <a:lstStyle/>
          <a:p>
            <a:pPr algn="r" indent="0" marL="0">
              <a:buNone/>
            </a:pPr>
            <a:r>
              <a:rPr lang="en-US" sz="1000" dirty="0">
                <a:solidFill>
                  <a:srgbClr val="8A6D1F"/>
                </a:solidFill>
                <a:latin typeface="Segoe UI" pitchFamily="34" charset="0"/>
                <a:ea typeface="Segoe UI" pitchFamily="34" charset="-122"/>
                <a:cs typeface="Segoe UI" pitchFamily="34" charset="-120"/>
              </a:rPr>
              <a:t>silicon substrate</a:t>
            </a:r>
            <a:endParaRPr lang="en-US" sz="1000" dirty="0"/>
          </a:p>
        </p:txBody>
      </p:sp>
      <p:sp>
        <p:nvSpPr>
          <p:cNvPr id="13" name="!!evIsoL"/>
          <p:cNvSpPr/>
          <p:nvPr/>
        </p:nvSpPr>
        <p:spPr>
          <a:xfrm>
            <a:off x="822960" y="4160520"/>
            <a:ext cx="9144" cy="9144"/>
          </a:xfrm>
          <a:prstGeom prst="rect">
            <a:avLst/>
          </a:prstGeom>
          <a:solidFill>
            <a:srgbClr val="D9DCE3"/>
          </a:solidFill>
          <a:ln/>
        </p:spPr>
      </p:sp>
      <p:sp>
        <p:nvSpPr>
          <p:cNvPr id="14" name="!!evIsoR"/>
          <p:cNvSpPr/>
          <p:nvPr/>
        </p:nvSpPr>
        <p:spPr>
          <a:xfrm>
            <a:off x="5385816" y="4160520"/>
            <a:ext cx="9144" cy="9144"/>
          </a:xfrm>
          <a:prstGeom prst="rect">
            <a:avLst/>
          </a:prstGeom>
          <a:solidFill>
            <a:srgbClr val="D9DCE3"/>
          </a:solidFill>
          <a:ln/>
        </p:spPr>
      </p:sp>
      <p:sp>
        <p:nvSpPr>
          <p:cNvPr id="15" name="!!evGate"/>
          <p:cNvSpPr/>
          <p:nvPr/>
        </p:nvSpPr>
        <p:spPr>
          <a:xfrm>
            <a:off x="1508760" y="3593592"/>
            <a:ext cx="3200400" cy="457200"/>
          </a:xfrm>
          <a:prstGeom prst="roundRect">
            <a:avLst>
              <a:gd name="adj" fmla="val 10000"/>
            </a:avLst>
          </a:prstGeom>
          <a:solidFill>
            <a:srgbClr val="B3A6E6"/>
          </a:solidFill>
          <a:ln/>
        </p:spPr>
      </p:sp>
      <p:sp>
        <p:nvSpPr>
          <p:cNvPr id="16" name="!!evGateL"/>
          <p:cNvSpPr txBox="1"/>
          <p:nvPr/>
        </p:nvSpPr>
        <p:spPr>
          <a:xfrm>
            <a:off x="5486400" y="3639312"/>
            <a:ext cx="1371600" cy="457200"/>
          </a:xfrm>
          <a:prstGeom prst="rect">
            <a:avLst/>
          </a:prstGeom>
          <a:noFill/>
          <a:ln/>
        </p:spPr>
        <p:txBody>
          <a:bodyPr wrap="square" lIns="0" tIns="0" rIns="0" bIns="0" rtlCol="0" anchor="t"/>
          <a:lstStyle/>
          <a:p>
            <a:pPr algn="l" indent="0" marL="0">
              <a:buNone/>
            </a:pPr>
            <a:r>
              <a:rPr lang="en-US" sz="1000" dirty="0">
                <a:solidFill>
                  <a:srgbClr val="6B5BC4"/>
                </a:solidFill>
                <a:latin typeface="Segoe UI Semibold" pitchFamily="34" charset="0"/>
                <a:ea typeface="Segoe UI Semibold" pitchFamily="34" charset="-122"/>
                <a:cs typeface="Segoe UI Semibold" pitchFamily="34" charset="-120"/>
              </a:rPr>
              <a:t>gate on top only</a:t>
            </a:r>
            <a:endParaRPr lang="en-US" sz="1000" dirty="0"/>
          </a:p>
        </p:txBody>
      </p:sp>
      <p:sp>
        <p:nvSpPr>
          <p:cNvPr id="17" name="!!evGateLn"/>
          <p:cNvSpPr/>
          <p:nvPr/>
        </p:nvSpPr>
        <p:spPr>
          <a:xfrm>
            <a:off x="4754880" y="3776472"/>
            <a:ext cx="731520" cy="91"/>
          </a:xfrm>
          <a:prstGeom prst="line">
            <a:avLst/>
          </a:prstGeom>
          <a:noFill/>
          <a:ln w="9525">
            <a:solidFill>
              <a:srgbClr val="6B5BC4"/>
            </a:solidFill>
            <a:prstDash val="solid"/>
          </a:ln>
        </p:spPr>
      </p:sp>
      <p:sp>
        <p:nvSpPr>
          <p:cNvPr id="18" name="!!evOx0"/>
          <p:cNvSpPr/>
          <p:nvPr/>
        </p:nvSpPr>
        <p:spPr>
          <a:xfrm>
            <a:off x="1591056" y="4105656"/>
            <a:ext cx="3035808" cy="374904"/>
          </a:xfrm>
          <a:prstGeom prst="rect">
            <a:avLst/>
          </a:prstGeom>
          <a:solidFill>
            <a:srgbClr val="8FCBE0"/>
          </a:solidFill>
          <a:ln/>
        </p:spPr>
      </p:sp>
      <p:sp>
        <p:nvSpPr>
          <p:cNvPr id="19" name="!!evCh0"/>
          <p:cNvSpPr/>
          <p:nvPr/>
        </p:nvSpPr>
        <p:spPr>
          <a:xfrm>
            <a:off x="1645920" y="4160520"/>
            <a:ext cx="2926080" cy="320040"/>
          </a:xfrm>
          <a:prstGeom prst="rect">
            <a:avLst/>
          </a:prstGeom>
          <a:solidFill>
            <a:srgbClr val="F6E7B8"/>
          </a:solidFill>
          <a:ln/>
        </p:spPr>
      </p:sp>
      <p:sp>
        <p:nvSpPr>
          <p:cNvPr id="20" name="!!evInT0"/>
          <p:cNvSpPr/>
          <p:nvPr/>
        </p:nvSpPr>
        <p:spPr>
          <a:xfrm>
            <a:off x="1645920" y="4160520"/>
            <a:ext cx="2926080" cy="64008"/>
          </a:xfrm>
          <a:prstGeom prst="rect">
            <a:avLst/>
          </a:prstGeom>
          <a:solidFill>
            <a:srgbClr val="1F2F6B"/>
          </a:solidFill>
          <a:ln/>
        </p:spPr>
      </p:sp>
      <p:sp>
        <p:nvSpPr>
          <p:cNvPr id="21" name="!!evInL0"/>
          <p:cNvSpPr/>
          <p:nvPr/>
        </p:nvSpPr>
        <p:spPr>
          <a:xfrm>
            <a:off x="1645920" y="4160520"/>
            <a:ext cx="64008" cy="320040"/>
          </a:xfrm>
          <a:prstGeom prst="rect">
            <a:avLst/>
          </a:prstGeom>
          <a:solidFill>
            <a:srgbClr val="1F2F6B">
              <a:alpha val="0"/>
            </a:srgbClr>
          </a:solidFill>
          <a:ln/>
        </p:spPr>
      </p:sp>
      <p:sp>
        <p:nvSpPr>
          <p:cNvPr id="22" name="!!evInR0"/>
          <p:cNvSpPr/>
          <p:nvPr/>
        </p:nvSpPr>
        <p:spPr>
          <a:xfrm>
            <a:off x="4507992" y="4160520"/>
            <a:ext cx="64008" cy="320040"/>
          </a:xfrm>
          <a:prstGeom prst="rect">
            <a:avLst/>
          </a:prstGeom>
          <a:solidFill>
            <a:srgbClr val="1F2F6B">
              <a:alpha val="0"/>
            </a:srgbClr>
          </a:solidFill>
          <a:ln/>
        </p:spPr>
      </p:sp>
      <p:sp>
        <p:nvSpPr>
          <p:cNvPr id="23" name="!!evInB0"/>
          <p:cNvSpPr/>
          <p:nvPr/>
        </p:nvSpPr>
        <p:spPr>
          <a:xfrm>
            <a:off x="1645920" y="4416552"/>
            <a:ext cx="2926080" cy="64008"/>
          </a:xfrm>
          <a:prstGeom prst="rect">
            <a:avLst/>
          </a:prstGeom>
          <a:solidFill>
            <a:srgbClr val="1F2F6B">
              <a:alpha val="0"/>
            </a:srgbClr>
          </a:solidFill>
          <a:ln/>
        </p:spPr>
      </p:sp>
      <p:sp>
        <p:nvSpPr>
          <p:cNvPr id="24" name="!!evOx1"/>
          <p:cNvSpPr/>
          <p:nvPr/>
        </p:nvSpPr>
        <p:spPr>
          <a:xfrm>
            <a:off x="1591056" y="4105656"/>
            <a:ext cx="3035808" cy="374904"/>
          </a:xfrm>
          <a:prstGeom prst="rect">
            <a:avLst/>
          </a:prstGeom>
          <a:solidFill>
            <a:srgbClr val="8FCBE0"/>
          </a:solidFill>
          <a:ln/>
        </p:spPr>
      </p:sp>
      <p:sp>
        <p:nvSpPr>
          <p:cNvPr id="25" name="!!evCh1"/>
          <p:cNvSpPr/>
          <p:nvPr/>
        </p:nvSpPr>
        <p:spPr>
          <a:xfrm>
            <a:off x="1645920" y="4160520"/>
            <a:ext cx="2926080" cy="320040"/>
          </a:xfrm>
          <a:prstGeom prst="rect">
            <a:avLst/>
          </a:prstGeom>
          <a:solidFill>
            <a:srgbClr val="F6E7B8"/>
          </a:solidFill>
          <a:ln/>
        </p:spPr>
      </p:sp>
      <p:sp>
        <p:nvSpPr>
          <p:cNvPr id="26" name="!!evInT1"/>
          <p:cNvSpPr/>
          <p:nvPr/>
        </p:nvSpPr>
        <p:spPr>
          <a:xfrm>
            <a:off x="1645920" y="4160520"/>
            <a:ext cx="2926080" cy="64008"/>
          </a:xfrm>
          <a:prstGeom prst="rect">
            <a:avLst/>
          </a:prstGeom>
          <a:solidFill>
            <a:srgbClr val="1F2F6B"/>
          </a:solidFill>
          <a:ln/>
        </p:spPr>
      </p:sp>
      <p:sp>
        <p:nvSpPr>
          <p:cNvPr id="27" name="!!evInL1"/>
          <p:cNvSpPr/>
          <p:nvPr/>
        </p:nvSpPr>
        <p:spPr>
          <a:xfrm>
            <a:off x="1645920" y="4160520"/>
            <a:ext cx="64008" cy="320040"/>
          </a:xfrm>
          <a:prstGeom prst="rect">
            <a:avLst/>
          </a:prstGeom>
          <a:solidFill>
            <a:srgbClr val="1F2F6B">
              <a:alpha val="0"/>
            </a:srgbClr>
          </a:solidFill>
          <a:ln/>
        </p:spPr>
      </p:sp>
      <p:sp>
        <p:nvSpPr>
          <p:cNvPr id="28" name="!!evInR1"/>
          <p:cNvSpPr/>
          <p:nvPr/>
        </p:nvSpPr>
        <p:spPr>
          <a:xfrm>
            <a:off x="4507992" y="4160520"/>
            <a:ext cx="64008" cy="320040"/>
          </a:xfrm>
          <a:prstGeom prst="rect">
            <a:avLst/>
          </a:prstGeom>
          <a:solidFill>
            <a:srgbClr val="1F2F6B">
              <a:alpha val="0"/>
            </a:srgbClr>
          </a:solidFill>
          <a:ln/>
        </p:spPr>
      </p:sp>
      <p:sp>
        <p:nvSpPr>
          <p:cNvPr id="29" name="!!evInB1"/>
          <p:cNvSpPr/>
          <p:nvPr/>
        </p:nvSpPr>
        <p:spPr>
          <a:xfrm>
            <a:off x="1645920" y="4416552"/>
            <a:ext cx="2926080" cy="64008"/>
          </a:xfrm>
          <a:prstGeom prst="rect">
            <a:avLst/>
          </a:prstGeom>
          <a:solidFill>
            <a:srgbClr val="1F2F6B">
              <a:alpha val="0"/>
            </a:srgbClr>
          </a:solidFill>
          <a:ln/>
        </p:spPr>
      </p:sp>
      <p:sp>
        <p:nvSpPr>
          <p:cNvPr id="30" name="!!evOx2"/>
          <p:cNvSpPr/>
          <p:nvPr/>
        </p:nvSpPr>
        <p:spPr>
          <a:xfrm>
            <a:off x="1591056" y="4105656"/>
            <a:ext cx="3035808" cy="374904"/>
          </a:xfrm>
          <a:prstGeom prst="rect">
            <a:avLst/>
          </a:prstGeom>
          <a:solidFill>
            <a:srgbClr val="8FCBE0"/>
          </a:solidFill>
          <a:ln/>
        </p:spPr>
      </p:sp>
      <p:sp>
        <p:nvSpPr>
          <p:cNvPr id="31" name="!!evCh2"/>
          <p:cNvSpPr/>
          <p:nvPr/>
        </p:nvSpPr>
        <p:spPr>
          <a:xfrm>
            <a:off x="1645920" y="4160520"/>
            <a:ext cx="2926080" cy="320040"/>
          </a:xfrm>
          <a:prstGeom prst="rect">
            <a:avLst/>
          </a:prstGeom>
          <a:solidFill>
            <a:srgbClr val="F6E7B8"/>
          </a:solidFill>
          <a:ln/>
        </p:spPr>
      </p:sp>
      <p:sp>
        <p:nvSpPr>
          <p:cNvPr id="32" name="!!evInT2"/>
          <p:cNvSpPr/>
          <p:nvPr/>
        </p:nvSpPr>
        <p:spPr>
          <a:xfrm>
            <a:off x="1645920" y="4160520"/>
            <a:ext cx="2926080" cy="64008"/>
          </a:xfrm>
          <a:prstGeom prst="rect">
            <a:avLst/>
          </a:prstGeom>
          <a:solidFill>
            <a:srgbClr val="1F2F6B"/>
          </a:solidFill>
          <a:ln/>
        </p:spPr>
      </p:sp>
      <p:sp>
        <p:nvSpPr>
          <p:cNvPr id="33" name="!!evInL2"/>
          <p:cNvSpPr/>
          <p:nvPr/>
        </p:nvSpPr>
        <p:spPr>
          <a:xfrm>
            <a:off x="1645920" y="4160520"/>
            <a:ext cx="64008" cy="320040"/>
          </a:xfrm>
          <a:prstGeom prst="rect">
            <a:avLst/>
          </a:prstGeom>
          <a:solidFill>
            <a:srgbClr val="1F2F6B">
              <a:alpha val="0"/>
            </a:srgbClr>
          </a:solidFill>
          <a:ln/>
        </p:spPr>
      </p:sp>
      <p:sp>
        <p:nvSpPr>
          <p:cNvPr id="34" name="!!evInR2"/>
          <p:cNvSpPr/>
          <p:nvPr/>
        </p:nvSpPr>
        <p:spPr>
          <a:xfrm>
            <a:off x="4507992" y="4160520"/>
            <a:ext cx="64008" cy="320040"/>
          </a:xfrm>
          <a:prstGeom prst="rect">
            <a:avLst/>
          </a:prstGeom>
          <a:solidFill>
            <a:srgbClr val="1F2F6B">
              <a:alpha val="0"/>
            </a:srgbClr>
          </a:solidFill>
          <a:ln/>
        </p:spPr>
      </p:sp>
      <p:sp>
        <p:nvSpPr>
          <p:cNvPr id="35" name="!!evInB2"/>
          <p:cNvSpPr/>
          <p:nvPr/>
        </p:nvSpPr>
        <p:spPr>
          <a:xfrm>
            <a:off x="1645920" y="4416552"/>
            <a:ext cx="2926080" cy="64008"/>
          </a:xfrm>
          <a:prstGeom prst="rect">
            <a:avLst/>
          </a:prstGeom>
          <a:solidFill>
            <a:srgbClr val="1F2F6B">
              <a:alpha val="0"/>
            </a:srgbClr>
          </a:solidFill>
          <a:ln/>
        </p:spPr>
      </p:sp>
      <p:sp>
        <p:nvSpPr>
          <p:cNvPr id="36" name="!!evLeak"/>
          <p:cNvSpPr/>
          <p:nvPr/>
        </p:nvSpPr>
        <p:spPr>
          <a:xfrm>
            <a:off x="2011680" y="4663440"/>
            <a:ext cx="2194560" cy="228600"/>
          </a:xfrm>
          <a:custGeom>
            <a:avLst/>
            <a:gdLst/>
            <a:ahLst/>
            <a:cxnLst/>
            <a:rect l="l" t="t" r="r" b="b"/>
            <a:pathLst>
              <a:path w="2194560" h="228600">
                <a:moveTo>
                  <a:pt x="0" y="0"/>
                </a:moveTo>
                <a:lnTo>
                  <a:pt x="1097280" y="228600"/>
                </a:lnTo>
                <a:lnTo>
                  <a:pt x="2194560" y="0"/>
                </a:lnTo>
              </a:path>
            </a:pathLst>
          </a:custGeom>
          <a:ln w="28575">
            <a:solidFill>
              <a:srgbClr val="D64545"/>
            </a:solidFill>
            <a:prstDash val="dash"/>
          </a:ln>
        </p:spPr>
      </p:sp>
      <p:sp>
        <p:nvSpPr>
          <p:cNvPr id="37" name="!!evLeakL"/>
          <p:cNvSpPr txBox="1"/>
          <p:nvPr/>
        </p:nvSpPr>
        <p:spPr>
          <a:xfrm>
            <a:off x="1737360" y="4937760"/>
            <a:ext cx="2743200" cy="228600"/>
          </a:xfrm>
          <a:prstGeom prst="rect">
            <a:avLst/>
          </a:prstGeom>
          <a:noFill/>
          <a:ln/>
        </p:spPr>
        <p:txBody>
          <a:bodyPr wrap="square" lIns="0" tIns="0" rIns="0" bIns="0" rtlCol="0" anchor="t"/>
          <a:lstStyle/>
          <a:p>
            <a:pPr algn="ctr" indent="0" marL="0">
              <a:buNone/>
            </a:pPr>
            <a:r>
              <a:rPr lang="en-US" sz="1000" dirty="0">
                <a:solidFill>
                  <a:srgbClr val="D64545"/>
                </a:solidFill>
                <a:latin typeface="Segoe UI Semibold" pitchFamily="34" charset="0"/>
                <a:ea typeface="Segoe UI Semibold" pitchFamily="34" charset="-122"/>
                <a:cs typeface="Segoe UI Semibold" pitchFamily="34" charset="-120"/>
              </a:rPr>
              <a:t>leakage deep below the gate</a:t>
            </a:r>
            <a:endParaRPr lang="en-US" sz="1000" dirty="0"/>
          </a:p>
        </p:txBody>
      </p:sp>
      <p:sp>
        <p:nvSpPr>
          <p:cNvPr id="38" name="!!card"/>
          <p:cNvSpPr/>
          <p:nvPr/>
        </p:nvSpPr>
        <p:spPr>
          <a:xfrm>
            <a:off x="6949440" y="1554480"/>
            <a:ext cx="4690872" cy="2240280"/>
          </a:xfrm>
          <a:prstGeom prst="roundRect">
            <a:avLst>
              <a:gd name="adj" fmla="val 3265"/>
            </a:avLst>
          </a:prstGeom>
          <a:solidFill>
            <a:srgbClr val="F4F5F7"/>
          </a:solidFill>
          <a:ln/>
        </p:spPr>
      </p:sp>
      <p:sp>
        <p:nvSpPr>
          <p:cNvPr id="39" name="!!cardn"/>
          <p:cNvSpPr/>
          <p:nvPr/>
        </p:nvSpPr>
        <p:spPr>
          <a:xfrm>
            <a:off x="7159752" y="1764792"/>
            <a:ext cx="347472" cy="347472"/>
          </a:xfrm>
          <a:prstGeom prst="ellipse">
            <a:avLst/>
          </a:prstGeom>
          <a:solidFill>
            <a:srgbClr val="D64545"/>
          </a:solidFill>
          <a:ln/>
        </p:spPr>
      </p:sp>
      <p:sp>
        <p:nvSpPr>
          <p:cNvPr id="40" name="!!cardnt"/>
          <p:cNvSpPr txBox="1"/>
          <p:nvPr/>
        </p:nvSpPr>
        <p:spPr>
          <a:xfrm>
            <a:off x="715975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41" name="!!cardh"/>
          <p:cNvSpPr txBox="1"/>
          <p:nvPr/>
        </p:nvSpPr>
        <p:spPr>
          <a:xfrm>
            <a:off x="7635240" y="1773936"/>
            <a:ext cx="3822192" cy="347472"/>
          </a:xfrm>
          <a:prstGeom prst="rect">
            <a:avLst/>
          </a:prstGeom>
          <a:noFill/>
          <a:ln/>
        </p:spPr>
        <p:txBody>
          <a:bodyPr wrap="square" lIns="0" tIns="0" rIns="0" bIns="0" rtlCol="0" anchor="ctr"/>
          <a:lstStyle/>
          <a:p>
            <a:pPr algn="l" indent="0" marL="0">
              <a:buNone/>
            </a:pPr>
            <a:r>
              <a:rPr lang="en-US" sz="1600" dirty="0">
                <a:solidFill>
                  <a:srgbClr val="D64545"/>
                </a:solidFill>
                <a:latin typeface="Segoe UI Semibold" pitchFamily="34" charset="0"/>
                <a:ea typeface="Segoe UI Semibold" pitchFamily="34" charset="-122"/>
                <a:cs typeface="Segoe UI Semibold" pitchFamily="34" charset="-120"/>
              </a:rPr>
              <a:t>Planar: gate on top only</a:t>
            </a:r>
            <a:endParaRPr lang="en-US" sz="1600" dirty="0"/>
          </a:p>
        </p:txBody>
      </p:sp>
      <p:sp>
        <p:nvSpPr>
          <p:cNvPr id="42" name="!!cardb"/>
          <p:cNvSpPr txBox="1"/>
          <p:nvPr/>
        </p:nvSpPr>
        <p:spPr>
          <a:xfrm>
            <a:off x="7178040" y="2267712"/>
            <a:ext cx="4233672" cy="137160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The gate touches the channel from one side. Deep below, its field is weak, so at short L</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g</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electrons leak there.</a:t>
            </a:r>
            <a:endParaRPr lang="en-US" sz="1300" dirty="0"/>
          </a:p>
        </p:txBody>
      </p:sp>
      <p:sp>
        <p:nvSpPr>
          <p:cNvPr id="43" name="!!chip0"/>
          <p:cNvSpPr/>
          <p:nvPr/>
        </p:nvSpPr>
        <p:spPr>
          <a:xfrm>
            <a:off x="6949440" y="4023360"/>
            <a:ext cx="1490472" cy="685800"/>
          </a:xfrm>
          <a:prstGeom prst="roundRect">
            <a:avLst>
              <a:gd name="adj" fmla="val 8000"/>
            </a:avLst>
          </a:prstGeom>
          <a:solidFill>
            <a:srgbClr val="F4F5F7"/>
          </a:solidFill>
          <a:ln/>
        </p:spPr>
      </p:sp>
      <p:sp>
        <p:nvSpPr>
          <p:cNvPr id="44" name="!!chipk0"/>
          <p:cNvSpPr txBox="1"/>
          <p:nvPr/>
        </p:nvSpPr>
        <p:spPr>
          <a:xfrm>
            <a:off x="70591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gate sides N</a:t>
            </a:r>
            <a:endParaRPr lang="en-US" sz="1000" dirty="0"/>
          </a:p>
        </p:txBody>
      </p:sp>
      <p:sp>
        <p:nvSpPr>
          <p:cNvPr id="45" name="!!chipv0"/>
          <p:cNvSpPr txBox="1"/>
          <p:nvPr/>
        </p:nvSpPr>
        <p:spPr>
          <a:xfrm>
            <a:off x="70591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a:t>
            </a:r>
            <a:endParaRPr lang="en-US" sz="1500" dirty="0"/>
          </a:p>
        </p:txBody>
      </p:sp>
      <p:sp>
        <p:nvSpPr>
          <p:cNvPr id="46" name="!!chip1"/>
          <p:cNvSpPr/>
          <p:nvPr/>
        </p:nvSpPr>
        <p:spPr>
          <a:xfrm>
            <a:off x="8549640" y="4023360"/>
            <a:ext cx="1490472" cy="685800"/>
          </a:xfrm>
          <a:prstGeom prst="roundRect">
            <a:avLst>
              <a:gd name="adj" fmla="val 8000"/>
            </a:avLst>
          </a:prstGeom>
          <a:solidFill>
            <a:srgbClr val="F4F5F7"/>
          </a:solidFill>
          <a:ln/>
        </p:spPr>
      </p:sp>
      <p:sp>
        <p:nvSpPr>
          <p:cNvPr id="47" name="!!chipk1"/>
          <p:cNvSpPr txBox="1"/>
          <p:nvPr/>
        </p:nvSpPr>
        <p:spPr>
          <a:xfrm>
            <a:off x="86593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λ</a:t>
            </a:r>
            <a:endParaRPr lang="en-US" sz="1000" dirty="0"/>
          </a:p>
        </p:txBody>
      </p:sp>
      <p:sp>
        <p:nvSpPr>
          <p:cNvPr id="48" name="!!chipv1"/>
          <p:cNvSpPr txBox="1"/>
          <p:nvPr/>
        </p:nvSpPr>
        <p:spPr>
          <a:xfrm>
            <a:off x="86593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4.37 nm</a:t>
            </a:r>
            <a:endParaRPr lang="en-US" sz="1500" dirty="0"/>
          </a:p>
        </p:txBody>
      </p:sp>
      <p:sp>
        <p:nvSpPr>
          <p:cNvPr id="49" name="!!chip2"/>
          <p:cNvSpPr/>
          <p:nvPr/>
        </p:nvSpPr>
        <p:spPr>
          <a:xfrm>
            <a:off x="10149840" y="4023360"/>
            <a:ext cx="1490472" cy="685800"/>
          </a:xfrm>
          <a:prstGeom prst="roundRect">
            <a:avLst>
              <a:gd name="adj" fmla="val 8000"/>
            </a:avLst>
          </a:prstGeom>
          <a:solidFill>
            <a:srgbClr val="F4F5F7"/>
          </a:solidFill>
          <a:ln/>
        </p:spPr>
      </p:sp>
      <p:sp>
        <p:nvSpPr>
          <p:cNvPr id="50" name="!!chipk2"/>
          <p:cNvSpPr txBox="1"/>
          <p:nvPr/>
        </p:nvSpPr>
        <p:spPr>
          <a:xfrm>
            <a:off x="102595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DIBL at 14 nm</a:t>
            </a:r>
            <a:endParaRPr lang="en-US" sz="1000" dirty="0"/>
          </a:p>
        </p:txBody>
      </p:sp>
      <p:sp>
        <p:nvSpPr>
          <p:cNvPr id="51" name="!!chipv2"/>
          <p:cNvSpPr txBox="1"/>
          <p:nvPr/>
        </p:nvSpPr>
        <p:spPr>
          <a:xfrm>
            <a:off x="102595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201 mV/V</a:t>
            </a:r>
            <a:endParaRPr lang="en-US" sz="1500" dirty="0"/>
          </a:p>
        </p:txBody>
      </p:sp>
      <p:sp>
        <p:nvSpPr>
          <p:cNvPr id="52" name="!!evSS"/>
          <p:cNvSpPr txBox="1"/>
          <p:nvPr/>
        </p:nvSpPr>
        <p:spPr>
          <a:xfrm>
            <a:off x="6949440" y="4892040"/>
            <a:ext cx="4663440" cy="27432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SS at 14 nm: 100 mV/dec   (simple λ model, same 8 nm silicon)</a:t>
            </a:r>
            <a:endParaRPr lang="en-US" sz="1100" dirty="0"/>
          </a:p>
        </p:txBody>
      </p:sp>
      <p:sp>
        <p:nvSpPr>
          <p:cNvPr id="5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A flat channel: the gate controls only its top surface.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48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From planar to GAA – One camera, four transistors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Looking along the channel: current flows into the screen</a:t>
            </a:r>
            <a:endParaRPr lang="en-US" sz="1600" dirty="0"/>
          </a:p>
        </p:txBody>
      </p:sp>
      <p:sp>
        <p:nvSpPr>
          <p:cNvPr id="4" name="!!sdot0"/>
          <p:cNvSpPr/>
          <p:nvPr/>
        </p:nvSpPr>
        <p:spPr>
          <a:xfrm>
            <a:off x="10666476" y="525780"/>
            <a:ext cx="82296" cy="82296"/>
          </a:xfrm>
          <a:prstGeom prst="ellipse">
            <a:avLst/>
          </a:prstGeom>
          <a:solidFill>
            <a:srgbClr val="171A20"/>
          </a:solidFill>
          <a:ln/>
        </p:spPr>
      </p:sp>
      <p:sp>
        <p:nvSpPr>
          <p:cNvPr id="5" name="!!sdot1"/>
          <p:cNvSpPr/>
          <p:nvPr/>
        </p:nvSpPr>
        <p:spPr>
          <a:xfrm>
            <a:off x="10821924" y="525780"/>
            <a:ext cx="82296" cy="82296"/>
          </a:xfrm>
          <a:prstGeom prst="ellipse">
            <a:avLst/>
          </a:prstGeom>
          <a:solidFill>
            <a:srgbClr val="171A20"/>
          </a:solidFill>
          <a:ln/>
        </p:spPr>
      </p:sp>
      <p:sp>
        <p:nvSpPr>
          <p:cNvPr id="6" name="!!sdot2"/>
          <p:cNvSpPr/>
          <p:nvPr/>
        </p:nvSpPr>
        <p:spPr>
          <a:xfrm>
            <a:off x="10977372" y="525780"/>
            <a:ext cx="82296" cy="82296"/>
          </a:xfrm>
          <a:prstGeom prst="ellipse">
            <a:avLst/>
          </a:prstGeom>
          <a:solidFill>
            <a:srgbClr val="E2E3E3"/>
          </a:solidFill>
          <a:ln/>
        </p:spPr>
      </p:sp>
      <p:sp>
        <p:nvSpPr>
          <p:cNvPr id="7" name="!!sdot3"/>
          <p:cNvSpPr/>
          <p:nvPr/>
        </p:nvSpPr>
        <p:spPr>
          <a:xfrm>
            <a:off x="11132820" y="525780"/>
            <a:ext cx="82296" cy="82296"/>
          </a:xfrm>
          <a:prstGeom prst="ellipse">
            <a:avLst/>
          </a:prstGeom>
          <a:solidFill>
            <a:srgbClr val="E2E3E3"/>
          </a:solidFill>
          <a:ln/>
        </p:spPr>
      </p:sp>
      <p:sp>
        <p:nvSpPr>
          <p:cNvPr id="8" name="!!sdot4"/>
          <p:cNvSpPr/>
          <p:nvPr/>
        </p:nvSpPr>
        <p:spPr>
          <a:xfrm>
            <a:off x="11288268" y="525780"/>
            <a:ext cx="82296" cy="82296"/>
          </a:xfrm>
          <a:prstGeom prst="ellipse">
            <a:avLst/>
          </a:prstGeom>
          <a:solidFill>
            <a:srgbClr val="E2E3E3"/>
          </a:solidFill>
          <a:ln/>
        </p:spPr>
      </p:sp>
      <p:sp>
        <p:nvSpPr>
          <p:cNvPr id="9" name="!!sdot5"/>
          <p:cNvSpPr/>
          <p:nvPr/>
        </p:nvSpPr>
        <p:spPr>
          <a:xfrm>
            <a:off x="11443716" y="525780"/>
            <a:ext cx="82296" cy="82296"/>
          </a:xfrm>
          <a:prstGeom prst="ellipse">
            <a:avLst/>
          </a:prstGeom>
          <a:solidFill>
            <a:srgbClr val="E2E3E3"/>
          </a:solidFill>
          <a:ln/>
        </p:spPr>
      </p:sp>
      <p:sp>
        <p:nvSpPr>
          <p:cNvPr id="10" name="!!sdot6"/>
          <p:cNvSpPr/>
          <p:nvPr/>
        </p:nvSpPr>
        <p:spPr>
          <a:xfrm>
            <a:off x="11599164" y="525780"/>
            <a:ext cx="82296" cy="82296"/>
          </a:xfrm>
          <a:prstGeom prst="ellipse">
            <a:avLst/>
          </a:prstGeom>
          <a:solidFill>
            <a:srgbClr val="E2E3E3"/>
          </a:solidFill>
          <a:ln/>
        </p:spPr>
      </p:sp>
      <p:sp>
        <p:nvSpPr>
          <p:cNvPr id="11" name="!!evSub"/>
          <p:cNvSpPr/>
          <p:nvPr/>
        </p:nvSpPr>
        <p:spPr>
          <a:xfrm>
            <a:off x="822960" y="4480560"/>
            <a:ext cx="4572000" cy="914400"/>
          </a:xfrm>
          <a:prstGeom prst="rect">
            <a:avLst/>
          </a:prstGeom>
          <a:solidFill>
            <a:srgbClr val="EDE3C8"/>
          </a:solidFill>
          <a:ln/>
        </p:spPr>
      </p:sp>
      <p:sp>
        <p:nvSpPr>
          <p:cNvPr id="12" name="!!evSubL"/>
          <p:cNvSpPr txBox="1"/>
          <p:nvPr/>
        </p:nvSpPr>
        <p:spPr>
          <a:xfrm>
            <a:off x="3931920" y="5102352"/>
            <a:ext cx="1371600" cy="256032"/>
          </a:xfrm>
          <a:prstGeom prst="rect">
            <a:avLst/>
          </a:prstGeom>
          <a:noFill/>
          <a:ln/>
        </p:spPr>
        <p:txBody>
          <a:bodyPr wrap="square" lIns="0" tIns="0" rIns="0" bIns="0" rtlCol="0" anchor="t"/>
          <a:lstStyle/>
          <a:p>
            <a:pPr algn="r" indent="0" marL="0">
              <a:buNone/>
            </a:pPr>
            <a:r>
              <a:rPr lang="en-US" sz="1000" dirty="0">
                <a:solidFill>
                  <a:srgbClr val="8A6D1F"/>
                </a:solidFill>
                <a:latin typeface="Segoe UI" pitchFamily="34" charset="0"/>
                <a:ea typeface="Segoe UI" pitchFamily="34" charset="-122"/>
                <a:cs typeface="Segoe UI" pitchFamily="34" charset="-120"/>
              </a:rPr>
              <a:t>silicon substrate</a:t>
            </a:r>
            <a:endParaRPr lang="en-US" sz="1000" dirty="0"/>
          </a:p>
        </p:txBody>
      </p:sp>
      <p:sp>
        <p:nvSpPr>
          <p:cNvPr id="13" name="!!evIsoL"/>
          <p:cNvSpPr/>
          <p:nvPr/>
        </p:nvSpPr>
        <p:spPr>
          <a:xfrm>
            <a:off x="822960" y="4160520"/>
            <a:ext cx="1554480" cy="320040"/>
          </a:xfrm>
          <a:prstGeom prst="rect">
            <a:avLst/>
          </a:prstGeom>
          <a:solidFill>
            <a:srgbClr val="D9DCE3"/>
          </a:solidFill>
          <a:ln/>
        </p:spPr>
      </p:sp>
      <p:sp>
        <p:nvSpPr>
          <p:cNvPr id="14" name="!!evIsoR"/>
          <p:cNvSpPr/>
          <p:nvPr/>
        </p:nvSpPr>
        <p:spPr>
          <a:xfrm>
            <a:off x="3840480" y="4160520"/>
            <a:ext cx="1554480" cy="320040"/>
          </a:xfrm>
          <a:prstGeom prst="rect">
            <a:avLst/>
          </a:prstGeom>
          <a:solidFill>
            <a:srgbClr val="D9DCE3"/>
          </a:solidFill>
          <a:ln/>
        </p:spPr>
      </p:sp>
      <p:sp>
        <p:nvSpPr>
          <p:cNvPr id="15" name="!!evIsoT"/>
          <p:cNvSpPr txBox="1"/>
          <p:nvPr/>
        </p:nvSpPr>
        <p:spPr>
          <a:xfrm>
            <a:off x="868680" y="4187952"/>
            <a:ext cx="1463040" cy="256032"/>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isolation oxide</a:t>
            </a:r>
            <a:endParaRPr lang="en-US" sz="900" dirty="0"/>
          </a:p>
        </p:txBody>
      </p:sp>
      <p:sp>
        <p:nvSpPr>
          <p:cNvPr id="16" name="!!evGate"/>
          <p:cNvSpPr/>
          <p:nvPr/>
        </p:nvSpPr>
        <p:spPr>
          <a:xfrm>
            <a:off x="1508760" y="1901952"/>
            <a:ext cx="3200400" cy="457200"/>
          </a:xfrm>
          <a:prstGeom prst="roundRect">
            <a:avLst>
              <a:gd name="adj" fmla="val 10000"/>
            </a:avLst>
          </a:prstGeom>
          <a:solidFill>
            <a:srgbClr val="B3A6E6"/>
          </a:solidFill>
          <a:ln/>
        </p:spPr>
      </p:sp>
      <p:sp>
        <p:nvSpPr>
          <p:cNvPr id="17" name="!!evGateL"/>
          <p:cNvSpPr txBox="1"/>
          <p:nvPr/>
        </p:nvSpPr>
        <p:spPr>
          <a:xfrm>
            <a:off x="5486400" y="1947672"/>
            <a:ext cx="1371600" cy="457200"/>
          </a:xfrm>
          <a:prstGeom prst="rect">
            <a:avLst/>
          </a:prstGeom>
          <a:noFill/>
          <a:ln/>
        </p:spPr>
        <p:txBody>
          <a:bodyPr wrap="square" lIns="0" tIns="0" rIns="0" bIns="0" rtlCol="0" anchor="t"/>
          <a:lstStyle/>
          <a:p>
            <a:pPr algn="l" indent="0" marL="0">
              <a:buNone/>
            </a:pPr>
            <a:r>
              <a:rPr lang="en-US" sz="1000" dirty="0">
                <a:solidFill>
                  <a:srgbClr val="6B5BC4"/>
                </a:solidFill>
                <a:latin typeface="Segoe UI Semibold" pitchFamily="34" charset="0"/>
                <a:ea typeface="Segoe UI Semibold" pitchFamily="34" charset="-122"/>
                <a:cs typeface="Segoe UI Semibold" pitchFamily="34" charset="-120"/>
              </a:rPr>
              <a:t>gate on top only</a:t>
            </a:r>
            <a:endParaRPr lang="en-US" sz="1000" dirty="0"/>
          </a:p>
        </p:txBody>
      </p:sp>
      <p:sp>
        <p:nvSpPr>
          <p:cNvPr id="18" name="!!evGateLn"/>
          <p:cNvSpPr/>
          <p:nvPr/>
        </p:nvSpPr>
        <p:spPr>
          <a:xfrm>
            <a:off x="4754880" y="2084832"/>
            <a:ext cx="731520" cy="91"/>
          </a:xfrm>
          <a:prstGeom prst="line">
            <a:avLst/>
          </a:prstGeom>
          <a:noFill/>
          <a:ln w="9525">
            <a:solidFill>
              <a:srgbClr val="6B5BC4"/>
            </a:solidFill>
            <a:prstDash val="solid"/>
          </a:ln>
        </p:spPr>
      </p:sp>
      <p:sp>
        <p:nvSpPr>
          <p:cNvPr id="19" name="!!evOx0"/>
          <p:cNvSpPr/>
          <p:nvPr/>
        </p:nvSpPr>
        <p:spPr>
          <a:xfrm>
            <a:off x="2779776" y="2414016"/>
            <a:ext cx="658368" cy="2066544"/>
          </a:xfrm>
          <a:prstGeom prst="rect">
            <a:avLst/>
          </a:prstGeom>
          <a:solidFill>
            <a:srgbClr val="8FCBE0"/>
          </a:solidFill>
          <a:ln/>
        </p:spPr>
      </p:sp>
      <p:sp>
        <p:nvSpPr>
          <p:cNvPr id="20" name="!!evCh0"/>
          <p:cNvSpPr/>
          <p:nvPr/>
        </p:nvSpPr>
        <p:spPr>
          <a:xfrm>
            <a:off x="2834640" y="2468880"/>
            <a:ext cx="548640" cy="2011680"/>
          </a:xfrm>
          <a:prstGeom prst="rect">
            <a:avLst/>
          </a:prstGeom>
          <a:solidFill>
            <a:srgbClr val="F6E7B8"/>
          </a:solidFill>
          <a:ln/>
        </p:spPr>
      </p:sp>
      <p:sp>
        <p:nvSpPr>
          <p:cNvPr id="21" name="!!evInT0"/>
          <p:cNvSpPr/>
          <p:nvPr/>
        </p:nvSpPr>
        <p:spPr>
          <a:xfrm>
            <a:off x="2834640" y="2468880"/>
            <a:ext cx="548640" cy="64008"/>
          </a:xfrm>
          <a:prstGeom prst="rect">
            <a:avLst/>
          </a:prstGeom>
          <a:solidFill>
            <a:srgbClr val="1F2F6B">
              <a:alpha val="0"/>
            </a:srgbClr>
          </a:solidFill>
          <a:ln/>
        </p:spPr>
      </p:sp>
      <p:sp>
        <p:nvSpPr>
          <p:cNvPr id="22" name="!!evInL0"/>
          <p:cNvSpPr/>
          <p:nvPr/>
        </p:nvSpPr>
        <p:spPr>
          <a:xfrm>
            <a:off x="2834640" y="2468880"/>
            <a:ext cx="64008" cy="2011680"/>
          </a:xfrm>
          <a:prstGeom prst="rect">
            <a:avLst/>
          </a:prstGeom>
          <a:solidFill>
            <a:srgbClr val="1F2F6B">
              <a:alpha val="0"/>
            </a:srgbClr>
          </a:solidFill>
          <a:ln/>
        </p:spPr>
      </p:sp>
      <p:sp>
        <p:nvSpPr>
          <p:cNvPr id="23" name="!!evInR0"/>
          <p:cNvSpPr/>
          <p:nvPr/>
        </p:nvSpPr>
        <p:spPr>
          <a:xfrm>
            <a:off x="3319272" y="2468880"/>
            <a:ext cx="64008" cy="2011680"/>
          </a:xfrm>
          <a:prstGeom prst="rect">
            <a:avLst/>
          </a:prstGeom>
          <a:solidFill>
            <a:srgbClr val="1F2F6B">
              <a:alpha val="0"/>
            </a:srgbClr>
          </a:solidFill>
          <a:ln/>
        </p:spPr>
      </p:sp>
      <p:sp>
        <p:nvSpPr>
          <p:cNvPr id="24" name="!!evInB0"/>
          <p:cNvSpPr/>
          <p:nvPr/>
        </p:nvSpPr>
        <p:spPr>
          <a:xfrm>
            <a:off x="2834640" y="4416552"/>
            <a:ext cx="548640" cy="64008"/>
          </a:xfrm>
          <a:prstGeom prst="rect">
            <a:avLst/>
          </a:prstGeom>
          <a:solidFill>
            <a:srgbClr val="1F2F6B">
              <a:alpha val="0"/>
            </a:srgbClr>
          </a:solidFill>
          <a:ln/>
        </p:spPr>
      </p:sp>
      <p:sp>
        <p:nvSpPr>
          <p:cNvPr id="25" name="!!evOx1"/>
          <p:cNvSpPr/>
          <p:nvPr/>
        </p:nvSpPr>
        <p:spPr>
          <a:xfrm>
            <a:off x="2779776" y="2414016"/>
            <a:ext cx="658368" cy="2066544"/>
          </a:xfrm>
          <a:prstGeom prst="rect">
            <a:avLst/>
          </a:prstGeom>
          <a:solidFill>
            <a:srgbClr val="8FCBE0"/>
          </a:solidFill>
          <a:ln/>
        </p:spPr>
      </p:sp>
      <p:sp>
        <p:nvSpPr>
          <p:cNvPr id="26" name="!!evCh1"/>
          <p:cNvSpPr/>
          <p:nvPr/>
        </p:nvSpPr>
        <p:spPr>
          <a:xfrm>
            <a:off x="2834640" y="2468880"/>
            <a:ext cx="548640" cy="2011680"/>
          </a:xfrm>
          <a:prstGeom prst="rect">
            <a:avLst/>
          </a:prstGeom>
          <a:solidFill>
            <a:srgbClr val="F6E7B8"/>
          </a:solidFill>
          <a:ln/>
        </p:spPr>
      </p:sp>
      <p:sp>
        <p:nvSpPr>
          <p:cNvPr id="27" name="!!evInT1"/>
          <p:cNvSpPr/>
          <p:nvPr/>
        </p:nvSpPr>
        <p:spPr>
          <a:xfrm>
            <a:off x="2834640" y="2468880"/>
            <a:ext cx="548640" cy="64008"/>
          </a:xfrm>
          <a:prstGeom prst="rect">
            <a:avLst/>
          </a:prstGeom>
          <a:solidFill>
            <a:srgbClr val="1F2F6B">
              <a:alpha val="0"/>
            </a:srgbClr>
          </a:solidFill>
          <a:ln/>
        </p:spPr>
      </p:sp>
      <p:sp>
        <p:nvSpPr>
          <p:cNvPr id="28" name="!!evInL1"/>
          <p:cNvSpPr/>
          <p:nvPr/>
        </p:nvSpPr>
        <p:spPr>
          <a:xfrm>
            <a:off x="2834640" y="2468880"/>
            <a:ext cx="64008" cy="2011680"/>
          </a:xfrm>
          <a:prstGeom prst="rect">
            <a:avLst/>
          </a:prstGeom>
          <a:solidFill>
            <a:srgbClr val="1F2F6B">
              <a:alpha val="0"/>
            </a:srgbClr>
          </a:solidFill>
          <a:ln/>
        </p:spPr>
      </p:sp>
      <p:sp>
        <p:nvSpPr>
          <p:cNvPr id="29" name="!!evInR1"/>
          <p:cNvSpPr/>
          <p:nvPr/>
        </p:nvSpPr>
        <p:spPr>
          <a:xfrm>
            <a:off x="3319272" y="2468880"/>
            <a:ext cx="64008" cy="2011680"/>
          </a:xfrm>
          <a:prstGeom prst="rect">
            <a:avLst/>
          </a:prstGeom>
          <a:solidFill>
            <a:srgbClr val="1F2F6B">
              <a:alpha val="0"/>
            </a:srgbClr>
          </a:solidFill>
          <a:ln/>
        </p:spPr>
      </p:sp>
      <p:sp>
        <p:nvSpPr>
          <p:cNvPr id="30" name="!!evInB1"/>
          <p:cNvSpPr/>
          <p:nvPr/>
        </p:nvSpPr>
        <p:spPr>
          <a:xfrm>
            <a:off x="2834640" y="4416552"/>
            <a:ext cx="548640" cy="64008"/>
          </a:xfrm>
          <a:prstGeom prst="rect">
            <a:avLst/>
          </a:prstGeom>
          <a:solidFill>
            <a:srgbClr val="1F2F6B">
              <a:alpha val="0"/>
            </a:srgbClr>
          </a:solidFill>
          <a:ln/>
        </p:spPr>
      </p:sp>
      <p:sp>
        <p:nvSpPr>
          <p:cNvPr id="31" name="!!evOx2"/>
          <p:cNvSpPr/>
          <p:nvPr/>
        </p:nvSpPr>
        <p:spPr>
          <a:xfrm>
            <a:off x="2779776" y="2414016"/>
            <a:ext cx="658368" cy="2066544"/>
          </a:xfrm>
          <a:prstGeom prst="rect">
            <a:avLst/>
          </a:prstGeom>
          <a:solidFill>
            <a:srgbClr val="8FCBE0"/>
          </a:solidFill>
          <a:ln/>
        </p:spPr>
      </p:sp>
      <p:sp>
        <p:nvSpPr>
          <p:cNvPr id="32" name="!!evCh2"/>
          <p:cNvSpPr/>
          <p:nvPr/>
        </p:nvSpPr>
        <p:spPr>
          <a:xfrm>
            <a:off x="2834640" y="2468880"/>
            <a:ext cx="548640" cy="2011680"/>
          </a:xfrm>
          <a:prstGeom prst="rect">
            <a:avLst/>
          </a:prstGeom>
          <a:solidFill>
            <a:srgbClr val="F6E7B8"/>
          </a:solidFill>
          <a:ln/>
        </p:spPr>
      </p:sp>
      <p:sp>
        <p:nvSpPr>
          <p:cNvPr id="33" name="!!evInT2"/>
          <p:cNvSpPr/>
          <p:nvPr/>
        </p:nvSpPr>
        <p:spPr>
          <a:xfrm>
            <a:off x="2834640" y="2468880"/>
            <a:ext cx="548640" cy="64008"/>
          </a:xfrm>
          <a:prstGeom prst="rect">
            <a:avLst/>
          </a:prstGeom>
          <a:solidFill>
            <a:srgbClr val="1F2F6B">
              <a:alpha val="0"/>
            </a:srgbClr>
          </a:solidFill>
          <a:ln/>
        </p:spPr>
      </p:sp>
      <p:sp>
        <p:nvSpPr>
          <p:cNvPr id="34" name="!!evInL2"/>
          <p:cNvSpPr/>
          <p:nvPr/>
        </p:nvSpPr>
        <p:spPr>
          <a:xfrm>
            <a:off x="2834640" y="2468880"/>
            <a:ext cx="64008" cy="2011680"/>
          </a:xfrm>
          <a:prstGeom prst="rect">
            <a:avLst/>
          </a:prstGeom>
          <a:solidFill>
            <a:srgbClr val="1F2F6B">
              <a:alpha val="0"/>
            </a:srgbClr>
          </a:solidFill>
          <a:ln/>
        </p:spPr>
      </p:sp>
      <p:sp>
        <p:nvSpPr>
          <p:cNvPr id="35" name="!!evInR2"/>
          <p:cNvSpPr/>
          <p:nvPr/>
        </p:nvSpPr>
        <p:spPr>
          <a:xfrm>
            <a:off x="3319272" y="2468880"/>
            <a:ext cx="64008" cy="2011680"/>
          </a:xfrm>
          <a:prstGeom prst="rect">
            <a:avLst/>
          </a:prstGeom>
          <a:solidFill>
            <a:srgbClr val="1F2F6B">
              <a:alpha val="0"/>
            </a:srgbClr>
          </a:solidFill>
          <a:ln/>
        </p:spPr>
      </p:sp>
      <p:sp>
        <p:nvSpPr>
          <p:cNvPr id="36" name="!!evInB2"/>
          <p:cNvSpPr/>
          <p:nvPr/>
        </p:nvSpPr>
        <p:spPr>
          <a:xfrm>
            <a:off x="2834640" y="4416552"/>
            <a:ext cx="548640" cy="64008"/>
          </a:xfrm>
          <a:prstGeom prst="rect">
            <a:avLst/>
          </a:prstGeom>
          <a:solidFill>
            <a:srgbClr val="1F2F6B">
              <a:alpha val="0"/>
            </a:srgbClr>
          </a:solidFill>
          <a:ln/>
        </p:spPr>
      </p:sp>
      <p:sp>
        <p:nvSpPr>
          <p:cNvPr id="37" name="!!card"/>
          <p:cNvSpPr/>
          <p:nvPr/>
        </p:nvSpPr>
        <p:spPr>
          <a:xfrm>
            <a:off x="6949440" y="1554480"/>
            <a:ext cx="4690872" cy="2240280"/>
          </a:xfrm>
          <a:prstGeom prst="roundRect">
            <a:avLst>
              <a:gd name="adj" fmla="val 3265"/>
            </a:avLst>
          </a:prstGeom>
          <a:solidFill>
            <a:srgbClr val="F4F5F7"/>
          </a:solidFill>
          <a:ln/>
        </p:spPr>
      </p:sp>
      <p:sp>
        <p:nvSpPr>
          <p:cNvPr id="38" name="!!cardn"/>
          <p:cNvSpPr/>
          <p:nvPr/>
        </p:nvSpPr>
        <p:spPr>
          <a:xfrm>
            <a:off x="7159752" y="1764792"/>
            <a:ext cx="347472" cy="347472"/>
          </a:xfrm>
          <a:prstGeom prst="ellipse">
            <a:avLst/>
          </a:prstGeom>
          <a:solidFill>
            <a:srgbClr val="D64545"/>
          </a:solidFill>
          <a:ln/>
        </p:spPr>
      </p:sp>
      <p:sp>
        <p:nvSpPr>
          <p:cNvPr id="39" name="!!cardnt"/>
          <p:cNvSpPr txBox="1"/>
          <p:nvPr/>
        </p:nvSpPr>
        <p:spPr>
          <a:xfrm>
            <a:off x="715975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40" name="!!cardh"/>
          <p:cNvSpPr txBox="1"/>
          <p:nvPr/>
        </p:nvSpPr>
        <p:spPr>
          <a:xfrm>
            <a:off x="7635240" y="1773936"/>
            <a:ext cx="3822192" cy="347472"/>
          </a:xfrm>
          <a:prstGeom prst="rect">
            <a:avLst/>
          </a:prstGeom>
          <a:noFill/>
          <a:ln/>
        </p:spPr>
        <p:txBody>
          <a:bodyPr wrap="square" lIns="0" tIns="0" rIns="0" bIns="0" rtlCol="0" anchor="ctr"/>
          <a:lstStyle/>
          <a:p>
            <a:pPr algn="l" indent="0" marL="0">
              <a:buNone/>
            </a:pPr>
            <a:r>
              <a:rPr lang="en-US" sz="1600" dirty="0">
                <a:solidFill>
                  <a:srgbClr val="D64545"/>
                </a:solidFill>
                <a:latin typeface="Segoe UI Semibold" pitchFamily="34" charset="0"/>
                <a:ea typeface="Segoe UI Semibold" pitchFamily="34" charset="-122"/>
                <a:cs typeface="Segoe UI Semibold" pitchFamily="34" charset="-120"/>
              </a:rPr>
              <a:t>Stand the channel up: a fin</a:t>
            </a:r>
            <a:endParaRPr lang="en-US" sz="1600" dirty="0"/>
          </a:p>
        </p:txBody>
      </p:sp>
      <p:sp>
        <p:nvSpPr>
          <p:cNvPr id="41" name="!!cardb"/>
          <p:cNvSpPr txBox="1"/>
          <p:nvPr/>
        </p:nvSpPr>
        <p:spPr>
          <a:xfrm>
            <a:off x="7178040" y="2267712"/>
            <a:ext cx="4233672" cy="137160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Make the channel a thin, tall wall of silicon. Source and drain are the two ends of the fin (in and out of the screen).</a:t>
            </a:r>
            <a:endParaRPr lang="en-US" sz="1300" dirty="0"/>
          </a:p>
        </p:txBody>
      </p:sp>
      <p:sp>
        <p:nvSpPr>
          <p:cNvPr id="42" name="!!chip0"/>
          <p:cNvSpPr/>
          <p:nvPr/>
        </p:nvSpPr>
        <p:spPr>
          <a:xfrm>
            <a:off x="6949440" y="4023360"/>
            <a:ext cx="1490472" cy="685800"/>
          </a:xfrm>
          <a:prstGeom prst="roundRect">
            <a:avLst>
              <a:gd name="adj" fmla="val 8000"/>
            </a:avLst>
          </a:prstGeom>
          <a:solidFill>
            <a:srgbClr val="F4F5F7"/>
          </a:solidFill>
          <a:ln/>
        </p:spPr>
      </p:sp>
      <p:sp>
        <p:nvSpPr>
          <p:cNvPr id="43" name="!!chipk0"/>
          <p:cNvSpPr txBox="1"/>
          <p:nvPr/>
        </p:nvSpPr>
        <p:spPr>
          <a:xfrm>
            <a:off x="70591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gate sides N</a:t>
            </a:r>
            <a:endParaRPr lang="en-US" sz="1000" dirty="0"/>
          </a:p>
        </p:txBody>
      </p:sp>
      <p:sp>
        <p:nvSpPr>
          <p:cNvPr id="44" name="!!chipv0"/>
          <p:cNvSpPr txBox="1"/>
          <p:nvPr/>
        </p:nvSpPr>
        <p:spPr>
          <a:xfrm>
            <a:off x="70591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a:t>
            </a:r>
            <a:endParaRPr lang="en-US" sz="1500" dirty="0"/>
          </a:p>
        </p:txBody>
      </p:sp>
      <p:sp>
        <p:nvSpPr>
          <p:cNvPr id="45" name="!!chip1"/>
          <p:cNvSpPr/>
          <p:nvPr/>
        </p:nvSpPr>
        <p:spPr>
          <a:xfrm>
            <a:off x="8549640" y="4023360"/>
            <a:ext cx="1490472" cy="685800"/>
          </a:xfrm>
          <a:prstGeom prst="roundRect">
            <a:avLst>
              <a:gd name="adj" fmla="val 8000"/>
            </a:avLst>
          </a:prstGeom>
          <a:solidFill>
            <a:srgbClr val="F4F5F7"/>
          </a:solidFill>
          <a:ln/>
        </p:spPr>
      </p:sp>
      <p:sp>
        <p:nvSpPr>
          <p:cNvPr id="46" name="!!chipk1"/>
          <p:cNvSpPr txBox="1"/>
          <p:nvPr/>
        </p:nvSpPr>
        <p:spPr>
          <a:xfrm>
            <a:off x="86593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λ</a:t>
            </a:r>
            <a:endParaRPr lang="en-US" sz="1000" dirty="0"/>
          </a:p>
        </p:txBody>
      </p:sp>
      <p:sp>
        <p:nvSpPr>
          <p:cNvPr id="47" name="!!chipv1"/>
          <p:cNvSpPr txBox="1"/>
          <p:nvPr/>
        </p:nvSpPr>
        <p:spPr>
          <a:xfrm>
            <a:off x="86593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4.37 nm</a:t>
            </a:r>
            <a:endParaRPr lang="en-US" sz="1500" dirty="0"/>
          </a:p>
        </p:txBody>
      </p:sp>
      <p:sp>
        <p:nvSpPr>
          <p:cNvPr id="48" name="!!chip2"/>
          <p:cNvSpPr/>
          <p:nvPr/>
        </p:nvSpPr>
        <p:spPr>
          <a:xfrm>
            <a:off x="10149840" y="4023360"/>
            <a:ext cx="1490472" cy="685800"/>
          </a:xfrm>
          <a:prstGeom prst="roundRect">
            <a:avLst>
              <a:gd name="adj" fmla="val 8000"/>
            </a:avLst>
          </a:prstGeom>
          <a:solidFill>
            <a:srgbClr val="F4F5F7"/>
          </a:solidFill>
          <a:ln/>
        </p:spPr>
      </p:sp>
      <p:sp>
        <p:nvSpPr>
          <p:cNvPr id="49" name="!!chipk2"/>
          <p:cNvSpPr txBox="1"/>
          <p:nvPr/>
        </p:nvSpPr>
        <p:spPr>
          <a:xfrm>
            <a:off x="102595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DIBL at 14 nm</a:t>
            </a:r>
            <a:endParaRPr lang="en-US" sz="1000" dirty="0"/>
          </a:p>
        </p:txBody>
      </p:sp>
      <p:sp>
        <p:nvSpPr>
          <p:cNvPr id="50" name="!!chipv2"/>
          <p:cNvSpPr txBox="1"/>
          <p:nvPr/>
        </p:nvSpPr>
        <p:spPr>
          <a:xfrm>
            <a:off x="102595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201 mV/V</a:t>
            </a:r>
            <a:endParaRPr lang="en-US" sz="1500" dirty="0"/>
          </a:p>
        </p:txBody>
      </p:sp>
      <p:sp>
        <p:nvSpPr>
          <p:cNvPr id="51" name="!!evSS"/>
          <p:cNvSpPr txBox="1"/>
          <p:nvPr/>
        </p:nvSpPr>
        <p:spPr>
          <a:xfrm>
            <a:off x="6949440" y="4892040"/>
            <a:ext cx="4663440" cy="27432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SS at 14 nm: 100 mV/dec   (simple λ model, same 8 nm silicon)</a:t>
            </a:r>
            <a:endParaRPr lang="en-US" sz="1100" dirty="0"/>
          </a:p>
        </p:txBody>
      </p:sp>
      <p:sp>
        <p:nvSpPr>
          <p:cNvPr id="52"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 channel stands up into a vertical fin.</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49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From planar to GAA – One camera, four transistors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Looking along the channel: current flows into the screen</a:t>
            </a:r>
            <a:endParaRPr lang="en-US" sz="1600" dirty="0"/>
          </a:p>
        </p:txBody>
      </p:sp>
      <p:sp>
        <p:nvSpPr>
          <p:cNvPr id="4" name="!!sdot0"/>
          <p:cNvSpPr/>
          <p:nvPr/>
        </p:nvSpPr>
        <p:spPr>
          <a:xfrm>
            <a:off x="10666476" y="525780"/>
            <a:ext cx="82296" cy="82296"/>
          </a:xfrm>
          <a:prstGeom prst="ellipse">
            <a:avLst/>
          </a:prstGeom>
          <a:solidFill>
            <a:srgbClr val="171A20"/>
          </a:solidFill>
          <a:ln/>
        </p:spPr>
      </p:sp>
      <p:sp>
        <p:nvSpPr>
          <p:cNvPr id="5" name="!!sdot1"/>
          <p:cNvSpPr/>
          <p:nvPr/>
        </p:nvSpPr>
        <p:spPr>
          <a:xfrm>
            <a:off x="10821924" y="525780"/>
            <a:ext cx="82296" cy="82296"/>
          </a:xfrm>
          <a:prstGeom prst="ellipse">
            <a:avLst/>
          </a:prstGeom>
          <a:solidFill>
            <a:srgbClr val="171A20"/>
          </a:solidFill>
          <a:ln/>
        </p:spPr>
      </p:sp>
      <p:sp>
        <p:nvSpPr>
          <p:cNvPr id="6" name="!!sdot2"/>
          <p:cNvSpPr/>
          <p:nvPr/>
        </p:nvSpPr>
        <p:spPr>
          <a:xfrm>
            <a:off x="10977372" y="525780"/>
            <a:ext cx="82296" cy="82296"/>
          </a:xfrm>
          <a:prstGeom prst="ellipse">
            <a:avLst/>
          </a:prstGeom>
          <a:solidFill>
            <a:srgbClr val="171A20"/>
          </a:solidFill>
          <a:ln/>
        </p:spPr>
      </p:sp>
      <p:sp>
        <p:nvSpPr>
          <p:cNvPr id="7" name="!!sdot3"/>
          <p:cNvSpPr/>
          <p:nvPr/>
        </p:nvSpPr>
        <p:spPr>
          <a:xfrm>
            <a:off x="11132820" y="525780"/>
            <a:ext cx="82296" cy="82296"/>
          </a:xfrm>
          <a:prstGeom prst="ellipse">
            <a:avLst/>
          </a:prstGeom>
          <a:solidFill>
            <a:srgbClr val="E2E3E3"/>
          </a:solidFill>
          <a:ln/>
        </p:spPr>
      </p:sp>
      <p:sp>
        <p:nvSpPr>
          <p:cNvPr id="8" name="!!sdot4"/>
          <p:cNvSpPr/>
          <p:nvPr/>
        </p:nvSpPr>
        <p:spPr>
          <a:xfrm>
            <a:off x="11288268" y="525780"/>
            <a:ext cx="82296" cy="82296"/>
          </a:xfrm>
          <a:prstGeom prst="ellipse">
            <a:avLst/>
          </a:prstGeom>
          <a:solidFill>
            <a:srgbClr val="E2E3E3"/>
          </a:solidFill>
          <a:ln/>
        </p:spPr>
      </p:sp>
      <p:sp>
        <p:nvSpPr>
          <p:cNvPr id="9" name="!!sdot5"/>
          <p:cNvSpPr/>
          <p:nvPr/>
        </p:nvSpPr>
        <p:spPr>
          <a:xfrm>
            <a:off x="11443716" y="525780"/>
            <a:ext cx="82296" cy="82296"/>
          </a:xfrm>
          <a:prstGeom prst="ellipse">
            <a:avLst/>
          </a:prstGeom>
          <a:solidFill>
            <a:srgbClr val="E2E3E3"/>
          </a:solidFill>
          <a:ln/>
        </p:spPr>
      </p:sp>
      <p:sp>
        <p:nvSpPr>
          <p:cNvPr id="10" name="!!sdot6"/>
          <p:cNvSpPr/>
          <p:nvPr/>
        </p:nvSpPr>
        <p:spPr>
          <a:xfrm>
            <a:off x="11599164" y="525780"/>
            <a:ext cx="82296" cy="82296"/>
          </a:xfrm>
          <a:prstGeom prst="ellipse">
            <a:avLst/>
          </a:prstGeom>
          <a:solidFill>
            <a:srgbClr val="E2E3E3"/>
          </a:solidFill>
          <a:ln/>
        </p:spPr>
      </p:sp>
      <p:sp>
        <p:nvSpPr>
          <p:cNvPr id="11" name="!!evSub"/>
          <p:cNvSpPr/>
          <p:nvPr/>
        </p:nvSpPr>
        <p:spPr>
          <a:xfrm>
            <a:off x="822960" y="4480560"/>
            <a:ext cx="4572000" cy="914400"/>
          </a:xfrm>
          <a:prstGeom prst="rect">
            <a:avLst/>
          </a:prstGeom>
          <a:solidFill>
            <a:srgbClr val="EDE3C8"/>
          </a:solidFill>
          <a:ln/>
        </p:spPr>
      </p:sp>
      <p:sp>
        <p:nvSpPr>
          <p:cNvPr id="12" name="!!evSubL"/>
          <p:cNvSpPr txBox="1"/>
          <p:nvPr/>
        </p:nvSpPr>
        <p:spPr>
          <a:xfrm>
            <a:off x="3931920" y="5102352"/>
            <a:ext cx="1371600" cy="256032"/>
          </a:xfrm>
          <a:prstGeom prst="rect">
            <a:avLst/>
          </a:prstGeom>
          <a:noFill/>
          <a:ln/>
        </p:spPr>
        <p:txBody>
          <a:bodyPr wrap="square" lIns="0" tIns="0" rIns="0" bIns="0" rtlCol="0" anchor="t"/>
          <a:lstStyle/>
          <a:p>
            <a:pPr algn="r" indent="0" marL="0">
              <a:buNone/>
            </a:pPr>
            <a:r>
              <a:rPr lang="en-US" sz="1000" dirty="0">
                <a:solidFill>
                  <a:srgbClr val="8A6D1F"/>
                </a:solidFill>
                <a:latin typeface="Segoe UI" pitchFamily="34" charset="0"/>
                <a:ea typeface="Segoe UI" pitchFamily="34" charset="-122"/>
                <a:cs typeface="Segoe UI" pitchFamily="34" charset="-120"/>
              </a:rPr>
              <a:t>silicon substrate</a:t>
            </a:r>
            <a:endParaRPr lang="en-US" sz="1000" dirty="0"/>
          </a:p>
        </p:txBody>
      </p:sp>
      <p:sp>
        <p:nvSpPr>
          <p:cNvPr id="13" name="!!evIsoL"/>
          <p:cNvSpPr/>
          <p:nvPr/>
        </p:nvSpPr>
        <p:spPr>
          <a:xfrm>
            <a:off x="822960" y="4160520"/>
            <a:ext cx="1554480" cy="320040"/>
          </a:xfrm>
          <a:prstGeom prst="rect">
            <a:avLst/>
          </a:prstGeom>
          <a:solidFill>
            <a:srgbClr val="D9DCE3"/>
          </a:solidFill>
          <a:ln/>
        </p:spPr>
      </p:sp>
      <p:sp>
        <p:nvSpPr>
          <p:cNvPr id="14" name="!!evIsoR"/>
          <p:cNvSpPr/>
          <p:nvPr/>
        </p:nvSpPr>
        <p:spPr>
          <a:xfrm>
            <a:off x="3840480" y="4160520"/>
            <a:ext cx="1554480" cy="320040"/>
          </a:xfrm>
          <a:prstGeom prst="rect">
            <a:avLst/>
          </a:prstGeom>
          <a:solidFill>
            <a:srgbClr val="D9DCE3"/>
          </a:solidFill>
          <a:ln/>
        </p:spPr>
      </p:sp>
      <p:sp>
        <p:nvSpPr>
          <p:cNvPr id="15" name="!!evIsoT"/>
          <p:cNvSpPr txBox="1"/>
          <p:nvPr/>
        </p:nvSpPr>
        <p:spPr>
          <a:xfrm>
            <a:off x="868680" y="4187952"/>
            <a:ext cx="1463040" cy="256032"/>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isolation oxide</a:t>
            </a:r>
            <a:endParaRPr lang="en-US" sz="900" dirty="0"/>
          </a:p>
        </p:txBody>
      </p:sp>
      <p:sp>
        <p:nvSpPr>
          <p:cNvPr id="16" name="!!evGate"/>
          <p:cNvSpPr/>
          <p:nvPr/>
        </p:nvSpPr>
        <p:spPr>
          <a:xfrm>
            <a:off x="2331720" y="1965960"/>
            <a:ext cx="1554480" cy="1920240"/>
          </a:xfrm>
          <a:prstGeom prst="roundRect">
            <a:avLst>
              <a:gd name="adj" fmla="val 2941"/>
            </a:avLst>
          </a:prstGeom>
          <a:solidFill>
            <a:srgbClr val="B3A6E6"/>
          </a:solidFill>
          <a:ln/>
        </p:spPr>
      </p:sp>
      <p:sp>
        <p:nvSpPr>
          <p:cNvPr id="17" name="!!evGateL"/>
          <p:cNvSpPr txBox="1"/>
          <p:nvPr/>
        </p:nvSpPr>
        <p:spPr>
          <a:xfrm>
            <a:off x="5486400" y="2011680"/>
            <a:ext cx="1371600" cy="457200"/>
          </a:xfrm>
          <a:prstGeom prst="rect">
            <a:avLst/>
          </a:prstGeom>
          <a:noFill/>
          <a:ln/>
        </p:spPr>
        <p:txBody>
          <a:bodyPr wrap="square" lIns="0" tIns="0" rIns="0" bIns="0" rtlCol="0" anchor="t"/>
          <a:lstStyle/>
          <a:p>
            <a:pPr algn="l" indent="0" marL="0">
              <a:buNone/>
            </a:pPr>
            <a:r>
              <a:rPr lang="en-US" sz="1000" dirty="0">
                <a:solidFill>
                  <a:srgbClr val="6B5BC4"/>
                </a:solidFill>
                <a:latin typeface="Segoe UI Semibold" pitchFamily="34" charset="0"/>
                <a:ea typeface="Segoe UI Semibold" pitchFamily="34" charset="-122"/>
                <a:cs typeface="Segoe UI Semibold" pitchFamily="34" charset="-120"/>
              </a:rPr>
              <a:t>gate wraps 3 sides</a:t>
            </a:r>
            <a:endParaRPr lang="en-US" sz="1000" dirty="0"/>
          </a:p>
        </p:txBody>
      </p:sp>
      <p:sp>
        <p:nvSpPr>
          <p:cNvPr id="18" name="!!evGateLn"/>
          <p:cNvSpPr/>
          <p:nvPr/>
        </p:nvSpPr>
        <p:spPr>
          <a:xfrm>
            <a:off x="3931920" y="2148840"/>
            <a:ext cx="1554480" cy="91"/>
          </a:xfrm>
          <a:prstGeom prst="line">
            <a:avLst/>
          </a:prstGeom>
          <a:noFill/>
          <a:ln w="9525">
            <a:solidFill>
              <a:srgbClr val="6B5BC4"/>
            </a:solidFill>
            <a:prstDash val="solid"/>
          </a:ln>
        </p:spPr>
      </p:sp>
      <p:sp>
        <p:nvSpPr>
          <p:cNvPr id="19" name="!!evOx0"/>
          <p:cNvSpPr/>
          <p:nvPr/>
        </p:nvSpPr>
        <p:spPr>
          <a:xfrm>
            <a:off x="2779776" y="2414016"/>
            <a:ext cx="658368" cy="2066544"/>
          </a:xfrm>
          <a:prstGeom prst="rect">
            <a:avLst/>
          </a:prstGeom>
          <a:solidFill>
            <a:srgbClr val="8FCBE0"/>
          </a:solidFill>
          <a:ln/>
        </p:spPr>
      </p:sp>
      <p:sp>
        <p:nvSpPr>
          <p:cNvPr id="20" name="!!evCh0"/>
          <p:cNvSpPr/>
          <p:nvPr/>
        </p:nvSpPr>
        <p:spPr>
          <a:xfrm>
            <a:off x="2834640" y="2468880"/>
            <a:ext cx="548640" cy="2011680"/>
          </a:xfrm>
          <a:prstGeom prst="rect">
            <a:avLst/>
          </a:prstGeom>
          <a:solidFill>
            <a:srgbClr val="F6E7B8"/>
          </a:solidFill>
          <a:ln/>
        </p:spPr>
      </p:sp>
      <p:sp>
        <p:nvSpPr>
          <p:cNvPr id="21" name="!!evInT0"/>
          <p:cNvSpPr/>
          <p:nvPr/>
        </p:nvSpPr>
        <p:spPr>
          <a:xfrm>
            <a:off x="2834640" y="2468880"/>
            <a:ext cx="548640" cy="64008"/>
          </a:xfrm>
          <a:prstGeom prst="rect">
            <a:avLst/>
          </a:prstGeom>
          <a:solidFill>
            <a:srgbClr val="1F2F6B">
              <a:alpha val="0"/>
            </a:srgbClr>
          </a:solidFill>
          <a:ln/>
        </p:spPr>
      </p:sp>
      <p:sp>
        <p:nvSpPr>
          <p:cNvPr id="22" name="!!evInL0"/>
          <p:cNvSpPr/>
          <p:nvPr/>
        </p:nvSpPr>
        <p:spPr>
          <a:xfrm>
            <a:off x="2834640" y="2468880"/>
            <a:ext cx="64008" cy="2011680"/>
          </a:xfrm>
          <a:prstGeom prst="rect">
            <a:avLst/>
          </a:prstGeom>
          <a:solidFill>
            <a:srgbClr val="1F2F6B">
              <a:alpha val="0"/>
            </a:srgbClr>
          </a:solidFill>
          <a:ln/>
        </p:spPr>
      </p:sp>
      <p:sp>
        <p:nvSpPr>
          <p:cNvPr id="23" name="!!evInR0"/>
          <p:cNvSpPr/>
          <p:nvPr/>
        </p:nvSpPr>
        <p:spPr>
          <a:xfrm>
            <a:off x="3319272" y="2468880"/>
            <a:ext cx="64008" cy="2011680"/>
          </a:xfrm>
          <a:prstGeom prst="rect">
            <a:avLst/>
          </a:prstGeom>
          <a:solidFill>
            <a:srgbClr val="1F2F6B">
              <a:alpha val="0"/>
            </a:srgbClr>
          </a:solidFill>
          <a:ln/>
        </p:spPr>
      </p:sp>
      <p:sp>
        <p:nvSpPr>
          <p:cNvPr id="24" name="!!evInB0"/>
          <p:cNvSpPr/>
          <p:nvPr/>
        </p:nvSpPr>
        <p:spPr>
          <a:xfrm>
            <a:off x="2834640" y="4416552"/>
            <a:ext cx="548640" cy="64008"/>
          </a:xfrm>
          <a:prstGeom prst="rect">
            <a:avLst/>
          </a:prstGeom>
          <a:solidFill>
            <a:srgbClr val="1F2F6B">
              <a:alpha val="0"/>
            </a:srgbClr>
          </a:solidFill>
          <a:ln/>
        </p:spPr>
      </p:sp>
      <p:sp>
        <p:nvSpPr>
          <p:cNvPr id="25" name="!!evOx1"/>
          <p:cNvSpPr/>
          <p:nvPr/>
        </p:nvSpPr>
        <p:spPr>
          <a:xfrm>
            <a:off x="2779776" y="2414016"/>
            <a:ext cx="658368" cy="2066544"/>
          </a:xfrm>
          <a:prstGeom prst="rect">
            <a:avLst/>
          </a:prstGeom>
          <a:solidFill>
            <a:srgbClr val="8FCBE0"/>
          </a:solidFill>
          <a:ln/>
        </p:spPr>
      </p:sp>
      <p:sp>
        <p:nvSpPr>
          <p:cNvPr id="26" name="!!evCh1"/>
          <p:cNvSpPr/>
          <p:nvPr/>
        </p:nvSpPr>
        <p:spPr>
          <a:xfrm>
            <a:off x="2834640" y="2468880"/>
            <a:ext cx="548640" cy="2011680"/>
          </a:xfrm>
          <a:prstGeom prst="rect">
            <a:avLst/>
          </a:prstGeom>
          <a:solidFill>
            <a:srgbClr val="F6E7B8"/>
          </a:solidFill>
          <a:ln/>
        </p:spPr>
      </p:sp>
      <p:sp>
        <p:nvSpPr>
          <p:cNvPr id="27" name="!!evInT1"/>
          <p:cNvSpPr/>
          <p:nvPr/>
        </p:nvSpPr>
        <p:spPr>
          <a:xfrm>
            <a:off x="2834640" y="2468880"/>
            <a:ext cx="548640" cy="64008"/>
          </a:xfrm>
          <a:prstGeom prst="rect">
            <a:avLst/>
          </a:prstGeom>
          <a:solidFill>
            <a:srgbClr val="1F2F6B">
              <a:alpha val="0"/>
            </a:srgbClr>
          </a:solidFill>
          <a:ln/>
        </p:spPr>
      </p:sp>
      <p:sp>
        <p:nvSpPr>
          <p:cNvPr id="28" name="!!evInL1"/>
          <p:cNvSpPr/>
          <p:nvPr/>
        </p:nvSpPr>
        <p:spPr>
          <a:xfrm>
            <a:off x="2834640" y="2468880"/>
            <a:ext cx="64008" cy="2011680"/>
          </a:xfrm>
          <a:prstGeom prst="rect">
            <a:avLst/>
          </a:prstGeom>
          <a:solidFill>
            <a:srgbClr val="1F2F6B">
              <a:alpha val="0"/>
            </a:srgbClr>
          </a:solidFill>
          <a:ln/>
        </p:spPr>
      </p:sp>
      <p:sp>
        <p:nvSpPr>
          <p:cNvPr id="29" name="!!evInR1"/>
          <p:cNvSpPr/>
          <p:nvPr/>
        </p:nvSpPr>
        <p:spPr>
          <a:xfrm>
            <a:off x="3319272" y="2468880"/>
            <a:ext cx="64008" cy="2011680"/>
          </a:xfrm>
          <a:prstGeom prst="rect">
            <a:avLst/>
          </a:prstGeom>
          <a:solidFill>
            <a:srgbClr val="1F2F6B">
              <a:alpha val="0"/>
            </a:srgbClr>
          </a:solidFill>
          <a:ln/>
        </p:spPr>
      </p:sp>
      <p:sp>
        <p:nvSpPr>
          <p:cNvPr id="30" name="!!evInB1"/>
          <p:cNvSpPr/>
          <p:nvPr/>
        </p:nvSpPr>
        <p:spPr>
          <a:xfrm>
            <a:off x="2834640" y="4416552"/>
            <a:ext cx="548640" cy="64008"/>
          </a:xfrm>
          <a:prstGeom prst="rect">
            <a:avLst/>
          </a:prstGeom>
          <a:solidFill>
            <a:srgbClr val="1F2F6B">
              <a:alpha val="0"/>
            </a:srgbClr>
          </a:solidFill>
          <a:ln/>
        </p:spPr>
      </p:sp>
      <p:sp>
        <p:nvSpPr>
          <p:cNvPr id="31" name="!!evOx2"/>
          <p:cNvSpPr/>
          <p:nvPr/>
        </p:nvSpPr>
        <p:spPr>
          <a:xfrm>
            <a:off x="2779776" y="2414016"/>
            <a:ext cx="658368" cy="2066544"/>
          </a:xfrm>
          <a:prstGeom prst="rect">
            <a:avLst/>
          </a:prstGeom>
          <a:solidFill>
            <a:srgbClr val="8FCBE0"/>
          </a:solidFill>
          <a:ln/>
        </p:spPr>
      </p:sp>
      <p:sp>
        <p:nvSpPr>
          <p:cNvPr id="32" name="!!evCh2"/>
          <p:cNvSpPr/>
          <p:nvPr/>
        </p:nvSpPr>
        <p:spPr>
          <a:xfrm>
            <a:off x="2834640" y="2468880"/>
            <a:ext cx="548640" cy="2011680"/>
          </a:xfrm>
          <a:prstGeom prst="rect">
            <a:avLst/>
          </a:prstGeom>
          <a:solidFill>
            <a:srgbClr val="F6E7B8"/>
          </a:solidFill>
          <a:ln/>
        </p:spPr>
      </p:sp>
      <p:sp>
        <p:nvSpPr>
          <p:cNvPr id="33" name="!!evInT2"/>
          <p:cNvSpPr/>
          <p:nvPr/>
        </p:nvSpPr>
        <p:spPr>
          <a:xfrm>
            <a:off x="2834640" y="2468880"/>
            <a:ext cx="548640" cy="64008"/>
          </a:xfrm>
          <a:prstGeom prst="rect">
            <a:avLst/>
          </a:prstGeom>
          <a:solidFill>
            <a:srgbClr val="1F2F6B">
              <a:alpha val="0"/>
            </a:srgbClr>
          </a:solidFill>
          <a:ln/>
        </p:spPr>
      </p:sp>
      <p:sp>
        <p:nvSpPr>
          <p:cNvPr id="34" name="!!evInL2"/>
          <p:cNvSpPr/>
          <p:nvPr/>
        </p:nvSpPr>
        <p:spPr>
          <a:xfrm>
            <a:off x="2834640" y="2468880"/>
            <a:ext cx="64008" cy="2011680"/>
          </a:xfrm>
          <a:prstGeom prst="rect">
            <a:avLst/>
          </a:prstGeom>
          <a:solidFill>
            <a:srgbClr val="1F2F6B">
              <a:alpha val="0"/>
            </a:srgbClr>
          </a:solidFill>
          <a:ln/>
        </p:spPr>
      </p:sp>
      <p:sp>
        <p:nvSpPr>
          <p:cNvPr id="35" name="!!evInR2"/>
          <p:cNvSpPr/>
          <p:nvPr/>
        </p:nvSpPr>
        <p:spPr>
          <a:xfrm>
            <a:off x="3319272" y="2468880"/>
            <a:ext cx="64008" cy="2011680"/>
          </a:xfrm>
          <a:prstGeom prst="rect">
            <a:avLst/>
          </a:prstGeom>
          <a:solidFill>
            <a:srgbClr val="1F2F6B">
              <a:alpha val="0"/>
            </a:srgbClr>
          </a:solidFill>
          <a:ln/>
        </p:spPr>
      </p:sp>
      <p:sp>
        <p:nvSpPr>
          <p:cNvPr id="36" name="!!evInB2"/>
          <p:cNvSpPr/>
          <p:nvPr/>
        </p:nvSpPr>
        <p:spPr>
          <a:xfrm>
            <a:off x="2834640" y="4416552"/>
            <a:ext cx="548640" cy="64008"/>
          </a:xfrm>
          <a:prstGeom prst="rect">
            <a:avLst/>
          </a:prstGeom>
          <a:solidFill>
            <a:srgbClr val="1F2F6B">
              <a:alpha val="0"/>
            </a:srgbClr>
          </a:solidFill>
          <a:ln/>
        </p:spPr>
      </p:sp>
      <p:sp>
        <p:nvSpPr>
          <p:cNvPr id="37" name="!!card"/>
          <p:cNvSpPr/>
          <p:nvPr/>
        </p:nvSpPr>
        <p:spPr>
          <a:xfrm>
            <a:off x="6949440" y="1554480"/>
            <a:ext cx="4690872" cy="2240280"/>
          </a:xfrm>
          <a:prstGeom prst="roundRect">
            <a:avLst>
              <a:gd name="adj" fmla="val 3265"/>
            </a:avLst>
          </a:prstGeom>
          <a:solidFill>
            <a:srgbClr val="F4F5F7"/>
          </a:solidFill>
          <a:ln/>
        </p:spPr>
      </p:sp>
      <p:sp>
        <p:nvSpPr>
          <p:cNvPr id="38" name="!!cardn"/>
          <p:cNvSpPr/>
          <p:nvPr/>
        </p:nvSpPr>
        <p:spPr>
          <a:xfrm>
            <a:off x="7159752" y="1764792"/>
            <a:ext cx="347472" cy="347472"/>
          </a:xfrm>
          <a:prstGeom prst="ellipse">
            <a:avLst/>
          </a:prstGeom>
          <a:solidFill>
            <a:srgbClr val="3E6AE1"/>
          </a:solidFill>
          <a:ln/>
        </p:spPr>
      </p:sp>
      <p:sp>
        <p:nvSpPr>
          <p:cNvPr id="39" name="!!cardnt"/>
          <p:cNvSpPr txBox="1"/>
          <p:nvPr/>
        </p:nvSpPr>
        <p:spPr>
          <a:xfrm>
            <a:off x="715975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40" name="!!cardh"/>
          <p:cNvSpPr txBox="1"/>
          <p:nvPr/>
        </p:nvSpPr>
        <p:spPr>
          <a:xfrm>
            <a:off x="7635240" y="1773936"/>
            <a:ext cx="3822192" cy="347472"/>
          </a:xfrm>
          <a:prstGeom prst="rect">
            <a:avLst/>
          </a:prstGeom>
          <a:noFill/>
          <a:ln/>
        </p:spPr>
        <p:txBody>
          <a:bodyPr wrap="square" lIns="0" tIns="0" rIns="0" bIns="0" rtlCol="0" anchor="ctr"/>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Wrap the gate over it</a:t>
            </a:r>
            <a:endParaRPr lang="en-US" sz="1600" dirty="0"/>
          </a:p>
        </p:txBody>
      </p:sp>
      <p:sp>
        <p:nvSpPr>
          <p:cNvPr id="41" name="!!cardb"/>
          <p:cNvSpPr txBox="1"/>
          <p:nvPr/>
        </p:nvSpPr>
        <p:spPr>
          <a:xfrm>
            <a:off x="7178040" y="2267712"/>
            <a:ext cx="4233672" cy="137160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The gate now covers the left, top and right of the fin, like a saddle over a wall. The fin is thin, so no point is far from the gate.</a:t>
            </a:r>
            <a:endParaRPr lang="en-US" sz="1300" dirty="0"/>
          </a:p>
        </p:txBody>
      </p:sp>
      <p:sp>
        <p:nvSpPr>
          <p:cNvPr id="42" name="!!chip0"/>
          <p:cNvSpPr/>
          <p:nvPr/>
        </p:nvSpPr>
        <p:spPr>
          <a:xfrm>
            <a:off x="6949440" y="4023360"/>
            <a:ext cx="1490472" cy="685800"/>
          </a:xfrm>
          <a:prstGeom prst="roundRect">
            <a:avLst>
              <a:gd name="adj" fmla="val 8000"/>
            </a:avLst>
          </a:prstGeom>
          <a:solidFill>
            <a:srgbClr val="F4F5F7"/>
          </a:solidFill>
          <a:ln/>
        </p:spPr>
      </p:sp>
      <p:sp>
        <p:nvSpPr>
          <p:cNvPr id="43" name="!!chipk0"/>
          <p:cNvSpPr txBox="1"/>
          <p:nvPr/>
        </p:nvSpPr>
        <p:spPr>
          <a:xfrm>
            <a:off x="70591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gate sides N</a:t>
            </a:r>
            <a:endParaRPr lang="en-US" sz="1000" dirty="0"/>
          </a:p>
        </p:txBody>
      </p:sp>
      <p:sp>
        <p:nvSpPr>
          <p:cNvPr id="44" name="!!chipv0"/>
          <p:cNvSpPr txBox="1"/>
          <p:nvPr/>
        </p:nvSpPr>
        <p:spPr>
          <a:xfrm>
            <a:off x="70591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3</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5" name="!!chip1"/>
          <p:cNvSpPr/>
          <p:nvPr/>
        </p:nvSpPr>
        <p:spPr>
          <a:xfrm>
            <a:off x="8549640" y="4023360"/>
            <a:ext cx="1490472" cy="685800"/>
          </a:xfrm>
          <a:prstGeom prst="roundRect">
            <a:avLst>
              <a:gd name="adj" fmla="val 8000"/>
            </a:avLst>
          </a:prstGeom>
          <a:solidFill>
            <a:srgbClr val="F4F5F7"/>
          </a:solidFill>
          <a:ln/>
        </p:spPr>
      </p:sp>
      <p:sp>
        <p:nvSpPr>
          <p:cNvPr id="46" name="!!chipk1"/>
          <p:cNvSpPr txBox="1"/>
          <p:nvPr/>
        </p:nvSpPr>
        <p:spPr>
          <a:xfrm>
            <a:off x="86593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λ</a:t>
            </a:r>
            <a:endParaRPr lang="en-US" sz="1000" dirty="0"/>
          </a:p>
        </p:txBody>
      </p:sp>
      <p:sp>
        <p:nvSpPr>
          <p:cNvPr id="47" name="!!chipv1"/>
          <p:cNvSpPr txBox="1"/>
          <p:nvPr/>
        </p:nvSpPr>
        <p:spPr>
          <a:xfrm>
            <a:off x="86593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2.52 nm</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8" name="!!chip2"/>
          <p:cNvSpPr/>
          <p:nvPr/>
        </p:nvSpPr>
        <p:spPr>
          <a:xfrm>
            <a:off x="10149840" y="4023360"/>
            <a:ext cx="1490472" cy="685800"/>
          </a:xfrm>
          <a:prstGeom prst="roundRect">
            <a:avLst>
              <a:gd name="adj" fmla="val 8000"/>
            </a:avLst>
          </a:prstGeom>
          <a:solidFill>
            <a:srgbClr val="F4F5F7"/>
          </a:solidFill>
          <a:ln/>
        </p:spPr>
      </p:sp>
      <p:sp>
        <p:nvSpPr>
          <p:cNvPr id="49" name="!!chipk2"/>
          <p:cNvSpPr txBox="1"/>
          <p:nvPr/>
        </p:nvSpPr>
        <p:spPr>
          <a:xfrm>
            <a:off x="102595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DIBL at 14 nm</a:t>
            </a:r>
            <a:endParaRPr lang="en-US" sz="1000" dirty="0"/>
          </a:p>
        </p:txBody>
      </p:sp>
      <p:sp>
        <p:nvSpPr>
          <p:cNvPr id="50" name="!!chipv2"/>
          <p:cNvSpPr txBox="1"/>
          <p:nvPr/>
        </p:nvSpPr>
        <p:spPr>
          <a:xfrm>
            <a:off x="102595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62 mV/V</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51" name="!!evSS"/>
          <p:cNvSpPr txBox="1"/>
          <p:nvPr/>
        </p:nvSpPr>
        <p:spPr>
          <a:xfrm>
            <a:off x="6949440" y="4892040"/>
            <a:ext cx="4663440" cy="27432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SS at 14 nm: 68 mV/dec   (simple λ model, same 8 nm silicon)</a:t>
            </a:r>
            <a:endParaRPr lang="en-US" sz="1100" dirty="0"/>
          </a:p>
        </p:txBody>
      </p:sp>
      <p:sp>
        <p:nvSpPr>
          <p:cNvPr id="52"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 gate wraps the fin on three sides: λ falls from 4.37 to 2.52 nm.</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50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From planar to GAA – One camera, four transistors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Looking along the channel: current flows into the screen</a:t>
            </a:r>
            <a:endParaRPr lang="en-US" sz="1600" dirty="0"/>
          </a:p>
        </p:txBody>
      </p:sp>
      <p:sp>
        <p:nvSpPr>
          <p:cNvPr id="4" name="!!sdot0"/>
          <p:cNvSpPr/>
          <p:nvPr/>
        </p:nvSpPr>
        <p:spPr>
          <a:xfrm>
            <a:off x="10666476" y="525780"/>
            <a:ext cx="82296" cy="82296"/>
          </a:xfrm>
          <a:prstGeom prst="ellipse">
            <a:avLst/>
          </a:prstGeom>
          <a:solidFill>
            <a:srgbClr val="171A20"/>
          </a:solidFill>
          <a:ln/>
        </p:spPr>
      </p:sp>
      <p:sp>
        <p:nvSpPr>
          <p:cNvPr id="5" name="!!sdot1"/>
          <p:cNvSpPr/>
          <p:nvPr/>
        </p:nvSpPr>
        <p:spPr>
          <a:xfrm>
            <a:off x="10821924" y="525780"/>
            <a:ext cx="82296" cy="82296"/>
          </a:xfrm>
          <a:prstGeom prst="ellipse">
            <a:avLst/>
          </a:prstGeom>
          <a:solidFill>
            <a:srgbClr val="171A20"/>
          </a:solidFill>
          <a:ln/>
        </p:spPr>
      </p:sp>
      <p:sp>
        <p:nvSpPr>
          <p:cNvPr id="6" name="!!sdot2"/>
          <p:cNvSpPr/>
          <p:nvPr/>
        </p:nvSpPr>
        <p:spPr>
          <a:xfrm>
            <a:off x="10977372" y="525780"/>
            <a:ext cx="82296" cy="82296"/>
          </a:xfrm>
          <a:prstGeom prst="ellipse">
            <a:avLst/>
          </a:prstGeom>
          <a:solidFill>
            <a:srgbClr val="171A20"/>
          </a:solidFill>
          <a:ln/>
        </p:spPr>
      </p:sp>
      <p:sp>
        <p:nvSpPr>
          <p:cNvPr id="7" name="!!sdot3"/>
          <p:cNvSpPr/>
          <p:nvPr/>
        </p:nvSpPr>
        <p:spPr>
          <a:xfrm>
            <a:off x="11132820" y="525780"/>
            <a:ext cx="82296" cy="82296"/>
          </a:xfrm>
          <a:prstGeom prst="ellipse">
            <a:avLst/>
          </a:prstGeom>
          <a:solidFill>
            <a:srgbClr val="171A20"/>
          </a:solidFill>
          <a:ln/>
        </p:spPr>
      </p:sp>
      <p:sp>
        <p:nvSpPr>
          <p:cNvPr id="8" name="!!sdot4"/>
          <p:cNvSpPr/>
          <p:nvPr/>
        </p:nvSpPr>
        <p:spPr>
          <a:xfrm>
            <a:off x="11288268" y="525780"/>
            <a:ext cx="82296" cy="82296"/>
          </a:xfrm>
          <a:prstGeom prst="ellipse">
            <a:avLst/>
          </a:prstGeom>
          <a:solidFill>
            <a:srgbClr val="E2E3E3"/>
          </a:solidFill>
          <a:ln/>
        </p:spPr>
      </p:sp>
      <p:sp>
        <p:nvSpPr>
          <p:cNvPr id="9" name="!!sdot5"/>
          <p:cNvSpPr/>
          <p:nvPr/>
        </p:nvSpPr>
        <p:spPr>
          <a:xfrm>
            <a:off x="11443716" y="525780"/>
            <a:ext cx="82296" cy="82296"/>
          </a:xfrm>
          <a:prstGeom prst="ellipse">
            <a:avLst/>
          </a:prstGeom>
          <a:solidFill>
            <a:srgbClr val="E2E3E3"/>
          </a:solidFill>
          <a:ln/>
        </p:spPr>
      </p:sp>
      <p:sp>
        <p:nvSpPr>
          <p:cNvPr id="10" name="!!sdot6"/>
          <p:cNvSpPr/>
          <p:nvPr/>
        </p:nvSpPr>
        <p:spPr>
          <a:xfrm>
            <a:off x="11599164" y="525780"/>
            <a:ext cx="82296" cy="82296"/>
          </a:xfrm>
          <a:prstGeom prst="ellipse">
            <a:avLst/>
          </a:prstGeom>
          <a:solidFill>
            <a:srgbClr val="E2E3E3"/>
          </a:solidFill>
          <a:ln/>
        </p:spPr>
      </p:sp>
      <p:sp>
        <p:nvSpPr>
          <p:cNvPr id="11" name="!!evSub"/>
          <p:cNvSpPr/>
          <p:nvPr/>
        </p:nvSpPr>
        <p:spPr>
          <a:xfrm>
            <a:off x="822960" y="4480560"/>
            <a:ext cx="4572000" cy="914400"/>
          </a:xfrm>
          <a:prstGeom prst="rect">
            <a:avLst/>
          </a:prstGeom>
          <a:solidFill>
            <a:srgbClr val="EDE3C8"/>
          </a:solidFill>
          <a:ln/>
        </p:spPr>
      </p:sp>
      <p:sp>
        <p:nvSpPr>
          <p:cNvPr id="12" name="!!evSubL"/>
          <p:cNvSpPr txBox="1"/>
          <p:nvPr/>
        </p:nvSpPr>
        <p:spPr>
          <a:xfrm>
            <a:off x="3931920" y="5102352"/>
            <a:ext cx="1371600" cy="256032"/>
          </a:xfrm>
          <a:prstGeom prst="rect">
            <a:avLst/>
          </a:prstGeom>
          <a:noFill/>
          <a:ln/>
        </p:spPr>
        <p:txBody>
          <a:bodyPr wrap="square" lIns="0" tIns="0" rIns="0" bIns="0" rtlCol="0" anchor="t"/>
          <a:lstStyle/>
          <a:p>
            <a:pPr algn="r" indent="0" marL="0">
              <a:buNone/>
            </a:pPr>
            <a:r>
              <a:rPr lang="en-US" sz="1000" dirty="0">
                <a:solidFill>
                  <a:srgbClr val="8A6D1F"/>
                </a:solidFill>
                <a:latin typeface="Segoe UI" pitchFamily="34" charset="0"/>
                <a:ea typeface="Segoe UI" pitchFamily="34" charset="-122"/>
                <a:cs typeface="Segoe UI" pitchFamily="34" charset="-120"/>
              </a:rPr>
              <a:t>silicon substrate</a:t>
            </a:r>
            <a:endParaRPr lang="en-US" sz="1000" dirty="0"/>
          </a:p>
        </p:txBody>
      </p:sp>
      <p:sp>
        <p:nvSpPr>
          <p:cNvPr id="13" name="!!evIsoL"/>
          <p:cNvSpPr/>
          <p:nvPr/>
        </p:nvSpPr>
        <p:spPr>
          <a:xfrm>
            <a:off x="822960" y="4160520"/>
            <a:ext cx="1554480" cy="320040"/>
          </a:xfrm>
          <a:prstGeom prst="rect">
            <a:avLst/>
          </a:prstGeom>
          <a:solidFill>
            <a:srgbClr val="D9DCE3"/>
          </a:solidFill>
          <a:ln/>
        </p:spPr>
      </p:sp>
      <p:sp>
        <p:nvSpPr>
          <p:cNvPr id="14" name="!!evIsoR"/>
          <p:cNvSpPr/>
          <p:nvPr/>
        </p:nvSpPr>
        <p:spPr>
          <a:xfrm>
            <a:off x="3840480" y="4160520"/>
            <a:ext cx="1554480" cy="320040"/>
          </a:xfrm>
          <a:prstGeom prst="rect">
            <a:avLst/>
          </a:prstGeom>
          <a:solidFill>
            <a:srgbClr val="D9DCE3"/>
          </a:solidFill>
          <a:ln/>
        </p:spPr>
      </p:sp>
      <p:sp>
        <p:nvSpPr>
          <p:cNvPr id="15" name="!!evIsoT"/>
          <p:cNvSpPr txBox="1"/>
          <p:nvPr/>
        </p:nvSpPr>
        <p:spPr>
          <a:xfrm>
            <a:off x="868680" y="4187952"/>
            <a:ext cx="1463040" cy="256032"/>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isolation oxide</a:t>
            </a:r>
            <a:endParaRPr lang="en-US" sz="900" dirty="0"/>
          </a:p>
        </p:txBody>
      </p:sp>
      <p:sp>
        <p:nvSpPr>
          <p:cNvPr id="16" name="!!evGate"/>
          <p:cNvSpPr/>
          <p:nvPr/>
        </p:nvSpPr>
        <p:spPr>
          <a:xfrm>
            <a:off x="2331720" y="1965960"/>
            <a:ext cx="1554480" cy="1920240"/>
          </a:xfrm>
          <a:prstGeom prst="roundRect">
            <a:avLst>
              <a:gd name="adj" fmla="val 2941"/>
            </a:avLst>
          </a:prstGeom>
          <a:solidFill>
            <a:srgbClr val="B3A6E6"/>
          </a:solidFill>
          <a:ln/>
        </p:spPr>
      </p:sp>
      <p:sp>
        <p:nvSpPr>
          <p:cNvPr id="17" name="!!evGateL"/>
          <p:cNvSpPr txBox="1"/>
          <p:nvPr/>
        </p:nvSpPr>
        <p:spPr>
          <a:xfrm>
            <a:off x="5486400" y="2011680"/>
            <a:ext cx="1371600" cy="457200"/>
          </a:xfrm>
          <a:prstGeom prst="rect">
            <a:avLst/>
          </a:prstGeom>
          <a:noFill/>
          <a:ln/>
        </p:spPr>
        <p:txBody>
          <a:bodyPr wrap="square" lIns="0" tIns="0" rIns="0" bIns="0" rtlCol="0" anchor="t"/>
          <a:lstStyle/>
          <a:p>
            <a:pPr algn="l" indent="0" marL="0">
              <a:buNone/>
            </a:pPr>
            <a:r>
              <a:rPr lang="en-US" sz="1000" dirty="0">
                <a:solidFill>
                  <a:srgbClr val="6B5BC4"/>
                </a:solidFill>
                <a:latin typeface="Segoe UI Semibold" pitchFamily="34" charset="0"/>
                <a:ea typeface="Segoe UI Semibold" pitchFamily="34" charset="-122"/>
                <a:cs typeface="Segoe UI Semibold" pitchFamily="34" charset="-120"/>
              </a:rPr>
              <a:t>gate wraps 3 sides</a:t>
            </a:r>
            <a:endParaRPr lang="en-US" sz="1000" dirty="0"/>
          </a:p>
        </p:txBody>
      </p:sp>
      <p:sp>
        <p:nvSpPr>
          <p:cNvPr id="18" name="!!evGateLn"/>
          <p:cNvSpPr/>
          <p:nvPr/>
        </p:nvSpPr>
        <p:spPr>
          <a:xfrm>
            <a:off x="3931920" y="2148840"/>
            <a:ext cx="1554480" cy="91"/>
          </a:xfrm>
          <a:prstGeom prst="line">
            <a:avLst/>
          </a:prstGeom>
          <a:noFill/>
          <a:ln w="9525">
            <a:solidFill>
              <a:srgbClr val="6B5BC4"/>
            </a:solidFill>
            <a:prstDash val="solid"/>
          </a:ln>
        </p:spPr>
      </p:sp>
      <p:sp>
        <p:nvSpPr>
          <p:cNvPr id="19" name="!!evOx0"/>
          <p:cNvSpPr/>
          <p:nvPr/>
        </p:nvSpPr>
        <p:spPr>
          <a:xfrm>
            <a:off x="2779776" y="2414016"/>
            <a:ext cx="658368" cy="2066544"/>
          </a:xfrm>
          <a:prstGeom prst="rect">
            <a:avLst/>
          </a:prstGeom>
          <a:solidFill>
            <a:srgbClr val="8FCBE0"/>
          </a:solidFill>
          <a:ln/>
        </p:spPr>
      </p:sp>
      <p:sp>
        <p:nvSpPr>
          <p:cNvPr id="20" name="!!evCh0"/>
          <p:cNvSpPr/>
          <p:nvPr/>
        </p:nvSpPr>
        <p:spPr>
          <a:xfrm>
            <a:off x="2834640" y="2468880"/>
            <a:ext cx="548640" cy="2011680"/>
          </a:xfrm>
          <a:prstGeom prst="rect">
            <a:avLst/>
          </a:prstGeom>
          <a:solidFill>
            <a:srgbClr val="F6E7B8"/>
          </a:solidFill>
          <a:ln/>
        </p:spPr>
      </p:sp>
      <p:sp>
        <p:nvSpPr>
          <p:cNvPr id="21" name="!!evInT0"/>
          <p:cNvSpPr/>
          <p:nvPr/>
        </p:nvSpPr>
        <p:spPr>
          <a:xfrm>
            <a:off x="2834640" y="2468880"/>
            <a:ext cx="548640" cy="64008"/>
          </a:xfrm>
          <a:prstGeom prst="rect">
            <a:avLst/>
          </a:prstGeom>
          <a:solidFill>
            <a:srgbClr val="1F2F6B"/>
          </a:solidFill>
          <a:ln/>
        </p:spPr>
      </p:sp>
      <p:sp>
        <p:nvSpPr>
          <p:cNvPr id="22" name="!!evInL0"/>
          <p:cNvSpPr/>
          <p:nvPr/>
        </p:nvSpPr>
        <p:spPr>
          <a:xfrm>
            <a:off x="2834640" y="2468880"/>
            <a:ext cx="64008" cy="2011680"/>
          </a:xfrm>
          <a:prstGeom prst="rect">
            <a:avLst/>
          </a:prstGeom>
          <a:solidFill>
            <a:srgbClr val="1F2F6B"/>
          </a:solidFill>
          <a:ln/>
        </p:spPr>
      </p:sp>
      <p:sp>
        <p:nvSpPr>
          <p:cNvPr id="23" name="!!evInR0"/>
          <p:cNvSpPr/>
          <p:nvPr/>
        </p:nvSpPr>
        <p:spPr>
          <a:xfrm>
            <a:off x="3319272" y="2468880"/>
            <a:ext cx="64008" cy="2011680"/>
          </a:xfrm>
          <a:prstGeom prst="rect">
            <a:avLst/>
          </a:prstGeom>
          <a:solidFill>
            <a:srgbClr val="1F2F6B"/>
          </a:solidFill>
          <a:ln/>
        </p:spPr>
      </p:sp>
      <p:sp>
        <p:nvSpPr>
          <p:cNvPr id="24" name="!!evInB0"/>
          <p:cNvSpPr/>
          <p:nvPr/>
        </p:nvSpPr>
        <p:spPr>
          <a:xfrm>
            <a:off x="2834640" y="4416552"/>
            <a:ext cx="548640" cy="64008"/>
          </a:xfrm>
          <a:prstGeom prst="rect">
            <a:avLst/>
          </a:prstGeom>
          <a:solidFill>
            <a:srgbClr val="1F2F6B">
              <a:alpha val="0"/>
            </a:srgbClr>
          </a:solidFill>
          <a:ln/>
        </p:spPr>
      </p:sp>
      <p:sp>
        <p:nvSpPr>
          <p:cNvPr id="25" name="!!evOx1"/>
          <p:cNvSpPr/>
          <p:nvPr/>
        </p:nvSpPr>
        <p:spPr>
          <a:xfrm>
            <a:off x="2779776" y="2414016"/>
            <a:ext cx="658368" cy="2066544"/>
          </a:xfrm>
          <a:prstGeom prst="rect">
            <a:avLst/>
          </a:prstGeom>
          <a:solidFill>
            <a:srgbClr val="8FCBE0"/>
          </a:solidFill>
          <a:ln/>
        </p:spPr>
      </p:sp>
      <p:sp>
        <p:nvSpPr>
          <p:cNvPr id="26" name="!!evCh1"/>
          <p:cNvSpPr/>
          <p:nvPr/>
        </p:nvSpPr>
        <p:spPr>
          <a:xfrm>
            <a:off x="2834640" y="2468880"/>
            <a:ext cx="548640" cy="2011680"/>
          </a:xfrm>
          <a:prstGeom prst="rect">
            <a:avLst/>
          </a:prstGeom>
          <a:solidFill>
            <a:srgbClr val="F6E7B8"/>
          </a:solidFill>
          <a:ln/>
        </p:spPr>
      </p:sp>
      <p:sp>
        <p:nvSpPr>
          <p:cNvPr id="27" name="!!evInT1"/>
          <p:cNvSpPr/>
          <p:nvPr/>
        </p:nvSpPr>
        <p:spPr>
          <a:xfrm>
            <a:off x="2834640" y="2468880"/>
            <a:ext cx="548640" cy="64008"/>
          </a:xfrm>
          <a:prstGeom prst="rect">
            <a:avLst/>
          </a:prstGeom>
          <a:solidFill>
            <a:srgbClr val="1F2F6B"/>
          </a:solidFill>
          <a:ln/>
        </p:spPr>
      </p:sp>
      <p:sp>
        <p:nvSpPr>
          <p:cNvPr id="28" name="!!evInL1"/>
          <p:cNvSpPr/>
          <p:nvPr/>
        </p:nvSpPr>
        <p:spPr>
          <a:xfrm>
            <a:off x="2834640" y="2468880"/>
            <a:ext cx="64008" cy="2011680"/>
          </a:xfrm>
          <a:prstGeom prst="rect">
            <a:avLst/>
          </a:prstGeom>
          <a:solidFill>
            <a:srgbClr val="1F2F6B"/>
          </a:solidFill>
          <a:ln/>
        </p:spPr>
      </p:sp>
      <p:sp>
        <p:nvSpPr>
          <p:cNvPr id="29" name="!!evInR1"/>
          <p:cNvSpPr/>
          <p:nvPr/>
        </p:nvSpPr>
        <p:spPr>
          <a:xfrm>
            <a:off x="3319272" y="2468880"/>
            <a:ext cx="64008" cy="2011680"/>
          </a:xfrm>
          <a:prstGeom prst="rect">
            <a:avLst/>
          </a:prstGeom>
          <a:solidFill>
            <a:srgbClr val="1F2F6B"/>
          </a:solidFill>
          <a:ln/>
        </p:spPr>
      </p:sp>
      <p:sp>
        <p:nvSpPr>
          <p:cNvPr id="30" name="!!evInB1"/>
          <p:cNvSpPr/>
          <p:nvPr/>
        </p:nvSpPr>
        <p:spPr>
          <a:xfrm>
            <a:off x="2834640" y="4416552"/>
            <a:ext cx="548640" cy="64008"/>
          </a:xfrm>
          <a:prstGeom prst="rect">
            <a:avLst/>
          </a:prstGeom>
          <a:solidFill>
            <a:srgbClr val="1F2F6B">
              <a:alpha val="0"/>
            </a:srgbClr>
          </a:solidFill>
          <a:ln/>
        </p:spPr>
      </p:sp>
      <p:sp>
        <p:nvSpPr>
          <p:cNvPr id="31" name="!!evOx2"/>
          <p:cNvSpPr/>
          <p:nvPr/>
        </p:nvSpPr>
        <p:spPr>
          <a:xfrm>
            <a:off x="2779776" y="2414016"/>
            <a:ext cx="658368" cy="2066544"/>
          </a:xfrm>
          <a:prstGeom prst="rect">
            <a:avLst/>
          </a:prstGeom>
          <a:solidFill>
            <a:srgbClr val="8FCBE0"/>
          </a:solidFill>
          <a:ln/>
        </p:spPr>
      </p:sp>
      <p:sp>
        <p:nvSpPr>
          <p:cNvPr id="32" name="!!evCh2"/>
          <p:cNvSpPr/>
          <p:nvPr/>
        </p:nvSpPr>
        <p:spPr>
          <a:xfrm>
            <a:off x="2834640" y="2468880"/>
            <a:ext cx="548640" cy="2011680"/>
          </a:xfrm>
          <a:prstGeom prst="rect">
            <a:avLst/>
          </a:prstGeom>
          <a:solidFill>
            <a:srgbClr val="F6E7B8"/>
          </a:solidFill>
          <a:ln/>
        </p:spPr>
      </p:sp>
      <p:sp>
        <p:nvSpPr>
          <p:cNvPr id="33" name="!!evInT2"/>
          <p:cNvSpPr/>
          <p:nvPr/>
        </p:nvSpPr>
        <p:spPr>
          <a:xfrm>
            <a:off x="2834640" y="2468880"/>
            <a:ext cx="548640" cy="64008"/>
          </a:xfrm>
          <a:prstGeom prst="rect">
            <a:avLst/>
          </a:prstGeom>
          <a:solidFill>
            <a:srgbClr val="1F2F6B"/>
          </a:solidFill>
          <a:ln/>
        </p:spPr>
      </p:sp>
      <p:sp>
        <p:nvSpPr>
          <p:cNvPr id="34" name="!!evInL2"/>
          <p:cNvSpPr/>
          <p:nvPr/>
        </p:nvSpPr>
        <p:spPr>
          <a:xfrm>
            <a:off x="2834640" y="2468880"/>
            <a:ext cx="64008" cy="2011680"/>
          </a:xfrm>
          <a:prstGeom prst="rect">
            <a:avLst/>
          </a:prstGeom>
          <a:solidFill>
            <a:srgbClr val="1F2F6B"/>
          </a:solidFill>
          <a:ln/>
        </p:spPr>
      </p:sp>
      <p:sp>
        <p:nvSpPr>
          <p:cNvPr id="35" name="!!evInR2"/>
          <p:cNvSpPr/>
          <p:nvPr/>
        </p:nvSpPr>
        <p:spPr>
          <a:xfrm>
            <a:off x="3319272" y="2468880"/>
            <a:ext cx="64008" cy="2011680"/>
          </a:xfrm>
          <a:prstGeom prst="rect">
            <a:avLst/>
          </a:prstGeom>
          <a:solidFill>
            <a:srgbClr val="1F2F6B"/>
          </a:solidFill>
          <a:ln/>
        </p:spPr>
      </p:sp>
      <p:sp>
        <p:nvSpPr>
          <p:cNvPr id="36" name="!!evInB2"/>
          <p:cNvSpPr/>
          <p:nvPr/>
        </p:nvSpPr>
        <p:spPr>
          <a:xfrm>
            <a:off x="2834640" y="4416552"/>
            <a:ext cx="548640" cy="64008"/>
          </a:xfrm>
          <a:prstGeom prst="rect">
            <a:avLst/>
          </a:prstGeom>
          <a:solidFill>
            <a:srgbClr val="1F2F6B">
              <a:alpha val="0"/>
            </a:srgbClr>
          </a:solidFill>
          <a:ln/>
        </p:spPr>
      </p:sp>
      <p:sp>
        <p:nvSpPr>
          <p:cNvPr id="37" name="!!card"/>
          <p:cNvSpPr/>
          <p:nvPr/>
        </p:nvSpPr>
        <p:spPr>
          <a:xfrm>
            <a:off x="6949440" y="1554480"/>
            <a:ext cx="4690872" cy="2240280"/>
          </a:xfrm>
          <a:prstGeom prst="roundRect">
            <a:avLst>
              <a:gd name="adj" fmla="val 3265"/>
            </a:avLst>
          </a:prstGeom>
          <a:solidFill>
            <a:srgbClr val="F4F5F7"/>
          </a:solidFill>
          <a:ln/>
        </p:spPr>
      </p:sp>
      <p:sp>
        <p:nvSpPr>
          <p:cNvPr id="38" name="!!cardn"/>
          <p:cNvSpPr/>
          <p:nvPr/>
        </p:nvSpPr>
        <p:spPr>
          <a:xfrm>
            <a:off x="7159752" y="1764792"/>
            <a:ext cx="347472" cy="347472"/>
          </a:xfrm>
          <a:prstGeom prst="ellipse">
            <a:avLst/>
          </a:prstGeom>
          <a:solidFill>
            <a:srgbClr val="3E6AE1"/>
          </a:solidFill>
          <a:ln/>
        </p:spPr>
      </p:sp>
      <p:sp>
        <p:nvSpPr>
          <p:cNvPr id="39" name="!!cardnt"/>
          <p:cNvSpPr txBox="1"/>
          <p:nvPr/>
        </p:nvSpPr>
        <p:spPr>
          <a:xfrm>
            <a:off x="715975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40" name="!!cardh"/>
          <p:cNvSpPr txBox="1"/>
          <p:nvPr/>
        </p:nvSpPr>
        <p:spPr>
          <a:xfrm>
            <a:off x="7635240" y="1773936"/>
            <a:ext cx="3822192" cy="347472"/>
          </a:xfrm>
          <a:prstGeom prst="rect">
            <a:avLst/>
          </a:prstGeom>
          <a:noFill/>
          <a:ln/>
        </p:spPr>
        <p:txBody>
          <a:bodyPr wrap="square" lIns="0" tIns="0" rIns="0" bIns="0" rtlCol="0" anchor="ctr"/>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Channel on three surfaces</a:t>
            </a:r>
            <a:endParaRPr lang="en-US" sz="1600" dirty="0"/>
          </a:p>
        </p:txBody>
      </p:sp>
      <p:sp>
        <p:nvSpPr>
          <p:cNvPr id="41" name="!!cardb"/>
          <p:cNvSpPr txBox="1"/>
          <p:nvPr/>
        </p:nvSpPr>
        <p:spPr>
          <a:xfrm>
            <a:off x="7178040" y="2267712"/>
            <a:ext cx="4233672" cy="137160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Above V</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T</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electrons gather on the top and both sides at once. Taller fin = more surface = more current.</a:t>
            </a:r>
            <a:endParaRPr lang="en-US" sz="1300" dirty="0"/>
          </a:p>
        </p:txBody>
      </p:sp>
      <p:sp>
        <p:nvSpPr>
          <p:cNvPr id="42" name="!!chip0"/>
          <p:cNvSpPr/>
          <p:nvPr/>
        </p:nvSpPr>
        <p:spPr>
          <a:xfrm>
            <a:off x="6949440" y="4023360"/>
            <a:ext cx="1490472" cy="685800"/>
          </a:xfrm>
          <a:prstGeom prst="roundRect">
            <a:avLst>
              <a:gd name="adj" fmla="val 8000"/>
            </a:avLst>
          </a:prstGeom>
          <a:solidFill>
            <a:srgbClr val="F4F5F7"/>
          </a:solidFill>
          <a:ln/>
        </p:spPr>
      </p:sp>
      <p:sp>
        <p:nvSpPr>
          <p:cNvPr id="43" name="!!chipk0"/>
          <p:cNvSpPr txBox="1"/>
          <p:nvPr/>
        </p:nvSpPr>
        <p:spPr>
          <a:xfrm>
            <a:off x="70591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gate sides N</a:t>
            </a:r>
            <a:endParaRPr lang="en-US" sz="1000" dirty="0"/>
          </a:p>
        </p:txBody>
      </p:sp>
      <p:sp>
        <p:nvSpPr>
          <p:cNvPr id="44" name="!!chipv0"/>
          <p:cNvSpPr txBox="1"/>
          <p:nvPr/>
        </p:nvSpPr>
        <p:spPr>
          <a:xfrm>
            <a:off x="70591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3</a:t>
            </a:r>
            <a:endParaRPr lang="en-US" sz="1500" dirty="0"/>
          </a:p>
        </p:txBody>
      </p:sp>
      <p:sp>
        <p:nvSpPr>
          <p:cNvPr id="45" name="!!chip1"/>
          <p:cNvSpPr/>
          <p:nvPr/>
        </p:nvSpPr>
        <p:spPr>
          <a:xfrm>
            <a:off x="8549640" y="4023360"/>
            <a:ext cx="1490472" cy="685800"/>
          </a:xfrm>
          <a:prstGeom prst="roundRect">
            <a:avLst>
              <a:gd name="adj" fmla="val 8000"/>
            </a:avLst>
          </a:prstGeom>
          <a:solidFill>
            <a:srgbClr val="F4F5F7"/>
          </a:solidFill>
          <a:ln/>
        </p:spPr>
      </p:sp>
      <p:sp>
        <p:nvSpPr>
          <p:cNvPr id="46" name="!!chipk1"/>
          <p:cNvSpPr txBox="1"/>
          <p:nvPr/>
        </p:nvSpPr>
        <p:spPr>
          <a:xfrm>
            <a:off x="86593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λ</a:t>
            </a:r>
            <a:endParaRPr lang="en-US" sz="1000" dirty="0"/>
          </a:p>
        </p:txBody>
      </p:sp>
      <p:sp>
        <p:nvSpPr>
          <p:cNvPr id="47" name="!!chipv1"/>
          <p:cNvSpPr txBox="1"/>
          <p:nvPr/>
        </p:nvSpPr>
        <p:spPr>
          <a:xfrm>
            <a:off x="86593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2.52 nm</a:t>
            </a:r>
            <a:endParaRPr lang="en-US" sz="1500" dirty="0"/>
          </a:p>
        </p:txBody>
      </p:sp>
      <p:sp>
        <p:nvSpPr>
          <p:cNvPr id="48" name="!!chip2"/>
          <p:cNvSpPr/>
          <p:nvPr/>
        </p:nvSpPr>
        <p:spPr>
          <a:xfrm>
            <a:off x="10149840" y="4023360"/>
            <a:ext cx="1490472" cy="685800"/>
          </a:xfrm>
          <a:prstGeom prst="roundRect">
            <a:avLst>
              <a:gd name="adj" fmla="val 8000"/>
            </a:avLst>
          </a:prstGeom>
          <a:solidFill>
            <a:srgbClr val="F4F5F7"/>
          </a:solidFill>
          <a:ln/>
        </p:spPr>
      </p:sp>
      <p:sp>
        <p:nvSpPr>
          <p:cNvPr id="49" name="!!chipk2"/>
          <p:cNvSpPr txBox="1"/>
          <p:nvPr/>
        </p:nvSpPr>
        <p:spPr>
          <a:xfrm>
            <a:off x="102595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DIBL at 14 nm</a:t>
            </a:r>
            <a:endParaRPr lang="en-US" sz="1000" dirty="0"/>
          </a:p>
        </p:txBody>
      </p:sp>
      <p:sp>
        <p:nvSpPr>
          <p:cNvPr id="50" name="!!chipv2"/>
          <p:cNvSpPr txBox="1"/>
          <p:nvPr/>
        </p:nvSpPr>
        <p:spPr>
          <a:xfrm>
            <a:off x="102595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62 mV/V</a:t>
            </a:r>
            <a:endParaRPr lang="en-US" sz="1500" dirty="0"/>
          </a:p>
        </p:txBody>
      </p:sp>
      <p:sp>
        <p:nvSpPr>
          <p:cNvPr id="51" name="!!evSS"/>
          <p:cNvSpPr txBox="1"/>
          <p:nvPr/>
        </p:nvSpPr>
        <p:spPr>
          <a:xfrm>
            <a:off x="6949440" y="4892040"/>
            <a:ext cx="4663440" cy="27432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SS at 14 nm: 68 mV/dec   (simple λ model, same 8 nm silicon)</a:t>
            </a:r>
            <a:endParaRPr lang="en-US" sz="1100" dirty="0"/>
          </a:p>
        </p:txBody>
      </p:sp>
      <p:sp>
        <p:nvSpPr>
          <p:cNvPr id="52"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 channel forms on three surfaces at once.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51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From planar to GAA – One camera, four transistors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Looking along the channel: current flows into the screen</a:t>
            </a:r>
            <a:endParaRPr lang="en-US" sz="1600" dirty="0"/>
          </a:p>
        </p:txBody>
      </p:sp>
      <p:sp>
        <p:nvSpPr>
          <p:cNvPr id="4" name="!!sdot0"/>
          <p:cNvSpPr/>
          <p:nvPr/>
        </p:nvSpPr>
        <p:spPr>
          <a:xfrm>
            <a:off x="10666476" y="525780"/>
            <a:ext cx="82296" cy="82296"/>
          </a:xfrm>
          <a:prstGeom prst="ellipse">
            <a:avLst/>
          </a:prstGeom>
          <a:solidFill>
            <a:srgbClr val="171A20"/>
          </a:solidFill>
          <a:ln/>
        </p:spPr>
      </p:sp>
      <p:sp>
        <p:nvSpPr>
          <p:cNvPr id="5" name="!!sdot1"/>
          <p:cNvSpPr/>
          <p:nvPr/>
        </p:nvSpPr>
        <p:spPr>
          <a:xfrm>
            <a:off x="10821924" y="525780"/>
            <a:ext cx="82296" cy="82296"/>
          </a:xfrm>
          <a:prstGeom prst="ellipse">
            <a:avLst/>
          </a:prstGeom>
          <a:solidFill>
            <a:srgbClr val="171A20"/>
          </a:solidFill>
          <a:ln/>
        </p:spPr>
      </p:sp>
      <p:sp>
        <p:nvSpPr>
          <p:cNvPr id="6" name="!!sdot2"/>
          <p:cNvSpPr/>
          <p:nvPr/>
        </p:nvSpPr>
        <p:spPr>
          <a:xfrm>
            <a:off x="10977372" y="525780"/>
            <a:ext cx="82296" cy="82296"/>
          </a:xfrm>
          <a:prstGeom prst="ellipse">
            <a:avLst/>
          </a:prstGeom>
          <a:solidFill>
            <a:srgbClr val="171A20"/>
          </a:solidFill>
          <a:ln/>
        </p:spPr>
      </p:sp>
      <p:sp>
        <p:nvSpPr>
          <p:cNvPr id="7" name="!!sdot3"/>
          <p:cNvSpPr/>
          <p:nvPr/>
        </p:nvSpPr>
        <p:spPr>
          <a:xfrm>
            <a:off x="11132820" y="525780"/>
            <a:ext cx="82296" cy="82296"/>
          </a:xfrm>
          <a:prstGeom prst="ellipse">
            <a:avLst/>
          </a:prstGeom>
          <a:solidFill>
            <a:srgbClr val="171A20"/>
          </a:solidFill>
          <a:ln/>
        </p:spPr>
      </p:sp>
      <p:sp>
        <p:nvSpPr>
          <p:cNvPr id="8" name="!!sdot4"/>
          <p:cNvSpPr/>
          <p:nvPr/>
        </p:nvSpPr>
        <p:spPr>
          <a:xfrm>
            <a:off x="11288268" y="525780"/>
            <a:ext cx="82296" cy="82296"/>
          </a:xfrm>
          <a:prstGeom prst="ellipse">
            <a:avLst/>
          </a:prstGeom>
          <a:solidFill>
            <a:srgbClr val="171A20"/>
          </a:solidFill>
          <a:ln/>
        </p:spPr>
      </p:sp>
      <p:sp>
        <p:nvSpPr>
          <p:cNvPr id="9" name="!!sdot5"/>
          <p:cNvSpPr/>
          <p:nvPr/>
        </p:nvSpPr>
        <p:spPr>
          <a:xfrm>
            <a:off x="11443716" y="525780"/>
            <a:ext cx="82296" cy="82296"/>
          </a:xfrm>
          <a:prstGeom prst="ellipse">
            <a:avLst/>
          </a:prstGeom>
          <a:solidFill>
            <a:srgbClr val="E2E3E3"/>
          </a:solidFill>
          <a:ln/>
        </p:spPr>
      </p:sp>
      <p:sp>
        <p:nvSpPr>
          <p:cNvPr id="10" name="!!sdot6"/>
          <p:cNvSpPr/>
          <p:nvPr/>
        </p:nvSpPr>
        <p:spPr>
          <a:xfrm>
            <a:off x="11599164" y="525780"/>
            <a:ext cx="82296" cy="82296"/>
          </a:xfrm>
          <a:prstGeom prst="ellipse">
            <a:avLst/>
          </a:prstGeom>
          <a:solidFill>
            <a:srgbClr val="E2E3E3"/>
          </a:solidFill>
          <a:ln/>
        </p:spPr>
      </p:sp>
      <p:sp>
        <p:nvSpPr>
          <p:cNvPr id="11" name="!!evSub"/>
          <p:cNvSpPr/>
          <p:nvPr/>
        </p:nvSpPr>
        <p:spPr>
          <a:xfrm>
            <a:off x="822960" y="4480560"/>
            <a:ext cx="4572000" cy="914400"/>
          </a:xfrm>
          <a:prstGeom prst="rect">
            <a:avLst/>
          </a:prstGeom>
          <a:solidFill>
            <a:srgbClr val="EDE3C8"/>
          </a:solidFill>
          <a:ln/>
        </p:spPr>
      </p:sp>
      <p:sp>
        <p:nvSpPr>
          <p:cNvPr id="12" name="!!evSubL"/>
          <p:cNvSpPr txBox="1"/>
          <p:nvPr/>
        </p:nvSpPr>
        <p:spPr>
          <a:xfrm>
            <a:off x="3931920" y="5102352"/>
            <a:ext cx="1371600" cy="256032"/>
          </a:xfrm>
          <a:prstGeom prst="rect">
            <a:avLst/>
          </a:prstGeom>
          <a:noFill/>
          <a:ln/>
        </p:spPr>
        <p:txBody>
          <a:bodyPr wrap="square" lIns="0" tIns="0" rIns="0" bIns="0" rtlCol="0" anchor="t"/>
          <a:lstStyle/>
          <a:p>
            <a:pPr algn="r" indent="0" marL="0">
              <a:buNone/>
            </a:pPr>
            <a:r>
              <a:rPr lang="en-US" sz="1000" dirty="0">
                <a:solidFill>
                  <a:srgbClr val="8A6D1F"/>
                </a:solidFill>
                <a:latin typeface="Segoe UI" pitchFamily="34" charset="0"/>
                <a:ea typeface="Segoe UI" pitchFamily="34" charset="-122"/>
                <a:cs typeface="Segoe UI" pitchFamily="34" charset="-120"/>
              </a:rPr>
              <a:t>silicon substrate</a:t>
            </a:r>
            <a:endParaRPr lang="en-US" sz="1000" dirty="0"/>
          </a:p>
        </p:txBody>
      </p:sp>
      <p:sp>
        <p:nvSpPr>
          <p:cNvPr id="13" name="!!evIsoL"/>
          <p:cNvSpPr/>
          <p:nvPr/>
        </p:nvSpPr>
        <p:spPr>
          <a:xfrm>
            <a:off x="822960" y="4160520"/>
            <a:ext cx="1554480" cy="320040"/>
          </a:xfrm>
          <a:prstGeom prst="rect">
            <a:avLst/>
          </a:prstGeom>
          <a:solidFill>
            <a:srgbClr val="D9DCE3"/>
          </a:solidFill>
          <a:ln/>
        </p:spPr>
      </p:sp>
      <p:sp>
        <p:nvSpPr>
          <p:cNvPr id="14" name="!!evIsoR"/>
          <p:cNvSpPr/>
          <p:nvPr/>
        </p:nvSpPr>
        <p:spPr>
          <a:xfrm>
            <a:off x="3840480" y="4160520"/>
            <a:ext cx="1554480" cy="320040"/>
          </a:xfrm>
          <a:prstGeom prst="rect">
            <a:avLst/>
          </a:prstGeom>
          <a:solidFill>
            <a:srgbClr val="D9DCE3"/>
          </a:solidFill>
          <a:ln/>
        </p:spPr>
      </p:sp>
      <p:sp>
        <p:nvSpPr>
          <p:cNvPr id="15" name="!!evIsoT"/>
          <p:cNvSpPr txBox="1"/>
          <p:nvPr/>
        </p:nvSpPr>
        <p:spPr>
          <a:xfrm>
            <a:off x="868680" y="4187952"/>
            <a:ext cx="1463040" cy="256032"/>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isolation oxide</a:t>
            </a:r>
            <a:endParaRPr lang="en-US" sz="900" dirty="0"/>
          </a:p>
        </p:txBody>
      </p:sp>
      <p:sp>
        <p:nvSpPr>
          <p:cNvPr id="16" name="!!evGate"/>
          <p:cNvSpPr/>
          <p:nvPr/>
        </p:nvSpPr>
        <p:spPr>
          <a:xfrm>
            <a:off x="2331720" y="1965960"/>
            <a:ext cx="1554480" cy="1920240"/>
          </a:xfrm>
          <a:prstGeom prst="roundRect">
            <a:avLst>
              <a:gd name="adj" fmla="val 2941"/>
            </a:avLst>
          </a:prstGeom>
          <a:solidFill>
            <a:srgbClr val="B3A6E6"/>
          </a:solidFill>
          <a:ln/>
        </p:spPr>
      </p:sp>
      <p:sp>
        <p:nvSpPr>
          <p:cNvPr id="17" name="!!evGateL"/>
          <p:cNvSpPr txBox="1"/>
          <p:nvPr/>
        </p:nvSpPr>
        <p:spPr>
          <a:xfrm>
            <a:off x="5486400" y="2011680"/>
            <a:ext cx="1371600" cy="457200"/>
          </a:xfrm>
          <a:prstGeom prst="rect">
            <a:avLst/>
          </a:prstGeom>
          <a:noFill/>
          <a:ln/>
        </p:spPr>
        <p:txBody>
          <a:bodyPr wrap="square" lIns="0" tIns="0" rIns="0" bIns="0" rtlCol="0" anchor="t"/>
          <a:lstStyle/>
          <a:p>
            <a:pPr algn="l" indent="0" marL="0">
              <a:buNone/>
            </a:pPr>
            <a:r>
              <a:rPr lang="en-US" sz="1000" dirty="0">
                <a:solidFill>
                  <a:srgbClr val="6B5BC4"/>
                </a:solidFill>
                <a:latin typeface="Segoe UI Semibold" pitchFamily="34" charset="0"/>
                <a:ea typeface="Segoe UI Semibold" pitchFamily="34" charset="-122"/>
                <a:cs typeface="Segoe UI Semibold" pitchFamily="34" charset="-120"/>
              </a:rPr>
              <a:t>gate wraps 3 sides</a:t>
            </a:r>
            <a:endParaRPr lang="en-US" sz="1000" dirty="0"/>
          </a:p>
        </p:txBody>
      </p:sp>
      <p:sp>
        <p:nvSpPr>
          <p:cNvPr id="18" name="!!evGateLn"/>
          <p:cNvSpPr/>
          <p:nvPr/>
        </p:nvSpPr>
        <p:spPr>
          <a:xfrm>
            <a:off x="3931920" y="2148840"/>
            <a:ext cx="1554480" cy="91"/>
          </a:xfrm>
          <a:prstGeom prst="line">
            <a:avLst/>
          </a:prstGeom>
          <a:noFill/>
          <a:ln w="9525">
            <a:solidFill>
              <a:srgbClr val="6B5BC4"/>
            </a:solidFill>
            <a:prstDash val="solid"/>
          </a:ln>
        </p:spPr>
      </p:sp>
      <p:sp>
        <p:nvSpPr>
          <p:cNvPr id="19" name="!!evOx0"/>
          <p:cNvSpPr/>
          <p:nvPr/>
        </p:nvSpPr>
        <p:spPr>
          <a:xfrm>
            <a:off x="2779776" y="2414016"/>
            <a:ext cx="658368" cy="2066544"/>
          </a:xfrm>
          <a:prstGeom prst="rect">
            <a:avLst/>
          </a:prstGeom>
          <a:solidFill>
            <a:srgbClr val="8FCBE0"/>
          </a:solidFill>
          <a:ln/>
        </p:spPr>
      </p:sp>
      <p:sp>
        <p:nvSpPr>
          <p:cNvPr id="20" name="!!evCh0"/>
          <p:cNvSpPr/>
          <p:nvPr/>
        </p:nvSpPr>
        <p:spPr>
          <a:xfrm>
            <a:off x="2834640" y="2468880"/>
            <a:ext cx="548640" cy="2011680"/>
          </a:xfrm>
          <a:prstGeom prst="rect">
            <a:avLst/>
          </a:prstGeom>
          <a:solidFill>
            <a:srgbClr val="F6E7B8"/>
          </a:solidFill>
          <a:ln/>
        </p:spPr>
      </p:sp>
      <p:sp>
        <p:nvSpPr>
          <p:cNvPr id="21" name="!!evInT0"/>
          <p:cNvSpPr/>
          <p:nvPr/>
        </p:nvSpPr>
        <p:spPr>
          <a:xfrm>
            <a:off x="2834640" y="2468880"/>
            <a:ext cx="548640" cy="64008"/>
          </a:xfrm>
          <a:prstGeom prst="rect">
            <a:avLst/>
          </a:prstGeom>
          <a:solidFill>
            <a:srgbClr val="1F2F6B"/>
          </a:solidFill>
          <a:ln/>
        </p:spPr>
      </p:sp>
      <p:sp>
        <p:nvSpPr>
          <p:cNvPr id="22" name="!!evInL0"/>
          <p:cNvSpPr/>
          <p:nvPr/>
        </p:nvSpPr>
        <p:spPr>
          <a:xfrm>
            <a:off x="2834640" y="2468880"/>
            <a:ext cx="64008" cy="2011680"/>
          </a:xfrm>
          <a:prstGeom prst="rect">
            <a:avLst/>
          </a:prstGeom>
          <a:solidFill>
            <a:srgbClr val="1F2F6B"/>
          </a:solidFill>
          <a:ln/>
        </p:spPr>
      </p:sp>
      <p:sp>
        <p:nvSpPr>
          <p:cNvPr id="23" name="!!evInR0"/>
          <p:cNvSpPr/>
          <p:nvPr/>
        </p:nvSpPr>
        <p:spPr>
          <a:xfrm>
            <a:off x="3319272" y="2468880"/>
            <a:ext cx="64008" cy="2011680"/>
          </a:xfrm>
          <a:prstGeom prst="rect">
            <a:avLst/>
          </a:prstGeom>
          <a:solidFill>
            <a:srgbClr val="1F2F6B"/>
          </a:solidFill>
          <a:ln/>
        </p:spPr>
      </p:sp>
      <p:sp>
        <p:nvSpPr>
          <p:cNvPr id="24" name="!!evInB0"/>
          <p:cNvSpPr/>
          <p:nvPr/>
        </p:nvSpPr>
        <p:spPr>
          <a:xfrm>
            <a:off x="2834640" y="4416552"/>
            <a:ext cx="548640" cy="64008"/>
          </a:xfrm>
          <a:prstGeom prst="rect">
            <a:avLst/>
          </a:prstGeom>
          <a:solidFill>
            <a:srgbClr val="1F2F6B">
              <a:alpha val="0"/>
            </a:srgbClr>
          </a:solidFill>
          <a:ln/>
        </p:spPr>
      </p:sp>
      <p:sp>
        <p:nvSpPr>
          <p:cNvPr id="25" name="!!evOx1"/>
          <p:cNvSpPr/>
          <p:nvPr/>
        </p:nvSpPr>
        <p:spPr>
          <a:xfrm>
            <a:off x="2779776" y="2414016"/>
            <a:ext cx="658368" cy="2066544"/>
          </a:xfrm>
          <a:prstGeom prst="rect">
            <a:avLst/>
          </a:prstGeom>
          <a:solidFill>
            <a:srgbClr val="8FCBE0"/>
          </a:solidFill>
          <a:ln/>
        </p:spPr>
      </p:sp>
      <p:sp>
        <p:nvSpPr>
          <p:cNvPr id="26" name="!!evCh1"/>
          <p:cNvSpPr/>
          <p:nvPr/>
        </p:nvSpPr>
        <p:spPr>
          <a:xfrm>
            <a:off x="2834640" y="2468880"/>
            <a:ext cx="548640" cy="2011680"/>
          </a:xfrm>
          <a:prstGeom prst="rect">
            <a:avLst/>
          </a:prstGeom>
          <a:solidFill>
            <a:srgbClr val="F6E7B8"/>
          </a:solidFill>
          <a:ln/>
        </p:spPr>
      </p:sp>
      <p:sp>
        <p:nvSpPr>
          <p:cNvPr id="27" name="!!evInT1"/>
          <p:cNvSpPr/>
          <p:nvPr/>
        </p:nvSpPr>
        <p:spPr>
          <a:xfrm>
            <a:off x="2834640" y="2468880"/>
            <a:ext cx="548640" cy="64008"/>
          </a:xfrm>
          <a:prstGeom prst="rect">
            <a:avLst/>
          </a:prstGeom>
          <a:solidFill>
            <a:srgbClr val="1F2F6B"/>
          </a:solidFill>
          <a:ln/>
        </p:spPr>
      </p:sp>
      <p:sp>
        <p:nvSpPr>
          <p:cNvPr id="28" name="!!evInL1"/>
          <p:cNvSpPr/>
          <p:nvPr/>
        </p:nvSpPr>
        <p:spPr>
          <a:xfrm>
            <a:off x="2834640" y="2468880"/>
            <a:ext cx="64008" cy="2011680"/>
          </a:xfrm>
          <a:prstGeom prst="rect">
            <a:avLst/>
          </a:prstGeom>
          <a:solidFill>
            <a:srgbClr val="1F2F6B"/>
          </a:solidFill>
          <a:ln/>
        </p:spPr>
      </p:sp>
      <p:sp>
        <p:nvSpPr>
          <p:cNvPr id="29" name="!!evInR1"/>
          <p:cNvSpPr/>
          <p:nvPr/>
        </p:nvSpPr>
        <p:spPr>
          <a:xfrm>
            <a:off x="3319272" y="2468880"/>
            <a:ext cx="64008" cy="2011680"/>
          </a:xfrm>
          <a:prstGeom prst="rect">
            <a:avLst/>
          </a:prstGeom>
          <a:solidFill>
            <a:srgbClr val="1F2F6B"/>
          </a:solidFill>
          <a:ln/>
        </p:spPr>
      </p:sp>
      <p:sp>
        <p:nvSpPr>
          <p:cNvPr id="30" name="!!evInB1"/>
          <p:cNvSpPr/>
          <p:nvPr/>
        </p:nvSpPr>
        <p:spPr>
          <a:xfrm>
            <a:off x="2834640" y="4416552"/>
            <a:ext cx="548640" cy="64008"/>
          </a:xfrm>
          <a:prstGeom prst="rect">
            <a:avLst/>
          </a:prstGeom>
          <a:solidFill>
            <a:srgbClr val="1F2F6B">
              <a:alpha val="0"/>
            </a:srgbClr>
          </a:solidFill>
          <a:ln/>
        </p:spPr>
      </p:sp>
      <p:sp>
        <p:nvSpPr>
          <p:cNvPr id="31" name="!!evOx2"/>
          <p:cNvSpPr/>
          <p:nvPr/>
        </p:nvSpPr>
        <p:spPr>
          <a:xfrm>
            <a:off x="2779776" y="2414016"/>
            <a:ext cx="658368" cy="2066544"/>
          </a:xfrm>
          <a:prstGeom prst="rect">
            <a:avLst/>
          </a:prstGeom>
          <a:solidFill>
            <a:srgbClr val="8FCBE0"/>
          </a:solidFill>
          <a:ln/>
        </p:spPr>
      </p:sp>
      <p:sp>
        <p:nvSpPr>
          <p:cNvPr id="32" name="!!evCh2"/>
          <p:cNvSpPr/>
          <p:nvPr/>
        </p:nvSpPr>
        <p:spPr>
          <a:xfrm>
            <a:off x="2834640" y="2468880"/>
            <a:ext cx="548640" cy="2011680"/>
          </a:xfrm>
          <a:prstGeom prst="rect">
            <a:avLst/>
          </a:prstGeom>
          <a:solidFill>
            <a:srgbClr val="F6E7B8"/>
          </a:solidFill>
          <a:ln/>
        </p:spPr>
      </p:sp>
      <p:sp>
        <p:nvSpPr>
          <p:cNvPr id="33" name="!!evInT2"/>
          <p:cNvSpPr/>
          <p:nvPr/>
        </p:nvSpPr>
        <p:spPr>
          <a:xfrm>
            <a:off x="2834640" y="2468880"/>
            <a:ext cx="548640" cy="64008"/>
          </a:xfrm>
          <a:prstGeom prst="rect">
            <a:avLst/>
          </a:prstGeom>
          <a:solidFill>
            <a:srgbClr val="1F2F6B"/>
          </a:solidFill>
          <a:ln/>
        </p:spPr>
      </p:sp>
      <p:sp>
        <p:nvSpPr>
          <p:cNvPr id="34" name="!!evInL2"/>
          <p:cNvSpPr/>
          <p:nvPr/>
        </p:nvSpPr>
        <p:spPr>
          <a:xfrm>
            <a:off x="2834640" y="2468880"/>
            <a:ext cx="64008" cy="2011680"/>
          </a:xfrm>
          <a:prstGeom prst="rect">
            <a:avLst/>
          </a:prstGeom>
          <a:solidFill>
            <a:srgbClr val="1F2F6B"/>
          </a:solidFill>
          <a:ln/>
        </p:spPr>
      </p:sp>
      <p:sp>
        <p:nvSpPr>
          <p:cNvPr id="35" name="!!evInR2"/>
          <p:cNvSpPr/>
          <p:nvPr/>
        </p:nvSpPr>
        <p:spPr>
          <a:xfrm>
            <a:off x="3319272" y="2468880"/>
            <a:ext cx="64008" cy="2011680"/>
          </a:xfrm>
          <a:prstGeom prst="rect">
            <a:avLst/>
          </a:prstGeom>
          <a:solidFill>
            <a:srgbClr val="1F2F6B"/>
          </a:solidFill>
          <a:ln/>
        </p:spPr>
      </p:sp>
      <p:sp>
        <p:nvSpPr>
          <p:cNvPr id="36" name="!!evInB2"/>
          <p:cNvSpPr/>
          <p:nvPr/>
        </p:nvSpPr>
        <p:spPr>
          <a:xfrm>
            <a:off x="2834640" y="4416552"/>
            <a:ext cx="548640" cy="64008"/>
          </a:xfrm>
          <a:prstGeom prst="rect">
            <a:avLst/>
          </a:prstGeom>
          <a:solidFill>
            <a:srgbClr val="1F2F6B">
              <a:alpha val="0"/>
            </a:srgbClr>
          </a:solidFill>
          <a:ln/>
        </p:spPr>
      </p:sp>
      <p:sp>
        <p:nvSpPr>
          <p:cNvPr id="37" name="!!evLeak"/>
          <p:cNvSpPr/>
          <p:nvPr/>
        </p:nvSpPr>
        <p:spPr>
          <a:xfrm>
            <a:off x="2651760" y="4325112"/>
            <a:ext cx="914400" cy="402336"/>
          </a:xfrm>
          <a:prstGeom prst="ellipse">
            <a:avLst/>
          </a:prstGeom>
          <a:ln w="28575">
            <a:solidFill>
              <a:srgbClr val="D64545"/>
            </a:solidFill>
            <a:prstDash val="solid"/>
          </a:ln>
        </p:spPr>
      </p:sp>
      <p:sp>
        <p:nvSpPr>
          <p:cNvPr id="38" name="!!evLeakL"/>
          <p:cNvSpPr txBox="1"/>
          <p:nvPr/>
        </p:nvSpPr>
        <p:spPr>
          <a:xfrm>
            <a:off x="1737360" y="4754880"/>
            <a:ext cx="2743200" cy="228600"/>
          </a:xfrm>
          <a:prstGeom prst="rect">
            <a:avLst/>
          </a:prstGeom>
          <a:noFill/>
          <a:ln/>
        </p:spPr>
        <p:txBody>
          <a:bodyPr wrap="square" lIns="0" tIns="0" rIns="0" bIns="0" rtlCol="0" anchor="t"/>
          <a:lstStyle/>
          <a:p>
            <a:pPr algn="ctr" indent="0" marL="0">
              <a:buNone/>
            </a:pPr>
            <a:r>
              <a:rPr lang="en-US" sz="1000" dirty="0">
                <a:solidFill>
                  <a:srgbClr val="D64545"/>
                </a:solidFill>
                <a:latin typeface="Segoe UI Semibold" pitchFamily="34" charset="0"/>
                <a:ea typeface="Segoe UI Semibold" pitchFamily="34" charset="-122"/>
                <a:cs typeface="Segoe UI Semibold" pitchFamily="34" charset="-120"/>
              </a:rPr>
              <a:t>bottom: no gate here</a:t>
            </a:r>
            <a:endParaRPr lang="en-US" sz="1000" dirty="0"/>
          </a:p>
        </p:txBody>
      </p:sp>
      <p:sp>
        <p:nvSpPr>
          <p:cNvPr id="39" name="!!card"/>
          <p:cNvSpPr/>
          <p:nvPr/>
        </p:nvSpPr>
        <p:spPr>
          <a:xfrm>
            <a:off x="6949440" y="1554480"/>
            <a:ext cx="4690872" cy="2240280"/>
          </a:xfrm>
          <a:prstGeom prst="roundRect">
            <a:avLst>
              <a:gd name="adj" fmla="val 3265"/>
            </a:avLst>
          </a:prstGeom>
          <a:solidFill>
            <a:srgbClr val="F4F5F7"/>
          </a:solidFill>
          <a:ln/>
        </p:spPr>
      </p:sp>
      <p:sp>
        <p:nvSpPr>
          <p:cNvPr id="40" name="!!cardn"/>
          <p:cNvSpPr/>
          <p:nvPr/>
        </p:nvSpPr>
        <p:spPr>
          <a:xfrm>
            <a:off x="7159752" y="1764792"/>
            <a:ext cx="347472" cy="347472"/>
          </a:xfrm>
          <a:prstGeom prst="ellipse">
            <a:avLst/>
          </a:prstGeom>
          <a:solidFill>
            <a:srgbClr val="3E6AE1"/>
          </a:solidFill>
          <a:ln/>
        </p:spPr>
      </p:sp>
      <p:sp>
        <p:nvSpPr>
          <p:cNvPr id="41" name="!!cardnt"/>
          <p:cNvSpPr txBox="1"/>
          <p:nvPr/>
        </p:nvSpPr>
        <p:spPr>
          <a:xfrm>
            <a:off x="715975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2" name="!!cardh"/>
          <p:cNvSpPr txBox="1"/>
          <p:nvPr/>
        </p:nvSpPr>
        <p:spPr>
          <a:xfrm>
            <a:off x="7635240" y="1773936"/>
            <a:ext cx="3822192" cy="347472"/>
          </a:xfrm>
          <a:prstGeom prst="rect">
            <a:avLst/>
          </a:prstGeom>
          <a:noFill/>
          <a:ln/>
        </p:spPr>
        <p:txBody>
          <a:bodyPr wrap="square" lIns="0" tIns="0" rIns="0" bIns="0" rtlCol="0" anchor="ctr"/>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But the bottom is open</a:t>
            </a:r>
            <a:endParaRPr lang="en-US" sz="1600" dirty="0"/>
          </a:p>
        </p:txBody>
      </p:sp>
      <p:sp>
        <p:nvSpPr>
          <p:cNvPr id="43" name="!!cardb"/>
          <p:cNvSpPr txBox="1"/>
          <p:nvPr/>
        </p:nvSpPr>
        <p:spPr>
          <a:xfrm>
            <a:off x="7178040" y="2267712"/>
            <a:ext cx="4233672" cy="137160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The fin bottom sits in the substrate with no gate there: some leakage remains. Fix: cut the channel free from the substrate.</a:t>
            </a:r>
            <a:endParaRPr lang="en-US" sz="1300" dirty="0"/>
          </a:p>
        </p:txBody>
      </p:sp>
      <p:sp>
        <p:nvSpPr>
          <p:cNvPr id="44" name="!!chip0"/>
          <p:cNvSpPr/>
          <p:nvPr/>
        </p:nvSpPr>
        <p:spPr>
          <a:xfrm>
            <a:off x="6949440" y="4023360"/>
            <a:ext cx="1490472" cy="685800"/>
          </a:xfrm>
          <a:prstGeom prst="roundRect">
            <a:avLst>
              <a:gd name="adj" fmla="val 8000"/>
            </a:avLst>
          </a:prstGeom>
          <a:solidFill>
            <a:srgbClr val="F4F5F7"/>
          </a:solidFill>
          <a:ln/>
        </p:spPr>
      </p:sp>
      <p:sp>
        <p:nvSpPr>
          <p:cNvPr id="45" name="!!chipk0"/>
          <p:cNvSpPr txBox="1"/>
          <p:nvPr/>
        </p:nvSpPr>
        <p:spPr>
          <a:xfrm>
            <a:off x="70591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gate sides N</a:t>
            </a:r>
            <a:endParaRPr lang="en-US" sz="1000" dirty="0"/>
          </a:p>
        </p:txBody>
      </p:sp>
      <p:sp>
        <p:nvSpPr>
          <p:cNvPr id="46" name="!!chipv0"/>
          <p:cNvSpPr txBox="1"/>
          <p:nvPr/>
        </p:nvSpPr>
        <p:spPr>
          <a:xfrm>
            <a:off x="70591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3</a:t>
            </a:r>
            <a:endParaRPr lang="en-US" sz="1500" dirty="0"/>
          </a:p>
        </p:txBody>
      </p:sp>
      <p:sp>
        <p:nvSpPr>
          <p:cNvPr id="47" name="!!chip1"/>
          <p:cNvSpPr/>
          <p:nvPr/>
        </p:nvSpPr>
        <p:spPr>
          <a:xfrm>
            <a:off x="8549640" y="4023360"/>
            <a:ext cx="1490472" cy="685800"/>
          </a:xfrm>
          <a:prstGeom prst="roundRect">
            <a:avLst>
              <a:gd name="adj" fmla="val 8000"/>
            </a:avLst>
          </a:prstGeom>
          <a:solidFill>
            <a:srgbClr val="F4F5F7"/>
          </a:solidFill>
          <a:ln/>
        </p:spPr>
      </p:sp>
      <p:sp>
        <p:nvSpPr>
          <p:cNvPr id="48" name="!!chipk1"/>
          <p:cNvSpPr txBox="1"/>
          <p:nvPr/>
        </p:nvSpPr>
        <p:spPr>
          <a:xfrm>
            <a:off x="86593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λ</a:t>
            </a:r>
            <a:endParaRPr lang="en-US" sz="1000" dirty="0"/>
          </a:p>
        </p:txBody>
      </p:sp>
      <p:sp>
        <p:nvSpPr>
          <p:cNvPr id="49" name="!!chipv1"/>
          <p:cNvSpPr txBox="1"/>
          <p:nvPr/>
        </p:nvSpPr>
        <p:spPr>
          <a:xfrm>
            <a:off x="86593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2.52 nm</a:t>
            </a:r>
            <a:endParaRPr lang="en-US" sz="1500" dirty="0"/>
          </a:p>
        </p:txBody>
      </p:sp>
      <p:sp>
        <p:nvSpPr>
          <p:cNvPr id="50" name="!!chip2"/>
          <p:cNvSpPr/>
          <p:nvPr/>
        </p:nvSpPr>
        <p:spPr>
          <a:xfrm>
            <a:off x="10149840" y="4023360"/>
            <a:ext cx="1490472" cy="685800"/>
          </a:xfrm>
          <a:prstGeom prst="roundRect">
            <a:avLst>
              <a:gd name="adj" fmla="val 8000"/>
            </a:avLst>
          </a:prstGeom>
          <a:solidFill>
            <a:srgbClr val="F4F5F7"/>
          </a:solidFill>
          <a:ln/>
        </p:spPr>
      </p:sp>
      <p:sp>
        <p:nvSpPr>
          <p:cNvPr id="51" name="!!chipk2"/>
          <p:cNvSpPr txBox="1"/>
          <p:nvPr/>
        </p:nvSpPr>
        <p:spPr>
          <a:xfrm>
            <a:off x="102595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DIBL at 14 nm</a:t>
            </a:r>
            <a:endParaRPr lang="en-US" sz="1000" dirty="0"/>
          </a:p>
        </p:txBody>
      </p:sp>
      <p:sp>
        <p:nvSpPr>
          <p:cNvPr id="52" name="!!chipv2"/>
          <p:cNvSpPr txBox="1"/>
          <p:nvPr/>
        </p:nvSpPr>
        <p:spPr>
          <a:xfrm>
            <a:off x="102595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62 mV/V</a:t>
            </a:r>
            <a:endParaRPr lang="en-US" sz="1500" dirty="0"/>
          </a:p>
        </p:txBody>
      </p:sp>
      <p:sp>
        <p:nvSpPr>
          <p:cNvPr id="53" name="!!evSS"/>
          <p:cNvSpPr txBox="1"/>
          <p:nvPr/>
        </p:nvSpPr>
        <p:spPr>
          <a:xfrm>
            <a:off x="6949440" y="4892040"/>
            <a:ext cx="4663440" cy="27432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SS at 14 nm: 68 mV/dec   (simple λ model, same 8 nm silicon)</a:t>
            </a:r>
            <a:endParaRPr lang="en-US" sz="1100" dirty="0"/>
          </a:p>
        </p:txBody>
      </p:sp>
      <p:sp>
        <p:nvSpPr>
          <p:cNvPr id="54"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 open bottom is the FinFET's weak spot.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52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From planar to GAA – One camera, four transistors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Looking along the channel: current flows into the screen</a:t>
            </a:r>
            <a:endParaRPr lang="en-US" sz="1600" dirty="0"/>
          </a:p>
        </p:txBody>
      </p:sp>
      <p:sp>
        <p:nvSpPr>
          <p:cNvPr id="4" name="!!sdot0"/>
          <p:cNvSpPr/>
          <p:nvPr/>
        </p:nvSpPr>
        <p:spPr>
          <a:xfrm>
            <a:off x="10666476" y="525780"/>
            <a:ext cx="82296" cy="82296"/>
          </a:xfrm>
          <a:prstGeom prst="ellipse">
            <a:avLst/>
          </a:prstGeom>
          <a:solidFill>
            <a:srgbClr val="171A20"/>
          </a:solidFill>
          <a:ln/>
        </p:spPr>
      </p:sp>
      <p:sp>
        <p:nvSpPr>
          <p:cNvPr id="5" name="!!sdot1"/>
          <p:cNvSpPr/>
          <p:nvPr/>
        </p:nvSpPr>
        <p:spPr>
          <a:xfrm>
            <a:off x="10821924" y="525780"/>
            <a:ext cx="82296" cy="82296"/>
          </a:xfrm>
          <a:prstGeom prst="ellipse">
            <a:avLst/>
          </a:prstGeom>
          <a:solidFill>
            <a:srgbClr val="171A20"/>
          </a:solidFill>
          <a:ln/>
        </p:spPr>
      </p:sp>
      <p:sp>
        <p:nvSpPr>
          <p:cNvPr id="6" name="!!sdot2"/>
          <p:cNvSpPr/>
          <p:nvPr/>
        </p:nvSpPr>
        <p:spPr>
          <a:xfrm>
            <a:off x="10977372" y="525780"/>
            <a:ext cx="82296" cy="82296"/>
          </a:xfrm>
          <a:prstGeom prst="ellipse">
            <a:avLst/>
          </a:prstGeom>
          <a:solidFill>
            <a:srgbClr val="171A20"/>
          </a:solidFill>
          <a:ln/>
        </p:spPr>
      </p:sp>
      <p:sp>
        <p:nvSpPr>
          <p:cNvPr id="7" name="!!sdot3"/>
          <p:cNvSpPr/>
          <p:nvPr/>
        </p:nvSpPr>
        <p:spPr>
          <a:xfrm>
            <a:off x="11132820" y="525780"/>
            <a:ext cx="82296" cy="82296"/>
          </a:xfrm>
          <a:prstGeom prst="ellipse">
            <a:avLst/>
          </a:prstGeom>
          <a:solidFill>
            <a:srgbClr val="171A20"/>
          </a:solidFill>
          <a:ln/>
        </p:spPr>
      </p:sp>
      <p:sp>
        <p:nvSpPr>
          <p:cNvPr id="8" name="!!sdot4"/>
          <p:cNvSpPr/>
          <p:nvPr/>
        </p:nvSpPr>
        <p:spPr>
          <a:xfrm>
            <a:off x="11288268" y="525780"/>
            <a:ext cx="82296" cy="82296"/>
          </a:xfrm>
          <a:prstGeom prst="ellipse">
            <a:avLst/>
          </a:prstGeom>
          <a:solidFill>
            <a:srgbClr val="171A20"/>
          </a:solidFill>
          <a:ln/>
        </p:spPr>
      </p:sp>
      <p:sp>
        <p:nvSpPr>
          <p:cNvPr id="9" name="!!sdot5"/>
          <p:cNvSpPr/>
          <p:nvPr/>
        </p:nvSpPr>
        <p:spPr>
          <a:xfrm>
            <a:off x="11443716" y="525780"/>
            <a:ext cx="82296" cy="82296"/>
          </a:xfrm>
          <a:prstGeom prst="ellipse">
            <a:avLst/>
          </a:prstGeom>
          <a:solidFill>
            <a:srgbClr val="171A20"/>
          </a:solidFill>
          <a:ln/>
        </p:spPr>
      </p:sp>
      <p:sp>
        <p:nvSpPr>
          <p:cNvPr id="10" name="!!sdot6"/>
          <p:cNvSpPr/>
          <p:nvPr/>
        </p:nvSpPr>
        <p:spPr>
          <a:xfrm>
            <a:off x="11599164" y="525780"/>
            <a:ext cx="82296" cy="82296"/>
          </a:xfrm>
          <a:prstGeom prst="ellipse">
            <a:avLst/>
          </a:prstGeom>
          <a:solidFill>
            <a:srgbClr val="E2E3E3"/>
          </a:solidFill>
          <a:ln/>
        </p:spPr>
      </p:sp>
      <p:sp>
        <p:nvSpPr>
          <p:cNvPr id="11" name="!!evSub"/>
          <p:cNvSpPr/>
          <p:nvPr/>
        </p:nvSpPr>
        <p:spPr>
          <a:xfrm>
            <a:off x="822960" y="4480560"/>
            <a:ext cx="4572000" cy="914400"/>
          </a:xfrm>
          <a:prstGeom prst="rect">
            <a:avLst/>
          </a:prstGeom>
          <a:solidFill>
            <a:srgbClr val="EDE3C8"/>
          </a:solidFill>
          <a:ln/>
        </p:spPr>
      </p:sp>
      <p:sp>
        <p:nvSpPr>
          <p:cNvPr id="12" name="!!evSubL"/>
          <p:cNvSpPr txBox="1"/>
          <p:nvPr/>
        </p:nvSpPr>
        <p:spPr>
          <a:xfrm>
            <a:off x="3931920" y="5102352"/>
            <a:ext cx="1371600" cy="256032"/>
          </a:xfrm>
          <a:prstGeom prst="rect">
            <a:avLst/>
          </a:prstGeom>
          <a:noFill/>
          <a:ln/>
        </p:spPr>
        <p:txBody>
          <a:bodyPr wrap="square" lIns="0" tIns="0" rIns="0" bIns="0" rtlCol="0" anchor="t"/>
          <a:lstStyle/>
          <a:p>
            <a:pPr algn="r" indent="0" marL="0">
              <a:buNone/>
            </a:pPr>
            <a:r>
              <a:rPr lang="en-US" sz="1000" dirty="0">
                <a:solidFill>
                  <a:srgbClr val="8A6D1F"/>
                </a:solidFill>
                <a:latin typeface="Segoe UI" pitchFamily="34" charset="0"/>
                <a:ea typeface="Segoe UI" pitchFamily="34" charset="-122"/>
                <a:cs typeface="Segoe UI" pitchFamily="34" charset="-120"/>
              </a:rPr>
              <a:t>silicon substrate</a:t>
            </a:r>
            <a:endParaRPr lang="en-US" sz="1000" dirty="0"/>
          </a:p>
        </p:txBody>
      </p:sp>
      <p:sp>
        <p:nvSpPr>
          <p:cNvPr id="13" name="!!evIsoL"/>
          <p:cNvSpPr/>
          <p:nvPr/>
        </p:nvSpPr>
        <p:spPr>
          <a:xfrm>
            <a:off x="822960" y="4160520"/>
            <a:ext cx="1554480" cy="320040"/>
          </a:xfrm>
          <a:prstGeom prst="rect">
            <a:avLst/>
          </a:prstGeom>
          <a:solidFill>
            <a:srgbClr val="D9DCE3"/>
          </a:solidFill>
          <a:ln/>
        </p:spPr>
      </p:sp>
      <p:sp>
        <p:nvSpPr>
          <p:cNvPr id="14" name="!!evIsoR"/>
          <p:cNvSpPr/>
          <p:nvPr/>
        </p:nvSpPr>
        <p:spPr>
          <a:xfrm>
            <a:off x="3840480" y="4160520"/>
            <a:ext cx="1554480" cy="320040"/>
          </a:xfrm>
          <a:prstGeom prst="rect">
            <a:avLst/>
          </a:prstGeom>
          <a:solidFill>
            <a:srgbClr val="D9DCE3"/>
          </a:solidFill>
          <a:ln/>
        </p:spPr>
      </p:sp>
      <p:sp>
        <p:nvSpPr>
          <p:cNvPr id="15" name="!!evIsoT"/>
          <p:cNvSpPr txBox="1"/>
          <p:nvPr/>
        </p:nvSpPr>
        <p:spPr>
          <a:xfrm>
            <a:off x="868680" y="4187952"/>
            <a:ext cx="1463040" cy="256032"/>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isolation oxide</a:t>
            </a:r>
            <a:endParaRPr lang="en-US" sz="900" dirty="0"/>
          </a:p>
        </p:txBody>
      </p:sp>
      <p:sp>
        <p:nvSpPr>
          <p:cNvPr id="16" name="!!evGate"/>
          <p:cNvSpPr/>
          <p:nvPr/>
        </p:nvSpPr>
        <p:spPr>
          <a:xfrm>
            <a:off x="2194560" y="2468880"/>
            <a:ext cx="1828800" cy="1234440"/>
          </a:xfrm>
          <a:prstGeom prst="roundRect">
            <a:avLst>
              <a:gd name="adj" fmla="val 3704"/>
            </a:avLst>
          </a:prstGeom>
          <a:solidFill>
            <a:srgbClr val="B3A6E6"/>
          </a:solidFill>
          <a:ln/>
        </p:spPr>
      </p:sp>
      <p:sp>
        <p:nvSpPr>
          <p:cNvPr id="17" name="!!evGateL"/>
          <p:cNvSpPr txBox="1"/>
          <p:nvPr/>
        </p:nvSpPr>
        <p:spPr>
          <a:xfrm>
            <a:off x="5486400" y="2514600"/>
            <a:ext cx="1371600" cy="457200"/>
          </a:xfrm>
          <a:prstGeom prst="rect">
            <a:avLst/>
          </a:prstGeom>
          <a:noFill/>
          <a:ln/>
        </p:spPr>
        <p:txBody>
          <a:bodyPr wrap="square" lIns="0" tIns="0" rIns="0" bIns="0" rtlCol="0" anchor="t"/>
          <a:lstStyle/>
          <a:p>
            <a:pPr algn="l" indent="0" marL="0">
              <a:buNone/>
            </a:pPr>
            <a:r>
              <a:rPr lang="en-US" sz="1000" dirty="0">
                <a:solidFill>
                  <a:srgbClr val="6B5BC4"/>
                </a:solidFill>
                <a:latin typeface="Segoe UI Semibold" pitchFamily="34" charset="0"/>
                <a:ea typeface="Segoe UI Semibold" pitchFamily="34" charset="-122"/>
                <a:cs typeface="Segoe UI Semibold" pitchFamily="34" charset="-120"/>
              </a:rPr>
              <a:t>metal gate (all round)</a:t>
            </a:r>
            <a:endParaRPr lang="en-US" sz="1000" dirty="0"/>
          </a:p>
        </p:txBody>
      </p:sp>
      <p:sp>
        <p:nvSpPr>
          <p:cNvPr id="18" name="!!evGateLn"/>
          <p:cNvSpPr/>
          <p:nvPr/>
        </p:nvSpPr>
        <p:spPr>
          <a:xfrm>
            <a:off x="4069080" y="2651760"/>
            <a:ext cx="1417320" cy="91"/>
          </a:xfrm>
          <a:prstGeom prst="line">
            <a:avLst/>
          </a:prstGeom>
          <a:noFill/>
          <a:ln w="9525">
            <a:solidFill>
              <a:srgbClr val="6B5BC4"/>
            </a:solidFill>
            <a:prstDash val="solid"/>
          </a:ln>
        </p:spPr>
      </p:sp>
      <p:sp>
        <p:nvSpPr>
          <p:cNvPr id="19" name="!!evOx0"/>
          <p:cNvSpPr/>
          <p:nvPr/>
        </p:nvSpPr>
        <p:spPr>
          <a:xfrm>
            <a:off x="2551176" y="2825496"/>
            <a:ext cx="1115568" cy="521208"/>
          </a:xfrm>
          <a:prstGeom prst="rect">
            <a:avLst/>
          </a:prstGeom>
          <a:solidFill>
            <a:srgbClr val="8FCBE0"/>
          </a:solidFill>
          <a:ln/>
        </p:spPr>
      </p:sp>
      <p:sp>
        <p:nvSpPr>
          <p:cNvPr id="20" name="!!evCh0"/>
          <p:cNvSpPr/>
          <p:nvPr/>
        </p:nvSpPr>
        <p:spPr>
          <a:xfrm>
            <a:off x="2606040" y="2880360"/>
            <a:ext cx="1005840" cy="411480"/>
          </a:xfrm>
          <a:prstGeom prst="rect">
            <a:avLst/>
          </a:prstGeom>
          <a:solidFill>
            <a:srgbClr val="F6E7B8"/>
          </a:solidFill>
          <a:ln/>
        </p:spPr>
      </p:sp>
      <p:sp>
        <p:nvSpPr>
          <p:cNvPr id="21" name="!!evInT0"/>
          <p:cNvSpPr/>
          <p:nvPr/>
        </p:nvSpPr>
        <p:spPr>
          <a:xfrm>
            <a:off x="2606040" y="2880360"/>
            <a:ext cx="1005840" cy="64008"/>
          </a:xfrm>
          <a:prstGeom prst="rect">
            <a:avLst/>
          </a:prstGeom>
          <a:solidFill>
            <a:srgbClr val="1F2F6B"/>
          </a:solidFill>
          <a:ln/>
        </p:spPr>
      </p:sp>
      <p:sp>
        <p:nvSpPr>
          <p:cNvPr id="22" name="!!evInL0"/>
          <p:cNvSpPr/>
          <p:nvPr/>
        </p:nvSpPr>
        <p:spPr>
          <a:xfrm>
            <a:off x="2606040" y="2880360"/>
            <a:ext cx="64008" cy="411480"/>
          </a:xfrm>
          <a:prstGeom prst="rect">
            <a:avLst/>
          </a:prstGeom>
          <a:solidFill>
            <a:srgbClr val="1F2F6B"/>
          </a:solidFill>
          <a:ln/>
        </p:spPr>
      </p:sp>
      <p:sp>
        <p:nvSpPr>
          <p:cNvPr id="23" name="!!evInR0"/>
          <p:cNvSpPr/>
          <p:nvPr/>
        </p:nvSpPr>
        <p:spPr>
          <a:xfrm>
            <a:off x="3547872" y="2880360"/>
            <a:ext cx="64008" cy="411480"/>
          </a:xfrm>
          <a:prstGeom prst="rect">
            <a:avLst/>
          </a:prstGeom>
          <a:solidFill>
            <a:srgbClr val="1F2F6B"/>
          </a:solidFill>
          <a:ln/>
        </p:spPr>
      </p:sp>
      <p:sp>
        <p:nvSpPr>
          <p:cNvPr id="24" name="!!evInB0"/>
          <p:cNvSpPr/>
          <p:nvPr/>
        </p:nvSpPr>
        <p:spPr>
          <a:xfrm>
            <a:off x="2606040" y="3227832"/>
            <a:ext cx="1005840" cy="64008"/>
          </a:xfrm>
          <a:prstGeom prst="rect">
            <a:avLst/>
          </a:prstGeom>
          <a:solidFill>
            <a:srgbClr val="1F2F6B"/>
          </a:solidFill>
          <a:ln/>
        </p:spPr>
      </p:sp>
      <p:sp>
        <p:nvSpPr>
          <p:cNvPr id="25" name="!!evOx1"/>
          <p:cNvSpPr/>
          <p:nvPr/>
        </p:nvSpPr>
        <p:spPr>
          <a:xfrm>
            <a:off x="2551176" y="2825496"/>
            <a:ext cx="1115568" cy="521208"/>
          </a:xfrm>
          <a:prstGeom prst="rect">
            <a:avLst/>
          </a:prstGeom>
          <a:solidFill>
            <a:srgbClr val="8FCBE0"/>
          </a:solidFill>
          <a:ln/>
        </p:spPr>
      </p:sp>
      <p:sp>
        <p:nvSpPr>
          <p:cNvPr id="26" name="!!evCh1"/>
          <p:cNvSpPr/>
          <p:nvPr/>
        </p:nvSpPr>
        <p:spPr>
          <a:xfrm>
            <a:off x="2606040" y="2880360"/>
            <a:ext cx="1005840" cy="411480"/>
          </a:xfrm>
          <a:prstGeom prst="rect">
            <a:avLst/>
          </a:prstGeom>
          <a:solidFill>
            <a:srgbClr val="F6E7B8"/>
          </a:solidFill>
          <a:ln/>
        </p:spPr>
      </p:sp>
      <p:sp>
        <p:nvSpPr>
          <p:cNvPr id="27" name="!!evInT1"/>
          <p:cNvSpPr/>
          <p:nvPr/>
        </p:nvSpPr>
        <p:spPr>
          <a:xfrm>
            <a:off x="2606040" y="2880360"/>
            <a:ext cx="1005840" cy="64008"/>
          </a:xfrm>
          <a:prstGeom prst="rect">
            <a:avLst/>
          </a:prstGeom>
          <a:solidFill>
            <a:srgbClr val="1F2F6B"/>
          </a:solidFill>
          <a:ln/>
        </p:spPr>
      </p:sp>
      <p:sp>
        <p:nvSpPr>
          <p:cNvPr id="28" name="!!evInL1"/>
          <p:cNvSpPr/>
          <p:nvPr/>
        </p:nvSpPr>
        <p:spPr>
          <a:xfrm>
            <a:off x="2606040" y="2880360"/>
            <a:ext cx="64008" cy="411480"/>
          </a:xfrm>
          <a:prstGeom prst="rect">
            <a:avLst/>
          </a:prstGeom>
          <a:solidFill>
            <a:srgbClr val="1F2F6B"/>
          </a:solidFill>
          <a:ln/>
        </p:spPr>
      </p:sp>
      <p:sp>
        <p:nvSpPr>
          <p:cNvPr id="29" name="!!evInR1"/>
          <p:cNvSpPr/>
          <p:nvPr/>
        </p:nvSpPr>
        <p:spPr>
          <a:xfrm>
            <a:off x="3547872" y="2880360"/>
            <a:ext cx="64008" cy="411480"/>
          </a:xfrm>
          <a:prstGeom prst="rect">
            <a:avLst/>
          </a:prstGeom>
          <a:solidFill>
            <a:srgbClr val="1F2F6B"/>
          </a:solidFill>
          <a:ln/>
        </p:spPr>
      </p:sp>
      <p:sp>
        <p:nvSpPr>
          <p:cNvPr id="30" name="!!evInB1"/>
          <p:cNvSpPr/>
          <p:nvPr/>
        </p:nvSpPr>
        <p:spPr>
          <a:xfrm>
            <a:off x="2606040" y="3227832"/>
            <a:ext cx="1005840" cy="64008"/>
          </a:xfrm>
          <a:prstGeom prst="rect">
            <a:avLst/>
          </a:prstGeom>
          <a:solidFill>
            <a:srgbClr val="1F2F6B"/>
          </a:solidFill>
          <a:ln/>
        </p:spPr>
      </p:sp>
      <p:sp>
        <p:nvSpPr>
          <p:cNvPr id="31" name="!!evOx2"/>
          <p:cNvSpPr/>
          <p:nvPr/>
        </p:nvSpPr>
        <p:spPr>
          <a:xfrm>
            <a:off x="2551176" y="2825496"/>
            <a:ext cx="1115568" cy="521208"/>
          </a:xfrm>
          <a:prstGeom prst="rect">
            <a:avLst/>
          </a:prstGeom>
          <a:solidFill>
            <a:srgbClr val="8FCBE0"/>
          </a:solidFill>
          <a:ln/>
        </p:spPr>
      </p:sp>
      <p:sp>
        <p:nvSpPr>
          <p:cNvPr id="32" name="!!evCh2"/>
          <p:cNvSpPr/>
          <p:nvPr/>
        </p:nvSpPr>
        <p:spPr>
          <a:xfrm>
            <a:off x="2606040" y="2880360"/>
            <a:ext cx="1005840" cy="411480"/>
          </a:xfrm>
          <a:prstGeom prst="rect">
            <a:avLst/>
          </a:prstGeom>
          <a:solidFill>
            <a:srgbClr val="F6E7B8"/>
          </a:solidFill>
          <a:ln/>
        </p:spPr>
      </p:sp>
      <p:sp>
        <p:nvSpPr>
          <p:cNvPr id="33" name="!!evInT2"/>
          <p:cNvSpPr/>
          <p:nvPr/>
        </p:nvSpPr>
        <p:spPr>
          <a:xfrm>
            <a:off x="2606040" y="2880360"/>
            <a:ext cx="1005840" cy="64008"/>
          </a:xfrm>
          <a:prstGeom prst="rect">
            <a:avLst/>
          </a:prstGeom>
          <a:solidFill>
            <a:srgbClr val="1F2F6B"/>
          </a:solidFill>
          <a:ln/>
        </p:spPr>
      </p:sp>
      <p:sp>
        <p:nvSpPr>
          <p:cNvPr id="34" name="!!evInL2"/>
          <p:cNvSpPr/>
          <p:nvPr/>
        </p:nvSpPr>
        <p:spPr>
          <a:xfrm>
            <a:off x="2606040" y="2880360"/>
            <a:ext cx="64008" cy="411480"/>
          </a:xfrm>
          <a:prstGeom prst="rect">
            <a:avLst/>
          </a:prstGeom>
          <a:solidFill>
            <a:srgbClr val="1F2F6B"/>
          </a:solidFill>
          <a:ln/>
        </p:spPr>
      </p:sp>
      <p:sp>
        <p:nvSpPr>
          <p:cNvPr id="35" name="!!evInR2"/>
          <p:cNvSpPr/>
          <p:nvPr/>
        </p:nvSpPr>
        <p:spPr>
          <a:xfrm>
            <a:off x="3547872" y="2880360"/>
            <a:ext cx="64008" cy="411480"/>
          </a:xfrm>
          <a:prstGeom prst="rect">
            <a:avLst/>
          </a:prstGeom>
          <a:solidFill>
            <a:srgbClr val="1F2F6B"/>
          </a:solidFill>
          <a:ln/>
        </p:spPr>
      </p:sp>
      <p:sp>
        <p:nvSpPr>
          <p:cNvPr id="36" name="!!evInB2"/>
          <p:cNvSpPr/>
          <p:nvPr/>
        </p:nvSpPr>
        <p:spPr>
          <a:xfrm>
            <a:off x="2606040" y="3227832"/>
            <a:ext cx="1005840" cy="64008"/>
          </a:xfrm>
          <a:prstGeom prst="rect">
            <a:avLst/>
          </a:prstGeom>
          <a:solidFill>
            <a:srgbClr val="1F2F6B"/>
          </a:solidFill>
          <a:ln/>
        </p:spPr>
      </p:sp>
      <p:sp>
        <p:nvSpPr>
          <p:cNvPr id="37" name="!!card"/>
          <p:cNvSpPr/>
          <p:nvPr/>
        </p:nvSpPr>
        <p:spPr>
          <a:xfrm>
            <a:off x="6949440" y="1554480"/>
            <a:ext cx="4690872" cy="2240280"/>
          </a:xfrm>
          <a:prstGeom prst="roundRect">
            <a:avLst>
              <a:gd name="adj" fmla="val 3265"/>
            </a:avLst>
          </a:prstGeom>
          <a:solidFill>
            <a:srgbClr val="F4F5F7"/>
          </a:solidFill>
          <a:ln/>
        </p:spPr>
      </p:sp>
      <p:sp>
        <p:nvSpPr>
          <p:cNvPr id="38" name="!!cardn"/>
          <p:cNvSpPr/>
          <p:nvPr/>
        </p:nvSpPr>
        <p:spPr>
          <a:xfrm>
            <a:off x="7159752" y="1764792"/>
            <a:ext cx="347472" cy="347472"/>
          </a:xfrm>
          <a:prstGeom prst="ellipse">
            <a:avLst/>
          </a:prstGeom>
          <a:solidFill>
            <a:srgbClr val="2E9E4F"/>
          </a:solidFill>
          <a:ln/>
        </p:spPr>
      </p:sp>
      <p:sp>
        <p:nvSpPr>
          <p:cNvPr id="39" name="!!cardnt"/>
          <p:cNvSpPr txBox="1"/>
          <p:nvPr/>
        </p:nvSpPr>
        <p:spPr>
          <a:xfrm>
            <a:off x="715975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6</a:t>
            </a:r>
            <a:endParaRPr lang="en-US" sz="1200" dirty="0"/>
          </a:p>
        </p:txBody>
      </p:sp>
      <p:sp>
        <p:nvSpPr>
          <p:cNvPr id="40" name="!!cardh"/>
          <p:cNvSpPr txBox="1"/>
          <p:nvPr/>
        </p:nvSpPr>
        <p:spPr>
          <a:xfrm>
            <a:off x="7635240" y="1773936"/>
            <a:ext cx="3822192" cy="347472"/>
          </a:xfrm>
          <a:prstGeom prst="rect">
            <a:avLst/>
          </a:prstGeom>
          <a:noFill/>
          <a:ln/>
        </p:spPr>
        <p:txBody>
          <a:bodyPr wrap="square" lIns="0" tIns="0" rIns="0" bIns="0" rtlCol="0" anchor="ctr"/>
          <a:lstStyle/>
          <a:p>
            <a:pPr algn="l" indent="0" marL="0">
              <a:buNone/>
            </a:pPr>
            <a:r>
              <a:rPr lang="en-US" sz="1600" dirty="0">
                <a:solidFill>
                  <a:srgbClr val="2E9E4F"/>
                </a:solidFill>
                <a:latin typeface="Segoe UI Semibold" pitchFamily="34" charset="0"/>
                <a:ea typeface="Segoe UI Semibold" pitchFamily="34" charset="-122"/>
                <a:cs typeface="Segoe UI Semibold" pitchFamily="34" charset="-120"/>
              </a:rPr>
              <a:t>Cut it free: gate-all-around</a:t>
            </a:r>
            <a:endParaRPr lang="en-US" sz="1600" dirty="0"/>
          </a:p>
        </p:txBody>
      </p:sp>
      <p:sp>
        <p:nvSpPr>
          <p:cNvPr id="41" name="!!cardb"/>
          <p:cNvSpPr txBox="1"/>
          <p:nvPr/>
        </p:nvSpPr>
        <p:spPr>
          <a:xfrm>
            <a:off x="7178040" y="2267712"/>
            <a:ext cx="4233672" cy="137160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The channel becomes a sheet hanging inside the gate. The gate surrounds it: top, bottom, left and right. No open side, no leakage path.</a:t>
            </a:r>
            <a:endParaRPr lang="en-US" sz="1300" dirty="0"/>
          </a:p>
        </p:txBody>
      </p:sp>
      <p:sp>
        <p:nvSpPr>
          <p:cNvPr id="42" name="!!chip0"/>
          <p:cNvSpPr/>
          <p:nvPr/>
        </p:nvSpPr>
        <p:spPr>
          <a:xfrm>
            <a:off x="6949440" y="4023360"/>
            <a:ext cx="1490472" cy="685800"/>
          </a:xfrm>
          <a:prstGeom prst="roundRect">
            <a:avLst>
              <a:gd name="adj" fmla="val 8000"/>
            </a:avLst>
          </a:prstGeom>
          <a:solidFill>
            <a:srgbClr val="F4F5F7"/>
          </a:solidFill>
          <a:ln/>
        </p:spPr>
      </p:sp>
      <p:sp>
        <p:nvSpPr>
          <p:cNvPr id="43" name="!!chipk0"/>
          <p:cNvSpPr txBox="1"/>
          <p:nvPr/>
        </p:nvSpPr>
        <p:spPr>
          <a:xfrm>
            <a:off x="70591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gate sides N</a:t>
            </a:r>
            <a:endParaRPr lang="en-US" sz="1000" dirty="0"/>
          </a:p>
        </p:txBody>
      </p:sp>
      <p:sp>
        <p:nvSpPr>
          <p:cNvPr id="44" name="!!chipv0"/>
          <p:cNvSpPr txBox="1"/>
          <p:nvPr/>
        </p:nvSpPr>
        <p:spPr>
          <a:xfrm>
            <a:off x="70591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4</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5" name="!!chip1"/>
          <p:cNvSpPr/>
          <p:nvPr/>
        </p:nvSpPr>
        <p:spPr>
          <a:xfrm>
            <a:off x="8549640" y="4023360"/>
            <a:ext cx="1490472" cy="685800"/>
          </a:xfrm>
          <a:prstGeom prst="roundRect">
            <a:avLst>
              <a:gd name="adj" fmla="val 8000"/>
            </a:avLst>
          </a:prstGeom>
          <a:solidFill>
            <a:srgbClr val="F4F5F7"/>
          </a:solidFill>
          <a:ln/>
        </p:spPr>
      </p:sp>
      <p:sp>
        <p:nvSpPr>
          <p:cNvPr id="46" name="!!chipk1"/>
          <p:cNvSpPr txBox="1"/>
          <p:nvPr/>
        </p:nvSpPr>
        <p:spPr>
          <a:xfrm>
            <a:off x="86593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λ</a:t>
            </a:r>
            <a:endParaRPr lang="en-US" sz="1000" dirty="0"/>
          </a:p>
        </p:txBody>
      </p:sp>
      <p:sp>
        <p:nvSpPr>
          <p:cNvPr id="47" name="!!chipv1"/>
          <p:cNvSpPr txBox="1"/>
          <p:nvPr/>
        </p:nvSpPr>
        <p:spPr>
          <a:xfrm>
            <a:off x="86593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2.18 nm</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8" name="!!chip2"/>
          <p:cNvSpPr/>
          <p:nvPr/>
        </p:nvSpPr>
        <p:spPr>
          <a:xfrm>
            <a:off x="10149840" y="4023360"/>
            <a:ext cx="1490472" cy="685800"/>
          </a:xfrm>
          <a:prstGeom prst="roundRect">
            <a:avLst>
              <a:gd name="adj" fmla="val 8000"/>
            </a:avLst>
          </a:prstGeom>
          <a:solidFill>
            <a:srgbClr val="F4F5F7"/>
          </a:solidFill>
          <a:ln/>
        </p:spPr>
      </p:sp>
      <p:sp>
        <p:nvSpPr>
          <p:cNvPr id="49" name="!!chipk2"/>
          <p:cNvSpPr txBox="1"/>
          <p:nvPr/>
        </p:nvSpPr>
        <p:spPr>
          <a:xfrm>
            <a:off x="102595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DIBL at 14 nm</a:t>
            </a:r>
            <a:endParaRPr lang="en-US" sz="1000" dirty="0"/>
          </a:p>
        </p:txBody>
      </p:sp>
      <p:sp>
        <p:nvSpPr>
          <p:cNvPr id="50" name="!!chipv2"/>
          <p:cNvSpPr txBox="1"/>
          <p:nvPr/>
        </p:nvSpPr>
        <p:spPr>
          <a:xfrm>
            <a:off x="102595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41 mV/V</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51" name="!!evSS"/>
          <p:cNvSpPr txBox="1"/>
          <p:nvPr/>
        </p:nvSpPr>
        <p:spPr>
          <a:xfrm>
            <a:off x="6949440" y="4892040"/>
            <a:ext cx="4663440" cy="27432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SS at 14 nm: 65 mV/dec   (simple λ model, same 8 nm silicon)</a:t>
            </a:r>
            <a:endParaRPr lang="en-US" sz="1100" dirty="0"/>
          </a:p>
        </p:txBody>
      </p:sp>
      <p:sp>
        <p:nvSpPr>
          <p:cNvPr id="52"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Gate-all-around: the best electrostatic control, used at 3 nm and below.</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53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From planar to GAA – One camera, four transistors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Looking along the channel: current flows into the screen</a:t>
            </a:r>
            <a:endParaRPr lang="en-US" sz="1600" dirty="0"/>
          </a:p>
        </p:txBody>
      </p:sp>
      <p:sp>
        <p:nvSpPr>
          <p:cNvPr id="4" name="!!sdot0"/>
          <p:cNvSpPr/>
          <p:nvPr/>
        </p:nvSpPr>
        <p:spPr>
          <a:xfrm>
            <a:off x="10666476" y="525780"/>
            <a:ext cx="82296" cy="82296"/>
          </a:xfrm>
          <a:prstGeom prst="ellipse">
            <a:avLst/>
          </a:prstGeom>
          <a:solidFill>
            <a:srgbClr val="171A20"/>
          </a:solidFill>
          <a:ln/>
        </p:spPr>
      </p:sp>
      <p:sp>
        <p:nvSpPr>
          <p:cNvPr id="5" name="!!sdot1"/>
          <p:cNvSpPr/>
          <p:nvPr/>
        </p:nvSpPr>
        <p:spPr>
          <a:xfrm>
            <a:off x="10821924" y="525780"/>
            <a:ext cx="82296" cy="82296"/>
          </a:xfrm>
          <a:prstGeom prst="ellipse">
            <a:avLst/>
          </a:prstGeom>
          <a:solidFill>
            <a:srgbClr val="171A20"/>
          </a:solidFill>
          <a:ln/>
        </p:spPr>
      </p:sp>
      <p:sp>
        <p:nvSpPr>
          <p:cNvPr id="6" name="!!sdot2"/>
          <p:cNvSpPr/>
          <p:nvPr/>
        </p:nvSpPr>
        <p:spPr>
          <a:xfrm>
            <a:off x="10977372" y="525780"/>
            <a:ext cx="82296" cy="82296"/>
          </a:xfrm>
          <a:prstGeom prst="ellipse">
            <a:avLst/>
          </a:prstGeom>
          <a:solidFill>
            <a:srgbClr val="171A20"/>
          </a:solidFill>
          <a:ln/>
        </p:spPr>
      </p:sp>
      <p:sp>
        <p:nvSpPr>
          <p:cNvPr id="7" name="!!sdot3"/>
          <p:cNvSpPr/>
          <p:nvPr/>
        </p:nvSpPr>
        <p:spPr>
          <a:xfrm>
            <a:off x="11132820" y="525780"/>
            <a:ext cx="82296" cy="82296"/>
          </a:xfrm>
          <a:prstGeom prst="ellipse">
            <a:avLst/>
          </a:prstGeom>
          <a:solidFill>
            <a:srgbClr val="171A20"/>
          </a:solidFill>
          <a:ln/>
        </p:spPr>
      </p:sp>
      <p:sp>
        <p:nvSpPr>
          <p:cNvPr id="8" name="!!sdot4"/>
          <p:cNvSpPr/>
          <p:nvPr/>
        </p:nvSpPr>
        <p:spPr>
          <a:xfrm>
            <a:off x="11288268" y="525780"/>
            <a:ext cx="82296" cy="82296"/>
          </a:xfrm>
          <a:prstGeom prst="ellipse">
            <a:avLst/>
          </a:prstGeom>
          <a:solidFill>
            <a:srgbClr val="171A20"/>
          </a:solidFill>
          <a:ln/>
        </p:spPr>
      </p:sp>
      <p:sp>
        <p:nvSpPr>
          <p:cNvPr id="9" name="!!sdot5"/>
          <p:cNvSpPr/>
          <p:nvPr/>
        </p:nvSpPr>
        <p:spPr>
          <a:xfrm>
            <a:off x="11443716" y="525780"/>
            <a:ext cx="82296" cy="82296"/>
          </a:xfrm>
          <a:prstGeom prst="ellipse">
            <a:avLst/>
          </a:prstGeom>
          <a:solidFill>
            <a:srgbClr val="171A20"/>
          </a:solidFill>
          <a:ln/>
        </p:spPr>
      </p:sp>
      <p:sp>
        <p:nvSpPr>
          <p:cNvPr id="10" name="!!sdot6"/>
          <p:cNvSpPr/>
          <p:nvPr/>
        </p:nvSpPr>
        <p:spPr>
          <a:xfrm>
            <a:off x="11599164" y="525780"/>
            <a:ext cx="82296" cy="82296"/>
          </a:xfrm>
          <a:prstGeom prst="ellipse">
            <a:avLst/>
          </a:prstGeom>
          <a:solidFill>
            <a:srgbClr val="171A20"/>
          </a:solidFill>
          <a:ln/>
        </p:spPr>
      </p:sp>
      <p:sp>
        <p:nvSpPr>
          <p:cNvPr id="11" name="!!evSub"/>
          <p:cNvSpPr/>
          <p:nvPr/>
        </p:nvSpPr>
        <p:spPr>
          <a:xfrm>
            <a:off x="822960" y="4480560"/>
            <a:ext cx="4572000" cy="914400"/>
          </a:xfrm>
          <a:prstGeom prst="rect">
            <a:avLst/>
          </a:prstGeom>
          <a:solidFill>
            <a:srgbClr val="EDE3C8"/>
          </a:solidFill>
          <a:ln/>
        </p:spPr>
      </p:sp>
      <p:sp>
        <p:nvSpPr>
          <p:cNvPr id="12" name="!!evSubL"/>
          <p:cNvSpPr txBox="1"/>
          <p:nvPr/>
        </p:nvSpPr>
        <p:spPr>
          <a:xfrm>
            <a:off x="3931920" y="5102352"/>
            <a:ext cx="1371600" cy="256032"/>
          </a:xfrm>
          <a:prstGeom prst="rect">
            <a:avLst/>
          </a:prstGeom>
          <a:noFill/>
          <a:ln/>
        </p:spPr>
        <p:txBody>
          <a:bodyPr wrap="square" lIns="0" tIns="0" rIns="0" bIns="0" rtlCol="0" anchor="t"/>
          <a:lstStyle/>
          <a:p>
            <a:pPr algn="r" indent="0" marL="0">
              <a:buNone/>
            </a:pPr>
            <a:r>
              <a:rPr lang="en-US" sz="1000" dirty="0">
                <a:solidFill>
                  <a:srgbClr val="8A6D1F"/>
                </a:solidFill>
                <a:latin typeface="Segoe UI" pitchFamily="34" charset="0"/>
                <a:ea typeface="Segoe UI" pitchFamily="34" charset="-122"/>
                <a:cs typeface="Segoe UI" pitchFamily="34" charset="-120"/>
              </a:rPr>
              <a:t>silicon substrate</a:t>
            </a:r>
            <a:endParaRPr lang="en-US" sz="1000" dirty="0"/>
          </a:p>
        </p:txBody>
      </p:sp>
      <p:sp>
        <p:nvSpPr>
          <p:cNvPr id="13" name="!!evIsoL"/>
          <p:cNvSpPr/>
          <p:nvPr/>
        </p:nvSpPr>
        <p:spPr>
          <a:xfrm>
            <a:off x="822960" y="4160520"/>
            <a:ext cx="1554480" cy="320040"/>
          </a:xfrm>
          <a:prstGeom prst="rect">
            <a:avLst/>
          </a:prstGeom>
          <a:solidFill>
            <a:srgbClr val="D9DCE3"/>
          </a:solidFill>
          <a:ln/>
        </p:spPr>
      </p:sp>
      <p:sp>
        <p:nvSpPr>
          <p:cNvPr id="14" name="!!evIsoR"/>
          <p:cNvSpPr/>
          <p:nvPr/>
        </p:nvSpPr>
        <p:spPr>
          <a:xfrm>
            <a:off x="3840480" y="4160520"/>
            <a:ext cx="1554480" cy="320040"/>
          </a:xfrm>
          <a:prstGeom prst="rect">
            <a:avLst/>
          </a:prstGeom>
          <a:solidFill>
            <a:srgbClr val="D9DCE3"/>
          </a:solidFill>
          <a:ln/>
        </p:spPr>
      </p:sp>
      <p:sp>
        <p:nvSpPr>
          <p:cNvPr id="15" name="!!evIsoT"/>
          <p:cNvSpPr txBox="1"/>
          <p:nvPr/>
        </p:nvSpPr>
        <p:spPr>
          <a:xfrm>
            <a:off x="868680" y="4187952"/>
            <a:ext cx="1463040" cy="256032"/>
          </a:xfrm>
          <a:prstGeom prst="rect">
            <a:avLst/>
          </a:prstGeom>
          <a:noFill/>
          <a:ln/>
        </p:spPr>
        <p:txBody>
          <a:bodyPr wrap="square" lIns="0" tIns="0" rIns="0" bIns="0" rtlCol="0" anchor="t"/>
          <a:lstStyle/>
          <a:p>
            <a:pPr algn="l" indent="0" marL="0">
              <a:buNone/>
            </a:pPr>
            <a:r>
              <a:rPr lang="en-US" sz="900" dirty="0">
                <a:solidFill>
                  <a:srgbClr val="5C5E62"/>
                </a:solidFill>
                <a:latin typeface="Segoe UI" pitchFamily="34" charset="0"/>
                <a:ea typeface="Segoe UI" pitchFamily="34" charset="-122"/>
                <a:cs typeface="Segoe UI" pitchFamily="34" charset="-120"/>
              </a:rPr>
              <a:t>isolation oxide</a:t>
            </a:r>
            <a:endParaRPr lang="en-US" sz="900" dirty="0"/>
          </a:p>
        </p:txBody>
      </p:sp>
      <p:sp>
        <p:nvSpPr>
          <p:cNvPr id="16" name="!!evGate"/>
          <p:cNvSpPr/>
          <p:nvPr/>
        </p:nvSpPr>
        <p:spPr>
          <a:xfrm>
            <a:off x="2194560" y="1600200"/>
            <a:ext cx="1828800" cy="2331720"/>
          </a:xfrm>
          <a:prstGeom prst="roundRect">
            <a:avLst>
              <a:gd name="adj" fmla="val 2500"/>
            </a:avLst>
          </a:prstGeom>
          <a:solidFill>
            <a:srgbClr val="B3A6E6"/>
          </a:solidFill>
          <a:ln/>
        </p:spPr>
      </p:sp>
      <p:sp>
        <p:nvSpPr>
          <p:cNvPr id="17" name="!!evGateL"/>
          <p:cNvSpPr txBox="1"/>
          <p:nvPr/>
        </p:nvSpPr>
        <p:spPr>
          <a:xfrm>
            <a:off x="5486400" y="1645920"/>
            <a:ext cx="1371600" cy="457200"/>
          </a:xfrm>
          <a:prstGeom prst="rect">
            <a:avLst/>
          </a:prstGeom>
          <a:noFill/>
          <a:ln/>
        </p:spPr>
        <p:txBody>
          <a:bodyPr wrap="square" lIns="0" tIns="0" rIns="0" bIns="0" rtlCol="0" anchor="t"/>
          <a:lstStyle/>
          <a:p>
            <a:pPr algn="l" indent="0" marL="0">
              <a:buNone/>
            </a:pPr>
            <a:r>
              <a:rPr lang="en-US" sz="1000" dirty="0">
                <a:solidFill>
                  <a:srgbClr val="6B5BC4"/>
                </a:solidFill>
                <a:latin typeface="Segoe UI Semibold" pitchFamily="34" charset="0"/>
                <a:ea typeface="Segoe UI Semibold" pitchFamily="34" charset="-122"/>
                <a:cs typeface="Segoe UI Semibold" pitchFamily="34" charset="-120"/>
              </a:rPr>
              <a:t>metal gate (all round)</a:t>
            </a:r>
            <a:endParaRPr lang="en-US" sz="1000" dirty="0"/>
          </a:p>
        </p:txBody>
      </p:sp>
      <p:sp>
        <p:nvSpPr>
          <p:cNvPr id="18" name="!!evGateLn"/>
          <p:cNvSpPr/>
          <p:nvPr/>
        </p:nvSpPr>
        <p:spPr>
          <a:xfrm>
            <a:off x="4069080" y="1783080"/>
            <a:ext cx="1417320" cy="91"/>
          </a:xfrm>
          <a:prstGeom prst="line">
            <a:avLst/>
          </a:prstGeom>
          <a:noFill/>
          <a:ln w="9525">
            <a:solidFill>
              <a:srgbClr val="6B5BC4"/>
            </a:solidFill>
            <a:prstDash val="solid"/>
          </a:ln>
        </p:spPr>
      </p:sp>
      <p:sp>
        <p:nvSpPr>
          <p:cNvPr id="19" name="!!evOx0"/>
          <p:cNvSpPr/>
          <p:nvPr/>
        </p:nvSpPr>
        <p:spPr>
          <a:xfrm>
            <a:off x="2551176" y="3328416"/>
            <a:ext cx="1115568" cy="475488"/>
          </a:xfrm>
          <a:prstGeom prst="rect">
            <a:avLst/>
          </a:prstGeom>
          <a:solidFill>
            <a:srgbClr val="8FCBE0"/>
          </a:solidFill>
          <a:ln/>
        </p:spPr>
      </p:sp>
      <p:sp>
        <p:nvSpPr>
          <p:cNvPr id="20" name="!!evCh0"/>
          <p:cNvSpPr/>
          <p:nvPr/>
        </p:nvSpPr>
        <p:spPr>
          <a:xfrm>
            <a:off x="2606040" y="3383280"/>
            <a:ext cx="1005840" cy="365760"/>
          </a:xfrm>
          <a:prstGeom prst="rect">
            <a:avLst/>
          </a:prstGeom>
          <a:solidFill>
            <a:srgbClr val="F6E7B8"/>
          </a:solidFill>
          <a:ln/>
        </p:spPr>
      </p:sp>
      <p:sp>
        <p:nvSpPr>
          <p:cNvPr id="21" name="!!evInT0"/>
          <p:cNvSpPr/>
          <p:nvPr/>
        </p:nvSpPr>
        <p:spPr>
          <a:xfrm>
            <a:off x="2606040" y="3383280"/>
            <a:ext cx="1005840" cy="64008"/>
          </a:xfrm>
          <a:prstGeom prst="rect">
            <a:avLst/>
          </a:prstGeom>
          <a:solidFill>
            <a:srgbClr val="1F2F6B"/>
          </a:solidFill>
          <a:ln/>
        </p:spPr>
      </p:sp>
      <p:sp>
        <p:nvSpPr>
          <p:cNvPr id="22" name="!!evInL0"/>
          <p:cNvSpPr/>
          <p:nvPr/>
        </p:nvSpPr>
        <p:spPr>
          <a:xfrm>
            <a:off x="2606040" y="3383280"/>
            <a:ext cx="64008" cy="365760"/>
          </a:xfrm>
          <a:prstGeom prst="rect">
            <a:avLst/>
          </a:prstGeom>
          <a:solidFill>
            <a:srgbClr val="1F2F6B"/>
          </a:solidFill>
          <a:ln/>
        </p:spPr>
      </p:sp>
      <p:sp>
        <p:nvSpPr>
          <p:cNvPr id="23" name="!!evInR0"/>
          <p:cNvSpPr/>
          <p:nvPr/>
        </p:nvSpPr>
        <p:spPr>
          <a:xfrm>
            <a:off x="3547872" y="3383280"/>
            <a:ext cx="64008" cy="365760"/>
          </a:xfrm>
          <a:prstGeom prst="rect">
            <a:avLst/>
          </a:prstGeom>
          <a:solidFill>
            <a:srgbClr val="1F2F6B"/>
          </a:solidFill>
          <a:ln/>
        </p:spPr>
      </p:sp>
      <p:sp>
        <p:nvSpPr>
          <p:cNvPr id="24" name="!!evInB0"/>
          <p:cNvSpPr/>
          <p:nvPr/>
        </p:nvSpPr>
        <p:spPr>
          <a:xfrm>
            <a:off x="2606040" y="3685032"/>
            <a:ext cx="1005840" cy="64008"/>
          </a:xfrm>
          <a:prstGeom prst="rect">
            <a:avLst/>
          </a:prstGeom>
          <a:solidFill>
            <a:srgbClr val="1F2F6B"/>
          </a:solidFill>
          <a:ln/>
        </p:spPr>
      </p:sp>
      <p:sp>
        <p:nvSpPr>
          <p:cNvPr id="25" name="!!evOx1"/>
          <p:cNvSpPr/>
          <p:nvPr/>
        </p:nvSpPr>
        <p:spPr>
          <a:xfrm>
            <a:off x="2551176" y="2642616"/>
            <a:ext cx="1115568" cy="475488"/>
          </a:xfrm>
          <a:prstGeom prst="rect">
            <a:avLst/>
          </a:prstGeom>
          <a:solidFill>
            <a:srgbClr val="8FCBE0"/>
          </a:solidFill>
          <a:ln/>
        </p:spPr>
      </p:sp>
      <p:sp>
        <p:nvSpPr>
          <p:cNvPr id="26" name="!!evCh1"/>
          <p:cNvSpPr/>
          <p:nvPr/>
        </p:nvSpPr>
        <p:spPr>
          <a:xfrm>
            <a:off x="2606040" y="2697480"/>
            <a:ext cx="1005840" cy="365760"/>
          </a:xfrm>
          <a:prstGeom prst="rect">
            <a:avLst/>
          </a:prstGeom>
          <a:solidFill>
            <a:srgbClr val="F6E7B8"/>
          </a:solidFill>
          <a:ln/>
        </p:spPr>
      </p:sp>
      <p:sp>
        <p:nvSpPr>
          <p:cNvPr id="27" name="!!evInT1"/>
          <p:cNvSpPr/>
          <p:nvPr/>
        </p:nvSpPr>
        <p:spPr>
          <a:xfrm>
            <a:off x="2606040" y="2697480"/>
            <a:ext cx="1005840" cy="64008"/>
          </a:xfrm>
          <a:prstGeom prst="rect">
            <a:avLst/>
          </a:prstGeom>
          <a:solidFill>
            <a:srgbClr val="1F2F6B"/>
          </a:solidFill>
          <a:ln/>
        </p:spPr>
      </p:sp>
      <p:sp>
        <p:nvSpPr>
          <p:cNvPr id="28" name="!!evInL1"/>
          <p:cNvSpPr/>
          <p:nvPr/>
        </p:nvSpPr>
        <p:spPr>
          <a:xfrm>
            <a:off x="2606040" y="2697480"/>
            <a:ext cx="64008" cy="365760"/>
          </a:xfrm>
          <a:prstGeom prst="rect">
            <a:avLst/>
          </a:prstGeom>
          <a:solidFill>
            <a:srgbClr val="1F2F6B"/>
          </a:solidFill>
          <a:ln/>
        </p:spPr>
      </p:sp>
      <p:sp>
        <p:nvSpPr>
          <p:cNvPr id="29" name="!!evInR1"/>
          <p:cNvSpPr/>
          <p:nvPr/>
        </p:nvSpPr>
        <p:spPr>
          <a:xfrm>
            <a:off x="3547872" y="2697480"/>
            <a:ext cx="64008" cy="365760"/>
          </a:xfrm>
          <a:prstGeom prst="rect">
            <a:avLst/>
          </a:prstGeom>
          <a:solidFill>
            <a:srgbClr val="1F2F6B"/>
          </a:solidFill>
          <a:ln/>
        </p:spPr>
      </p:sp>
      <p:sp>
        <p:nvSpPr>
          <p:cNvPr id="30" name="!!evInB1"/>
          <p:cNvSpPr/>
          <p:nvPr/>
        </p:nvSpPr>
        <p:spPr>
          <a:xfrm>
            <a:off x="2606040" y="2999232"/>
            <a:ext cx="1005840" cy="64008"/>
          </a:xfrm>
          <a:prstGeom prst="rect">
            <a:avLst/>
          </a:prstGeom>
          <a:solidFill>
            <a:srgbClr val="1F2F6B"/>
          </a:solidFill>
          <a:ln/>
        </p:spPr>
      </p:sp>
      <p:sp>
        <p:nvSpPr>
          <p:cNvPr id="31" name="!!evOx2"/>
          <p:cNvSpPr/>
          <p:nvPr/>
        </p:nvSpPr>
        <p:spPr>
          <a:xfrm>
            <a:off x="2551176" y="1956816"/>
            <a:ext cx="1115568" cy="475488"/>
          </a:xfrm>
          <a:prstGeom prst="rect">
            <a:avLst/>
          </a:prstGeom>
          <a:solidFill>
            <a:srgbClr val="8FCBE0"/>
          </a:solidFill>
          <a:ln/>
        </p:spPr>
      </p:sp>
      <p:sp>
        <p:nvSpPr>
          <p:cNvPr id="32" name="!!evCh2"/>
          <p:cNvSpPr/>
          <p:nvPr/>
        </p:nvSpPr>
        <p:spPr>
          <a:xfrm>
            <a:off x="2606040" y="2011680"/>
            <a:ext cx="1005840" cy="365760"/>
          </a:xfrm>
          <a:prstGeom prst="rect">
            <a:avLst/>
          </a:prstGeom>
          <a:solidFill>
            <a:srgbClr val="F6E7B8"/>
          </a:solidFill>
          <a:ln/>
        </p:spPr>
      </p:sp>
      <p:sp>
        <p:nvSpPr>
          <p:cNvPr id="33" name="!!evInT2"/>
          <p:cNvSpPr/>
          <p:nvPr/>
        </p:nvSpPr>
        <p:spPr>
          <a:xfrm>
            <a:off x="2606040" y="2011680"/>
            <a:ext cx="1005840" cy="64008"/>
          </a:xfrm>
          <a:prstGeom prst="rect">
            <a:avLst/>
          </a:prstGeom>
          <a:solidFill>
            <a:srgbClr val="1F2F6B"/>
          </a:solidFill>
          <a:ln/>
        </p:spPr>
      </p:sp>
      <p:sp>
        <p:nvSpPr>
          <p:cNvPr id="34" name="!!evInL2"/>
          <p:cNvSpPr/>
          <p:nvPr/>
        </p:nvSpPr>
        <p:spPr>
          <a:xfrm>
            <a:off x="2606040" y="2011680"/>
            <a:ext cx="64008" cy="365760"/>
          </a:xfrm>
          <a:prstGeom prst="rect">
            <a:avLst/>
          </a:prstGeom>
          <a:solidFill>
            <a:srgbClr val="1F2F6B"/>
          </a:solidFill>
          <a:ln/>
        </p:spPr>
      </p:sp>
      <p:sp>
        <p:nvSpPr>
          <p:cNvPr id="35" name="!!evInR2"/>
          <p:cNvSpPr/>
          <p:nvPr/>
        </p:nvSpPr>
        <p:spPr>
          <a:xfrm>
            <a:off x="3547872" y="2011680"/>
            <a:ext cx="64008" cy="365760"/>
          </a:xfrm>
          <a:prstGeom prst="rect">
            <a:avLst/>
          </a:prstGeom>
          <a:solidFill>
            <a:srgbClr val="1F2F6B"/>
          </a:solidFill>
          <a:ln/>
        </p:spPr>
      </p:sp>
      <p:sp>
        <p:nvSpPr>
          <p:cNvPr id="36" name="!!evInB2"/>
          <p:cNvSpPr/>
          <p:nvPr/>
        </p:nvSpPr>
        <p:spPr>
          <a:xfrm>
            <a:off x="2606040" y="2313432"/>
            <a:ext cx="1005840" cy="64008"/>
          </a:xfrm>
          <a:prstGeom prst="rect">
            <a:avLst/>
          </a:prstGeom>
          <a:solidFill>
            <a:srgbClr val="1F2F6B"/>
          </a:solidFill>
          <a:ln/>
        </p:spPr>
      </p:sp>
      <p:sp>
        <p:nvSpPr>
          <p:cNvPr id="37" name="!!card"/>
          <p:cNvSpPr/>
          <p:nvPr/>
        </p:nvSpPr>
        <p:spPr>
          <a:xfrm>
            <a:off x="6949440" y="1554480"/>
            <a:ext cx="4690872" cy="2240280"/>
          </a:xfrm>
          <a:prstGeom prst="roundRect">
            <a:avLst>
              <a:gd name="adj" fmla="val 3265"/>
            </a:avLst>
          </a:prstGeom>
          <a:solidFill>
            <a:srgbClr val="F4F5F7"/>
          </a:solidFill>
          <a:ln/>
        </p:spPr>
      </p:sp>
      <p:sp>
        <p:nvSpPr>
          <p:cNvPr id="38" name="!!cardn"/>
          <p:cNvSpPr/>
          <p:nvPr/>
        </p:nvSpPr>
        <p:spPr>
          <a:xfrm>
            <a:off x="7159752" y="1764792"/>
            <a:ext cx="347472" cy="347472"/>
          </a:xfrm>
          <a:prstGeom prst="ellipse">
            <a:avLst/>
          </a:prstGeom>
          <a:solidFill>
            <a:srgbClr val="2E9E4F"/>
          </a:solidFill>
          <a:ln/>
        </p:spPr>
      </p:sp>
      <p:sp>
        <p:nvSpPr>
          <p:cNvPr id="39" name="!!cardnt"/>
          <p:cNvSpPr txBox="1"/>
          <p:nvPr/>
        </p:nvSpPr>
        <p:spPr>
          <a:xfrm>
            <a:off x="715975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7</a:t>
            </a:r>
            <a:endParaRPr lang="en-US" sz="1200" dirty="0"/>
          </a:p>
        </p:txBody>
      </p:sp>
      <p:sp>
        <p:nvSpPr>
          <p:cNvPr id="40" name="!!cardh"/>
          <p:cNvSpPr txBox="1"/>
          <p:nvPr/>
        </p:nvSpPr>
        <p:spPr>
          <a:xfrm>
            <a:off x="7635240" y="1773936"/>
            <a:ext cx="3822192" cy="347472"/>
          </a:xfrm>
          <a:prstGeom prst="rect">
            <a:avLst/>
          </a:prstGeom>
          <a:noFill/>
          <a:ln/>
        </p:spPr>
        <p:txBody>
          <a:bodyPr wrap="square" lIns="0" tIns="0" rIns="0" bIns="0" rtlCol="0" anchor="ctr"/>
          <a:lstStyle/>
          <a:p>
            <a:pPr algn="l" indent="0" marL="0">
              <a:buNone/>
            </a:pPr>
            <a:r>
              <a:rPr lang="en-US" sz="1600" dirty="0">
                <a:solidFill>
                  <a:srgbClr val="2E9E4F"/>
                </a:solidFill>
                <a:latin typeface="Segoe UI Semibold" pitchFamily="34" charset="0"/>
                <a:ea typeface="Segoe UI Semibold" pitchFamily="34" charset="-122"/>
                <a:cs typeface="Segoe UI Semibold" pitchFamily="34" charset="-120"/>
              </a:rPr>
              <a:t>Stack the sheets</a:t>
            </a:r>
            <a:endParaRPr lang="en-US" sz="1600" dirty="0"/>
          </a:p>
        </p:txBody>
      </p:sp>
      <p:sp>
        <p:nvSpPr>
          <p:cNvPr id="41" name="!!cardb"/>
          <p:cNvSpPr txBox="1"/>
          <p:nvPr/>
        </p:nvSpPr>
        <p:spPr>
          <a:xfrm>
            <a:off x="7178040" y="2267712"/>
            <a:ext cx="4233672" cy="137160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Three sheets under one gate: 3× the current in the same footprint, with the same gate control. This is the 3 nm-class transistor.</a:t>
            </a:r>
            <a:endParaRPr lang="en-US" sz="1300" dirty="0"/>
          </a:p>
        </p:txBody>
      </p:sp>
      <p:sp>
        <p:nvSpPr>
          <p:cNvPr id="42" name="!!chip0"/>
          <p:cNvSpPr/>
          <p:nvPr/>
        </p:nvSpPr>
        <p:spPr>
          <a:xfrm>
            <a:off x="6949440" y="4023360"/>
            <a:ext cx="1490472" cy="685800"/>
          </a:xfrm>
          <a:prstGeom prst="roundRect">
            <a:avLst>
              <a:gd name="adj" fmla="val 8000"/>
            </a:avLst>
          </a:prstGeom>
          <a:solidFill>
            <a:srgbClr val="F4F5F7"/>
          </a:solidFill>
          <a:ln/>
        </p:spPr>
      </p:sp>
      <p:sp>
        <p:nvSpPr>
          <p:cNvPr id="43" name="!!chipk0"/>
          <p:cNvSpPr txBox="1"/>
          <p:nvPr/>
        </p:nvSpPr>
        <p:spPr>
          <a:xfrm>
            <a:off x="70591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gate sides N</a:t>
            </a:r>
            <a:endParaRPr lang="en-US" sz="1000" dirty="0"/>
          </a:p>
        </p:txBody>
      </p:sp>
      <p:sp>
        <p:nvSpPr>
          <p:cNvPr id="44" name="!!chipv0"/>
          <p:cNvSpPr txBox="1"/>
          <p:nvPr/>
        </p:nvSpPr>
        <p:spPr>
          <a:xfrm>
            <a:off x="70591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4</a:t>
            </a:r>
            <a:endParaRPr lang="en-US" sz="1500" dirty="0"/>
          </a:p>
        </p:txBody>
      </p:sp>
      <p:sp>
        <p:nvSpPr>
          <p:cNvPr id="45" name="!!chip1"/>
          <p:cNvSpPr/>
          <p:nvPr/>
        </p:nvSpPr>
        <p:spPr>
          <a:xfrm>
            <a:off x="8549640" y="4023360"/>
            <a:ext cx="1490472" cy="685800"/>
          </a:xfrm>
          <a:prstGeom prst="roundRect">
            <a:avLst>
              <a:gd name="adj" fmla="val 8000"/>
            </a:avLst>
          </a:prstGeom>
          <a:solidFill>
            <a:srgbClr val="F4F5F7"/>
          </a:solidFill>
          <a:ln/>
        </p:spPr>
      </p:sp>
      <p:sp>
        <p:nvSpPr>
          <p:cNvPr id="46" name="!!chipk1"/>
          <p:cNvSpPr txBox="1"/>
          <p:nvPr/>
        </p:nvSpPr>
        <p:spPr>
          <a:xfrm>
            <a:off x="86593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λ</a:t>
            </a:r>
            <a:endParaRPr lang="en-US" sz="1000" dirty="0"/>
          </a:p>
        </p:txBody>
      </p:sp>
      <p:sp>
        <p:nvSpPr>
          <p:cNvPr id="47" name="!!chipv1"/>
          <p:cNvSpPr txBox="1"/>
          <p:nvPr/>
        </p:nvSpPr>
        <p:spPr>
          <a:xfrm>
            <a:off x="86593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2.18 nm</a:t>
            </a:r>
            <a:endParaRPr lang="en-US" sz="1500" dirty="0"/>
          </a:p>
        </p:txBody>
      </p:sp>
      <p:sp>
        <p:nvSpPr>
          <p:cNvPr id="48" name="!!chip2"/>
          <p:cNvSpPr/>
          <p:nvPr/>
        </p:nvSpPr>
        <p:spPr>
          <a:xfrm>
            <a:off x="10149840" y="4023360"/>
            <a:ext cx="1490472" cy="685800"/>
          </a:xfrm>
          <a:prstGeom prst="roundRect">
            <a:avLst>
              <a:gd name="adj" fmla="val 8000"/>
            </a:avLst>
          </a:prstGeom>
          <a:solidFill>
            <a:srgbClr val="F4F5F7"/>
          </a:solidFill>
          <a:ln/>
        </p:spPr>
      </p:sp>
      <p:sp>
        <p:nvSpPr>
          <p:cNvPr id="49" name="!!chipk2"/>
          <p:cNvSpPr txBox="1"/>
          <p:nvPr/>
        </p:nvSpPr>
        <p:spPr>
          <a:xfrm>
            <a:off x="10259568" y="4096512"/>
            <a:ext cx="12710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DIBL at 14 nm</a:t>
            </a:r>
            <a:endParaRPr lang="en-US" sz="1000" dirty="0"/>
          </a:p>
        </p:txBody>
      </p:sp>
      <p:sp>
        <p:nvSpPr>
          <p:cNvPr id="50" name="!!chipv2"/>
          <p:cNvSpPr txBox="1"/>
          <p:nvPr/>
        </p:nvSpPr>
        <p:spPr>
          <a:xfrm>
            <a:off x="10259568" y="4334256"/>
            <a:ext cx="13075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41 mV/V</a:t>
            </a:r>
            <a:endParaRPr lang="en-US" sz="1500" dirty="0"/>
          </a:p>
        </p:txBody>
      </p:sp>
      <p:sp>
        <p:nvSpPr>
          <p:cNvPr id="51" name="!!evSS"/>
          <p:cNvSpPr txBox="1"/>
          <p:nvPr/>
        </p:nvSpPr>
        <p:spPr>
          <a:xfrm>
            <a:off x="6949440" y="4892040"/>
            <a:ext cx="4663440" cy="27432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SS at 14 nm: 65 mV/dec   (simple λ model, same 8 nm silicon)</a:t>
            </a:r>
            <a:endParaRPr lang="en-US" sz="1100" dirty="0"/>
          </a:p>
        </p:txBody>
      </p:sp>
      <p:sp>
        <p:nvSpPr>
          <p:cNvPr id="52"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Stacked sheets: more current per footprint, same control.</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54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FinFET – The fin width knob</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Thinner fin: every point is closer to the gate, so λ and leakage fall</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E2E3E3"/>
          </a:solidFill>
          <a:ln/>
        </p:spPr>
      </p:sp>
      <p:sp>
        <p:nvSpPr>
          <p:cNvPr id="6" name="!!sdot2"/>
          <p:cNvSpPr/>
          <p:nvPr/>
        </p:nvSpPr>
        <p:spPr>
          <a:xfrm>
            <a:off x="11599164" y="525780"/>
            <a:ext cx="82296" cy="82296"/>
          </a:xfrm>
          <a:prstGeom prst="ellipse">
            <a:avLst/>
          </a:prstGeom>
          <a:solidFill>
            <a:srgbClr val="E2E3E3"/>
          </a:solidFill>
          <a:ln/>
        </p:spPr>
      </p:sp>
      <p:sp>
        <p:nvSpPr>
          <p:cNvPr id="7" name="!!evSub"/>
          <p:cNvSpPr/>
          <p:nvPr/>
        </p:nvSpPr>
        <p:spPr>
          <a:xfrm>
            <a:off x="822960" y="4480560"/>
            <a:ext cx="4572000" cy="914400"/>
          </a:xfrm>
          <a:prstGeom prst="rect">
            <a:avLst/>
          </a:prstGeom>
          <a:solidFill>
            <a:srgbClr val="EDE3C8"/>
          </a:solidFill>
          <a:ln/>
        </p:spPr>
      </p:sp>
      <p:sp>
        <p:nvSpPr>
          <p:cNvPr id="8" name="!!evIsoL"/>
          <p:cNvSpPr/>
          <p:nvPr/>
        </p:nvSpPr>
        <p:spPr>
          <a:xfrm>
            <a:off x="822960" y="4160520"/>
            <a:ext cx="1554480" cy="320040"/>
          </a:xfrm>
          <a:prstGeom prst="rect">
            <a:avLst/>
          </a:prstGeom>
          <a:solidFill>
            <a:srgbClr val="D9DCE3"/>
          </a:solidFill>
          <a:ln/>
        </p:spPr>
      </p:sp>
      <p:sp>
        <p:nvSpPr>
          <p:cNvPr id="9" name="!!evIsoR"/>
          <p:cNvSpPr/>
          <p:nvPr/>
        </p:nvSpPr>
        <p:spPr>
          <a:xfrm>
            <a:off x="3840480" y="4160520"/>
            <a:ext cx="1554480" cy="320040"/>
          </a:xfrm>
          <a:prstGeom prst="rect">
            <a:avLst/>
          </a:prstGeom>
          <a:solidFill>
            <a:srgbClr val="D9DCE3"/>
          </a:solidFill>
          <a:ln/>
        </p:spPr>
      </p:sp>
      <p:sp>
        <p:nvSpPr>
          <p:cNvPr id="10" name="!!evGate"/>
          <p:cNvSpPr/>
          <p:nvPr/>
        </p:nvSpPr>
        <p:spPr>
          <a:xfrm>
            <a:off x="2194560" y="1965960"/>
            <a:ext cx="1828800" cy="2194560"/>
          </a:xfrm>
          <a:prstGeom prst="roundRect">
            <a:avLst>
              <a:gd name="adj" fmla="val 2500"/>
            </a:avLst>
          </a:prstGeom>
          <a:solidFill>
            <a:srgbClr val="B3A6E6"/>
          </a:solidFill>
          <a:ln/>
        </p:spPr>
      </p:sp>
      <p:sp>
        <p:nvSpPr>
          <p:cNvPr id="11" name="!!evOx0"/>
          <p:cNvSpPr/>
          <p:nvPr/>
        </p:nvSpPr>
        <p:spPr>
          <a:xfrm>
            <a:off x="2642616" y="2414016"/>
            <a:ext cx="932688" cy="2066544"/>
          </a:xfrm>
          <a:prstGeom prst="rect">
            <a:avLst/>
          </a:prstGeom>
          <a:solidFill>
            <a:srgbClr val="8FCBE0"/>
          </a:solidFill>
          <a:ln/>
        </p:spPr>
      </p:sp>
      <p:sp>
        <p:nvSpPr>
          <p:cNvPr id="12" name="!!evCh0"/>
          <p:cNvSpPr/>
          <p:nvPr/>
        </p:nvSpPr>
        <p:spPr>
          <a:xfrm>
            <a:off x="2697480" y="2468880"/>
            <a:ext cx="822960" cy="2011680"/>
          </a:xfrm>
          <a:prstGeom prst="rect">
            <a:avLst/>
          </a:prstGeom>
          <a:solidFill>
            <a:srgbClr val="F6E7B8"/>
          </a:solidFill>
          <a:ln/>
        </p:spPr>
      </p:sp>
      <p:sp>
        <p:nvSpPr>
          <p:cNvPr id="13" name="!!fwDim"/>
          <p:cNvSpPr/>
          <p:nvPr/>
        </p:nvSpPr>
        <p:spPr>
          <a:xfrm>
            <a:off x="2697480" y="2240280"/>
            <a:ext cx="822960" cy="91"/>
          </a:xfrm>
          <a:prstGeom prst="line">
            <a:avLst/>
          </a:prstGeom>
          <a:noFill/>
          <a:ln w="12700">
            <a:solidFill>
              <a:srgbClr val="171A20"/>
            </a:solidFill>
            <a:prstDash val="solid"/>
            <a:headEnd type="triangle"/>
            <a:tailEnd type="triangle"/>
          </a:ln>
        </p:spPr>
      </p:sp>
      <p:sp>
        <p:nvSpPr>
          <p:cNvPr id="14" name="!!fwDimL"/>
          <p:cNvSpPr txBox="1"/>
          <p:nvPr/>
        </p:nvSpPr>
        <p:spPr>
          <a:xfrm>
            <a:off x="2194560" y="1600200"/>
            <a:ext cx="1828800" cy="256032"/>
          </a:xfrm>
          <a:prstGeom prst="rect">
            <a:avLst/>
          </a:prstGeom>
          <a:noFill/>
          <a:ln/>
        </p:spPr>
        <p:txBody>
          <a:bodyPr wrap="square" lIns="0" tIns="0" rIns="0" bIns="0" rtlCol="0" anchor="t"/>
          <a:lstStyle/>
          <a:p>
            <a:pPr algn="ctr" indent="0" marL="0">
              <a:buNone/>
            </a:pPr>
            <a:r>
              <a:rPr lang="en-US" sz="1300" dirty="0">
                <a:solidFill>
                  <a:srgbClr val="171A20"/>
                </a:solidFill>
                <a:latin typeface="Segoe UI Semibold" pitchFamily="34" charset="0"/>
                <a:ea typeface="Segoe UI Semibold" pitchFamily="34" charset="-122"/>
                <a:cs typeface="Segoe UI Semibold" pitchFamily="34" charset="-120"/>
              </a:rPr>
              <a:t>W</a:t>
            </a:r>
            <a:pPr algn="ctr"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fin</a:t>
            </a:r>
            <a:pPr algn="ctr" indent="0" marL="0">
              <a:buNone/>
            </a:pPr>
            <a:r>
              <a:rPr lang="en-US" sz="1300" dirty="0">
                <a:solidFill>
                  <a:srgbClr val="171A20"/>
                </a:solidFill>
                <a:latin typeface="Segoe UI Semibold" pitchFamily="34" charset="0"/>
                <a:ea typeface="Segoe UI Semibold" pitchFamily="34" charset="-122"/>
                <a:cs typeface="Segoe UI Semibold" pitchFamily="34" charset="-120"/>
              </a:rPr>
              <a:t> = 12 nm</a:t>
            </a:r>
            <a:endParaRPr lang="en-US" sz="1300" dirty="0"/>
          </a:p>
        </p:txBody>
      </p:sp>
      <p:sp>
        <p:nvSpPr>
          <p:cNvPr id="15" name="!!fwH"/>
          <p:cNvSpPr txBox="1"/>
          <p:nvPr/>
        </p:nvSpPr>
        <p:spPr>
          <a:xfrm>
            <a:off x="4114800" y="3291840"/>
            <a:ext cx="128016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H</a:t>
            </a:r>
            <a:pPr algn="l" indent="0" marL="0">
              <a:buNone/>
            </a:pPr>
            <a:r>
              <a:rPr lang="en-US" sz="1100" baseline="-40000" dirty="0">
                <a:solidFill>
                  <a:srgbClr val="5C5E62"/>
                </a:solidFill>
                <a:latin typeface="Segoe UI" pitchFamily="34" charset="0"/>
                <a:ea typeface="Segoe UI" pitchFamily="34" charset="-122"/>
                <a:cs typeface="Segoe UI" pitchFamily="34" charset="-120"/>
              </a:rPr>
              <a:t>fin</a:t>
            </a:r>
            <a:pPr algn="l" indent="0" marL="0">
              <a:buNone/>
            </a:pPr>
            <a:r>
              <a:rPr lang="en-US" sz="1100" dirty="0">
                <a:solidFill>
                  <a:srgbClr val="5C5E62"/>
                </a:solidFill>
                <a:latin typeface="Segoe UI" pitchFamily="34" charset="0"/>
                <a:ea typeface="Segoe UI" pitchFamily="34" charset="-122"/>
                <a:cs typeface="Segoe UI" pitchFamily="34" charset="-120"/>
              </a:rPr>
              <a:t> = 40 nm</a:t>
            </a:r>
            <a:endParaRPr lang="en-US" sz="1100" dirty="0"/>
          </a:p>
        </p:txBody>
      </p:sp>
      <p:sp>
        <p:nvSpPr>
          <p:cNvPr id="16" name="!!axg0"/>
          <p:cNvSpPr/>
          <p:nvPr/>
        </p:nvSpPr>
        <p:spPr>
          <a:xfrm>
            <a:off x="7315200" y="3840480"/>
            <a:ext cx="4206240" cy="91"/>
          </a:xfrm>
          <a:prstGeom prst="line">
            <a:avLst/>
          </a:prstGeom>
          <a:noFill/>
          <a:ln w="9525">
            <a:solidFill>
              <a:srgbClr val="EDEEF0"/>
            </a:solidFill>
            <a:prstDash val="solid"/>
          </a:ln>
        </p:spPr>
      </p:sp>
      <p:sp>
        <p:nvSpPr>
          <p:cNvPr id="17" name="!!axg1"/>
          <p:cNvSpPr/>
          <p:nvPr/>
        </p:nvSpPr>
        <p:spPr>
          <a:xfrm>
            <a:off x="7315200" y="3108960"/>
            <a:ext cx="4206240" cy="91"/>
          </a:xfrm>
          <a:prstGeom prst="line">
            <a:avLst/>
          </a:prstGeom>
          <a:noFill/>
          <a:ln w="9525">
            <a:solidFill>
              <a:srgbClr val="EDEEF0"/>
            </a:solidFill>
            <a:prstDash val="solid"/>
          </a:ln>
        </p:spPr>
      </p:sp>
      <p:sp>
        <p:nvSpPr>
          <p:cNvPr id="18" name="!!axg2"/>
          <p:cNvSpPr/>
          <p:nvPr/>
        </p:nvSpPr>
        <p:spPr>
          <a:xfrm>
            <a:off x="7315200" y="2377440"/>
            <a:ext cx="4206240" cy="91"/>
          </a:xfrm>
          <a:prstGeom prst="line">
            <a:avLst/>
          </a:prstGeom>
          <a:noFill/>
          <a:ln w="9525">
            <a:solidFill>
              <a:srgbClr val="EDEEF0"/>
            </a:solidFill>
            <a:prstDash val="solid"/>
          </a:ln>
        </p:spPr>
      </p:sp>
      <p:sp>
        <p:nvSpPr>
          <p:cNvPr id="19" name="!!axg3"/>
          <p:cNvSpPr/>
          <p:nvPr/>
        </p:nvSpPr>
        <p:spPr>
          <a:xfrm>
            <a:off x="7315200" y="1645920"/>
            <a:ext cx="4206240" cy="91"/>
          </a:xfrm>
          <a:prstGeom prst="line">
            <a:avLst/>
          </a:prstGeom>
          <a:noFill/>
          <a:ln w="9525">
            <a:solidFill>
              <a:srgbClr val="EDEEF0"/>
            </a:solidFill>
            <a:prstDash val="solid"/>
          </a:ln>
        </p:spPr>
      </p:sp>
      <p:sp>
        <p:nvSpPr>
          <p:cNvPr id="20" name="!!axxa"/>
          <p:cNvSpPr/>
          <p:nvPr/>
        </p:nvSpPr>
        <p:spPr>
          <a:xfrm>
            <a:off x="7315200" y="3840480"/>
            <a:ext cx="4206240" cy="91"/>
          </a:xfrm>
          <a:prstGeom prst="line">
            <a:avLst/>
          </a:prstGeom>
          <a:noFill/>
          <a:ln w="12700">
            <a:solidFill>
              <a:srgbClr val="8A8D93"/>
            </a:solidFill>
            <a:prstDash val="solid"/>
          </a:ln>
        </p:spPr>
      </p:sp>
      <p:sp>
        <p:nvSpPr>
          <p:cNvPr id="21" name="!!axya"/>
          <p:cNvSpPr/>
          <p:nvPr/>
        </p:nvSpPr>
        <p:spPr>
          <a:xfrm>
            <a:off x="7315200" y="1645920"/>
            <a:ext cx="91" cy="2194560"/>
          </a:xfrm>
          <a:prstGeom prst="line">
            <a:avLst/>
          </a:prstGeom>
          <a:noFill/>
          <a:ln w="12700">
            <a:solidFill>
              <a:srgbClr val="8A8D93"/>
            </a:solidFill>
            <a:prstDash val="solid"/>
          </a:ln>
        </p:spPr>
      </p:sp>
      <p:sp>
        <p:nvSpPr>
          <p:cNvPr id="22" name="!!axxt0"/>
          <p:cNvSpPr txBox="1"/>
          <p:nvPr/>
        </p:nvSpPr>
        <p:spPr>
          <a:xfrm>
            <a:off x="6995160" y="3886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a:t>
            </a:r>
            <a:endParaRPr lang="en-US" sz="900" dirty="0"/>
          </a:p>
        </p:txBody>
      </p:sp>
      <p:sp>
        <p:nvSpPr>
          <p:cNvPr id="23" name="!!axxt1"/>
          <p:cNvSpPr txBox="1"/>
          <p:nvPr/>
        </p:nvSpPr>
        <p:spPr>
          <a:xfrm>
            <a:off x="8046720" y="3886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6</a:t>
            </a:r>
            <a:endParaRPr lang="en-US" sz="900" dirty="0"/>
          </a:p>
        </p:txBody>
      </p:sp>
      <p:sp>
        <p:nvSpPr>
          <p:cNvPr id="24" name="!!axxt2"/>
          <p:cNvSpPr txBox="1"/>
          <p:nvPr/>
        </p:nvSpPr>
        <p:spPr>
          <a:xfrm>
            <a:off x="9098280" y="3886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8</a:t>
            </a:r>
            <a:endParaRPr lang="en-US" sz="900" dirty="0"/>
          </a:p>
        </p:txBody>
      </p:sp>
      <p:sp>
        <p:nvSpPr>
          <p:cNvPr id="25" name="!!axxt3"/>
          <p:cNvSpPr txBox="1"/>
          <p:nvPr/>
        </p:nvSpPr>
        <p:spPr>
          <a:xfrm>
            <a:off x="10149840" y="3886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26" name="!!axxt4"/>
          <p:cNvSpPr txBox="1"/>
          <p:nvPr/>
        </p:nvSpPr>
        <p:spPr>
          <a:xfrm>
            <a:off x="11201400" y="3886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12</a:t>
            </a:r>
            <a:endParaRPr lang="en-US" sz="900" dirty="0"/>
          </a:p>
        </p:txBody>
      </p:sp>
      <p:sp>
        <p:nvSpPr>
          <p:cNvPr id="27" name="!!axyt0"/>
          <p:cNvSpPr txBox="1"/>
          <p:nvPr/>
        </p:nvSpPr>
        <p:spPr>
          <a:xfrm>
            <a:off x="6629400" y="37398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0.00</a:t>
            </a:r>
            <a:endParaRPr lang="en-US" sz="900" dirty="0"/>
          </a:p>
        </p:txBody>
      </p:sp>
      <p:sp>
        <p:nvSpPr>
          <p:cNvPr id="28" name="!!axyt1"/>
          <p:cNvSpPr txBox="1"/>
          <p:nvPr/>
        </p:nvSpPr>
        <p:spPr>
          <a:xfrm>
            <a:off x="6629400" y="30083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0.04</a:t>
            </a:r>
            <a:endParaRPr lang="en-US" sz="900" dirty="0"/>
          </a:p>
        </p:txBody>
      </p:sp>
      <p:sp>
        <p:nvSpPr>
          <p:cNvPr id="29" name="!!axyt2"/>
          <p:cNvSpPr txBox="1"/>
          <p:nvPr/>
        </p:nvSpPr>
        <p:spPr>
          <a:xfrm>
            <a:off x="6629400" y="22768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0.08</a:t>
            </a:r>
            <a:endParaRPr lang="en-US" sz="900" dirty="0"/>
          </a:p>
        </p:txBody>
      </p:sp>
      <p:sp>
        <p:nvSpPr>
          <p:cNvPr id="30" name="!!axyt3"/>
          <p:cNvSpPr txBox="1"/>
          <p:nvPr/>
        </p:nvSpPr>
        <p:spPr>
          <a:xfrm>
            <a:off x="6629400" y="1545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0.12</a:t>
            </a:r>
            <a:endParaRPr lang="en-US" sz="900" dirty="0"/>
          </a:p>
        </p:txBody>
      </p:sp>
      <p:sp>
        <p:nvSpPr>
          <p:cNvPr id="31" name="!!axxl"/>
          <p:cNvSpPr txBox="1"/>
          <p:nvPr/>
        </p:nvSpPr>
        <p:spPr>
          <a:xfrm>
            <a:off x="7315200" y="411480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fin width W</a:t>
            </a:r>
            <a:pPr algn="ctr" indent="0" marL="0">
              <a:buNone/>
            </a:pPr>
            <a:r>
              <a:rPr lang="en-US" sz="1100" baseline="-40000" dirty="0">
                <a:solidFill>
                  <a:srgbClr val="5C5E62"/>
                </a:solidFill>
                <a:latin typeface="Segoe UI" pitchFamily="34" charset="0"/>
                <a:ea typeface="Segoe UI" pitchFamily="34" charset="-122"/>
                <a:cs typeface="Segoe UI" pitchFamily="34" charset="-120"/>
              </a:rPr>
              <a:t>fin</a:t>
            </a:r>
            <a:pPr algn="ctr" indent="0" marL="0">
              <a:buNone/>
            </a:pPr>
            <a:r>
              <a:rPr lang="en-US" sz="1100" dirty="0">
                <a:solidFill>
                  <a:srgbClr val="5C5E62"/>
                </a:solidFill>
                <a:latin typeface="Segoe UI" pitchFamily="34" charset="0"/>
                <a:ea typeface="Segoe UI" pitchFamily="34" charset="-122"/>
                <a:cs typeface="Segoe UI" pitchFamily="34" charset="-120"/>
              </a:rPr>
              <a:t> (nm)</a:t>
            </a:r>
            <a:endParaRPr lang="en-US" sz="1100" dirty="0"/>
          </a:p>
        </p:txBody>
      </p:sp>
      <p:sp>
        <p:nvSpPr>
          <p:cNvPr id="32" name="!!axyl"/>
          <p:cNvSpPr txBox="1"/>
          <p:nvPr/>
        </p:nvSpPr>
        <p:spPr>
          <a:xfrm>
            <a:off x="7132320" y="134416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short-channel effect at L</a:t>
            </a:r>
            <a:pPr algn="l" indent="0" marL="0">
              <a:buNone/>
            </a:pPr>
            <a:r>
              <a:rPr lang="en-US" sz="1100" baseline="-40000" dirty="0">
                <a:solidFill>
                  <a:srgbClr val="5C5E62"/>
                </a:solidFill>
                <a:latin typeface="Segoe UI" pitchFamily="34" charset="0"/>
                <a:ea typeface="Segoe UI" pitchFamily="34" charset="-122"/>
                <a:cs typeface="Segoe UI" pitchFamily="34" charset="-120"/>
              </a:rPr>
              <a:t>g</a:t>
            </a:r>
            <a:pPr algn="l" indent="0" marL="0">
              <a:buNone/>
            </a:pPr>
            <a:r>
              <a:rPr lang="en-US" sz="1100" dirty="0">
                <a:solidFill>
                  <a:srgbClr val="5C5E62"/>
                </a:solidFill>
                <a:latin typeface="Segoe UI" pitchFamily="34" charset="0"/>
                <a:ea typeface="Segoe UI" pitchFamily="34" charset="-122"/>
                <a:cs typeface="Segoe UI" pitchFamily="34" charset="-120"/>
              </a:rPr>
              <a:t> = 14 nm</a:t>
            </a:r>
            <a:endParaRPr lang="en-US" sz="1100" dirty="0"/>
          </a:p>
        </p:txBody>
      </p:sp>
      <p:sp>
        <p:nvSpPr>
          <p:cNvPr id="33" name="!!fwC"/>
          <p:cNvSpPr/>
          <p:nvPr/>
        </p:nvSpPr>
        <p:spPr>
          <a:xfrm>
            <a:off x="7315200" y="1930668"/>
            <a:ext cx="4206240" cy="1544453"/>
          </a:xfrm>
          <a:custGeom>
            <a:avLst/>
            <a:gdLst/>
            <a:ahLst/>
            <a:cxnLst/>
            <a:rect l="l" t="t" r="r" b="b"/>
            <a:pathLst>
              <a:path w="4206240" h="1544453">
                <a:moveTo>
                  <a:pt x="0" y="1544453"/>
                </a:moveTo>
                <a:lnTo>
                  <a:pt x="145043" y="1494423"/>
                </a:lnTo>
                <a:lnTo>
                  <a:pt x="290086" y="1443107"/>
                </a:lnTo>
                <a:lnTo>
                  <a:pt x="435128" y="1390737"/>
                </a:lnTo>
                <a:lnTo>
                  <a:pt x="580171" y="1337517"/>
                </a:lnTo>
                <a:lnTo>
                  <a:pt x="725214" y="1283622"/>
                </a:lnTo>
                <a:lnTo>
                  <a:pt x="870257" y="1229206"/>
                </a:lnTo>
                <a:lnTo>
                  <a:pt x="1015299" y="1174401"/>
                </a:lnTo>
                <a:lnTo>
                  <a:pt x="1160342" y="1119321"/>
                </a:lnTo>
                <a:lnTo>
                  <a:pt x="1305385" y="1064067"/>
                </a:lnTo>
                <a:lnTo>
                  <a:pt x="1450428" y="1008725"/>
                </a:lnTo>
                <a:lnTo>
                  <a:pt x="1595470" y="953371"/>
                </a:lnTo>
                <a:lnTo>
                  <a:pt x="1740513" y="898069"/>
                </a:lnTo>
                <a:lnTo>
                  <a:pt x="1885556" y="842876"/>
                </a:lnTo>
                <a:lnTo>
                  <a:pt x="2030599" y="787842"/>
                </a:lnTo>
                <a:lnTo>
                  <a:pt x="2175641" y="733009"/>
                </a:lnTo>
                <a:lnTo>
                  <a:pt x="2320684" y="678413"/>
                </a:lnTo>
                <a:lnTo>
                  <a:pt x="2465727" y="624087"/>
                </a:lnTo>
                <a:lnTo>
                  <a:pt x="2610770" y="570057"/>
                </a:lnTo>
                <a:lnTo>
                  <a:pt x="2755812" y="516346"/>
                </a:lnTo>
                <a:lnTo>
                  <a:pt x="2900855" y="462976"/>
                </a:lnTo>
                <a:lnTo>
                  <a:pt x="3045898" y="409962"/>
                </a:lnTo>
                <a:lnTo>
                  <a:pt x="3190941" y="357320"/>
                </a:lnTo>
                <a:lnTo>
                  <a:pt x="3335983" y="305061"/>
                </a:lnTo>
                <a:lnTo>
                  <a:pt x="3481026" y="253195"/>
                </a:lnTo>
                <a:lnTo>
                  <a:pt x="3626069" y="201730"/>
                </a:lnTo>
                <a:lnTo>
                  <a:pt x="3771112" y="150674"/>
                </a:lnTo>
                <a:lnTo>
                  <a:pt x="3916154" y="100031"/>
                </a:lnTo>
                <a:lnTo>
                  <a:pt x="4061197" y="49805"/>
                </a:lnTo>
                <a:lnTo>
                  <a:pt x="4206240" y="0"/>
                </a:lnTo>
              </a:path>
            </a:pathLst>
          </a:custGeom>
          <a:ln w="31750">
            <a:solidFill>
              <a:srgbClr val="3E6AE1"/>
            </a:solidFill>
            <a:prstDash val="solid"/>
          </a:ln>
        </p:spPr>
      </p:sp>
      <p:sp>
        <p:nvSpPr>
          <p:cNvPr id="34" name="!!fwPt"/>
          <p:cNvSpPr/>
          <p:nvPr/>
        </p:nvSpPr>
        <p:spPr>
          <a:xfrm>
            <a:off x="11439144" y="1848372"/>
            <a:ext cx="164592" cy="164592"/>
          </a:xfrm>
          <a:prstGeom prst="ellipse">
            <a:avLst/>
          </a:prstGeom>
          <a:solidFill>
            <a:srgbClr val="3E6AE1"/>
          </a:solidFill>
          <a:ln w="19050">
            <a:solidFill>
              <a:srgbClr val="FFFFFF"/>
            </a:solidFill>
            <a:prstDash val="solid"/>
          </a:ln>
        </p:spPr>
      </p:sp>
      <p:sp>
        <p:nvSpPr>
          <p:cNvPr id="35" name="!!chip0"/>
          <p:cNvSpPr/>
          <p:nvPr/>
        </p:nvSpPr>
        <p:spPr>
          <a:xfrm>
            <a:off x="6858000" y="4389120"/>
            <a:ext cx="1508760" cy="658368"/>
          </a:xfrm>
          <a:prstGeom prst="roundRect">
            <a:avLst>
              <a:gd name="adj" fmla="val 8333"/>
            </a:avLst>
          </a:prstGeom>
          <a:solidFill>
            <a:srgbClr val="F4F5F7"/>
          </a:solidFill>
          <a:ln/>
        </p:spPr>
      </p:sp>
      <p:sp>
        <p:nvSpPr>
          <p:cNvPr id="36" name="!!chipk0"/>
          <p:cNvSpPr txBox="1"/>
          <p:nvPr/>
        </p:nvSpPr>
        <p:spPr>
          <a:xfrm>
            <a:off x="6967728" y="446227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scale length λ</a:t>
            </a:r>
            <a:endParaRPr lang="en-US" sz="1000" dirty="0"/>
          </a:p>
        </p:txBody>
      </p:sp>
      <p:sp>
        <p:nvSpPr>
          <p:cNvPr id="37" name="!!chipv0"/>
          <p:cNvSpPr txBox="1"/>
          <p:nvPr/>
        </p:nvSpPr>
        <p:spPr>
          <a:xfrm>
            <a:off x="6967728" y="470001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3.10 nm</a:t>
            </a:r>
            <a:endParaRPr lang="en-US" sz="1500" dirty="0"/>
          </a:p>
        </p:txBody>
      </p:sp>
      <p:sp>
        <p:nvSpPr>
          <p:cNvPr id="38" name="!!chip1"/>
          <p:cNvSpPr/>
          <p:nvPr/>
        </p:nvSpPr>
        <p:spPr>
          <a:xfrm>
            <a:off x="8476488" y="4389120"/>
            <a:ext cx="1508760" cy="658368"/>
          </a:xfrm>
          <a:prstGeom prst="roundRect">
            <a:avLst>
              <a:gd name="adj" fmla="val 8333"/>
            </a:avLst>
          </a:prstGeom>
          <a:solidFill>
            <a:srgbClr val="F4F5F7"/>
          </a:solidFill>
          <a:ln/>
        </p:spPr>
      </p:sp>
      <p:sp>
        <p:nvSpPr>
          <p:cNvPr id="39" name="!!chipk1"/>
          <p:cNvSpPr txBox="1"/>
          <p:nvPr/>
        </p:nvSpPr>
        <p:spPr>
          <a:xfrm>
            <a:off x="8586216" y="446227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SCE = e^(−L/2λ)</a:t>
            </a:r>
            <a:endParaRPr lang="en-US" sz="1000" dirty="0"/>
          </a:p>
        </p:txBody>
      </p:sp>
      <p:sp>
        <p:nvSpPr>
          <p:cNvPr id="40" name="!!chipv1"/>
          <p:cNvSpPr txBox="1"/>
          <p:nvPr/>
        </p:nvSpPr>
        <p:spPr>
          <a:xfrm>
            <a:off x="8586216" y="470001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0.104</a:t>
            </a:r>
            <a:endParaRPr lang="en-US" sz="1500" dirty="0"/>
          </a:p>
        </p:txBody>
      </p:sp>
      <p:sp>
        <p:nvSpPr>
          <p:cNvPr id="41" name="!!chip2"/>
          <p:cNvSpPr/>
          <p:nvPr/>
        </p:nvSpPr>
        <p:spPr>
          <a:xfrm>
            <a:off x="10094976" y="4389120"/>
            <a:ext cx="1508760" cy="658368"/>
          </a:xfrm>
          <a:prstGeom prst="roundRect">
            <a:avLst>
              <a:gd name="adj" fmla="val 8333"/>
            </a:avLst>
          </a:prstGeom>
          <a:solidFill>
            <a:srgbClr val="F4F5F7"/>
          </a:solidFill>
          <a:ln/>
        </p:spPr>
      </p:sp>
      <p:sp>
        <p:nvSpPr>
          <p:cNvPr id="42" name="!!chipk2"/>
          <p:cNvSpPr txBox="1"/>
          <p:nvPr/>
        </p:nvSpPr>
        <p:spPr>
          <a:xfrm>
            <a:off x="10204704" y="446227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W</a:t>
            </a:r>
            <a:pPr algn="l" indent="0" marL="0">
              <a:buNone/>
            </a:pPr>
            <a:r>
              <a:rPr lang="en-US" sz="1000" baseline="-40000" dirty="0">
                <a:solidFill>
                  <a:srgbClr val="5C5E62"/>
                </a:solidFill>
                <a:latin typeface="Segoe UI" pitchFamily="34" charset="0"/>
                <a:ea typeface="Segoe UI" pitchFamily="34" charset="-122"/>
                <a:cs typeface="Segoe UI" pitchFamily="34" charset="-120"/>
              </a:rPr>
              <a:t>eff</a:t>
            </a:r>
            <a:pPr algn="l" indent="0" marL="0">
              <a:buNone/>
            </a:pPr>
            <a:r>
              <a:rPr lang="en-US" sz="1000" dirty="0">
                <a:solidFill>
                  <a:srgbClr val="5C5E62"/>
                </a:solidFill>
                <a:latin typeface="Segoe UI" pitchFamily="34" charset="0"/>
                <a:ea typeface="Segoe UI" pitchFamily="34" charset="-122"/>
                <a:cs typeface="Segoe UI" pitchFamily="34" charset="-120"/>
              </a:rPr>
              <a:t> = 2H + W</a:t>
            </a:r>
            <a:endParaRPr lang="en-US" sz="1000" dirty="0"/>
          </a:p>
        </p:txBody>
      </p:sp>
      <p:sp>
        <p:nvSpPr>
          <p:cNvPr id="43" name="!!chipv2"/>
          <p:cNvSpPr txBox="1"/>
          <p:nvPr/>
        </p:nvSpPr>
        <p:spPr>
          <a:xfrm>
            <a:off x="10204704" y="470001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92 nm</a:t>
            </a:r>
            <a:endParaRPr lang="en-US" sz="1500" dirty="0"/>
          </a:p>
        </p:txBody>
      </p:sp>
      <p:sp>
        <p:nvSpPr>
          <p:cNvPr id="44" name="!!knobLbl"/>
          <p:cNvSpPr txBox="1"/>
          <p:nvPr/>
        </p:nvSpPr>
        <p:spPr>
          <a:xfrm>
            <a:off x="7022592" y="512064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fin width W</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fin</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3E6AE1"/>
                </a:solidFill>
                <a:latin typeface="Segoe UI Semibold" pitchFamily="34" charset="0"/>
                <a:ea typeface="Segoe UI Semibold" pitchFamily="34" charset="-122"/>
                <a:cs typeface="Segoe UI Semibold" pitchFamily="34" charset="-120"/>
              </a:rPr>
              <a:t>12 nm</a:t>
            </a:r>
            <a:endParaRPr lang="en-US" sz="1200" dirty="0"/>
          </a:p>
        </p:txBody>
      </p:sp>
      <p:sp>
        <p:nvSpPr>
          <p:cNvPr id="45" name="!!knobTrack"/>
          <p:cNvSpPr/>
          <p:nvPr/>
        </p:nvSpPr>
        <p:spPr>
          <a:xfrm>
            <a:off x="7040880" y="5504688"/>
            <a:ext cx="4480560" cy="54864"/>
          </a:xfrm>
          <a:prstGeom prst="roundRect">
            <a:avLst>
              <a:gd name="adj" fmla="val 50000"/>
            </a:avLst>
          </a:prstGeom>
          <a:solidFill>
            <a:srgbClr val="E2E3E3"/>
          </a:solidFill>
          <a:ln/>
        </p:spPr>
      </p:sp>
      <p:sp>
        <p:nvSpPr>
          <p:cNvPr id="46" name="!!knobFill"/>
          <p:cNvSpPr/>
          <p:nvPr/>
        </p:nvSpPr>
        <p:spPr>
          <a:xfrm>
            <a:off x="7040880" y="5504688"/>
            <a:ext cx="4480560" cy="54864"/>
          </a:xfrm>
          <a:prstGeom prst="roundRect">
            <a:avLst>
              <a:gd name="adj" fmla="val 50000"/>
            </a:avLst>
          </a:prstGeom>
          <a:solidFill>
            <a:srgbClr val="3E6AE1"/>
          </a:solidFill>
          <a:ln/>
        </p:spPr>
      </p:sp>
      <p:sp>
        <p:nvSpPr>
          <p:cNvPr id="47" name="!!knobT0"/>
          <p:cNvSpPr txBox="1"/>
          <p:nvPr/>
        </p:nvSpPr>
        <p:spPr>
          <a:xfrm>
            <a:off x="667512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a:t>
            </a:r>
            <a:endParaRPr lang="en-US" sz="900" dirty="0"/>
          </a:p>
        </p:txBody>
      </p:sp>
      <p:sp>
        <p:nvSpPr>
          <p:cNvPr id="48" name="!!knobT1"/>
          <p:cNvSpPr txBox="1"/>
          <p:nvPr/>
        </p:nvSpPr>
        <p:spPr>
          <a:xfrm>
            <a:off x="779526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6</a:t>
            </a:r>
            <a:endParaRPr lang="en-US" sz="900" dirty="0"/>
          </a:p>
        </p:txBody>
      </p:sp>
      <p:sp>
        <p:nvSpPr>
          <p:cNvPr id="49" name="!!knobT2"/>
          <p:cNvSpPr txBox="1"/>
          <p:nvPr/>
        </p:nvSpPr>
        <p:spPr>
          <a:xfrm>
            <a:off x="891540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8</a:t>
            </a:r>
            <a:endParaRPr lang="en-US" sz="900" dirty="0"/>
          </a:p>
        </p:txBody>
      </p:sp>
      <p:sp>
        <p:nvSpPr>
          <p:cNvPr id="50" name="!!knobT3"/>
          <p:cNvSpPr txBox="1"/>
          <p:nvPr/>
        </p:nvSpPr>
        <p:spPr>
          <a:xfrm>
            <a:off x="1003554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10</a:t>
            </a:r>
            <a:endParaRPr lang="en-US" sz="900" dirty="0"/>
          </a:p>
        </p:txBody>
      </p:sp>
      <p:sp>
        <p:nvSpPr>
          <p:cNvPr id="51" name="!!knobT4"/>
          <p:cNvSpPr txBox="1"/>
          <p:nvPr/>
        </p:nvSpPr>
        <p:spPr>
          <a:xfrm>
            <a:off x="111556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12</a:t>
            </a:r>
            <a:endParaRPr lang="en-US" sz="900" dirty="0"/>
          </a:p>
        </p:txBody>
      </p:sp>
      <p:sp>
        <p:nvSpPr>
          <p:cNvPr id="52" name="!!knobThumb"/>
          <p:cNvSpPr/>
          <p:nvPr/>
        </p:nvSpPr>
        <p:spPr>
          <a:xfrm>
            <a:off x="11420856" y="5431536"/>
            <a:ext cx="201168" cy="201168"/>
          </a:xfrm>
          <a:prstGeom prst="ellipse">
            <a:avLst/>
          </a:prstGeom>
          <a:solidFill>
            <a:srgbClr val="FFFFFF"/>
          </a:solidFill>
          <a:ln w="28575">
            <a:solidFill>
              <a:srgbClr val="3E6AE1"/>
            </a:solidFill>
            <a:prstDash val="solid"/>
          </a:ln>
        </p:spPr>
      </p:sp>
      <p:sp>
        <p:nvSpPr>
          <p:cNvPr id="5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Wide fin (12 nm): the centre is far from the gate; control is only fair.</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55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FinFET – The fin width knob</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Thinner fin: every point is closer to the gate, so λ and leakage fall</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171A20"/>
          </a:solidFill>
          <a:ln/>
        </p:spPr>
      </p:sp>
      <p:sp>
        <p:nvSpPr>
          <p:cNvPr id="6" name="!!sdot2"/>
          <p:cNvSpPr/>
          <p:nvPr/>
        </p:nvSpPr>
        <p:spPr>
          <a:xfrm>
            <a:off x="11599164" y="525780"/>
            <a:ext cx="82296" cy="82296"/>
          </a:xfrm>
          <a:prstGeom prst="ellipse">
            <a:avLst/>
          </a:prstGeom>
          <a:solidFill>
            <a:srgbClr val="E2E3E3"/>
          </a:solidFill>
          <a:ln/>
        </p:spPr>
      </p:sp>
      <p:sp>
        <p:nvSpPr>
          <p:cNvPr id="7" name="!!evSub"/>
          <p:cNvSpPr/>
          <p:nvPr/>
        </p:nvSpPr>
        <p:spPr>
          <a:xfrm>
            <a:off x="822960" y="4480560"/>
            <a:ext cx="4572000" cy="914400"/>
          </a:xfrm>
          <a:prstGeom prst="rect">
            <a:avLst/>
          </a:prstGeom>
          <a:solidFill>
            <a:srgbClr val="EDE3C8"/>
          </a:solidFill>
          <a:ln/>
        </p:spPr>
      </p:sp>
      <p:sp>
        <p:nvSpPr>
          <p:cNvPr id="8" name="!!evIsoL"/>
          <p:cNvSpPr/>
          <p:nvPr/>
        </p:nvSpPr>
        <p:spPr>
          <a:xfrm>
            <a:off x="822960" y="4160520"/>
            <a:ext cx="1554480" cy="320040"/>
          </a:xfrm>
          <a:prstGeom prst="rect">
            <a:avLst/>
          </a:prstGeom>
          <a:solidFill>
            <a:srgbClr val="D9DCE3"/>
          </a:solidFill>
          <a:ln/>
        </p:spPr>
      </p:sp>
      <p:sp>
        <p:nvSpPr>
          <p:cNvPr id="9" name="!!evIsoR"/>
          <p:cNvSpPr/>
          <p:nvPr/>
        </p:nvSpPr>
        <p:spPr>
          <a:xfrm>
            <a:off x="3840480" y="4160520"/>
            <a:ext cx="1554480" cy="320040"/>
          </a:xfrm>
          <a:prstGeom prst="rect">
            <a:avLst/>
          </a:prstGeom>
          <a:solidFill>
            <a:srgbClr val="D9DCE3"/>
          </a:solidFill>
          <a:ln/>
        </p:spPr>
      </p:sp>
      <p:sp>
        <p:nvSpPr>
          <p:cNvPr id="10" name="!!evGate"/>
          <p:cNvSpPr/>
          <p:nvPr/>
        </p:nvSpPr>
        <p:spPr>
          <a:xfrm>
            <a:off x="2331720" y="1965960"/>
            <a:ext cx="1554480" cy="2194560"/>
          </a:xfrm>
          <a:prstGeom prst="roundRect">
            <a:avLst>
              <a:gd name="adj" fmla="val 2941"/>
            </a:avLst>
          </a:prstGeom>
          <a:solidFill>
            <a:srgbClr val="B3A6E6"/>
          </a:solidFill>
          <a:ln/>
        </p:spPr>
      </p:sp>
      <p:sp>
        <p:nvSpPr>
          <p:cNvPr id="11" name="!!evOx0"/>
          <p:cNvSpPr/>
          <p:nvPr/>
        </p:nvSpPr>
        <p:spPr>
          <a:xfrm>
            <a:off x="2779776" y="2414016"/>
            <a:ext cx="658368" cy="2066544"/>
          </a:xfrm>
          <a:prstGeom prst="rect">
            <a:avLst/>
          </a:prstGeom>
          <a:solidFill>
            <a:srgbClr val="8FCBE0"/>
          </a:solidFill>
          <a:ln/>
        </p:spPr>
      </p:sp>
      <p:sp>
        <p:nvSpPr>
          <p:cNvPr id="12" name="!!evCh0"/>
          <p:cNvSpPr/>
          <p:nvPr/>
        </p:nvSpPr>
        <p:spPr>
          <a:xfrm>
            <a:off x="2834640" y="2468880"/>
            <a:ext cx="548640" cy="2011680"/>
          </a:xfrm>
          <a:prstGeom prst="rect">
            <a:avLst/>
          </a:prstGeom>
          <a:solidFill>
            <a:srgbClr val="F6E7B8"/>
          </a:solidFill>
          <a:ln/>
        </p:spPr>
      </p:sp>
      <p:sp>
        <p:nvSpPr>
          <p:cNvPr id="13" name="!!fwDim"/>
          <p:cNvSpPr/>
          <p:nvPr/>
        </p:nvSpPr>
        <p:spPr>
          <a:xfrm>
            <a:off x="2834640" y="2240280"/>
            <a:ext cx="548640" cy="91"/>
          </a:xfrm>
          <a:prstGeom prst="line">
            <a:avLst/>
          </a:prstGeom>
          <a:noFill/>
          <a:ln w="12700">
            <a:solidFill>
              <a:srgbClr val="171A20"/>
            </a:solidFill>
            <a:prstDash val="solid"/>
            <a:headEnd type="triangle"/>
            <a:tailEnd type="triangle"/>
          </a:ln>
        </p:spPr>
      </p:sp>
      <p:sp>
        <p:nvSpPr>
          <p:cNvPr id="14" name="!!fwDimL"/>
          <p:cNvSpPr txBox="1"/>
          <p:nvPr/>
        </p:nvSpPr>
        <p:spPr>
          <a:xfrm>
            <a:off x="2194560" y="1600200"/>
            <a:ext cx="1828800" cy="256032"/>
          </a:xfrm>
          <a:prstGeom prst="rect">
            <a:avLst/>
          </a:prstGeom>
          <a:noFill/>
          <a:ln/>
        </p:spPr>
        <p:txBody>
          <a:bodyPr wrap="square" lIns="0" tIns="0" rIns="0" bIns="0" rtlCol="0" anchor="t"/>
          <a:lstStyle/>
          <a:p>
            <a:pPr algn="ctr" indent="0" marL="0">
              <a:buNone/>
            </a:pPr>
            <a:r>
              <a:rPr lang="en-US" sz="1300" dirty="0">
                <a:solidFill>
                  <a:srgbClr val="171A20"/>
                </a:solidFill>
                <a:latin typeface="Segoe UI Semibold" pitchFamily="34" charset="0"/>
                <a:ea typeface="Segoe UI Semibold" pitchFamily="34" charset="-122"/>
                <a:cs typeface="Segoe UI Semibold" pitchFamily="34" charset="-120"/>
              </a:rPr>
              <a:t>W</a:t>
            </a:r>
            <a:pPr algn="ctr"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fin</a:t>
            </a:r>
            <a:pPr algn="ctr" indent="0" marL="0">
              <a:buNone/>
            </a:pPr>
            <a:r>
              <a:rPr lang="en-US" sz="1300" dirty="0">
                <a:solidFill>
                  <a:srgbClr val="171A20"/>
                </a:solidFill>
                <a:latin typeface="Segoe UI Semibold" pitchFamily="34" charset="0"/>
                <a:ea typeface="Segoe UI Semibold" pitchFamily="34" charset="-122"/>
                <a:cs typeface="Segoe UI Semibold" pitchFamily="34" charset="-120"/>
              </a:rPr>
              <a:t> = 8 nm</a:t>
            </a:r>
            <a:endParaRPr lang="en-US" sz="1300" dirty="0"/>
          </a:p>
        </p:txBody>
      </p:sp>
      <p:sp>
        <p:nvSpPr>
          <p:cNvPr id="15" name="!!fwH"/>
          <p:cNvSpPr txBox="1"/>
          <p:nvPr/>
        </p:nvSpPr>
        <p:spPr>
          <a:xfrm>
            <a:off x="4114800" y="3291840"/>
            <a:ext cx="128016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H</a:t>
            </a:r>
            <a:pPr algn="l" indent="0" marL="0">
              <a:buNone/>
            </a:pPr>
            <a:r>
              <a:rPr lang="en-US" sz="1100" baseline="-40000" dirty="0">
                <a:solidFill>
                  <a:srgbClr val="5C5E62"/>
                </a:solidFill>
                <a:latin typeface="Segoe UI" pitchFamily="34" charset="0"/>
                <a:ea typeface="Segoe UI" pitchFamily="34" charset="-122"/>
                <a:cs typeface="Segoe UI" pitchFamily="34" charset="-120"/>
              </a:rPr>
              <a:t>fin</a:t>
            </a:r>
            <a:pPr algn="l" indent="0" marL="0">
              <a:buNone/>
            </a:pPr>
            <a:r>
              <a:rPr lang="en-US" sz="1100" dirty="0">
                <a:solidFill>
                  <a:srgbClr val="5C5E62"/>
                </a:solidFill>
                <a:latin typeface="Segoe UI" pitchFamily="34" charset="0"/>
                <a:ea typeface="Segoe UI" pitchFamily="34" charset="-122"/>
                <a:cs typeface="Segoe UI" pitchFamily="34" charset="-120"/>
              </a:rPr>
              <a:t> = 40 nm</a:t>
            </a:r>
            <a:endParaRPr lang="en-US" sz="1100" dirty="0"/>
          </a:p>
        </p:txBody>
      </p:sp>
      <p:sp>
        <p:nvSpPr>
          <p:cNvPr id="16" name="!!axg0"/>
          <p:cNvSpPr/>
          <p:nvPr/>
        </p:nvSpPr>
        <p:spPr>
          <a:xfrm>
            <a:off x="7315200" y="3840480"/>
            <a:ext cx="4206240" cy="91"/>
          </a:xfrm>
          <a:prstGeom prst="line">
            <a:avLst/>
          </a:prstGeom>
          <a:noFill/>
          <a:ln w="9525">
            <a:solidFill>
              <a:srgbClr val="EDEEF0"/>
            </a:solidFill>
            <a:prstDash val="solid"/>
          </a:ln>
        </p:spPr>
      </p:sp>
      <p:sp>
        <p:nvSpPr>
          <p:cNvPr id="17" name="!!axg1"/>
          <p:cNvSpPr/>
          <p:nvPr/>
        </p:nvSpPr>
        <p:spPr>
          <a:xfrm>
            <a:off x="7315200" y="3108960"/>
            <a:ext cx="4206240" cy="91"/>
          </a:xfrm>
          <a:prstGeom prst="line">
            <a:avLst/>
          </a:prstGeom>
          <a:noFill/>
          <a:ln w="9525">
            <a:solidFill>
              <a:srgbClr val="EDEEF0"/>
            </a:solidFill>
            <a:prstDash val="solid"/>
          </a:ln>
        </p:spPr>
      </p:sp>
      <p:sp>
        <p:nvSpPr>
          <p:cNvPr id="18" name="!!axg2"/>
          <p:cNvSpPr/>
          <p:nvPr/>
        </p:nvSpPr>
        <p:spPr>
          <a:xfrm>
            <a:off x="7315200" y="2377440"/>
            <a:ext cx="4206240" cy="91"/>
          </a:xfrm>
          <a:prstGeom prst="line">
            <a:avLst/>
          </a:prstGeom>
          <a:noFill/>
          <a:ln w="9525">
            <a:solidFill>
              <a:srgbClr val="EDEEF0"/>
            </a:solidFill>
            <a:prstDash val="solid"/>
          </a:ln>
        </p:spPr>
      </p:sp>
      <p:sp>
        <p:nvSpPr>
          <p:cNvPr id="19" name="!!axg3"/>
          <p:cNvSpPr/>
          <p:nvPr/>
        </p:nvSpPr>
        <p:spPr>
          <a:xfrm>
            <a:off x="7315200" y="1645920"/>
            <a:ext cx="4206240" cy="91"/>
          </a:xfrm>
          <a:prstGeom prst="line">
            <a:avLst/>
          </a:prstGeom>
          <a:noFill/>
          <a:ln w="9525">
            <a:solidFill>
              <a:srgbClr val="EDEEF0"/>
            </a:solidFill>
            <a:prstDash val="solid"/>
          </a:ln>
        </p:spPr>
      </p:sp>
      <p:sp>
        <p:nvSpPr>
          <p:cNvPr id="20" name="!!axxa"/>
          <p:cNvSpPr/>
          <p:nvPr/>
        </p:nvSpPr>
        <p:spPr>
          <a:xfrm>
            <a:off x="7315200" y="3840480"/>
            <a:ext cx="4206240" cy="91"/>
          </a:xfrm>
          <a:prstGeom prst="line">
            <a:avLst/>
          </a:prstGeom>
          <a:noFill/>
          <a:ln w="12700">
            <a:solidFill>
              <a:srgbClr val="8A8D93"/>
            </a:solidFill>
            <a:prstDash val="solid"/>
          </a:ln>
        </p:spPr>
      </p:sp>
      <p:sp>
        <p:nvSpPr>
          <p:cNvPr id="21" name="!!axya"/>
          <p:cNvSpPr/>
          <p:nvPr/>
        </p:nvSpPr>
        <p:spPr>
          <a:xfrm>
            <a:off x="7315200" y="1645920"/>
            <a:ext cx="91" cy="2194560"/>
          </a:xfrm>
          <a:prstGeom prst="line">
            <a:avLst/>
          </a:prstGeom>
          <a:noFill/>
          <a:ln w="12700">
            <a:solidFill>
              <a:srgbClr val="8A8D93"/>
            </a:solidFill>
            <a:prstDash val="solid"/>
          </a:ln>
        </p:spPr>
      </p:sp>
      <p:sp>
        <p:nvSpPr>
          <p:cNvPr id="22" name="!!axxt0"/>
          <p:cNvSpPr txBox="1"/>
          <p:nvPr/>
        </p:nvSpPr>
        <p:spPr>
          <a:xfrm>
            <a:off x="6995160" y="3886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a:t>
            </a:r>
            <a:endParaRPr lang="en-US" sz="900" dirty="0"/>
          </a:p>
        </p:txBody>
      </p:sp>
      <p:sp>
        <p:nvSpPr>
          <p:cNvPr id="23" name="!!axxt1"/>
          <p:cNvSpPr txBox="1"/>
          <p:nvPr/>
        </p:nvSpPr>
        <p:spPr>
          <a:xfrm>
            <a:off x="8046720" y="3886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6</a:t>
            </a:r>
            <a:endParaRPr lang="en-US" sz="900" dirty="0"/>
          </a:p>
        </p:txBody>
      </p:sp>
      <p:sp>
        <p:nvSpPr>
          <p:cNvPr id="24" name="!!axxt2"/>
          <p:cNvSpPr txBox="1"/>
          <p:nvPr/>
        </p:nvSpPr>
        <p:spPr>
          <a:xfrm>
            <a:off x="9098280" y="3886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8</a:t>
            </a:r>
            <a:endParaRPr lang="en-US" sz="900" dirty="0"/>
          </a:p>
        </p:txBody>
      </p:sp>
      <p:sp>
        <p:nvSpPr>
          <p:cNvPr id="25" name="!!axxt3"/>
          <p:cNvSpPr txBox="1"/>
          <p:nvPr/>
        </p:nvSpPr>
        <p:spPr>
          <a:xfrm>
            <a:off x="10149840" y="3886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26" name="!!axxt4"/>
          <p:cNvSpPr txBox="1"/>
          <p:nvPr/>
        </p:nvSpPr>
        <p:spPr>
          <a:xfrm>
            <a:off x="11201400" y="3886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12</a:t>
            </a:r>
            <a:endParaRPr lang="en-US" sz="900" dirty="0"/>
          </a:p>
        </p:txBody>
      </p:sp>
      <p:sp>
        <p:nvSpPr>
          <p:cNvPr id="27" name="!!axyt0"/>
          <p:cNvSpPr txBox="1"/>
          <p:nvPr/>
        </p:nvSpPr>
        <p:spPr>
          <a:xfrm>
            <a:off x="6629400" y="37398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0.00</a:t>
            </a:r>
            <a:endParaRPr lang="en-US" sz="900" dirty="0"/>
          </a:p>
        </p:txBody>
      </p:sp>
      <p:sp>
        <p:nvSpPr>
          <p:cNvPr id="28" name="!!axyt1"/>
          <p:cNvSpPr txBox="1"/>
          <p:nvPr/>
        </p:nvSpPr>
        <p:spPr>
          <a:xfrm>
            <a:off x="6629400" y="30083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0.04</a:t>
            </a:r>
            <a:endParaRPr lang="en-US" sz="900" dirty="0"/>
          </a:p>
        </p:txBody>
      </p:sp>
      <p:sp>
        <p:nvSpPr>
          <p:cNvPr id="29" name="!!axyt2"/>
          <p:cNvSpPr txBox="1"/>
          <p:nvPr/>
        </p:nvSpPr>
        <p:spPr>
          <a:xfrm>
            <a:off x="6629400" y="22768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0.08</a:t>
            </a:r>
            <a:endParaRPr lang="en-US" sz="900" dirty="0"/>
          </a:p>
        </p:txBody>
      </p:sp>
      <p:sp>
        <p:nvSpPr>
          <p:cNvPr id="30" name="!!axyt3"/>
          <p:cNvSpPr txBox="1"/>
          <p:nvPr/>
        </p:nvSpPr>
        <p:spPr>
          <a:xfrm>
            <a:off x="6629400" y="1545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0.12</a:t>
            </a:r>
            <a:endParaRPr lang="en-US" sz="900" dirty="0"/>
          </a:p>
        </p:txBody>
      </p:sp>
      <p:sp>
        <p:nvSpPr>
          <p:cNvPr id="31" name="!!axxl"/>
          <p:cNvSpPr txBox="1"/>
          <p:nvPr/>
        </p:nvSpPr>
        <p:spPr>
          <a:xfrm>
            <a:off x="7315200" y="411480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fin width W</a:t>
            </a:r>
            <a:pPr algn="ctr" indent="0" marL="0">
              <a:buNone/>
            </a:pPr>
            <a:r>
              <a:rPr lang="en-US" sz="1100" baseline="-40000" dirty="0">
                <a:solidFill>
                  <a:srgbClr val="5C5E62"/>
                </a:solidFill>
                <a:latin typeface="Segoe UI" pitchFamily="34" charset="0"/>
                <a:ea typeface="Segoe UI" pitchFamily="34" charset="-122"/>
                <a:cs typeface="Segoe UI" pitchFamily="34" charset="-120"/>
              </a:rPr>
              <a:t>fin</a:t>
            </a:r>
            <a:pPr algn="ctr" indent="0" marL="0">
              <a:buNone/>
            </a:pPr>
            <a:r>
              <a:rPr lang="en-US" sz="1100" dirty="0">
                <a:solidFill>
                  <a:srgbClr val="5C5E62"/>
                </a:solidFill>
                <a:latin typeface="Segoe UI" pitchFamily="34" charset="0"/>
                <a:ea typeface="Segoe UI" pitchFamily="34" charset="-122"/>
                <a:cs typeface="Segoe UI" pitchFamily="34" charset="-120"/>
              </a:rPr>
              <a:t> (nm)</a:t>
            </a:r>
            <a:endParaRPr lang="en-US" sz="1100" dirty="0"/>
          </a:p>
        </p:txBody>
      </p:sp>
      <p:sp>
        <p:nvSpPr>
          <p:cNvPr id="32" name="!!axyl"/>
          <p:cNvSpPr txBox="1"/>
          <p:nvPr/>
        </p:nvSpPr>
        <p:spPr>
          <a:xfrm>
            <a:off x="7132320" y="134416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short-channel effect at L</a:t>
            </a:r>
            <a:pPr algn="l" indent="0" marL="0">
              <a:buNone/>
            </a:pPr>
            <a:r>
              <a:rPr lang="en-US" sz="1100" baseline="-40000" dirty="0">
                <a:solidFill>
                  <a:srgbClr val="5C5E62"/>
                </a:solidFill>
                <a:latin typeface="Segoe UI" pitchFamily="34" charset="0"/>
                <a:ea typeface="Segoe UI" pitchFamily="34" charset="-122"/>
                <a:cs typeface="Segoe UI" pitchFamily="34" charset="-120"/>
              </a:rPr>
              <a:t>g</a:t>
            </a:r>
            <a:pPr algn="l" indent="0" marL="0">
              <a:buNone/>
            </a:pPr>
            <a:r>
              <a:rPr lang="en-US" sz="1100" dirty="0">
                <a:solidFill>
                  <a:srgbClr val="5C5E62"/>
                </a:solidFill>
                <a:latin typeface="Segoe UI" pitchFamily="34" charset="0"/>
                <a:ea typeface="Segoe UI" pitchFamily="34" charset="-122"/>
                <a:cs typeface="Segoe UI" pitchFamily="34" charset="-120"/>
              </a:rPr>
              <a:t> = 14 nm</a:t>
            </a:r>
            <a:endParaRPr lang="en-US" sz="1100" dirty="0"/>
          </a:p>
        </p:txBody>
      </p:sp>
      <p:sp>
        <p:nvSpPr>
          <p:cNvPr id="33" name="!!fwC"/>
          <p:cNvSpPr/>
          <p:nvPr/>
        </p:nvSpPr>
        <p:spPr>
          <a:xfrm>
            <a:off x="7315200" y="1930668"/>
            <a:ext cx="4206240" cy="1544453"/>
          </a:xfrm>
          <a:custGeom>
            <a:avLst/>
            <a:gdLst/>
            <a:ahLst/>
            <a:cxnLst/>
            <a:rect l="l" t="t" r="r" b="b"/>
            <a:pathLst>
              <a:path w="4206240" h="1544453">
                <a:moveTo>
                  <a:pt x="0" y="1544453"/>
                </a:moveTo>
                <a:lnTo>
                  <a:pt x="145043" y="1494423"/>
                </a:lnTo>
                <a:lnTo>
                  <a:pt x="290086" y="1443107"/>
                </a:lnTo>
                <a:lnTo>
                  <a:pt x="435128" y="1390737"/>
                </a:lnTo>
                <a:lnTo>
                  <a:pt x="580171" y="1337517"/>
                </a:lnTo>
                <a:lnTo>
                  <a:pt x="725214" y="1283622"/>
                </a:lnTo>
                <a:lnTo>
                  <a:pt x="870257" y="1229206"/>
                </a:lnTo>
                <a:lnTo>
                  <a:pt x="1015299" y="1174401"/>
                </a:lnTo>
                <a:lnTo>
                  <a:pt x="1160342" y="1119321"/>
                </a:lnTo>
                <a:lnTo>
                  <a:pt x="1305385" y="1064067"/>
                </a:lnTo>
                <a:lnTo>
                  <a:pt x="1450428" y="1008725"/>
                </a:lnTo>
                <a:lnTo>
                  <a:pt x="1595470" y="953371"/>
                </a:lnTo>
                <a:lnTo>
                  <a:pt x="1740513" y="898069"/>
                </a:lnTo>
                <a:lnTo>
                  <a:pt x="1885556" y="842876"/>
                </a:lnTo>
                <a:lnTo>
                  <a:pt x="2030599" y="787842"/>
                </a:lnTo>
                <a:lnTo>
                  <a:pt x="2175641" y="733009"/>
                </a:lnTo>
                <a:lnTo>
                  <a:pt x="2320684" y="678413"/>
                </a:lnTo>
                <a:lnTo>
                  <a:pt x="2465727" y="624087"/>
                </a:lnTo>
                <a:lnTo>
                  <a:pt x="2610770" y="570057"/>
                </a:lnTo>
                <a:lnTo>
                  <a:pt x="2755812" y="516346"/>
                </a:lnTo>
                <a:lnTo>
                  <a:pt x="2900855" y="462976"/>
                </a:lnTo>
                <a:lnTo>
                  <a:pt x="3045898" y="409962"/>
                </a:lnTo>
                <a:lnTo>
                  <a:pt x="3190941" y="357320"/>
                </a:lnTo>
                <a:lnTo>
                  <a:pt x="3335983" y="305061"/>
                </a:lnTo>
                <a:lnTo>
                  <a:pt x="3481026" y="253195"/>
                </a:lnTo>
                <a:lnTo>
                  <a:pt x="3626069" y="201730"/>
                </a:lnTo>
                <a:lnTo>
                  <a:pt x="3771112" y="150674"/>
                </a:lnTo>
                <a:lnTo>
                  <a:pt x="3916154" y="100031"/>
                </a:lnTo>
                <a:lnTo>
                  <a:pt x="4061197" y="49805"/>
                </a:lnTo>
                <a:lnTo>
                  <a:pt x="4206240" y="0"/>
                </a:lnTo>
              </a:path>
            </a:pathLst>
          </a:custGeom>
          <a:ln w="31750">
            <a:solidFill>
              <a:srgbClr val="3E6AE1"/>
            </a:solidFill>
            <a:prstDash val="solid"/>
          </a:ln>
        </p:spPr>
      </p:sp>
      <p:sp>
        <p:nvSpPr>
          <p:cNvPr id="34" name="!!fwPt"/>
          <p:cNvSpPr/>
          <p:nvPr/>
        </p:nvSpPr>
        <p:spPr>
          <a:xfrm>
            <a:off x="9336024" y="2608770"/>
            <a:ext cx="164592" cy="164592"/>
          </a:xfrm>
          <a:prstGeom prst="ellipse">
            <a:avLst/>
          </a:prstGeom>
          <a:solidFill>
            <a:srgbClr val="3E6AE1"/>
          </a:solidFill>
          <a:ln w="19050">
            <a:solidFill>
              <a:srgbClr val="FFFFFF"/>
            </a:solidFill>
            <a:prstDash val="solid"/>
          </a:ln>
        </p:spPr>
      </p:sp>
      <p:sp>
        <p:nvSpPr>
          <p:cNvPr id="35" name="!!chip0"/>
          <p:cNvSpPr/>
          <p:nvPr/>
        </p:nvSpPr>
        <p:spPr>
          <a:xfrm>
            <a:off x="6858000" y="4389120"/>
            <a:ext cx="1508760" cy="658368"/>
          </a:xfrm>
          <a:prstGeom prst="roundRect">
            <a:avLst>
              <a:gd name="adj" fmla="val 8333"/>
            </a:avLst>
          </a:prstGeom>
          <a:solidFill>
            <a:srgbClr val="F4F5F7"/>
          </a:solidFill>
          <a:ln/>
        </p:spPr>
      </p:sp>
      <p:sp>
        <p:nvSpPr>
          <p:cNvPr id="36" name="!!chipk0"/>
          <p:cNvSpPr txBox="1"/>
          <p:nvPr/>
        </p:nvSpPr>
        <p:spPr>
          <a:xfrm>
            <a:off x="6967728" y="446227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scale length λ</a:t>
            </a:r>
            <a:endParaRPr lang="en-US" sz="1000" dirty="0"/>
          </a:p>
        </p:txBody>
      </p:sp>
      <p:sp>
        <p:nvSpPr>
          <p:cNvPr id="37" name="!!chipv0"/>
          <p:cNvSpPr txBox="1"/>
          <p:nvPr/>
        </p:nvSpPr>
        <p:spPr>
          <a:xfrm>
            <a:off x="6967728" y="470001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2.53 nm</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38" name="!!chip1"/>
          <p:cNvSpPr/>
          <p:nvPr/>
        </p:nvSpPr>
        <p:spPr>
          <a:xfrm>
            <a:off x="8476488" y="4389120"/>
            <a:ext cx="1508760" cy="658368"/>
          </a:xfrm>
          <a:prstGeom prst="roundRect">
            <a:avLst>
              <a:gd name="adj" fmla="val 8333"/>
            </a:avLst>
          </a:prstGeom>
          <a:solidFill>
            <a:srgbClr val="F4F5F7"/>
          </a:solidFill>
          <a:ln/>
        </p:spPr>
      </p:sp>
      <p:sp>
        <p:nvSpPr>
          <p:cNvPr id="39" name="!!chipk1"/>
          <p:cNvSpPr txBox="1"/>
          <p:nvPr/>
        </p:nvSpPr>
        <p:spPr>
          <a:xfrm>
            <a:off x="8586216" y="446227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SCE = e^(−L/2λ)</a:t>
            </a:r>
            <a:endParaRPr lang="en-US" sz="1000" dirty="0"/>
          </a:p>
        </p:txBody>
      </p:sp>
      <p:sp>
        <p:nvSpPr>
          <p:cNvPr id="40" name="!!chipv1"/>
          <p:cNvSpPr txBox="1"/>
          <p:nvPr/>
        </p:nvSpPr>
        <p:spPr>
          <a:xfrm>
            <a:off x="8586216" y="470001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0.063</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1" name="!!chip2"/>
          <p:cNvSpPr/>
          <p:nvPr/>
        </p:nvSpPr>
        <p:spPr>
          <a:xfrm>
            <a:off x="10094976" y="4389120"/>
            <a:ext cx="1508760" cy="658368"/>
          </a:xfrm>
          <a:prstGeom prst="roundRect">
            <a:avLst>
              <a:gd name="adj" fmla="val 8333"/>
            </a:avLst>
          </a:prstGeom>
          <a:solidFill>
            <a:srgbClr val="F4F5F7"/>
          </a:solidFill>
          <a:ln/>
        </p:spPr>
      </p:sp>
      <p:sp>
        <p:nvSpPr>
          <p:cNvPr id="42" name="!!chipk2"/>
          <p:cNvSpPr txBox="1"/>
          <p:nvPr/>
        </p:nvSpPr>
        <p:spPr>
          <a:xfrm>
            <a:off x="10204704" y="446227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W</a:t>
            </a:r>
            <a:pPr algn="l" indent="0" marL="0">
              <a:buNone/>
            </a:pPr>
            <a:r>
              <a:rPr lang="en-US" sz="1000" baseline="-40000" dirty="0">
                <a:solidFill>
                  <a:srgbClr val="5C5E62"/>
                </a:solidFill>
                <a:latin typeface="Segoe UI" pitchFamily="34" charset="0"/>
                <a:ea typeface="Segoe UI" pitchFamily="34" charset="-122"/>
                <a:cs typeface="Segoe UI" pitchFamily="34" charset="-120"/>
              </a:rPr>
              <a:t>eff</a:t>
            </a:r>
            <a:pPr algn="l" indent="0" marL="0">
              <a:buNone/>
            </a:pPr>
            <a:r>
              <a:rPr lang="en-US" sz="1000" dirty="0">
                <a:solidFill>
                  <a:srgbClr val="5C5E62"/>
                </a:solidFill>
                <a:latin typeface="Segoe UI" pitchFamily="34" charset="0"/>
                <a:ea typeface="Segoe UI" pitchFamily="34" charset="-122"/>
                <a:cs typeface="Segoe UI" pitchFamily="34" charset="-120"/>
              </a:rPr>
              <a:t> = 2H + W</a:t>
            </a:r>
            <a:endParaRPr lang="en-US" sz="1000" dirty="0"/>
          </a:p>
        </p:txBody>
      </p:sp>
      <p:sp>
        <p:nvSpPr>
          <p:cNvPr id="43" name="!!chipv2"/>
          <p:cNvSpPr txBox="1"/>
          <p:nvPr/>
        </p:nvSpPr>
        <p:spPr>
          <a:xfrm>
            <a:off x="10204704" y="470001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88 nm</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44" name="!!knobLbl"/>
          <p:cNvSpPr txBox="1"/>
          <p:nvPr/>
        </p:nvSpPr>
        <p:spPr>
          <a:xfrm>
            <a:off x="7022592" y="512064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fin width W</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fin</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3E6AE1"/>
                </a:solidFill>
                <a:latin typeface="Segoe UI Semibold" pitchFamily="34" charset="0"/>
                <a:ea typeface="Segoe UI Semibold" pitchFamily="34" charset="-122"/>
                <a:cs typeface="Segoe UI Semibold" pitchFamily="34" charset="-120"/>
              </a:rPr>
              <a:t>8 nm</a:t>
            </a:r>
            <a:endParaRPr lang="en-US" sz="1200" dirty="0"/>
          </a:p>
        </p:txBody>
      </p:sp>
      <p:sp>
        <p:nvSpPr>
          <p:cNvPr id="45" name="!!knobTrack"/>
          <p:cNvSpPr/>
          <p:nvPr/>
        </p:nvSpPr>
        <p:spPr>
          <a:xfrm>
            <a:off x="7040880" y="5504688"/>
            <a:ext cx="4480560" cy="54864"/>
          </a:xfrm>
          <a:prstGeom prst="roundRect">
            <a:avLst>
              <a:gd name="adj" fmla="val 50000"/>
            </a:avLst>
          </a:prstGeom>
          <a:solidFill>
            <a:srgbClr val="E2E3E3"/>
          </a:solidFill>
          <a:ln/>
        </p:spPr>
      </p:sp>
      <p:sp>
        <p:nvSpPr>
          <p:cNvPr id="46" name="!!knobFill"/>
          <p:cNvSpPr/>
          <p:nvPr/>
        </p:nvSpPr>
        <p:spPr>
          <a:xfrm>
            <a:off x="7040880" y="5504688"/>
            <a:ext cx="2240280" cy="54864"/>
          </a:xfrm>
          <a:prstGeom prst="roundRect">
            <a:avLst>
              <a:gd name="adj" fmla="val 50000"/>
            </a:avLst>
          </a:prstGeom>
          <a:solidFill>
            <a:srgbClr val="3E6AE1"/>
          </a:solidFill>
          <a:ln/>
        </p:spPr>
      </p:sp>
      <p:sp>
        <p:nvSpPr>
          <p:cNvPr id="47" name="!!knobT0"/>
          <p:cNvSpPr txBox="1"/>
          <p:nvPr/>
        </p:nvSpPr>
        <p:spPr>
          <a:xfrm>
            <a:off x="667512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a:t>
            </a:r>
            <a:endParaRPr lang="en-US" sz="900" dirty="0"/>
          </a:p>
        </p:txBody>
      </p:sp>
      <p:sp>
        <p:nvSpPr>
          <p:cNvPr id="48" name="!!knobT1"/>
          <p:cNvSpPr txBox="1"/>
          <p:nvPr/>
        </p:nvSpPr>
        <p:spPr>
          <a:xfrm>
            <a:off x="779526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6</a:t>
            </a:r>
            <a:endParaRPr lang="en-US" sz="900" dirty="0"/>
          </a:p>
        </p:txBody>
      </p:sp>
      <p:sp>
        <p:nvSpPr>
          <p:cNvPr id="49" name="!!knobT2"/>
          <p:cNvSpPr txBox="1"/>
          <p:nvPr/>
        </p:nvSpPr>
        <p:spPr>
          <a:xfrm>
            <a:off x="891540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8</a:t>
            </a:r>
            <a:endParaRPr lang="en-US" sz="900" dirty="0"/>
          </a:p>
        </p:txBody>
      </p:sp>
      <p:sp>
        <p:nvSpPr>
          <p:cNvPr id="50" name="!!knobT3"/>
          <p:cNvSpPr txBox="1"/>
          <p:nvPr/>
        </p:nvSpPr>
        <p:spPr>
          <a:xfrm>
            <a:off x="1003554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10</a:t>
            </a:r>
            <a:endParaRPr lang="en-US" sz="900" dirty="0"/>
          </a:p>
        </p:txBody>
      </p:sp>
      <p:sp>
        <p:nvSpPr>
          <p:cNvPr id="51" name="!!knobT4"/>
          <p:cNvSpPr txBox="1"/>
          <p:nvPr/>
        </p:nvSpPr>
        <p:spPr>
          <a:xfrm>
            <a:off x="111556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12</a:t>
            </a:r>
            <a:endParaRPr lang="en-US" sz="900" dirty="0"/>
          </a:p>
        </p:txBody>
      </p:sp>
      <p:sp>
        <p:nvSpPr>
          <p:cNvPr id="52" name="!!knobThumb"/>
          <p:cNvSpPr/>
          <p:nvPr/>
        </p:nvSpPr>
        <p:spPr>
          <a:xfrm>
            <a:off x="9180576" y="5431536"/>
            <a:ext cx="201168" cy="201168"/>
          </a:xfrm>
          <a:prstGeom prst="ellipse">
            <a:avLst/>
          </a:prstGeom>
          <a:solidFill>
            <a:srgbClr val="FFFFFF"/>
          </a:solidFill>
          <a:ln w="28575">
            <a:solidFill>
              <a:srgbClr val="3E6AE1"/>
            </a:solidFill>
            <a:prstDash val="solid"/>
          </a:ln>
        </p:spPr>
      </p:sp>
      <p:sp>
        <p:nvSpPr>
          <p:cNvPr id="5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Fin 8 nm: three gate sides give λ = 2.52 nm, far better than planar (4.37 nm).</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56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FinFET – The fin width knob</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Thinner fin: every point is closer to the gate, so λ and leakage fall</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171A20"/>
          </a:solidFill>
          <a:ln/>
        </p:spPr>
      </p:sp>
      <p:sp>
        <p:nvSpPr>
          <p:cNvPr id="6" name="!!sdot2"/>
          <p:cNvSpPr/>
          <p:nvPr/>
        </p:nvSpPr>
        <p:spPr>
          <a:xfrm>
            <a:off x="11599164" y="525780"/>
            <a:ext cx="82296" cy="82296"/>
          </a:xfrm>
          <a:prstGeom prst="ellipse">
            <a:avLst/>
          </a:prstGeom>
          <a:solidFill>
            <a:srgbClr val="171A20"/>
          </a:solidFill>
          <a:ln/>
        </p:spPr>
      </p:sp>
      <p:sp>
        <p:nvSpPr>
          <p:cNvPr id="7" name="!!evSub"/>
          <p:cNvSpPr/>
          <p:nvPr/>
        </p:nvSpPr>
        <p:spPr>
          <a:xfrm>
            <a:off x="822960" y="4480560"/>
            <a:ext cx="4572000" cy="914400"/>
          </a:xfrm>
          <a:prstGeom prst="rect">
            <a:avLst/>
          </a:prstGeom>
          <a:solidFill>
            <a:srgbClr val="EDE3C8"/>
          </a:solidFill>
          <a:ln/>
        </p:spPr>
      </p:sp>
      <p:sp>
        <p:nvSpPr>
          <p:cNvPr id="8" name="!!evIsoL"/>
          <p:cNvSpPr/>
          <p:nvPr/>
        </p:nvSpPr>
        <p:spPr>
          <a:xfrm>
            <a:off x="822960" y="4160520"/>
            <a:ext cx="1554480" cy="320040"/>
          </a:xfrm>
          <a:prstGeom prst="rect">
            <a:avLst/>
          </a:prstGeom>
          <a:solidFill>
            <a:srgbClr val="D9DCE3"/>
          </a:solidFill>
          <a:ln/>
        </p:spPr>
      </p:sp>
      <p:sp>
        <p:nvSpPr>
          <p:cNvPr id="9" name="!!evIsoR"/>
          <p:cNvSpPr/>
          <p:nvPr/>
        </p:nvSpPr>
        <p:spPr>
          <a:xfrm>
            <a:off x="3840480" y="4160520"/>
            <a:ext cx="1554480" cy="320040"/>
          </a:xfrm>
          <a:prstGeom prst="rect">
            <a:avLst/>
          </a:prstGeom>
          <a:solidFill>
            <a:srgbClr val="D9DCE3"/>
          </a:solidFill>
          <a:ln/>
        </p:spPr>
      </p:sp>
      <p:sp>
        <p:nvSpPr>
          <p:cNvPr id="10" name="!!evGate"/>
          <p:cNvSpPr/>
          <p:nvPr/>
        </p:nvSpPr>
        <p:spPr>
          <a:xfrm>
            <a:off x="2434590" y="1965960"/>
            <a:ext cx="1348740" cy="2194560"/>
          </a:xfrm>
          <a:prstGeom prst="roundRect">
            <a:avLst>
              <a:gd name="adj" fmla="val 3390"/>
            </a:avLst>
          </a:prstGeom>
          <a:solidFill>
            <a:srgbClr val="B3A6E6"/>
          </a:solidFill>
          <a:ln/>
        </p:spPr>
      </p:sp>
      <p:sp>
        <p:nvSpPr>
          <p:cNvPr id="11" name="!!evOx0"/>
          <p:cNvSpPr/>
          <p:nvPr/>
        </p:nvSpPr>
        <p:spPr>
          <a:xfrm>
            <a:off x="2882646" y="2414016"/>
            <a:ext cx="452628" cy="2066544"/>
          </a:xfrm>
          <a:prstGeom prst="rect">
            <a:avLst/>
          </a:prstGeom>
          <a:solidFill>
            <a:srgbClr val="8FCBE0"/>
          </a:solidFill>
          <a:ln/>
        </p:spPr>
      </p:sp>
      <p:sp>
        <p:nvSpPr>
          <p:cNvPr id="12" name="!!evCh0"/>
          <p:cNvSpPr/>
          <p:nvPr/>
        </p:nvSpPr>
        <p:spPr>
          <a:xfrm>
            <a:off x="2937510" y="2468880"/>
            <a:ext cx="342900" cy="2011680"/>
          </a:xfrm>
          <a:prstGeom prst="rect">
            <a:avLst/>
          </a:prstGeom>
          <a:solidFill>
            <a:srgbClr val="F6E7B8"/>
          </a:solidFill>
          <a:ln/>
        </p:spPr>
      </p:sp>
      <p:sp>
        <p:nvSpPr>
          <p:cNvPr id="13" name="!!fwDim"/>
          <p:cNvSpPr/>
          <p:nvPr/>
        </p:nvSpPr>
        <p:spPr>
          <a:xfrm>
            <a:off x="2937510" y="2240280"/>
            <a:ext cx="342900" cy="91"/>
          </a:xfrm>
          <a:prstGeom prst="line">
            <a:avLst/>
          </a:prstGeom>
          <a:noFill/>
          <a:ln w="12700">
            <a:solidFill>
              <a:srgbClr val="171A20"/>
            </a:solidFill>
            <a:prstDash val="solid"/>
            <a:headEnd type="triangle"/>
            <a:tailEnd type="triangle"/>
          </a:ln>
        </p:spPr>
      </p:sp>
      <p:sp>
        <p:nvSpPr>
          <p:cNvPr id="14" name="!!fwDimL"/>
          <p:cNvSpPr txBox="1"/>
          <p:nvPr/>
        </p:nvSpPr>
        <p:spPr>
          <a:xfrm>
            <a:off x="2194560" y="1600200"/>
            <a:ext cx="1828800" cy="256032"/>
          </a:xfrm>
          <a:prstGeom prst="rect">
            <a:avLst/>
          </a:prstGeom>
          <a:noFill/>
          <a:ln/>
        </p:spPr>
        <p:txBody>
          <a:bodyPr wrap="square" lIns="0" tIns="0" rIns="0" bIns="0" rtlCol="0" anchor="t"/>
          <a:lstStyle/>
          <a:p>
            <a:pPr algn="ctr" indent="0" marL="0">
              <a:buNone/>
            </a:pPr>
            <a:r>
              <a:rPr lang="en-US" sz="1300" dirty="0">
                <a:solidFill>
                  <a:srgbClr val="171A20"/>
                </a:solidFill>
                <a:latin typeface="Segoe UI Semibold" pitchFamily="34" charset="0"/>
                <a:ea typeface="Segoe UI Semibold" pitchFamily="34" charset="-122"/>
                <a:cs typeface="Segoe UI Semibold" pitchFamily="34" charset="-120"/>
              </a:rPr>
              <a:t>W</a:t>
            </a:r>
            <a:pPr algn="ctr"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fin</a:t>
            </a:r>
            <a:pPr algn="ctr" indent="0" marL="0">
              <a:buNone/>
            </a:pPr>
            <a:r>
              <a:rPr lang="en-US" sz="1300" dirty="0">
                <a:solidFill>
                  <a:srgbClr val="171A20"/>
                </a:solidFill>
                <a:latin typeface="Segoe UI Semibold" pitchFamily="34" charset="0"/>
                <a:ea typeface="Segoe UI Semibold" pitchFamily="34" charset="-122"/>
                <a:cs typeface="Segoe UI Semibold" pitchFamily="34" charset="-120"/>
              </a:rPr>
              <a:t> = 5 nm</a:t>
            </a:r>
            <a:endParaRPr lang="en-US" sz="1300" dirty="0"/>
          </a:p>
        </p:txBody>
      </p:sp>
      <p:sp>
        <p:nvSpPr>
          <p:cNvPr id="15" name="!!fwH"/>
          <p:cNvSpPr txBox="1"/>
          <p:nvPr/>
        </p:nvSpPr>
        <p:spPr>
          <a:xfrm>
            <a:off x="4114800" y="3291840"/>
            <a:ext cx="128016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H</a:t>
            </a:r>
            <a:pPr algn="l" indent="0" marL="0">
              <a:buNone/>
            </a:pPr>
            <a:r>
              <a:rPr lang="en-US" sz="1100" baseline="-40000" dirty="0">
                <a:solidFill>
                  <a:srgbClr val="5C5E62"/>
                </a:solidFill>
                <a:latin typeface="Segoe UI" pitchFamily="34" charset="0"/>
                <a:ea typeface="Segoe UI" pitchFamily="34" charset="-122"/>
                <a:cs typeface="Segoe UI" pitchFamily="34" charset="-120"/>
              </a:rPr>
              <a:t>fin</a:t>
            </a:r>
            <a:pPr algn="l" indent="0" marL="0">
              <a:buNone/>
            </a:pPr>
            <a:r>
              <a:rPr lang="en-US" sz="1100" dirty="0">
                <a:solidFill>
                  <a:srgbClr val="5C5E62"/>
                </a:solidFill>
                <a:latin typeface="Segoe UI" pitchFamily="34" charset="0"/>
                <a:ea typeface="Segoe UI" pitchFamily="34" charset="-122"/>
                <a:cs typeface="Segoe UI" pitchFamily="34" charset="-120"/>
              </a:rPr>
              <a:t> = 40 nm</a:t>
            </a:r>
            <a:endParaRPr lang="en-US" sz="1100" dirty="0"/>
          </a:p>
        </p:txBody>
      </p:sp>
      <p:sp>
        <p:nvSpPr>
          <p:cNvPr id="16" name="!!axg0"/>
          <p:cNvSpPr/>
          <p:nvPr/>
        </p:nvSpPr>
        <p:spPr>
          <a:xfrm>
            <a:off x="7315200" y="3840480"/>
            <a:ext cx="4206240" cy="91"/>
          </a:xfrm>
          <a:prstGeom prst="line">
            <a:avLst/>
          </a:prstGeom>
          <a:noFill/>
          <a:ln w="9525">
            <a:solidFill>
              <a:srgbClr val="EDEEF0"/>
            </a:solidFill>
            <a:prstDash val="solid"/>
          </a:ln>
        </p:spPr>
      </p:sp>
      <p:sp>
        <p:nvSpPr>
          <p:cNvPr id="17" name="!!axg1"/>
          <p:cNvSpPr/>
          <p:nvPr/>
        </p:nvSpPr>
        <p:spPr>
          <a:xfrm>
            <a:off x="7315200" y="3108960"/>
            <a:ext cx="4206240" cy="91"/>
          </a:xfrm>
          <a:prstGeom prst="line">
            <a:avLst/>
          </a:prstGeom>
          <a:noFill/>
          <a:ln w="9525">
            <a:solidFill>
              <a:srgbClr val="EDEEF0"/>
            </a:solidFill>
            <a:prstDash val="solid"/>
          </a:ln>
        </p:spPr>
      </p:sp>
      <p:sp>
        <p:nvSpPr>
          <p:cNvPr id="18" name="!!axg2"/>
          <p:cNvSpPr/>
          <p:nvPr/>
        </p:nvSpPr>
        <p:spPr>
          <a:xfrm>
            <a:off x="7315200" y="2377440"/>
            <a:ext cx="4206240" cy="91"/>
          </a:xfrm>
          <a:prstGeom prst="line">
            <a:avLst/>
          </a:prstGeom>
          <a:noFill/>
          <a:ln w="9525">
            <a:solidFill>
              <a:srgbClr val="EDEEF0"/>
            </a:solidFill>
            <a:prstDash val="solid"/>
          </a:ln>
        </p:spPr>
      </p:sp>
      <p:sp>
        <p:nvSpPr>
          <p:cNvPr id="19" name="!!axg3"/>
          <p:cNvSpPr/>
          <p:nvPr/>
        </p:nvSpPr>
        <p:spPr>
          <a:xfrm>
            <a:off x="7315200" y="1645920"/>
            <a:ext cx="4206240" cy="91"/>
          </a:xfrm>
          <a:prstGeom prst="line">
            <a:avLst/>
          </a:prstGeom>
          <a:noFill/>
          <a:ln w="9525">
            <a:solidFill>
              <a:srgbClr val="EDEEF0"/>
            </a:solidFill>
            <a:prstDash val="solid"/>
          </a:ln>
        </p:spPr>
      </p:sp>
      <p:sp>
        <p:nvSpPr>
          <p:cNvPr id="20" name="!!axxa"/>
          <p:cNvSpPr/>
          <p:nvPr/>
        </p:nvSpPr>
        <p:spPr>
          <a:xfrm>
            <a:off x="7315200" y="3840480"/>
            <a:ext cx="4206240" cy="91"/>
          </a:xfrm>
          <a:prstGeom prst="line">
            <a:avLst/>
          </a:prstGeom>
          <a:noFill/>
          <a:ln w="12700">
            <a:solidFill>
              <a:srgbClr val="8A8D93"/>
            </a:solidFill>
            <a:prstDash val="solid"/>
          </a:ln>
        </p:spPr>
      </p:sp>
      <p:sp>
        <p:nvSpPr>
          <p:cNvPr id="21" name="!!axya"/>
          <p:cNvSpPr/>
          <p:nvPr/>
        </p:nvSpPr>
        <p:spPr>
          <a:xfrm>
            <a:off x="7315200" y="1645920"/>
            <a:ext cx="91" cy="2194560"/>
          </a:xfrm>
          <a:prstGeom prst="line">
            <a:avLst/>
          </a:prstGeom>
          <a:noFill/>
          <a:ln w="12700">
            <a:solidFill>
              <a:srgbClr val="8A8D93"/>
            </a:solidFill>
            <a:prstDash val="solid"/>
          </a:ln>
        </p:spPr>
      </p:sp>
      <p:sp>
        <p:nvSpPr>
          <p:cNvPr id="22" name="!!axxt0"/>
          <p:cNvSpPr txBox="1"/>
          <p:nvPr/>
        </p:nvSpPr>
        <p:spPr>
          <a:xfrm>
            <a:off x="6995160" y="3886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a:t>
            </a:r>
            <a:endParaRPr lang="en-US" sz="900" dirty="0"/>
          </a:p>
        </p:txBody>
      </p:sp>
      <p:sp>
        <p:nvSpPr>
          <p:cNvPr id="23" name="!!axxt1"/>
          <p:cNvSpPr txBox="1"/>
          <p:nvPr/>
        </p:nvSpPr>
        <p:spPr>
          <a:xfrm>
            <a:off x="8046720" y="3886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6</a:t>
            </a:r>
            <a:endParaRPr lang="en-US" sz="900" dirty="0"/>
          </a:p>
        </p:txBody>
      </p:sp>
      <p:sp>
        <p:nvSpPr>
          <p:cNvPr id="24" name="!!axxt2"/>
          <p:cNvSpPr txBox="1"/>
          <p:nvPr/>
        </p:nvSpPr>
        <p:spPr>
          <a:xfrm>
            <a:off x="9098280" y="3886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8</a:t>
            </a:r>
            <a:endParaRPr lang="en-US" sz="900" dirty="0"/>
          </a:p>
        </p:txBody>
      </p:sp>
      <p:sp>
        <p:nvSpPr>
          <p:cNvPr id="25" name="!!axxt3"/>
          <p:cNvSpPr txBox="1"/>
          <p:nvPr/>
        </p:nvSpPr>
        <p:spPr>
          <a:xfrm>
            <a:off x="10149840" y="3886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26" name="!!axxt4"/>
          <p:cNvSpPr txBox="1"/>
          <p:nvPr/>
        </p:nvSpPr>
        <p:spPr>
          <a:xfrm>
            <a:off x="11201400" y="3886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12</a:t>
            </a:r>
            <a:endParaRPr lang="en-US" sz="900" dirty="0"/>
          </a:p>
        </p:txBody>
      </p:sp>
      <p:sp>
        <p:nvSpPr>
          <p:cNvPr id="27" name="!!axyt0"/>
          <p:cNvSpPr txBox="1"/>
          <p:nvPr/>
        </p:nvSpPr>
        <p:spPr>
          <a:xfrm>
            <a:off x="6629400" y="37398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0.00</a:t>
            </a:r>
            <a:endParaRPr lang="en-US" sz="900" dirty="0"/>
          </a:p>
        </p:txBody>
      </p:sp>
      <p:sp>
        <p:nvSpPr>
          <p:cNvPr id="28" name="!!axyt1"/>
          <p:cNvSpPr txBox="1"/>
          <p:nvPr/>
        </p:nvSpPr>
        <p:spPr>
          <a:xfrm>
            <a:off x="6629400" y="30083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0.04</a:t>
            </a:r>
            <a:endParaRPr lang="en-US" sz="900" dirty="0"/>
          </a:p>
        </p:txBody>
      </p:sp>
      <p:sp>
        <p:nvSpPr>
          <p:cNvPr id="29" name="!!axyt2"/>
          <p:cNvSpPr txBox="1"/>
          <p:nvPr/>
        </p:nvSpPr>
        <p:spPr>
          <a:xfrm>
            <a:off x="6629400" y="22768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0.08</a:t>
            </a:r>
            <a:endParaRPr lang="en-US" sz="900" dirty="0"/>
          </a:p>
        </p:txBody>
      </p:sp>
      <p:sp>
        <p:nvSpPr>
          <p:cNvPr id="30" name="!!axyt3"/>
          <p:cNvSpPr txBox="1"/>
          <p:nvPr/>
        </p:nvSpPr>
        <p:spPr>
          <a:xfrm>
            <a:off x="6629400" y="1545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0.12</a:t>
            </a:r>
            <a:endParaRPr lang="en-US" sz="900" dirty="0"/>
          </a:p>
        </p:txBody>
      </p:sp>
      <p:sp>
        <p:nvSpPr>
          <p:cNvPr id="31" name="!!axxl"/>
          <p:cNvSpPr txBox="1"/>
          <p:nvPr/>
        </p:nvSpPr>
        <p:spPr>
          <a:xfrm>
            <a:off x="7315200" y="411480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fin width W</a:t>
            </a:r>
            <a:pPr algn="ctr" indent="0" marL="0">
              <a:buNone/>
            </a:pPr>
            <a:r>
              <a:rPr lang="en-US" sz="1100" baseline="-40000" dirty="0">
                <a:solidFill>
                  <a:srgbClr val="5C5E62"/>
                </a:solidFill>
                <a:latin typeface="Segoe UI" pitchFamily="34" charset="0"/>
                <a:ea typeface="Segoe UI" pitchFamily="34" charset="-122"/>
                <a:cs typeface="Segoe UI" pitchFamily="34" charset="-120"/>
              </a:rPr>
              <a:t>fin</a:t>
            </a:r>
            <a:pPr algn="ctr" indent="0" marL="0">
              <a:buNone/>
            </a:pPr>
            <a:r>
              <a:rPr lang="en-US" sz="1100" dirty="0">
                <a:solidFill>
                  <a:srgbClr val="5C5E62"/>
                </a:solidFill>
                <a:latin typeface="Segoe UI" pitchFamily="34" charset="0"/>
                <a:ea typeface="Segoe UI" pitchFamily="34" charset="-122"/>
                <a:cs typeface="Segoe UI" pitchFamily="34" charset="-120"/>
              </a:rPr>
              <a:t> (nm)</a:t>
            </a:r>
            <a:endParaRPr lang="en-US" sz="1100" dirty="0"/>
          </a:p>
        </p:txBody>
      </p:sp>
      <p:sp>
        <p:nvSpPr>
          <p:cNvPr id="32" name="!!axyl"/>
          <p:cNvSpPr txBox="1"/>
          <p:nvPr/>
        </p:nvSpPr>
        <p:spPr>
          <a:xfrm>
            <a:off x="7132320" y="134416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short-channel effect at L</a:t>
            </a:r>
            <a:pPr algn="l" indent="0" marL="0">
              <a:buNone/>
            </a:pPr>
            <a:r>
              <a:rPr lang="en-US" sz="1100" baseline="-40000" dirty="0">
                <a:solidFill>
                  <a:srgbClr val="5C5E62"/>
                </a:solidFill>
                <a:latin typeface="Segoe UI" pitchFamily="34" charset="0"/>
                <a:ea typeface="Segoe UI" pitchFamily="34" charset="-122"/>
                <a:cs typeface="Segoe UI" pitchFamily="34" charset="-120"/>
              </a:rPr>
              <a:t>g</a:t>
            </a:r>
            <a:pPr algn="l" indent="0" marL="0">
              <a:buNone/>
            </a:pPr>
            <a:r>
              <a:rPr lang="en-US" sz="1100" dirty="0">
                <a:solidFill>
                  <a:srgbClr val="5C5E62"/>
                </a:solidFill>
                <a:latin typeface="Segoe UI" pitchFamily="34" charset="0"/>
                <a:ea typeface="Segoe UI" pitchFamily="34" charset="-122"/>
                <a:cs typeface="Segoe UI" pitchFamily="34" charset="-120"/>
              </a:rPr>
              <a:t> = 14 nm</a:t>
            </a:r>
            <a:endParaRPr lang="en-US" sz="1100" dirty="0"/>
          </a:p>
        </p:txBody>
      </p:sp>
      <p:sp>
        <p:nvSpPr>
          <p:cNvPr id="33" name="!!fwC"/>
          <p:cNvSpPr/>
          <p:nvPr/>
        </p:nvSpPr>
        <p:spPr>
          <a:xfrm>
            <a:off x="7315200" y="1930668"/>
            <a:ext cx="4206240" cy="1544453"/>
          </a:xfrm>
          <a:custGeom>
            <a:avLst/>
            <a:gdLst/>
            <a:ahLst/>
            <a:cxnLst/>
            <a:rect l="l" t="t" r="r" b="b"/>
            <a:pathLst>
              <a:path w="4206240" h="1544453">
                <a:moveTo>
                  <a:pt x="0" y="1544453"/>
                </a:moveTo>
                <a:lnTo>
                  <a:pt x="145043" y="1494423"/>
                </a:lnTo>
                <a:lnTo>
                  <a:pt x="290086" y="1443107"/>
                </a:lnTo>
                <a:lnTo>
                  <a:pt x="435128" y="1390737"/>
                </a:lnTo>
                <a:lnTo>
                  <a:pt x="580171" y="1337517"/>
                </a:lnTo>
                <a:lnTo>
                  <a:pt x="725214" y="1283622"/>
                </a:lnTo>
                <a:lnTo>
                  <a:pt x="870257" y="1229206"/>
                </a:lnTo>
                <a:lnTo>
                  <a:pt x="1015299" y="1174401"/>
                </a:lnTo>
                <a:lnTo>
                  <a:pt x="1160342" y="1119321"/>
                </a:lnTo>
                <a:lnTo>
                  <a:pt x="1305385" y="1064067"/>
                </a:lnTo>
                <a:lnTo>
                  <a:pt x="1450428" y="1008725"/>
                </a:lnTo>
                <a:lnTo>
                  <a:pt x="1595470" y="953371"/>
                </a:lnTo>
                <a:lnTo>
                  <a:pt x="1740513" y="898069"/>
                </a:lnTo>
                <a:lnTo>
                  <a:pt x="1885556" y="842876"/>
                </a:lnTo>
                <a:lnTo>
                  <a:pt x="2030599" y="787842"/>
                </a:lnTo>
                <a:lnTo>
                  <a:pt x="2175641" y="733009"/>
                </a:lnTo>
                <a:lnTo>
                  <a:pt x="2320684" y="678413"/>
                </a:lnTo>
                <a:lnTo>
                  <a:pt x="2465727" y="624087"/>
                </a:lnTo>
                <a:lnTo>
                  <a:pt x="2610770" y="570057"/>
                </a:lnTo>
                <a:lnTo>
                  <a:pt x="2755812" y="516346"/>
                </a:lnTo>
                <a:lnTo>
                  <a:pt x="2900855" y="462976"/>
                </a:lnTo>
                <a:lnTo>
                  <a:pt x="3045898" y="409962"/>
                </a:lnTo>
                <a:lnTo>
                  <a:pt x="3190941" y="357320"/>
                </a:lnTo>
                <a:lnTo>
                  <a:pt x="3335983" y="305061"/>
                </a:lnTo>
                <a:lnTo>
                  <a:pt x="3481026" y="253195"/>
                </a:lnTo>
                <a:lnTo>
                  <a:pt x="3626069" y="201730"/>
                </a:lnTo>
                <a:lnTo>
                  <a:pt x="3771112" y="150674"/>
                </a:lnTo>
                <a:lnTo>
                  <a:pt x="3916154" y="100031"/>
                </a:lnTo>
                <a:lnTo>
                  <a:pt x="4061197" y="49805"/>
                </a:lnTo>
                <a:lnTo>
                  <a:pt x="4206240" y="0"/>
                </a:lnTo>
              </a:path>
            </a:pathLst>
          </a:custGeom>
          <a:ln w="31750">
            <a:solidFill>
              <a:srgbClr val="3E6AE1"/>
            </a:solidFill>
            <a:prstDash val="solid"/>
          </a:ln>
        </p:spPr>
      </p:sp>
      <p:sp>
        <p:nvSpPr>
          <p:cNvPr id="34" name="!!fwPt"/>
          <p:cNvSpPr/>
          <p:nvPr/>
        </p:nvSpPr>
        <p:spPr>
          <a:xfrm>
            <a:off x="7758684" y="3205934"/>
            <a:ext cx="164592" cy="164592"/>
          </a:xfrm>
          <a:prstGeom prst="ellipse">
            <a:avLst/>
          </a:prstGeom>
          <a:solidFill>
            <a:srgbClr val="3E6AE1"/>
          </a:solidFill>
          <a:ln w="19050">
            <a:solidFill>
              <a:srgbClr val="FFFFFF"/>
            </a:solidFill>
            <a:prstDash val="solid"/>
          </a:ln>
        </p:spPr>
      </p:sp>
      <p:sp>
        <p:nvSpPr>
          <p:cNvPr id="35" name="!!chip0"/>
          <p:cNvSpPr/>
          <p:nvPr/>
        </p:nvSpPr>
        <p:spPr>
          <a:xfrm>
            <a:off x="6858000" y="4389120"/>
            <a:ext cx="1508760" cy="658368"/>
          </a:xfrm>
          <a:prstGeom prst="roundRect">
            <a:avLst>
              <a:gd name="adj" fmla="val 8333"/>
            </a:avLst>
          </a:prstGeom>
          <a:solidFill>
            <a:srgbClr val="F4F5F7"/>
          </a:solidFill>
          <a:ln/>
        </p:spPr>
      </p:sp>
      <p:sp>
        <p:nvSpPr>
          <p:cNvPr id="36" name="!!chipk0"/>
          <p:cNvSpPr txBox="1"/>
          <p:nvPr/>
        </p:nvSpPr>
        <p:spPr>
          <a:xfrm>
            <a:off x="6967728" y="446227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scale length λ</a:t>
            </a:r>
            <a:endParaRPr lang="en-US" sz="1000" dirty="0"/>
          </a:p>
        </p:txBody>
      </p:sp>
      <p:sp>
        <p:nvSpPr>
          <p:cNvPr id="37" name="!!chipv0"/>
          <p:cNvSpPr txBox="1"/>
          <p:nvPr/>
        </p:nvSpPr>
        <p:spPr>
          <a:xfrm>
            <a:off x="6967728" y="470001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2.00 nm</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38" name="!!chip1"/>
          <p:cNvSpPr/>
          <p:nvPr/>
        </p:nvSpPr>
        <p:spPr>
          <a:xfrm>
            <a:off x="8476488" y="4389120"/>
            <a:ext cx="1508760" cy="658368"/>
          </a:xfrm>
          <a:prstGeom prst="roundRect">
            <a:avLst>
              <a:gd name="adj" fmla="val 8333"/>
            </a:avLst>
          </a:prstGeom>
          <a:solidFill>
            <a:srgbClr val="F4F5F7"/>
          </a:solidFill>
          <a:ln/>
        </p:spPr>
      </p:sp>
      <p:sp>
        <p:nvSpPr>
          <p:cNvPr id="39" name="!!chipk1"/>
          <p:cNvSpPr txBox="1"/>
          <p:nvPr/>
        </p:nvSpPr>
        <p:spPr>
          <a:xfrm>
            <a:off x="8586216" y="446227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SCE = e^(−L/2λ)</a:t>
            </a:r>
            <a:endParaRPr lang="en-US" sz="1000" dirty="0"/>
          </a:p>
        </p:txBody>
      </p:sp>
      <p:sp>
        <p:nvSpPr>
          <p:cNvPr id="40" name="!!chipv1"/>
          <p:cNvSpPr txBox="1"/>
          <p:nvPr/>
        </p:nvSpPr>
        <p:spPr>
          <a:xfrm>
            <a:off x="8586216" y="470001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0.030</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1" name="!!chip2"/>
          <p:cNvSpPr/>
          <p:nvPr/>
        </p:nvSpPr>
        <p:spPr>
          <a:xfrm>
            <a:off x="10094976" y="4389120"/>
            <a:ext cx="1508760" cy="658368"/>
          </a:xfrm>
          <a:prstGeom prst="roundRect">
            <a:avLst>
              <a:gd name="adj" fmla="val 8333"/>
            </a:avLst>
          </a:prstGeom>
          <a:solidFill>
            <a:srgbClr val="F4F5F7"/>
          </a:solidFill>
          <a:ln/>
        </p:spPr>
      </p:sp>
      <p:sp>
        <p:nvSpPr>
          <p:cNvPr id="42" name="!!chipk2"/>
          <p:cNvSpPr txBox="1"/>
          <p:nvPr/>
        </p:nvSpPr>
        <p:spPr>
          <a:xfrm>
            <a:off x="10204704" y="446227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W</a:t>
            </a:r>
            <a:pPr algn="l" indent="0" marL="0">
              <a:buNone/>
            </a:pPr>
            <a:r>
              <a:rPr lang="en-US" sz="1000" baseline="-40000" dirty="0">
                <a:solidFill>
                  <a:srgbClr val="5C5E62"/>
                </a:solidFill>
                <a:latin typeface="Segoe UI" pitchFamily="34" charset="0"/>
                <a:ea typeface="Segoe UI" pitchFamily="34" charset="-122"/>
                <a:cs typeface="Segoe UI" pitchFamily="34" charset="-120"/>
              </a:rPr>
              <a:t>eff</a:t>
            </a:r>
            <a:pPr algn="l" indent="0" marL="0">
              <a:buNone/>
            </a:pPr>
            <a:r>
              <a:rPr lang="en-US" sz="1000" dirty="0">
                <a:solidFill>
                  <a:srgbClr val="5C5E62"/>
                </a:solidFill>
                <a:latin typeface="Segoe UI" pitchFamily="34" charset="0"/>
                <a:ea typeface="Segoe UI" pitchFamily="34" charset="-122"/>
                <a:cs typeface="Segoe UI" pitchFamily="34" charset="-120"/>
              </a:rPr>
              <a:t> = 2H + W</a:t>
            </a:r>
            <a:endParaRPr lang="en-US" sz="1000" dirty="0"/>
          </a:p>
        </p:txBody>
      </p:sp>
      <p:sp>
        <p:nvSpPr>
          <p:cNvPr id="43" name="!!chipv2"/>
          <p:cNvSpPr txBox="1"/>
          <p:nvPr/>
        </p:nvSpPr>
        <p:spPr>
          <a:xfrm>
            <a:off x="10204704" y="470001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85 nm</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44" name="!!knobLbl"/>
          <p:cNvSpPr txBox="1"/>
          <p:nvPr/>
        </p:nvSpPr>
        <p:spPr>
          <a:xfrm>
            <a:off x="7022592" y="512064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fin width W</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fin</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3E6AE1"/>
                </a:solidFill>
                <a:latin typeface="Segoe UI Semibold" pitchFamily="34" charset="0"/>
                <a:ea typeface="Segoe UI Semibold" pitchFamily="34" charset="-122"/>
                <a:cs typeface="Segoe UI Semibold" pitchFamily="34" charset="-120"/>
              </a:rPr>
              <a:t>5 nm</a:t>
            </a:r>
            <a:endParaRPr lang="en-US" sz="1200" dirty="0"/>
          </a:p>
        </p:txBody>
      </p:sp>
      <p:sp>
        <p:nvSpPr>
          <p:cNvPr id="45" name="!!knobTrack"/>
          <p:cNvSpPr/>
          <p:nvPr/>
        </p:nvSpPr>
        <p:spPr>
          <a:xfrm>
            <a:off x="7040880" y="5504688"/>
            <a:ext cx="4480560" cy="54864"/>
          </a:xfrm>
          <a:prstGeom prst="roundRect">
            <a:avLst>
              <a:gd name="adj" fmla="val 50000"/>
            </a:avLst>
          </a:prstGeom>
          <a:solidFill>
            <a:srgbClr val="E2E3E3"/>
          </a:solidFill>
          <a:ln/>
        </p:spPr>
      </p:sp>
      <p:sp>
        <p:nvSpPr>
          <p:cNvPr id="46" name="!!knobFill"/>
          <p:cNvSpPr/>
          <p:nvPr/>
        </p:nvSpPr>
        <p:spPr>
          <a:xfrm>
            <a:off x="7040880" y="5504688"/>
            <a:ext cx="560070" cy="54864"/>
          </a:xfrm>
          <a:prstGeom prst="roundRect">
            <a:avLst>
              <a:gd name="adj" fmla="val 50000"/>
            </a:avLst>
          </a:prstGeom>
          <a:solidFill>
            <a:srgbClr val="3E6AE1"/>
          </a:solidFill>
          <a:ln/>
        </p:spPr>
      </p:sp>
      <p:sp>
        <p:nvSpPr>
          <p:cNvPr id="47" name="!!knobT0"/>
          <p:cNvSpPr txBox="1"/>
          <p:nvPr/>
        </p:nvSpPr>
        <p:spPr>
          <a:xfrm>
            <a:off x="667512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a:t>
            </a:r>
            <a:endParaRPr lang="en-US" sz="900" dirty="0"/>
          </a:p>
        </p:txBody>
      </p:sp>
      <p:sp>
        <p:nvSpPr>
          <p:cNvPr id="48" name="!!knobT1"/>
          <p:cNvSpPr txBox="1"/>
          <p:nvPr/>
        </p:nvSpPr>
        <p:spPr>
          <a:xfrm>
            <a:off x="779526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6</a:t>
            </a:r>
            <a:endParaRPr lang="en-US" sz="900" dirty="0"/>
          </a:p>
        </p:txBody>
      </p:sp>
      <p:sp>
        <p:nvSpPr>
          <p:cNvPr id="49" name="!!knobT2"/>
          <p:cNvSpPr txBox="1"/>
          <p:nvPr/>
        </p:nvSpPr>
        <p:spPr>
          <a:xfrm>
            <a:off x="891540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8</a:t>
            </a:r>
            <a:endParaRPr lang="en-US" sz="900" dirty="0"/>
          </a:p>
        </p:txBody>
      </p:sp>
      <p:sp>
        <p:nvSpPr>
          <p:cNvPr id="50" name="!!knobT3"/>
          <p:cNvSpPr txBox="1"/>
          <p:nvPr/>
        </p:nvSpPr>
        <p:spPr>
          <a:xfrm>
            <a:off x="1003554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10</a:t>
            </a:r>
            <a:endParaRPr lang="en-US" sz="900" dirty="0"/>
          </a:p>
        </p:txBody>
      </p:sp>
      <p:sp>
        <p:nvSpPr>
          <p:cNvPr id="51" name="!!knobT4"/>
          <p:cNvSpPr txBox="1"/>
          <p:nvPr/>
        </p:nvSpPr>
        <p:spPr>
          <a:xfrm>
            <a:off x="111556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12</a:t>
            </a:r>
            <a:endParaRPr lang="en-US" sz="900" dirty="0"/>
          </a:p>
        </p:txBody>
      </p:sp>
      <p:sp>
        <p:nvSpPr>
          <p:cNvPr id="52" name="!!knobThumb"/>
          <p:cNvSpPr/>
          <p:nvPr/>
        </p:nvSpPr>
        <p:spPr>
          <a:xfrm>
            <a:off x="7500366" y="5431536"/>
            <a:ext cx="201168" cy="201168"/>
          </a:xfrm>
          <a:prstGeom prst="ellipse">
            <a:avLst/>
          </a:prstGeom>
          <a:solidFill>
            <a:srgbClr val="FFFFFF"/>
          </a:solidFill>
          <a:ln w="28575">
            <a:solidFill>
              <a:srgbClr val="3E6AE1"/>
            </a:solidFill>
            <a:prstDash val="solid"/>
          </a:ln>
        </p:spPr>
      </p:sp>
      <p:sp>
        <p:nvSpPr>
          <p:cNvPr id="5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Thin fin (5 nm): λ = 2.0 nm, but the fin is hard to make and carries a little less current.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57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Wire, sheet, stack</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The shape of the channel sets the current (W</a:t>
            </a:r>
            <a:pPr algn="l" indent="0" marL="0">
              <a:buNone/>
            </a:pPr>
            <a:r>
              <a:rPr lang="en-US" sz="1600" baseline="-40000" dirty="0">
                <a:solidFill>
                  <a:srgbClr val="5C5E62"/>
                </a:solidFill>
                <a:latin typeface="Segoe UI" pitchFamily="34" charset="0"/>
                <a:ea typeface="Segoe UI" pitchFamily="34" charset="-122"/>
                <a:cs typeface="Segoe UI" pitchFamily="34" charset="-120"/>
              </a:rPr>
              <a:t>eff</a:t>
            </a:r>
            <a:pPr algn="l" indent="0" marL="0">
              <a:buNone/>
            </a:pPr>
            <a:r>
              <a:rPr lang="en-US" sz="1600" dirty="0">
                <a:solidFill>
                  <a:srgbClr val="5C5E62"/>
                </a:solidFill>
                <a:latin typeface="Segoe UI" pitchFamily="34" charset="0"/>
                <a:ea typeface="Segoe UI" pitchFamily="34" charset="-122"/>
                <a:cs typeface="Segoe UI" pitchFamily="34" charset="-120"/>
              </a:rPr>
              <a:t>) and the control (λ)</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E2E3E3"/>
          </a:solidFill>
          <a:ln/>
        </p:spPr>
      </p:sp>
      <p:sp>
        <p:nvSpPr>
          <p:cNvPr id="6" name="!!sdot2"/>
          <p:cNvSpPr/>
          <p:nvPr/>
        </p:nvSpPr>
        <p:spPr>
          <a:xfrm>
            <a:off x="11443716" y="525780"/>
            <a:ext cx="82296" cy="82296"/>
          </a:xfrm>
          <a:prstGeom prst="ellipse">
            <a:avLst/>
          </a:prstGeom>
          <a:solidFill>
            <a:srgbClr val="E2E3E3"/>
          </a:solidFill>
          <a:ln/>
        </p:spPr>
      </p:sp>
      <p:sp>
        <p:nvSpPr>
          <p:cNvPr id="7" name="!!sdot3"/>
          <p:cNvSpPr/>
          <p:nvPr/>
        </p:nvSpPr>
        <p:spPr>
          <a:xfrm>
            <a:off x="11599164" y="525780"/>
            <a:ext cx="82296" cy="82296"/>
          </a:xfrm>
          <a:prstGeom prst="ellipse">
            <a:avLst/>
          </a:prstGeom>
          <a:solidFill>
            <a:srgbClr val="E2E3E3"/>
          </a:solidFill>
          <a:ln/>
        </p:spPr>
      </p:sp>
      <p:sp>
        <p:nvSpPr>
          <p:cNvPr id="8" name="!!shN"/>
          <p:cNvSpPr txBox="1"/>
          <p:nvPr/>
        </p:nvSpPr>
        <p:spPr>
          <a:xfrm>
            <a:off x="548640" y="1463040"/>
            <a:ext cx="5486400" cy="365760"/>
          </a:xfrm>
          <a:prstGeom prst="rect">
            <a:avLst/>
          </a:prstGeom>
          <a:noFill/>
          <a:ln/>
        </p:spPr>
        <p:txBody>
          <a:bodyPr wrap="square" lIns="0" tIns="0" rIns="0" bIns="0" rtlCol="0" anchor="t"/>
          <a:lstStyle/>
          <a:p>
            <a:pPr algn="ctr" indent="0" marL="0">
              <a:buNone/>
            </a:pPr>
            <a:r>
              <a:rPr lang="en-US" sz="2000" dirty="0">
                <a:solidFill>
                  <a:srgbClr val="171A20"/>
                </a:solidFill>
                <a:latin typeface="Segoe UI Semibold" pitchFamily="34" charset="0"/>
                <a:ea typeface="Segoe UI Semibold" pitchFamily="34" charset="-122"/>
                <a:cs typeface="Segoe UI Semibold" pitchFamily="34" charset="-120"/>
              </a:rPr>
              <a:t>Nanowire, r = 4 nm</a:t>
            </a:r>
            <a:endParaRPr lang="en-US" sz="2000" dirty="0"/>
          </a:p>
        </p:txBody>
      </p:sp>
      <p:sp>
        <p:nvSpPr>
          <p:cNvPr id="9" name="!!shS"/>
          <p:cNvSpPr txBox="1"/>
          <p:nvPr/>
        </p:nvSpPr>
        <p:spPr>
          <a:xfrm>
            <a:off x="548640" y="1828800"/>
            <a:ext cx="5486400" cy="274320"/>
          </a:xfrm>
          <a:prstGeom prst="rect">
            <a:avLst/>
          </a:prstGeom>
          <a:noFill/>
          <a:ln/>
        </p:spPr>
        <p:txBody>
          <a:bodyPr wrap="square" lIns="0" tIns="0" rIns="0" bIns="0" rtlCol="0" anchor="t"/>
          <a:lstStyle/>
          <a:p>
            <a:pPr algn="ctr" indent="0" marL="0">
              <a:buNone/>
            </a:pPr>
            <a:r>
              <a:rPr lang="en-US" sz="1200" dirty="0">
                <a:solidFill>
                  <a:srgbClr val="5C5E62"/>
                </a:solidFill>
                <a:latin typeface="Segoe UI" pitchFamily="34" charset="0"/>
                <a:ea typeface="Segoe UI" pitchFamily="34" charset="-122"/>
                <a:cs typeface="Segoe UI" pitchFamily="34" charset="-120"/>
              </a:rPr>
              <a:t>our standard device</a:t>
            </a:r>
            <a:endParaRPr lang="en-US" sz="1200" dirty="0"/>
          </a:p>
        </p:txBody>
      </p:sp>
      <p:sp>
        <p:nvSpPr>
          <p:cNvPr id="10" name="!!shG"/>
          <p:cNvSpPr/>
          <p:nvPr/>
        </p:nvSpPr>
        <p:spPr>
          <a:xfrm>
            <a:off x="2514600" y="2834640"/>
            <a:ext cx="1554480" cy="1554480"/>
          </a:xfrm>
          <a:prstGeom prst="roundRect">
            <a:avLst>
              <a:gd name="adj" fmla="val 50000"/>
            </a:avLst>
          </a:prstGeom>
          <a:solidFill>
            <a:srgbClr val="B3A6E6"/>
          </a:solidFill>
          <a:ln/>
        </p:spPr>
      </p:sp>
      <p:sp>
        <p:nvSpPr>
          <p:cNvPr id="11" name="!!shO0"/>
          <p:cNvSpPr/>
          <p:nvPr/>
        </p:nvSpPr>
        <p:spPr>
          <a:xfrm>
            <a:off x="2852928" y="3172968"/>
            <a:ext cx="877824" cy="877824"/>
          </a:xfrm>
          <a:prstGeom prst="roundRect">
            <a:avLst>
              <a:gd name="adj" fmla="val 50000"/>
            </a:avLst>
          </a:prstGeom>
          <a:solidFill>
            <a:srgbClr val="8FCBE0"/>
          </a:solidFill>
          <a:ln/>
        </p:spPr>
      </p:sp>
      <p:sp>
        <p:nvSpPr>
          <p:cNvPr id="12" name="!!shC0"/>
          <p:cNvSpPr/>
          <p:nvPr/>
        </p:nvSpPr>
        <p:spPr>
          <a:xfrm>
            <a:off x="2926080" y="3246120"/>
            <a:ext cx="731520" cy="731520"/>
          </a:xfrm>
          <a:prstGeom prst="roundRect">
            <a:avLst>
              <a:gd name="adj" fmla="val 50000"/>
            </a:avLst>
          </a:prstGeom>
          <a:solidFill>
            <a:srgbClr val="F6E7B8"/>
          </a:solidFill>
          <a:ln/>
        </p:spPr>
      </p:sp>
      <p:sp>
        <p:nvSpPr>
          <p:cNvPr id="13" name="!!shO1"/>
          <p:cNvSpPr/>
          <p:nvPr/>
        </p:nvSpPr>
        <p:spPr>
          <a:xfrm>
            <a:off x="2852928" y="3172968"/>
            <a:ext cx="877824" cy="877824"/>
          </a:xfrm>
          <a:prstGeom prst="roundRect">
            <a:avLst>
              <a:gd name="adj" fmla="val 50000"/>
            </a:avLst>
          </a:prstGeom>
          <a:solidFill>
            <a:srgbClr val="8FCBE0"/>
          </a:solidFill>
          <a:ln/>
        </p:spPr>
      </p:sp>
      <p:sp>
        <p:nvSpPr>
          <p:cNvPr id="14" name="!!shC1"/>
          <p:cNvSpPr/>
          <p:nvPr/>
        </p:nvSpPr>
        <p:spPr>
          <a:xfrm>
            <a:off x="2926080" y="3246120"/>
            <a:ext cx="731520" cy="731520"/>
          </a:xfrm>
          <a:prstGeom prst="roundRect">
            <a:avLst>
              <a:gd name="adj" fmla="val 50000"/>
            </a:avLst>
          </a:prstGeom>
          <a:solidFill>
            <a:srgbClr val="F6E7B8"/>
          </a:solidFill>
          <a:ln/>
        </p:spPr>
      </p:sp>
      <p:sp>
        <p:nvSpPr>
          <p:cNvPr id="15" name="!!shO2"/>
          <p:cNvSpPr/>
          <p:nvPr/>
        </p:nvSpPr>
        <p:spPr>
          <a:xfrm>
            <a:off x="2852928" y="3172968"/>
            <a:ext cx="877824" cy="877824"/>
          </a:xfrm>
          <a:prstGeom prst="roundRect">
            <a:avLst>
              <a:gd name="adj" fmla="val 50000"/>
            </a:avLst>
          </a:prstGeom>
          <a:solidFill>
            <a:srgbClr val="8FCBE0"/>
          </a:solidFill>
          <a:ln/>
        </p:spPr>
      </p:sp>
      <p:sp>
        <p:nvSpPr>
          <p:cNvPr id="16" name="!!shC2"/>
          <p:cNvSpPr/>
          <p:nvPr/>
        </p:nvSpPr>
        <p:spPr>
          <a:xfrm>
            <a:off x="2926080" y="3246120"/>
            <a:ext cx="731520" cy="731520"/>
          </a:xfrm>
          <a:prstGeom prst="roundRect">
            <a:avLst>
              <a:gd name="adj" fmla="val 50000"/>
            </a:avLst>
          </a:prstGeom>
          <a:solidFill>
            <a:srgbClr val="F6E7B8"/>
          </a:solidFill>
          <a:ln/>
        </p:spPr>
      </p:sp>
      <p:sp>
        <p:nvSpPr>
          <p:cNvPr id="17" name="!!shGl"/>
          <p:cNvSpPr txBox="1"/>
          <p:nvPr/>
        </p:nvSpPr>
        <p:spPr>
          <a:xfrm>
            <a:off x="4754880" y="3474720"/>
            <a:ext cx="1463040" cy="274320"/>
          </a:xfrm>
          <a:prstGeom prst="rect">
            <a:avLst/>
          </a:prstGeom>
          <a:noFill/>
          <a:ln/>
        </p:spPr>
        <p:txBody>
          <a:bodyPr wrap="square" lIns="0" tIns="0" rIns="0" bIns="0" rtlCol="0" anchor="t"/>
          <a:lstStyle/>
          <a:p>
            <a:pPr algn="l" indent="0" marL="0">
              <a:buNone/>
            </a:pPr>
            <a:r>
              <a:rPr lang="en-US" sz="1100" dirty="0">
                <a:solidFill>
                  <a:srgbClr val="6B5BC4"/>
                </a:solidFill>
                <a:latin typeface="Segoe UI Semibold" pitchFamily="34" charset="0"/>
                <a:ea typeface="Segoe UI Semibold" pitchFamily="34" charset="-122"/>
                <a:cs typeface="Segoe UI Semibold" pitchFamily="34" charset="-120"/>
              </a:rPr>
              <a:t>gate (all round)</a:t>
            </a:r>
            <a:endParaRPr lang="en-US" sz="1100" dirty="0"/>
          </a:p>
        </p:txBody>
      </p:sp>
      <p:sp>
        <p:nvSpPr>
          <p:cNvPr id="18" name="!!shBt"/>
          <p:cNvSpPr txBox="1"/>
          <p:nvPr/>
        </p:nvSpPr>
        <p:spPr>
          <a:xfrm>
            <a:off x="6675120" y="1463040"/>
            <a:ext cx="4937760" cy="274320"/>
          </a:xfrm>
          <a:prstGeom prst="rect">
            <a:avLst/>
          </a:prstGeom>
          <a:noFill/>
          <a:ln/>
        </p:spPr>
        <p:txBody>
          <a:bodyPr wrap="square" lIns="0" tIns="0" rIns="0" bIns="0" rtlCol="0" anchor="t"/>
          <a:lstStyle/>
          <a:p>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W</a:t>
            </a:r>
            <a:pPr algn="l"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eff</a:t>
            </a:r>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 = gate perimeter (nm)   →   I</a:t>
            </a:r>
            <a:pPr algn="l"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on</a:t>
            </a:r>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 ∝ W</a:t>
            </a:r>
            <a:pPr algn="l"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eff</a:t>
            </a:r>
            <a:endParaRPr lang="en-US" sz="1300" dirty="0"/>
          </a:p>
        </p:txBody>
      </p:sp>
      <p:sp>
        <p:nvSpPr>
          <p:cNvPr id="19" name="!!shB0"/>
          <p:cNvSpPr/>
          <p:nvPr/>
        </p:nvSpPr>
        <p:spPr>
          <a:xfrm>
            <a:off x="6949440" y="3808415"/>
            <a:ext cx="777240" cy="397825"/>
          </a:xfrm>
          <a:prstGeom prst="rect">
            <a:avLst/>
          </a:prstGeom>
          <a:solidFill>
            <a:srgbClr val="11998E"/>
          </a:solidFill>
          <a:ln/>
        </p:spPr>
      </p:sp>
      <p:sp>
        <p:nvSpPr>
          <p:cNvPr id="20" name="!!shBv0"/>
          <p:cNvSpPr txBox="1"/>
          <p:nvPr/>
        </p:nvSpPr>
        <p:spPr>
          <a:xfrm>
            <a:off x="6766560" y="3534095"/>
            <a:ext cx="114300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25.1</a:t>
            </a:r>
            <a:endParaRPr lang="en-US" sz="1100" dirty="0"/>
          </a:p>
        </p:txBody>
      </p:sp>
      <p:sp>
        <p:nvSpPr>
          <p:cNvPr id="21" name="!!shBl0"/>
          <p:cNvSpPr txBox="1"/>
          <p:nvPr/>
        </p:nvSpPr>
        <p:spPr>
          <a:xfrm>
            <a:off x="6766560" y="4251960"/>
            <a:ext cx="114300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wire 4</a:t>
            </a:r>
            <a:endParaRPr lang="en-US" sz="1000" dirty="0"/>
          </a:p>
        </p:txBody>
      </p:sp>
      <p:sp>
        <p:nvSpPr>
          <p:cNvPr id="22" name="!!shB1"/>
          <p:cNvSpPr/>
          <p:nvPr/>
        </p:nvSpPr>
        <p:spPr>
          <a:xfrm>
            <a:off x="8092440" y="3645164"/>
            <a:ext cx="777240" cy="561076"/>
          </a:xfrm>
          <a:prstGeom prst="rect">
            <a:avLst/>
          </a:prstGeom>
          <a:solidFill>
            <a:srgbClr val="F4F5F7"/>
          </a:solidFill>
          <a:ln/>
        </p:spPr>
      </p:sp>
      <p:sp>
        <p:nvSpPr>
          <p:cNvPr id="23" name="!!shBv1"/>
          <p:cNvSpPr txBox="1"/>
          <p:nvPr/>
        </p:nvSpPr>
        <p:spPr>
          <a:xfrm>
            <a:off x="7909560" y="3370844"/>
            <a:ext cx="1143000" cy="228600"/>
          </a:xfrm>
          <a:prstGeom prst="rect">
            <a:avLst/>
          </a:prstGeom>
          <a:noFill/>
          <a:ln/>
        </p:spPr>
        <p:txBody>
          <a:bodyPr wrap="square" lIns="0" tIns="0" rIns="0" bIns="0" rtlCol="0" anchor="t"/>
          <a:lstStyle/>
          <a:p>
            <a:pPr algn="ctr" indent="0" marL="0">
              <a:buNone/>
            </a:pPr>
            <a:endParaRPr lang="en-US" sz="1100" dirty="0"/>
          </a:p>
        </p:txBody>
      </p:sp>
      <p:sp>
        <p:nvSpPr>
          <p:cNvPr id="24" name="!!shBl1"/>
          <p:cNvSpPr txBox="1"/>
          <p:nvPr/>
        </p:nvSpPr>
        <p:spPr>
          <a:xfrm>
            <a:off x="7909560" y="4251960"/>
            <a:ext cx="114300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wire 5.64</a:t>
            </a:r>
            <a:endParaRPr lang="en-US" sz="1000" dirty="0"/>
          </a:p>
        </p:txBody>
      </p:sp>
      <p:sp>
        <p:nvSpPr>
          <p:cNvPr id="25" name="!!shB2"/>
          <p:cNvSpPr/>
          <p:nvPr/>
        </p:nvSpPr>
        <p:spPr>
          <a:xfrm>
            <a:off x="9235440" y="3413760"/>
            <a:ext cx="777240" cy="792480"/>
          </a:xfrm>
          <a:prstGeom prst="rect">
            <a:avLst/>
          </a:prstGeom>
          <a:solidFill>
            <a:srgbClr val="F4F5F7"/>
          </a:solidFill>
          <a:ln/>
        </p:spPr>
      </p:sp>
      <p:sp>
        <p:nvSpPr>
          <p:cNvPr id="26" name="!!shBv2"/>
          <p:cNvSpPr txBox="1"/>
          <p:nvPr/>
        </p:nvSpPr>
        <p:spPr>
          <a:xfrm>
            <a:off x="9052560" y="3139440"/>
            <a:ext cx="1143000" cy="228600"/>
          </a:xfrm>
          <a:prstGeom prst="rect">
            <a:avLst/>
          </a:prstGeom>
          <a:noFill/>
          <a:ln/>
        </p:spPr>
        <p:txBody>
          <a:bodyPr wrap="square" lIns="0" tIns="0" rIns="0" bIns="0" rtlCol="0" anchor="t"/>
          <a:lstStyle/>
          <a:p>
            <a:pPr algn="ctr" indent="0" marL="0">
              <a:buNone/>
            </a:pPr>
            <a:endParaRPr lang="en-US" sz="1100" dirty="0"/>
          </a:p>
        </p:txBody>
      </p:sp>
      <p:sp>
        <p:nvSpPr>
          <p:cNvPr id="27" name="!!shBl2"/>
          <p:cNvSpPr txBox="1"/>
          <p:nvPr/>
        </p:nvSpPr>
        <p:spPr>
          <a:xfrm>
            <a:off x="9052560" y="4251960"/>
            <a:ext cx="114300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sheet</a:t>
            </a:r>
            <a:endParaRPr lang="en-US" sz="1000" dirty="0"/>
          </a:p>
        </p:txBody>
      </p:sp>
      <p:sp>
        <p:nvSpPr>
          <p:cNvPr id="28" name="!!shB3"/>
          <p:cNvSpPr/>
          <p:nvPr/>
        </p:nvSpPr>
        <p:spPr>
          <a:xfrm>
            <a:off x="10378440" y="1828800"/>
            <a:ext cx="777240" cy="2377440"/>
          </a:xfrm>
          <a:prstGeom prst="rect">
            <a:avLst/>
          </a:prstGeom>
          <a:solidFill>
            <a:srgbClr val="F4F5F7"/>
          </a:solidFill>
          <a:ln/>
        </p:spPr>
      </p:sp>
      <p:sp>
        <p:nvSpPr>
          <p:cNvPr id="29" name="!!shBv3"/>
          <p:cNvSpPr txBox="1"/>
          <p:nvPr/>
        </p:nvSpPr>
        <p:spPr>
          <a:xfrm>
            <a:off x="10195560" y="1554480"/>
            <a:ext cx="1143000" cy="228600"/>
          </a:xfrm>
          <a:prstGeom prst="rect">
            <a:avLst/>
          </a:prstGeom>
          <a:noFill/>
          <a:ln/>
        </p:spPr>
        <p:txBody>
          <a:bodyPr wrap="square" lIns="0" tIns="0" rIns="0" bIns="0" rtlCol="0" anchor="t"/>
          <a:lstStyle/>
          <a:p>
            <a:pPr algn="ctr" indent="0" marL="0">
              <a:buNone/>
            </a:pPr>
            <a:endParaRPr lang="en-US" sz="1100" dirty="0"/>
          </a:p>
        </p:txBody>
      </p:sp>
      <p:sp>
        <p:nvSpPr>
          <p:cNvPr id="30" name="!!shBl3"/>
          <p:cNvSpPr txBox="1"/>
          <p:nvPr/>
        </p:nvSpPr>
        <p:spPr>
          <a:xfrm>
            <a:off x="10195560" y="4251960"/>
            <a:ext cx="114300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stack</a:t>
            </a:r>
            <a:endParaRPr lang="en-US" sz="1000" dirty="0"/>
          </a:p>
        </p:txBody>
      </p:sp>
      <p:sp>
        <p:nvSpPr>
          <p:cNvPr id="31" name="!!chip0"/>
          <p:cNvSpPr/>
          <p:nvPr/>
        </p:nvSpPr>
        <p:spPr>
          <a:xfrm>
            <a:off x="6675120" y="4617720"/>
            <a:ext cx="1554480" cy="658368"/>
          </a:xfrm>
          <a:prstGeom prst="roundRect">
            <a:avLst>
              <a:gd name="adj" fmla="val 8333"/>
            </a:avLst>
          </a:prstGeom>
          <a:solidFill>
            <a:srgbClr val="F4F5F7"/>
          </a:solidFill>
          <a:ln/>
        </p:spPr>
      </p:sp>
      <p:sp>
        <p:nvSpPr>
          <p:cNvPr id="32" name="!!chipk0"/>
          <p:cNvSpPr txBox="1"/>
          <p:nvPr/>
        </p:nvSpPr>
        <p:spPr>
          <a:xfrm>
            <a:off x="6784848" y="4690872"/>
            <a:ext cx="133502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W</a:t>
            </a:r>
            <a:pPr algn="l" indent="0" marL="0">
              <a:buNone/>
            </a:pPr>
            <a:r>
              <a:rPr lang="en-US" sz="1000" baseline="-40000" dirty="0">
                <a:solidFill>
                  <a:srgbClr val="5C5E62"/>
                </a:solidFill>
                <a:latin typeface="Segoe UI" pitchFamily="34" charset="0"/>
                <a:ea typeface="Segoe UI" pitchFamily="34" charset="-122"/>
                <a:cs typeface="Segoe UI" pitchFamily="34" charset="-120"/>
              </a:rPr>
              <a:t>eff</a:t>
            </a:r>
            <a:endParaRPr lang="en-US" sz="1000" dirty="0"/>
          </a:p>
        </p:txBody>
      </p:sp>
      <p:sp>
        <p:nvSpPr>
          <p:cNvPr id="33" name="!!chipv0"/>
          <p:cNvSpPr txBox="1"/>
          <p:nvPr/>
        </p:nvSpPr>
        <p:spPr>
          <a:xfrm>
            <a:off x="6784848" y="4928616"/>
            <a:ext cx="137160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25.1 nm</a:t>
            </a:r>
            <a:endParaRPr lang="en-US" sz="1500" dirty="0"/>
          </a:p>
        </p:txBody>
      </p:sp>
      <p:sp>
        <p:nvSpPr>
          <p:cNvPr id="34" name="!!chip1"/>
          <p:cNvSpPr/>
          <p:nvPr/>
        </p:nvSpPr>
        <p:spPr>
          <a:xfrm>
            <a:off x="8339328" y="4617720"/>
            <a:ext cx="1554480" cy="658368"/>
          </a:xfrm>
          <a:prstGeom prst="roundRect">
            <a:avLst>
              <a:gd name="adj" fmla="val 8333"/>
            </a:avLst>
          </a:prstGeom>
          <a:solidFill>
            <a:srgbClr val="F4F5F7"/>
          </a:solidFill>
          <a:ln/>
        </p:spPr>
      </p:sp>
      <p:sp>
        <p:nvSpPr>
          <p:cNvPr id="35" name="!!chipk1"/>
          <p:cNvSpPr txBox="1"/>
          <p:nvPr/>
        </p:nvSpPr>
        <p:spPr>
          <a:xfrm>
            <a:off x="8449056" y="4690872"/>
            <a:ext cx="133502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scale length λ</a:t>
            </a:r>
            <a:endParaRPr lang="en-US" sz="1000" dirty="0"/>
          </a:p>
        </p:txBody>
      </p:sp>
      <p:sp>
        <p:nvSpPr>
          <p:cNvPr id="36" name="!!chipv1"/>
          <p:cNvSpPr txBox="1"/>
          <p:nvPr/>
        </p:nvSpPr>
        <p:spPr>
          <a:xfrm>
            <a:off x="8449056" y="4928616"/>
            <a:ext cx="137160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2.18 nm</a:t>
            </a:r>
            <a:endParaRPr lang="en-US" sz="1500" dirty="0"/>
          </a:p>
        </p:txBody>
      </p:sp>
      <p:sp>
        <p:nvSpPr>
          <p:cNvPr id="37" name="!!chip2"/>
          <p:cNvSpPr/>
          <p:nvPr/>
        </p:nvSpPr>
        <p:spPr>
          <a:xfrm>
            <a:off x="10003536" y="4617720"/>
            <a:ext cx="1554480" cy="658368"/>
          </a:xfrm>
          <a:prstGeom prst="roundRect">
            <a:avLst>
              <a:gd name="adj" fmla="val 8333"/>
            </a:avLst>
          </a:prstGeom>
          <a:solidFill>
            <a:srgbClr val="F4F5F7"/>
          </a:solidFill>
          <a:ln/>
        </p:spPr>
      </p:sp>
      <p:sp>
        <p:nvSpPr>
          <p:cNvPr id="38" name="!!chipk2"/>
          <p:cNvSpPr txBox="1"/>
          <p:nvPr/>
        </p:nvSpPr>
        <p:spPr>
          <a:xfrm>
            <a:off x="10113264" y="4690872"/>
            <a:ext cx="133502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silicon area</a:t>
            </a:r>
            <a:endParaRPr lang="en-US" sz="1000" dirty="0"/>
          </a:p>
        </p:txBody>
      </p:sp>
      <p:sp>
        <p:nvSpPr>
          <p:cNvPr id="39" name="!!chipv2"/>
          <p:cNvSpPr txBox="1"/>
          <p:nvPr/>
        </p:nvSpPr>
        <p:spPr>
          <a:xfrm>
            <a:off x="10113264" y="4928616"/>
            <a:ext cx="137160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50 nm²</a:t>
            </a:r>
            <a:endParaRPr lang="en-US" sz="1500" dirty="0"/>
          </a:p>
        </p:txBody>
      </p:sp>
      <p:sp>
        <p:nvSpPr>
          <p:cNvPr id="40"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A round wire: gate on every side, nothing is far from the gate.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58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Wire, sheet, stack</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The shape of the channel sets the current (W</a:t>
            </a:r>
            <a:pPr algn="l" indent="0" marL="0">
              <a:buNone/>
            </a:pPr>
            <a:r>
              <a:rPr lang="en-US" sz="1600" baseline="-40000" dirty="0">
                <a:solidFill>
                  <a:srgbClr val="5C5E62"/>
                </a:solidFill>
                <a:latin typeface="Segoe UI" pitchFamily="34" charset="0"/>
                <a:ea typeface="Segoe UI" pitchFamily="34" charset="-122"/>
                <a:cs typeface="Segoe UI" pitchFamily="34" charset="-120"/>
              </a:rPr>
              <a:t>eff</a:t>
            </a:r>
            <a:pPr algn="l" indent="0" marL="0">
              <a:buNone/>
            </a:pPr>
            <a:r>
              <a:rPr lang="en-US" sz="1600" dirty="0">
                <a:solidFill>
                  <a:srgbClr val="5C5E62"/>
                </a:solidFill>
                <a:latin typeface="Segoe UI" pitchFamily="34" charset="0"/>
                <a:ea typeface="Segoe UI" pitchFamily="34" charset="-122"/>
                <a:cs typeface="Segoe UI" pitchFamily="34" charset="-120"/>
              </a:rPr>
              <a:t>) and the control (λ)</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171A20"/>
          </a:solidFill>
          <a:ln/>
        </p:spPr>
      </p:sp>
      <p:sp>
        <p:nvSpPr>
          <p:cNvPr id="6" name="!!sdot2"/>
          <p:cNvSpPr/>
          <p:nvPr/>
        </p:nvSpPr>
        <p:spPr>
          <a:xfrm>
            <a:off x="11443716" y="525780"/>
            <a:ext cx="82296" cy="82296"/>
          </a:xfrm>
          <a:prstGeom prst="ellipse">
            <a:avLst/>
          </a:prstGeom>
          <a:solidFill>
            <a:srgbClr val="E2E3E3"/>
          </a:solidFill>
          <a:ln/>
        </p:spPr>
      </p:sp>
      <p:sp>
        <p:nvSpPr>
          <p:cNvPr id="7" name="!!sdot3"/>
          <p:cNvSpPr/>
          <p:nvPr/>
        </p:nvSpPr>
        <p:spPr>
          <a:xfrm>
            <a:off x="11599164" y="525780"/>
            <a:ext cx="82296" cy="82296"/>
          </a:xfrm>
          <a:prstGeom prst="ellipse">
            <a:avLst/>
          </a:prstGeom>
          <a:solidFill>
            <a:srgbClr val="E2E3E3"/>
          </a:solidFill>
          <a:ln/>
        </p:spPr>
      </p:sp>
      <p:sp>
        <p:nvSpPr>
          <p:cNvPr id="8" name="!!shN"/>
          <p:cNvSpPr txBox="1"/>
          <p:nvPr/>
        </p:nvSpPr>
        <p:spPr>
          <a:xfrm>
            <a:off x="548640" y="1463040"/>
            <a:ext cx="5486400" cy="365760"/>
          </a:xfrm>
          <a:prstGeom prst="rect">
            <a:avLst/>
          </a:prstGeom>
          <a:noFill/>
          <a:ln/>
        </p:spPr>
        <p:txBody>
          <a:bodyPr wrap="square" lIns="0" tIns="0" rIns="0" bIns="0" rtlCol="0" anchor="t"/>
          <a:lstStyle/>
          <a:p>
            <a:pPr algn="ctr" indent="0" marL="0">
              <a:buNone/>
            </a:pPr>
            <a:r>
              <a:rPr lang="en-US" sz="2000" dirty="0">
                <a:solidFill>
                  <a:srgbClr val="171A20"/>
                </a:solidFill>
                <a:latin typeface="Segoe UI Semibold" pitchFamily="34" charset="0"/>
                <a:ea typeface="Segoe UI Semibold" pitchFamily="34" charset="-122"/>
                <a:cs typeface="Segoe UI Semibold" pitchFamily="34" charset="-120"/>
              </a:rPr>
              <a:t>Nanowire, r = 5.64 nm</a:t>
            </a:r>
            <a:endParaRPr lang="en-US" sz="2000" dirty="0"/>
          </a:p>
        </p:txBody>
      </p:sp>
      <p:sp>
        <p:nvSpPr>
          <p:cNvPr id="9" name="!!shS"/>
          <p:cNvSpPr txBox="1"/>
          <p:nvPr/>
        </p:nvSpPr>
        <p:spPr>
          <a:xfrm>
            <a:off x="548640" y="1828800"/>
            <a:ext cx="5486400" cy="274320"/>
          </a:xfrm>
          <a:prstGeom prst="rect">
            <a:avLst/>
          </a:prstGeom>
          <a:noFill/>
          <a:ln/>
        </p:spPr>
        <p:txBody>
          <a:bodyPr wrap="square" lIns="0" tIns="0" rIns="0" bIns="0" rtlCol="0" anchor="t"/>
          <a:lstStyle/>
          <a:p>
            <a:pPr algn="ctr" indent="0" marL="0">
              <a:buNone/>
            </a:pPr>
            <a:r>
              <a:rPr lang="en-US" sz="1200" dirty="0">
                <a:solidFill>
                  <a:srgbClr val="5C5E62"/>
                </a:solidFill>
                <a:latin typeface="Segoe UI" pitchFamily="34" charset="0"/>
                <a:ea typeface="Segoe UI" pitchFamily="34" charset="-122"/>
                <a:cs typeface="Segoe UI" pitchFamily="34" charset="-120"/>
              </a:rPr>
              <a:t>our reproduced device (same 100 nm² as the sheet)</a:t>
            </a:r>
            <a:endParaRPr lang="en-US" sz="1200" dirty="0"/>
          </a:p>
        </p:txBody>
      </p:sp>
      <p:sp>
        <p:nvSpPr>
          <p:cNvPr id="10" name="!!shG"/>
          <p:cNvSpPr/>
          <p:nvPr/>
        </p:nvSpPr>
        <p:spPr>
          <a:xfrm>
            <a:off x="2363724" y="2683764"/>
            <a:ext cx="1856232" cy="1856232"/>
          </a:xfrm>
          <a:prstGeom prst="roundRect">
            <a:avLst>
              <a:gd name="adj" fmla="val 50000"/>
            </a:avLst>
          </a:prstGeom>
          <a:solidFill>
            <a:srgbClr val="B3A6E6"/>
          </a:solidFill>
          <a:ln/>
        </p:spPr>
      </p:sp>
      <p:sp>
        <p:nvSpPr>
          <p:cNvPr id="11" name="!!shO0"/>
          <p:cNvSpPr/>
          <p:nvPr/>
        </p:nvSpPr>
        <p:spPr>
          <a:xfrm>
            <a:off x="2702052" y="3022092"/>
            <a:ext cx="1179576" cy="1179576"/>
          </a:xfrm>
          <a:prstGeom prst="roundRect">
            <a:avLst>
              <a:gd name="adj" fmla="val 50000"/>
            </a:avLst>
          </a:prstGeom>
          <a:solidFill>
            <a:srgbClr val="8FCBE0"/>
          </a:solidFill>
          <a:ln/>
        </p:spPr>
      </p:sp>
      <p:sp>
        <p:nvSpPr>
          <p:cNvPr id="12" name="!!shC0"/>
          <p:cNvSpPr/>
          <p:nvPr/>
        </p:nvSpPr>
        <p:spPr>
          <a:xfrm>
            <a:off x="2775204" y="3095244"/>
            <a:ext cx="1033272" cy="1033272"/>
          </a:xfrm>
          <a:prstGeom prst="roundRect">
            <a:avLst>
              <a:gd name="adj" fmla="val 50000"/>
            </a:avLst>
          </a:prstGeom>
          <a:solidFill>
            <a:srgbClr val="F6E7B8"/>
          </a:solidFill>
          <a:ln/>
        </p:spPr>
      </p:sp>
      <p:sp>
        <p:nvSpPr>
          <p:cNvPr id="13" name="!!shO1"/>
          <p:cNvSpPr/>
          <p:nvPr/>
        </p:nvSpPr>
        <p:spPr>
          <a:xfrm>
            <a:off x="2702052" y="3022092"/>
            <a:ext cx="1179576" cy="1179576"/>
          </a:xfrm>
          <a:prstGeom prst="roundRect">
            <a:avLst>
              <a:gd name="adj" fmla="val 50000"/>
            </a:avLst>
          </a:prstGeom>
          <a:solidFill>
            <a:srgbClr val="8FCBE0"/>
          </a:solidFill>
          <a:ln/>
        </p:spPr>
      </p:sp>
      <p:sp>
        <p:nvSpPr>
          <p:cNvPr id="14" name="!!shC1"/>
          <p:cNvSpPr/>
          <p:nvPr/>
        </p:nvSpPr>
        <p:spPr>
          <a:xfrm>
            <a:off x="2775204" y="3095244"/>
            <a:ext cx="1033272" cy="1033272"/>
          </a:xfrm>
          <a:prstGeom prst="roundRect">
            <a:avLst>
              <a:gd name="adj" fmla="val 50000"/>
            </a:avLst>
          </a:prstGeom>
          <a:solidFill>
            <a:srgbClr val="F6E7B8"/>
          </a:solidFill>
          <a:ln/>
        </p:spPr>
      </p:sp>
      <p:sp>
        <p:nvSpPr>
          <p:cNvPr id="15" name="!!shO2"/>
          <p:cNvSpPr/>
          <p:nvPr/>
        </p:nvSpPr>
        <p:spPr>
          <a:xfrm>
            <a:off x="2702052" y="3022092"/>
            <a:ext cx="1179576" cy="1179576"/>
          </a:xfrm>
          <a:prstGeom prst="roundRect">
            <a:avLst>
              <a:gd name="adj" fmla="val 50000"/>
            </a:avLst>
          </a:prstGeom>
          <a:solidFill>
            <a:srgbClr val="8FCBE0"/>
          </a:solidFill>
          <a:ln/>
        </p:spPr>
      </p:sp>
      <p:sp>
        <p:nvSpPr>
          <p:cNvPr id="16" name="!!shC2"/>
          <p:cNvSpPr/>
          <p:nvPr/>
        </p:nvSpPr>
        <p:spPr>
          <a:xfrm>
            <a:off x="2775204" y="3095244"/>
            <a:ext cx="1033272" cy="1033272"/>
          </a:xfrm>
          <a:prstGeom prst="roundRect">
            <a:avLst>
              <a:gd name="adj" fmla="val 50000"/>
            </a:avLst>
          </a:prstGeom>
          <a:solidFill>
            <a:srgbClr val="F6E7B8"/>
          </a:solidFill>
          <a:ln/>
        </p:spPr>
      </p:sp>
      <p:sp>
        <p:nvSpPr>
          <p:cNvPr id="17" name="!!shGl"/>
          <p:cNvSpPr txBox="1"/>
          <p:nvPr/>
        </p:nvSpPr>
        <p:spPr>
          <a:xfrm>
            <a:off x="4754880" y="3474720"/>
            <a:ext cx="1463040" cy="274320"/>
          </a:xfrm>
          <a:prstGeom prst="rect">
            <a:avLst/>
          </a:prstGeom>
          <a:noFill/>
          <a:ln/>
        </p:spPr>
        <p:txBody>
          <a:bodyPr wrap="square" lIns="0" tIns="0" rIns="0" bIns="0" rtlCol="0" anchor="t"/>
          <a:lstStyle/>
          <a:p>
            <a:pPr algn="l" indent="0" marL="0">
              <a:buNone/>
            </a:pPr>
            <a:r>
              <a:rPr lang="en-US" sz="1100" dirty="0">
                <a:solidFill>
                  <a:srgbClr val="6B5BC4"/>
                </a:solidFill>
                <a:latin typeface="Segoe UI Semibold" pitchFamily="34" charset="0"/>
                <a:ea typeface="Segoe UI Semibold" pitchFamily="34" charset="-122"/>
                <a:cs typeface="Segoe UI Semibold" pitchFamily="34" charset="-120"/>
              </a:rPr>
              <a:t>gate (all round)</a:t>
            </a:r>
            <a:endParaRPr lang="en-US" sz="1100" dirty="0"/>
          </a:p>
        </p:txBody>
      </p:sp>
      <p:sp>
        <p:nvSpPr>
          <p:cNvPr id="18" name="!!shBt"/>
          <p:cNvSpPr txBox="1"/>
          <p:nvPr/>
        </p:nvSpPr>
        <p:spPr>
          <a:xfrm>
            <a:off x="6675120" y="1463040"/>
            <a:ext cx="4937760" cy="274320"/>
          </a:xfrm>
          <a:prstGeom prst="rect">
            <a:avLst/>
          </a:prstGeom>
          <a:noFill/>
          <a:ln/>
        </p:spPr>
        <p:txBody>
          <a:bodyPr wrap="square" lIns="0" tIns="0" rIns="0" bIns="0" rtlCol="0" anchor="t"/>
          <a:lstStyle/>
          <a:p>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W</a:t>
            </a:r>
            <a:pPr algn="l"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eff</a:t>
            </a:r>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 = gate perimeter (nm)   →   I</a:t>
            </a:r>
            <a:pPr algn="l"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on</a:t>
            </a:r>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 ∝ W</a:t>
            </a:r>
            <a:pPr algn="l"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eff</a:t>
            </a:r>
            <a:endParaRPr lang="en-US" sz="1300" dirty="0"/>
          </a:p>
        </p:txBody>
      </p:sp>
      <p:sp>
        <p:nvSpPr>
          <p:cNvPr id="19" name="!!shB0"/>
          <p:cNvSpPr/>
          <p:nvPr/>
        </p:nvSpPr>
        <p:spPr>
          <a:xfrm>
            <a:off x="6949440" y="3808415"/>
            <a:ext cx="777240" cy="397825"/>
          </a:xfrm>
          <a:prstGeom prst="rect">
            <a:avLst/>
          </a:prstGeom>
          <a:solidFill>
            <a:srgbClr val="9FD8D2"/>
          </a:solidFill>
          <a:ln/>
        </p:spPr>
      </p:sp>
      <p:sp>
        <p:nvSpPr>
          <p:cNvPr id="20" name="!!shBv0"/>
          <p:cNvSpPr txBox="1"/>
          <p:nvPr/>
        </p:nvSpPr>
        <p:spPr>
          <a:xfrm>
            <a:off x="6766560" y="3534095"/>
            <a:ext cx="114300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25.1</a:t>
            </a:r>
            <a:endParaRPr lang="en-US" sz="1100" dirty="0"/>
          </a:p>
        </p:txBody>
      </p:sp>
      <p:sp>
        <p:nvSpPr>
          <p:cNvPr id="21" name="!!shBl0"/>
          <p:cNvSpPr txBox="1"/>
          <p:nvPr/>
        </p:nvSpPr>
        <p:spPr>
          <a:xfrm>
            <a:off x="6766560" y="4251960"/>
            <a:ext cx="114300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wire 4</a:t>
            </a:r>
            <a:endParaRPr lang="en-US" sz="1000" dirty="0"/>
          </a:p>
        </p:txBody>
      </p:sp>
      <p:sp>
        <p:nvSpPr>
          <p:cNvPr id="22" name="!!shB1"/>
          <p:cNvSpPr/>
          <p:nvPr/>
        </p:nvSpPr>
        <p:spPr>
          <a:xfrm>
            <a:off x="8092440" y="3645164"/>
            <a:ext cx="777240" cy="561076"/>
          </a:xfrm>
          <a:prstGeom prst="rect">
            <a:avLst/>
          </a:prstGeom>
          <a:solidFill>
            <a:srgbClr val="11998E"/>
          </a:solidFill>
          <a:ln/>
        </p:spPr>
      </p:sp>
      <p:sp>
        <p:nvSpPr>
          <p:cNvPr id="23" name="!!shBv1"/>
          <p:cNvSpPr txBox="1"/>
          <p:nvPr/>
        </p:nvSpPr>
        <p:spPr>
          <a:xfrm>
            <a:off x="7909560" y="3370844"/>
            <a:ext cx="114300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35.4</a:t>
            </a:r>
            <a:endParaRPr lang="en-US" sz="1100" dirty="0"/>
          </a:p>
        </p:txBody>
      </p:sp>
      <p:sp>
        <p:nvSpPr>
          <p:cNvPr id="24" name="!!shBl1"/>
          <p:cNvSpPr txBox="1"/>
          <p:nvPr/>
        </p:nvSpPr>
        <p:spPr>
          <a:xfrm>
            <a:off x="7909560" y="4251960"/>
            <a:ext cx="114300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wire 5.64</a:t>
            </a:r>
            <a:endParaRPr lang="en-US" sz="1000" dirty="0"/>
          </a:p>
        </p:txBody>
      </p:sp>
      <p:sp>
        <p:nvSpPr>
          <p:cNvPr id="25" name="!!shB2"/>
          <p:cNvSpPr/>
          <p:nvPr/>
        </p:nvSpPr>
        <p:spPr>
          <a:xfrm>
            <a:off x="9235440" y="3413760"/>
            <a:ext cx="777240" cy="792480"/>
          </a:xfrm>
          <a:prstGeom prst="rect">
            <a:avLst/>
          </a:prstGeom>
          <a:solidFill>
            <a:srgbClr val="F4F5F7"/>
          </a:solidFill>
          <a:ln/>
        </p:spPr>
      </p:sp>
      <p:sp>
        <p:nvSpPr>
          <p:cNvPr id="26" name="!!shBv2"/>
          <p:cNvSpPr txBox="1"/>
          <p:nvPr/>
        </p:nvSpPr>
        <p:spPr>
          <a:xfrm>
            <a:off x="9052560" y="3139440"/>
            <a:ext cx="1143000" cy="228600"/>
          </a:xfrm>
          <a:prstGeom prst="rect">
            <a:avLst/>
          </a:prstGeom>
          <a:noFill/>
          <a:ln/>
        </p:spPr>
        <p:txBody>
          <a:bodyPr wrap="square" lIns="0" tIns="0" rIns="0" bIns="0" rtlCol="0" anchor="t"/>
          <a:lstStyle/>
          <a:p>
            <a:pPr algn="ctr" indent="0" marL="0">
              <a:buNone/>
            </a:pPr>
            <a:endParaRPr lang="en-US" sz="1100" dirty="0"/>
          </a:p>
        </p:txBody>
      </p:sp>
      <p:sp>
        <p:nvSpPr>
          <p:cNvPr id="27" name="!!shBl2"/>
          <p:cNvSpPr txBox="1"/>
          <p:nvPr/>
        </p:nvSpPr>
        <p:spPr>
          <a:xfrm>
            <a:off x="9052560" y="4251960"/>
            <a:ext cx="114300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sheet</a:t>
            </a:r>
            <a:endParaRPr lang="en-US" sz="1000" dirty="0"/>
          </a:p>
        </p:txBody>
      </p:sp>
      <p:sp>
        <p:nvSpPr>
          <p:cNvPr id="28" name="!!shB3"/>
          <p:cNvSpPr/>
          <p:nvPr/>
        </p:nvSpPr>
        <p:spPr>
          <a:xfrm>
            <a:off x="10378440" y="1828800"/>
            <a:ext cx="777240" cy="2377440"/>
          </a:xfrm>
          <a:prstGeom prst="rect">
            <a:avLst/>
          </a:prstGeom>
          <a:solidFill>
            <a:srgbClr val="F4F5F7"/>
          </a:solidFill>
          <a:ln/>
        </p:spPr>
      </p:sp>
      <p:sp>
        <p:nvSpPr>
          <p:cNvPr id="29" name="!!shBv3"/>
          <p:cNvSpPr txBox="1"/>
          <p:nvPr/>
        </p:nvSpPr>
        <p:spPr>
          <a:xfrm>
            <a:off x="10195560" y="1554480"/>
            <a:ext cx="1143000" cy="228600"/>
          </a:xfrm>
          <a:prstGeom prst="rect">
            <a:avLst/>
          </a:prstGeom>
          <a:noFill/>
          <a:ln/>
        </p:spPr>
        <p:txBody>
          <a:bodyPr wrap="square" lIns="0" tIns="0" rIns="0" bIns="0" rtlCol="0" anchor="t"/>
          <a:lstStyle/>
          <a:p>
            <a:pPr algn="ctr" indent="0" marL="0">
              <a:buNone/>
            </a:pPr>
            <a:endParaRPr lang="en-US" sz="1100" dirty="0"/>
          </a:p>
        </p:txBody>
      </p:sp>
      <p:sp>
        <p:nvSpPr>
          <p:cNvPr id="30" name="!!shBl3"/>
          <p:cNvSpPr txBox="1"/>
          <p:nvPr/>
        </p:nvSpPr>
        <p:spPr>
          <a:xfrm>
            <a:off x="10195560" y="4251960"/>
            <a:ext cx="114300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stack</a:t>
            </a:r>
            <a:endParaRPr lang="en-US" sz="1000" dirty="0"/>
          </a:p>
        </p:txBody>
      </p:sp>
      <p:sp>
        <p:nvSpPr>
          <p:cNvPr id="31" name="!!chip0"/>
          <p:cNvSpPr/>
          <p:nvPr/>
        </p:nvSpPr>
        <p:spPr>
          <a:xfrm>
            <a:off x="6675120" y="4617720"/>
            <a:ext cx="1554480" cy="658368"/>
          </a:xfrm>
          <a:prstGeom prst="roundRect">
            <a:avLst>
              <a:gd name="adj" fmla="val 8333"/>
            </a:avLst>
          </a:prstGeom>
          <a:solidFill>
            <a:srgbClr val="F4F5F7"/>
          </a:solidFill>
          <a:ln/>
        </p:spPr>
      </p:sp>
      <p:sp>
        <p:nvSpPr>
          <p:cNvPr id="32" name="!!chipk0"/>
          <p:cNvSpPr txBox="1"/>
          <p:nvPr/>
        </p:nvSpPr>
        <p:spPr>
          <a:xfrm>
            <a:off x="6784848" y="4690872"/>
            <a:ext cx="133502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W</a:t>
            </a:r>
            <a:pPr algn="l" indent="0" marL="0">
              <a:buNone/>
            </a:pPr>
            <a:r>
              <a:rPr lang="en-US" sz="1000" baseline="-40000" dirty="0">
                <a:solidFill>
                  <a:srgbClr val="5C5E62"/>
                </a:solidFill>
                <a:latin typeface="Segoe UI" pitchFamily="34" charset="0"/>
                <a:ea typeface="Segoe UI" pitchFamily="34" charset="-122"/>
                <a:cs typeface="Segoe UI" pitchFamily="34" charset="-120"/>
              </a:rPr>
              <a:t>eff</a:t>
            </a:r>
            <a:endParaRPr lang="en-US" sz="1000" dirty="0"/>
          </a:p>
        </p:txBody>
      </p:sp>
      <p:sp>
        <p:nvSpPr>
          <p:cNvPr id="33" name="!!chipv0"/>
          <p:cNvSpPr txBox="1"/>
          <p:nvPr/>
        </p:nvSpPr>
        <p:spPr>
          <a:xfrm>
            <a:off x="6784848" y="4928616"/>
            <a:ext cx="137160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35.4 nm</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34" name="!!chip1"/>
          <p:cNvSpPr/>
          <p:nvPr/>
        </p:nvSpPr>
        <p:spPr>
          <a:xfrm>
            <a:off x="8339328" y="4617720"/>
            <a:ext cx="1554480" cy="658368"/>
          </a:xfrm>
          <a:prstGeom prst="roundRect">
            <a:avLst>
              <a:gd name="adj" fmla="val 8333"/>
            </a:avLst>
          </a:prstGeom>
          <a:solidFill>
            <a:srgbClr val="F4F5F7"/>
          </a:solidFill>
          <a:ln/>
        </p:spPr>
      </p:sp>
      <p:sp>
        <p:nvSpPr>
          <p:cNvPr id="35" name="!!chipk1"/>
          <p:cNvSpPr txBox="1"/>
          <p:nvPr/>
        </p:nvSpPr>
        <p:spPr>
          <a:xfrm>
            <a:off x="8449056" y="4690872"/>
            <a:ext cx="133502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scale length λ</a:t>
            </a:r>
            <a:endParaRPr lang="en-US" sz="1000" dirty="0"/>
          </a:p>
        </p:txBody>
      </p:sp>
      <p:sp>
        <p:nvSpPr>
          <p:cNvPr id="36" name="!!chipv1"/>
          <p:cNvSpPr txBox="1"/>
          <p:nvPr/>
        </p:nvSpPr>
        <p:spPr>
          <a:xfrm>
            <a:off x="8449056" y="4928616"/>
            <a:ext cx="137160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2.59 nm</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37" name="!!chip2"/>
          <p:cNvSpPr/>
          <p:nvPr/>
        </p:nvSpPr>
        <p:spPr>
          <a:xfrm>
            <a:off x="10003536" y="4617720"/>
            <a:ext cx="1554480" cy="658368"/>
          </a:xfrm>
          <a:prstGeom prst="roundRect">
            <a:avLst>
              <a:gd name="adj" fmla="val 8333"/>
            </a:avLst>
          </a:prstGeom>
          <a:solidFill>
            <a:srgbClr val="F4F5F7"/>
          </a:solidFill>
          <a:ln/>
        </p:spPr>
      </p:sp>
      <p:sp>
        <p:nvSpPr>
          <p:cNvPr id="38" name="!!chipk2"/>
          <p:cNvSpPr txBox="1"/>
          <p:nvPr/>
        </p:nvSpPr>
        <p:spPr>
          <a:xfrm>
            <a:off x="10113264" y="4690872"/>
            <a:ext cx="133502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silicon area</a:t>
            </a:r>
            <a:endParaRPr lang="en-US" sz="1000" dirty="0"/>
          </a:p>
        </p:txBody>
      </p:sp>
      <p:sp>
        <p:nvSpPr>
          <p:cNvPr id="39" name="!!chipv2"/>
          <p:cNvSpPr txBox="1"/>
          <p:nvPr/>
        </p:nvSpPr>
        <p:spPr>
          <a:xfrm>
            <a:off x="10113264" y="4928616"/>
            <a:ext cx="137160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100 nm²</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0"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Thicker wire: more current, but the centre is farther from the gate (λ up).</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59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Wire, sheet, stack</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The shape of the channel sets the current (W</a:t>
            </a:r>
            <a:pPr algn="l" indent="0" marL="0">
              <a:buNone/>
            </a:pPr>
            <a:r>
              <a:rPr lang="en-US" sz="1600" baseline="-40000" dirty="0">
                <a:solidFill>
                  <a:srgbClr val="5C5E62"/>
                </a:solidFill>
                <a:latin typeface="Segoe UI" pitchFamily="34" charset="0"/>
                <a:ea typeface="Segoe UI" pitchFamily="34" charset="-122"/>
                <a:cs typeface="Segoe UI" pitchFamily="34" charset="-120"/>
              </a:rPr>
              <a:t>eff</a:t>
            </a:r>
            <a:pPr algn="l" indent="0" marL="0">
              <a:buNone/>
            </a:pPr>
            <a:r>
              <a:rPr lang="en-US" sz="1600" dirty="0">
                <a:solidFill>
                  <a:srgbClr val="5C5E62"/>
                </a:solidFill>
                <a:latin typeface="Segoe UI" pitchFamily="34" charset="0"/>
                <a:ea typeface="Segoe UI" pitchFamily="34" charset="-122"/>
                <a:cs typeface="Segoe UI" pitchFamily="34" charset="-120"/>
              </a:rPr>
              <a:t>) and the control (λ)</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171A20"/>
          </a:solidFill>
          <a:ln/>
        </p:spPr>
      </p:sp>
      <p:sp>
        <p:nvSpPr>
          <p:cNvPr id="6" name="!!sdot2"/>
          <p:cNvSpPr/>
          <p:nvPr/>
        </p:nvSpPr>
        <p:spPr>
          <a:xfrm>
            <a:off x="11443716" y="525780"/>
            <a:ext cx="82296" cy="82296"/>
          </a:xfrm>
          <a:prstGeom prst="ellipse">
            <a:avLst/>
          </a:prstGeom>
          <a:solidFill>
            <a:srgbClr val="171A20"/>
          </a:solidFill>
          <a:ln/>
        </p:spPr>
      </p:sp>
      <p:sp>
        <p:nvSpPr>
          <p:cNvPr id="7" name="!!sdot3"/>
          <p:cNvSpPr/>
          <p:nvPr/>
        </p:nvSpPr>
        <p:spPr>
          <a:xfrm>
            <a:off x="11599164" y="525780"/>
            <a:ext cx="82296" cy="82296"/>
          </a:xfrm>
          <a:prstGeom prst="ellipse">
            <a:avLst/>
          </a:prstGeom>
          <a:solidFill>
            <a:srgbClr val="E2E3E3"/>
          </a:solidFill>
          <a:ln/>
        </p:spPr>
      </p:sp>
      <p:sp>
        <p:nvSpPr>
          <p:cNvPr id="8" name="!!shN"/>
          <p:cNvSpPr txBox="1"/>
          <p:nvPr/>
        </p:nvSpPr>
        <p:spPr>
          <a:xfrm>
            <a:off x="548640" y="1463040"/>
            <a:ext cx="5486400" cy="365760"/>
          </a:xfrm>
          <a:prstGeom prst="rect">
            <a:avLst/>
          </a:prstGeom>
          <a:noFill/>
          <a:ln/>
        </p:spPr>
        <p:txBody>
          <a:bodyPr wrap="square" lIns="0" tIns="0" rIns="0" bIns="0" rtlCol="0" anchor="t"/>
          <a:lstStyle/>
          <a:p>
            <a:pPr algn="ctr" indent="0" marL="0">
              <a:buNone/>
            </a:pPr>
            <a:r>
              <a:rPr lang="en-US" sz="2000" dirty="0">
                <a:solidFill>
                  <a:srgbClr val="171A20"/>
                </a:solidFill>
                <a:latin typeface="Segoe UI Semibold" pitchFamily="34" charset="0"/>
                <a:ea typeface="Segoe UI Semibold" pitchFamily="34" charset="-122"/>
                <a:cs typeface="Segoe UI Semibold" pitchFamily="34" charset="-120"/>
              </a:rPr>
              <a:t>Nanosheet, 20 × 5 nm</a:t>
            </a:r>
            <a:endParaRPr lang="en-US" sz="2000" dirty="0"/>
          </a:p>
        </p:txBody>
      </p:sp>
      <p:sp>
        <p:nvSpPr>
          <p:cNvPr id="9" name="!!shS"/>
          <p:cNvSpPr txBox="1"/>
          <p:nvPr/>
        </p:nvSpPr>
        <p:spPr>
          <a:xfrm>
            <a:off x="548640" y="1828800"/>
            <a:ext cx="5486400" cy="274320"/>
          </a:xfrm>
          <a:prstGeom prst="rect">
            <a:avLst/>
          </a:prstGeom>
          <a:noFill/>
          <a:ln/>
        </p:spPr>
        <p:txBody>
          <a:bodyPr wrap="square" lIns="0" tIns="0" rIns="0" bIns="0" rtlCol="0" anchor="t"/>
          <a:lstStyle/>
          <a:p>
            <a:pPr algn="ctr" indent="0" marL="0">
              <a:buNone/>
            </a:pPr>
            <a:r>
              <a:rPr lang="en-US" sz="1200" dirty="0">
                <a:solidFill>
                  <a:srgbClr val="5C5E62"/>
                </a:solidFill>
                <a:latin typeface="Segoe UI" pitchFamily="34" charset="0"/>
                <a:ea typeface="Segoe UI" pitchFamily="34" charset="-122"/>
                <a:cs typeface="Segoe UI" pitchFamily="34" charset="-120"/>
              </a:rPr>
              <a:t>base paper [1]</a:t>
            </a:r>
            <a:endParaRPr lang="en-US" sz="1200" dirty="0"/>
          </a:p>
        </p:txBody>
      </p:sp>
      <p:sp>
        <p:nvSpPr>
          <p:cNvPr id="10" name="!!shG"/>
          <p:cNvSpPr/>
          <p:nvPr/>
        </p:nvSpPr>
        <p:spPr>
          <a:xfrm>
            <a:off x="1965960" y="2971800"/>
            <a:ext cx="2651760" cy="1280160"/>
          </a:xfrm>
          <a:prstGeom prst="roundRect">
            <a:avLst>
              <a:gd name="adj" fmla="val 25000"/>
            </a:avLst>
          </a:prstGeom>
          <a:solidFill>
            <a:srgbClr val="B3A6E6"/>
          </a:solidFill>
          <a:ln/>
        </p:spPr>
      </p:sp>
      <p:sp>
        <p:nvSpPr>
          <p:cNvPr id="11" name="!!shO0"/>
          <p:cNvSpPr/>
          <p:nvPr/>
        </p:nvSpPr>
        <p:spPr>
          <a:xfrm>
            <a:off x="2304288" y="3310128"/>
            <a:ext cx="1975104" cy="603504"/>
          </a:xfrm>
          <a:prstGeom prst="roundRect">
            <a:avLst>
              <a:gd name="adj" fmla="val 24242"/>
            </a:avLst>
          </a:prstGeom>
          <a:solidFill>
            <a:srgbClr val="8FCBE0"/>
          </a:solidFill>
          <a:ln/>
        </p:spPr>
      </p:sp>
      <p:sp>
        <p:nvSpPr>
          <p:cNvPr id="12" name="!!shC0"/>
          <p:cNvSpPr/>
          <p:nvPr/>
        </p:nvSpPr>
        <p:spPr>
          <a:xfrm>
            <a:off x="2377440" y="3383280"/>
            <a:ext cx="1828800" cy="457200"/>
          </a:xfrm>
          <a:prstGeom prst="roundRect">
            <a:avLst>
              <a:gd name="adj" fmla="val 20000"/>
            </a:avLst>
          </a:prstGeom>
          <a:solidFill>
            <a:srgbClr val="F6E7B8"/>
          </a:solidFill>
          <a:ln/>
        </p:spPr>
      </p:sp>
      <p:sp>
        <p:nvSpPr>
          <p:cNvPr id="13" name="!!shO1"/>
          <p:cNvSpPr/>
          <p:nvPr/>
        </p:nvSpPr>
        <p:spPr>
          <a:xfrm>
            <a:off x="2304288" y="3310128"/>
            <a:ext cx="1975104" cy="603504"/>
          </a:xfrm>
          <a:prstGeom prst="roundRect">
            <a:avLst>
              <a:gd name="adj" fmla="val 24242"/>
            </a:avLst>
          </a:prstGeom>
          <a:solidFill>
            <a:srgbClr val="8FCBE0"/>
          </a:solidFill>
          <a:ln/>
        </p:spPr>
      </p:sp>
      <p:sp>
        <p:nvSpPr>
          <p:cNvPr id="14" name="!!shC1"/>
          <p:cNvSpPr/>
          <p:nvPr/>
        </p:nvSpPr>
        <p:spPr>
          <a:xfrm>
            <a:off x="2377440" y="3383280"/>
            <a:ext cx="1828800" cy="457200"/>
          </a:xfrm>
          <a:prstGeom prst="roundRect">
            <a:avLst>
              <a:gd name="adj" fmla="val 20000"/>
            </a:avLst>
          </a:prstGeom>
          <a:solidFill>
            <a:srgbClr val="F6E7B8"/>
          </a:solidFill>
          <a:ln/>
        </p:spPr>
      </p:sp>
      <p:sp>
        <p:nvSpPr>
          <p:cNvPr id="15" name="!!shO2"/>
          <p:cNvSpPr/>
          <p:nvPr/>
        </p:nvSpPr>
        <p:spPr>
          <a:xfrm>
            <a:off x="2304288" y="3310128"/>
            <a:ext cx="1975104" cy="603504"/>
          </a:xfrm>
          <a:prstGeom prst="roundRect">
            <a:avLst>
              <a:gd name="adj" fmla="val 24242"/>
            </a:avLst>
          </a:prstGeom>
          <a:solidFill>
            <a:srgbClr val="8FCBE0"/>
          </a:solidFill>
          <a:ln/>
        </p:spPr>
      </p:sp>
      <p:sp>
        <p:nvSpPr>
          <p:cNvPr id="16" name="!!shC2"/>
          <p:cNvSpPr/>
          <p:nvPr/>
        </p:nvSpPr>
        <p:spPr>
          <a:xfrm>
            <a:off x="2377440" y="3383280"/>
            <a:ext cx="1828800" cy="457200"/>
          </a:xfrm>
          <a:prstGeom prst="roundRect">
            <a:avLst>
              <a:gd name="adj" fmla="val 20000"/>
            </a:avLst>
          </a:prstGeom>
          <a:solidFill>
            <a:srgbClr val="F6E7B8"/>
          </a:solidFill>
          <a:ln/>
        </p:spPr>
      </p:sp>
      <p:sp>
        <p:nvSpPr>
          <p:cNvPr id="17" name="!!shGl"/>
          <p:cNvSpPr txBox="1"/>
          <p:nvPr/>
        </p:nvSpPr>
        <p:spPr>
          <a:xfrm>
            <a:off x="4754880" y="3474720"/>
            <a:ext cx="1463040" cy="274320"/>
          </a:xfrm>
          <a:prstGeom prst="rect">
            <a:avLst/>
          </a:prstGeom>
          <a:noFill/>
          <a:ln/>
        </p:spPr>
        <p:txBody>
          <a:bodyPr wrap="square" lIns="0" tIns="0" rIns="0" bIns="0" rtlCol="0" anchor="t"/>
          <a:lstStyle/>
          <a:p>
            <a:pPr algn="l" indent="0" marL="0">
              <a:buNone/>
            </a:pPr>
            <a:r>
              <a:rPr lang="en-US" sz="1100" dirty="0">
                <a:solidFill>
                  <a:srgbClr val="6B5BC4"/>
                </a:solidFill>
                <a:latin typeface="Segoe UI Semibold" pitchFamily="34" charset="0"/>
                <a:ea typeface="Segoe UI Semibold" pitchFamily="34" charset="-122"/>
                <a:cs typeface="Segoe UI Semibold" pitchFamily="34" charset="-120"/>
              </a:rPr>
              <a:t>gate (all round)</a:t>
            </a:r>
            <a:endParaRPr lang="en-US" sz="1100" dirty="0"/>
          </a:p>
        </p:txBody>
      </p:sp>
      <p:sp>
        <p:nvSpPr>
          <p:cNvPr id="18" name="!!shBt"/>
          <p:cNvSpPr txBox="1"/>
          <p:nvPr/>
        </p:nvSpPr>
        <p:spPr>
          <a:xfrm>
            <a:off x="6675120" y="1463040"/>
            <a:ext cx="4937760" cy="274320"/>
          </a:xfrm>
          <a:prstGeom prst="rect">
            <a:avLst/>
          </a:prstGeom>
          <a:noFill/>
          <a:ln/>
        </p:spPr>
        <p:txBody>
          <a:bodyPr wrap="square" lIns="0" tIns="0" rIns="0" bIns="0" rtlCol="0" anchor="t"/>
          <a:lstStyle/>
          <a:p>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W</a:t>
            </a:r>
            <a:pPr algn="l"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eff</a:t>
            </a:r>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 = gate perimeter (nm)   →   I</a:t>
            </a:r>
            <a:pPr algn="l"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on</a:t>
            </a:r>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 ∝ W</a:t>
            </a:r>
            <a:pPr algn="l"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eff</a:t>
            </a:r>
            <a:endParaRPr lang="en-US" sz="1300" dirty="0"/>
          </a:p>
        </p:txBody>
      </p:sp>
      <p:sp>
        <p:nvSpPr>
          <p:cNvPr id="19" name="!!shB0"/>
          <p:cNvSpPr/>
          <p:nvPr/>
        </p:nvSpPr>
        <p:spPr>
          <a:xfrm>
            <a:off x="6949440" y="3808415"/>
            <a:ext cx="777240" cy="397825"/>
          </a:xfrm>
          <a:prstGeom prst="rect">
            <a:avLst/>
          </a:prstGeom>
          <a:solidFill>
            <a:srgbClr val="9FD8D2"/>
          </a:solidFill>
          <a:ln/>
        </p:spPr>
      </p:sp>
      <p:sp>
        <p:nvSpPr>
          <p:cNvPr id="20" name="!!shBv0"/>
          <p:cNvSpPr txBox="1"/>
          <p:nvPr/>
        </p:nvSpPr>
        <p:spPr>
          <a:xfrm>
            <a:off x="6766560" y="3534095"/>
            <a:ext cx="114300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25.1</a:t>
            </a:r>
            <a:endParaRPr lang="en-US" sz="1100" dirty="0"/>
          </a:p>
        </p:txBody>
      </p:sp>
      <p:sp>
        <p:nvSpPr>
          <p:cNvPr id="21" name="!!shBl0"/>
          <p:cNvSpPr txBox="1"/>
          <p:nvPr/>
        </p:nvSpPr>
        <p:spPr>
          <a:xfrm>
            <a:off x="6766560" y="4251960"/>
            <a:ext cx="114300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wire 4</a:t>
            </a:r>
            <a:endParaRPr lang="en-US" sz="1000" dirty="0"/>
          </a:p>
        </p:txBody>
      </p:sp>
      <p:sp>
        <p:nvSpPr>
          <p:cNvPr id="22" name="!!shB1"/>
          <p:cNvSpPr/>
          <p:nvPr/>
        </p:nvSpPr>
        <p:spPr>
          <a:xfrm>
            <a:off x="8092440" y="3645164"/>
            <a:ext cx="777240" cy="561076"/>
          </a:xfrm>
          <a:prstGeom prst="rect">
            <a:avLst/>
          </a:prstGeom>
          <a:solidFill>
            <a:srgbClr val="9FD8D2"/>
          </a:solidFill>
          <a:ln/>
        </p:spPr>
      </p:sp>
      <p:sp>
        <p:nvSpPr>
          <p:cNvPr id="23" name="!!shBv1"/>
          <p:cNvSpPr txBox="1"/>
          <p:nvPr/>
        </p:nvSpPr>
        <p:spPr>
          <a:xfrm>
            <a:off x="7909560" y="3370844"/>
            <a:ext cx="114300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35.4</a:t>
            </a:r>
            <a:endParaRPr lang="en-US" sz="1100" dirty="0"/>
          </a:p>
        </p:txBody>
      </p:sp>
      <p:sp>
        <p:nvSpPr>
          <p:cNvPr id="24" name="!!shBl1"/>
          <p:cNvSpPr txBox="1"/>
          <p:nvPr/>
        </p:nvSpPr>
        <p:spPr>
          <a:xfrm>
            <a:off x="7909560" y="4251960"/>
            <a:ext cx="114300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wire 5.64</a:t>
            </a:r>
            <a:endParaRPr lang="en-US" sz="1000" dirty="0"/>
          </a:p>
        </p:txBody>
      </p:sp>
      <p:sp>
        <p:nvSpPr>
          <p:cNvPr id="25" name="!!shB2"/>
          <p:cNvSpPr/>
          <p:nvPr/>
        </p:nvSpPr>
        <p:spPr>
          <a:xfrm>
            <a:off x="9235440" y="3413760"/>
            <a:ext cx="777240" cy="792480"/>
          </a:xfrm>
          <a:prstGeom prst="rect">
            <a:avLst/>
          </a:prstGeom>
          <a:solidFill>
            <a:srgbClr val="11998E"/>
          </a:solidFill>
          <a:ln/>
        </p:spPr>
      </p:sp>
      <p:sp>
        <p:nvSpPr>
          <p:cNvPr id="26" name="!!shBv2"/>
          <p:cNvSpPr txBox="1"/>
          <p:nvPr/>
        </p:nvSpPr>
        <p:spPr>
          <a:xfrm>
            <a:off x="9052560" y="3139440"/>
            <a:ext cx="114300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50.0</a:t>
            </a:r>
            <a:endParaRPr lang="en-US" sz="1100" dirty="0"/>
          </a:p>
        </p:txBody>
      </p:sp>
      <p:sp>
        <p:nvSpPr>
          <p:cNvPr id="27" name="!!shBl2"/>
          <p:cNvSpPr txBox="1"/>
          <p:nvPr/>
        </p:nvSpPr>
        <p:spPr>
          <a:xfrm>
            <a:off x="9052560" y="4251960"/>
            <a:ext cx="114300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sheet</a:t>
            </a:r>
            <a:endParaRPr lang="en-US" sz="1000" dirty="0"/>
          </a:p>
        </p:txBody>
      </p:sp>
      <p:sp>
        <p:nvSpPr>
          <p:cNvPr id="28" name="!!shB3"/>
          <p:cNvSpPr/>
          <p:nvPr/>
        </p:nvSpPr>
        <p:spPr>
          <a:xfrm>
            <a:off x="10378440" y="1828800"/>
            <a:ext cx="777240" cy="2377440"/>
          </a:xfrm>
          <a:prstGeom prst="rect">
            <a:avLst/>
          </a:prstGeom>
          <a:solidFill>
            <a:srgbClr val="F4F5F7"/>
          </a:solidFill>
          <a:ln/>
        </p:spPr>
      </p:sp>
      <p:sp>
        <p:nvSpPr>
          <p:cNvPr id="29" name="!!shBv3"/>
          <p:cNvSpPr txBox="1"/>
          <p:nvPr/>
        </p:nvSpPr>
        <p:spPr>
          <a:xfrm>
            <a:off x="10195560" y="1554480"/>
            <a:ext cx="1143000" cy="228600"/>
          </a:xfrm>
          <a:prstGeom prst="rect">
            <a:avLst/>
          </a:prstGeom>
          <a:noFill/>
          <a:ln/>
        </p:spPr>
        <p:txBody>
          <a:bodyPr wrap="square" lIns="0" tIns="0" rIns="0" bIns="0" rtlCol="0" anchor="t"/>
          <a:lstStyle/>
          <a:p>
            <a:pPr algn="ctr" indent="0" marL="0">
              <a:buNone/>
            </a:pPr>
            <a:endParaRPr lang="en-US" sz="1100" dirty="0"/>
          </a:p>
        </p:txBody>
      </p:sp>
      <p:sp>
        <p:nvSpPr>
          <p:cNvPr id="30" name="!!shBl3"/>
          <p:cNvSpPr txBox="1"/>
          <p:nvPr/>
        </p:nvSpPr>
        <p:spPr>
          <a:xfrm>
            <a:off x="10195560" y="4251960"/>
            <a:ext cx="114300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stack</a:t>
            </a:r>
            <a:endParaRPr lang="en-US" sz="1000" dirty="0"/>
          </a:p>
        </p:txBody>
      </p:sp>
      <p:sp>
        <p:nvSpPr>
          <p:cNvPr id="31" name="!!chip0"/>
          <p:cNvSpPr/>
          <p:nvPr/>
        </p:nvSpPr>
        <p:spPr>
          <a:xfrm>
            <a:off x="6675120" y="4617720"/>
            <a:ext cx="1554480" cy="658368"/>
          </a:xfrm>
          <a:prstGeom prst="roundRect">
            <a:avLst>
              <a:gd name="adj" fmla="val 8333"/>
            </a:avLst>
          </a:prstGeom>
          <a:solidFill>
            <a:srgbClr val="F4F5F7"/>
          </a:solidFill>
          <a:ln/>
        </p:spPr>
      </p:sp>
      <p:sp>
        <p:nvSpPr>
          <p:cNvPr id="32" name="!!chipk0"/>
          <p:cNvSpPr txBox="1"/>
          <p:nvPr/>
        </p:nvSpPr>
        <p:spPr>
          <a:xfrm>
            <a:off x="6784848" y="4690872"/>
            <a:ext cx="133502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W</a:t>
            </a:r>
            <a:pPr algn="l" indent="0" marL="0">
              <a:buNone/>
            </a:pPr>
            <a:r>
              <a:rPr lang="en-US" sz="1000" baseline="-40000" dirty="0">
                <a:solidFill>
                  <a:srgbClr val="5C5E62"/>
                </a:solidFill>
                <a:latin typeface="Segoe UI" pitchFamily="34" charset="0"/>
                <a:ea typeface="Segoe UI" pitchFamily="34" charset="-122"/>
                <a:cs typeface="Segoe UI" pitchFamily="34" charset="-120"/>
              </a:rPr>
              <a:t>eff</a:t>
            </a:r>
            <a:endParaRPr lang="en-US" sz="1000" dirty="0"/>
          </a:p>
        </p:txBody>
      </p:sp>
      <p:sp>
        <p:nvSpPr>
          <p:cNvPr id="33" name="!!chipv0"/>
          <p:cNvSpPr txBox="1"/>
          <p:nvPr/>
        </p:nvSpPr>
        <p:spPr>
          <a:xfrm>
            <a:off x="6784848" y="4928616"/>
            <a:ext cx="137160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50.0 nm</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34" name="!!chip1"/>
          <p:cNvSpPr/>
          <p:nvPr/>
        </p:nvSpPr>
        <p:spPr>
          <a:xfrm>
            <a:off x="8339328" y="4617720"/>
            <a:ext cx="1554480" cy="658368"/>
          </a:xfrm>
          <a:prstGeom prst="roundRect">
            <a:avLst>
              <a:gd name="adj" fmla="val 8333"/>
            </a:avLst>
          </a:prstGeom>
          <a:solidFill>
            <a:srgbClr val="F4F5F7"/>
          </a:solidFill>
          <a:ln/>
        </p:spPr>
      </p:sp>
      <p:sp>
        <p:nvSpPr>
          <p:cNvPr id="35" name="!!chipk1"/>
          <p:cNvSpPr txBox="1"/>
          <p:nvPr/>
        </p:nvSpPr>
        <p:spPr>
          <a:xfrm>
            <a:off x="8449056" y="4690872"/>
            <a:ext cx="133502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scale length λ</a:t>
            </a:r>
            <a:endParaRPr lang="en-US" sz="1000" dirty="0"/>
          </a:p>
        </p:txBody>
      </p:sp>
      <p:sp>
        <p:nvSpPr>
          <p:cNvPr id="36" name="!!chipv1"/>
          <p:cNvSpPr txBox="1"/>
          <p:nvPr/>
        </p:nvSpPr>
        <p:spPr>
          <a:xfrm>
            <a:off x="8449056" y="4928616"/>
            <a:ext cx="137160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1.73 nm</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37" name="!!chip2"/>
          <p:cNvSpPr/>
          <p:nvPr/>
        </p:nvSpPr>
        <p:spPr>
          <a:xfrm>
            <a:off x="10003536" y="4617720"/>
            <a:ext cx="1554480" cy="658368"/>
          </a:xfrm>
          <a:prstGeom prst="roundRect">
            <a:avLst>
              <a:gd name="adj" fmla="val 8333"/>
            </a:avLst>
          </a:prstGeom>
          <a:solidFill>
            <a:srgbClr val="F4F5F7"/>
          </a:solidFill>
          <a:ln/>
        </p:spPr>
      </p:sp>
      <p:sp>
        <p:nvSpPr>
          <p:cNvPr id="38" name="!!chipk2"/>
          <p:cNvSpPr txBox="1"/>
          <p:nvPr/>
        </p:nvSpPr>
        <p:spPr>
          <a:xfrm>
            <a:off x="10113264" y="4690872"/>
            <a:ext cx="133502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silicon area</a:t>
            </a:r>
            <a:endParaRPr lang="en-US" sz="1000" dirty="0"/>
          </a:p>
        </p:txBody>
      </p:sp>
      <p:sp>
        <p:nvSpPr>
          <p:cNvPr id="39" name="!!chipv2"/>
          <p:cNvSpPr txBox="1"/>
          <p:nvPr/>
        </p:nvSpPr>
        <p:spPr>
          <a:xfrm>
            <a:off x="10113264" y="4928616"/>
            <a:ext cx="137160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100 nm²</a:t>
            </a:r>
            <a:endParaRPr lang="en-US" sz="1500" dirty="0"/>
          </a:p>
        </p:txBody>
      </p:sp>
      <p:sp>
        <p:nvSpPr>
          <p:cNvPr id="40"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A flat sheet: thin (5 nm) for control, wide (20 nm) for more current.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60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Wire, sheet, stack</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The shape of the channel sets the current (W</a:t>
            </a:r>
            <a:pPr algn="l" indent="0" marL="0">
              <a:buNone/>
            </a:pPr>
            <a:r>
              <a:rPr lang="en-US" sz="1600" baseline="-40000" dirty="0">
                <a:solidFill>
                  <a:srgbClr val="5C5E62"/>
                </a:solidFill>
                <a:latin typeface="Segoe UI" pitchFamily="34" charset="0"/>
                <a:ea typeface="Segoe UI" pitchFamily="34" charset="-122"/>
                <a:cs typeface="Segoe UI" pitchFamily="34" charset="-120"/>
              </a:rPr>
              <a:t>eff</a:t>
            </a:r>
            <a:pPr algn="l" indent="0" marL="0">
              <a:buNone/>
            </a:pPr>
            <a:r>
              <a:rPr lang="en-US" sz="1600" dirty="0">
                <a:solidFill>
                  <a:srgbClr val="5C5E62"/>
                </a:solidFill>
                <a:latin typeface="Segoe UI" pitchFamily="34" charset="0"/>
                <a:ea typeface="Segoe UI" pitchFamily="34" charset="-122"/>
                <a:cs typeface="Segoe UI" pitchFamily="34" charset="-120"/>
              </a:rPr>
              <a:t>) and the control (λ)</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171A20"/>
          </a:solidFill>
          <a:ln/>
        </p:spPr>
      </p:sp>
      <p:sp>
        <p:nvSpPr>
          <p:cNvPr id="6" name="!!sdot2"/>
          <p:cNvSpPr/>
          <p:nvPr/>
        </p:nvSpPr>
        <p:spPr>
          <a:xfrm>
            <a:off x="11443716" y="525780"/>
            <a:ext cx="82296" cy="82296"/>
          </a:xfrm>
          <a:prstGeom prst="ellipse">
            <a:avLst/>
          </a:prstGeom>
          <a:solidFill>
            <a:srgbClr val="171A20"/>
          </a:solidFill>
          <a:ln/>
        </p:spPr>
      </p:sp>
      <p:sp>
        <p:nvSpPr>
          <p:cNvPr id="7" name="!!sdot3"/>
          <p:cNvSpPr/>
          <p:nvPr/>
        </p:nvSpPr>
        <p:spPr>
          <a:xfrm>
            <a:off x="11599164" y="525780"/>
            <a:ext cx="82296" cy="82296"/>
          </a:xfrm>
          <a:prstGeom prst="ellipse">
            <a:avLst/>
          </a:prstGeom>
          <a:solidFill>
            <a:srgbClr val="171A20"/>
          </a:solidFill>
          <a:ln/>
        </p:spPr>
      </p:sp>
      <p:sp>
        <p:nvSpPr>
          <p:cNvPr id="8" name="!!shN"/>
          <p:cNvSpPr txBox="1"/>
          <p:nvPr/>
        </p:nvSpPr>
        <p:spPr>
          <a:xfrm>
            <a:off x="548640" y="1463040"/>
            <a:ext cx="5486400" cy="365760"/>
          </a:xfrm>
          <a:prstGeom prst="rect">
            <a:avLst/>
          </a:prstGeom>
          <a:noFill/>
          <a:ln/>
        </p:spPr>
        <p:txBody>
          <a:bodyPr wrap="square" lIns="0" tIns="0" rIns="0" bIns="0" rtlCol="0" anchor="t"/>
          <a:lstStyle/>
          <a:p>
            <a:pPr algn="ctr" indent="0" marL="0">
              <a:buNone/>
            </a:pPr>
            <a:r>
              <a:rPr lang="en-US" sz="2000" dirty="0">
                <a:solidFill>
                  <a:srgbClr val="171A20"/>
                </a:solidFill>
                <a:latin typeface="Segoe UI Semibold" pitchFamily="34" charset="0"/>
                <a:ea typeface="Segoe UI Semibold" pitchFamily="34" charset="-122"/>
                <a:cs typeface="Segoe UI Semibold" pitchFamily="34" charset="-120"/>
              </a:rPr>
              <a:t>3 stacked sheets</a:t>
            </a:r>
            <a:endParaRPr lang="en-US" sz="2000" dirty="0"/>
          </a:p>
        </p:txBody>
      </p:sp>
      <p:sp>
        <p:nvSpPr>
          <p:cNvPr id="9" name="!!shS"/>
          <p:cNvSpPr txBox="1"/>
          <p:nvPr/>
        </p:nvSpPr>
        <p:spPr>
          <a:xfrm>
            <a:off x="548640" y="1828800"/>
            <a:ext cx="5486400" cy="274320"/>
          </a:xfrm>
          <a:prstGeom prst="rect">
            <a:avLst/>
          </a:prstGeom>
          <a:noFill/>
          <a:ln/>
        </p:spPr>
        <p:txBody>
          <a:bodyPr wrap="square" lIns="0" tIns="0" rIns="0" bIns="0" rtlCol="0" anchor="t"/>
          <a:lstStyle/>
          <a:p>
            <a:pPr algn="ctr" indent="0" marL="0">
              <a:buNone/>
            </a:pPr>
            <a:r>
              <a:rPr lang="en-US" sz="1200" dirty="0">
                <a:solidFill>
                  <a:srgbClr val="5C5E62"/>
                </a:solidFill>
                <a:latin typeface="Segoe UI" pitchFamily="34" charset="0"/>
                <a:ea typeface="Segoe UI" pitchFamily="34" charset="-122"/>
                <a:cs typeface="Segoe UI" pitchFamily="34" charset="-120"/>
              </a:rPr>
              <a:t>3 nm-class chips</a:t>
            </a:r>
            <a:endParaRPr lang="en-US" sz="1200" dirty="0"/>
          </a:p>
        </p:txBody>
      </p:sp>
      <p:sp>
        <p:nvSpPr>
          <p:cNvPr id="10" name="!!shG"/>
          <p:cNvSpPr/>
          <p:nvPr/>
        </p:nvSpPr>
        <p:spPr>
          <a:xfrm>
            <a:off x="1965960" y="2011680"/>
            <a:ext cx="2651760" cy="3200400"/>
          </a:xfrm>
          <a:prstGeom prst="roundRect">
            <a:avLst>
              <a:gd name="adj" fmla="val 5172"/>
            </a:avLst>
          </a:prstGeom>
          <a:solidFill>
            <a:srgbClr val="B3A6E6"/>
          </a:solidFill>
          <a:ln/>
        </p:spPr>
      </p:sp>
      <p:sp>
        <p:nvSpPr>
          <p:cNvPr id="11" name="!!shO0"/>
          <p:cNvSpPr/>
          <p:nvPr/>
        </p:nvSpPr>
        <p:spPr>
          <a:xfrm>
            <a:off x="2304288" y="2350008"/>
            <a:ext cx="1975104" cy="603504"/>
          </a:xfrm>
          <a:prstGeom prst="roundRect">
            <a:avLst>
              <a:gd name="adj" fmla="val 24242"/>
            </a:avLst>
          </a:prstGeom>
          <a:solidFill>
            <a:srgbClr val="8FCBE0"/>
          </a:solidFill>
          <a:ln/>
        </p:spPr>
      </p:sp>
      <p:sp>
        <p:nvSpPr>
          <p:cNvPr id="12" name="!!shC0"/>
          <p:cNvSpPr/>
          <p:nvPr/>
        </p:nvSpPr>
        <p:spPr>
          <a:xfrm>
            <a:off x="2377440" y="2423160"/>
            <a:ext cx="1828800" cy="457200"/>
          </a:xfrm>
          <a:prstGeom prst="roundRect">
            <a:avLst>
              <a:gd name="adj" fmla="val 20000"/>
            </a:avLst>
          </a:prstGeom>
          <a:solidFill>
            <a:srgbClr val="F6E7B8"/>
          </a:solidFill>
          <a:ln/>
        </p:spPr>
      </p:sp>
      <p:sp>
        <p:nvSpPr>
          <p:cNvPr id="13" name="!!shO1"/>
          <p:cNvSpPr/>
          <p:nvPr/>
        </p:nvSpPr>
        <p:spPr>
          <a:xfrm>
            <a:off x="2304288" y="3310128"/>
            <a:ext cx="1975104" cy="603504"/>
          </a:xfrm>
          <a:prstGeom prst="roundRect">
            <a:avLst>
              <a:gd name="adj" fmla="val 24242"/>
            </a:avLst>
          </a:prstGeom>
          <a:solidFill>
            <a:srgbClr val="8FCBE0"/>
          </a:solidFill>
          <a:ln/>
        </p:spPr>
      </p:sp>
      <p:sp>
        <p:nvSpPr>
          <p:cNvPr id="14" name="!!shC1"/>
          <p:cNvSpPr/>
          <p:nvPr/>
        </p:nvSpPr>
        <p:spPr>
          <a:xfrm>
            <a:off x="2377440" y="3383280"/>
            <a:ext cx="1828800" cy="457200"/>
          </a:xfrm>
          <a:prstGeom prst="roundRect">
            <a:avLst>
              <a:gd name="adj" fmla="val 20000"/>
            </a:avLst>
          </a:prstGeom>
          <a:solidFill>
            <a:srgbClr val="F6E7B8"/>
          </a:solidFill>
          <a:ln/>
        </p:spPr>
      </p:sp>
      <p:sp>
        <p:nvSpPr>
          <p:cNvPr id="15" name="!!shO2"/>
          <p:cNvSpPr/>
          <p:nvPr/>
        </p:nvSpPr>
        <p:spPr>
          <a:xfrm>
            <a:off x="2304288" y="4270248"/>
            <a:ext cx="1975104" cy="603504"/>
          </a:xfrm>
          <a:prstGeom prst="roundRect">
            <a:avLst>
              <a:gd name="adj" fmla="val 24242"/>
            </a:avLst>
          </a:prstGeom>
          <a:solidFill>
            <a:srgbClr val="8FCBE0"/>
          </a:solidFill>
          <a:ln/>
        </p:spPr>
      </p:sp>
      <p:sp>
        <p:nvSpPr>
          <p:cNvPr id="16" name="!!shC2"/>
          <p:cNvSpPr/>
          <p:nvPr/>
        </p:nvSpPr>
        <p:spPr>
          <a:xfrm>
            <a:off x="2377440" y="4343400"/>
            <a:ext cx="1828800" cy="457200"/>
          </a:xfrm>
          <a:prstGeom prst="roundRect">
            <a:avLst>
              <a:gd name="adj" fmla="val 20000"/>
            </a:avLst>
          </a:prstGeom>
          <a:solidFill>
            <a:srgbClr val="F6E7B8"/>
          </a:solidFill>
          <a:ln/>
        </p:spPr>
      </p:sp>
      <p:sp>
        <p:nvSpPr>
          <p:cNvPr id="17" name="!!shGl"/>
          <p:cNvSpPr txBox="1"/>
          <p:nvPr/>
        </p:nvSpPr>
        <p:spPr>
          <a:xfrm>
            <a:off x="4754880" y="3474720"/>
            <a:ext cx="1463040" cy="274320"/>
          </a:xfrm>
          <a:prstGeom prst="rect">
            <a:avLst/>
          </a:prstGeom>
          <a:noFill/>
          <a:ln/>
        </p:spPr>
        <p:txBody>
          <a:bodyPr wrap="square" lIns="0" tIns="0" rIns="0" bIns="0" rtlCol="0" anchor="t"/>
          <a:lstStyle/>
          <a:p>
            <a:pPr algn="l" indent="0" marL="0">
              <a:buNone/>
            </a:pPr>
            <a:r>
              <a:rPr lang="en-US" sz="1100" dirty="0">
                <a:solidFill>
                  <a:srgbClr val="6B5BC4"/>
                </a:solidFill>
                <a:latin typeface="Segoe UI Semibold" pitchFamily="34" charset="0"/>
                <a:ea typeface="Segoe UI Semibold" pitchFamily="34" charset="-122"/>
                <a:cs typeface="Segoe UI Semibold" pitchFamily="34" charset="-120"/>
              </a:rPr>
              <a:t>gate (all round)</a:t>
            </a:r>
            <a:endParaRPr lang="en-US" sz="1100" dirty="0"/>
          </a:p>
        </p:txBody>
      </p:sp>
      <p:sp>
        <p:nvSpPr>
          <p:cNvPr id="18" name="!!shBt"/>
          <p:cNvSpPr txBox="1"/>
          <p:nvPr/>
        </p:nvSpPr>
        <p:spPr>
          <a:xfrm>
            <a:off x="6675120" y="1463040"/>
            <a:ext cx="4937760" cy="274320"/>
          </a:xfrm>
          <a:prstGeom prst="rect">
            <a:avLst/>
          </a:prstGeom>
          <a:noFill/>
          <a:ln/>
        </p:spPr>
        <p:txBody>
          <a:bodyPr wrap="square" lIns="0" tIns="0" rIns="0" bIns="0" rtlCol="0" anchor="t"/>
          <a:lstStyle/>
          <a:p>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W</a:t>
            </a:r>
            <a:pPr algn="l"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eff</a:t>
            </a:r>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 = gate perimeter (nm)   →   I</a:t>
            </a:r>
            <a:pPr algn="l"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on</a:t>
            </a:r>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 ∝ W</a:t>
            </a:r>
            <a:pPr algn="l" indent="0" marL="0">
              <a:buNone/>
            </a:pPr>
            <a:r>
              <a:rPr lang="en-US" sz="1300" baseline="-40000" dirty="0">
                <a:solidFill>
                  <a:srgbClr val="171A20"/>
                </a:solidFill>
                <a:latin typeface="Segoe UI Semibold" pitchFamily="34" charset="0"/>
                <a:ea typeface="Segoe UI Semibold" pitchFamily="34" charset="-122"/>
                <a:cs typeface="Segoe UI Semibold" pitchFamily="34" charset="-120"/>
              </a:rPr>
              <a:t>eff</a:t>
            </a:r>
            <a:endParaRPr lang="en-US" sz="1300" dirty="0"/>
          </a:p>
        </p:txBody>
      </p:sp>
      <p:sp>
        <p:nvSpPr>
          <p:cNvPr id="19" name="!!shB0"/>
          <p:cNvSpPr/>
          <p:nvPr/>
        </p:nvSpPr>
        <p:spPr>
          <a:xfrm>
            <a:off x="6949440" y="3808415"/>
            <a:ext cx="777240" cy="397825"/>
          </a:xfrm>
          <a:prstGeom prst="rect">
            <a:avLst/>
          </a:prstGeom>
          <a:solidFill>
            <a:srgbClr val="9FD8D2"/>
          </a:solidFill>
          <a:ln/>
        </p:spPr>
      </p:sp>
      <p:sp>
        <p:nvSpPr>
          <p:cNvPr id="20" name="!!shBv0"/>
          <p:cNvSpPr txBox="1"/>
          <p:nvPr/>
        </p:nvSpPr>
        <p:spPr>
          <a:xfrm>
            <a:off x="6766560" y="3534095"/>
            <a:ext cx="114300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25.1</a:t>
            </a:r>
            <a:endParaRPr lang="en-US" sz="1100" dirty="0"/>
          </a:p>
        </p:txBody>
      </p:sp>
      <p:sp>
        <p:nvSpPr>
          <p:cNvPr id="21" name="!!shBl0"/>
          <p:cNvSpPr txBox="1"/>
          <p:nvPr/>
        </p:nvSpPr>
        <p:spPr>
          <a:xfrm>
            <a:off x="6766560" y="4251960"/>
            <a:ext cx="114300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wire 4</a:t>
            </a:r>
            <a:endParaRPr lang="en-US" sz="1000" dirty="0"/>
          </a:p>
        </p:txBody>
      </p:sp>
      <p:sp>
        <p:nvSpPr>
          <p:cNvPr id="22" name="!!shB1"/>
          <p:cNvSpPr/>
          <p:nvPr/>
        </p:nvSpPr>
        <p:spPr>
          <a:xfrm>
            <a:off x="8092440" y="3645164"/>
            <a:ext cx="777240" cy="561076"/>
          </a:xfrm>
          <a:prstGeom prst="rect">
            <a:avLst/>
          </a:prstGeom>
          <a:solidFill>
            <a:srgbClr val="9FD8D2"/>
          </a:solidFill>
          <a:ln/>
        </p:spPr>
      </p:sp>
      <p:sp>
        <p:nvSpPr>
          <p:cNvPr id="23" name="!!shBv1"/>
          <p:cNvSpPr txBox="1"/>
          <p:nvPr/>
        </p:nvSpPr>
        <p:spPr>
          <a:xfrm>
            <a:off x="7909560" y="3370844"/>
            <a:ext cx="114300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35.4</a:t>
            </a:r>
            <a:endParaRPr lang="en-US" sz="1100" dirty="0"/>
          </a:p>
        </p:txBody>
      </p:sp>
      <p:sp>
        <p:nvSpPr>
          <p:cNvPr id="24" name="!!shBl1"/>
          <p:cNvSpPr txBox="1"/>
          <p:nvPr/>
        </p:nvSpPr>
        <p:spPr>
          <a:xfrm>
            <a:off x="7909560" y="4251960"/>
            <a:ext cx="114300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wire 5.64</a:t>
            </a:r>
            <a:endParaRPr lang="en-US" sz="1000" dirty="0"/>
          </a:p>
        </p:txBody>
      </p:sp>
      <p:sp>
        <p:nvSpPr>
          <p:cNvPr id="25" name="!!shB2"/>
          <p:cNvSpPr/>
          <p:nvPr/>
        </p:nvSpPr>
        <p:spPr>
          <a:xfrm>
            <a:off x="9235440" y="3413760"/>
            <a:ext cx="777240" cy="792480"/>
          </a:xfrm>
          <a:prstGeom prst="rect">
            <a:avLst/>
          </a:prstGeom>
          <a:solidFill>
            <a:srgbClr val="9FD8D2"/>
          </a:solidFill>
          <a:ln/>
        </p:spPr>
      </p:sp>
      <p:sp>
        <p:nvSpPr>
          <p:cNvPr id="26" name="!!shBv2"/>
          <p:cNvSpPr txBox="1"/>
          <p:nvPr/>
        </p:nvSpPr>
        <p:spPr>
          <a:xfrm>
            <a:off x="9052560" y="3139440"/>
            <a:ext cx="114300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50.0</a:t>
            </a:r>
            <a:endParaRPr lang="en-US" sz="1100" dirty="0"/>
          </a:p>
        </p:txBody>
      </p:sp>
      <p:sp>
        <p:nvSpPr>
          <p:cNvPr id="27" name="!!shBl2"/>
          <p:cNvSpPr txBox="1"/>
          <p:nvPr/>
        </p:nvSpPr>
        <p:spPr>
          <a:xfrm>
            <a:off x="9052560" y="4251960"/>
            <a:ext cx="114300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sheet</a:t>
            </a:r>
            <a:endParaRPr lang="en-US" sz="1000" dirty="0"/>
          </a:p>
        </p:txBody>
      </p:sp>
      <p:sp>
        <p:nvSpPr>
          <p:cNvPr id="28" name="!!shB3"/>
          <p:cNvSpPr/>
          <p:nvPr/>
        </p:nvSpPr>
        <p:spPr>
          <a:xfrm>
            <a:off x="10378440" y="1828800"/>
            <a:ext cx="777240" cy="2377440"/>
          </a:xfrm>
          <a:prstGeom prst="rect">
            <a:avLst/>
          </a:prstGeom>
          <a:solidFill>
            <a:srgbClr val="11998E"/>
          </a:solidFill>
          <a:ln/>
        </p:spPr>
      </p:sp>
      <p:sp>
        <p:nvSpPr>
          <p:cNvPr id="29" name="!!shBv3"/>
          <p:cNvSpPr txBox="1"/>
          <p:nvPr/>
        </p:nvSpPr>
        <p:spPr>
          <a:xfrm>
            <a:off x="10195560" y="1554480"/>
            <a:ext cx="114300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150.0</a:t>
            </a:r>
            <a:endParaRPr lang="en-US" sz="1100" dirty="0"/>
          </a:p>
        </p:txBody>
      </p:sp>
      <p:sp>
        <p:nvSpPr>
          <p:cNvPr id="30" name="!!shBl3"/>
          <p:cNvSpPr txBox="1"/>
          <p:nvPr/>
        </p:nvSpPr>
        <p:spPr>
          <a:xfrm>
            <a:off x="10195560" y="4251960"/>
            <a:ext cx="114300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stack</a:t>
            </a:r>
            <a:endParaRPr lang="en-US" sz="1000" dirty="0"/>
          </a:p>
        </p:txBody>
      </p:sp>
      <p:sp>
        <p:nvSpPr>
          <p:cNvPr id="31" name="!!chip0"/>
          <p:cNvSpPr/>
          <p:nvPr/>
        </p:nvSpPr>
        <p:spPr>
          <a:xfrm>
            <a:off x="6675120" y="4617720"/>
            <a:ext cx="1554480" cy="658368"/>
          </a:xfrm>
          <a:prstGeom prst="roundRect">
            <a:avLst>
              <a:gd name="adj" fmla="val 8333"/>
            </a:avLst>
          </a:prstGeom>
          <a:solidFill>
            <a:srgbClr val="F4F5F7"/>
          </a:solidFill>
          <a:ln/>
        </p:spPr>
      </p:sp>
      <p:sp>
        <p:nvSpPr>
          <p:cNvPr id="32" name="!!chipk0"/>
          <p:cNvSpPr txBox="1"/>
          <p:nvPr/>
        </p:nvSpPr>
        <p:spPr>
          <a:xfrm>
            <a:off x="6784848" y="4690872"/>
            <a:ext cx="133502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W</a:t>
            </a:r>
            <a:pPr algn="l" indent="0" marL="0">
              <a:buNone/>
            </a:pPr>
            <a:r>
              <a:rPr lang="en-US" sz="1000" baseline="-40000" dirty="0">
                <a:solidFill>
                  <a:srgbClr val="5C5E62"/>
                </a:solidFill>
                <a:latin typeface="Segoe UI" pitchFamily="34" charset="0"/>
                <a:ea typeface="Segoe UI" pitchFamily="34" charset="-122"/>
                <a:cs typeface="Segoe UI" pitchFamily="34" charset="-120"/>
              </a:rPr>
              <a:t>eff</a:t>
            </a:r>
            <a:endParaRPr lang="en-US" sz="1000" dirty="0"/>
          </a:p>
        </p:txBody>
      </p:sp>
      <p:sp>
        <p:nvSpPr>
          <p:cNvPr id="33" name="!!chipv0"/>
          <p:cNvSpPr txBox="1"/>
          <p:nvPr/>
        </p:nvSpPr>
        <p:spPr>
          <a:xfrm>
            <a:off x="6784848" y="4928616"/>
            <a:ext cx="137160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150.0 nm</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34" name="!!chip1"/>
          <p:cNvSpPr/>
          <p:nvPr/>
        </p:nvSpPr>
        <p:spPr>
          <a:xfrm>
            <a:off x="8339328" y="4617720"/>
            <a:ext cx="1554480" cy="658368"/>
          </a:xfrm>
          <a:prstGeom prst="roundRect">
            <a:avLst>
              <a:gd name="adj" fmla="val 8333"/>
            </a:avLst>
          </a:prstGeom>
          <a:solidFill>
            <a:srgbClr val="F4F5F7"/>
          </a:solidFill>
          <a:ln/>
        </p:spPr>
      </p:sp>
      <p:sp>
        <p:nvSpPr>
          <p:cNvPr id="35" name="!!chipk1"/>
          <p:cNvSpPr txBox="1"/>
          <p:nvPr/>
        </p:nvSpPr>
        <p:spPr>
          <a:xfrm>
            <a:off x="8449056" y="4690872"/>
            <a:ext cx="133502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scale length λ</a:t>
            </a:r>
            <a:endParaRPr lang="en-US" sz="1000" dirty="0"/>
          </a:p>
        </p:txBody>
      </p:sp>
      <p:sp>
        <p:nvSpPr>
          <p:cNvPr id="36" name="!!chipv1"/>
          <p:cNvSpPr txBox="1"/>
          <p:nvPr/>
        </p:nvSpPr>
        <p:spPr>
          <a:xfrm>
            <a:off x="8449056" y="4928616"/>
            <a:ext cx="137160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1.73 nm</a:t>
            </a:r>
            <a:endParaRPr lang="en-US" sz="1500" dirty="0"/>
          </a:p>
        </p:txBody>
      </p:sp>
      <p:sp>
        <p:nvSpPr>
          <p:cNvPr id="37" name="!!chip2"/>
          <p:cNvSpPr/>
          <p:nvPr/>
        </p:nvSpPr>
        <p:spPr>
          <a:xfrm>
            <a:off x="10003536" y="4617720"/>
            <a:ext cx="1554480" cy="658368"/>
          </a:xfrm>
          <a:prstGeom prst="roundRect">
            <a:avLst>
              <a:gd name="adj" fmla="val 8333"/>
            </a:avLst>
          </a:prstGeom>
          <a:solidFill>
            <a:srgbClr val="F4F5F7"/>
          </a:solidFill>
          <a:ln/>
        </p:spPr>
      </p:sp>
      <p:sp>
        <p:nvSpPr>
          <p:cNvPr id="38" name="!!chipk2"/>
          <p:cNvSpPr txBox="1"/>
          <p:nvPr/>
        </p:nvSpPr>
        <p:spPr>
          <a:xfrm>
            <a:off x="10113264" y="4690872"/>
            <a:ext cx="133502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silicon area</a:t>
            </a:r>
            <a:endParaRPr lang="en-US" sz="1000" dirty="0"/>
          </a:p>
        </p:txBody>
      </p:sp>
      <p:sp>
        <p:nvSpPr>
          <p:cNvPr id="39" name="!!chipv2"/>
          <p:cNvSpPr txBox="1"/>
          <p:nvPr/>
        </p:nvSpPr>
        <p:spPr>
          <a:xfrm>
            <a:off x="10113264" y="4928616"/>
            <a:ext cx="137160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300 nm²</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0"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Stack three sheets: 3× the current in the same footprint, same gate control.</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61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How it is made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Side view along the channel: from a layer cake to sheets wrapped by the gate</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E2E3E3"/>
          </a:solidFill>
          <a:ln/>
        </p:spPr>
      </p:sp>
      <p:sp>
        <p:nvSpPr>
          <p:cNvPr id="6" name="!!sdot2"/>
          <p:cNvSpPr/>
          <p:nvPr/>
        </p:nvSpPr>
        <p:spPr>
          <a:xfrm>
            <a:off x="11288268" y="525780"/>
            <a:ext cx="82296" cy="82296"/>
          </a:xfrm>
          <a:prstGeom prst="ellipse">
            <a:avLst/>
          </a:prstGeom>
          <a:solidFill>
            <a:srgbClr val="E2E3E3"/>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fbSub"/>
          <p:cNvSpPr/>
          <p:nvPr/>
        </p:nvSpPr>
        <p:spPr>
          <a:xfrm>
            <a:off x="822960" y="4846320"/>
            <a:ext cx="4937760" cy="548640"/>
          </a:xfrm>
          <a:prstGeom prst="rect">
            <a:avLst/>
          </a:prstGeom>
          <a:solidFill>
            <a:srgbClr val="EDE3C8"/>
          </a:solidFill>
          <a:ln/>
        </p:spPr>
      </p:sp>
      <p:sp>
        <p:nvSpPr>
          <p:cNvPr id="10" name="!!fbL0"/>
          <p:cNvSpPr/>
          <p:nvPr/>
        </p:nvSpPr>
        <p:spPr>
          <a:xfrm>
            <a:off x="822960" y="4517136"/>
            <a:ext cx="1600200" cy="329184"/>
          </a:xfrm>
          <a:prstGeom prst="rect">
            <a:avLst/>
          </a:prstGeom>
          <a:solidFill>
            <a:srgbClr val="C9CCD3"/>
          </a:solidFill>
          <a:ln w="6350">
            <a:solidFill>
              <a:srgbClr val="FFFFFF"/>
            </a:solidFill>
            <a:prstDash val="solid"/>
          </a:ln>
        </p:spPr>
      </p:sp>
      <p:sp>
        <p:nvSpPr>
          <p:cNvPr id="11" name="!!fbR0"/>
          <p:cNvSpPr/>
          <p:nvPr/>
        </p:nvSpPr>
        <p:spPr>
          <a:xfrm>
            <a:off x="4160520" y="4517136"/>
            <a:ext cx="1600200" cy="329184"/>
          </a:xfrm>
          <a:prstGeom prst="rect">
            <a:avLst/>
          </a:prstGeom>
          <a:solidFill>
            <a:srgbClr val="C9CCD3"/>
          </a:solidFill>
          <a:ln w="6350">
            <a:solidFill>
              <a:srgbClr val="FFFFFF"/>
            </a:solidFill>
            <a:prstDash val="solid"/>
          </a:ln>
        </p:spPr>
      </p:sp>
      <p:sp>
        <p:nvSpPr>
          <p:cNvPr id="12" name="!!fbC0"/>
          <p:cNvSpPr/>
          <p:nvPr/>
        </p:nvSpPr>
        <p:spPr>
          <a:xfrm>
            <a:off x="2423160" y="4517136"/>
            <a:ext cx="1737360" cy="329184"/>
          </a:xfrm>
          <a:prstGeom prst="rect">
            <a:avLst/>
          </a:prstGeom>
          <a:solidFill>
            <a:srgbClr val="C9CCD3"/>
          </a:solidFill>
          <a:ln w="6350">
            <a:solidFill>
              <a:srgbClr val="FFFFFF"/>
            </a:solidFill>
            <a:prstDash val="solid"/>
          </a:ln>
        </p:spPr>
      </p:sp>
      <p:sp>
        <p:nvSpPr>
          <p:cNvPr id="13" name="!!fbL1"/>
          <p:cNvSpPr/>
          <p:nvPr/>
        </p:nvSpPr>
        <p:spPr>
          <a:xfrm>
            <a:off x="822960" y="4187952"/>
            <a:ext cx="1600200" cy="329184"/>
          </a:xfrm>
          <a:prstGeom prst="rect">
            <a:avLst/>
          </a:prstGeom>
          <a:solidFill>
            <a:srgbClr val="F6E7B8"/>
          </a:solidFill>
          <a:ln w="6350">
            <a:solidFill>
              <a:srgbClr val="FFFFFF"/>
            </a:solidFill>
            <a:prstDash val="solid"/>
          </a:ln>
        </p:spPr>
      </p:sp>
      <p:sp>
        <p:nvSpPr>
          <p:cNvPr id="14" name="!!fbR1"/>
          <p:cNvSpPr/>
          <p:nvPr/>
        </p:nvSpPr>
        <p:spPr>
          <a:xfrm>
            <a:off x="4160520" y="4187952"/>
            <a:ext cx="1600200" cy="329184"/>
          </a:xfrm>
          <a:prstGeom prst="rect">
            <a:avLst/>
          </a:prstGeom>
          <a:solidFill>
            <a:srgbClr val="F6E7B8"/>
          </a:solidFill>
          <a:ln w="6350">
            <a:solidFill>
              <a:srgbClr val="FFFFFF"/>
            </a:solidFill>
            <a:prstDash val="solid"/>
          </a:ln>
        </p:spPr>
      </p:sp>
      <p:sp>
        <p:nvSpPr>
          <p:cNvPr id="15" name="!!fbC1"/>
          <p:cNvSpPr/>
          <p:nvPr/>
        </p:nvSpPr>
        <p:spPr>
          <a:xfrm>
            <a:off x="2423160" y="4187952"/>
            <a:ext cx="1737360" cy="329184"/>
          </a:xfrm>
          <a:prstGeom prst="rect">
            <a:avLst/>
          </a:prstGeom>
          <a:solidFill>
            <a:srgbClr val="F6E7B8"/>
          </a:solidFill>
          <a:ln w="6350">
            <a:solidFill>
              <a:srgbClr val="FFFFFF"/>
            </a:solidFill>
            <a:prstDash val="solid"/>
          </a:ln>
        </p:spPr>
      </p:sp>
      <p:sp>
        <p:nvSpPr>
          <p:cNvPr id="16" name="!!fbL2"/>
          <p:cNvSpPr/>
          <p:nvPr/>
        </p:nvSpPr>
        <p:spPr>
          <a:xfrm>
            <a:off x="822960" y="3858768"/>
            <a:ext cx="1600200" cy="329184"/>
          </a:xfrm>
          <a:prstGeom prst="rect">
            <a:avLst/>
          </a:prstGeom>
          <a:solidFill>
            <a:srgbClr val="C9CCD3"/>
          </a:solidFill>
          <a:ln w="6350">
            <a:solidFill>
              <a:srgbClr val="FFFFFF"/>
            </a:solidFill>
            <a:prstDash val="solid"/>
          </a:ln>
        </p:spPr>
      </p:sp>
      <p:sp>
        <p:nvSpPr>
          <p:cNvPr id="17" name="!!fbR2"/>
          <p:cNvSpPr/>
          <p:nvPr/>
        </p:nvSpPr>
        <p:spPr>
          <a:xfrm>
            <a:off x="4160520" y="3858768"/>
            <a:ext cx="1600200" cy="329184"/>
          </a:xfrm>
          <a:prstGeom prst="rect">
            <a:avLst/>
          </a:prstGeom>
          <a:solidFill>
            <a:srgbClr val="C9CCD3"/>
          </a:solidFill>
          <a:ln w="6350">
            <a:solidFill>
              <a:srgbClr val="FFFFFF"/>
            </a:solidFill>
            <a:prstDash val="solid"/>
          </a:ln>
        </p:spPr>
      </p:sp>
      <p:sp>
        <p:nvSpPr>
          <p:cNvPr id="18" name="!!fbC2"/>
          <p:cNvSpPr/>
          <p:nvPr/>
        </p:nvSpPr>
        <p:spPr>
          <a:xfrm>
            <a:off x="2423160" y="3858768"/>
            <a:ext cx="1737360" cy="329184"/>
          </a:xfrm>
          <a:prstGeom prst="rect">
            <a:avLst/>
          </a:prstGeom>
          <a:solidFill>
            <a:srgbClr val="C9CCD3"/>
          </a:solidFill>
          <a:ln w="6350">
            <a:solidFill>
              <a:srgbClr val="FFFFFF"/>
            </a:solidFill>
            <a:prstDash val="solid"/>
          </a:ln>
        </p:spPr>
      </p:sp>
      <p:sp>
        <p:nvSpPr>
          <p:cNvPr id="19" name="!!fbL3"/>
          <p:cNvSpPr/>
          <p:nvPr/>
        </p:nvSpPr>
        <p:spPr>
          <a:xfrm>
            <a:off x="822960" y="3529584"/>
            <a:ext cx="1600200" cy="329184"/>
          </a:xfrm>
          <a:prstGeom prst="rect">
            <a:avLst/>
          </a:prstGeom>
          <a:solidFill>
            <a:srgbClr val="F6E7B8"/>
          </a:solidFill>
          <a:ln w="6350">
            <a:solidFill>
              <a:srgbClr val="FFFFFF"/>
            </a:solidFill>
            <a:prstDash val="solid"/>
          </a:ln>
        </p:spPr>
      </p:sp>
      <p:sp>
        <p:nvSpPr>
          <p:cNvPr id="20" name="!!fbR3"/>
          <p:cNvSpPr/>
          <p:nvPr/>
        </p:nvSpPr>
        <p:spPr>
          <a:xfrm>
            <a:off x="4160520" y="3529584"/>
            <a:ext cx="1600200" cy="329184"/>
          </a:xfrm>
          <a:prstGeom prst="rect">
            <a:avLst/>
          </a:prstGeom>
          <a:solidFill>
            <a:srgbClr val="F6E7B8"/>
          </a:solidFill>
          <a:ln w="6350">
            <a:solidFill>
              <a:srgbClr val="FFFFFF"/>
            </a:solidFill>
            <a:prstDash val="solid"/>
          </a:ln>
        </p:spPr>
      </p:sp>
      <p:sp>
        <p:nvSpPr>
          <p:cNvPr id="21" name="!!fbC3"/>
          <p:cNvSpPr/>
          <p:nvPr/>
        </p:nvSpPr>
        <p:spPr>
          <a:xfrm>
            <a:off x="2423160" y="3529584"/>
            <a:ext cx="1737360" cy="329184"/>
          </a:xfrm>
          <a:prstGeom prst="rect">
            <a:avLst/>
          </a:prstGeom>
          <a:solidFill>
            <a:srgbClr val="F6E7B8"/>
          </a:solidFill>
          <a:ln w="6350">
            <a:solidFill>
              <a:srgbClr val="FFFFFF"/>
            </a:solidFill>
            <a:prstDash val="solid"/>
          </a:ln>
        </p:spPr>
      </p:sp>
      <p:sp>
        <p:nvSpPr>
          <p:cNvPr id="22" name="!!fbL4"/>
          <p:cNvSpPr/>
          <p:nvPr/>
        </p:nvSpPr>
        <p:spPr>
          <a:xfrm>
            <a:off x="822960" y="3200400"/>
            <a:ext cx="1600200" cy="329184"/>
          </a:xfrm>
          <a:prstGeom prst="rect">
            <a:avLst/>
          </a:prstGeom>
          <a:solidFill>
            <a:srgbClr val="C9CCD3"/>
          </a:solidFill>
          <a:ln w="6350">
            <a:solidFill>
              <a:srgbClr val="FFFFFF"/>
            </a:solidFill>
            <a:prstDash val="solid"/>
          </a:ln>
        </p:spPr>
      </p:sp>
      <p:sp>
        <p:nvSpPr>
          <p:cNvPr id="23" name="!!fbR4"/>
          <p:cNvSpPr/>
          <p:nvPr/>
        </p:nvSpPr>
        <p:spPr>
          <a:xfrm>
            <a:off x="4160520" y="3200400"/>
            <a:ext cx="1600200" cy="329184"/>
          </a:xfrm>
          <a:prstGeom prst="rect">
            <a:avLst/>
          </a:prstGeom>
          <a:solidFill>
            <a:srgbClr val="C9CCD3"/>
          </a:solidFill>
          <a:ln w="6350">
            <a:solidFill>
              <a:srgbClr val="FFFFFF"/>
            </a:solidFill>
            <a:prstDash val="solid"/>
          </a:ln>
        </p:spPr>
      </p:sp>
      <p:sp>
        <p:nvSpPr>
          <p:cNvPr id="24" name="!!fbC4"/>
          <p:cNvSpPr/>
          <p:nvPr/>
        </p:nvSpPr>
        <p:spPr>
          <a:xfrm>
            <a:off x="2423160" y="3200400"/>
            <a:ext cx="1737360" cy="329184"/>
          </a:xfrm>
          <a:prstGeom prst="rect">
            <a:avLst/>
          </a:prstGeom>
          <a:solidFill>
            <a:srgbClr val="C9CCD3"/>
          </a:solidFill>
          <a:ln w="6350">
            <a:solidFill>
              <a:srgbClr val="FFFFFF"/>
            </a:solidFill>
            <a:prstDash val="solid"/>
          </a:ln>
        </p:spPr>
      </p:sp>
      <p:sp>
        <p:nvSpPr>
          <p:cNvPr id="25" name="!!fbL5"/>
          <p:cNvSpPr/>
          <p:nvPr/>
        </p:nvSpPr>
        <p:spPr>
          <a:xfrm>
            <a:off x="822960" y="2871216"/>
            <a:ext cx="1600200" cy="329184"/>
          </a:xfrm>
          <a:prstGeom prst="rect">
            <a:avLst/>
          </a:prstGeom>
          <a:solidFill>
            <a:srgbClr val="F6E7B8"/>
          </a:solidFill>
          <a:ln w="6350">
            <a:solidFill>
              <a:srgbClr val="FFFFFF"/>
            </a:solidFill>
            <a:prstDash val="solid"/>
          </a:ln>
        </p:spPr>
      </p:sp>
      <p:sp>
        <p:nvSpPr>
          <p:cNvPr id="26" name="!!fbR5"/>
          <p:cNvSpPr/>
          <p:nvPr/>
        </p:nvSpPr>
        <p:spPr>
          <a:xfrm>
            <a:off x="4160520" y="2871216"/>
            <a:ext cx="1600200" cy="329184"/>
          </a:xfrm>
          <a:prstGeom prst="rect">
            <a:avLst/>
          </a:prstGeom>
          <a:solidFill>
            <a:srgbClr val="F6E7B8"/>
          </a:solidFill>
          <a:ln w="6350">
            <a:solidFill>
              <a:srgbClr val="FFFFFF"/>
            </a:solidFill>
            <a:prstDash val="solid"/>
          </a:ln>
        </p:spPr>
      </p:sp>
      <p:sp>
        <p:nvSpPr>
          <p:cNvPr id="27" name="!!fbC5"/>
          <p:cNvSpPr/>
          <p:nvPr/>
        </p:nvSpPr>
        <p:spPr>
          <a:xfrm>
            <a:off x="2423160" y="2871216"/>
            <a:ext cx="1737360" cy="329184"/>
          </a:xfrm>
          <a:prstGeom prst="rect">
            <a:avLst/>
          </a:prstGeom>
          <a:solidFill>
            <a:srgbClr val="F6E7B8"/>
          </a:solidFill>
          <a:ln w="6350">
            <a:solidFill>
              <a:srgbClr val="FFFFFF"/>
            </a:solidFill>
            <a:prstDash val="solid"/>
          </a:ln>
        </p:spPr>
      </p:sp>
      <p:sp>
        <p:nvSpPr>
          <p:cNvPr id="28" name="!!fbLeg1"/>
          <p:cNvSpPr txBox="1"/>
          <p:nvPr/>
        </p:nvSpPr>
        <p:spPr>
          <a:xfrm>
            <a:off x="822960" y="5486400"/>
            <a:ext cx="2377440" cy="228600"/>
          </a:xfrm>
          <a:prstGeom prst="rect">
            <a:avLst/>
          </a:prstGeom>
          <a:noFill/>
          <a:ln/>
        </p:spPr>
        <p:txBody>
          <a:bodyPr wrap="square" lIns="0" tIns="0" rIns="0" bIns="0" rtlCol="0" anchor="t"/>
          <a:lstStyle/>
          <a:p>
            <a:pPr algn="l" indent="0" marL="0">
              <a:buNone/>
            </a:pPr>
            <a:r>
              <a:rPr lang="en-US" sz="1000" dirty="0">
                <a:solidFill>
                  <a:srgbClr val="8A6D1F"/>
                </a:solidFill>
                <a:latin typeface="Segoe UI" pitchFamily="34" charset="0"/>
                <a:ea typeface="Segoe UI" pitchFamily="34" charset="-122"/>
                <a:cs typeface="Segoe UI" pitchFamily="34" charset="-120"/>
              </a:rPr>
              <a:t>silicon sheets (yellow)</a:t>
            </a:r>
            <a:endParaRPr lang="en-US" sz="1000" dirty="0"/>
          </a:p>
        </p:txBody>
      </p:sp>
      <p:sp>
        <p:nvSpPr>
          <p:cNvPr id="29" name="!!fbLeg2"/>
          <p:cNvSpPr txBox="1"/>
          <p:nvPr/>
        </p:nvSpPr>
        <p:spPr>
          <a:xfrm>
            <a:off x="3108960" y="5486400"/>
            <a:ext cx="2743200" cy="228600"/>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SiGe, removed later (grey)</a:t>
            </a:r>
            <a:endParaRPr lang="en-US" sz="1000" dirty="0"/>
          </a:p>
        </p:txBody>
      </p:sp>
      <p:sp>
        <p:nvSpPr>
          <p:cNvPr id="30" name="!!card"/>
          <p:cNvSpPr/>
          <p:nvPr/>
        </p:nvSpPr>
        <p:spPr>
          <a:xfrm>
            <a:off x="6766560" y="1554480"/>
            <a:ext cx="4873752" cy="2286000"/>
          </a:xfrm>
          <a:prstGeom prst="roundRect">
            <a:avLst>
              <a:gd name="adj" fmla="val 3200"/>
            </a:avLst>
          </a:prstGeom>
          <a:solidFill>
            <a:srgbClr val="F4F5F7"/>
          </a:solidFill>
          <a:ln/>
        </p:spPr>
      </p:sp>
      <p:sp>
        <p:nvSpPr>
          <p:cNvPr id="31" name="!!cardn"/>
          <p:cNvSpPr/>
          <p:nvPr/>
        </p:nvSpPr>
        <p:spPr>
          <a:xfrm>
            <a:off x="6976872" y="1764792"/>
            <a:ext cx="347472" cy="347472"/>
          </a:xfrm>
          <a:prstGeom prst="ellipse">
            <a:avLst/>
          </a:prstGeom>
          <a:solidFill>
            <a:srgbClr val="E07B00"/>
          </a:solidFill>
          <a:ln/>
        </p:spPr>
      </p:sp>
      <p:sp>
        <p:nvSpPr>
          <p:cNvPr id="32" name="!!cardnt"/>
          <p:cNvSpPr txBox="1"/>
          <p:nvPr/>
        </p:nvSpPr>
        <p:spPr>
          <a:xfrm>
            <a:off x="697687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33" name="!!cardh"/>
          <p:cNvSpPr txBox="1"/>
          <p:nvPr/>
        </p:nvSpPr>
        <p:spPr>
          <a:xfrm>
            <a:off x="7452360" y="1773936"/>
            <a:ext cx="4005072" cy="347472"/>
          </a:xfrm>
          <a:prstGeom prst="rect">
            <a:avLst/>
          </a:prstGeom>
          <a:noFill/>
          <a:ln/>
        </p:spPr>
        <p:txBody>
          <a:bodyPr wrap="square" lIns="0" tIns="0" rIns="0" bIns="0" rtlCol="0" anchor="ctr"/>
          <a:lstStyle/>
          <a:p>
            <a:pPr algn="l" indent="0" marL="0">
              <a:buNone/>
            </a:pPr>
            <a:r>
              <a:rPr lang="en-US" sz="1600" dirty="0">
                <a:solidFill>
                  <a:srgbClr val="E07B00"/>
                </a:solidFill>
                <a:latin typeface="Segoe UI Semibold" pitchFamily="34" charset="0"/>
                <a:ea typeface="Segoe UI Semibold" pitchFamily="34" charset="-122"/>
                <a:cs typeface="Segoe UI Semibold" pitchFamily="34" charset="-120"/>
              </a:rPr>
              <a:t>Grow a layer cake</a:t>
            </a:r>
            <a:endParaRPr lang="en-US" sz="1600" dirty="0"/>
          </a:p>
        </p:txBody>
      </p:sp>
      <p:sp>
        <p:nvSpPr>
          <p:cNvPr id="34" name="!!cardb"/>
          <p:cNvSpPr txBox="1"/>
          <p:nvPr/>
        </p:nvSpPr>
        <p:spPr>
          <a:xfrm>
            <a:off x="6995160" y="2267712"/>
            <a:ext cx="4416552" cy="141732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Alternate silicon (yellow) and SiGe (grey) layers, then etch them into one wide fin.</a:t>
            </a:r>
            <a:endParaRPr lang="en-US" sz="1300" dirty="0"/>
          </a:p>
        </p:txBody>
      </p:sp>
      <p:sp>
        <p:nvSpPr>
          <p:cNvPr id="35"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GAA starts as a fin made of alternating layers.</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62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How it is made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Side view along the channel: from a layer cake to sheets wrapped by the gate</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E2E3E3"/>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fbSub"/>
          <p:cNvSpPr/>
          <p:nvPr/>
        </p:nvSpPr>
        <p:spPr>
          <a:xfrm>
            <a:off x="822960" y="4846320"/>
            <a:ext cx="4937760" cy="548640"/>
          </a:xfrm>
          <a:prstGeom prst="rect">
            <a:avLst/>
          </a:prstGeom>
          <a:solidFill>
            <a:srgbClr val="EDE3C8"/>
          </a:solidFill>
          <a:ln/>
        </p:spPr>
      </p:sp>
      <p:sp>
        <p:nvSpPr>
          <p:cNvPr id="10" name="!!fbL0"/>
          <p:cNvSpPr/>
          <p:nvPr/>
        </p:nvSpPr>
        <p:spPr>
          <a:xfrm>
            <a:off x="822960" y="4517136"/>
            <a:ext cx="1600200" cy="329184"/>
          </a:xfrm>
          <a:prstGeom prst="rect">
            <a:avLst/>
          </a:prstGeom>
          <a:solidFill>
            <a:srgbClr val="C9CCD3"/>
          </a:solidFill>
          <a:ln w="6350">
            <a:solidFill>
              <a:srgbClr val="FFFFFF"/>
            </a:solidFill>
            <a:prstDash val="solid"/>
          </a:ln>
        </p:spPr>
      </p:sp>
      <p:sp>
        <p:nvSpPr>
          <p:cNvPr id="11" name="!!fbR0"/>
          <p:cNvSpPr/>
          <p:nvPr/>
        </p:nvSpPr>
        <p:spPr>
          <a:xfrm>
            <a:off x="4160520" y="4517136"/>
            <a:ext cx="1600200" cy="329184"/>
          </a:xfrm>
          <a:prstGeom prst="rect">
            <a:avLst/>
          </a:prstGeom>
          <a:solidFill>
            <a:srgbClr val="C9CCD3"/>
          </a:solidFill>
          <a:ln w="6350">
            <a:solidFill>
              <a:srgbClr val="FFFFFF"/>
            </a:solidFill>
            <a:prstDash val="solid"/>
          </a:ln>
        </p:spPr>
      </p:sp>
      <p:sp>
        <p:nvSpPr>
          <p:cNvPr id="12" name="!!fbC0"/>
          <p:cNvSpPr/>
          <p:nvPr/>
        </p:nvSpPr>
        <p:spPr>
          <a:xfrm>
            <a:off x="2423160" y="4517136"/>
            <a:ext cx="1737360" cy="329184"/>
          </a:xfrm>
          <a:prstGeom prst="rect">
            <a:avLst/>
          </a:prstGeom>
          <a:solidFill>
            <a:srgbClr val="C9CCD3"/>
          </a:solidFill>
          <a:ln w="6350">
            <a:solidFill>
              <a:srgbClr val="FFFFFF"/>
            </a:solidFill>
            <a:prstDash val="solid"/>
          </a:ln>
        </p:spPr>
      </p:sp>
      <p:sp>
        <p:nvSpPr>
          <p:cNvPr id="13" name="!!fbL1"/>
          <p:cNvSpPr/>
          <p:nvPr/>
        </p:nvSpPr>
        <p:spPr>
          <a:xfrm>
            <a:off x="822960" y="4187952"/>
            <a:ext cx="1600200" cy="329184"/>
          </a:xfrm>
          <a:prstGeom prst="rect">
            <a:avLst/>
          </a:prstGeom>
          <a:solidFill>
            <a:srgbClr val="F6E7B8"/>
          </a:solidFill>
          <a:ln w="6350">
            <a:solidFill>
              <a:srgbClr val="FFFFFF"/>
            </a:solidFill>
            <a:prstDash val="solid"/>
          </a:ln>
        </p:spPr>
      </p:sp>
      <p:sp>
        <p:nvSpPr>
          <p:cNvPr id="14" name="!!fbR1"/>
          <p:cNvSpPr/>
          <p:nvPr/>
        </p:nvSpPr>
        <p:spPr>
          <a:xfrm>
            <a:off x="4160520" y="4187952"/>
            <a:ext cx="1600200" cy="329184"/>
          </a:xfrm>
          <a:prstGeom prst="rect">
            <a:avLst/>
          </a:prstGeom>
          <a:solidFill>
            <a:srgbClr val="F6E7B8"/>
          </a:solidFill>
          <a:ln w="6350">
            <a:solidFill>
              <a:srgbClr val="FFFFFF"/>
            </a:solidFill>
            <a:prstDash val="solid"/>
          </a:ln>
        </p:spPr>
      </p:sp>
      <p:sp>
        <p:nvSpPr>
          <p:cNvPr id="15" name="!!fbC1"/>
          <p:cNvSpPr/>
          <p:nvPr/>
        </p:nvSpPr>
        <p:spPr>
          <a:xfrm>
            <a:off x="2423160" y="4187952"/>
            <a:ext cx="1737360" cy="329184"/>
          </a:xfrm>
          <a:prstGeom prst="rect">
            <a:avLst/>
          </a:prstGeom>
          <a:solidFill>
            <a:srgbClr val="F6E7B8"/>
          </a:solidFill>
          <a:ln w="6350">
            <a:solidFill>
              <a:srgbClr val="FFFFFF"/>
            </a:solidFill>
            <a:prstDash val="solid"/>
          </a:ln>
        </p:spPr>
      </p:sp>
      <p:sp>
        <p:nvSpPr>
          <p:cNvPr id="16" name="!!fbL2"/>
          <p:cNvSpPr/>
          <p:nvPr/>
        </p:nvSpPr>
        <p:spPr>
          <a:xfrm>
            <a:off x="822960" y="3858768"/>
            <a:ext cx="1600200" cy="329184"/>
          </a:xfrm>
          <a:prstGeom prst="rect">
            <a:avLst/>
          </a:prstGeom>
          <a:solidFill>
            <a:srgbClr val="C9CCD3"/>
          </a:solidFill>
          <a:ln w="6350">
            <a:solidFill>
              <a:srgbClr val="FFFFFF"/>
            </a:solidFill>
            <a:prstDash val="solid"/>
          </a:ln>
        </p:spPr>
      </p:sp>
      <p:sp>
        <p:nvSpPr>
          <p:cNvPr id="17" name="!!fbR2"/>
          <p:cNvSpPr/>
          <p:nvPr/>
        </p:nvSpPr>
        <p:spPr>
          <a:xfrm>
            <a:off x="4160520" y="3858768"/>
            <a:ext cx="1600200" cy="329184"/>
          </a:xfrm>
          <a:prstGeom prst="rect">
            <a:avLst/>
          </a:prstGeom>
          <a:solidFill>
            <a:srgbClr val="C9CCD3"/>
          </a:solidFill>
          <a:ln w="6350">
            <a:solidFill>
              <a:srgbClr val="FFFFFF"/>
            </a:solidFill>
            <a:prstDash val="solid"/>
          </a:ln>
        </p:spPr>
      </p:sp>
      <p:sp>
        <p:nvSpPr>
          <p:cNvPr id="18" name="!!fbC2"/>
          <p:cNvSpPr/>
          <p:nvPr/>
        </p:nvSpPr>
        <p:spPr>
          <a:xfrm>
            <a:off x="2423160" y="3858768"/>
            <a:ext cx="1737360" cy="329184"/>
          </a:xfrm>
          <a:prstGeom prst="rect">
            <a:avLst/>
          </a:prstGeom>
          <a:solidFill>
            <a:srgbClr val="C9CCD3"/>
          </a:solidFill>
          <a:ln w="6350">
            <a:solidFill>
              <a:srgbClr val="FFFFFF"/>
            </a:solidFill>
            <a:prstDash val="solid"/>
          </a:ln>
        </p:spPr>
      </p:sp>
      <p:sp>
        <p:nvSpPr>
          <p:cNvPr id="19" name="!!fbL3"/>
          <p:cNvSpPr/>
          <p:nvPr/>
        </p:nvSpPr>
        <p:spPr>
          <a:xfrm>
            <a:off x="822960" y="3529584"/>
            <a:ext cx="1600200" cy="329184"/>
          </a:xfrm>
          <a:prstGeom prst="rect">
            <a:avLst/>
          </a:prstGeom>
          <a:solidFill>
            <a:srgbClr val="F6E7B8"/>
          </a:solidFill>
          <a:ln w="6350">
            <a:solidFill>
              <a:srgbClr val="FFFFFF"/>
            </a:solidFill>
            <a:prstDash val="solid"/>
          </a:ln>
        </p:spPr>
      </p:sp>
      <p:sp>
        <p:nvSpPr>
          <p:cNvPr id="20" name="!!fbR3"/>
          <p:cNvSpPr/>
          <p:nvPr/>
        </p:nvSpPr>
        <p:spPr>
          <a:xfrm>
            <a:off x="4160520" y="3529584"/>
            <a:ext cx="1600200" cy="329184"/>
          </a:xfrm>
          <a:prstGeom prst="rect">
            <a:avLst/>
          </a:prstGeom>
          <a:solidFill>
            <a:srgbClr val="F6E7B8"/>
          </a:solidFill>
          <a:ln w="6350">
            <a:solidFill>
              <a:srgbClr val="FFFFFF"/>
            </a:solidFill>
            <a:prstDash val="solid"/>
          </a:ln>
        </p:spPr>
      </p:sp>
      <p:sp>
        <p:nvSpPr>
          <p:cNvPr id="21" name="!!fbC3"/>
          <p:cNvSpPr/>
          <p:nvPr/>
        </p:nvSpPr>
        <p:spPr>
          <a:xfrm>
            <a:off x="2423160" y="3529584"/>
            <a:ext cx="1737360" cy="329184"/>
          </a:xfrm>
          <a:prstGeom prst="rect">
            <a:avLst/>
          </a:prstGeom>
          <a:solidFill>
            <a:srgbClr val="F6E7B8"/>
          </a:solidFill>
          <a:ln w="6350">
            <a:solidFill>
              <a:srgbClr val="FFFFFF"/>
            </a:solidFill>
            <a:prstDash val="solid"/>
          </a:ln>
        </p:spPr>
      </p:sp>
      <p:sp>
        <p:nvSpPr>
          <p:cNvPr id="22" name="!!fbL4"/>
          <p:cNvSpPr/>
          <p:nvPr/>
        </p:nvSpPr>
        <p:spPr>
          <a:xfrm>
            <a:off x="822960" y="3200400"/>
            <a:ext cx="1600200" cy="329184"/>
          </a:xfrm>
          <a:prstGeom prst="rect">
            <a:avLst/>
          </a:prstGeom>
          <a:solidFill>
            <a:srgbClr val="C9CCD3"/>
          </a:solidFill>
          <a:ln w="6350">
            <a:solidFill>
              <a:srgbClr val="FFFFFF"/>
            </a:solidFill>
            <a:prstDash val="solid"/>
          </a:ln>
        </p:spPr>
      </p:sp>
      <p:sp>
        <p:nvSpPr>
          <p:cNvPr id="23" name="!!fbR4"/>
          <p:cNvSpPr/>
          <p:nvPr/>
        </p:nvSpPr>
        <p:spPr>
          <a:xfrm>
            <a:off x="4160520" y="3200400"/>
            <a:ext cx="1600200" cy="329184"/>
          </a:xfrm>
          <a:prstGeom prst="rect">
            <a:avLst/>
          </a:prstGeom>
          <a:solidFill>
            <a:srgbClr val="C9CCD3"/>
          </a:solidFill>
          <a:ln w="6350">
            <a:solidFill>
              <a:srgbClr val="FFFFFF"/>
            </a:solidFill>
            <a:prstDash val="solid"/>
          </a:ln>
        </p:spPr>
      </p:sp>
      <p:sp>
        <p:nvSpPr>
          <p:cNvPr id="24" name="!!fbC4"/>
          <p:cNvSpPr/>
          <p:nvPr/>
        </p:nvSpPr>
        <p:spPr>
          <a:xfrm>
            <a:off x="2423160" y="3200400"/>
            <a:ext cx="1737360" cy="329184"/>
          </a:xfrm>
          <a:prstGeom prst="rect">
            <a:avLst/>
          </a:prstGeom>
          <a:solidFill>
            <a:srgbClr val="C9CCD3"/>
          </a:solidFill>
          <a:ln w="6350">
            <a:solidFill>
              <a:srgbClr val="FFFFFF"/>
            </a:solidFill>
            <a:prstDash val="solid"/>
          </a:ln>
        </p:spPr>
      </p:sp>
      <p:sp>
        <p:nvSpPr>
          <p:cNvPr id="25" name="!!fbL5"/>
          <p:cNvSpPr/>
          <p:nvPr/>
        </p:nvSpPr>
        <p:spPr>
          <a:xfrm>
            <a:off x="822960" y="2871216"/>
            <a:ext cx="1600200" cy="329184"/>
          </a:xfrm>
          <a:prstGeom prst="rect">
            <a:avLst/>
          </a:prstGeom>
          <a:solidFill>
            <a:srgbClr val="F6E7B8"/>
          </a:solidFill>
          <a:ln w="6350">
            <a:solidFill>
              <a:srgbClr val="FFFFFF"/>
            </a:solidFill>
            <a:prstDash val="solid"/>
          </a:ln>
        </p:spPr>
      </p:sp>
      <p:sp>
        <p:nvSpPr>
          <p:cNvPr id="26" name="!!fbR5"/>
          <p:cNvSpPr/>
          <p:nvPr/>
        </p:nvSpPr>
        <p:spPr>
          <a:xfrm>
            <a:off x="4160520" y="2871216"/>
            <a:ext cx="1600200" cy="329184"/>
          </a:xfrm>
          <a:prstGeom prst="rect">
            <a:avLst/>
          </a:prstGeom>
          <a:solidFill>
            <a:srgbClr val="F6E7B8"/>
          </a:solidFill>
          <a:ln w="6350">
            <a:solidFill>
              <a:srgbClr val="FFFFFF"/>
            </a:solidFill>
            <a:prstDash val="solid"/>
          </a:ln>
        </p:spPr>
      </p:sp>
      <p:sp>
        <p:nvSpPr>
          <p:cNvPr id="27" name="!!fbC5"/>
          <p:cNvSpPr/>
          <p:nvPr/>
        </p:nvSpPr>
        <p:spPr>
          <a:xfrm>
            <a:off x="2423160" y="2871216"/>
            <a:ext cx="1737360" cy="329184"/>
          </a:xfrm>
          <a:prstGeom prst="rect">
            <a:avLst/>
          </a:prstGeom>
          <a:solidFill>
            <a:srgbClr val="F6E7B8"/>
          </a:solidFill>
          <a:ln w="6350">
            <a:solidFill>
              <a:srgbClr val="FFFFFF"/>
            </a:solidFill>
            <a:prstDash val="solid"/>
          </a:ln>
        </p:spPr>
      </p:sp>
      <p:sp>
        <p:nvSpPr>
          <p:cNvPr id="28" name="!!fbDG"/>
          <p:cNvSpPr/>
          <p:nvPr/>
        </p:nvSpPr>
        <p:spPr>
          <a:xfrm>
            <a:off x="2651760" y="2048256"/>
            <a:ext cx="1280160" cy="822960"/>
          </a:xfrm>
          <a:prstGeom prst="rect">
            <a:avLst/>
          </a:prstGeom>
          <a:solidFill>
            <a:srgbClr val="9AA0AA"/>
          </a:solidFill>
          <a:ln/>
        </p:spPr>
      </p:sp>
      <p:sp>
        <p:nvSpPr>
          <p:cNvPr id="29" name="!!fbDGl"/>
          <p:cNvSpPr txBox="1"/>
          <p:nvPr/>
        </p:nvSpPr>
        <p:spPr>
          <a:xfrm>
            <a:off x="2651760" y="2231136"/>
            <a:ext cx="128016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dummy gate</a:t>
            </a:r>
            <a:endParaRPr lang="en-US" sz="1100" dirty="0"/>
          </a:p>
        </p:txBody>
      </p:sp>
      <p:sp>
        <p:nvSpPr>
          <p:cNvPr id="30" name="!!fbSpL"/>
          <p:cNvSpPr/>
          <p:nvPr/>
        </p:nvSpPr>
        <p:spPr>
          <a:xfrm>
            <a:off x="2423160" y="2048256"/>
            <a:ext cx="228600" cy="822960"/>
          </a:xfrm>
          <a:prstGeom prst="rect">
            <a:avLst/>
          </a:prstGeom>
          <a:solidFill>
            <a:srgbClr val="D9DCE3"/>
          </a:solidFill>
          <a:ln/>
        </p:spPr>
      </p:sp>
      <p:sp>
        <p:nvSpPr>
          <p:cNvPr id="31" name="!!fbSpR"/>
          <p:cNvSpPr/>
          <p:nvPr/>
        </p:nvSpPr>
        <p:spPr>
          <a:xfrm>
            <a:off x="3931920" y="2048256"/>
            <a:ext cx="228600" cy="822960"/>
          </a:xfrm>
          <a:prstGeom prst="rect">
            <a:avLst/>
          </a:prstGeom>
          <a:solidFill>
            <a:srgbClr val="D9DCE3"/>
          </a:solidFill>
          <a:ln/>
        </p:spPr>
      </p:sp>
      <p:sp>
        <p:nvSpPr>
          <p:cNvPr id="32" name="!!fbLeg1"/>
          <p:cNvSpPr txBox="1"/>
          <p:nvPr/>
        </p:nvSpPr>
        <p:spPr>
          <a:xfrm>
            <a:off x="822960" y="5486400"/>
            <a:ext cx="2377440" cy="228600"/>
          </a:xfrm>
          <a:prstGeom prst="rect">
            <a:avLst/>
          </a:prstGeom>
          <a:noFill/>
          <a:ln/>
        </p:spPr>
        <p:txBody>
          <a:bodyPr wrap="square" lIns="0" tIns="0" rIns="0" bIns="0" rtlCol="0" anchor="t"/>
          <a:lstStyle/>
          <a:p>
            <a:pPr algn="l" indent="0" marL="0">
              <a:buNone/>
            </a:pPr>
            <a:r>
              <a:rPr lang="en-US" sz="1000" dirty="0">
                <a:solidFill>
                  <a:srgbClr val="8A6D1F"/>
                </a:solidFill>
                <a:latin typeface="Segoe UI" pitchFamily="34" charset="0"/>
                <a:ea typeface="Segoe UI" pitchFamily="34" charset="-122"/>
                <a:cs typeface="Segoe UI" pitchFamily="34" charset="-120"/>
              </a:rPr>
              <a:t>silicon sheets (yellow)</a:t>
            </a:r>
            <a:endParaRPr lang="en-US" sz="1000" dirty="0"/>
          </a:p>
        </p:txBody>
      </p:sp>
      <p:sp>
        <p:nvSpPr>
          <p:cNvPr id="33" name="!!fbLeg2"/>
          <p:cNvSpPr txBox="1"/>
          <p:nvPr/>
        </p:nvSpPr>
        <p:spPr>
          <a:xfrm>
            <a:off x="3108960" y="5486400"/>
            <a:ext cx="2743200" cy="228600"/>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SiGe, removed later (grey)</a:t>
            </a:r>
            <a:endParaRPr lang="en-US" sz="1000" dirty="0"/>
          </a:p>
        </p:txBody>
      </p:sp>
      <p:sp>
        <p:nvSpPr>
          <p:cNvPr id="34" name="!!card"/>
          <p:cNvSpPr/>
          <p:nvPr/>
        </p:nvSpPr>
        <p:spPr>
          <a:xfrm>
            <a:off x="6766560" y="1554480"/>
            <a:ext cx="4873752" cy="2286000"/>
          </a:xfrm>
          <a:prstGeom prst="roundRect">
            <a:avLst>
              <a:gd name="adj" fmla="val 3200"/>
            </a:avLst>
          </a:prstGeom>
          <a:solidFill>
            <a:srgbClr val="F4F5F7"/>
          </a:solidFill>
          <a:ln/>
        </p:spPr>
      </p:sp>
      <p:sp>
        <p:nvSpPr>
          <p:cNvPr id="35" name="!!cardn"/>
          <p:cNvSpPr/>
          <p:nvPr/>
        </p:nvSpPr>
        <p:spPr>
          <a:xfrm>
            <a:off x="6976872" y="1764792"/>
            <a:ext cx="347472" cy="347472"/>
          </a:xfrm>
          <a:prstGeom prst="ellipse">
            <a:avLst/>
          </a:prstGeom>
          <a:solidFill>
            <a:srgbClr val="5C5E62"/>
          </a:solidFill>
          <a:ln/>
        </p:spPr>
      </p:sp>
      <p:sp>
        <p:nvSpPr>
          <p:cNvPr id="36" name="!!cardnt"/>
          <p:cNvSpPr txBox="1"/>
          <p:nvPr/>
        </p:nvSpPr>
        <p:spPr>
          <a:xfrm>
            <a:off x="697687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37" name="!!cardh"/>
          <p:cNvSpPr txBox="1"/>
          <p:nvPr/>
        </p:nvSpPr>
        <p:spPr>
          <a:xfrm>
            <a:off x="7452360" y="1773936"/>
            <a:ext cx="4005072" cy="347472"/>
          </a:xfrm>
          <a:prstGeom prst="rect">
            <a:avLst/>
          </a:prstGeom>
          <a:noFill/>
          <a:ln/>
        </p:spPr>
        <p:txBody>
          <a:bodyPr wrap="square" lIns="0" tIns="0" rIns="0" bIns="0" rtlCol="0" anchor="ctr"/>
          <a:lstStyle/>
          <a:p>
            <a:pPr algn="l" indent="0" marL="0">
              <a:buNone/>
            </a:pPr>
            <a:r>
              <a:rPr lang="en-US" sz="1600" dirty="0">
                <a:solidFill>
                  <a:srgbClr val="5C5E62"/>
                </a:solidFill>
                <a:latin typeface="Segoe UI Semibold" pitchFamily="34" charset="0"/>
                <a:ea typeface="Segoe UI Semibold" pitchFamily="34" charset="-122"/>
                <a:cs typeface="Segoe UI Semibold" pitchFamily="34" charset="-120"/>
              </a:rPr>
              <a:t>Place a dummy gate</a:t>
            </a:r>
            <a:endParaRPr lang="en-US" sz="1600" dirty="0"/>
          </a:p>
        </p:txBody>
      </p:sp>
      <p:sp>
        <p:nvSpPr>
          <p:cNvPr id="38" name="!!cardb"/>
          <p:cNvSpPr txBox="1"/>
          <p:nvPr/>
        </p:nvSpPr>
        <p:spPr>
          <a:xfrm>
            <a:off x="6995160" y="2267712"/>
            <a:ext cx="4416552" cy="141732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A temporary gate and nitride spacers mark where the real gate will go.</a:t>
            </a:r>
            <a:endParaRPr lang="en-US" sz="1300" dirty="0"/>
          </a:p>
        </p:txBody>
      </p:sp>
      <p:sp>
        <p:nvSpPr>
          <p:cNvPr id="3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A placeholder gate holds the shape.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63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How it is made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Side view along the channel: from a layer cake to sheets wrapped by the gate</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fbSub"/>
          <p:cNvSpPr/>
          <p:nvPr/>
        </p:nvSpPr>
        <p:spPr>
          <a:xfrm>
            <a:off x="822960" y="4846320"/>
            <a:ext cx="4937760" cy="548640"/>
          </a:xfrm>
          <a:prstGeom prst="rect">
            <a:avLst/>
          </a:prstGeom>
          <a:solidFill>
            <a:srgbClr val="EDE3C8"/>
          </a:solidFill>
          <a:ln/>
        </p:spPr>
      </p:sp>
      <p:sp>
        <p:nvSpPr>
          <p:cNvPr id="10" name="!!fbL0"/>
          <p:cNvSpPr/>
          <p:nvPr/>
        </p:nvSpPr>
        <p:spPr>
          <a:xfrm>
            <a:off x="822960" y="4517136"/>
            <a:ext cx="1600200" cy="329184"/>
          </a:xfrm>
          <a:prstGeom prst="rect">
            <a:avLst/>
          </a:prstGeom>
          <a:solidFill>
            <a:srgbClr val="7D9BE6"/>
          </a:solidFill>
          <a:ln/>
        </p:spPr>
      </p:sp>
      <p:sp>
        <p:nvSpPr>
          <p:cNvPr id="11" name="!!fbR0"/>
          <p:cNvSpPr/>
          <p:nvPr/>
        </p:nvSpPr>
        <p:spPr>
          <a:xfrm>
            <a:off x="4160520" y="4517136"/>
            <a:ext cx="1600200" cy="329184"/>
          </a:xfrm>
          <a:prstGeom prst="rect">
            <a:avLst/>
          </a:prstGeom>
          <a:solidFill>
            <a:srgbClr val="7D9BE6"/>
          </a:solidFill>
          <a:ln/>
        </p:spPr>
      </p:sp>
      <p:sp>
        <p:nvSpPr>
          <p:cNvPr id="12" name="!!fbC0"/>
          <p:cNvSpPr/>
          <p:nvPr/>
        </p:nvSpPr>
        <p:spPr>
          <a:xfrm>
            <a:off x="2423160" y="4517136"/>
            <a:ext cx="1737360" cy="329184"/>
          </a:xfrm>
          <a:prstGeom prst="rect">
            <a:avLst/>
          </a:prstGeom>
          <a:solidFill>
            <a:srgbClr val="C9CCD3"/>
          </a:solidFill>
          <a:ln w="6350">
            <a:solidFill>
              <a:srgbClr val="FFFFFF"/>
            </a:solidFill>
            <a:prstDash val="solid"/>
          </a:ln>
        </p:spPr>
      </p:sp>
      <p:sp>
        <p:nvSpPr>
          <p:cNvPr id="13" name="!!fbL1"/>
          <p:cNvSpPr/>
          <p:nvPr/>
        </p:nvSpPr>
        <p:spPr>
          <a:xfrm>
            <a:off x="822960" y="4187952"/>
            <a:ext cx="1600200" cy="329184"/>
          </a:xfrm>
          <a:prstGeom prst="rect">
            <a:avLst/>
          </a:prstGeom>
          <a:solidFill>
            <a:srgbClr val="7D9BE6"/>
          </a:solidFill>
          <a:ln/>
        </p:spPr>
      </p:sp>
      <p:sp>
        <p:nvSpPr>
          <p:cNvPr id="14" name="!!fbR1"/>
          <p:cNvSpPr/>
          <p:nvPr/>
        </p:nvSpPr>
        <p:spPr>
          <a:xfrm>
            <a:off x="4160520" y="4187952"/>
            <a:ext cx="1600200" cy="329184"/>
          </a:xfrm>
          <a:prstGeom prst="rect">
            <a:avLst/>
          </a:prstGeom>
          <a:solidFill>
            <a:srgbClr val="7D9BE6"/>
          </a:solidFill>
          <a:ln/>
        </p:spPr>
      </p:sp>
      <p:sp>
        <p:nvSpPr>
          <p:cNvPr id="15" name="!!fbC1"/>
          <p:cNvSpPr/>
          <p:nvPr/>
        </p:nvSpPr>
        <p:spPr>
          <a:xfrm>
            <a:off x="2423160" y="4187952"/>
            <a:ext cx="1737360" cy="329184"/>
          </a:xfrm>
          <a:prstGeom prst="rect">
            <a:avLst/>
          </a:prstGeom>
          <a:solidFill>
            <a:srgbClr val="F6E7B8"/>
          </a:solidFill>
          <a:ln w="6350">
            <a:solidFill>
              <a:srgbClr val="FFFFFF"/>
            </a:solidFill>
            <a:prstDash val="solid"/>
          </a:ln>
        </p:spPr>
      </p:sp>
      <p:sp>
        <p:nvSpPr>
          <p:cNvPr id="16" name="!!fbL2"/>
          <p:cNvSpPr/>
          <p:nvPr/>
        </p:nvSpPr>
        <p:spPr>
          <a:xfrm>
            <a:off x="822960" y="3858768"/>
            <a:ext cx="1600200" cy="329184"/>
          </a:xfrm>
          <a:prstGeom prst="rect">
            <a:avLst/>
          </a:prstGeom>
          <a:solidFill>
            <a:srgbClr val="7D9BE6"/>
          </a:solidFill>
          <a:ln/>
        </p:spPr>
      </p:sp>
      <p:sp>
        <p:nvSpPr>
          <p:cNvPr id="17" name="!!fbR2"/>
          <p:cNvSpPr/>
          <p:nvPr/>
        </p:nvSpPr>
        <p:spPr>
          <a:xfrm>
            <a:off x="4160520" y="3858768"/>
            <a:ext cx="1600200" cy="329184"/>
          </a:xfrm>
          <a:prstGeom prst="rect">
            <a:avLst/>
          </a:prstGeom>
          <a:solidFill>
            <a:srgbClr val="7D9BE6"/>
          </a:solidFill>
          <a:ln/>
        </p:spPr>
      </p:sp>
      <p:sp>
        <p:nvSpPr>
          <p:cNvPr id="18" name="!!fbC2"/>
          <p:cNvSpPr/>
          <p:nvPr/>
        </p:nvSpPr>
        <p:spPr>
          <a:xfrm>
            <a:off x="2423160" y="3858768"/>
            <a:ext cx="1737360" cy="329184"/>
          </a:xfrm>
          <a:prstGeom prst="rect">
            <a:avLst/>
          </a:prstGeom>
          <a:solidFill>
            <a:srgbClr val="C9CCD3"/>
          </a:solidFill>
          <a:ln w="6350">
            <a:solidFill>
              <a:srgbClr val="FFFFFF"/>
            </a:solidFill>
            <a:prstDash val="solid"/>
          </a:ln>
        </p:spPr>
      </p:sp>
      <p:sp>
        <p:nvSpPr>
          <p:cNvPr id="19" name="!!fbL3"/>
          <p:cNvSpPr/>
          <p:nvPr/>
        </p:nvSpPr>
        <p:spPr>
          <a:xfrm>
            <a:off x="822960" y="3529584"/>
            <a:ext cx="1600200" cy="329184"/>
          </a:xfrm>
          <a:prstGeom prst="rect">
            <a:avLst/>
          </a:prstGeom>
          <a:solidFill>
            <a:srgbClr val="7D9BE6"/>
          </a:solidFill>
          <a:ln/>
        </p:spPr>
      </p:sp>
      <p:sp>
        <p:nvSpPr>
          <p:cNvPr id="20" name="!!fbR3"/>
          <p:cNvSpPr/>
          <p:nvPr/>
        </p:nvSpPr>
        <p:spPr>
          <a:xfrm>
            <a:off x="4160520" y="3529584"/>
            <a:ext cx="1600200" cy="329184"/>
          </a:xfrm>
          <a:prstGeom prst="rect">
            <a:avLst/>
          </a:prstGeom>
          <a:solidFill>
            <a:srgbClr val="7D9BE6"/>
          </a:solidFill>
          <a:ln/>
        </p:spPr>
      </p:sp>
      <p:sp>
        <p:nvSpPr>
          <p:cNvPr id="21" name="!!fbC3"/>
          <p:cNvSpPr/>
          <p:nvPr/>
        </p:nvSpPr>
        <p:spPr>
          <a:xfrm>
            <a:off x="2423160" y="3529584"/>
            <a:ext cx="1737360" cy="329184"/>
          </a:xfrm>
          <a:prstGeom prst="rect">
            <a:avLst/>
          </a:prstGeom>
          <a:solidFill>
            <a:srgbClr val="F6E7B8"/>
          </a:solidFill>
          <a:ln w="6350">
            <a:solidFill>
              <a:srgbClr val="FFFFFF"/>
            </a:solidFill>
            <a:prstDash val="solid"/>
          </a:ln>
        </p:spPr>
      </p:sp>
      <p:sp>
        <p:nvSpPr>
          <p:cNvPr id="22" name="!!fbL4"/>
          <p:cNvSpPr/>
          <p:nvPr/>
        </p:nvSpPr>
        <p:spPr>
          <a:xfrm>
            <a:off x="822960" y="3200400"/>
            <a:ext cx="1600200" cy="329184"/>
          </a:xfrm>
          <a:prstGeom prst="rect">
            <a:avLst/>
          </a:prstGeom>
          <a:solidFill>
            <a:srgbClr val="7D9BE6"/>
          </a:solidFill>
          <a:ln/>
        </p:spPr>
      </p:sp>
      <p:sp>
        <p:nvSpPr>
          <p:cNvPr id="23" name="!!fbR4"/>
          <p:cNvSpPr/>
          <p:nvPr/>
        </p:nvSpPr>
        <p:spPr>
          <a:xfrm>
            <a:off x="4160520" y="3200400"/>
            <a:ext cx="1600200" cy="329184"/>
          </a:xfrm>
          <a:prstGeom prst="rect">
            <a:avLst/>
          </a:prstGeom>
          <a:solidFill>
            <a:srgbClr val="7D9BE6"/>
          </a:solidFill>
          <a:ln/>
        </p:spPr>
      </p:sp>
      <p:sp>
        <p:nvSpPr>
          <p:cNvPr id="24" name="!!fbC4"/>
          <p:cNvSpPr/>
          <p:nvPr/>
        </p:nvSpPr>
        <p:spPr>
          <a:xfrm>
            <a:off x="2423160" y="3200400"/>
            <a:ext cx="1737360" cy="329184"/>
          </a:xfrm>
          <a:prstGeom prst="rect">
            <a:avLst/>
          </a:prstGeom>
          <a:solidFill>
            <a:srgbClr val="C9CCD3"/>
          </a:solidFill>
          <a:ln w="6350">
            <a:solidFill>
              <a:srgbClr val="FFFFFF"/>
            </a:solidFill>
            <a:prstDash val="solid"/>
          </a:ln>
        </p:spPr>
      </p:sp>
      <p:sp>
        <p:nvSpPr>
          <p:cNvPr id="25" name="!!fbL5"/>
          <p:cNvSpPr/>
          <p:nvPr/>
        </p:nvSpPr>
        <p:spPr>
          <a:xfrm>
            <a:off x="822960" y="2871216"/>
            <a:ext cx="1600200" cy="329184"/>
          </a:xfrm>
          <a:prstGeom prst="rect">
            <a:avLst/>
          </a:prstGeom>
          <a:solidFill>
            <a:srgbClr val="7D9BE6"/>
          </a:solidFill>
          <a:ln/>
        </p:spPr>
      </p:sp>
      <p:sp>
        <p:nvSpPr>
          <p:cNvPr id="26" name="!!fbR5"/>
          <p:cNvSpPr/>
          <p:nvPr/>
        </p:nvSpPr>
        <p:spPr>
          <a:xfrm>
            <a:off x="4160520" y="2871216"/>
            <a:ext cx="1600200" cy="329184"/>
          </a:xfrm>
          <a:prstGeom prst="rect">
            <a:avLst/>
          </a:prstGeom>
          <a:solidFill>
            <a:srgbClr val="7D9BE6"/>
          </a:solidFill>
          <a:ln/>
        </p:spPr>
      </p:sp>
      <p:sp>
        <p:nvSpPr>
          <p:cNvPr id="27" name="!!fbC5"/>
          <p:cNvSpPr/>
          <p:nvPr/>
        </p:nvSpPr>
        <p:spPr>
          <a:xfrm>
            <a:off x="2423160" y="2871216"/>
            <a:ext cx="1737360" cy="329184"/>
          </a:xfrm>
          <a:prstGeom prst="rect">
            <a:avLst/>
          </a:prstGeom>
          <a:solidFill>
            <a:srgbClr val="F6E7B8"/>
          </a:solidFill>
          <a:ln w="6350">
            <a:solidFill>
              <a:srgbClr val="FFFFFF"/>
            </a:solidFill>
            <a:prstDash val="solid"/>
          </a:ln>
        </p:spPr>
      </p:sp>
      <p:sp>
        <p:nvSpPr>
          <p:cNvPr id="28" name="!!fbDG"/>
          <p:cNvSpPr/>
          <p:nvPr/>
        </p:nvSpPr>
        <p:spPr>
          <a:xfrm>
            <a:off x="2651760" y="2048256"/>
            <a:ext cx="1280160" cy="822960"/>
          </a:xfrm>
          <a:prstGeom prst="rect">
            <a:avLst/>
          </a:prstGeom>
          <a:solidFill>
            <a:srgbClr val="9AA0AA"/>
          </a:solidFill>
          <a:ln/>
        </p:spPr>
      </p:sp>
      <p:sp>
        <p:nvSpPr>
          <p:cNvPr id="29" name="!!fbDGl"/>
          <p:cNvSpPr txBox="1"/>
          <p:nvPr/>
        </p:nvSpPr>
        <p:spPr>
          <a:xfrm>
            <a:off x="2651760" y="2231136"/>
            <a:ext cx="128016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dummy gate</a:t>
            </a:r>
            <a:endParaRPr lang="en-US" sz="1100" dirty="0"/>
          </a:p>
        </p:txBody>
      </p:sp>
      <p:sp>
        <p:nvSpPr>
          <p:cNvPr id="30" name="!!fbSpL"/>
          <p:cNvSpPr/>
          <p:nvPr/>
        </p:nvSpPr>
        <p:spPr>
          <a:xfrm>
            <a:off x="2423160" y="2048256"/>
            <a:ext cx="228600" cy="822960"/>
          </a:xfrm>
          <a:prstGeom prst="rect">
            <a:avLst/>
          </a:prstGeom>
          <a:solidFill>
            <a:srgbClr val="D9DCE3"/>
          </a:solidFill>
          <a:ln/>
        </p:spPr>
      </p:sp>
      <p:sp>
        <p:nvSpPr>
          <p:cNvPr id="31" name="!!fbSpR"/>
          <p:cNvSpPr/>
          <p:nvPr/>
        </p:nvSpPr>
        <p:spPr>
          <a:xfrm>
            <a:off x="3931920" y="2048256"/>
            <a:ext cx="228600" cy="822960"/>
          </a:xfrm>
          <a:prstGeom prst="rect">
            <a:avLst/>
          </a:prstGeom>
          <a:solidFill>
            <a:srgbClr val="D9DCE3"/>
          </a:solidFill>
          <a:ln/>
        </p:spPr>
      </p:sp>
      <p:sp>
        <p:nvSpPr>
          <p:cNvPr id="32" name="!!fbSL"/>
          <p:cNvSpPr txBox="1"/>
          <p:nvPr/>
        </p:nvSpPr>
        <p:spPr>
          <a:xfrm>
            <a:off x="822960" y="2551176"/>
            <a:ext cx="1600200" cy="274320"/>
          </a:xfrm>
          <a:prstGeom prst="rect">
            <a:avLst/>
          </a:prstGeom>
          <a:noFill/>
          <a:ln/>
        </p:spPr>
        <p:txBody>
          <a:bodyPr wrap="square" lIns="0" tIns="0" rIns="0" bIns="0" rtlCol="0" anchor="t"/>
          <a:lstStyle/>
          <a:p>
            <a:pPr algn="ctr" indent="0" marL="0">
              <a:buNone/>
            </a:pPr>
            <a:r>
              <a:rPr lang="en-US" sz="1100" dirty="0">
                <a:solidFill>
                  <a:srgbClr val="3E6AE1"/>
                </a:solidFill>
                <a:latin typeface="Segoe UI Semibold" pitchFamily="34" charset="0"/>
                <a:ea typeface="Segoe UI Semibold" pitchFamily="34" charset="-122"/>
                <a:cs typeface="Segoe UI Semibold" pitchFamily="34" charset="-120"/>
              </a:rPr>
              <a:t>n+ source</a:t>
            </a:r>
            <a:endParaRPr lang="en-US" sz="1100" dirty="0"/>
          </a:p>
        </p:txBody>
      </p:sp>
      <p:sp>
        <p:nvSpPr>
          <p:cNvPr id="33" name="!!fbDL"/>
          <p:cNvSpPr txBox="1"/>
          <p:nvPr/>
        </p:nvSpPr>
        <p:spPr>
          <a:xfrm>
            <a:off x="4160520" y="2551176"/>
            <a:ext cx="1600200" cy="274320"/>
          </a:xfrm>
          <a:prstGeom prst="rect">
            <a:avLst/>
          </a:prstGeom>
          <a:noFill/>
          <a:ln/>
        </p:spPr>
        <p:txBody>
          <a:bodyPr wrap="square" lIns="0" tIns="0" rIns="0" bIns="0" rtlCol="0" anchor="t"/>
          <a:lstStyle/>
          <a:p>
            <a:pPr algn="ctr" indent="0" marL="0">
              <a:buNone/>
            </a:pPr>
            <a:r>
              <a:rPr lang="en-US" sz="1100" dirty="0">
                <a:solidFill>
                  <a:srgbClr val="3E6AE1"/>
                </a:solidFill>
                <a:latin typeface="Segoe UI Semibold" pitchFamily="34" charset="0"/>
                <a:ea typeface="Segoe UI Semibold" pitchFamily="34" charset="-122"/>
                <a:cs typeface="Segoe UI Semibold" pitchFamily="34" charset="-120"/>
              </a:rPr>
              <a:t>n+ drain</a:t>
            </a:r>
            <a:endParaRPr lang="en-US" sz="1100" dirty="0"/>
          </a:p>
        </p:txBody>
      </p:sp>
      <p:sp>
        <p:nvSpPr>
          <p:cNvPr id="34" name="!!fbLeg1"/>
          <p:cNvSpPr txBox="1"/>
          <p:nvPr/>
        </p:nvSpPr>
        <p:spPr>
          <a:xfrm>
            <a:off x="822960" y="5486400"/>
            <a:ext cx="2377440" cy="228600"/>
          </a:xfrm>
          <a:prstGeom prst="rect">
            <a:avLst/>
          </a:prstGeom>
          <a:noFill/>
          <a:ln/>
        </p:spPr>
        <p:txBody>
          <a:bodyPr wrap="square" lIns="0" tIns="0" rIns="0" bIns="0" rtlCol="0" anchor="t"/>
          <a:lstStyle/>
          <a:p>
            <a:pPr algn="l" indent="0" marL="0">
              <a:buNone/>
            </a:pPr>
            <a:r>
              <a:rPr lang="en-US" sz="1000" dirty="0">
                <a:solidFill>
                  <a:srgbClr val="8A6D1F"/>
                </a:solidFill>
                <a:latin typeface="Segoe UI" pitchFamily="34" charset="0"/>
                <a:ea typeface="Segoe UI" pitchFamily="34" charset="-122"/>
                <a:cs typeface="Segoe UI" pitchFamily="34" charset="-120"/>
              </a:rPr>
              <a:t>silicon sheets (yellow)</a:t>
            </a:r>
            <a:endParaRPr lang="en-US" sz="1000" dirty="0"/>
          </a:p>
        </p:txBody>
      </p:sp>
      <p:sp>
        <p:nvSpPr>
          <p:cNvPr id="35" name="!!fbLeg2"/>
          <p:cNvSpPr txBox="1"/>
          <p:nvPr/>
        </p:nvSpPr>
        <p:spPr>
          <a:xfrm>
            <a:off x="3108960" y="5486400"/>
            <a:ext cx="2743200" cy="228600"/>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SiGe, removed later (grey)</a:t>
            </a:r>
            <a:endParaRPr lang="en-US" sz="1000" dirty="0"/>
          </a:p>
        </p:txBody>
      </p:sp>
      <p:sp>
        <p:nvSpPr>
          <p:cNvPr id="36" name="!!card"/>
          <p:cNvSpPr/>
          <p:nvPr/>
        </p:nvSpPr>
        <p:spPr>
          <a:xfrm>
            <a:off x="6766560" y="1554480"/>
            <a:ext cx="4873752" cy="2286000"/>
          </a:xfrm>
          <a:prstGeom prst="roundRect">
            <a:avLst>
              <a:gd name="adj" fmla="val 3200"/>
            </a:avLst>
          </a:prstGeom>
          <a:solidFill>
            <a:srgbClr val="F4F5F7"/>
          </a:solidFill>
          <a:ln/>
        </p:spPr>
      </p:sp>
      <p:sp>
        <p:nvSpPr>
          <p:cNvPr id="37" name="!!cardn"/>
          <p:cNvSpPr/>
          <p:nvPr/>
        </p:nvSpPr>
        <p:spPr>
          <a:xfrm>
            <a:off x="6976872" y="1764792"/>
            <a:ext cx="347472" cy="347472"/>
          </a:xfrm>
          <a:prstGeom prst="ellipse">
            <a:avLst/>
          </a:prstGeom>
          <a:solidFill>
            <a:srgbClr val="3E6AE1"/>
          </a:solidFill>
          <a:ln/>
        </p:spPr>
      </p:sp>
      <p:sp>
        <p:nvSpPr>
          <p:cNvPr id="38" name="!!cardnt"/>
          <p:cNvSpPr txBox="1"/>
          <p:nvPr/>
        </p:nvSpPr>
        <p:spPr>
          <a:xfrm>
            <a:off x="697687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9" name="!!cardh"/>
          <p:cNvSpPr txBox="1"/>
          <p:nvPr/>
        </p:nvSpPr>
        <p:spPr>
          <a:xfrm>
            <a:off x="7452360" y="1773936"/>
            <a:ext cx="4005072" cy="347472"/>
          </a:xfrm>
          <a:prstGeom prst="rect">
            <a:avLst/>
          </a:prstGeom>
          <a:noFill/>
          <a:ln/>
        </p:spPr>
        <p:txBody>
          <a:bodyPr wrap="square" lIns="0" tIns="0" rIns="0" bIns="0" rtlCol="0" anchor="ctr"/>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Grow source and drain</a:t>
            </a:r>
            <a:endParaRPr lang="en-US" sz="1600" dirty="0"/>
          </a:p>
        </p:txBody>
      </p:sp>
      <p:sp>
        <p:nvSpPr>
          <p:cNvPr id="40" name="!!cardb"/>
          <p:cNvSpPr txBox="1"/>
          <p:nvPr/>
        </p:nvSpPr>
        <p:spPr>
          <a:xfrm>
            <a:off x="6995160" y="2267712"/>
            <a:ext cx="4416552" cy="141732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The fin ends are replaced by n+ silicon. They clamp the silicon sheets at both ends.</a:t>
            </a:r>
            <a:endParaRPr lang="en-US" sz="1300" dirty="0"/>
          </a:p>
        </p:txBody>
      </p:sp>
      <p:sp>
        <p:nvSpPr>
          <p:cNvPr id="41"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Source and drain hold the silicon sheets.</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64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How it is made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Side view along the channel: from a layer cake to sheets wrapped by the gate</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171A20"/>
          </a:solidFill>
          <a:ln/>
        </p:spPr>
      </p:sp>
      <p:sp>
        <p:nvSpPr>
          <p:cNvPr id="8" name="!!sdot4"/>
          <p:cNvSpPr/>
          <p:nvPr/>
        </p:nvSpPr>
        <p:spPr>
          <a:xfrm>
            <a:off x="11599164" y="525780"/>
            <a:ext cx="82296" cy="82296"/>
          </a:xfrm>
          <a:prstGeom prst="ellipse">
            <a:avLst/>
          </a:prstGeom>
          <a:solidFill>
            <a:srgbClr val="E2E3E3"/>
          </a:solidFill>
          <a:ln/>
        </p:spPr>
      </p:sp>
      <p:sp>
        <p:nvSpPr>
          <p:cNvPr id="9" name="!!fbSub"/>
          <p:cNvSpPr/>
          <p:nvPr/>
        </p:nvSpPr>
        <p:spPr>
          <a:xfrm>
            <a:off x="822960" y="4846320"/>
            <a:ext cx="4937760" cy="548640"/>
          </a:xfrm>
          <a:prstGeom prst="rect">
            <a:avLst/>
          </a:prstGeom>
          <a:solidFill>
            <a:srgbClr val="EDE3C8"/>
          </a:solidFill>
          <a:ln/>
        </p:spPr>
      </p:sp>
      <p:sp>
        <p:nvSpPr>
          <p:cNvPr id="10" name="!!fbL0"/>
          <p:cNvSpPr/>
          <p:nvPr/>
        </p:nvSpPr>
        <p:spPr>
          <a:xfrm>
            <a:off x="822960" y="4517136"/>
            <a:ext cx="1600200" cy="329184"/>
          </a:xfrm>
          <a:prstGeom prst="rect">
            <a:avLst/>
          </a:prstGeom>
          <a:solidFill>
            <a:srgbClr val="7D9BE6"/>
          </a:solidFill>
          <a:ln/>
        </p:spPr>
      </p:sp>
      <p:sp>
        <p:nvSpPr>
          <p:cNvPr id="11" name="!!fbR0"/>
          <p:cNvSpPr/>
          <p:nvPr/>
        </p:nvSpPr>
        <p:spPr>
          <a:xfrm>
            <a:off x="4160520" y="4517136"/>
            <a:ext cx="1600200" cy="329184"/>
          </a:xfrm>
          <a:prstGeom prst="rect">
            <a:avLst/>
          </a:prstGeom>
          <a:solidFill>
            <a:srgbClr val="7D9BE6"/>
          </a:solidFill>
          <a:ln/>
        </p:spPr>
      </p:sp>
      <p:sp>
        <p:nvSpPr>
          <p:cNvPr id="12" name="!!fbC0"/>
          <p:cNvSpPr/>
          <p:nvPr/>
        </p:nvSpPr>
        <p:spPr>
          <a:xfrm>
            <a:off x="2423160" y="4517136"/>
            <a:ext cx="1737360" cy="329184"/>
          </a:xfrm>
          <a:prstGeom prst="rect">
            <a:avLst/>
          </a:prstGeom>
          <a:solidFill>
            <a:srgbClr val="FFFFFF"/>
          </a:solidFill>
          <a:ln w="6350">
            <a:solidFill>
              <a:srgbClr val="FFFFFF"/>
            </a:solidFill>
            <a:prstDash val="solid"/>
          </a:ln>
        </p:spPr>
      </p:sp>
      <p:sp>
        <p:nvSpPr>
          <p:cNvPr id="13" name="!!fbL1"/>
          <p:cNvSpPr/>
          <p:nvPr/>
        </p:nvSpPr>
        <p:spPr>
          <a:xfrm>
            <a:off x="822960" y="4187952"/>
            <a:ext cx="1600200" cy="329184"/>
          </a:xfrm>
          <a:prstGeom prst="rect">
            <a:avLst/>
          </a:prstGeom>
          <a:solidFill>
            <a:srgbClr val="7D9BE6"/>
          </a:solidFill>
          <a:ln/>
        </p:spPr>
      </p:sp>
      <p:sp>
        <p:nvSpPr>
          <p:cNvPr id="14" name="!!fbR1"/>
          <p:cNvSpPr/>
          <p:nvPr/>
        </p:nvSpPr>
        <p:spPr>
          <a:xfrm>
            <a:off x="4160520" y="4187952"/>
            <a:ext cx="1600200" cy="329184"/>
          </a:xfrm>
          <a:prstGeom prst="rect">
            <a:avLst/>
          </a:prstGeom>
          <a:solidFill>
            <a:srgbClr val="7D9BE6"/>
          </a:solidFill>
          <a:ln/>
        </p:spPr>
      </p:sp>
      <p:sp>
        <p:nvSpPr>
          <p:cNvPr id="15" name="!!fbC1"/>
          <p:cNvSpPr/>
          <p:nvPr/>
        </p:nvSpPr>
        <p:spPr>
          <a:xfrm>
            <a:off x="2423160" y="4187952"/>
            <a:ext cx="1737360" cy="329184"/>
          </a:xfrm>
          <a:prstGeom prst="rect">
            <a:avLst/>
          </a:prstGeom>
          <a:solidFill>
            <a:srgbClr val="F6E7B8"/>
          </a:solidFill>
          <a:ln w="6350">
            <a:solidFill>
              <a:srgbClr val="FFFFFF"/>
            </a:solidFill>
            <a:prstDash val="solid"/>
          </a:ln>
        </p:spPr>
      </p:sp>
      <p:sp>
        <p:nvSpPr>
          <p:cNvPr id="16" name="!!fbL2"/>
          <p:cNvSpPr/>
          <p:nvPr/>
        </p:nvSpPr>
        <p:spPr>
          <a:xfrm>
            <a:off x="822960" y="3858768"/>
            <a:ext cx="1600200" cy="329184"/>
          </a:xfrm>
          <a:prstGeom prst="rect">
            <a:avLst/>
          </a:prstGeom>
          <a:solidFill>
            <a:srgbClr val="7D9BE6"/>
          </a:solidFill>
          <a:ln/>
        </p:spPr>
      </p:sp>
      <p:sp>
        <p:nvSpPr>
          <p:cNvPr id="17" name="!!fbR2"/>
          <p:cNvSpPr/>
          <p:nvPr/>
        </p:nvSpPr>
        <p:spPr>
          <a:xfrm>
            <a:off x="4160520" y="3858768"/>
            <a:ext cx="1600200" cy="329184"/>
          </a:xfrm>
          <a:prstGeom prst="rect">
            <a:avLst/>
          </a:prstGeom>
          <a:solidFill>
            <a:srgbClr val="7D9BE6"/>
          </a:solidFill>
          <a:ln/>
        </p:spPr>
      </p:sp>
      <p:sp>
        <p:nvSpPr>
          <p:cNvPr id="18" name="!!fbC2"/>
          <p:cNvSpPr/>
          <p:nvPr/>
        </p:nvSpPr>
        <p:spPr>
          <a:xfrm>
            <a:off x="2423160" y="3858768"/>
            <a:ext cx="1737360" cy="329184"/>
          </a:xfrm>
          <a:prstGeom prst="rect">
            <a:avLst/>
          </a:prstGeom>
          <a:solidFill>
            <a:srgbClr val="FFFFFF"/>
          </a:solidFill>
          <a:ln w="6350">
            <a:solidFill>
              <a:srgbClr val="FFFFFF"/>
            </a:solidFill>
            <a:prstDash val="solid"/>
          </a:ln>
        </p:spPr>
      </p:sp>
      <p:sp>
        <p:nvSpPr>
          <p:cNvPr id="19" name="!!fbL3"/>
          <p:cNvSpPr/>
          <p:nvPr/>
        </p:nvSpPr>
        <p:spPr>
          <a:xfrm>
            <a:off x="822960" y="3529584"/>
            <a:ext cx="1600200" cy="329184"/>
          </a:xfrm>
          <a:prstGeom prst="rect">
            <a:avLst/>
          </a:prstGeom>
          <a:solidFill>
            <a:srgbClr val="7D9BE6"/>
          </a:solidFill>
          <a:ln/>
        </p:spPr>
      </p:sp>
      <p:sp>
        <p:nvSpPr>
          <p:cNvPr id="20" name="!!fbR3"/>
          <p:cNvSpPr/>
          <p:nvPr/>
        </p:nvSpPr>
        <p:spPr>
          <a:xfrm>
            <a:off x="4160520" y="3529584"/>
            <a:ext cx="1600200" cy="329184"/>
          </a:xfrm>
          <a:prstGeom prst="rect">
            <a:avLst/>
          </a:prstGeom>
          <a:solidFill>
            <a:srgbClr val="7D9BE6"/>
          </a:solidFill>
          <a:ln/>
        </p:spPr>
      </p:sp>
      <p:sp>
        <p:nvSpPr>
          <p:cNvPr id="21" name="!!fbC3"/>
          <p:cNvSpPr/>
          <p:nvPr/>
        </p:nvSpPr>
        <p:spPr>
          <a:xfrm>
            <a:off x="2423160" y="3529584"/>
            <a:ext cx="1737360" cy="329184"/>
          </a:xfrm>
          <a:prstGeom prst="rect">
            <a:avLst/>
          </a:prstGeom>
          <a:solidFill>
            <a:srgbClr val="F6E7B8"/>
          </a:solidFill>
          <a:ln w="6350">
            <a:solidFill>
              <a:srgbClr val="FFFFFF"/>
            </a:solidFill>
            <a:prstDash val="solid"/>
          </a:ln>
        </p:spPr>
      </p:sp>
      <p:sp>
        <p:nvSpPr>
          <p:cNvPr id="22" name="!!fbL4"/>
          <p:cNvSpPr/>
          <p:nvPr/>
        </p:nvSpPr>
        <p:spPr>
          <a:xfrm>
            <a:off x="822960" y="3200400"/>
            <a:ext cx="1600200" cy="329184"/>
          </a:xfrm>
          <a:prstGeom prst="rect">
            <a:avLst/>
          </a:prstGeom>
          <a:solidFill>
            <a:srgbClr val="7D9BE6"/>
          </a:solidFill>
          <a:ln/>
        </p:spPr>
      </p:sp>
      <p:sp>
        <p:nvSpPr>
          <p:cNvPr id="23" name="!!fbR4"/>
          <p:cNvSpPr/>
          <p:nvPr/>
        </p:nvSpPr>
        <p:spPr>
          <a:xfrm>
            <a:off x="4160520" y="3200400"/>
            <a:ext cx="1600200" cy="329184"/>
          </a:xfrm>
          <a:prstGeom prst="rect">
            <a:avLst/>
          </a:prstGeom>
          <a:solidFill>
            <a:srgbClr val="7D9BE6"/>
          </a:solidFill>
          <a:ln/>
        </p:spPr>
      </p:sp>
      <p:sp>
        <p:nvSpPr>
          <p:cNvPr id="24" name="!!fbC4"/>
          <p:cNvSpPr/>
          <p:nvPr/>
        </p:nvSpPr>
        <p:spPr>
          <a:xfrm>
            <a:off x="2423160" y="3200400"/>
            <a:ext cx="1737360" cy="329184"/>
          </a:xfrm>
          <a:prstGeom prst="rect">
            <a:avLst/>
          </a:prstGeom>
          <a:solidFill>
            <a:srgbClr val="FFFFFF"/>
          </a:solidFill>
          <a:ln w="6350">
            <a:solidFill>
              <a:srgbClr val="FFFFFF"/>
            </a:solidFill>
            <a:prstDash val="solid"/>
          </a:ln>
        </p:spPr>
      </p:sp>
      <p:sp>
        <p:nvSpPr>
          <p:cNvPr id="25" name="!!fbL5"/>
          <p:cNvSpPr/>
          <p:nvPr/>
        </p:nvSpPr>
        <p:spPr>
          <a:xfrm>
            <a:off x="822960" y="2871216"/>
            <a:ext cx="1600200" cy="329184"/>
          </a:xfrm>
          <a:prstGeom prst="rect">
            <a:avLst/>
          </a:prstGeom>
          <a:solidFill>
            <a:srgbClr val="7D9BE6"/>
          </a:solidFill>
          <a:ln/>
        </p:spPr>
      </p:sp>
      <p:sp>
        <p:nvSpPr>
          <p:cNvPr id="26" name="!!fbR5"/>
          <p:cNvSpPr/>
          <p:nvPr/>
        </p:nvSpPr>
        <p:spPr>
          <a:xfrm>
            <a:off x="4160520" y="2871216"/>
            <a:ext cx="1600200" cy="329184"/>
          </a:xfrm>
          <a:prstGeom prst="rect">
            <a:avLst/>
          </a:prstGeom>
          <a:solidFill>
            <a:srgbClr val="7D9BE6"/>
          </a:solidFill>
          <a:ln/>
        </p:spPr>
      </p:sp>
      <p:sp>
        <p:nvSpPr>
          <p:cNvPr id="27" name="!!fbC5"/>
          <p:cNvSpPr/>
          <p:nvPr/>
        </p:nvSpPr>
        <p:spPr>
          <a:xfrm>
            <a:off x="2423160" y="2871216"/>
            <a:ext cx="1737360" cy="329184"/>
          </a:xfrm>
          <a:prstGeom prst="rect">
            <a:avLst/>
          </a:prstGeom>
          <a:solidFill>
            <a:srgbClr val="F6E7B8"/>
          </a:solidFill>
          <a:ln w="6350">
            <a:solidFill>
              <a:srgbClr val="FFFFFF"/>
            </a:solidFill>
            <a:prstDash val="solid"/>
          </a:ln>
        </p:spPr>
      </p:sp>
      <p:sp>
        <p:nvSpPr>
          <p:cNvPr id="28" name="!!fbDG"/>
          <p:cNvSpPr/>
          <p:nvPr/>
        </p:nvSpPr>
        <p:spPr>
          <a:xfrm>
            <a:off x="2651760" y="2048256"/>
            <a:ext cx="1280160" cy="822960"/>
          </a:xfrm>
          <a:prstGeom prst="rect">
            <a:avLst/>
          </a:prstGeom>
          <a:solidFill>
            <a:srgbClr val="FFFFFF"/>
          </a:solidFill>
          <a:ln w="9525">
            <a:solidFill>
              <a:srgbClr val="8A8D93"/>
            </a:solidFill>
            <a:prstDash val="dash"/>
          </a:ln>
        </p:spPr>
      </p:sp>
      <p:sp>
        <p:nvSpPr>
          <p:cNvPr id="29" name="!!fbDGl"/>
          <p:cNvSpPr txBox="1"/>
          <p:nvPr/>
        </p:nvSpPr>
        <p:spPr>
          <a:xfrm>
            <a:off x="2651760" y="2231136"/>
            <a:ext cx="1280160" cy="274320"/>
          </a:xfrm>
          <a:prstGeom prst="rect">
            <a:avLst/>
          </a:prstGeom>
          <a:noFill/>
          <a:ln/>
        </p:spPr>
        <p:txBody>
          <a:bodyPr wrap="square" lIns="0" tIns="0" rIns="0" bIns="0" rtlCol="0" anchor="t"/>
          <a:lstStyle/>
          <a:p>
            <a:pPr algn="ctr" indent="0" marL="0">
              <a:buNone/>
            </a:pPr>
            <a:r>
              <a:rPr lang="en-US" sz="1100" dirty="0">
                <a:solidFill>
                  <a:srgbClr val="8A8D93"/>
                </a:solidFill>
                <a:latin typeface="Segoe UI Semibold" pitchFamily="34" charset="0"/>
                <a:ea typeface="Segoe UI Semibold" pitchFamily="34" charset="-122"/>
                <a:cs typeface="Segoe UI Semibold" pitchFamily="34" charset="-120"/>
              </a:rPr>
              <a:t>(removed)</a:t>
            </a:r>
            <a:endParaRPr lang="en-US" sz="1100" dirty="0"/>
          </a:p>
        </p:txBody>
      </p:sp>
      <p:sp>
        <p:nvSpPr>
          <p:cNvPr id="30" name="!!fbSpL"/>
          <p:cNvSpPr/>
          <p:nvPr/>
        </p:nvSpPr>
        <p:spPr>
          <a:xfrm>
            <a:off x="2423160" y="2048256"/>
            <a:ext cx="228600" cy="822960"/>
          </a:xfrm>
          <a:prstGeom prst="rect">
            <a:avLst/>
          </a:prstGeom>
          <a:solidFill>
            <a:srgbClr val="D9DCE3"/>
          </a:solidFill>
          <a:ln/>
        </p:spPr>
      </p:sp>
      <p:sp>
        <p:nvSpPr>
          <p:cNvPr id="31" name="!!fbSpR"/>
          <p:cNvSpPr/>
          <p:nvPr/>
        </p:nvSpPr>
        <p:spPr>
          <a:xfrm>
            <a:off x="3931920" y="2048256"/>
            <a:ext cx="228600" cy="822960"/>
          </a:xfrm>
          <a:prstGeom prst="rect">
            <a:avLst/>
          </a:prstGeom>
          <a:solidFill>
            <a:srgbClr val="D9DCE3"/>
          </a:solidFill>
          <a:ln/>
        </p:spPr>
      </p:sp>
      <p:sp>
        <p:nvSpPr>
          <p:cNvPr id="32" name="!!fbSL"/>
          <p:cNvSpPr txBox="1"/>
          <p:nvPr/>
        </p:nvSpPr>
        <p:spPr>
          <a:xfrm>
            <a:off x="822960" y="2551176"/>
            <a:ext cx="1600200" cy="274320"/>
          </a:xfrm>
          <a:prstGeom prst="rect">
            <a:avLst/>
          </a:prstGeom>
          <a:noFill/>
          <a:ln/>
        </p:spPr>
        <p:txBody>
          <a:bodyPr wrap="square" lIns="0" tIns="0" rIns="0" bIns="0" rtlCol="0" anchor="t"/>
          <a:lstStyle/>
          <a:p>
            <a:pPr algn="ctr" indent="0" marL="0">
              <a:buNone/>
            </a:pPr>
            <a:r>
              <a:rPr lang="en-US" sz="1100" dirty="0">
                <a:solidFill>
                  <a:srgbClr val="3E6AE1"/>
                </a:solidFill>
                <a:latin typeface="Segoe UI Semibold" pitchFamily="34" charset="0"/>
                <a:ea typeface="Segoe UI Semibold" pitchFamily="34" charset="-122"/>
                <a:cs typeface="Segoe UI Semibold" pitchFamily="34" charset="-120"/>
              </a:rPr>
              <a:t>n+ source</a:t>
            </a:r>
            <a:endParaRPr lang="en-US" sz="1100" dirty="0"/>
          </a:p>
        </p:txBody>
      </p:sp>
      <p:sp>
        <p:nvSpPr>
          <p:cNvPr id="33" name="!!fbDL"/>
          <p:cNvSpPr txBox="1"/>
          <p:nvPr/>
        </p:nvSpPr>
        <p:spPr>
          <a:xfrm>
            <a:off x="4160520" y="2551176"/>
            <a:ext cx="1600200" cy="274320"/>
          </a:xfrm>
          <a:prstGeom prst="rect">
            <a:avLst/>
          </a:prstGeom>
          <a:noFill/>
          <a:ln/>
        </p:spPr>
        <p:txBody>
          <a:bodyPr wrap="square" lIns="0" tIns="0" rIns="0" bIns="0" rtlCol="0" anchor="t"/>
          <a:lstStyle/>
          <a:p>
            <a:pPr algn="ctr" indent="0" marL="0">
              <a:buNone/>
            </a:pPr>
            <a:r>
              <a:rPr lang="en-US" sz="1100" dirty="0">
                <a:solidFill>
                  <a:srgbClr val="3E6AE1"/>
                </a:solidFill>
                <a:latin typeface="Segoe UI Semibold" pitchFamily="34" charset="0"/>
                <a:ea typeface="Segoe UI Semibold" pitchFamily="34" charset="-122"/>
                <a:cs typeface="Segoe UI Semibold" pitchFamily="34" charset="-120"/>
              </a:rPr>
              <a:t>n+ drain</a:t>
            </a:r>
            <a:endParaRPr lang="en-US" sz="1100" dirty="0"/>
          </a:p>
        </p:txBody>
      </p:sp>
      <p:sp>
        <p:nvSpPr>
          <p:cNvPr id="34" name="!!fbLeg1"/>
          <p:cNvSpPr txBox="1"/>
          <p:nvPr/>
        </p:nvSpPr>
        <p:spPr>
          <a:xfrm>
            <a:off x="822960" y="5486400"/>
            <a:ext cx="2377440" cy="228600"/>
          </a:xfrm>
          <a:prstGeom prst="rect">
            <a:avLst/>
          </a:prstGeom>
          <a:noFill/>
          <a:ln/>
        </p:spPr>
        <p:txBody>
          <a:bodyPr wrap="square" lIns="0" tIns="0" rIns="0" bIns="0" rtlCol="0" anchor="t"/>
          <a:lstStyle/>
          <a:p>
            <a:pPr algn="l" indent="0" marL="0">
              <a:buNone/>
            </a:pPr>
            <a:r>
              <a:rPr lang="en-US" sz="1000" dirty="0">
                <a:solidFill>
                  <a:srgbClr val="8A6D1F"/>
                </a:solidFill>
                <a:latin typeface="Segoe UI" pitchFamily="34" charset="0"/>
                <a:ea typeface="Segoe UI" pitchFamily="34" charset="-122"/>
                <a:cs typeface="Segoe UI" pitchFamily="34" charset="-120"/>
              </a:rPr>
              <a:t>silicon sheets (yellow)</a:t>
            </a:r>
            <a:endParaRPr lang="en-US" sz="1000" dirty="0"/>
          </a:p>
        </p:txBody>
      </p:sp>
      <p:sp>
        <p:nvSpPr>
          <p:cNvPr id="35" name="!!fbLeg2"/>
          <p:cNvSpPr txBox="1"/>
          <p:nvPr/>
        </p:nvSpPr>
        <p:spPr>
          <a:xfrm>
            <a:off x="3108960" y="5486400"/>
            <a:ext cx="2743200" cy="228600"/>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gaps where SiGe was</a:t>
            </a:r>
            <a:endParaRPr lang="en-US" sz="1000" dirty="0"/>
          </a:p>
        </p:txBody>
      </p:sp>
      <p:sp>
        <p:nvSpPr>
          <p:cNvPr id="36" name="!!card"/>
          <p:cNvSpPr/>
          <p:nvPr/>
        </p:nvSpPr>
        <p:spPr>
          <a:xfrm>
            <a:off x="6766560" y="1554480"/>
            <a:ext cx="4873752" cy="2286000"/>
          </a:xfrm>
          <a:prstGeom prst="roundRect">
            <a:avLst>
              <a:gd name="adj" fmla="val 3200"/>
            </a:avLst>
          </a:prstGeom>
          <a:solidFill>
            <a:srgbClr val="F4F5F7"/>
          </a:solidFill>
          <a:ln/>
        </p:spPr>
      </p:sp>
      <p:sp>
        <p:nvSpPr>
          <p:cNvPr id="37" name="!!cardn"/>
          <p:cNvSpPr/>
          <p:nvPr/>
        </p:nvSpPr>
        <p:spPr>
          <a:xfrm>
            <a:off x="6976872" y="1764792"/>
            <a:ext cx="347472" cy="347472"/>
          </a:xfrm>
          <a:prstGeom prst="ellipse">
            <a:avLst/>
          </a:prstGeom>
          <a:solidFill>
            <a:srgbClr val="E07B00"/>
          </a:solidFill>
          <a:ln/>
        </p:spPr>
      </p:sp>
      <p:sp>
        <p:nvSpPr>
          <p:cNvPr id="38" name="!!cardnt"/>
          <p:cNvSpPr txBox="1"/>
          <p:nvPr/>
        </p:nvSpPr>
        <p:spPr>
          <a:xfrm>
            <a:off x="697687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cardh"/>
          <p:cNvSpPr txBox="1"/>
          <p:nvPr/>
        </p:nvSpPr>
        <p:spPr>
          <a:xfrm>
            <a:off x="7452360" y="1773936"/>
            <a:ext cx="4005072" cy="347472"/>
          </a:xfrm>
          <a:prstGeom prst="rect">
            <a:avLst/>
          </a:prstGeom>
          <a:noFill/>
          <a:ln/>
        </p:spPr>
        <p:txBody>
          <a:bodyPr wrap="square" lIns="0" tIns="0" rIns="0" bIns="0" rtlCol="0" anchor="ctr"/>
          <a:lstStyle/>
          <a:p>
            <a:pPr algn="l" indent="0" marL="0">
              <a:buNone/>
            </a:pPr>
            <a:r>
              <a:rPr lang="en-US" sz="1600" dirty="0">
                <a:solidFill>
                  <a:srgbClr val="E07B00"/>
                </a:solidFill>
                <a:latin typeface="Segoe UI Semibold" pitchFamily="34" charset="0"/>
                <a:ea typeface="Segoe UI Semibold" pitchFamily="34" charset="-122"/>
                <a:cs typeface="Segoe UI Semibold" pitchFamily="34" charset="-120"/>
              </a:rPr>
              <a:t>Remove dummy gate and SiGe</a:t>
            </a:r>
            <a:endParaRPr lang="en-US" sz="1600" dirty="0"/>
          </a:p>
        </p:txBody>
      </p:sp>
      <p:sp>
        <p:nvSpPr>
          <p:cNvPr id="40" name="!!cardb"/>
          <p:cNvSpPr txBox="1"/>
          <p:nvPr/>
        </p:nvSpPr>
        <p:spPr>
          <a:xfrm>
            <a:off x="6995160" y="2267712"/>
            <a:ext cx="4416552" cy="141732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A selective etch removes only the SiGe. The silicon sheets now hang like bridges.</a:t>
            </a:r>
            <a:endParaRPr lang="en-US" sz="1300" dirty="0"/>
          </a:p>
        </p:txBody>
      </p:sp>
      <p:sp>
        <p:nvSpPr>
          <p:cNvPr id="41"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 sheets are free: there is space all around them.</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65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How it is made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Side view along the channel: from a layer cake to sheets wrapped by the gate</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171A20"/>
          </a:solidFill>
          <a:ln/>
        </p:spPr>
      </p:sp>
      <p:sp>
        <p:nvSpPr>
          <p:cNvPr id="8" name="!!sdot4"/>
          <p:cNvSpPr/>
          <p:nvPr/>
        </p:nvSpPr>
        <p:spPr>
          <a:xfrm>
            <a:off x="11599164" y="525780"/>
            <a:ext cx="82296" cy="82296"/>
          </a:xfrm>
          <a:prstGeom prst="ellipse">
            <a:avLst/>
          </a:prstGeom>
          <a:solidFill>
            <a:srgbClr val="171A20"/>
          </a:solidFill>
          <a:ln/>
        </p:spPr>
      </p:sp>
      <p:sp>
        <p:nvSpPr>
          <p:cNvPr id="9" name="!!fbSub"/>
          <p:cNvSpPr/>
          <p:nvPr/>
        </p:nvSpPr>
        <p:spPr>
          <a:xfrm>
            <a:off x="822960" y="4846320"/>
            <a:ext cx="4937760" cy="548640"/>
          </a:xfrm>
          <a:prstGeom prst="rect">
            <a:avLst/>
          </a:prstGeom>
          <a:solidFill>
            <a:srgbClr val="EDE3C8"/>
          </a:solidFill>
          <a:ln/>
        </p:spPr>
      </p:sp>
      <p:sp>
        <p:nvSpPr>
          <p:cNvPr id="10" name="!!fbL0"/>
          <p:cNvSpPr/>
          <p:nvPr/>
        </p:nvSpPr>
        <p:spPr>
          <a:xfrm>
            <a:off x="822960" y="4517136"/>
            <a:ext cx="1600200" cy="329184"/>
          </a:xfrm>
          <a:prstGeom prst="rect">
            <a:avLst/>
          </a:prstGeom>
          <a:solidFill>
            <a:srgbClr val="7D9BE6"/>
          </a:solidFill>
          <a:ln/>
        </p:spPr>
      </p:sp>
      <p:sp>
        <p:nvSpPr>
          <p:cNvPr id="11" name="!!fbR0"/>
          <p:cNvSpPr/>
          <p:nvPr/>
        </p:nvSpPr>
        <p:spPr>
          <a:xfrm>
            <a:off x="4160520" y="4517136"/>
            <a:ext cx="1600200" cy="329184"/>
          </a:xfrm>
          <a:prstGeom prst="rect">
            <a:avLst/>
          </a:prstGeom>
          <a:solidFill>
            <a:srgbClr val="7D9BE6"/>
          </a:solidFill>
          <a:ln/>
        </p:spPr>
      </p:sp>
      <p:sp>
        <p:nvSpPr>
          <p:cNvPr id="12" name="!!fbC0"/>
          <p:cNvSpPr/>
          <p:nvPr/>
        </p:nvSpPr>
        <p:spPr>
          <a:xfrm>
            <a:off x="2423160" y="4517136"/>
            <a:ext cx="1737360" cy="329184"/>
          </a:xfrm>
          <a:prstGeom prst="rect">
            <a:avLst/>
          </a:prstGeom>
          <a:solidFill>
            <a:srgbClr val="B3A6E6"/>
          </a:solidFill>
          <a:ln w="6350">
            <a:solidFill>
              <a:srgbClr val="FFFFFF"/>
            </a:solidFill>
            <a:prstDash val="solid"/>
          </a:ln>
        </p:spPr>
      </p:sp>
      <p:sp>
        <p:nvSpPr>
          <p:cNvPr id="13" name="!!fbL1"/>
          <p:cNvSpPr/>
          <p:nvPr/>
        </p:nvSpPr>
        <p:spPr>
          <a:xfrm>
            <a:off x="822960" y="4187952"/>
            <a:ext cx="1600200" cy="329184"/>
          </a:xfrm>
          <a:prstGeom prst="rect">
            <a:avLst/>
          </a:prstGeom>
          <a:solidFill>
            <a:srgbClr val="7D9BE6"/>
          </a:solidFill>
          <a:ln/>
        </p:spPr>
      </p:sp>
      <p:sp>
        <p:nvSpPr>
          <p:cNvPr id="14" name="!!fbR1"/>
          <p:cNvSpPr/>
          <p:nvPr/>
        </p:nvSpPr>
        <p:spPr>
          <a:xfrm>
            <a:off x="4160520" y="4187952"/>
            <a:ext cx="1600200" cy="329184"/>
          </a:xfrm>
          <a:prstGeom prst="rect">
            <a:avLst/>
          </a:prstGeom>
          <a:solidFill>
            <a:srgbClr val="7D9BE6"/>
          </a:solidFill>
          <a:ln/>
        </p:spPr>
      </p:sp>
      <p:sp>
        <p:nvSpPr>
          <p:cNvPr id="15" name="!!fbC1"/>
          <p:cNvSpPr/>
          <p:nvPr/>
        </p:nvSpPr>
        <p:spPr>
          <a:xfrm>
            <a:off x="2423160" y="4187952"/>
            <a:ext cx="1737360" cy="329184"/>
          </a:xfrm>
          <a:prstGeom prst="rect">
            <a:avLst/>
          </a:prstGeom>
          <a:solidFill>
            <a:srgbClr val="F6E7B8"/>
          </a:solidFill>
          <a:ln w="6350">
            <a:solidFill>
              <a:srgbClr val="FFFFFF"/>
            </a:solidFill>
            <a:prstDash val="solid"/>
          </a:ln>
        </p:spPr>
      </p:sp>
      <p:sp>
        <p:nvSpPr>
          <p:cNvPr id="16" name="!!fbHk1"/>
          <p:cNvSpPr/>
          <p:nvPr/>
        </p:nvSpPr>
        <p:spPr>
          <a:xfrm>
            <a:off x="2423160" y="4142232"/>
            <a:ext cx="1737360" cy="420624"/>
          </a:xfrm>
          <a:prstGeom prst="rect">
            <a:avLst/>
          </a:prstGeom>
          <a:solidFill>
            <a:srgbClr val="8FCBE0">
              <a:alpha val="70000"/>
            </a:srgbClr>
          </a:solidFill>
          <a:ln/>
        </p:spPr>
      </p:sp>
      <p:sp>
        <p:nvSpPr>
          <p:cNvPr id="17" name="!!fbSi1"/>
          <p:cNvSpPr/>
          <p:nvPr/>
        </p:nvSpPr>
        <p:spPr>
          <a:xfrm>
            <a:off x="2423160" y="4187952"/>
            <a:ext cx="1737360" cy="329184"/>
          </a:xfrm>
          <a:prstGeom prst="rect">
            <a:avLst/>
          </a:prstGeom>
          <a:solidFill>
            <a:srgbClr val="F6E7B8"/>
          </a:solidFill>
          <a:ln/>
        </p:spPr>
      </p:sp>
      <p:sp>
        <p:nvSpPr>
          <p:cNvPr id="18" name="!!fbL2"/>
          <p:cNvSpPr/>
          <p:nvPr/>
        </p:nvSpPr>
        <p:spPr>
          <a:xfrm>
            <a:off x="822960" y="3858768"/>
            <a:ext cx="1600200" cy="329184"/>
          </a:xfrm>
          <a:prstGeom prst="rect">
            <a:avLst/>
          </a:prstGeom>
          <a:solidFill>
            <a:srgbClr val="7D9BE6"/>
          </a:solidFill>
          <a:ln/>
        </p:spPr>
      </p:sp>
      <p:sp>
        <p:nvSpPr>
          <p:cNvPr id="19" name="!!fbR2"/>
          <p:cNvSpPr/>
          <p:nvPr/>
        </p:nvSpPr>
        <p:spPr>
          <a:xfrm>
            <a:off x="4160520" y="3858768"/>
            <a:ext cx="1600200" cy="329184"/>
          </a:xfrm>
          <a:prstGeom prst="rect">
            <a:avLst/>
          </a:prstGeom>
          <a:solidFill>
            <a:srgbClr val="7D9BE6"/>
          </a:solidFill>
          <a:ln/>
        </p:spPr>
      </p:sp>
      <p:sp>
        <p:nvSpPr>
          <p:cNvPr id="20" name="!!fbC2"/>
          <p:cNvSpPr/>
          <p:nvPr/>
        </p:nvSpPr>
        <p:spPr>
          <a:xfrm>
            <a:off x="2423160" y="3858768"/>
            <a:ext cx="1737360" cy="329184"/>
          </a:xfrm>
          <a:prstGeom prst="rect">
            <a:avLst/>
          </a:prstGeom>
          <a:solidFill>
            <a:srgbClr val="B3A6E6"/>
          </a:solidFill>
          <a:ln w="6350">
            <a:solidFill>
              <a:srgbClr val="FFFFFF"/>
            </a:solidFill>
            <a:prstDash val="solid"/>
          </a:ln>
        </p:spPr>
      </p:sp>
      <p:sp>
        <p:nvSpPr>
          <p:cNvPr id="21" name="!!fbL3"/>
          <p:cNvSpPr/>
          <p:nvPr/>
        </p:nvSpPr>
        <p:spPr>
          <a:xfrm>
            <a:off x="822960" y="3529584"/>
            <a:ext cx="1600200" cy="329184"/>
          </a:xfrm>
          <a:prstGeom prst="rect">
            <a:avLst/>
          </a:prstGeom>
          <a:solidFill>
            <a:srgbClr val="7D9BE6"/>
          </a:solidFill>
          <a:ln/>
        </p:spPr>
      </p:sp>
      <p:sp>
        <p:nvSpPr>
          <p:cNvPr id="22" name="!!fbR3"/>
          <p:cNvSpPr/>
          <p:nvPr/>
        </p:nvSpPr>
        <p:spPr>
          <a:xfrm>
            <a:off x="4160520" y="3529584"/>
            <a:ext cx="1600200" cy="329184"/>
          </a:xfrm>
          <a:prstGeom prst="rect">
            <a:avLst/>
          </a:prstGeom>
          <a:solidFill>
            <a:srgbClr val="7D9BE6"/>
          </a:solidFill>
          <a:ln/>
        </p:spPr>
      </p:sp>
      <p:sp>
        <p:nvSpPr>
          <p:cNvPr id="23" name="!!fbC3"/>
          <p:cNvSpPr/>
          <p:nvPr/>
        </p:nvSpPr>
        <p:spPr>
          <a:xfrm>
            <a:off x="2423160" y="3529584"/>
            <a:ext cx="1737360" cy="329184"/>
          </a:xfrm>
          <a:prstGeom prst="rect">
            <a:avLst/>
          </a:prstGeom>
          <a:solidFill>
            <a:srgbClr val="F6E7B8"/>
          </a:solidFill>
          <a:ln w="6350">
            <a:solidFill>
              <a:srgbClr val="FFFFFF"/>
            </a:solidFill>
            <a:prstDash val="solid"/>
          </a:ln>
        </p:spPr>
      </p:sp>
      <p:sp>
        <p:nvSpPr>
          <p:cNvPr id="24" name="!!fbHk3"/>
          <p:cNvSpPr/>
          <p:nvPr/>
        </p:nvSpPr>
        <p:spPr>
          <a:xfrm>
            <a:off x="2423160" y="3483864"/>
            <a:ext cx="1737360" cy="420624"/>
          </a:xfrm>
          <a:prstGeom prst="rect">
            <a:avLst/>
          </a:prstGeom>
          <a:solidFill>
            <a:srgbClr val="8FCBE0">
              <a:alpha val="70000"/>
            </a:srgbClr>
          </a:solidFill>
          <a:ln/>
        </p:spPr>
      </p:sp>
      <p:sp>
        <p:nvSpPr>
          <p:cNvPr id="25" name="!!fbSi3"/>
          <p:cNvSpPr/>
          <p:nvPr/>
        </p:nvSpPr>
        <p:spPr>
          <a:xfrm>
            <a:off x="2423160" y="3529584"/>
            <a:ext cx="1737360" cy="329184"/>
          </a:xfrm>
          <a:prstGeom prst="rect">
            <a:avLst/>
          </a:prstGeom>
          <a:solidFill>
            <a:srgbClr val="F6E7B8"/>
          </a:solidFill>
          <a:ln/>
        </p:spPr>
      </p:sp>
      <p:sp>
        <p:nvSpPr>
          <p:cNvPr id="26" name="!!fbL4"/>
          <p:cNvSpPr/>
          <p:nvPr/>
        </p:nvSpPr>
        <p:spPr>
          <a:xfrm>
            <a:off x="822960" y="3200400"/>
            <a:ext cx="1600200" cy="329184"/>
          </a:xfrm>
          <a:prstGeom prst="rect">
            <a:avLst/>
          </a:prstGeom>
          <a:solidFill>
            <a:srgbClr val="7D9BE6"/>
          </a:solidFill>
          <a:ln/>
        </p:spPr>
      </p:sp>
      <p:sp>
        <p:nvSpPr>
          <p:cNvPr id="27" name="!!fbR4"/>
          <p:cNvSpPr/>
          <p:nvPr/>
        </p:nvSpPr>
        <p:spPr>
          <a:xfrm>
            <a:off x="4160520" y="3200400"/>
            <a:ext cx="1600200" cy="329184"/>
          </a:xfrm>
          <a:prstGeom prst="rect">
            <a:avLst/>
          </a:prstGeom>
          <a:solidFill>
            <a:srgbClr val="7D9BE6"/>
          </a:solidFill>
          <a:ln/>
        </p:spPr>
      </p:sp>
      <p:sp>
        <p:nvSpPr>
          <p:cNvPr id="28" name="!!fbC4"/>
          <p:cNvSpPr/>
          <p:nvPr/>
        </p:nvSpPr>
        <p:spPr>
          <a:xfrm>
            <a:off x="2423160" y="3200400"/>
            <a:ext cx="1737360" cy="329184"/>
          </a:xfrm>
          <a:prstGeom prst="rect">
            <a:avLst/>
          </a:prstGeom>
          <a:solidFill>
            <a:srgbClr val="B3A6E6"/>
          </a:solidFill>
          <a:ln w="6350">
            <a:solidFill>
              <a:srgbClr val="FFFFFF"/>
            </a:solidFill>
            <a:prstDash val="solid"/>
          </a:ln>
        </p:spPr>
      </p:sp>
      <p:sp>
        <p:nvSpPr>
          <p:cNvPr id="29" name="!!fbL5"/>
          <p:cNvSpPr/>
          <p:nvPr/>
        </p:nvSpPr>
        <p:spPr>
          <a:xfrm>
            <a:off x="822960" y="2871216"/>
            <a:ext cx="1600200" cy="329184"/>
          </a:xfrm>
          <a:prstGeom prst="rect">
            <a:avLst/>
          </a:prstGeom>
          <a:solidFill>
            <a:srgbClr val="7D9BE6"/>
          </a:solidFill>
          <a:ln/>
        </p:spPr>
      </p:sp>
      <p:sp>
        <p:nvSpPr>
          <p:cNvPr id="30" name="!!fbR5"/>
          <p:cNvSpPr/>
          <p:nvPr/>
        </p:nvSpPr>
        <p:spPr>
          <a:xfrm>
            <a:off x="4160520" y="2871216"/>
            <a:ext cx="1600200" cy="329184"/>
          </a:xfrm>
          <a:prstGeom prst="rect">
            <a:avLst/>
          </a:prstGeom>
          <a:solidFill>
            <a:srgbClr val="7D9BE6"/>
          </a:solidFill>
          <a:ln/>
        </p:spPr>
      </p:sp>
      <p:sp>
        <p:nvSpPr>
          <p:cNvPr id="31" name="!!fbC5"/>
          <p:cNvSpPr/>
          <p:nvPr/>
        </p:nvSpPr>
        <p:spPr>
          <a:xfrm>
            <a:off x="2423160" y="2871216"/>
            <a:ext cx="1737360" cy="329184"/>
          </a:xfrm>
          <a:prstGeom prst="rect">
            <a:avLst/>
          </a:prstGeom>
          <a:solidFill>
            <a:srgbClr val="F6E7B8"/>
          </a:solidFill>
          <a:ln w="6350">
            <a:solidFill>
              <a:srgbClr val="FFFFFF"/>
            </a:solidFill>
            <a:prstDash val="solid"/>
          </a:ln>
        </p:spPr>
      </p:sp>
      <p:sp>
        <p:nvSpPr>
          <p:cNvPr id="32" name="!!fbHk5"/>
          <p:cNvSpPr/>
          <p:nvPr/>
        </p:nvSpPr>
        <p:spPr>
          <a:xfrm>
            <a:off x="2423160" y="2825496"/>
            <a:ext cx="1737360" cy="420624"/>
          </a:xfrm>
          <a:prstGeom prst="rect">
            <a:avLst/>
          </a:prstGeom>
          <a:solidFill>
            <a:srgbClr val="8FCBE0">
              <a:alpha val="70000"/>
            </a:srgbClr>
          </a:solidFill>
          <a:ln/>
        </p:spPr>
      </p:sp>
      <p:sp>
        <p:nvSpPr>
          <p:cNvPr id="33" name="!!fbSi5"/>
          <p:cNvSpPr/>
          <p:nvPr/>
        </p:nvSpPr>
        <p:spPr>
          <a:xfrm>
            <a:off x="2423160" y="2871216"/>
            <a:ext cx="1737360" cy="329184"/>
          </a:xfrm>
          <a:prstGeom prst="rect">
            <a:avLst/>
          </a:prstGeom>
          <a:solidFill>
            <a:srgbClr val="F6E7B8"/>
          </a:solidFill>
          <a:ln/>
        </p:spPr>
      </p:sp>
      <p:sp>
        <p:nvSpPr>
          <p:cNvPr id="34" name="!!fbDG"/>
          <p:cNvSpPr/>
          <p:nvPr/>
        </p:nvSpPr>
        <p:spPr>
          <a:xfrm>
            <a:off x="2651760" y="2048256"/>
            <a:ext cx="1280160" cy="822960"/>
          </a:xfrm>
          <a:prstGeom prst="rect">
            <a:avLst/>
          </a:prstGeom>
          <a:solidFill>
            <a:srgbClr val="B3A6E6"/>
          </a:solidFill>
          <a:ln/>
        </p:spPr>
      </p:sp>
      <p:sp>
        <p:nvSpPr>
          <p:cNvPr id="35" name="!!fbDGl"/>
          <p:cNvSpPr txBox="1"/>
          <p:nvPr/>
        </p:nvSpPr>
        <p:spPr>
          <a:xfrm>
            <a:off x="2651760" y="2231136"/>
            <a:ext cx="1280160" cy="274320"/>
          </a:xfrm>
          <a:prstGeom prst="rect">
            <a:avLst/>
          </a:prstGeom>
          <a:noFill/>
          <a:ln/>
        </p:spPr>
        <p:txBody>
          <a:bodyPr wrap="square" lIns="0" tIns="0" rIns="0" bIns="0" rtlCol="0" anchor="t"/>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metal gate</a:t>
            </a:r>
            <a:endParaRPr lang="en-US" sz="1100" dirty="0"/>
          </a:p>
        </p:txBody>
      </p:sp>
      <p:sp>
        <p:nvSpPr>
          <p:cNvPr id="36" name="!!fbSpL"/>
          <p:cNvSpPr/>
          <p:nvPr/>
        </p:nvSpPr>
        <p:spPr>
          <a:xfrm>
            <a:off x="2423160" y="2048256"/>
            <a:ext cx="228600" cy="822960"/>
          </a:xfrm>
          <a:prstGeom prst="rect">
            <a:avLst/>
          </a:prstGeom>
          <a:solidFill>
            <a:srgbClr val="D9DCE3"/>
          </a:solidFill>
          <a:ln/>
        </p:spPr>
      </p:sp>
      <p:sp>
        <p:nvSpPr>
          <p:cNvPr id="37" name="!!fbSpR"/>
          <p:cNvSpPr/>
          <p:nvPr/>
        </p:nvSpPr>
        <p:spPr>
          <a:xfrm>
            <a:off x="3931920" y="2048256"/>
            <a:ext cx="228600" cy="822960"/>
          </a:xfrm>
          <a:prstGeom prst="rect">
            <a:avLst/>
          </a:prstGeom>
          <a:solidFill>
            <a:srgbClr val="D9DCE3"/>
          </a:solidFill>
          <a:ln/>
        </p:spPr>
      </p:sp>
      <p:sp>
        <p:nvSpPr>
          <p:cNvPr id="38" name="!!fbSL"/>
          <p:cNvSpPr txBox="1"/>
          <p:nvPr/>
        </p:nvSpPr>
        <p:spPr>
          <a:xfrm>
            <a:off x="822960" y="2551176"/>
            <a:ext cx="1600200" cy="274320"/>
          </a:xfrm>
          <a:prstGeom prst="rect">
            <a:avLst/>
          </a:prstGeom>
          <a:noFill/>
          <a:ln/>
        </p:spPr>
        <p:txBody>
          <a:bodyPr wrap="square" lIns="0" tIns="0" rIns="0" bIns="0" rtlCol="0" anchor="t"/>
          <a:lstStyle/>
          <a:p>
            <a:pPr algn="ctr" indent="0" marL="0">
              <a:buNone/>
            </a:pPr>
            <a:r>
              <a:rPr lang="en-US" sz="1100" dirty="0">
                <a:solidFill>
                  <a:srgbClr val="3E6AE1"/>
                </a:solidFill>
                <a:latin typeface="Segoe UI Semibold" pitchFamily="34" charset="0"/>
                <a:ea typeface="Segoe UI Semibold" pitchFamily="34" charset="-122"/>
                <a:cs typeface="Segoe UI Semibold" pitchFamily="34" charset="-120"/>
              </a:rPr>
              <a:t>n+ source</a:t>
            </a:r>
            <a:endParaRPr lang="en-US" sz="1100" dirty="0"/>
          </a:p>
        </p:txBody>
      </p:sp>
      <p:sp>
        <p:nvSpPr>
          <p:cNvPr id="39" name="!!fbDL"/>
          <p:cNvSpPr txBox="1"/>
          <p:nvPr/>
        </p:nvSpPr>
        <p:spPr>
          <a:xfrm>
            <a:off x="4160520" y="2551176"/>
            <a:ext cx="1600200" cy="274320"/>
          </a:xfrm>
          <a:prstGeom prst="rect">
            <a:avLst/>
          </a:prstGeom>
          <a:noFill/>
          <a:ln/>
        </p:spPr>
        <p:txBody>
          <a:bodyPr wrap="square" lIns="0" tIns="0" rIns="0" bIns="0" rtlCol="0" anchor="t"/>
          <a:lstStyle/>
          <a:p>
            <a:pPr algn="ctr" indent="0" marL="0">
              <a:buNone/>
            </a:pPr>
            <a:r>
              <a:rPr lang="en-US" sz="1100" dirty="0">
                <a:solidFill>
                  <a:srgbClr val="3E6AE1"/>
                </a:solidFill>
                <a:latin typeface="Segoe UI Semibold" pitchFamily="34" charset="0"/>
                <a:ea typeface="Segoe UI Semibold" pitchFamily="34" charset="-122"/>
                <a:cs typeface="Segoe UI Semibold" pitchFamily="34" charset="-120"/>
              </a:rPr>
              <a:t>n+ drain</a:t>
            </a:r>
            <a:endParaRPr lang="en-US" sz="1100" dirty="0"/>
          </a:p>
        </p:txBody>
      </p:sp>
      <p:sp>
        <p:nvSpPr>
          <p:cNvPr id="40" name="!!fbLeg1"/>
          <p:cNvSpPr txBox="1"/>
          <p:nvPr/>
        </p:nvSpPr>
        <p:spPr>
          <a:xfrm>
            <a:off x="822960" y="5486400"/>
            <a:ext cx="2377440" cy="228600"/>
          </a:xfrm>
          <a:prstGeom prst="rect">
            <a:avLst/>
          </a:prstGeom>
          <a:noFill/>
          <a:ln/>
        </p:spPr>
        <p:txBody>
          <a:bodyPr wrap="square" lIns="0" tIns="0" rIns="0" bIns="0" rtlCol="0" anchor="t"/>
          <a:lstStyle/>
          <a:p>
            <a:pPr algn="l" indent="0" marL="0">
              <a:buNone/>
            </a:pPr>
            <a:r>
              <a:rPr lang="en-US" sz="1000" dirty="0">
                <a:solidFill>
                  <a:srgbClr val="8A6D1F"/>
                </a:solidFill>
                <a:latin typeface="Segoe UI" pitchFamily="34" charset="0"/>
                <a:ea typeface="Segoe UI" pitchFamily="34" charset="-122"/>
                <a:cs typeface="Segoe UI" pitchFamily="34" charset="-120"/>
              </a:rPr>
              <a:t>silicon sheets (yellow)</a:t>
            </a:r>
            <a:endParaRPr lang="en-US" sz="1000" dirty="0"/>
          </a:p>
        </p:txBody>
      </p:sp>
      <p:sp>
        <p:nvSpPr>
          <p:cNvPr id="41" name="!!fbLeg2"/>
          <p:cNvSpPr txBox="1"/>
          <p:nvPr/>
        </p:nvSpPr>
        <p:spPr>
          <a:xfrm>
            <a:off x="3108960" y="5486400"/>
            <a:ext cx="2743200" cy="228600"/>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gate fills the gaps (lavender)</a:t>
            </a:r>
            <a:endParaRPr lang="en-US" sz="1000" dirty="0"/>
          </a:p>
        </p:txBody>
      </p:sp>
      <p:sp>
        <p:nvSpPr>
          <p:cNvPr id="42" name="!!card"/>
          <p:cNvSpPr/>
          <p:nvPr/>
        </p:nvSpPr>
        <p:spPr>
          <a:xfrm>
            <a:off x="6766560" y="1554480"/>
            <a:ext cx="4873752" cy="2286000"/>
          </a:xfrm>
          <a:prstGeom prst="roundRect">
            <a:avLst>
              <a:gd name="adj" fmla="val 3200"/>
            </a:avLst>
          </a:prstGeom>
          <a:solidFill>
            <a:srgbClr val="F4F5F7"/>
          </a:solidFill>
          <a:ln/>
        </p:spPr>
      </p:sp>
      <p:sp>
        <p:nvSpPr>
          <p:cNvPr id="43" name="!!cardn"/>
          <p:cNvSpPr/>
          <p:nvPr/>
        </p:nvSpPr>
        <p:spPr>
          <a:xfrm>
            <a:off x="6976872" y="1764792"/>
            <a:ext cx="347472" cy="347472"/>
          </a:xfrm>
          <a:prstGeom prst="ellipse">
            <a:avLst/>
          </a:prstGeom>
          <a:solidFill>
            <a:srgbClr val="6B5BC4"/>
          </a:solidFill>
          <a:ln/>
        </p:spPr>
      </p:sp>
      <p:sp>
        <p:nvSpPr>
          <p:cNvPr id="44" name="!!cardnt"/>
          <p:cNvSpPr txBox="1"/>
          <p:nvPr/>
        </p:nvSpPr>
        <p:spPr>
          <a:xfrm>
            <a:off x="697687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5" name="!!cardh"/>
          <p:cNvSpPr txBox="1"/>
          <p:nvPr/>
        </p:nvSpPr>
        <p:spPr>
          <a:xfrm>
            <a:off x="7452360" y="1773936"/>
            <a:ext cx="4005072" cy="347472"/>
          </a:xfrm>
          <a:prstGeom prst="rect">
            <a:avLst/>
          </a:prstGeom>
          <a:noFill/>
          <a:ln/>
        </p:spPr>
        <p:txBody>
          <a:bodyPr wrap="square" lIns="0" tIns="0" rIns="0" bIns="0" rtlCol="0" anchor="ctr"/>
          <a:lstStyle/>
          <a:p>
            <a:pPr algn="l" indent="0" marL="0">
              <a:buNone/>
            </a:pPr>
            <a:r>
              <a:rPr lang="en-US" sz="1600" dirty="0">
                <a:solidFill>
                  <a:srgbClr val="6B5BC4"/>
                </a:solidFill>
                <a:latin typeface="Segoe UI Semibold" pitchFamily="34" charset="0"/>
                <a:ea typeface="Segoe UI Semibold" pitchFamily="34" charset="-122"/>
                <a:cs typeface="Segoe UI Semibold" pitchFamily="34" charset="-120"/>
              </a:rPr>
              <a:t>Fill with gate all around</a:t>
            </a:r>
            <a:endParaRPr lang="en-US" sz="1600" dirty="0"/>
          </a:p>
        </p:txBody>
      </p:sp>
      <p:sp>
        <p:nvSpPr>
          <p:cNvPr id="46" name="!!cardb"/>
          <p:cNvSpPr txBox="1"/>
          <p:nvPr/>
        </p:nvSpPr>
        <p:spPr>
          <a:xfrm>
            <a:off x="6995160" y="2267712"/>
            <a:ext cx="4416552" cy="141732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HfO2, then metal, fill every gap. Each sheet is wrapped on all four sides.</a:t>
            </a:r>
            <a:endParaRPr lang="en-US" sz="1300" dirty="0"/>
          </a:p>
        </p:txBody>
      </p:sp>
      <p:sp>
        <p:nvSpPr>
          <p:cNvPr id="4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 gate now surrounds every sheet.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66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Turning the gate in our wire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Reproduced GAA wire (r = 5.64 nm, L</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14 nm): Silvaco Atlas data,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E2E3E3"/>
          </a:solidFill>
          <a:ln/>
        </p:spPr>
      </p:sp>
      <p:sp>
        <p:nvSpPr>
          <p:cNvPr id="6" name="!!sdot2"/>
          <p:cNvSpPr/>
          <p:nvPr/>
        </p:nvSpPr>
        <p:spPr>
          <a:xfrm>
            <a:off x="11132820" y="525780"/>
            <a:ext cx="82296" cy="82296"/>
          </a:xfrm>
          <a:prstGeom prst="ellipse">
            <a:avLst/>
          </a:prstGeom>
          <a:solidFill>
            <a:srgbClr val="E2E3E3"/>
          </a:solidFill>
          <a:ln/>
        </p:spPr>
      </p:sp>
      <p:sp>
        <p:nvSpPr>
          <p:cNvPr id="7" name="!!sdot3"/>
          <p:cNvSpPr/>
          <p:nvPr/>
        </p:nvSpPr>
        <p:spPr>
          <a:xfrm>
            <a:off x="11288268" y="525780"/>
            <a:ext cx="82296" cy="82296"/>
          </a:xfrm>
          <a:prstGeom prst="ellipse">
            <a:avLst/>
          </a:prstGeom>
          <a:solidFill>
            <a:srgbClr val="E2E3E3"/>
          </a:solidFill>
          <a:ln/>
        </p:spPr>
      </p:sp>
      <p:sp>
        <p:nvSpPr>
          <p:cNvPr id="8" name="!!sdot4"/>
          <p:cNvSpPr/>
          <p:nvPr/>
        </p:nvSpPr>
        <p:spPr>
          <a:xfrm>
            <a:off x="11443716" y="525780"/>
            <a:ext cx="82296" cy="82296"/>
          </a:xfrm>
          <a:prstGeom prst="ellipse">
            <a:avLst/>
          </a:prstGeom>
          <a:solidFill>
            <a:srgbClr val="E2E3E3"/>
          </a:solidFill>
          <a:ln/>
        </p:spPr>
      </p:sp>
      <p:sp>
        <p:nvSpPr>
          <p:cNvPr id="9" name="!!sdot5"/>
          <p:cNvSpPr/>
          <p:nvPr/>
        </p:nvSpPr>
        <p:spPr>
          <a:xfrm>
            <a:off x="11599164" y="525780"/>
            <a:ext cx="82296" cy="82296"/>
          </a:xfrm>
          <a:prstGeom prst="ellipse">
            <a:avLst/>
          </a:prstGeom>
          <a:solidFill>
            <a:srgbClr val="E2E3E3"/>
          </a:solidFill>
          <a:ln/>
        </p:spPr>
      </p:sp>
      <p:sp>
        <p:nvSpPr>
          <p:cNvPr id="10" name="!!gsG"/>
          <p:cNvSpPr/>
          <p:nvPr/>
        </p:nvSpPr>
        <p:spPr>
          <a:xfrm>
            <a:off x="777240" y="1874520"/>
            <a:ext cx="2834640" cy="2834640"/>
          </a:xfrm>
          <a:prstGeom prst="ellipse">
            <a:avLst/>
          </a:prstGeom>
          <a:solidFill>
            <a:srgbClr val="B3A6E6"/>
          </a:solidFill>
          <a:ln/>
        </p:spPr>
      </p:sp>
      <p:sp>
        <p:nvSpPr>
          <p:cNvPr id="11" name="!!gsH"/>
          <p:cNvSpPr/>
          <p:nvPr/>
        </p:nvSpPr>
        <p:spPr>
          <a:xfrm>
            <a:off x="1143000" y="2240280"/>
            <a:ext cx="2103120" cy="2103120"/>
          </a:xfrm>
          <a:prstGeom prst="ellipse">
            <a:avLst/>
          </a:prstGeom>
          <a:solidFill>
            <a:srgbClr val="8FCBE0"/>
          </a:solidFill>
          <a:ln/>
        </p:spPr>
      </p:sp>
      <p:sp>
        <p:nvSpPr>
          <p:cNvPr id="12" name="!!gsO"/>
          <p:cNvSpPr/>
          <p:nvPr/>
        </p:nvSpPr>
        <p:spPr>
          <a:xfrm>
            <a:off x="1261872" y="2359152"/>
            <a:ext cx="1865376" cy="1865376"/>
          </a:xfrm>
          <a:prstGeom prst="ellipse">
            <a:avLst/>
          </a:prstGeom>
          <a:solidFill>
            <a:srgbClr val="CDEBF5"/>
          </a:solidFill>
          <a:ln/>
        </p:spPr>
      </p:sp>
      <p:sp>
        <p:nvSpPr>
          <p:cNvPr id="13" name="!!gsE"/>
          <p:cNvSpPr/>
          <p:nvPr/>
        </p:nvSpPr>
        <p:spPr>
          <a:xfrm>
            <a:off x="1371600" y="2468880"/>
            <a:ext cx="1645920" cy="1645920"/>
          </a:xfrm>
          <a:prstGeom prst="ellipse">
            <a:avLst/>
          </a:prstGeom>
          <a:solidFill>
            <a:srgbClr val="1F2F6B">
              <a:alpha val="0"/>
            </a:srgbClr>
          </a:solidFill>
          <a:ln/>
        </p:spPr>
      </p:sp>
      <p:sp>
        <p:nvSpPr>
          <p:cNvPr id="14" name="!!gsS"/>
          <p:cNvSpPr/>
          <p:nvPr/>
        </p:nvSpPr>
        <p:spPr>
          <a:xfrm>
            <a:off x="1371600" y="2468880"/>
            <a:ext cx="1645920" cy="1645920"/>
          </a:xfrm>
          <a:prstGeom prst="ellipse">
            <a:avLst/>
          </a:prstGeom>
          <a:solidFill>
            <a:srgbClr val="F6E7B8"/>
          </a:solidFill>
          <a:ln/>
        </p:spPr>
      </p:sp>
      <p:sp>
        <p:nvSpPr>
          <p:cNvPr id="15" name="!!gsL"/>
          <p:cNvSpPr txBox="1"/>
          <p:nvPr/>
        </p:nvSpPr>
        <p:spPr>
          <a:xfrm>
            <a:off x="548640" y="4892040"/>
            <a:ext cx="3291840" cy="27432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wire cross-section (gate all round)</a:t>
            </a:r>
            <a:endParaRPr lang="en-US" sz="1100" dirty="0"/>
          </a:p>
        </p:txBody>
      </p:sp>
      <p:sp>
        <p:nvSpPr>
          <p:cNvPr id="16" name="!!gsLg0"/>
          <p:cNvSpPr/>
          <p:nvPr/>
        </p:nvSpPr>
        <p:spPr>
          <a:xfrm>
            <a:off x="4023360" y="2194560"/>
            <a:ext cx="201168" cy="201168"/>
          </a:xfrm>
          <a:prstGeom prst="rect">
            <a:avLst/>
          </a:prstGeom>
          <a:solidFill>
            <a:srgbClr val="B3A6E6"/>
          </a:solidFill>
          <a:ln/>
        </p:spPr>
      </p:sp>
      <p:sp>
        <p:nvSpPr>
          <p:cNvPr id="17" name="!!gsLgt0"/>
          <p:cNvSpPr txBox="1"/>
          <p:nvPr/>
        </p:nvSpPr>
        <p:spPr>
          <a:xfrm>
            <a:off x="4315968" y="2167128"/>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gate</a:t>
            </a:r>
            <a:endParaRPr lang="en-US" sz="1100" dirty="0"/>
          </a:p>
        </p:txBody>
      </p:sp>
      <p:sp>
        <p:nvSpPr>
          <p:cNvPr id="18" name="!!gsLg1"/>
          <p:cNvSpPr/>
          <p:nvPr/>
        </p:nvSpPr>
        <p:spPr>
          <a:xfrm>
            <a:off x="4023360" y="2578608"/>
            <a:ext cx="201168" cy="201168"/>
          </a:xfrm>
          <a:prstGeom prst="rect">
            <a:avLst/>
          </a:prstGeom>
          <a:solidFill>
            <a:srgbClr val="8FCBE0"/>
          </a:solidFill>
          <a:ln/>
        </p:spPr>
      </p:sp>
      <p:sp>
        <p:nvSpPr>
          <p:cNvPr id="19" name="!!gsLgt1"/>
          <p:cNvSpPr txBox="1"/>
          <p:nvPr/>
        </p:nvSpPr>
        <p:spPr>
          <a:xfrm>
            <a:off x="4315968" y="2551176"/>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HfO2 / SiO2</a:t>
            </a:r>
            <a:endParaRPr lang="en-US" sz="1100" dirty="0"/>
          </a:p>
        </p:txBody>
      </p:sp>
      <p:sp>
        <p:nvSpPr>
          <p:cNvPr id="20" name="!!gsLg2"/>
          <p:cNvSpPr/>
          <p:nvPr/>
        </p:nvSpPr>
        <p:spPr>
          <a:xfrm>
            <a:off x="4023360" y="2962656"/>
            <a:ext cx="201168" cy="201168"/>
          </a:xfrm>
          <a:prstGeom prst="rect">
            <a:avLst/>
          </a:prstGeom>
          <a:solidFill>
            <a:srgbClr val="F6E7B8"/>
          </a:solidFill>
          <a:ln/>
        </p:spPr>
      </p:sp>
      <p:sp>
        <p:nvSpPr>
          <p:cNvPr id="21" name="!!gsLgt2"/>
          <p:cNvSpPr txBox="1"/>
          <p:nvPr/>
        </p:nvSpPr>
        <p:spPr>
          <a:xfrm>
            <a:off x="4315968" y="2935224"/>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silicon</a:t>
            </a:r>
            <a:endParaRPr lang="en-US" sz="1100" dirty="0"/>
          </a:p>
        </p:txBody>
      </p:sp>
      <p:sp>
        <p:nvSpPr>
          <p:cNvPr id="22" name="!!gsLg3"/>
          <p:cNvSpPr/>
          <p:nvPr/>
        </p:nvSpPr>
        <p:spPr>
          <a:xfrm>
            <a:off x="4023360" y="3346704"/>
            <a:ext cx="201168" cy="201168"/>
          </a:xfrm>
          <a:prstGeom prst="rect">
            <a:avLst/>
          </a:prstGeom>
          <a:solidFill>
            <a:srgbClr val="1F2F6B"/>
          </a:solidFill>
          <a:ln/>
        </p:spPr>
      </p:sp>
      <p:sp>
        <p:nvSpPr>
          <p:cNvPr id="23" name="!!gsLgt3"/>
          <p:cNvSpPr txBox="1"/>
          <p:nvPr/>
        </p:nvSpPr>
        <p:spPr>
          <a:xfrm>
            <a:off x="4315968" y="3319272"/>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electrons</a:t>
            </a:r>
            <a:endParaRPr lang="en-US" sz="1100" dirty="0"/>
          </a:p>
        </p:txBody>
      </p:sp>
      <p:sp>
        <p:nvSpPr>
          <p:cNvPr id="24" name="!!axg0"/>
          <p:cNvSpPr/>
          <p:nvPr/>
        </p:nvSpPr>
        <p:spPr>
          <a:xfrm>
            <a:off x="7223760" y="4069080"/>
            <a:ext cx="4297680" cy="91"/>
          </a:xfrm>
          <a:prstGeom prst="line">
            <a:avLst/>
          </a:prstGeom>
          <a:noFill/>
          <a:ln w="9525">
            <a:solidFill>
              <a:srgbClr val="EDEEF0"/>
            </a:solidFill>
            <a:prstDash val="solid"/>
          </a:ln>
        </p:spPr>
      </p:sp>
      <p:sp>
        <p:nvSpPr>
          <p:cNvPr id="25" name="!!axg1"/>
          <p:cNvSpPr/>
          <p:nvPr/>
        </p:nvSpPr>
        <p:spPr>
          <a:xfrm>
            <a:off x="7223760" y="3276600"/>
            <a:ext cx="4297680" cy="91"/>
          </a:xfrm>
          <a:prstGeom prst="line">
            <a:avLst/>
          </a:prstGeom>
          <a:noFill/>
          <a:ln w="9525">
            <a:solidFill>
              <a:srgbClr val="EDEEF0"/>
            </a:solidFill>
            <a:prstDash val="solid"/>
          </a:ln>
        </p:spPr>
      </p:sp>
      <p:sp>
        <p:nvSpPr>
          <p:cNvPr id="26" name="!!axg2"/>
          <p:cNvSpPr/>
          <p:nvPr/>
        </p:nvSpPr>
        <p:spPr>
          <a:xfrm>
            <a:off x="7223760" y="2484120"/>
            <a:ext cx="4297680" cy="91"/>
          </a:xfrm>
          <a:prstGeom prst="line">
            <a:avLst/>
          </a:prstGeom>
          <a:noFill/>
          <a:ln w="9525">
            <a:solidFill>
              <a:srgbClr val="EDEEF0"/>
            </a:solidFill>
            <a:prstDash val="solid"/>
          </a:ln>
        </p:spPr>
      </p:sp>
      <p:sp>
        <p:nvSpPr>
          <p:cNvPr id="27" name="!!axg3"/>
          <p:cNvSpPr/>
          <p:nvPr/>
        </p:nvSpPr>
        <p:spPr>
          <a:xfrm>
            <a:off x="7223760" y="1691640"/>
            <a:ext cx="4297680" cy="91"/>
          </a:xfrm>
          <a:prstGeom prst="line">
            <a:avLst/>
          </a:prstGeom>
          <a:noFill/>
          <a:ln w="9525">
            <a:solidFill>
              <a:srgbClr val="EDEEF0"/>
            </a:solidFill>
            <a:prstDash val="solid"/>
          </a:ln>
        </p:spPr>
      </p:sp>
      <p:sp>
        <p:nvSpPr>
          <p:cNvPr id="28" name="!!axxa"/>
          <p:cNvSpPr/>
          <p:nvPr/>
        </p:nvSpPr>
        <p:spPr>
          <a:xfrm>
            <a:off x="7223760" y="4069080"/>
            <a:ext cx="4297680" cy="91"/>
          </a:xfrm>
          <a:prstGeom prst="line">
            <a:avLst/>
          </a:prstGeom>
          <a:noFill/>
          <a:ln w="12700">
            <a:solidFill>
              <a:srgbClr val="8A8D93"/>
            </a:solidFill>
            <a:prstDash val="solid"/>
          </a:ln>
        </p:spPr>
      </p:sp>
      <p:sp>
        <p:nvSpPr>
          <p:cNvPr id="29" name="!!axya"/>
          <p:cNvSpPr/>
          <p:nvPr/>
        </p:nvSpPr>
        <p:spPr>
          <a:xfrm>
            <a:off x="7223760" y="1691640"/>
            <a:ext cx="91" cy="2377440"/>
          </a:xfrm>
          <a:prstGeom prst="line">
            <a:avLst/>
          </a:prstGeom>
          <a:noFill/>
          <a:ln w="12700">
            <a:solidFill>
              <a:srgbClr val="8A8D93"/>
            </a:solidFill>
            <a:prstDash val="solid"/>
          </a:ln>
        </p:spPr>
      </p:sp>
      <p:sp>
        <p:nvSpPr>
          <p:cNvPr id="30" name="!!axxt0"/>
          <p:cNvSpPr txBox="1"/>
          <p:nvPr/>
        </p:nvSpPr>
        <p:spPr>
          <a:xfrm>
            <a:off x="690372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31" name="!!axxt1"/>
          <p:cNvSpPr txBox="1"/>
          <p:nvPr/>
        </p:nvSpPr>
        <p:spPr>
          <a:xfrm>
            <a:off x="8131629"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32" name="!!axxt2"/>
          <p:cNvSpPr txBox="1"/>
          <p:nvPr/>
        </p:nvSpPr>
        <p:spPr>
          <a:xfrm>
            <a:off x="9359537"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33" name="!!axxt3"/>
          <p:cNvSpPr txBox="1"/>
          <p:nvPr/>
        </p:nvSpPr>
        <p:spPr>
          <a:xfrm>
            <a:off x="10587446"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34" name="!!axyt0"/>
          <p:cNvSpPr txBox="1"/>
          <p:nvPr/>
        </p:nvSpPr>
        <p:spPr>
          <a:xfrm>
            <a:off x="6537960" y="39684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35" name="!!axyt1"/>
          <p:cNvSpPr txBox="1"/>
          <p:nvPr/>
        </p:nvSpPr>
        <p:spPr>
          <a:xfrm>
            <a:off x="6537960" y="31760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36" name="!!axyt2"/>
          <p:cNvSpPr txBox="1"/>
          <p:nvPr/>
        </p:nvSpPr>
        <p:spPr>
          <a:xfrm>
            <a:off x="6537960" y="23835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37" name="!!axyt3"/>
          <p:cNvSpPr txBox="1"/>
          <p:nvPr/>
        </p:nvSpPr>
        <p:spPr>
          <a:xfrm>
            <a:off x="653796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38" name="!!axxl"/>
          <p:cNvSpPr txBox="1"/>
          <p:nvPr/>
        </p:nvSpPr>
        <p:spPr>
          <a:xfrm>
            <a:off x="7223760" y="4343400"/>
            <a:ext cx="429768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39" name="!!axyl"/>
          <p:cNvSpPr txBox="1"/>
          <p:nvPr/>
        </p:nvSpPr>
        <p:spPr>
          <a:xfrm>
            <a:off x="704088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a:t>
            </a:r>
            <a:endParaRPr lang="en-US" sz="1100" dirty="0"/>
          </a:p>
        </p:txBody>
      </p:sp>
      <p:sp>
        <p:nvSpPr>
          <p:cNvPr id="40" name="!!gsPlanar"/>
          <p:cNvSpPr/>
          <p:nvPr/>
        </p:nvSpPr>
        <p:spPr>
          <a:xfrm>
            <a:off x="7223760" y="1868223"/>
            <a:ext cx="4297680" cy="862057"/>
          </a:xfrm>
          <a:custGeom>
            <a:avLst/>
            <a:gdLst/>
            <a:ahLst/>
            <a:cxnLst/>
            <a:rect l="l" t="t" r="r" b="b"/>
            <a:pathLst>
              <a:path w="4297680" h="862057">
                <a:moveTo>
                  <a:pt x="0" y="862057"/>
                </a:moveTo>
                <a:lnTo>
                  <a:pt x="153489" y="791433"/>
                </a:lnTo>
                <a:lnTo>
                  <a:pt x="306977" y="725515"/>
                </a:lnTo>
                <a:lnTo>
                  <a:pt x="460466" y="664374"/>
                </a:lnTo>
                <a:lnTo>
                  <a:pt x="613954" y="607945"/>
                </a:lnTo>
                <a:lnTo>
                  <a:pt x="767443" y="556041"/>
                </a:lnTo>
                <a:lnTo>
                  <a:pt x="920931" y="508392"/>
                </a:lnTo>
                <a:lnTo>
                  <a:pt x="1074420" y="464670"/>
                </a:lnTo>
                <a:lnTo>
                  <a:pt x="1227909" y="424523"/>
                </a:lnTo>
                <a:lnTo>
                  <a:pt x="1381397" y="387599"/>
                </a:lnTo>
                <a:lnTo>
                  <a:pt x="1534886" y="353560"/>
                </a:lnTo>
                <a:lnTo>
                  <a:pt x="1688374" y="322093"/>
                </a:lnTo>
                <a:lnTo>
                  <a:pt x="1841863" y="292913"/>
                </a:lnTo>
                <a:lnTo>
                  <a:pt x="1995351" y="265766"/>
                </a:lnTo>
                <a:lnTo>
                  <a:pt x="2148840" y="240430"/>
                </a:lnTo>
                <a:lnTo>
                  <a:pt x="2302329" y="216708"/>
                </a:lnTo>
                <a:lnTo>
                  <a:pt x="2455817" y="194427"/>
                </a:lnTo>
                <a:lnTo>
                  <a:pt x="2609306" y="173439"/>
                </a:lnTo>
                <a:lnTo>
                  <a:pt x="2762794" y="153613"/>
                </a:lnTo>
                <a:lnTo>
                  <a:pt x="2916283" y="134836"/>
                </a:lnTo>
                <a:lnTo>
                  <a:pt x="3069771" y="117008"/>
                </a:lnTo>
                <a:lnTo>
                  <a:pt x="3223260" y="100041"/>
                </a:lnTo>
                <a:lnTo>
                  <a:pt x="3376749" y="83861"/>
                </a:lnTo>
                <a:lnTo>
                  <a:pt x="3530237" y="68398"/>
                </a:lnTo>
                <a:lnTo>
                  <a:pt x="3683726" y="53595"/>
                </a:lnTo>
                <a:lnTo>
                  <a:pt x="3837214" y="39398"/>
                </a:lnTo>
                <a:lnTo>
                  <a:pt x="3990703" y="25760"/>
                </a:lnTo>
                <a:lnTo>
                  <a:pt x="4144191" y="12640"/>
                </a:lnTo>
                <a:lnTo>
                  <a:pt x="4297680" y="0"/>
                </a:lnTo>
              </a:path>
            </a:pathLst>
          </a:custGeom>
          <a:ln w="19050">
            <a:solidFill>
              <a:srgbClr val="D9DCE3"/>
            </a:solidFill>
            <a:prstDash val="dash"/>
          </a:ln>
        </p:spPr>
      </p:sp>
      <p:sp>
        <p:nvSpPr>
          <p:cNvPr id="41" name="!!gsPlanarL"/>
          <p:cNvSpPr txBox="1"/>
          <p:nvPr/>
        </p:nvSpPr>
        <p:spPr>
          <a:xfrm>
            <a:off x="7346551" y="2455960"/>
            <a:ext cx="1280160" cy="201168"/>
          </a:xfrm>
          <a:prstGeom prst="rect">
            <a:avLst/>
          </a:prstGeom>
          <a:noFill/>
          <a:ln/>
        </p:spPr>
        <p:txBody>
          <a:bodyPr wrap="square" lIns="0" tIns="0" rIns="0" bIns="0" rtlCol="0" anchor="t"/>
          <a:lstStyle/>
          <a:p>
            <a:pPr algn="l" indent="0" marL="0">
              <a:buNone/>
            </a:pPr>
            <a:r>
              <a:rPr lang="en-US" sz="900" dirty="0">
                <a:solidFill>
                  <a:srgbClr val="8A8D93"/>
                </a:solidFill>
                <a:latin typeface="Segoe UI" pitchFamily="34" charset="0"/>
                <a:ea typeface="Segoe UI" pitchFamily="34" charset="-122"/>
                <a:cs typeface="Segoe UI" pitchFamily="34" charset="-120"/>
              </a:rPr>
              <a:t>planar at 14 nm</a:t>
            </a:r>
            <a:endParaRPr lang="en-US" sz="900" dirty="0"/>
          </a:p>
        </p:txBody>
      </p:sp>
      <p:sp>
        <p:nvSpPr>
          <p:cNvPr id="42" name="!!ivGhost"/>
          <p:cNvSpPr/>
          <p:nvPr/>
        </p:nvSpPr>
        <p:spPr>
          <a:xfrm>
            <a:off x="7223760" y="1913989"/>
            <a:ext cx="4297680" cy="1840078"/>
          </a:xfrm>
          <a:custGeom>
            <a:avLst/>
            <a:gdLst/>
            <a:ahLst/>
            <a:cxnLst/>
            <a:rect l="l" t="t" r="r" b="b"/>
            <a:pathLst>
              <a:path w="4297680" h="1840078">
                <a:moveTo>
                  <a:pt x="0" y="1840078"/>
                </a:moveTo>
                <a:lnTo>
                  <a:pt x="153489" y="1697842"/>
                </a:lnTo>
                <a:lnTo>
                  <a:pt x="306977" y="1552454"/>
                </a:lnTo>
                <a:lnTo>
                  <a:pt x="460466" y="1406152"/>
                </a:lnTo>
                <a:lnTo>
                  <a:pt x="613954" y="1260051"/>
                </a:lnTo>
                <a:lnTo>
                  <a:pt x="767443" y="1114998"/>
                </a:lnTo>
                <a:lnTo>
                  <a:pt x="920931" y="972166"/>
                </a:lnTo>
                <a:lnTo>
                  <a:pt x="1074420" y="834709"/>
                </a:lnTo>
                <a:lnTo>
                  <a:pt x="1227909" y="706556"/>
                </a:lnTo>
                <a:lnTo>
                  <a:pt x="1381397" y="590851"/>
                </a:lnTo>
                <a:lnTo>
                  <a:pt x="1534886" y="490066"/>
                </a:lnTo>
                <a:lnTo>
                  <a:pt x="1688374" y="409523"/>
                </a:lnTo>
                <a:lnTo>
                  <a:pt x="1841863" y="349453"/>
                </a:lnTo>
                <a:lnTo>
                  <a:pt x="1995351" y="304873"/>
                </a:lnTo>
                <a:lnTo>
                  <a:pt x="2148840" y="268360"/>
                </a:lnTo>
                <a:lnTo>
                  <a:pt x="2302329" y="236425"/>
                </a:lnTo>
                <a:lnTo>
                  <a:pt x="2455817" y="207803"/>
                </a:lnTo>
                <a:lnTo>
                  <a:pt x="2609306" y="181881"/>
                </a:lnTo>
                <a:lnTo>
                  <a:pt x="2762794" y="158244"/>
                </a:lnTo>
                <a:lnTo>
                  <a:pt x="2916283" y="136586"/>
                </a:lnTo>
                <a:lnTo>
                  <a:pt x="3069771" y="116655"/>
                </a:lnTo>
                <a:lnTo>
                  <a:pt x="3223260" y="98246"/>
                </a:lnTo>
                <a:lnTo>
                  <a:pt x="3376749" y="81182"/>
                </a:lnTo>
                <a:lnTo>
                  <a:pt x="3530237" y="65314"/>
                </a:lnTo>
                <a:lnTo>
                  <a:pt x="3683726" y="50515"/>
                </a:lnTo>
                <a:lnTo>
                  <a:pt x="3837214" y="36674"/>
                </a:lnTo>
                <a:lnTo>
                  <a:pt x="3990703" y="23694"/>
                </a:lnTo>
                <a:lnTo>
                  <a:pt x="4144191" y="11494"/>
                </a:lnTo>
                <a:lnTo>
                  <a:pt x="4297680" y="0"/>
                </a:lnTo>
              </a:path>
            </a:pathLst>
          </a:custGeom>
          <a:ln w="25400">
            <a:solidFill>
              <a:srgbClr val="C9CCD3"/>
            </a:solidFill>
            <a:prstDash val="solid"/>
          </a:ln>
        </p:spPr>
      </p:sp>
      <p:sp>
        <p:nvSpPr>
          <p:cNvPr id="43" name="!!ivTrail"/>
          <p:cNvSpPr/>
          <p:nvPr/>
        </p:nvSpPr>
        <p:spPr>
          <a:xfrm>
            <a:off x="7223760" y="3611831"/>
            <a:ext cx="153489" cy="142235"/>
          </a:xfrm>
          <a:custGeom>
            <a:avLst/>
            <a:gdLst/>
            <a:ahLst/>
            <a:cxnLst/>
            <a:rect l="l" t="t" r="r" b="b"/>
            <a:pathLst>
              <a:path w="153489" h="142235">
                <a:moveTo>
                  <a:pt x="0" y="142235"/>
                </a:moveTo>
                <a:lnTo>
                  <a:pt x="153489" y="0"/>
                </a:lnTo>
              </a:path>
            </a:pathLst>
          </a:custGeom>
          <a:ln w="38100">
            <a:solidFill>
              <a:srgbClr val="2E9E4F"/>
            </a:solidFill>
            <a:prstDash val="solid"/>
          </a:ln>
        </p:spPr>
      </p:sp>
      <p:sp>
        <p:nvSpPr>
          <p:cNvPr id="44" name="!!ivPt"/>
          <p:cNvSpPr/>
          <p:nvPr/>
        </p:nvSpPr>
        <p:spPr>
          <a:xfrm>
            <a:off x="7141464" y="3671770"/>
            <a:ext cx="164592" cy="164592"/>
          </a:xfrm>
          <a:prstGeom prst="ellipse">
            <a:avLst/>
          </a:prstGeom>
          <a:solidFill>
            <a:srgbClr val="D64545"/>
          </a:solidFill>
          <a:ln w="19050">
            <a:solidFill>
              <a:srgbClr val="FFFFFF"/>
            </a:solidFill>
            <a:prstDash val="solid"/>
          </a:ln>
        </p:spPr>
      </p:sp>
      <p:sp>
        <p:nvSpPr>
          <p:cNvPr id="45" name="!!ivPtL"/>
          <p:cNvSpPr txBox="1"/>
          <p:nvPr/>
        </p:nvSpPr>
        <p:spPr>
          <a:xfrm>
            <a:off x="6309360" y="3424882"/>
            <a:ext cx="868680" cy="219456"/>
          </a:xfrm>
          <a:prstGeom prst="rect">
            <a:avLst/>
          </a:prstGeom>
          <a:noFill/>
          <a:ln/>
        </p:spPr>
        <p:txBody>
          <a:bodyPr wrap="square" lIns="0" tIns="0" rIns="0" bIns="0" rtlCol="0" anchor="t"/>
          <a:lstStyle/>
          <a:p>
            <a:pPr algn="r" indent="0" marL="0">
              <a:buNone/>
            </a:pPr>
            <a:r>
              <a:rPr lang="en-US" sz="1100" dirty="0">
                <a:solidFill>
                  <a:srgbClr val="D64545"/>
                </a:solidFill>
                <a:latin typeface="Segoe UI Semibold" pitchFamily="34" charset="0"/>
                <a:ea typeface="Segoe UI Semibold" pitchFamily="34" charset="-122"/>
                <a:cs typeface="Segoe UI Semibold" pitchFamily="34" charset="-120"/>
              </a:rPr>
              <a:t>624 pA</a:t>
            </a:r>
            <a:endParaRPr lang="en-US" sz="1100" dirty="0"/>
          </a:p>
        </p:txBody>
      </p:sp>
      <p:sp>
        <p:nvSpPr>
          <p:cNvPr id="46" name="!!ivRead"/>
          <p:cNvSpPr txBox="1"/>
          <p:nvPr/>
        </p:nvSpPr>
        <p:spPr>
          <a:xfrm>
            <a:off x="6858000" y="4572000"/>
            <a:ext cx="4754880" cy="256032"/>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G</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0.00 V     I</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624 pA</a:t>
            </a:r>
            <a:endParaRPr lang="en-US" sz="1400" dirty="0"/>
          </a:p>
        </p:txBody>
      </p:sp>
      <p:sp>
        <p:nvSpPr>
          <p:cNvPr id="47" name="!!ivReg"/>
          <p:cNvSpPr txBox="1"/>
          <p:nvPr/>
        </p:nvSpPr>
        <p:spPr>
          <a:xfrm>
            <a:off x="6858000" y="4818888"/>
            <a:ext cx="4754880" cy="219456"/>
          </a:xfrm>
          <a:prstGeom prst="rect">
            <a:avLst/>
          </a:prstGeom>
          <a:noFill/>
          <a:ln/>
        </p:spPr>
        <p:txBody>
          <a:bodyPr wrap="square" lIns="0" tIns="0" rIns="0" bIns="0" rtlCol="0" anchor="t"/>
          <a:lstStyle/>
          <a:p>
            <a:pPr algn="l" indent="0" marL="0">
              <a:buNone/>
            </a:pPr>
            <a:r>
              <a:rPr lang="en-US" sz="1100" dirty="0">
                <a:solidFill>
                  <a:srgbClr val="D64545"/>
                </a:solidFill>
                <a:latin typeface="Segoe UI Semibold" pitchFamily="34" charset="0"/>
                <a:ea typeface="Segoe UI Semibold" pitchFamily="34" charset="-122"/>
                <a:cs typeface="Segoe UI Semibold" pitchFamily="34" charset="-120"/>
              </a:rPr>
              <a:t>OFF: I</a:t>
            </a:r>
            <a:pPr algn="l" indent="0" marL="0">
              <a:buNone/>
            </a:pPr>
            <a:r>
              <a:rPr lang="en-US" sz="1100" baseline="-40000" dirty="0">
                <a:solidFill>
                  <a:srgbClr val="D64545"/>
                </a:solidFill>
                <a:latin typeface="Segoe UI Semibold" pitchFamily="34" charset="0"/>
                <a:ea typeface="Segoe UI Semibold" pitchFamily="34" charset="-122"/>
                <a:cs typeface="Segoe UI Semibold" pitchFamily="34" charset="-120"/>
              </a:rPr>
              <a:t>off</a:t>
            </a:r>
            <a:pPr algn="l" indent="0" marL="0">
              <a:buNone/>
            </a:pPr>
            <a:r>
              <a:rPr lang="en-US" sz="1100" dirty="0">
                <a:solidFill>
                  <a:srgbClr val="D64545"/>
                </a:solidFill>
                <a:latin typeface="Segoe UI Semibold" pitchFamily="34" charset="0"/>
                <a:ea typeface="Segoe UI Semibold" pitchFamily="34" charset="-122"/>
                <a:cs typeface="Segoe UI Semibold" pitchFamily="34" charset="-120"/>
              </a:rPr>
              <a:t> = 624 pA</a:t>
            </a:r>
            <a:endParaRPr lang="en-US" sz="1100" dirty="0"/>
          </a:p>
        </p:txBody>
      </p:sp>
      <p:sp>
        <p:nvSpPr>
          <p:cNvPr id="48" name="!!knobLbl"/>
          <p:cNvSpPr txBox="1"/>
          <p:nvPr/>
        </p:nvSpPr>
        <p:spPr>
          <a:xfrm>
            <a:off x="7022592" y="507492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0.0 V</a:t>
            </a:r>
            <a:endParaRPr lang="en-US" sz="1200" dirty="0"/>
          </a:p>
        </p:txBody>
      </p:sp>
      <p:sp>
        <p:nvSpPr>
          <p:cNvPr id="49" name="!!knobTrack"/>
          <p:cNvSpPr/>
          <p:nvPr/>
        </p:nvSpPr>
        <p:spPr>
          <a:xfrm>
            <a:off x="7040880" y="5458968"/>
            <a:ext cx="4480560" cy="54864"/>
          </a:xfrm>
          <a:prstGeom prst="roundRect">
            <a:avLst>
              <a:gd name="adj" fmla="val 50000"/>
            </a:avLst>
          </a:prstGeom>
          <a:solidFill>
            <a:srgbClr val="E2E3E3"/>
          </a:solidFill>
          <a:ln/>
        </p:spPr>
      </p:sp>
      <p:sp>
        <p:nvSpPr>
          <p:cNvPr id="50" name="!!knobFill"/>
          <p:cNvSpPr/>
          <p:nvPr/>
        </p:nvSpPr>
        <p:spPr>
          <a:xfrm>
            <a:off x="7040880" y="5458968"/>
            <a:ext cx="18288" cy="54864"/>
          </a:xfrm>
          <a:prstGeom prst="roundRect">
            <a:avLst>
              <a:gd name="adj" fmla="val 150000"/>
            </a:avLst>
          </a:prstGeom>
          <a:solidFill>
            <a:srgbClr val="6B5BC4"/>
          </a:solidFill>
          <a:ln/>
        </p:spPr>
      </p:sp>
      <p:sp>
        <p:nvSpPr>
          <p:cNvPr id="51" name="!!knobT0"/>
          <p:cNvSpPr txBox="1"/>
          <p:nvPr/>
        </p:nvSpPr>
        <p:spPr>
          <a:xfrm>
            <a:off x="667512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52" name="!!knobT1"/>
          <p:cNvSpPr txBox="1"/>
          <p:nvPr/>
        </p:nvSpPr>
        <p:spPr>
          <a:xfrm>
            <a:off x="795528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53" name="!!knobT2"/>
          <p:cNvSpPr txBox="1"/>
          <p:nvPr/>
        </p:nvSpPr>
        <p:spPr>
          <a:xfrm>
            <a:off x="923544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54" name="!!knobT3"/>
          <p:cNvSpPr txBox="1"/>
          <p:nvPr/>
        </p:nvSpPr>
        <p:spPr>
          <a:xfrm>
            <a:off x="1051560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55" name="!!knobT4"/>
          <p:cNvSpPr txBox="1"/>
          <p:nvPr/>
        </p:nvSpPr>
        <p:spPr>
          <a:xfrm>
            <a:off x="1115568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56" name="!!knobThumb"/>
          <p:cNvSpPr/>
          <p:nvPr/>
        </p:nvSpPr>
        <p:spPr>
          <a:xfrm>
            <a:off x="6940296" y="5385816"/>
            <a:ext cx="201168" cy="201168"/>
          </a:xfrm>
          <a:prstGeom prst="ellipse">
            <a:avLst/>
          </a:prstGeom>
          <a:solidFill>
            <a:srgbClr val="FFFFFF"/>
          </a:solidFill>
          <a:ln w="28575">
            <a:solidFill>
              <a:srgbClr val="6B5BC4"/>
            </a:solidFill>
            <a:prstDash val="solid"/>
          </a:ln>
        </p:spPr>
      </p:sp>
      <p:sp>
        <p:nvSpPr>
          <p:cNvPr id="5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V</a:t>
            </a:r>
            <a:pPr algn="ctr" indent="0" marL="0">
              <a:buNone/>
            </a:pPr>
            <a:r>
              <a:rPr lang="en-US" sz="1600" baseline="-40000" dirty="0">
                <a:solidFill>
                  <a:srgbClr val="171A20"/>
                </a:solidFill>
                <a:latin typeface="Segoe UI" pitchFamily="34" charset="0"/>
                <a:ea typeface="Segoe UI" pitchFamily="34" charset="-122"/>
                <a:cs typeface="Segoe UI" pitchFamily="34" charset="-120"/>
              </a:rPr>
              <a:t>G</a:t>
            </a:r>
            <a:pPr algn="ctr" indent="0" marL="0">
              <a:buNone/>
            </a:pPr>
            <a:r>
              <a:rPr lang="en-US" sz="1600" dirty="0">
                <a:solidFill>
                  <a:srgbClr val="171A20"/>
                </a:solidFill>
                <a:latin typeface="Segoe UI" pitchFamily="34" charset="0"/>
                <a:ea typeface="Segoe UI" pitchFamily="34" charset="-122"/>
                <a:cs typeface="Segoe UI" pitchFamily="34" charset="-120"/>
              </a:rPr>
              <a:t> = 0: the gate holds the hill high all round the wire. Leakage: 624 pA.</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67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Turning the gate in our wire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Reproduced GAA wire (r = 5.64 nm, L</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14 nm): Silvaco Atlas data,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171A20"/>
          </a:solidFill>
          <a:ln/>
        </p:spPr>
      </p:sp>
      <p:sp>
        <p:nvSpPr>
          <p:cNvPr id="6" name="!!sdot2"/>
          <p:cNvSpPr/>
          <p:nvPr/>
        </p:nvSpPr>
        <p:spPr>
          <a:xfrm>
            <a:off x="11132820" y="525780"/>
            <a:ext cx="82296" cy="82296"/>
          </a:xfrm>
          <a:prstGeom prst="ellipse">
            <a:avLst/>
          </a:prstGeom>
          <a:solidFill>
            <a:srgbClr val="E2E3E3"/>
          </a:solidFill>
          <a:ln/>
        </p:spPr>
      </p:sp>
      <p:sp>
        <p:nvSpPr>
          <p:cNvPr id="7" name="!!sdot3"/>
          <p:cNvSpPr/>
          <p:nvPr/>
        </p:nvSpPr>
        <p:spPr>
          <a:xfrm>
            <a:off x="11288268" y="525780"/>
            <a:ext cx="82296" cy="82296"/>
          </a:xfrm>
          <a:prstGeom prst="ellipse">
            <a:avLst/>
          </a:prstGeom>
          <a:solidFill>
            <a:srgbClr val="E2E3E3"/>
          </a:solidFill>
          <a:ln/>
        </p:spPr>
      </p:sp>
      <p:sp>
        <p:nvSpPr>
          <p:cNvPr id="8" name="!!sdot4"/>
          <p:cNvSpPr/>
          <p:nvPr/>
        </p:nvSpPr>
        <p:spPr>
          <a:xfrm>
            <a:off x="11443716" y="525780"/>
            <a:ext cx="82296" cy="82296"/>
          </a:xfrm>
          <a:prstGeom prst="ellipse">
            <a:avLst/>
          </a:prstGeom>
          <a:solidFill>
            <a:srgbClr val="E2E3E3"/>
          </a:solidFill>
          <a:ln/>
        </p:spPr>
      </p:sp>
      <p:sp>
        <p:nvSpPr>
          <p:cNvPr id="9" name="!!sdot5"/>
          <p:cNvSpPr/>
          <p:nvPr/>
        </p:nvSpPr>
        <p:spPr>
          <a:xfrm>
            <a:off x="11599164" y="525780"/>
            <a:ext cx="82296" cy="82296"/>
          </a:xfrm>
          <a:prstGeom prst="ellipse">
            <a:avLst/>
          </a:prstGeom>
          <a:solidFill>
            <a:srgbClr val="E2E3E3"/>
          </a:solidFill>
          <a:ln/>
        </p:spPr>
      </p:sp>
      <p:sp>
        <p:nvSpPr>
          <p:cNvPr id="10" name="!!gsG"/>
          <p:cNvSpPr/>
          <p:nvPr/>
        </p:nvSpPr>
        <p:spPr>
          <a:xfrm>
            <a:off x="777240" y="1874520"/>
            <a:ext cx="2834640" cy="2834640"/>
          </a:xfrm>
          <a:prstGeom prst="ellipse">
            <a:avLst/>
          </a:prstGeom>
          <a:solidFill>
            <a:srgbClr val="B3A6E6"/>
          </a:solidFill>
          <a:ln/>
        </p:spPr>
      </p:sp>
      <p:sp>
        <p:nvSpPr>
          <p:cNvPr id="11" name="!!gsH"/>
          <p:cNvSpPr/>
          <p:nvPr/>
        </p:nvSpPr>
        <p:spPr>
          <a:xfrm>
            <a:off x="1143000" y="2240280"/>
            <a:ext cx="2103120" cy="2103120"/>
          </a:xfrm>
          <a:prstGeom prst="ellipse">
            <a:avLst/>
          </a:prstGeom>
          <a:solidFill>
            <a:srgbClr val="8FCBE0"/>
          </a:solidFill>
          <a:ln/>
        </p:spPr>
      </p:sp>
      <p:sp>
        <p:nvSpPr>
          <p:cNvPr id="12" name="!!gsO"/>
          <p:cNvSpPr/>
          <p:nvPr/>
        </p:nvSpPr>
        <p:spPr>
          <a:xfrm>
            <a:off x="1261872" y="2359152"/>
            <a:ext cx="1865376" cy="1865376"/>
          </a:xfrm>
          <a:prstGeom prst="ellipse">
            <a:avLst/>
          </a:prstGeom>
          <a:solidFill>
            <a:srgbClr val="CDEBF5"/>
          </a:solidFill>
          <a:ln/>
        </p:spPr>
      </p:sp>
      <p:sp>
        <p:nvSpPr>
          <p:cNvPr id="13" name="!!gsE"/>
          <p:cNvSpPr/>
          <p:nvPr/>
        </p:nvSpPr>
        <p:spPr>
          <a:xfrm>
            <a:off x="1371600" y="2468880"/>
            <a:ext cx="1645920" cy="1645920"/>
          </a:xfrm>
          <a:prstGeom prst="ellipse">
            <a:avLst/>
          </a:prstGeom>
          <a:solidFill>
            <a:srgbClr val="1F2F6B">
              <a:alpha val="0"/>
            </a:srgbClr>
          </a:solidFill>
          <a:ln/>
        </p:spPr>
      </p:sp>
      <p:sp>
        <p:nvSpPr>
          <p:cNvPr id="14" name="!!gsS"/>
          <p:cNvSpPr/>
          <p:nvPr/>
        </p:nvSpPr>
        <p:spPr>
          <a:xfrm>
            <a:off x="1371600" y="2468880"/>
            <a:ext cx="1645920" cy="1645920"/>
          </a:xfrm>
          <a:prstGeom prst="ellipse">
            <a:avLst/>
          </a:prstGeom>
          <a:solidFill>
            <a:srgbClr val="F6E7B8"/>
          </a:solidFill>
          <a:ln/>
        </p:spPr>
      </p:sp>
      <p:sp>
        <p:nvSpPr>
          <p:cNvPr id="15" name="!!gsL"/>
          <p:cNvSpPr txBox="1"/>
          <p:nvPr/>
        </p:nvSpPr>
        <p:spPr>
          <a:xfrm>
            <a:off x="548640" y="4892040"/>
            <a:ext cx="3291840" cy="27432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wire cross-section (gate all round)</a:t>
            </a:r>
            <a:endParaRPr lang="en-US" sz="1100" dirty="0"/>
          </a:p>
        </p:txBody>
      </p:sp>
      <p:sp>
        <p:nvSpPr>
          <p:cNvPr id="16" name="!!gsLg0"/>
          <p:cNvSpPr/>
          <p:nvPr/>
        </p:nvSpPr>
        <p:spPr>
          <a:xfrm>
            <a:off x="4023360" y="2194560"/>
            <a:ext cx="201168" cy="201168"/>
          </a:xfrm>
          <a:prstGeom prst="rect">
            <a:avLst/>
          </a:prstGeom>
          <a:solidFill>
            <a:srgbClr val="B3A6E6"/>
          </a:solidFill>
          <a:ln/>
        </p:spPr>
      </p:sp>
      <p:sp>
        <p:nvSpPr>
          <p:cNvPr id="17" name="!!gsLgt0"/>
          <p:cNvSpPr txBox="1"/>
          <p:nvPr/>
        </p:nvSpPr>
        <p:spPr>
          <a:xfrm>
            <a:off x="4315968" y="2167128"/>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gate</a:t>
            </a:r>
            <a:endParaRPr lang="en-US" sz="1100" dirty="0"/>
          </a:p>
        </p:txBody>
      </p:sp>
      <p:sp>
        <p:nvSpPr>
          <p:cNvPr id="18" name="!!gsLg1"/>
          <p:cNvSpPr/>
          <p:nvPr/>
        </p:nvSpPr>
        <p:spPr>
          <a:xfrm>
            <a:off x="4023360" y="2578608"/>
            <a:ext cx="201168" cy="201168"/>
          </a:xfrm>
          <a:prstGeom prst="rect">
            <a:avLst/>
          </a:prstGeom>
          <a:solidFill>
            <a:srgbClr val="8FCBE0"/>
          </a:solidFill>
          <a:ln/>
        </p:spPr>
      </p:sp>
      <p:sp>
        <p:nvSpPr>
          <p:cNvPr id="19" name="!!gsLgt1"/>
          <p:cNvSpPr txBox="1"/>
          <p:nvPr/>
        </p:nvSpPr>
        <p:spPr>
          <a:xfrm>
            <a:off x="4315968" y="2551176"/>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HfO2 / SiO2</a:t>
            </a:r>
            <a:endParaRPr lang="en-US" sz="1100" dirty="0"/>
          </a:p>
        </p:txBody>
      </p:sp>
      <p:sp>
        <p:nvSpPr>
          <p:cNvPr id="20" name="!!gsLg2"/>
          <p:cNvSpPr/>
          <p:nvPr/>
        </p:nvSpPr>
        <p:spPr>
          <a:xfrm>
            <a:off x="4023360" y="2962656"/>
            <a:ext cx="201168" cy="201168"/>
          </a:xfrm>
          <a:prstGeom prst="rect">
            <a:avLst/>
          </a:prstGeom>
          <a:solidFill>
            <a:srgbClr val="F6E7B8"/>
          </a:solidFill>
          <a:ln/>
        </p:spPr>
      </p:sp>
      <p:sp>
        <p:nvSpPr>
          <p:cNvPr id="21" name="!!gsLgt2"/>
          <p:cNvSpPr txBox="1"/>
          <p:nvPr/>
        </p:nvSpPr>
        <p:spPr>
          <a:xfrm>
            <a:off x="4315968" y="2935224"/>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silicon</a:t>
            </a:r>
            <a:endParaRPr lang="en-US" sz="1100" dirty="0"/>
          </a:p>
        </p:txBody>
      </p:sp>
      <p:sp>
        <p:nvSpPr>
          <p:cNvPr id="22" name="!!gsLg3"/>
          <p:cNvSpPr/>
          <p:nvPr/>
        </p:nvSpPr>
        <p:spPr>
          <a:xfrm>
            <a:off x="4023360" y="3346704"/>
            <a:ext cx="201168" cy="201168"/>
          </a:xfrm>
          <a:prstGeom prst="rect">
            <a:avLst/>
          </a:prstGeom>
          <a:solidFill>
            <a:srgbClr val="1F2F6B"/>
          </a:solidFill>
          <a:ln/>
        </p:spPr>
      </p:sp>
      <p:sp>
        <p:nvSpPr>
          <p:cNvPr id="23" name="!!gsLgt3"/>
          <p:cNvSpPr txBox="1"/>
          <p:nvPr/>
        </p:nvSpPr>
        <p:spPr>
          <a:xfrm>
            <a:off x="4315968" y="3319272"/>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electrons</a:t>
            </a:r>
            <a:endParaRPr lang="en-US" sz="1100" dirty="0"/>
          </a:p>
        </p:txBody>
      </p:sp>
      <p:sp>
        <p:nvSpPr>
          <p:cNvPr id="24" name="!!axg0"/>
          <p:cNvSpPr/>
          <p:nvPr/>
        </p:nvSpPr>
        <p:spPr>
          <a:xfrm>
            <a:off x="7223760" y="4069080"/>
            <a:ext cx="4297680" cy="91"/>
          </a:xfrm>
          <a:prstGeom prst="line">
            <a:avLst/>
          </a:prstGeom>
          <a:noFill/>
          <a:ln w="9525">
            <a:solidFill>
              <a:srgbClr val="EDEEF0"/>
            </a:solidFill>
            <a:prstDash val="solid"/>
          </a:ln>
        </p:spPr>
      </p:sp>
      <p:sp>
        <p:nvSpPr>
          <p:cNvPr id="25" name="!!axg1"/>
          <p:cNvSpPr/>
          <p:nvPr/>
        </p:nvSpPr>
        <p:spPr>
          <a:xfrm>
            <a:off x="7223760" y="3276600"/>
            <a:ext cx="4297680" cy="91"/>
          </a:xfrm>
          <a:prstGeom prst="line">
            <a:avLst/>
          </a:prstGeom>
          <a:noFill/>
          <a:ln w="9525">
            <a:solidFill>
              <a:srgbClr val="EDEEF0"/>
            </a:solidFill>
            <a:prstDash val="solid"/>
          </a:ln>
        </p:spPr>
      </p:sp>
      <p:sp>
        <p:nvSpPr>
          <p:cNvPr id="26" name="!!axg2"/>
          <p:cNvSpPr/>
          <p:nvPr/>
        </p:nvSpPr>
        <p:spPr>
          <a:xfrm>
            <a:off x="7223760" y="2484120"/>
            <a:ext cx="4297680" cy="91"/>
          </a:xfrm>
          <a:prstGeom prst="line">
            <a:avLst/>
          </a:prstGeom>
          <a:noFill/>
          <a:ln w="9525">
            <a:solidFill>
              <a:srgbClr val="EDEEF0"/>
            </a:solidFill>
            <a:prstDash val="solid"/>
          </a:ln>
        </p:spPr>
      </p:sp>
      <p:sp>
        <p:nvSpPr>
          <p:cNvPr id="27" name="!!axg3"/>
          <p:cNvSpPr/>
          <p:nvPr/>
        </p:nvSpPr>
        <p:spPr>
          <a:xfrm>
            <a:off x="7223760" y="1691640"/>
            <a:ext cx="4297680" cy="91"/>
          </a:xfrm>
          <a:prstGeom prst="line">
            <a:avLst/>
          </a:prstGeom>
          <a:noFill/>
          <a:ln w="9525">
            <a:solidFill>
              <a:srgbClr val="EDEEF0"/>
            </a:solidFill>
            <a:prstDash val="solid"/>
          </a:ln>
        </p:spPr>
      </p:sp>
      <p:sp>
        <p:nvSpPr>
          <p:cNvPr id="28" name="!!axxa"/>
          <p:cNvSpPr/>
          <p:nvPr/>
        </p:nvSpPr>
        <p:spPr>
          <a:xfrm>
            <a:off x="7223760" y="4069080"/>
            <a:ext cx="4297680" cy="91"/>
          </a:xfrm>
          <a:prstGeom prst="line">
            <a:avLst/>
          </a:prstGeom>
          <a:noFill/>
          <a:ln w="12700">
            <a:solidFill>
              <a:srgbClr val="8A8D93"/>
            </a:solidFill>
            <a:prstDash val="solid"/>
          </a:ln>
        </p:spPr>
      </p:sp>
      <p:sp>
        <p:nvSpPr>
          <p:cNvPr id="29" name="!!axya"/>
          <p:cNvSpPr/>
          <p:nvPr/>
        </p:nvSpPr>
        <p:spPr>
          <a:xfrm>
            <a:off x="7223760" y="1691640"/>
            <a:ext cx="91" cy="2377440"/>
          </a:xfrm>
          <a:prstGeom prst="line">
            <a:avLst/>
          </a:prstGeom>
          <a:noFill/>
          <a:ln w="12700">
            <a:solidFill>
              <a:srgbClr val="8A8D93"/>
            </a:solidFill>
            <a:prstDash val="solid"/>
          </a:ln>
        </p:spPr>
      </p:sp>
      <p:sp>
        <p:nvSpPr>
          <p:cNvPr id="30" name="!!axxt0"/>
          <p:cNvSpPr txBox="1"/>
          <p:nvPr/>
        </p:nvSpPr>
        <p:spPr>
          <a:xfrm>
            <a:off x="690372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31" name="!!axxt1"/>
          <p:cNvSpPr txBox="1"/>
          <p:nvPr/>
        </p:nvSpPr>
        <p:spPr>
          <a:xfrm>
            <a:off x="8131629"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32" name="!!axxt2"/>
          <p:cNvSpPr txBox="1"/>
          <p:nvPr/>
        </p:nvSpPr>
        <p:spPr>
          <a:xfrm>
            <a:off x="9359537"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33" name="!!axxt3"/>
          <p:cNvSpPr txBox="1"/>
          <p:nvPr/>
        </p:nvSpPr>
        <p:spPr>
          <a:xfrm>
            <a:off x="10587446"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34" name="!!axyt0"/>
          <p:cNvSpPr txBox="1"/>
          <p:nvPr/>
        </p:nvSpPr>
        <p:spPr>
          <a:xfrm>
            <a:off x="6537960" y="39684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35" name="!!axyt1"/>
          <p:cNvSpPr txBox="1"/>
          <p:nvPr/>
        </p:nvSpPr>
        <p:spPr>
          <a:xfrm>
            <a:off x="6537960" y="31760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36" name="!!axyt2"/>
          <p:cNvSpPr txBox="1"/>
          <p:nvPr/>
        </p:nvSpPr>
        <p:spPr>
          <a:xfrm>
            <a:off x="6537960" y="23835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37" name="!!axyt3"/>
          <p:cNvSpPr txBox="1"/>
          <p:nvPr/>
        </p:nvSpPr>
        <p:spPr>
          <a:xfrm>
            <a:off x="653796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38" name="!!axxl"/>
          <p:cNvSpPr txBox="1"/>
          <p:nvPr/>
        </p:nvSpPr>
        <p:spPr>
          <a:xfrm>
            <a:off x="7223760" y="4343400"/>
            <a:ext cx="429768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39" name="!!axyl"/>
          <p:cNvSpPr txBox="1"/>
          <p:nvPr/>
        </p:nvSpPr>
        <p:spPr>
          <a:xfrm>
            <a:off x="704088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a:t>
            </a:r>
            <a:endParaRPr lang="en-US" sz="1100" dirty="0"/>
          </a:p>
        </p:txBody>
      </p:sp>
      <p:sp>
        <p:nvSpPr>
          <p:cNvPr id="40" name="!!gsPlanar"/>
          <p:cNvSpPr/>
          <p:nvPr/>
        </p:nvSpPr>
        <p:spPr>
          <a:xfrm>
            <a:off x="7223760" y="1868223"/>
            <a:ext cx="4297680" cy="862057"/>
          </a:xfrm>
          <a:custGeom>
            <a:avLst/>
            <a:gdLst/>
            <a:ahLst/>
            <a:cxnLst/>
            <a:rect l="l" t="t" r="r" b="b"/>
            <a:pathLst>
              <a:path w="4297680" h="862057">
                <a:moveTo>
                  <a:pt x="0" y="862057"/>
                </a:moveTo>
                <a:lnTo>
                  <a:pt x="153489" y="791433"/>
                </a:lnTo>
                <a:lnTo>
                  <a:pt x="306977" y="725515"/>
                </a:lnTo>
                <a:lnTo>
                  <a:pt x="460466" y="664374"/>
                </a:lnTo>
                <a:lnTo>
                  <a:pt x="613954" y="607945"/>
                </a:lnTo>
                <a:lnTo>
                  <a:pt x="767443" y="556041"/>
                </a:lnTo>
                <a:lnTo>
                  <a:pt x="920931" y="508392"/>
                </a:lnTo>
                <a:lnTo>
                  <a:pt x="1074420" y="464670"/>
                </a:lnTo>
                <a:lnTo>
                  <a:pt x="1227909" y="424523"/>
                </a:lnTo>
                <a:lnTo>
                  <a:pt x="1381397" y="387599"/>
                </a:lnTo>
                <a:lnTo>
                  <a:pt x="1534886" y="353560"/>
                </a:lnTo>
                <a:lnTo>
                  <a:pt x="1688374" y="322093"/>
                </a:lnTo>
                <a:lnTo>
                  <a:pt x="1841863" y="292913"/>
                </a:lnTo>
                <a:lnTo>
                  <a:pt x="1995351" y="265766"/>
                </a:lnTo>
                <a:lnTo>
                  <a:pt x="2148840" y="240430"/>
                </a:lnTo>
                <a:lnTo>
                  <a:pt x="2302329" y="216708"/>
                </a:lnTo>
                <a:lnTo>
                  <a:pt x="2455817" y="194427"/>
                </a:lnTo>
                <a:lnTo>
                  <a:pt x="2609306" y="173439"/>
                </a:lnTo>
                <a:lnTo>
                  <a:pt x="2762794" y="153613"/>
                </a:lnTo>
                <a:lnTo>
                  <a:pt x="2916283" y="134836"/>
                </a:lnTo>
                <a:lnTo>
                  <a:pt x="3069771" y="117008"/>
                </a:lnTo>
                <a:lnTo>
                  <a:pt x="3223260" y="100041"/>
                </a:lnTo>
                <a:lnTo>
                  <a:pt x="3376749" y="83861"/>
                </a:lnTo>
                <a:lnTo>
                  <a:pt x="3530237" y="68398"/>
                </a:lnTo>
                <a:lnTo>
                  <a:pt x="3683726" y="53595"/>
                </a:lnTo>
                <a:lnTo>
                  <a:pt x="3837214" y="39398"/>
                </a:lnTo>
                <a:lnTo>
                  <a:pt x="3990703" y="25760"/>
                </a:lnTo>
                <a:lnTo>
                  <a:pt x="4144191" y="12640"/>
                </a:lnTo>
                <a:lnTo>
                  <a:pt x="4297680" y="0"/>
                </a:lnTo>
              </a:path>
            </a:pathLst>
          </a:custGeom>
          <a:ln w="19050">
            <a:solidFill>
              <a:srgbClr val="D9DCE3"/>
            </a:solidFill>
            <a:prstDash val="dash"/>
          </a:ln>
        </p:spPr>
      </p:sp>
      <p:sp>
        <p:nvSpPr>
          <p:cNvPr id="41" name="!!gsPlanarL"/>
          <p:cNvSpPr txBox="1"/>
          <p:nvPr/>
        </p:nvSpPr>
        <p:spPr>
          <a:xfrm>
            <a:off x="7346551" y="2455960"/>
            <a:ext cx="1280160" cy="201168"/>
          </a:xfrm>
          <a:prstGeom prst="rect">
            <a:avLst/>
          </a:prstGeom>
          <a:noFill/>
          <a:ln/>
        </p:spPr>
        <p:txBody>
          <a:bodyPr wrap="square" lIns="0" tIns="0" rIns="0" bIns="0" rtlCol="0" anchor="t"/>
          <a:lstStyle/>
          <a:p>
            <a:pPr algn="l" indent="0" marL="0">
              <a:buNone/>
            </a:pPr>
            <a:r>
              <a:rPr lang="en-US" sz="900" dirty="0">
                <a:solidFill>
                  <a:srgbClr val="8A8D93"/>
                </a:solidFill>
                <a:latin typeface="Segoe UI" pitchFamily="34" charset="0"/>
                <a:ea typeface="Segoe UI" pitchFamily="34" charset="-122"/>
                <a:cs typeface="Segoe UI" pitchFamily="34" charset="-120"/>
              </a:rPr>
              <a:t>planar at 14 nm</a:t>
            </a:r>
            <a:endParaRPr lang="en-US" sz="900" dirty="0"/>
          </a:p>
        </p:txBody>
      </p:sp>
      <p:sp>
        <p:nvSpPr>
          <p:cNvPr id="42" name="!!ivGhost"/>
          <p:cNvSpPr/>
          <p:nvPr/>
        </p:nvSpPr>
        <p:spPr>
          <a:xfrm>
            <a:off x="7223760" y="1913989"/>
            <a:ext cx="4297680" cy="1840078"/>
          </a:xfrm>
          <a:custGeom>
            <a:avLst/>
            <a:gdLst/>
            <a:ahLst/>
            <a:cxnLst/>
            <a:rect l="l" t="t" r="r" b="b"/>
            <a:pathLst>
              <a:path w="4297680" h="1840078">
                <a:moveTo>
                  <a:pt x="0" y="1840078"/>
                </a:moveTo>
                <a:lnTo>
                  <a:pt x="153489" y="1697842"/>
                </a:lnTo>
                <a:lnTo>
                  <a:pt x="306977" y="1552454"/>
                </a:lnTo>
                <a:lnTo>
                  <a:pt x="460466" y="1406152"/>
                </a:lnTo>
                <a:lnTo>
                  <a:pt x="613954" y="1260051"/>
                </a:lnTo>
                <a:lnTo>
                  <a:pt x="767443" y="1114998"/>
                </a:lnTo>
                <a:lnTo>
                  <a:pt x="920931" y="972166"/>
                </a:lnTo>
                <a:lnTo>
                  <a:pt x="1074420" y="834709"/>
                </a:lnTo>
                <a:lnTo>
                  <a:pt x="1227909" y="706556"/>
                </a:lnTo>
                <a:lnTo>
                  <a:pt x="1381397" y="590851"/>
                </a:lnTo>
                <a:lnTo>
                  <a:pt x="1534886" y="490066"/>
                </a:lnTo>
                <a:lnTo>
                  <a:pt x="1688374" y="409523"/>
                </a:lnTo>
                <a:lnTo>
                  <a:pt x="1841863" y="349453"/>
                </a:lnTo>
                <a:lnTo>
                  <a:pt x="1995351" y="304873"/>
                </a:lnTo>
                <a:lnTo>
                  <a:pt x="2148840" y="268360"/>
                </a:lnTo>
                <a:lnTo>
                  <a:pt x="2302329" y="236425"/>
                </a:lnTo>
                <a:lnTo>
                  <a:pt x="2455817" y="207803"/>
                </a:lnTo>
                <a:lnTo>
                  <a:pt x="2609306" y="181881"/>
                </a:lnTo>
                <a:lnTo>
                  <a:pt x="2762794" y="158244"/>
                </a:lnTo>
                <a:lnTo>
                  <a:pt x="2916283" y="136586"/>
                </a:lnTo>
                <a:lnTo>
                  <a:pt x="3069771" y="116655"/>
                </a:lnTo>
                <a:lnTo>
                  <a:pt x="3223260" y="98246"/>
                </a:lnTo>
                <a:lnTo>
                  <a:pt x="3376749" y="81182"/>
                </a:lnTo>
                <a:lnTo>
                  <a:pt x="3530237" y="65314"/>
                </a:lnTo>
                <a:lnTo>
                  <a:pt x="3683726" y="50515"/>
                </a:lnTo>
                <a:lnTo>
                  <a:pt x="3837214" y="36674"/>
                </a:lnTo>
                <a:lnTo>
                  <a:pt x="3990703" y="23694"/>
                </a:lnTo>
                <a:lnTo>
                  <a:pt x="4144191" y="11494"/>
                </a:lnTo>
                <a:lnTo>
                  <a:pt x="4297680" y="0"/>
                </a:lnTo>
              </a:path>
            </a:pathLst>
          </a:custGeom>
          <a:ln w="25400">
            <a:solidFill>
              <a:srgbClr val="C9CCD3"/>
            </a:solidFill>
            <a:prstDash val="solid"/>
          </a:ln>
        </p:spPr>
      </p:sp>
      <p:sp>
        <p:nvSpPr>
          <p:cNvPr id="43" name="!!ivTrail"/>
          <p:cNvSpPr/>
          <p:nvPr/>
        </p:nvSpPr>
        <p:spPr>
          <a:xfrm>
            <a:off x="7223760" y="3174040"/>
            <a:ext cx="613954" cy="580026"/>
          </a:xfrm>
          <a:custGeom>
            <a:avLst/>
            <a:gdLst/>
            <a:ahLst/>
            <a:cxnLst/>
            <a:rect l="l" t="t" r="r" b="b"/>
            <a:pathLst>
              <a:path w="613954" h="580026">
                <a:moveTo>
                  <a:pt x="0" y="580026"/>
                </a:moveTo>
                <a:lnTo>
                  <a:pt x="153489" y="437791"/>
                </a:lnTo>
                <a:lnTo>
                  <a:pt x="306977" y="292403"/>
                </a:lnTo>
                <a:lnTo>
                  <a:pt x="460466" y="146101"/>
                </a:lnTo>
                <a:lnTo>
                  <a:pt x="613954" y="0"/>
                </a:lnTo>
              </a:path>
            </a:pathLst>
          </a:custGeom>
          <a:ln w="38100">
            <a:solidFill>
              <a:srgbClr val="2E9E4F"/>
            </a:solidFill>
            <a:prstDash val="solid"/>
          </a:ln>
        </p:spPr>
      </p:sp>
      <p:sp>
        <p:nvSpPr>
          <p:cNvPr id="44" name="!!ivPt"/>
          <p:cNvSpPr/>
          <p:nvPr/>
        </p:nvSpPr>
        <p:spPr>
          <a:xfrm>
            <a:off x="7755418" y="3091744"/>
            <a:ext cx="164592" cy="164592"/>
          </a:xfrm>
          <a:prstGeom prst="ellipse">
            <a:avLst/>
          </a:prstGeom>
          <a:solidFill>
            <a:srgbClr val="E07B00"/>
          </a:solidFill>
          <a:ln w="19050">
            <a:solidFill>
              <a:srgbClr val="FFFFFF"/>
            </a:solidFill>
            <a:prstDash val="solid"/>
          </a:ln>
        </p:spPr>
      </p:sp>
      <p:sp>
        <p:nvSpPr>
          <p:cNvPr id="45" name="!!ivPtL"/>
          <p:cNvSpPr txBox="1"/>
          <p:nvPr/>
        </p:nvSpPr>
        <p:spPr>
          <a:xfrm>
            <a:off x="6923314" y="2844856"/>
            <a:ext cx="868680" cy="219456"/>
          </a:xfrm>
          <a:prstGeom prst="rect">
            <a:avLst/>
          </a:prstGeom>
          <a:noFill/>
          <a:ln/>
        </p:spPr>
        <p:txBody>
          <a:bodyPr wrap="square" lIns="0" tIns="0" rIns="0" bIns="0" rtlCol="0" anchor="t"/>
          <a:lstStyle/>
          <a:p>
            <a:pPr algn="r" indent="0" marL="0">
              <a:buNone/>
            </a:pPr>
            <a:r>
              <a:rPr lang="en-US" sz="1100" dirty="0">
                <a:solidFill>
                  <a:srgbClr val="E07B00"/>
                </a:solidFill>
                <a:latin typeface="Segoe UI Semibold" pitchFamily="34" charset="0"/>
                <a:ea typeface="Segoe UI Semibold" pitchFamily="34" charset="-122"/>
                <a:cs typeface="Segoe UI Semibold" pitchFamily="34" charset="-120"/>
              </a:rPr>
              <a:t>18 nA</a:t>
            </a:r>
            <a:endParaRPr lang="en-US" sz="1100" dirty="0"/>
          </a:p>
        </p:txBody>
      </p:sp>
      <p:sp>
        <p:nvSpPr>
          <p:cNvPr id="46" name="!!ivRead"/>
          <p:cNvSpPr txBox="1"/>
          <p:nvPr/>
        </p:nvSpPr>
        <p:spPr>
          <a:xfrm>
            <a:off x="6858000" y="4572000"/>
            <a:ext cx="4754880" cy="256032"/>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G</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0.10 V     I</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18 nA</a:t>
            </a:r>
            <a:endParaRPr lang="en-US" sz="1400" dirty="0"/>
          </a:p>
        </p:txBody>
      </p:sp>
      <p:sp>
        <p:nvSpPr>
          <p:cNvPr id="47" name="!!ivReg"/>
          <p:cNvSpPr txBox="1"/>
          <p:nvPr/>
        </p:nvSpPr>
        <p:spPr>
          <a:xfrm>
            <a:off x="6858000" y="4818888"/>
            <a:ext cx="4754880" cy="219456"/>
          </a:xfrm>
          <a:prstGeom prst="rect">
            <a:avLst/>
          </a:prstGeom>
          <a:noFill/>
          <a:ln/>
        </p:spPr>
        <p:txBody>
          <a:bodyPr wrap="square" lIns="0" tIns="0" rIns="0" bIns="0" rtlCol="0" anchor="t"/>
          <a:lstStyle/>
          <a:p>
            <a:pPr algn="l" indent="0" marL="0">
              <a:buNone/>
            </a:pPr>
            <a:r>
              <a:rPr lang="en-US" sz="1100" dirty="0">
                <a:solidFill>
                  <a:srgbClr val="E07B00"/>
                </a:solidFill>
                <a:latin typeface="Segoe UI Semibold" pitchFamily="34" charset="0"/>
                <a:ea typeface="Segoe UI Semibold" pitchFamily="34" charset="-122"/>
                <a:cs typeface="Segoe UI Semibold" pitchFamily="34" charset="-120"/>
              </a:rPr>
              <a:t>SUBTHRESHOLD</a:t>
            </a:r>
            <a:endParaRPr lang="en-US" sz="1100" dirty="0"/>
          </a:p>
        </p:txBody>
      </p:sp>
      <p:sp>
        <p:nvSpPr>
          <p:cNvPr id="48" name="!!knobLbl"/>
          <p:cNvSpPr txBox="1"/>
          <p:nvPr/>
        </p:nvSpPr>
        <p:spPr>
          <a:xfrm>
            <a:off x="7022592" y="507492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0.1 V</a:t>
            </a:r>
            <a:endParaRPr lang="en-US" sz="1200" dirty="0"/>
          </a:p>
        </p:txBody>
      </p:sp>
      <p:sp>
        <p:nvSpPr>
          <p:cNvPr id="49" name="!!knobTrack"/>
          <p:cNvSpPr/>
          <p:nvPr/>
        </p:nvSpPr>
        <p:spPr>
          <a:xfrm>
            <a:off x="7040880" y="5458968"/>
            <a:ext cx="4480560" cy="54864"/>
          </a:xfrm>
          <a:prstGeom prst="roundRect">
            <a:avLst>
              <a:gd name="adj" fmla="val 50000"/>
            </a:avLst>
          </a:prstGeom>
          <a:solidFill>
            <a:srgbClr val="E2E3E3"/>
          </a:solidFill>
          <a:ln/>
        </p:spPr>
      </p:sp>
      <p:sp>
        <p:nvSpPr>
          <p:cNvPr id="50" name="!!knobFill"/>
          <p:cNvSpPr/>
          <p:nvPr/>
        </p:nvSpPr>
        <p:spPr>
          <a:xfrm>
            <a:off x="7040880" y="5458968"/>
            <a:ext cx="640080" cy="54864"/>
          </a:xfrm>
          <a:prstGeom prst="roundRect">
            <a:avLst>
              <a:gd name="adj" fmla="val 50000"/>
            </a:avLst>
          </a:prstGeom>
          <a:solidFill>
            <a:srgbClr val="6B5BC4"/>
          </a:solidFill>
          <a:ln/>
        </p:spPr>
      </p:sp>
      <p:sp>
        <p:nvSpPr>
          <p:cNvPr id="51" name="!!knobT0"/>
          <p:cNvSpPr txBox="1"/>
          <p:nvPr/>
        </p:nvSpPr>
        <p:spPr>
          <a:xfrm>
            <a:off x="667512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52" name="!!knobT1"/>
          <p:cNvSpPr txBox="1"/>
          <p:nvPr/>
        </p:nvSpPr>
        <p:spPr>
          <a:xfrm>
            <a:off x="795528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53" name="!!knobT2"/>
          <p:cNvSpPr txBox="1"/>
          <p:nvPr/>
        </p:nvSpPr>
        <p:spPr>
          <a:xfrm>
            <a:off x="923544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54" name="!!knobT3"/>
          <p:cNvSpPr txBox="1"/>
          <p:nvPr/>
        </p:nvSpPr>
        <p:spPr>
          <a:xfrm>
            <a:off x="1051560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55" name="!!knobT4"/>
          <p:cNvSpPr txBox="1"/>
          <p:nvPr/>
        </p:nvSpPr>
        <p:spPr>
          <a:xfrm>
            <a:off x="1115568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56" name="!!knobThumb"/>
          <p:cNvSpPr/>
          <p:nvPr/>
        </p:nvSpPr>
        <p:spPr>
          <a:xfrm>
            <a:off x="7580376" y="5385816"/>
            <a:ext cx="201168" cy="201168"/>
          </a:xfrm>
          <a:prstGeom prst="ellipse">
            <a:avLst/>
          </a:prstGeom>
          <a:solidFill>
            <a:srgbClr val="FFFFFF"/>
          </a:solidFill>
          <a:ln w="28575">
            <a:solidFill>
              <a:srgbClr val="6B5BC4"/>
            </a:solidFill>
            <a:prstDash val="solid"/>
          </a:ln>
        </p:spPr>
      </p:sp>
      <p:sp>
        <p:nvSpPr>
          <p:cNvPr id="5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Gate up: the whole surface of the wire pulls the hill down together.</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68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Turning the gate in our wire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Reproduced GAA wire (r = 5.64 nm, L</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14 nm): Silvaco Atlas data,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171A20"/>
          </a:solidFill>
          <a:ln/>
        </p:spPr>
      </p:sp>
      <p:sp>
        <p:nvSpPr>
          <p:cNvPr id="6" name="!!sdot2"/>
          <p:cNvSpPr/>
          <p:nvPr/>
        </p:nvSpPr>
        <p:spPr>
          <a:xfrm>
            <a:off x="11132820" y="525780"/>
            <a:ext cx="82296" cy="82296"/>
          </a:xfrm>
          <a:prstGeom prst="ellipse">
            <a:avLst/>
          </a:prstGeom>
          <a:solidFill>
            <a:srgbClr val="171A20"/>
          </a:solidFill>
          <a:ln/>
        </p:spPr>
      </p:sp>
      <p:sp>
        <p:nvSpPr>
          <p:cNvPr id="7" name="!!sdot3"/>
          <p:cNvSpPr/>
          <p:nvPr/>
        </p:nvSpPr>
        <p:spPr>
          <a:xfrm>
            <a:off x="11288268" y="525780"/>
            <a:ext cx="82296" cy="82296"/>
          </a:xfrm>
          <a:prstGeom prst="ellipse">
            <a:avLst/>
          </a:prstGeom>
          <a:solidFill>
            <a:srgbClr val="E2E3E3"/>
          </a:solidFill>
          <a:ln/>
        </p:spPr>
      </p:sp>
      <p:sp>
        <p:nvSpPr>
          <p:cNvPr id="8" name="!!sdot4"/>
          <p:cNvSpPr/>
          <p:nvPr/>
        </p:nvSpPr>
        <p:spPr>
          <a:xfrm>
            <a:off x="11443716" y="525780"/>
            <a:ext cx="82296" cy="82296"/>
          </a:xfrm>
          <a:prstGeom prst="ellipse">
            <a:avLst/>
          </a:prstGeom>
          <a:solidFill>
            <a:srgbClr val="E2E3E3"/>
          </a:solidFill>
          <a:ln/>
        </p:spPr>
      </p:sp>
      <p:sp>
        <p:nvSpPr>
          <p:cNvPr id="9" name="!!sdot5"/>
          <p:cNvSpPr/>
          <p:nvPr/>
        </p:nvSpPr>
        <p:spPr>
          <a:xfrm>
            <a:off x="11599164" y="525780"/>
            <a:ext cx="82296" cy="82296"/>
          </a:xfrm>
          <a:prstGeom prst="ellipse">
            <a:avLst/>
          </a:prstGeom>
          <a:solidFill>
            <a:srgbClr val="E2E3E3"/>
          </a:solidFill>
          <a:ln/>
        </p:spPr>
      </p:sp>
      <p:sp>
        <p:nvSpPr>
          <p:cNvPr id="10" name="!!gsG"/>
          <p:cNvSpPr/>
          <p:nvPr/>
        </p:nvSpPr>
        <p:spPr>
          <a:xfrm>
            <a:off x="777240" y="1874520"/>
            <a:ext cx="2834640" cy="2834640"/>
          </a:xfrm>
          <a:prstGeom prst="ellipse">
            <a:avLst/>
          </a:prstGeom>
          <a:solidFill>
            <a:srgbClr val="B3A6E6"/>
          </a:solidFill>
          <a:ln/>
        </p:spPr>
      </p:sp>
      <p:sp>
        <p:nvSpPr>
          <p:cNvPr id="11" name="!!gsH"/>
          <p:cNvSpPr/>
          <p:nvPr/>
        </p:nvSpPr>
        <p:spPr>
          <a:xfrm>
            <a:off x="1143000" y="2240280"/>
            <a:ext cx="2103120" cy="2103120"/>
          </a:xfrm>
          <a:prstGeom prst="ellipse">
            <a:avLst/>
          </a:prstGeom>
          <a:solidFill>
            <a:srgbClr val="8FCBE0"/>
          </a:solidFill>
          <a:ln/>
        </p:spPr>
      </p:sp>
      <p:sp>
        <p:nvSpPr>
          <p:cNvPr id="12" name="!!gsO"/>
          <p:cNvSpPr/>
          <p:nvPr/>
        </p:nvSpPr>
        <p:spPr>
          <a:xfrm>
            <a:off x="1261872" y="2359152"/>
            <a:ext cx="1865376" cy="1865376"/>
          </a:xfrm>
          <a:prstGeom prst="ellipse">
            <a:avLst/>
          </a:prstGeom>
          <a:solidFill>
            <a:srgbClr val="CDEBF5"/>
          </a:solidFill>
          <a:ln/>
        </p:spPr>
      </p:sp>
      <p:sp>
        <p:nvSpPr>
          <p:cNvPr id="13" name="!!gsE"/>
          <p:cNvSpPr/>
          <p:nvPr/>
        </p:nvSpPr>
        <p:spPr>
          <a:xfrm>
            <a:off x="1371600" y="2468880"/>
            <a:ext cx="1645920" cy="1645920"/>
          </a:xfrm>
          <a:prstGeom prst="ellipse">
            <a:avLst/>
          </a:prstGeom>
          <a:solidFill>
            <a:srgbClr val="1F2F6B"/>
          </a:solidFill>
          <a:ln/>
        </p:spPr>
      </p:sp>
      <p:sp>
        <p:nvSpPr>
          <p:cNvPr id="14" name="!!gsS"/>
          <p:cNvSpPr/>
          <p:nvPr/>
        </p:nvSpPr>
        <p:spPr>
          <a:xfrm>
            <a:off x="1417320" y="2514600"/>
            <a:ext cx="1554480" cy="1554480"/>
          </a:xfrm>
          <a:prstGeom prst="ellipse">
            <a:avLst/>
          </a:prstGeom>
          <a:solidFill>
            <a:srgbClr val="F6E7B8"/>
          </a:solidFill>
          <a:ln/>
        </p:spPr>
      </p:sp>
      <p:sp>
        <p:nvSpPr>
          <p:cNvPr id="15" name="!!gsL"/>
          <p:cNvSpPr txBox="1"/>
          <p:nvPr/>
        </p:nvSpPr>
        <p:spPr>
          <a:xfrm>
            <a:off x="548640" y="4892040"/>
            <a:ext cx="3291840" cy="27432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wire cross-section (gate all round)</a:t>
            </a:r>
            <a:endParaRPr lang="en-US" sz="1100" dirty="0"/>
          </a:p>
        </p:txBody>
      </p:sp>
      <p:sp>
        <p:nvSpPr>
          <p:cNvPr id="16" name="!!gsLg0"/>
          <p:cNvSpPr/>
          <p:nvPr/>
        </p:nvSpPr>
        <p:spPr>
          <a:xfrm>
            <a:off x="4023360" y="2194560"/>
            <a:ext cx="201168" cy="201168"/>
          </a:xfrm>
          <a:prstGeom prst="rect">
            <a:avLst/>
          </a:prstGeom>
          <a:solidFill>
            <a:srgbClr val="B3A6E6"/>
          </a:solidFill>
          <a:ln/>
        </p:spPr>
      </p:sp>
      <p:sp>
        <p:nvSpPr>
          <p:cNvPr id="17" name="!!gsLgt0"/>
          <p:cNvSpPr txBox="1"/>
          <p:nvPr/>
        </p:nvSpPr>
        <p:spPr>
          <a:xfrm>
            <a:off x="4315968" y="2167128"/>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gate</a:t>
            </a:r>
            <a:endParaRPr lang="en-US" sz="1100" dirty="0"/>
          </a:p>
        </p:txBody>
      </p:sp>
      <p:sp>
        <p:nvSpPr>
          <p:cNvPr id="18" name="!!gsLg1"/>
          <p:cNvSpPr/>
          <p:nvPr/>
        </p:nvSpPr>
        <p:spPr>
          <a:xfrm>
            <a:off x="4023360" y="2578608"/>
            <a:ext cx="201168" cy="201168"/>
          </a:xfrm>
          <a:prstGeom prst="rect">
            <a:avLst/>
          </a:prstGeom>
          <a:solidFill>
            <a:srgbClr val="8FCBE0"/>
          </a:solidFill>
          <a:ln/>
        </p:spPr>
      </p:sp>
      <p:sp>
        <p:nvSpPr>
          <p:cNvPr id="19" name="!!gsLgt1"/>
          <p:cNvSpPr txBox="1"/>
          <p:nvPr/>
        </p:nvSpPr>
        <p:spPr>
          <a:xfrm>
            <a:off x="4315968" y="2551176"/>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HfO2 / SiO2</a:t>
            </a:r>
            <a:endParaRPr lang="en-US" sz="1100" dirty="0"/>
          </a:p>
        </p:txBody>
      </p:sp>
      <p:sp>
        <p:nvSpPr>
          <p:cNvPr id="20" name="!!gsLg2"/>
          <p:cNvSpPr/>
          <p:nvPr/>
        </p:nvSpPr>
        <p:spPr>
          <a:xfrm>
            <a:off x="4023360" y="2962656"/>
            <a:ext cx="201168" cy="201168"/>
          </a:xfrm>
          <a:prstGeom prst="rect">
            <a:avLst/>
          </a:prstGeom>
          <a:solidFill>
            <a:srgbClr val="F6E7B8"/>
          </a:solidFill>
          <a:ln/>
        </p:spPr>
      </p:sp>
      <p:sp>
        <p:nvSpPr>
          <p:cNvPr id="21" name="!!gsLgt2"/>
          <p:cNvSpPr txBox="1"/>
          <p:nvPr/>
        </p:nvSpPr>
        <p:spPr>
          <a:xfrm>
            <a:off x="4315968" y="2935224"/>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silicon</a:t>
            </a:r>
            <a:endParaRPr lang="en-US" sz="1100" dirty="0"/>
          </a:p>
        </p:txBody>
      </p:sp>
      <p:sp>
        <p:nvSpPr>
          <p:cNvPr id="22" name="!!gsLg3"/>
          <p:cNvSpPr/>
          <p:nvPr/>
        </p:nvSpPr>
        <p:spPr>
          <a:xfrm>
            <a:off x="4023360" y="3346704"/>
            <a:ext cx="201168" cy="201168"/>
          </a:xfrm>
          <a:prstGeom prst="rect">
            <a:avLst/>
          </a:prstGeom>
          <a:solidFill>
            <a:srgbClr val="1F2F6B"/>
          </a:solidFill>
          <a:ln/>
        </p:spPr>
      </p:sp>
      <p:sp>
        <p:nvSpPr>
          <p:cNvPr id="23" name="!!gsLgt3"/>
          <p:cNvSpPr txBox="1"/>
          <p:nvPr/>
        </p:nvSpPr>
        <p:spPr>
          <a:xfrm>
            <a:off x="4315968" y="3319272"/>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electrons</a:t>
            </a:r>
            <a:endParaRPr lang="en-US" sz="1100" dirty="0"/>
          </a:p>
        </p:txBody>
      </p:sp>
      <p:sp>
        <p:nvSpPr>
          <p:cNvPr id="24" name="!!axg0"/>
          <p:cNvSpPr/>
          <p:nvPr/>
        </p:nvSpPr>
        <p:spPr>
          <a:xfrm>
            <a:off x="7223760" y="4069080"/>
            <a:ext cx="4297680" cy="91"/>
          </a:xfrm>
          <a:prstGeom prst="line">
            <a:avLst/>
          </a:prstGeom>
          <a:noFill/>
          <a:ln w="9525">
            <a:solidFill>
              <a:srgbClr val="EDEEF0"/>
            </a:solidFill>
            <a:prstDash val="solid"/>
          </a:ln>
        </p:spPr>
      </p:sp>
      <p:sp>
        <p:nvSpPr>
          <p:cNvPr id="25" name="!!axg1"/>
          <p:cNvSpPr/>
          <p:nvPr/>
        </p:nvSpPr>
        <p:spPr>
          <a:xfrm>
            <a:off x="7223760" y="3276600"/>
            <a:ext cx="4297680" cy="91"/>
          </a:xfrm>
          <a:prstGeom prst="line">
            <a:avLst/>
          </a:prstGeom>
          <a:noFill/>
          <a:ln w="9525">
            <a:solidFill>
              <a:srgbClr val="EDEEF0"/>
            </a:solidFill>
            <a:prstDash val="solid"/>
          </a:ln>
        </p:spPr>
      </p:sp>
      <p:sp>
        <p:nvSpPr>
          <p:cNvPr id="26" name="!!axg2"/>
          <p:cNvSpPr/>
          <p:nvPr/>
        </p:nvSpPr>
        <p:spPr>
          <a:xfrm>
            <a:off x="7223760" y="2484120"/>
            <a:ext cx="4297680" cy="91"/>
          </a:xfrm>
          <a:prstGeom prst="line">
            <a:avLst/>
          </a:prstGeom>
          <a:noFill/>
          <a:ln w="9525">
            <a:solidFill>
              <a:srgbClr val="EDEEF0"/>
            </a:solidFill>
            <a:prstDash val="solid"/>
          </a:ln>
        </p:spPr>
      </p:sp>
      <p:sp>
        <p:nvSpPr>
          <p:cNvPr id="27" name="!!axg3"/>
          <p:cNvSpPr/>
          <p:nvPr/>
        </p:nvSpPr>
        <p:spPr>
          <a:xfrm>
            <a:off x="7223760" y="1691640"/>
            <a:ext cx="4297680" cy="91"/>
          </a:xfrm>
          <a:prstGeom prst="line">
            <a:avLst/>
          </a:prstGeom>
          <a:noFill/>
          <a:ln w="9525">
            <a:solidFill>
              <a:srgbClr val="EDEEF0"/>
            </a:solidFill>
            <a:prstDash val="solid"/>
          </a:ln>
        </p:spPr>
      </p:sp>
      <p:sp>
        <p:nvSpPr>
          <p:cNvPr id="28" name="!!axxa"/>
          <p:cNvSpPr/>
          <p:nvPr/>
        </p:nvSpPr>
        <p:spPr>
          <a:xfrm>
            <a:off x="7223760" y="4069080"/>
            <a:ext cx="4297680" cy="91"/>
          </a:xfrm>
          <a:prstGeom prst="line">
            <a:avLst/>
          </a:prstGeom>
          <a:noFill/>
          <a:ln w="12700">
            <a:solidFill>
              <a:srgbClr val="8A8D93"/>
            </a:solidFill>
            <a:prstDash val="solid"/>
          </a:ln>
        </p:spPr>
      </p:sp>
      <p:sp>
        <p:nvSpPr>
          <p:cNvPr id="29" name="!!axya"/>
          <p:cNvSpPr/>
          <p:nvPr/>
        </p:nvSpPr>
        <p:spPr>
          <a:xfrm>
            <a:off x="7223760" y="1691640"/>
            <a:ext cx="91" cy="2377440"/>
          </a:xfrm>
          <a:prstGeom prst="line">
            <a:avLst/>
          </a:prstGeom>
          <a:noFill/>
          <a:ln w="12700">
            <a:solidFill>
              <a:srgbClr val="8A8D93"/>
            </a:solidFill>
            <a:prstDash val="solid"/>
          </a:ln>
        </p:spPr>
      </p:sp>
      <p:sp>
        <p:nvSpPr>
          <p:cNvPr id="30" name="!!axxt0"/>
          <p:cNvSpPr txBox="1"/>
          <p:nvPr/>
        </p:nvSpPr>
        <p:spPr>
          <a:xfrm>
            <a:off x="690372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31" name="!!axxt1"/>
          <p:cNvSpPr txBox="1"/>
          <p:nvPr/>
        </p:nvSpPr>
        <p:spPr>
          <a:xfrm>
            <a:off x="8131629"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32" name="!!axxt2"/>
          <p:cNvSpPr txBox="1"/>
          <p:nvPr/>
        </p:nvSpPr>
        <p:spPr>
          <a:xfrm>
            <a:off x="9359537"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33" name="!!axxt3"/>
          <p:cNvSpPr txBox="1"/>
          <p:nvPr/>
        </p:nvSpPr>
        <p:spPr>
          <a:xfrm>
            <a:off x="10587446"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34" name="!!axyt0"/>
          <p:cNvSpPr txBox="1"/>
          <p:nvPr/>
        </p:nvSpPr>
        <p:spPr>
          <a:xfrm>
            <a:off x="6537960" y="39684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35" name="!!axyt1"/>
          <p:cNvSpPr txBox="1"/>
          <p:nvPr/>
        </p:nvSpPr>
        <p:spPr>
          <a:xfrm>
            <a:off x="6537960" y="31760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36" name="!!axyt2"/>
          <p:cNvSpPr txBox="1"/>
          <p:nvPr/>
        </p:nvSpPr>
        <p:spPr>
          <a:xfrm>
            <a:off x="6537960" y="23835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37" name="!!axyt3"/>
          <p:cNvSpPr txBox="1"/>
          <p:nvPr/>
        </p:nvSpPr>
        <p:spPr>
          <a:xfrm>
            <a:off x="653796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38" name="!!axxl"/>
          <p:cNvSpPr txBox="1"/>
          <p:nvPr/>
        </p:nvSpPr>
        <p:spPr>
          <a:xfrm>
            <a:off x="7223760" y="4343400"/>
            <a:ext cx="429768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39" name="!!axyl"/>
          <p:cNvSpPr txBox="1"/>
          <p:nvPr/>
        </p:nvSpPr>
        <p:spPr>
          <a:xfrm>
            <a:off x="704088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a:t>
            </a:r>
            <a:endParaRPr lang="en-US" sz="1100" dirty="0"/>
          </a:p>
        </p:txBody>
      </p:sp>
      <p:sp>
        <p:nvSpPr>
          <p:cNvPr id="40" name="!!gsPlanar"/>
          <p:cNvSpPr/>
          <p:nvPr/>
        </p:nvSpPr>
        <p:spPr>
          <a:xfrm>
            <a:off x="7223760" y="1868223"/>
            <a:ext cx="4297680" cy="862057"/>
          </a:xfrm>
          <a:custGeom>
            <a:avLst/>
            <a:gdLst/>
            <a:ahLst/>
            <a:cxnLst/>
            <a:rect l="l" t="t" r="r" b="b"/>
            <a:pathLst>
              <a:path w="4297680" h="862057">
                <a:moveTo>
                  <a:pt x="0" y="862057"/>
                </a:moveTo>
                <a:lnTo>
                  <a:pt x="153489" y="791433"/>
                </a:lnTo>
                <a:lnTo>
                  <a:pt x="306977" y="725515"/>
                </a:lnTo>
                <a:lnTo>
                  <a:pt x="460466" y="664374"/>
                </a:lnTo>
                <a:lnTo>
                  <a:pt x="613954" y="607945"/>
                </a:lnTo>
                <a:lnTo>
                  <a:pt x="767443" y="556041"/>
                </a:lnTo>
                <a:lnTo>
                  <a:pt x="920931" y="508392"/>
                </a:lnTo>
                <a:lnTo>
                  <a:pt x="1074420" y="464670"/>
                </a:lnTo>
                <a:lnTo>
                  <a:pt x="1227909" y="424523"/>
                </a:lnTo>
                <a:lnTo>
                  <a:pt x="1381397" y="387599"/>
                </a:lnTo>
                <a:lnTo>
                  <a:pt x="1534886" y="353560"/>
                </a:lnTo>
                <a:lnTo>
                  <a:pt x="1688374" y="322093"/>
                </a:lnTo>
                <a:lnTo>
                  <a:pt x="1841863" y="292913"/>
                </a:lnTo>
                <a:lnTo>
                  <a:pt x="1995351" y="265766"/>
                </a:lnTo>
                <a:lnTo>
                  <a:pt x="2148840" y="240430"/>
                </a:lnTo>
                <a:lnTo>
                  <a:pt x="2302329" y="216708"/>
                </a:lnTo>
                <a:lnTo>
                  <a:pt x="2455817" y="194427"/>
                </a:lnTo>
                <a:lnTo>
                  <a:pt x="2609306" y="173439"/>
                </a:lnTo>
                <a:lnTo>
                  <a:pt x="2762794" y="153613"/>
                </a:lnTo>
                <a:lnTo>
                  <a:pt x="2916283" y="134836"/>
                </a:lnTo>
                <a:lnTo>
                  <a:pt x="3069771" y="117008"/>
                </a:lnTo>
                <a:lnTo>
                  <a:pt x="3223260" y="100041"/>
                </a:lnTo>
                <a:lnTo>
                  <a:pt x="3376749" y="83861"/>
                </a:lnTo>
                <a:lnTo>
                  <a:pt x="3530237" y="68398"/>
                </a:lnTo>
                <a:lnTo>
                  <a:pt x="3683726" y="53595"/>
                </a:lnTo>
                <a:lnTo>
                  <a:pt x="3837214" y="39398"/>
                </a:lnTo>
                <a:lnTo>
                  <a:pt x="3990703" y="25760"/>
                </a:lnTo>
                <a:lnTo>
                  <a:pt x="4144191" y="12640"/>
                </a:lnTo>
                <a:lnTo>
                  <a:pt x="4297680" y="0"/>
                </a:lnTo>
              </a:path>
            </a:pathLst>
          </a:custGeom>
          <a:ln w="19050">
            <a:solidFill>
              <a:srgbClr val="D9DCE3"/>
            </a:solidFill>
            <a:prstDash val="dash"/>
          </a:ln>
        </p:spPr>
      </p:sp>
      <p:sp>
        <p:nvSpPr>
          <p:cNvPr id="41" name="!!gsPlanarL"/>
          <p:cNvSpPr txBox="1"/>
          <p:nvPr/>
        </p:nvSpPr>
        <p:spPr>
          <a:xfrm>
            <a:off x="7346551" y="2455960"/>
            <a:ext cx="1280160" cy="201168"/>
          </a:xfrm>
          <a:prstGeom prst="rect">
            <a:avLst/>
          </a:prstGeom>
          <a:noFill/>
          <a:ln/>
        </p:spPr>
        <p:txBody>
          <a:bodyPr wrap="square" lIns="0" tIns="0" rIns="0" bIns="0" rtlCol="0" anchor="t"/>
          <a:lstStyle/>
          <a:p>
            <a:pPr algn="l" indent="0" marL="0">
              <a:buNone/>
            </a:pPr>
            <a:r>
              <a:rPr lang="en-US" sz="900" dirty="0">
                <a:solidFill>
                  <a:srgbClr val="8A8D93"/>
                </a:solidFill>
                <a:latin typeface="Segoe UI" pitchFamily="34" charset="0"/>
                <a:ea typeface="Segoe UI" pitchFamily="34" charset="-122"/>
                <a:cs typeface="Segoe UI" pitchFamily="34" charset="-120"/>
              </a:rPr>
              <a:t>planar at 14 nm</a:t>
            </a:r>
            <a:endParaRPr lang="en-US" sz="900" dirty="0"/>
          </a:p>
        </p:txBody>
      </p:sp>
      <p:sp>
        <p:nvSpPr>
          <p:cNvPr id="42" name="!!ivGhost"/>
          <p:cNvSpPr/>
          <p:nvPr/>
        </p:nvSpPr>
        <p:spPr>
          <a:xfrm>
            <a:off x="7223760" y="1913989"/>
            <a:ext cx="4297680" cy="1840078"/>
          </a:xfrm>
          <a:custGeom>
            <a:avLst/>
            <a:gdLst/>
            <a:ahLst/>
            <a:cxnLst/>
            <a:rect l="l" t="t" r="r" b="b"/>
            <a:pathLst>
              <a:path w="4297680" h="1840078">
                <a:moveTo>
                  <a:pt x="0" y="1840078"/>
                </a:moveTo>
                <a:lnTo>
                  <a:pt x="153489" y="1697842"/>
                </a:lnTo>
                <a:lnTo>
                  <a:pt x="306977" y="1552454"/>
                </a:lnTo>
                <a:lnTo>
                  <a:pt x="460466" y="1406152"/>
                </a:lnTo>
                <a:lnTo>
                  <a:pt x="613954" y="1260051"/>
                </a:lnTo>
                <a:lnTo>
                  <a:pt x="767443" y="1114998"/>
                </a:lnTo>
                <a:lnTo>
                  <a:pt x="920931" y="972166"/>
                </a:lnTo>
                <a:lnTo>
                  <a:pt x="1074420" y="834709"/>
                </a:lnTo>
                <a:lnTo>
                  <a:pt x="1227909" y="706556"/>
                </a:lnTo>
                <a:lnTo>
                  <a:pt x="1381397" y="590851"/>
                </a:lnTo>
                <a:lnTo>
                  <a:pt x="1534886" y="490066"/>
                </a:lnTo>
                <a:lnTo>
                  <a:pt x="1688374" y="409523"/>
                </a:lnTo>
                <a:lnTo>
                  <a:pt x="1841863" y="349453"/>
                </a:lnTo>
                <a:lnTo>
                  <a:pt x="1995351" y="304873"/>
                </a:lnTo>
                <a:lnTo>
                  <a:pt x="2148840" y="268360"/>
                </a:lnTo>
                <a:lnTo>
                  <a:pt x="2302329" y="236425"/>
                </a:lnTo>
                <a:lnTo>
                  <a:pt x="2455817" y="207803"/>
                </a:lnTo>
                <a:lnTo>
                  <a:pt x="2609306" y="181881"/>
                </a:lnTo>
                <a:lnTo>
                  <a:pt x="2762794" y="158244"/>
                </a:lnTo>
                <a:lnTo>
                  <a:pt x="2916283" y="136586"/>
                </a:lnTo>
                <a:lnTo>
                  <a:pt x="3069771" y="116655"/>
                </a:lnTo>
                <a:lnTo>
                  <a:pt x="3223260" y="98246"/>
                </a:lnTo>
                <a:lnTo>
                  <a:pt x="3376749" y="81182"/>
                </a:lnTo>
                <a:lnTo>
                  <a:pt x="3530237" y="65314"/>
                </a:lnTo>
                <a:lnTo>
                  <a:pt x="3683726" y="50515"/>
                </a:lnTo>
                <a:lnTo>
                  <a:pt x="3837214" y="36674"/>
                </a:lnTo>
                <a:lnTo>
                  <a:pt x="3990703" y="23694"/>
                </a:lnTo>
                <a:lnTo>
                  <a:pt x="4144191" y="11494"/>
                </a:lnTo>
                <a:lnTo>
                  <a:pt x="4297680" y="0"/>
                </a:lnTo>
              </a:path>
            </a:pathLst>
          </a:custGeom>
          <a:ln w="25400">
            <a:solidFill>
              <a:srgbClr val="C9CCD3"/>
            </a:solidFill>
            <a:prstDash val="solid"/>
          </a:ln>
        </p:spPr>
      </p:sp>
      <p:sp>
        <p:nvSpPr>
          <p:cNvPr id="43" name="!!ivTrail"/>
          <p:cNvSpPr/>
          <p:nvPr/>
        </p:nvSpPr>
        <p:spPr>
          <a:xfrm>
            <a:off x="7223760" y="2620545"/>
            <a:ext cx="1227909" cy="1133522"/>
          </a:xfrm>
          <a:custGeom>
            <a:avLst/>
            <a:gdLst/>
            <a:ahLst/>
            <a:cxnLst/>
            <a:rect l="l" t="t" r="r" b="b"/>
            <a:pathLst>
              <a:path w="1227909" h="1133522">
                <a:moveTo>
                  <a:pt x="0" y="1133522"/>
                </a:moveTo>
                <a:lnTo>
                  <a:pt x="153489" y="991286"/>
                </a:lnTo>
                <a:lnTo>
                  <a:pt x="306977" y="845898"/>
                </a:lnTo>
                <a:lnTo>
                  <a:pt x="460466" y="699596"/>
                </a:lnTo>
                <a:lnTo>
                  <a:pt x="613954" y="553495"/>
                </a:lnTo>
                <a:lnTo>
                  <a:pt x="767443" y="408442"/>
                </a:lnTo>
                <a:lnTo>
                  <a:pt x="920931" y="265610"/>
                </a:lnTo>
                <a:lnTo>
                  <a:pt x="1074420" y="128153"/>
                </a:lnTo>
                <a:lnTo>
                  <a:pt x="1227909" y="0"/>
                </a:lnTo>
              </a:path>
            </a:pathLst>
          </a:custGeom>
          <a:ln w="38100">
            <a:solidFill>
              <a:srgbClr val="2E9E4F"/>
            </a:solidFill>
            <a:prstDash val="solid"/>
          </a:ln>
        </p:spPr>
      </p:sp>
      <p:sp>
        <p:nvSpPr>
          <p:cNvPr id="44" name="!!ivPt"/>
          <p:cNvSpPr/>
          <p:nvPr/>
        </p:nvSpPr>
        <p:spPr>
          <a:xfrm>
            <a:off x="8369373" y="2538249"/>
            <a:ext cx="164592" cy="164592"/>
          </a:xfrm>
          <a:prstGeom prst="ellipse">
            <a:avLst/>
          </a:prstGeom>
          <a:solidFill>
            <a:srgbClr val="E07B00"/>
          </a:solidFill>
          <a:ln w="19050">
            <a:solidFill>
              <a:srgbClr val="FFFFFF"/>
            </a:solidFill>
            <a:prstDash val="solid"/>
          </a:ln>
        </p:spPr>
      </p:sp>
      <p:sp>
        <p:nvSpPr>
          <p:cNvPr id="45" name="!!ivPtL"/>
          <p:cNvSpPr txBox="1"/>
          <p:nvPr/>
        </p:nvSpPr>
        <p:spPr>
          <a:xfrm>
            <a:off x="7537269" y="2291361"/>
            <a:ext cx="868680" cy="219456"/>
          </a:xfrm>
          <a:prstGeom prst="rect">
            <a:avLst/>
          </a:prstGeom>
          <a:noFill/>
          <a:ln/>
        </p:spPr>
        <p:txBody>
          <a:bodyPr wrap="square" lIns="0" tIns="0" rIns="0" bIns="0" rtlCol="0" anchor="t"/>
          <a:lstStyle/>
          <a:p>
            <a:pPr algn="r" indent="0" marL="0">
              <a:buNone/>
            </a:pPr>
            <a:r>
              <a:rPr lang="en-US" sz="1100" dirty="0">
                <a:solidFill>
                  <a:srgbClr val="E07B00"/>
                </a:solidFill>
                <a:latin typeface="Segoe UI Semibold" pitchFamily="34" charset="0"/>
                <a:ea typeface="Segoe UI Semibold" pitchFamily="34" charset="-122"/>
                <a:cs typeface="Segoe UI Semibold" pitchFamily="34" charset="-120"/>
              </a:rPr>
              <a:t>453 nA</a:t>
            </a:r>
            <a:endParaRPr lang="en-US" sz="1100" dirty="0"/>
          </a:p>
        </p:txBody>
      </p:sp>
      <p:sp>
        <p:nvSpPr>
          <p:cNvPr id="46" name="!!ivRead"/>
          <p:cNvSpPr txBox="1"/>
          <p:nvPr/>
        </p:nvSpPr>
        <p:spPr>
          <a:xfrm>
            <a:off x="6858000" y="4572000"/>
            <a:ext cx="4754880" cy="256032"/>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G</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0.20 V     I</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453 nA</a:t>
            </a:r>
            <a:endParaRPr lang="en-US" sz="1400" dirty="0"/>
          </a:p>
        </p:txBody>
      </p:sp>
      <p:sp>
        <p:nvSpPr>
          <p:cNvPr id="47" name="!!ivReg"/>
          <p:cNvSpPr txBox="1"/>
          <p:nvPr/>
        </p:nvSpPr>
        <p:spPr>
          <a:xfrm>
            <a:off x="6858000" y="4818888"/>
            <a:ext cx="4754880" cy="219456"/>
          </a:xfrm>
          <a:prstGeom prst="rect">
            <a:avLst/>
          </a:prstGeom>
          <a:noFill/>
          <a:ln/>
        </p:spPr>
        <p:txBody>
          <a:bodyPr wrap="square" lIns="0" tIns="0" rIns="0" bIns="0" rtlCol="0" anchor="t"/>
          <a:lstStyle/>
          <a:p>
            <a:pPr algn="l" indent="0" marL="0">
              <a:buNone/>
            </a:pPr>
            <a:r>
              <a:rPr lang="en-US" sz="1100" dirty="0">
                <a:solidFill>
                  <a:srgbClr val="E07B00"/>
                </a:solidFill>
                <a:latin typeface="Segoe UI Semibold" pitchFamily="34" charset="0"/>
                <a:ea typeface="Segoe UI Semibold" pitchFamily="34" charset="-122"/>
                <a:cs typeface="Segoe UI Semibold" pitchFamily="34" charset="-120"/>
              </a:rPr>
              <a:t>NEAR V</a:t>
            </a:r>
            <a:pPr algn="l" indent="0" marL="0">
              <a:buNone/>
            </a:pPr>
            <a:r>
              <a:rPr lang="en-US" sz="1100" baseline="-40000" dirty="0">
                <a:solidFill>
                  <a:srgbClr val="E07B00"/>
                </a:solidFill>
                <a:latin typeface="Segoe UI Semibold" pitchFamily="34" charset="0"/>
                <a:ea typeface="Segoe UI Semibold" pitchFamily="34" charset="-122"/>
                <a:cs typeface="Segoe UI Semibold" pitchFamily="34" charset="-120"/>
              </a:rPr>
              <a:t>T</a:t>
            </a:r>
            <a:pPr algn="l" indent="0" marL="0">
              <a:buNone/>
            </a:pPr>
            <a:r>
              <a:rPr lang="en-US" sz="1100" dirty="0">
                <a:solidFill>
                  <a:srgbClr val="E07B00"/>
                </a:solidFill>
                <a:latin typeface="Segoe UI Semibold" pitchFamily="34" charset="0"/>
                <a:ea typeface="Segoe UI Semibold" pitchFamily="34" charset="-122"/>
                <a:cs typeface="Segoe UI Semibold" pitchFamily="34" charset="-120"/>
              </a:rPr>
              <a:t> = 0.204 V</a:t>
            </a:r>
            <a:endParaRPr lang="en-US" sz="1100" dirty="0"/>
          </a:p>
        </p:txBody>
      </p:sp>
      <p:sp>
        <p:nvSpPr>
          <p:cNvPr id="48" name="!!knobLbl"/>
          <p:cNvSpPr txBox="1"/>
          <p:nvPr/>
        </p:nvSpPr>
        <p:spPr>
          <a:xfrm>
            <a:off x="7022592" y="507492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0.2 V</a:t>
            </a:r>
            <a:endParaRPr lang="en-US" sz="1200" dirty="0"/>
          </a:p>
        </p:txBody>
      </p:sp>
      <p:sp>
        <p:nvSpPr>
          <p:cNvPr id="49" name="!!knobTrack"/>
          <p:cNvSpPr/>
          <p:nvPr/>
        </p:nvSpPr>
        <p:spPr>
          <a:xfrm>
            <a:off x="7040880" y="5458968"/>
            <a:ext cx="4480560" cy="54864"/>
          </a:xfrm>
          <a:prstGeom prst="roundRect">
            <a:avLst>
              <a:gd name="adj" fmla="val 50000"/>
            </a:avLst>
          </a:prstGeom>
          <a:solidFill>
            <a:srgbClr val="E2E3E3"/>
          </a:solidFill>
          <a:ln/>
        </p:spPr>
      </p:sp>
      <p:sp>
        <p:nvSpPr>
          <p:cNvPr id="50" name="!!knobFill"/>
          <p:cNvSpPr/>
          <p:nvPr/>
        </p:nvSpPr>
        <p:spPr>
          <a:xfrm>
            <a:off x="7040880" y="5458968"/>
            <a:ext cx="1280160" cy="54864"/>
          </a:xfrm>
          <a:prstGeom prst="roundRect">
            <a:avLst>
              <a:gd name="adj" fmla="val 50000"/>
            </a:avLst>
          </a:prstGeom>
          <a:solidFill>
            <a:srgbClr val="6B5BC4"/>
          </a:solidFill>
          <a:ln/>
        </p:spPr>
      </p:sp>
      <p:sp>
        <p:nvSpPr>
          <p:cNvPr id="51" name="!!knobT0"/>
          <p:cNvSpPr txBox="1"/>
          <p:nvPr/>
        </p:nvSpPr>
        <p:spPr>
          <a:xfrm>
            <a:off x="667512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52" name="!!knobT1"/>
          <p:cNvSpPr txBox="1"/>
          <p:nvPr/>
        </p:nvSpPr>
        <p:spPr>
          <a:xfrm>
            <a:off x="795528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53" name="!!knobT2"/>
          <p:cNvSpPr txBox="1"/>
          <p:nvPr/>
        </p:nvSpPr>
        <p:spPr>
          <a:xfrm>
            <a:off x="923544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54" name="!!knobT3"/>
          <p:cNvSpPr txBox="1"/>
          <p:nvPr/>
        </p:nvSpPr>
        <p:spPr>
          <a:xfrm>
            <a:off x="1051560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55" name="!!knobT4"/>
          <p:cNvSpPr txBox="1"/>
          <p:nvPr/>
        </p:nvSpPr>
        <p:spPr>
          <a:xfrm>
            <a:off x="1115568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56" name="!!knobThumb"/>
          <p:cNvSpPr/>
          <p:nvPr/>
        </p:nvSpPr>
        <p:spPr>
          <a:xfrm>
            <a:off x="8220456" y="5385816"/>
            <a:ext cx="201168" cy="201168"/>
          </a:xfrm>
          <a:prstGeom prst="ellipse">
            <a:avLst/>
          </a:prstGeom>
          <a:solidFill>
            <a:srgbClr val="FFFFFF"/>
          </a:solidFill>
          <a:ln w="28575">
            <a:solidFill>
              <a:srgbClr val="6B5BC4"/>
            </a:solidFill>
            <a:prstDash val="solid"/>
          </a:ln>
        </p:spPr>
      </p:sp>
      <p:sp>
        <p:nvSpPr>
          <p:cNvPr id="5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Near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T</a:t>
            </a:r>
            <a:pPr algn="ctr" indent="0" marL="0">
              <a:buNone/>
            </a:pPr>
            <a:r>
              <a:rPr lang="en-US" sz="1600" dirty="0">
                <a:solidFill>
                  <a:srgbClr val="171A20"/>
                </a:solidFill>
                <a:latin typeface="Segoe UI" pitchFamily="34" charset="0"/>
                <a:ea typeface="Segoe UI" pitchFamily="34" charset="-122"/>
                <a:cs typeface="Segoe UI" pitchFamily="34" charset="-120"/>
              </a:rPr>
              <a:t> a thin ring of electrons forms just inside the oxide.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69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Turning the gate in our wire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Reproduced GAA wire (r = 5.64 nm, L</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14 nm): Silvaco Atlas data,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171A20"/>
          </a:solidFill>
          <a:ln/>
        </p:spPr>
      </p:sp>
      <p:sp>
        <p:nvSpPr>
          <p:cNvPr id="6" name="!!sdot2"/>
          <p:cNvSpPr/>
          <p:nvPr/>
        </p:nvSpPr>
        <p:spPr>
          <a:xfrm>
            <a:off x="11132820" y="525780"/>
            <a:ext cx="82296" cy="82296"/>
          </a:xfrm>
          <a:prstGeom prst="ellipse">
            <a:avLst/>
          </a:prstGeom>
          <a:solidFill>
            <a:srgbClr val="171A20"/>
          </a:solidFill>
          <a:ln/>
        </p:spPr>
      </p:sp>
      <p:sp>
        <p:nvSpPr>
          <p:cNvPr id="7" name="!!sdot3"/>
          <p:cNvSpPr/>
          <p:nvPr/>
        </p:nvSpPr>
        <p:spPr>
          <a:xfrm>
            <a:off x="11288268" y="525780"/>
            <a:ext cx="82296" cy="82296"/>
          </a:xfrm>
          <a:prstGeom prst="ellipse">
            <a:avLst/>
          </a:prstGeom>
          <a:solidFill>
            <a:srgbClr val="171A20"/>
          </a:solidFill>
          <a:ln/>
        </p:spPr>
      </p:sp>
      <p:sp>
        <p:nvSpPr>
          <p:cNvPr id="8" name="!!sdot4"/>
          <p:cNvSpPr/>
          <p:nvPr/>
        </p:nvSpPr>
        <p:spPr>
          <a:xfrm>
            <a:off x="11443716" y="525780"/>
            <a:ext cx="82296" cy="82296"/>
          </a:xfrm>
          <a:prstGeom prst="ellipse">
            <a:avLst/>
          </a:prstGeom>
          <a:solidFill>
            <a:srgbClr val="E2E3E3"/>
          </a:solidFill>
          <a:ln/>
        </p:spPr>
      </p:sp>
      <p:sp>
        <p:nvSpPr>
          <p:cNvPr id="9" name="!!sdot5"/>
          <p:cNvSpPr/>
          <p:nvPr/>
        </p:nvSpPr>
        <p:spPr>
          <a:xfrm>
            <a:off x="11599164" y="525780"/>
            <a:ext cx="82296" cy="82296"/>
          </a:xfrm>
          <a:prstGeom prst="ellipse">
            <a:avLst/>
          </a:prstGeom>
          <a:solidFill>
            <a:srgbClr val="E2E3E3"/>
          </a:solidFill>
          <a:ln/>
        </p:spPr>
      </p:sp>
      <p:sp>
        <p:nvSpPr>
          <p:cNvPr id="10" name="!!gsG"/>
          <p:cNvSpPr/>
          <p:nvPr/>
        </p:nvSpPr>
        <p:spPr>
          <a:xfrm>
            <a:off x="777240" y="1874520"/>
            <a:ext cx="2834640" cy="2834640"/>
          </a:xfrm>
          <a:prstGeom prst="ellipse">
            <a:avLst/>
          </a:prstGeom>
          <a:solidFill>
            <a:srgbClr val="B3A6E6"/>
          </a:solidFill>
          <a:ln/>
        </p:spPr>
      </p:sp>
      <p:sp>
        <p:nvSpPr>
          <p:cNvPr id="11" name="!!gsH"/>
          <p:cNvSpPr/>
          <p:nvPr/>
        </p:nvSpPr>
        <p:spPr>
          <a:xfrm>
            <a:off x="1143000" y="2240280"/>
            <a:ext cx="2103120" cy="2103120"/>
          </a:xfrm>
          <a:prstGeom prst="ellipse">
            <a:avLst/>
          </a:prstGeom>
          <a:solidFill>
            <a:srgbClr val="8FCBE0"/>
          </a:solidFill>
          <a:ln/>
        </p:spPr>
      </p:sp>
      <p:sp>
        <p:nvSpPr>
          <p:cNvPr id="12" name="!!gsO"/>
          <p:cNvSpPr/>
          <p:nvPr/>
        </p:nvSpPr>
        <p:spPr>
          <a:xfrm>
            <a:off x="1261872" y="2359152"/>
            <a:ext cx="1865376" cy="1865376"/>
          </a:xfrm>
          <a:prstGeom prst="ellipse">
            <a:avLst/>
          </a:prstGeom>
          <a:solidFill>
            <a:srgbClr val="CDEBF5"/>
          </a:solidFill>
          <a:ln/>
        </p:spPr>
      </p:sp>
      <p:sp>
        <p:nvSpPr>
          <p:cNvPr id="13" name="!!gsE"/>
          <p:cNvSpPr/>
          <p:nvPr/>
        </p:nvSpPr>
        <p:spPr>
          <a:xfrm>
            <a:off x="1371600" y="2468880"/>
            <a:ext cx="1645920" cy="1645920"/>
          </a:xfrm>
          <a:prstGeom prst="ellipse">
            <a:avLst/>
          </a:prstGeom>
          <a:solidFill>
            <a:srgbClr val="1F2F6B"/>
          </a:solidFill>
          <a:ln/>
        </p:spPr>
      </p:sp>
      <p:sp>
        <p:nvSpPr>
          <p:cNvPr id="14" name="!!gsS"/>
          <p:cNvSpPr/>
          <p:nvPr/>
        </p:nvSpPr>
        <p:spPr>
          <a:xfrm>
            <a:off x="1554480" y="2651760"/>
            <a:ext cx="1280160" cy="1280160"/>
          </a:xfrm>
          <a:prstGeom prst="ellipse">
            <a:avLst/>
          </a:prstGeom>
          <a:solidFill>
            <a:srgbClr val="F6E7B8"/>
          </a:solidFill>
          <a:ln/>
        </p:spPr>
      </p:sp>
      <p:sp>
        <p:nvSpPr>
          <p:cNvPr id="15" name="!!gsL"/>
          <p:cNvSpPr txBox="1"/>
          <p:nvPr/>
        </p:nvSpPr>
        <p:spPr>
          <a:xfrm>
            <a:off x="548640" y="4892040"/>
            <a:ext cx="3291840" cy="27432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wire cross-section (gate all round)</a:t>
            </a:r>
            <a:endParaRPr lang="en-US" sz="1100" dirty="0"/>
          </a:p>
        </p:txBody>
      </p:sp>
      <p:sp>
        <p:nvSpPr>
          <p:cNvPr id="16" name="!!gsLg0"/>
          <p:cNvSpPr/>
          <p:nvPr/>
        </p:nvSpPr>
        <p:spPr>
          <a:xfrm>
            <a:off x="4023360" y="2194560"/>
            <a:ext cx="201168" cy="201168"/>
          </a:xfrm>
          <a:prstGeom prst="rect">
            <a:avLst/>
          </a:prstGeom>
          <a:solidFill>
            <a:srgbClr val="B3A6E6"/>
          </a:solidFill>
          <a:ln/>
        </p:spPr>
      </p:sp>
      <p:sp>
        <p:nvSpPr>
          <p:cNvPr id="17" name="!!gsLgt0"/>
          <p:cNvSpPr txBox="1"/>
          <p:nvPr/>
        </p:nvSpPr>
        <p:spPr>
          <a:xfrm>
            <a:off x="4315968" y="2167128"/>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gate</a:t>
            </a:r>
            <a:endParaRPr lang="en-US" sz="1100" dirty="0"/>
          </a:p>
        </p:txBody>
      </p:sp>
      <p:sp>
        <p:nvSpPr>
          <p:cNvPr id="18" name="!!gsLg1"/>
          <p:cNvSpPr/>
          <p:nvPr/>
        </p:nvSpPr>
        <p:spPr>
          <a:xfrm>
            <a:off x="4023360" y="2578608"/>
            <a:ext cx="201168" cy="201168"/>
          </a:xfrm>
          <a:prstGeom prst="rect">
            <a:avLst/>
          </a:prstGeom>
          <a:solidFill>
            <a:srgbClr val="8FCBE0"/>
          </a:solidFill>
          <a:ln/>
        </p:spPr>
      </p:sp>
      <p:sp>
        <p:nvSpPr>
          <p:cNvPr id="19" name="!!gsLgt1"/>
          <p:cNvSpPr txBox="1"/>
          <p:nvPr/>
        </p:nvSpPr>
        <p:spPr>
          <a:xfrm>
            <a:off x="4315968" y="2551176"/>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HfO2 / SiO2</a:t>
            </a:r>
            <a:endParaRPr lang="en-US" sz="1100" dirty="0"/>
          </a:p>
        </p:txBody>
      </p:sp>
      <p:sp>
        <p:nvSpPr>
          <p:cNvPr id="20" name="!!gsLg2"/>
          <p:cNvSpPr/>
          <p:nvPr/>
        </p:nvSpPr>
        <p:spPr>
          <a:xfrm>
            <a:off x="4023360" y="2962656"/>
            <a:ext cx="201168" cy="201168"/>
          </a:xfrm>
          <a:prstGeom prst="rect">
            <a:avLst/>
          </a:prstGeom>
          <a:solidFill>
            <a:srgbClr val="F6E7B8"/>
          </a:solidFill>
          <a:ln/>
        </p:spPr>
      </p:sp>
      <p:sp>
        <p:nvSpPr>
          <p:cNvPr id="21" name="!!gsLgt2"/>
          <p:cNvSpPr txBox="1"/>
          <p:nvPr/>
        </p:nvSpPr>
        <p:spPr>
          <a:xfrm>
            <a:off x="4315968" y="2935224"/>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silicon</a:t>
            </a:r>
            <a:endParaRPr lang="en-US" sz="1100" dirty="0"/>
          </a:p>
        </p:txBody>
      </p:sp>
      <p:sp>
        <p:nvSpPr>
          <p:cNvPr id="22" name="!!gsLg3"/>
          <p:cNvSpPr/>
          <p:nvPr/>
        </p:nvSpPr>
        <p:spPr>
          <a:xfrm>
            <a:off x="4023360" y="3346704"/>
            <a:ext cx="201168" cy="201168"/>
          </a:xfrm>
          <a:prstGeom prst="rect">
            <a:avLst/>
          </a:prstGeom>
          <a:solidFill>
            <a:srgbClr val="1F2F6B"/>
          </a:solidFill>
          <a:ln/>
        </p:spPr>
      </p:sp>
      <p:sp>
        <p:nvSpPr>
          <p:cNvPr id="23" name="!!gsLgt3"/>
          <p:cNvSpPr txBox="1"/>
          <p:nvPr/>
        </p:nvSpPr>
        <p:spPr>
          <a:xfrm>
            <a:off x="4315968" y="3319272"/>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electrons</a:t>
            </a:r>
            <a:endParaRPr lang="en-US" sz="1100" dirty="0"/>
          </a:p>
        </p:txBody>
      </p:sp>
      <p:sp>
        <p:nvSpPr>
          <p:cNvPr id="24" name="!!axg0"/>
          <p:cNvSpPr/>
          <p:nvPr/>
        </p:nvSpPr>
        <p:spPr>
          <a:xfrm>
            <a:off x="7223760" y="4069080"/>
            <a:ext cx="4297680" cy="91"/>
          </a:xfrm>
          <a:prstGeom prst="line">
            <a:avLst/>
          </a:prstGeom>
          <a:noFill/>
          <a:ln w="9525">
            <a:solidFill>
              <a:srgbClr val="EDEEF0"/>
            </a:solidFill>
            <a:prstDash val="solid"/>
          </a:ln>
        </p:spPr>
      </p:sp>
      <p:sp>
        <p:nvSpPr>
          <p:cNvPr id="25" name="!!axg1"/>
          <p:cNvSpPr/>
          <p:nvPr/>
        </p:nvSpPr>
        <p:spPr>
          <a:xfrm>
            <a:off x="7223760" y="3276600"/>
            <a:ext cx="4297680" cy="91"/>
          </a:xfrm>
          <a:prstGeom prst="line">
            <a:avLst/>
          </a:prstGeom>
          <a:noFill/>
          <a:ln w="9525">
            <a:solidFill>
              <a:srgbClr val="EDEEF0"/>
            </a:solidFill>
            <a:prstDash val="solid"/>
          </a:ln>
        </p:spPr>
      </p:sp>
      <p:sp>
        <p:nvSpPr>
          <p:cNvPr id="26" name="!!axg2"/>
          <p:cNvSpPr/>
          <p:nvPr/>
        </p:nvSpPr>
        <p:spPr>
          <a:xfrm>
            <a:off x="7223760" y="2484120"/>
            <a:ext cx="4297680" cy="91"/>
          </a:xfrm>
          <a:prstGeom prst="line">
            <a:avLst/>
          </a:prstGeom>
          <a:noFill/>
          <a:ln w="9525">
            <a:solidFill>
              <a:srgbClr val="EDEEF0"/>
            </a:solidFill>
            <a:prstDash val="solid"/>
          </a:ln>
        </p:spPr>
      </p:sp>
      <p:sp>
        <p:nvSpPr>
          <p:cNvPr id="27" name="!!axg3"/>
          <p:cNvSpPr/>
          <p:nvPr/>
        </p:nvSpPr>
        <p:spPr>
          <a:xfrm>
            <a:off x="7223760" y="1691640"/>
            <a:ext cx="4297680" cy="91"/>
          </a:xfrm>
          <a:prstGeom prst="line">
            <a:avLst/>
          </a:prstGeom>
          <a:noFill/>
          <a:ln w="9525">
            <a:solidFill>
              <a:srgbClr val="EDEEF0"/>
            </a:solidFill>
            <a:prstDash val="solid"/>
          </a:ln>
        </p:spPr>
      </p:sp>
      <p:sp>
        <p:nvSpPr>
          <p:cNvPr id="28" name="!!axxa"/>
          <p:cNvSpPr/>
          <p:nvPr/>
        </p:nvSpPr>
        <p:spPr>
          <a:xfrm>
            <a:off x="7223760" y="4069080"/>
            <a:ext cx="4297680" cy="91"/>
          </a:xfrm>
          <a:prstGeom prst="line">
            <a:avLst/>
          </a:prstGeom>
          <a:noFill/>
          <a:ln w="12700">
            <a:solidFill>
              <a:srgbClr val="8A8D93"/>
            </a:solidFill>
            <a:prstDash val="solid"/>
          </a:ln>
        </p:spPr>
      </p:sp>
      <p:sp>
        <p:nvSpPr>
          <p:cNvPr id="29" name="!!axya"/>
          <p:cNvSpPr/>
          <p:nvPr/>
        </p:nvSpPr>
        <p:spPr>
          <a:xfrm>
            <a:off x="7223760" y="1691640"/>
            <a:ext cx="91" cy="2377440"/>
          </a:xfrm>
          <a:prstGeom prst="line">
            <a:avLst/>
          </a:prstGeom>
          <a:noFill/>
          <a:ln w="12700">
            <a:solidFill>
              <a:srgbClr val="8A8D93"/>
            </a:solidFill>
            <a:prstDash val="solid"/>
          </a:ln>
        </p:spPr>
      </p:sp>
      <p:sp>
        <p:nvSpPr>
          <p:cNvPr id="30" name="!!axxt0"/>
          <p:cNvSpPr txBox="1"/>
          <p:nvPr/>
        </p:nvSpPr>
        <p:spPr>
          <a:xfrm>
            <a:off x="690372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31" name="!!axxt1"/>
          <p:cNvSpPr txBox="1"/>
          <p:nvPr/>
        </p:nvSpPr>
        <p:spPr>
          <a:xfrm>
            <a:off x="8131629"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32" name="!!axxt2"/>
          <p:cNvSpPr txBox="1"/>
          <p:nvPr/>
        </p:nvSpPr>
        <p:spPr>
          <a:xfrm>
            <a:off x="9359537"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33" name="!!axxt3"/>
          <p:cNvSpPr txBox="1"/>
          <p:nvPr/>
        </p:nvSpPr>
        <p:spPr>
          <a:xfrm>
            <a:off x="10587446"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34" name="!!axyt0"/>
          <p:cNvSpPr txBox="1"/>
          <p:nvPr/>
        </p:nvSpPr>
        <p:spPr>
          <a:xfrm>
            <a:off x="6537960" y="39684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35" name="!!axyt1"/>
          <p:cNvSpPr txBox="1"/>
          <p:nvPr/>
        </p:nvSpPr>
        <p:spPr>
          <a:xfrm>
            <a:off x="6537960" y="31760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36" name="!!axyt2"/>
          <p:cNvSpPr txBox="1"/>
          <p:nvPr/>
        </p:nvSpPr>
        <p:spPr>
          <a:xfrm>
            <a:off x="6537960" y="23835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37" name="!!axyt3"/>
          <p:cNvSpPr txBox="1"/>
          <p:nvPr/>
        </p:nvSpPr>
        <p:spPr>
          <a:xfrm>
            <a:off x="653796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38" name="!!axxl"/>
          <p:cNvSpPr txBox="1"/>
          <p:nvPr/>
        </p:nvSpPr>
        <p:spPr>
          <a:xfrm>
            <a:off x="7223760" y="4343400"/>
            <a:ext cx="429768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39" name="!!axyl"/>
          <p:cNvSpPr txBox="1"/>
          <p:nvPr/>
        </p:nvSpPr>
        <p:spPr>
          <a:xfrm>
            <a:off x="704088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a:t>
            </a:r>
            <a:endParaRPr lang="en-US" sz="1100" dirty="0"/>
          </a:p>
        </p:txBody>
      </p:sp>
      <p:sp>
        <p:nvSpPr>
          <p:cNvPr id="40" name="!!gsPlanar"/>
          <p:cNvSpPr/>
          <p:nvPr/>
        </p:nvSpPr>
        <p:spPr>
          <a:xfrm>
            <a:off x="7223760" y="1868223"/>
            <a:ext cx="4297680" cy="862057"/>
          </a:xfrm>
          <a:custGeom>
            <a:avLst/>
            <a:gdLst/>
            <a:ahLst/>
            <a:cxnLst/>
            <a:rect l="l" t="t" r="r" b="b"/>
            <a:pathLst>
              <a:path w="4297680" h="862057">
                <a:moveTo>
                  <a:pt x="0" y="862057"/>
                </a:moveTo>
                <a:lnTo>
                  <a:pt x="153489" y="791433"/>
                </a:lnTo>
                <a:lnTo>
                  <a:pt x="306977" y="725515"/>
                </a:lnTo>
                <a:lnTo>
                  <a:pt x="460466" y="664374"/>
                </a:lnTo>
                <a:lnTo>
                  <a:pt x="613954" y="607945"/>
                </a:lnTo>
                <a:lnTo>
                  <a:pt x="767443" y="556041"/>
                </a:lnTo>
                <a:lnTo>
                  <a:pt x="920931" y="508392"/>
                </a:lnTo>
                <a:lnTo>
                  <a:pt x="1074420" y="464670"/>
                </a:lnTo>
                <a:lnTo>
                  <a:pt x="1227909" y="424523"/>
                </a:lnTo>
                <a:lnTo>
                  <a:pt x="1381397" y="387599"/>
                </a:lnTo>
                <a:lnTo>
                  <a:pt x="1534886" y="353560"/>
                </a:lnTo>
                <a:lnTo>
                  <a:pt x="1688374" y="322093"/>
                </a:lnTo>
                <a:lnTo>
                  <a:pt x="1841863" y="292913"/>
                </a:lnTo>
                <a:lnTo>
                  <a:pt x="1995351" y="265766"/>
                </a:lnTo>
                <a:lnTo>
                  <a:pt x="2148840" y="240430"/>
                </a:lnTo>
                <a:lnTo>
                  <a:pt x="2302329" y="216708"/>
                </a:lnTo>
                <a:lnTo>
                  <a:pt x="2455817" y="194427"/>
                </a:lnTo>
                <a:lnTo>
                  <a:pt x="2609306" y="173439"/>
                </a:lnTo>
                <a:lnTo>
                  <a:pt x="2762794" y="153613"/>
                </a:lnTo>
                <a:lnTo>
                  <a:pt x="2916283" y="134836"/>
                </a:lnTo>
                <a:lnTo>
                  <a:pt x="3069771" y="117008"/>
                </a:lnTo>
                <a:lnTo>
                  <a:pt x="3223260" y="100041"/>
                </a:lnTo>
                <a:lnTo>
                  <a:pt x="3376749" y="83861"/>
                </a:lnTo>
                <a:lnTo>
                  <a:pt x="3530237" y="68398"/>
                </a:lnTo>
                <a:lnTo>
                  <a:pt x="3683726" y="53595"/>
                </a:lnTo>
                <a:lnTo>
                  <a:pt x="3837214" y="39398"/>
                </a:lnTo>
                <a:lnTo>
                  <a:pt x="3990703" y="25760"/>
                </a:lnTo>
                <a:lnTo>
                  <a:pt x="4144191" y="12640"/>
                </a:lnTo>
                <a:lnTo>
                  <a:pt x="4297680" y="0"/>
                </a:lnTo>
              </a:path>
            </a:pathLst>
          </a:custGeom>
          <a:ln w="19050">
            <a:solidFill>
              <a:srgbClr val="D9DCE3"/>
            </a:solidFill>
            <a:prstDash val="dash"/>
          </a:ln>
        </p:spPr>
      </p:sp>
      <p:sp>
        <p:nvSpPr>
          <p:cNvPr id="41" name="!!gsPlanarL"/>
          <p:cNvSpPr txBox="1"/>
          <p:nvPr/>
        </p:nvSpPr>
        <p:spPr>
          <a:xfrm>
            <a:off x="7346551" y="2455960"/>
            <a:ext cx="1280160" cy="201168"/>
          </a:xfrm>
          <a:prstGeom prst="rect">
            <a:avLst/>
          </a:prstGeom>
          <a:noFill/>
          <a:ln/>
        </p:spPr>
        <p:txBody>
          <a:bodyPr wrap="square" lIns="0" tIns="0" rIns="0" bIns="0" rtlCol="0" anchor="t"/>
          <a:lstStyle/>
          <a:p>
            <a:pPr algn="l" indent="0" marL="0">
              <a:buNone/>
            </a:pPr>
            <a:r>
              <a:rPr lang="en-US" sz="900" dirty="0">
                <a:solidFill>
                  <a:srgbClr val="8A8D93"/>
                </a:solidFill>
                <a:latin typeface="Segoe UI" pitchFamily="34" charset="0"/>
                <a:ea typeface="Segoe UI" pitchFamily="34" charset="-122"/>
                <a:cs typeface="Segoe UI" pitchFamily="34" charset="-120"/>
              </a:rPr>
              <a:t>planar at 14 nm</a:t>
            </a:r>
            <a:endParaRPr lang="en-US" sz="900" dirty="0"/>
          </a:p>
        </p:txBody>
      </p:sp>
      <p:sp>
        <p:nvSpPr>
          <p:cNvPr id="42" name="!!ivGhost"/>
          <p:cNvSpPr/>
          <p:nvPr/>
        </p:nvSpPr>
        <p:spPr>
          <a:xfrm>
            <a:off x="7223760" y="1913989"/>
            <a:ext cx="4297680" cy="1840078"/>
          </a:xfrm>
          <a:custGeom>
            <a:avLst/>
            <a:gdLst/>
            <a:ahLst/>
            <a:cxnLst/>
            <a:rect l="l" t="t" r="r" b="b"/>
            <a:pathLst>
              <a:path w="4297680" h="1840078">
                <a:moveTo>
                  <a:pt x="0" y="1840078"/>
                </a:moveTo>
                <a:lnTo>
                  <a:pt x="153489" y="1697842"/>
                </a:lnTo>
                <a:lnTo>
                  <a:pt x="306977" y="1552454"/>
                </a:lnTo>
                <a:lnTo>
                  <a:pt x="460466" y="1406152"/>
                </a:lnTo>
                <a:lnTo>
                  <a:pt x="613954" y="1260051"/>
                </a:lnTo>
                <a:lnTo>
                  <a:pt x="767443" y="1114998"/>
                </a:lnTo>
                <a:lnTo>
                  <a:pt x="920931" y="972166"/>
                </a:lnTo>
                <a:lnTo>
                  <a:pt x="1074420" y="834709"/>
                </a:lnTo>
                <a:lnTo>
                  <a:pt x="1227909" y="706556"/>
                </a:lnTo>
                <a:lnTo>
                  <a:pt x="1381397" y="590851"/>
                </a:lnTo>
                <a:lnTo>
                  <a:pt x="1534886" y="490066"/>
                </a:lnTo>
                <a:lnTo>
                  <a:pt x="1688374" y="409523"/>
                </a:lnTo>
                <a:lnTo>
                  <a:pt x="1841863" y="349453"/>
                </a:lnTo>
                <a:lnTo>
                  <a:pt x="1995351" y="304873"/>
                </a:lnTo>
                <a:lnTo>
                  <a:pt x="2148840" y="268360"/>
                </a:lnTo>
                <a:lnTo>
                  <a:pt x="2302329" y="236425"/>
                </a:lnTo>
                <a:lnTo>
                  <a:pt x="2455817" y="207803"/>
                </a:lnTo>
                <a:lnTo>
                  <a:pt x="2609306" y="181881"/>
                </a:lnTo>
                <a:lnTo>
                  <a:pt x="2762794" y="158244"/>
                </a:lnTo>
                <a:lnTo>
                  <a:pt x="2916283" y="136586"/>
                </a:lnTo>
                <a:lnTo>
                  <a:pt x="3069771" y="116655"/>
                </a:lnTo>
                <a:lnTo>
                  <a:pt x="3223260" y="98246"/>
                </a:lnTo>
                <a:lnTo>
                  <a:pt x="3376749" y="81182"/>
                </a:lnTo>
                <a:lnTo>
                  <a:pt x="3530237" y="65314"/>
                </a:lnTo>
                <a:lnTo>
                  <a:pt x="3683726" y="50515"/>
                </a:lnTo>
                <a:lnTo>
                  <a:pt x="3837214" y="36674"/>
                </a:lnTo>
                <a:lnTo>
                  <a:pt x="3990703" y="23694"/>
                </a:lnTo>
                <a:lnTo>
                  <a:pt x="4144191" y="11494"/>
                </a:lnTo>
                <a:lnTo>
                  <a:pt x="4297680" y="0"/>
                </a:lnTo>
              </a:path>
            </a:pathLst>
          </a:custGeom>
          <a:ln w="25400">
            <a:solidFill>
              <a:srgbClr val="C9CCD3"/>
            </a:solidFill>
            <a:prstDash val="solid"/>
          </a:ln>
        </p:spPr>
      </p:sp>
      <p:sp>
        <p:nvSpPr>
          <p:cNvPr id="43" name="!!ivTrail"/>
          <p:cNvSpPr/>
          <p:nvPr/>
        </p:nvSpPr>
        <p:spPr>
          <a:xfrm>
            <a:off x="7223760" y="2263441"/>
            <a:ext cx="1841863" cy="1490625"/>
          </a:xfrm>
          <a:custGeom>
            <a:avLst/>
            <a:gdLst/>
            <a:ahLst/>
            <a:cxnLst/>
            <a:rect l="l" t="t" r="r" b="b"/>
            <a:pathLst>
              <a:path w="1841863" h="1490625">
                <a:moveTo>
                  <a:pt x="0" y="1490625"/>
                </a:moveTo>
                <a:lnTo>
                  <a:pt x="153489" y="1348389"/>
                </a:lnTo>
                <a:lnTo>
                  <a:pt x="306977" y="1203001"/>
                </a:lnTo>
                <a:lnTo>
                  <a:pt x="460466" y="1056699"/>
                </a:lnTo>
                <a:lnTo>
                  <a:pt x="613954" y="910598"/>
                </a:lnTo>
                <a:lnTo>
                  <a:pt x="767443" y="765546"/>
                </a:lnTo>
                <a:lnTo>
                  <a:pt x="920931" y="622713"/>
                </a:lnTo>
                <a:lnTo>
                  <a:pt x="1074420" y="485256"/>
                </a:lnTo>
                <a:lnTo>
                  <a:pt x="1227909" y="357103"/>
                </a:lnTo>
                <a:lnTo>
                  <a:pt x="1381397" y="241398"/>
                </a:lnTo>
                <a:lnTo>
                  <a:pt x="1534886" y="140613"/>
                </a:lnTo>
                <a:lnTo>
                  <a:pt x="1688374" y="60070"/>
                </a:lnTo>
                <a:lnTo>
                  <a:pt x="1841863" y="0"/>
                </a:lnTo>
              </a:path>
            </a:pathLst>
          </a:custGeom>
          <a:ln w="38100">
            <a:solidFill>
              <a:srgbClr val="2E9E4F"/>
            </a:solidFill>
            <a:prstDash val="solid"/>
          </a:ln>
        </p:spPr>
      </p:sp>
      <p:sp>
        <p:nvSpPr>
          <p:cNvPr id="44" name="!!ivPt"/>
          <p:cNvSpPr/>
          <p:nvPr/>
        </p:nvSpPr>
        <p:spPr>
          <a:xfrm>
            <a:off x="8983327" y="2181145"/>
            <a:ext cx="164592" cy="164592"/>
          </a:xfrm>
          <a:prstGeom prst="ellipse">
            <a:avLst/>
          </a:prstGeom>
          <a:solidFill>
            <a:srgbClr val="3E6AE1"/>
          </a:solidFill>
          <a:ln w="19050">
            <a:solidFill>
              <a:srgbClr val="FFFFFF"/>
            </a:solidFill>
            <a:prstDash val="solid"/>
          </a:ln>
        </p:spPr>
      </p:sp>
      <p:sp>
        <p:nvSpPr>
          <p:cNvPr id="45" name="!!ivPtL"/>
          <p:cNvSpPr txBox="1"/>
          <p:nvPr/>
        </p:nvSpPr>
        <p:spPr>
          <a:xfrm>
            <a:off x="8151223" y="1934257"/>
            <a:ext cx="868680" cy="219456"/>
          </a:xfrm>
          <a:prstGeom prst="rect">
            <a:avLst/>
          </a:prstGeom>
          <a:noFill/>
          <a:ln/>
        </p:spPr>
        <p:txBody>
          <a:bodyPr wrap="square" lIns="0" tIns="0" rIns="0" bIns="0" rtlCol="0" anchor="t"/>
          <a:lstStyle/>
          <a:p>
            <a:pPr algn="r" indent="0" marL="0">
              <a:buNone/>
            </a:pPr>
            <a:r>
              <a:rPr lang="en-US" sz="1100" dirty="0">
                <a:solidFill>
                  <a:srgbClr val="3E6AE1"/>
                </a:solidFill>
                <a:latin typeface="Segoe UI Semibold" pitchFamily="34" charset="0"/>
                <a:ea typeface="Segoe UI Semibold" pitchFamily="34" charset="-122"/>
                <a:cs typeface="Segoe UI Semibold" pitchFamily="34" charset="-120"/>
              </a:rPr>
              <a:t>3.6 µA</a:t>
            </a:r>
            <a:endParaRPr lang="en-US" sz="1100" dirty="0"/>
          </a:p>
        </p:txBody>
      </p:sp>
      <p:sp>
        <p:nvSpPr>
          <p:cNvPr id="46" name="!!ivRead"/>
          <p:cNvSpPr txBox="1"/>
          <p:nvPr/>
        </p:nvSpPr>
        <p:spPr>
          <a:xfrm>
            <a:off x="6858000" y="4572000"/>
            <a:ext cx="4754880" cy="256032"/>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G</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0.30 V     I</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3.6 µA</a:t>
            </a:r>
            <a:endParaRPr lang="en-US" sz="1400" dirty="0"/>
          </a:p>
        </p:txBody>
      </p:sp>
      <p:sp>
        <p:nvSpPr>
          <p:cNvPr id="47" name="!!ivReg"/>
          <p:cNvSpPr txBox="1"/>
          <p:nvPr/>
        </p:nvSpPr>
        <p:spPr>
          <a:xfrm>
            <a:off x="6858000" y="4818888"/>
            <a:ext cx="4754880" cy="219456"/>
          </a:xfrm>
          <a:prstGeom prst="rect">
            <a:avLst/>
          </a:prstGeom>
          <a:noFill/>
          <a:ln/>
        </p:spPr>
        <p:txBody>
          <a:bodyPr wrap="square" lIns="0" tIns="0" rIns="0" bIns="0" rtlCol="0" anchor="t"/>
          <a:lstStyle/>
          <a:p>
            <a:pPr algn="l" indent="0" marL="0">
              <a:buNone/>
            </a:pPr>
            <a:r>
              <a:rPr lang="en-US" sz="1100" dirty="0">
                <a:solidFill>
                  <a:srgbClr val="3E6AE1"/>
                </a:solidFill>
                <a:latin typeface="Segoe UI Semibold" pitchFamily="34" charset="0"/>
                <a:ea typeface="Segoe UI Semibold" pitchFamily="34" charset="-122"/>
                <a:cs typeface="Segoe UI Semibold" pitchFamily="34" charset="-120"/>
              </a:rPr>
              <a:t>CHANNEL FORMED: a ring</a:t>
            </a:r>
            <a:endParaRPr lang="en-US" sz="1100" dirty="0"/>
          </a:p>
        </p:txBody>
      </p:sp>
      <p:sp>
        <p:nvSpPr>
          <p:cNvPr id="48" name="!!knobLbl"/>
          <p:cNvSpPr txBox="1"/>
          <p:nvPr/>
        </p:nvSpPr>
        <p:spPr>
          <a:xfrm>
            <a:off x="7022592" y="507492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0.3 V</a:t>
            </a:r>
            <a:endParaRPr lang="en-US" sz="1200" dirty="0"/>
          </a:p>
        </p:txBody>
      </p:sp>
      <p:sp>
        <p:nvSpPr>
          <p:cNvPr id="49" name="!!knobTrack"/>
          <p:cNvSpPr/>
          <p:nvPr/>
        </p:nvSpPr>
        <p:spPr>
          <a:xfrm>
            <a:off x="7040880" y="5458968"/>
            <a:ext cx="4480560" cy="54864"/>
          </a:xfrm>
          <a:prstGeom prst="roundRect">
            <a:avLst>
              <a:gd name="adj" fmla="val 50000"/>
            </a:avLst>
          </a:prstGeom>
          <a:solidFill>
            <a:srgbClr val="E2E3E3"/>
          </a:solidFill>
          <a:ln/>
        </p:spPr>
      </p:sp>
      <p:sp>
        <p:nvSpPr>
          <p:cNvPr id="50" name="!!knobFill"/>
          <p:cNvSpPr/>
          <p:nvPr/>
        </p:nvSpPr>
        <p:spPr>
          <a:xfrm>
            <a:off x="7040880" y="5458968"/>
            <a:ext cx="1920240" cy="54864"/>
          </a:xfrm>
          <a:prstGeom prst="roundRect">
            <a:avLst>
              <a:gd name="adj" fmla="val 50000"/>
            </a:avLst>
          </a:prstGeom>
          <a:solidFill>
            <a:srgbClr val="6B5BC4"/>
          </a:solidFill>
          <a:ln/>
        </p:spPr>
      </p:sp>
      <p:sp>
        <p:nvSpPr>
          <p:cNvPr id="51" name="!!knobT0"/>
          <p:cNvSpPr txBox="1"/>
          <p:nvPr/>
        </p:nvSpPr>
        <p:spPr>
          <a:xfrm>
            <a:off x="667512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52" name="!!knobT1"/>
          <p:cNvSpPr txBox="1"/>
          <p:nvPr/>
        </p:nvSpPr>
        <p:spPr>
          <a:xfrm>
            <a:off x="795528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53" name="!!knobT2"/>
          <p:cNvSpPr txBox="1"/>
          <p:nvPr/>
        </p:nvSpPr>
        <p:spPr>
          <a:xfrm>
            <a:off x="923544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54" name="!!knobT3"/>
          <p:cNvSpPr txBox="1"/>
          <p:nvPr/>
        </p:nvSpPr>
        <p:spPr>
          <a:xfrm>
            <a:off x="1051560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55" name="!!knobT4"/>
          <p:cNvSpPr txBox="1"/>
          <p:nvPr/>
        </p:nvSpPr>
        <p:spPr>
          <a:xfrm>
            <a:off x="1115568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56" name="!!knobThumb"/>
          <p:cNvSpPr/>
          <p:nvPr/>
        </p:nvSpPr>
        <p:spPr>
          <a:xfrm>
            <a:off x="8860536" y="5385816"/>
            <a:ext cx="201168" cy="201168"/>
          </a:xfrm>
          <a:prstGeom prst="ellipse">
            <a:avLst/>
          </a:prstGeom>
          <a:solidFill>
            <a:srgbClr val="FFFFFF"/>
          </a:solidFill>
          <a:ln w="28575">
            <a:solidFill>
              <a:srgbClr val="6B5BC4"/>
            </a:solidFill>
            <a:prstDash val="solid"/>
          </a:ln>
        </p:spPr>
      </p:sp>
      <p:sp>
        <p:nvSpPr>
          <p:cNvPr id="5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Past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T</a:t>
            </a:r>
            <a:pPr algn="ctr" indent="0" marL="0">
              <a:buNone/>
            </a:pPr>
            <a:r>
              <a:rPr lang="en-US" sz="1600" dirty="0">
                <a:solidFill>
                  <a:srgbClr val="171A20"/>
                </a:solidFill>
                <a:latin typeface="Segoe UI" pitchFamily="34" charset="0"/>
                <a:ea typeface="Segoe UI" pitchFamily="34" charset="-122"/>
                <a:cs typeface="Segoe UI" pitchFamily="34" charset="-120"/>
              </a:rPr>
              <a:t> the electron ring thickens all round the wire.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70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Turning the gate in our wire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Reproduced GAA wire (r = 5.64 nm, L</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14 nm): Silvaco Atlas data,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171A20"/>
          </a:solidFill>
          <a:ln/>
        </p:spPr>
      </p:sp>
      <p:sp>
        <p:nvSpPr>
          <p:cNvPr id="6" name="!!sdot2"/>
          <p:cNvSpPr/>
          <p:nvPr/>
        </p:nvSpPr>
        <p:spPr>
          <a:xfrm>
            <a:off x="11132820" y="525780"/>
            <a:ext cx="82296" cy="82296"/>
          </a:xfrm>
          <a:prstGeom prst="ellipse">
            <a:avLst/>
          </a:prstGeom>
          <a:solidFill>
            <a:srgbClr val="171A20"/>
          </a:solidFill>
          <a:ln/>
        </p:spPr>
      </p:sp>
      <p:sp>
        <p:nvSpPr>
          <p:cNvPr id="7" name="!!sdot3"/>
          <p:cNvSpPr/>
          <p:nvPr/>
        </p:nvSpPr>
        <p:spPr>
          <a:xfrm>
            <a:off x="11288268" y="525780"/>
            <a:ext cx="82296" cy="82296"/>
          </a:xfrm>
          <a:prstGeom prst="ellipse">
            <a:avLst/>
          </a:prstGeom>
          <a:solidFill>
            <a:srgbClr val="171A20"/>
          </a:solidFill>
          <a:ln/>
        </p:spPr>
      </p:sp>
      <p:sp>
        <p:nvSpPr>
          <p:cNvPr id="8" name="!!sdot4"/>
          <p:cNvSpPr/>
          <p:nvPr/>
        </p:nvSpPr>
        <p:spPr>
          <a:xfrm>
            <a:off x="11443716" y="525780"/>
            <a:ext cx="82296" cy="82296"/>
          </a:xfrm>
          <a:prstGeom prst="ellipse">
            <a:avLst/>
          </a:prstGeom>
          <a:solidFill>
            <a:srgbClr val="171A20"/>
          </a:solidFill>
          <a:ln/>
        </p:spPr>
      </p:sp>
      <p:sp>
        <p:nvSpPr>
          <p:cNvPr id="9" name="!!sdot5"/>
          <p:cNvSpPr/>
          <p:nvPr/>
        </p:nvSpPr>
        <p:spPr>
          <a:xfrm>
            <a:off x="11599164" y="525780"/>
            <a:ext cx="82296" cy="82296"/>
          </a:xfrm>
          <a:prstGeom prst="ellipse">
            <a:avLst/>
          </a:prstGeom>
          <a:solidFill>
            <a:srgbClr val="E2E3E3"/>
          </a:solidFill>
          <a:ln/>
        </p:spPr>
      </p:sp>
      <p:sp>
        <p:nvSpPr>
          <p:cNvPr id="10" name="!!gsG"/>
          <p:cNvSpPr/>
          <p:nvPr/>
        </p:nvSpPr>
        <p:spPr>
          <a:xfrm>
            <a:off x="777240" y="1874520"/>
            <a:ext cx="2834640" cy="2834640"/>
          </a:xfrm>
          <a:prstGeom prst="ellipse">
            <a:avLst/>
          </a:prstGeom>
          <a:solidFill>
            <a:srgbClr val="B3A6E6"/>
          </a:solidFill>
          <a:ln/>
        </p:spPr>
      </p:sp>
      <p:sp>
        <p:nvSpPr>
          <p:cNvPr id="11" name="!!gsH"/>
          <p:cNvSpPr/>
          <p:nvPr/>
        </p:nvSpPr>
        <p:spPr>
          <a:xfrm>
            <a:off x="1143000" y="2240280"/>
            <a:ext cx="2103120" cy="2103120"/>
          </a:xfrm>
          <a:prstGeom prst="ellipse">
            <a:avLst/>
          </a:prstGeom>
          <a:solidFill>
            <a:srgbClr val="8FCBE0"/>
          </a:solidFill>
          <a:ln/>
        </p:spPr>
      </p:sp>
      <p:sp>
        <p:nvSpPr>
          <p:cNvPr id="12" name="!!gsO"/>
          <p:cNvSpPr/>
          <p:nvPr/>
        </p:nvSpPr>
        <p:spPr>
          <a:xfrm>
            <a:off x="1261872" y="2359152"/>
            <a:ext cx="1865376" cy="1865376"/>
          </a:xfrm>
          <a:prstGeom prst="ellipse">
            <a:avLst/>
          </a:prstGeom>
          <a:solidFill>
            <a:srgbClr val="CDEBF5"/>
          </a:solidFill>
          <a:ln/>
        </p:spPr>
      </p:sp>
      <p:sp>
        <p:nvSpPr>
          <p:cNvPr id="13" name="!!gsE"/>
          <p:cNvSpPr/>
          <p:nvPr/>
        </p:nvSpPr>
        <p:spPr>
          <a:xfrm>
            <a:off x="1371600" y="2468880"/>
            <a:ext cx="1645920" cy="1645920"/>
          </a:xfrm>
          <a:prstGeom prst="ellipse">
            <a:avLst/>
          </a:prstGeom>
          <a:solidFill>
            <a:srgbClr val="1F2F6B"/>
          </a:solidFill>
          <a:ln/>
        </p:spPr>
      </p:sp>
      <p:sp>
        <p:nvSpPr>
          <p:cNvPr id="14" name="!!gsS"/>
          <p:cNvSpPr/>
          <p:nvPr/>
        </p:nvSpPr>
        <p:spPr>
          <a:xfrm>
            <a:off x="1847088" y="2944368"/>
            <a:ext cx="694944" cy="694944"/>
          </a:xfrm>
          <a:prstGeom prst="ellipse">
            <a:avLst/>
          </a:prstGeom>
          <a:solidFill>
            <a:srgbClr val="F6E7B8"/>
          </a:solidFill>
          <a:ln/>
        </p:spPr>
      </p:sp>
      <p:sp>
        <p:nvSpPr>
          <p:cNvPr id="15" name="!!gsL"/>
          <p:cNvSpPr txBox="1"/>
          <p:nvPr/>
        </p:nvSpPr>
        <p:spPr>
          <a:xfrm>
            <a:off x="548640" y="4892040"/>
            <a:ext cx="3291840" cy="27432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wire cross-section (gate all round)</a:t>
            </a:r>
            <a:endParaRPr lang="en-US" sz="1100" dirty="0"/>
          </a:p>
        </p:txBody>
      </p:sp>
      <p:sp>
        <p:nvSpPr>
          <p:cNvPr id="16" name="!!gsLg0"/>
          <p:cNvSpPr/>
          <p:nvPr/>
        </p:nvSpPr>
        <p:spPr>
          <a:xfrm>
            <a:off x="4023360" y="2194560"/>
            <a:ext cx="201168" cy="201168"/>
          </a:xfrm>
          <a:prstGeom prst="rect">
            <a:avLst/>
          </a:prstGeom>
          <a:solidFill>
            <a:srgbClr val="B3A6E6"/>
          </a:solidFill>
          <a:ln/>
        </p:spPr>
      </p:sp>
      <p:sp>
        <p:nvSpPr>
          <p:cNvPr id="17" name="!!gsLgt0"/>
          <p:cNvSpPr txBox="1"/>
          <p:nvPr/>
        </p:nvSpPr>
        <p:spPr>
          <a:xfrm>
            <a:off x="4315968" y="2167128"/>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gate</a:t>
            </a:r>
            <a:endParaRPr lang="en-US" sz="1100" dirty="0"/>
          </a:p>
        </p:txBody>
      </p:sp>
      <p:sp>
        <p:nvSpPr>
          <p:cNvPr id="18" name="!!gsLg1"/>
          <p:cNvSpPr/>
          <p:nvPr/>
        </p:nvSpPr>
        <p:spPr>
          <a:xfrm>
            <a:off x="4023360" y="2578608"/>
            <a:ext cx="201168" cy="201168"/>
          </a:xfrm>
          <a:prstGeom prst="rect">
            <a:avLst/>
          </a:prstGeom>
          <a:solidFill>
            <a:srgbClr val="8FCBE0"/>
          </a:solidFill>
          <a:ln/>
        </p:spPr>
      </p:sp>
      <p:sp>
        <p:nvSpPr>
          <p:cNvPr id="19" name="!!gsLgt1"/>
          <p:cNvSpPr txBox="1"/>
          <p:nvPr/>
        </p:nvSpPr>
        <p:spPr>
          <a:xfrm>
            <a:off x="4315968" y="2551176"/>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HfO2 / SiO2</a:t>
            </a:r>
            <a:endParaRPr lang="en-US" sz="1100" dirty="0"/>
          </a:p>
        </p:txBody>
      </p:sp>
      <p:sp>
        <p:nvSpPr>
          <p:cNvPr id="20" name="!!gsLg2"/>
          <p:cNvSpPr/>
          <p:nvPr/>
        </p:nvSpPr>
        <p:spPr>
          <a:xfrm>
            <a:off x="4023360" y="2962656"/>
            <a:ext cx="201168" cy="201168"/>
          </a:xfrm>
          <a:prstGeom prst="rect">
            <a:avLst/>
          </a:prstGeom>
          <a:solidFill>
            <a:srgbClr val="F6E7B8"/>
          </a:solidFill>
          <a:ln/>
        </p:spPr>
      </p:sp>
      <p:sp>
        <p:nvSpPr>
          <p:cNvPr id="21" name="!!gsLgt2"/>
          <p:cNvSpPr txBox="1"/>
          <p:nvPr/>
        </p:nvSpPr>
        <p:spPr>
          <a:xfrm>
            <a:off x="4315968" y="2935224"/>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silicon</a:t>
            </a:r>
            <a:endParaRPr lang="en-US" sz="1100" dirty="0"/>
          </a:p>
        </p:txBody>
      </p:sp>
      <p:sp>
        <p:nvSpPr>
          <p:cNvPr id="22" name="!!gsLg3"/>
          <p:cNvSpPr/>
          <p:nvPr/>
        </p:nvSpPr>
        <p:spPr>
          <a:xfrm>
            <a:off x="4023360" y="3346704"/>
            <a:ext cx="201168" cy="201168"/>
          </a:xfrm>
          <a:prstGeom prst="rect">
            <a:avLst/>
          </a:prstGeom>
          <a:solidFill>
            <a:srgbClr val="1F2F6B"/>
          </a:solidFill>
          <a:ln/>
        </p:spPr>
      </p:sp>
      <p:sp>
        <p:nvSpPr>
          <p:cNvPr id="23" name="!!gsLgt3"/>
          <p:cNvSpPr txBox="1"/>
          <p:nvPr/>
        </p:nvSpPr>
        <p:spPr>
          <a:xfrm>
            <a:off x="4315968" y="3319272"/>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electrons</a:t>
            </a:r>
            <a:endParaRPr lang="en-US" sz="1100" dirty="0"/>
          </a:p>
        </p:txBody>
      </p:sp>
      <p:sp>
        <p:nvSpPr>
          <p:cNvPr id="24" name="!!axg0"/>
          <p:cNvSpPr/>
          <p:nvPr/>
        </p:nvSpPr>
        <p:spPr>
          <a:xfrm>
            <a:off x="7223760" y="4069080"/>
            <a:ext cx="4297680" cy="91"/>
          </a:xfrm>
          <a:prstGeom prst="line">
            <a:avLst/>
          </a:prstGeom>
          <a:noFill/>
          <a:ln w="9525">
            <a:solidFill>
              <a:srgbClr val="EDEEF0"/>
            </a:solidFill>
            <a:prstDash val="solid"/>
          </a:ln>
        </p:spPr>
      </p:sp>
      <p:sp>
        <p:nvSpPr>
          <p:cNvPr id="25" name="!!axg1"/>
          <p:cNvSpPr/>
          <p:nvPr/>
        </p:nvSpPr>
        <p:spPr>
          <a:xfrm>
            <a:off x="7223760" y="3276600"/>
            <a:ext cx="4297680" cy="91"/>
          </a:xfrm>
          <a:prstGeom prst="line">
            <a:avLst/>
          </a:prstGeom>
          <a:noFill/>
          <a:ln w="9525">
            <a:solidFill>
              <a:srgbClr val="EDEEF0"/>
            </a:solidFill>
            <a:prstDash val="solid"/>
          </a:ln>
        </p:spPr>
      </p:sp>
      <p:sp>
        <p:nvSpPr>
          <p:cNvPr id="26" name="!!axg2"/>
          <p:cNvSpPr/>
          <p:nvPr/>
        </p:nvSpPr>
        <p:spPr>
          <a:xfrm>
            <a:off x="7223760" y="2484120"/>
            <a:ext cx="4297680" cy="91"/>
          </a:xfrm>
          <a:prstGeom prst="line">
            <a:avLst/>
          </a:prstGeom>
          <a:noFill/>
          <a:ln w="9525">
            <a:solidFill>
              <a:srgbClr val="EDEEF0"/>
            </a:solidFill>
            <a:prstDash val="solid"/>
          </a:ln>
        </p:spPr>
      </p:sp>
      <p:sp>
        <p:nvSpPr>
          <p:cNvPr id="27" name="!!axg3"/>
          <p:cNvSpPr/>
          <p:nvPr/>
        </p:nvSpPr>
        <p:spPr>
          <a:xfrm>
            <a:off x="7223760" y="1691640"/>
            <a:ext cx="4297680" cy="91"/>
          </a:xfrm>
          <a:prstGeom prst="line">
            <a:avLst/>
          </a:prstGeom>
          <a:noFill/>
          <a:ln w="9525">
            <a:solidFill>
              <a:srgbClr val="EDEEF0"/>
            </a:solidFill>
            <a:prstDash val="solid"/>
          </a:ln>
        </p:spPr>
      </p:sp>
      <p:sp>
        <p:nvSpPr>
          <p:cNvPr id="28" name="!!axxa"/>
          <p:cNvSpPr/>
          <p:nvPr/>
        </p:nvSpPr>
        <p:spPr>
          <a:xfrm>
            <a:off x="7223760" y="4069080"/>
            <a:ext cx="4297680" cy="91"/>
          </a:xfrm>
          <a:prstGeom prst="line">
            <a:avLst/>
          </a:prstGeom>
          <a:noFill/>
          <a:ln w="12700">
            <a:solidFill>
              <a:srgbClr val="8A8D93"/>
            </a:solidFill>
            <a:prstDash val="solid"/>
          </a:ln>
        </p:spPr>
      </p:sp>
      <p:sp>
        <p:nvSpPr>
          <p:cNvPr id="29" name="!!axya"/>
          <p:cNvSpPr/>
          <p:nvPr/>
        </p:nvSpPr>
        <p:spPr>
          <a:xfrm>
            <a:off x="7223760" y="1691640"/>
            <a:ext cx="91" cy="2377440"/>
          </a:xfrm>
          <a:prstGeom prst="line">
            <a:avLst/>
          </a:prstGeom>
          <a:noFill/>
          <a:ln w="12700">
            <a:solidFill>
              <a:srgbClr val="8A8D93"/>
            </a:solidFill>
            <a:prstDash val="solid"/>
          </a:ln>
        </p:spPr>
      </p:sp>
      <p:sp>
        <p:nvSpPr>
          <p:cNvPr id="30" name="!!axxt0"/>
          <p:cNvSpPr txBox="1"/>
          <p:nvPr/>
        </p:nvSpPr>
        <p:spPr>
          <a:xfrm>
            <a:off x="690372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31" name="!!axxt1"/>
          <p:cNvSpPr txBox="1"/>
          <p:nvPr/>
        </p:nvSpPr>
        <p:spPr>
          <a:xfrm>
            <a:off x="8131629"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32" name="!!axxt2"/>
          <p:cNvSpPr txBox="1"/>
          <p:nvPr/>
        </p:nvSpPr>
        <p:spPr>
          <a:xfrm>
            <a:off x="9359537"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33" name="!!axxt3"/>
          <p:cNvSpPr txBox="1"/>
          <p:nvPr/>
        </p:nvSpPr>
        <p:spPr>
          <a:xfrm>
            <a:off x="10587446"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34" name="!!axyt0"/>
          <p:cNvSpPr txBox="1"/>
          <p:nvPr/>
        </p:nvSpPr>
        <p:spPr>
          <a:xfrm>
            <a:off x="6537960" y="39684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35" name="!!axyt1"/>
          <p:cNvSpPr txBox="1"/>
          <p:nvPr/>
        </p:nvSpPr>
        <p:spPr>
          <a:xfrm>
            <a:off x="6537960" y="31760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36" name="!!axyt2"/>
          <p:cNvSpPr txBox="1"/>
          <p:nvPr/>
        </p:nvSpPr>
        <p:spPr>
          <a:xfrm>
            <a:off x="6537960" y="23835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37" name="!!axyt3"/>
          <p:cNvSpPr txBox="1"/>
          <p:nvPr/>
        </p:nvSpPr>
        <p:spPr>
          <a:xfrm>
            <a:off x="653796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38" name="!!axxl"/>
          <p:cNvSpPr txBox="1"/>
          <p:nvPr/>
        </p:nvSpPr>
        <p:spPr>
          <a:xfrm>
            <a:off x="7223760" y="4343400"/>
            <a:ext cx="429768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39" name="!!axyl"/>
          <p:cNvSpPr txBox="1"/>
          <p:nvPr/>
        </p:nvSpPr>
        <p:spPr>
          <a:xfrm>
            <a:off x="704088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a:t>
            </a:r>
            <a:endParaRPr lang="en-US" sz="1100" dirty="0"/>
          </a:p>
        </p:txBody>
      </p:sp>
      <p:sp>
        <p:nvSpPr>
          <p:cNvPr id="40" name="!!gsPlanar"/>
          <p:cNvSpPr/>
          <p:nvPr/>
        </p:nvSpPr>
        <p:spPr>
          <a:xfrm>
            <a:off x="7223760" y="1868223"/>
            <a:ext cx="4297680" cy="862057"/>
          </a:xfrm>
          <a:custGeom>
            <a:avLst/>
            <a:gdLst/>
            <a:ahLst/>
            <a:cxnLst/>
            <a:rect l="l" t="t" r="r" b="b"/>
            <a:pathLst>
              <a:path w="4297680" h="862057">
                <a:moveTo>
                  <a:pt x="0" y="862057"/>
                </a:moveTo>
                <a:lnTo>
                  <a:pt x="153489" y="791433"/>
                </a:lnTo>
                <a:lnTo>
                  <a:pt x="306977" y="725515"/>
                </a:lnTo>
                <a:lnTo>
                  <a:pt x="460466" y="664374"/>
                </a:lnTo>
                <a:lnTo>
                  <a:pt x="613954" y="607945"/>
                </a:lnTo>
                <a:lnTo>
                  <a:pt x="767443" y="556041"/>
                </a:lnTo>
                <a:lnTo>
                  <a:pt x="920931" y="508392"/>
                </a:lnTo>
                <a:lnTo>
                  <a:pt x="1074420" y="464670"/>
                </a:lnTo>
                <a:lnTo>
                  <a:pt x="1227909" y="424523"/>
                </a:lnTo>
                <a:lnTo>
                  <a:pt x="1381397" y="387599"/>
                </a:lnTo>
                <a:lnTo>
                  <a:pt x="1534886" y="353560"/>
                </a:lnTo>
                <a:lnTo>
                  <a:pt x="1688374" y="322093"/>
                </a:lnTo>
                <a:lnTo>
                  <a:pt x="1841863" y="292913"/>
                </a:lnTo>
                <a:lnTo>
                  <a:pt x="1995351" y="265766"/>
                </a:lnTo>
                <a:lnTo>
                  <a:pt x="2148840" y="240430"/>
                </a:lnTo>
                <a:lnTo>
                  <a:pt x="2302329" y="216708"/>
                </a:lnTo>
                <a:lnTo>
                  <a:pt x="2455817" y="194427"/>
                </a:lnTo>
                <a:lnTo>
                  <a:pt x="2609306" y="173439"/>
                </a:lnTo>
                <a:lnTo>
                  <a:pt x="2762794" y="153613"/>
                </a:lnTo>
                <a:lnTo>
                  <a:pt x="2916283" y="134836"/>
                </a:lnTo>
                <a:lnTo>
                  <a:pt x="3069771" y="117008"/>
                </a:lnTo>
                <a:lnTo>
                  <a:pt x="3223260" y="100041"/>
                </a:lnTo>
                <a:lnTo>
                  <a:pt x="3376749" y="83861"/>
                </a:lnTo>
                <a:lnTo>
                  <a:pt x="3530237" y="68398"/>
                </a:lnTo>
                <a:lnTo>
                  <a:pt x="3683726" y="53595"/>
                </a:lnTo>
                <a:lnTo>
                  <a:pt x="3837214" y="39398"/>
                </a:lnTo>
                <a:lnTo>
                  <a:pt x="3990703" y="25760"/>
                </a:lnTo>
                <a:lnTo>
                  <a:pt x="4144191" y="12640"/>
                </a:lnTo>
                <a:lnTo>
                  <a:pt x="4297680" y="0"/>
                </a:lnTo>
              </a:path>
            </a:pathLst>
          </a:custGeom>
          <a:ln w="19050">
            <a:solidFill>
              <a:srgbClr val="D9DCE3"/>
            </a:solidFill>
            <a:prstDash val="dash"/>
          </a:ln>
        </p:spPr>
      </p:sp>
      <p:sp>
        <p:nvSpPr>
          <p:cNvPr id="41" name="!!gsPlanarL"/>
          <p:cNvSpPr txBox="1"/>
          <p:nvPr/>
        </p:nvSpPr>
        <p:spPr>
          <a:xfrm>
            <a:off x="7346551" y="2455960"/>
            <a:ext cx="1280160" cy="201168"/>
          </a:xfrm>
          <a:prstGeom prst="rect">
            <a:avLst/>
          </a:prstGeom>
          <a:noFill/>
          <a:ln/>
        </p:spPr>
        <p:txBody>
          <a:bodyPr wrap="square" lIns="0" tIns="0" rIns="0" bIns="0" rtlCol="0" anchor="t"/>
          <a:lstStyle/>
          <a:p>
            <a:pPr algn="l" indent="0" marL="0">
              <a:buNone/>
            </a:pPr>
            <a:r>
              <a:rPr lang="en-US" sz="900" dirty="0">
                <a:solidFill>
                  <a:srgbClr val="8A8D93"/>
                </a:solidFill>
                <a:latin typeface="Segoe UI" pitchFamily="34" charset="0"/>
                <a:ea typeface="Segoe UI" pitchFamily="34" charset="-122"/>
                <a:cs typeface="Segoe UI" pitchFamily="34" charset="-120"/>
              </a:rPr>
              <a:t>planar at 14 nm</a:t>
            </a:r>
            <a:endParaRPr lang="en-US" sz="900" dirty="0"/>
          </a:p>
        </p:txBody>
      </p:sp>
      <p:sp>
        <p:nvSpPr>
          <p:cNvPr id="42" name="!!ivGhost"/>
          <p:cNvSpPr/>
          <p:nvPr/>
        </p:nvSpPr>
        <p:spPr>
          <a:xfrm>
            <a:off x="7223760" y="1913989"/>
            <a:ext cx="4297680" cy="1840078"/>
          </a:xfrm>
          <a:custGeom>
            <a:avLst/>
            <a:gdLst/>
            <a:ahLst/>
            <a:cxnLst/>
            <a:rect l="l" t="t" r="r" b="b"/>
            <a:pathLst>
              <a:path w="4297680" h="1840078">
                <a:moveTo>
                  <a:pt x="0" y="1840078"/>
                </a:moveTo>
                <a:lnTo>
                  <a:pt x="153489" y="1697842"/>
                </a:lnTo>
                <a:lnTo>
                  <a:pt x="306977" y="1552454"/>
                </a:lnTo>
                <a:lnTo>
                  <a:pt x="460466" y="1406152"/>
                </a:lnTo>
                <a:lnTo>
                  <a:pt x="613954" y="1260051"/>
                </a:lnTo>
                <a:lnTo>
                  <a:pt x="767443" y="1114998"/>
                </a:lnTo>
                <a:lnTo>
                  <a:pt x="920931" y="972166"/>
                </a:lnTo>
                <a:lnTo>
                  <a:pt x="1074420" y="834709"/>
                </a:lnTo>
                <a:lnTo>
                  <a:pt x="1227909" y="706556"/>
                </a:lnTo>
                <a:lnTo>
                  <a:pt x="1381397" y="590851"/>
                </a:lnTo>
                <a:lnTo>
                  <a:pt x="1534886" y="490066"/>
                </a:lnTo>
                <a:lnTo>
                  <a:pt x="1688374" y="409523"/>
                </a:lnTo>
                <a:lnTo>
                  <a:pt x="1841863" y="349453"/>
                </a:lnTo>
                <a:lnTo>
                  <a:pt x="1995351" y="304873"/>
                </a:lnTo>
                <a:lnTo>
                  <a:pt x="2148840" y="268360"/>
                </a:lnTo>
                <a:lnTo>
                  <a:pt x="2302329" y="236425"/>
                </a:lnTo>
                <a:lnTo>
                  <a:pt x="2455817" y="207803"/>
                </a:lnTo>
                <a:lnTo>
                  <a:pt x="2609306" y="181881"/>
                </a:lnTo>
                <a:lnTo>
                  <a:pt x="2762794" y="158244"/>
                </a:lnTo>
                <a:lnTo>
                  <a:pt x="2916283" y="136586"/>
                </a:lnTo>
                <a:lnTo>
                  <a:pt x="3069771" y="116655"/>
                </a:lnTo>
                <a:lnTo>
                  <a:pt x="3223260" y="98246"/>
                </a:lnTo>
                <a:lnTo>
                  <a:pt x="3376749" y="81182"/>
                </a:lnTo>
                <a:lnTo>
                  <a:pt x="3530237" y="65314"/>
                </a:lnTo>
                <a:lnTo>
                  <a:pt x="3683726" y="50515"/>
                </a:lnTo>
                <a:lnTo>
                  <a:pt x="3837214" y="36674"/>
                </a:lnTo>
                <a:lnTo>
                  <a:pt x="3990703" y="23694"/>
                </a:lnTo>
                <a:lnTo>
                  <a:pt x="4144191" y="11494"/>
                </a:lnTo>
                <a:lnTo>
                  <a:pt x="4297680" y="0"/>
                </a:lnTo>
              </a:path>
            </a:pathLst>
          </a:custGeom>
          <a:ln w="25400">
            <a:solidFill>
              <a:srgbClr val="C9CCD3"/>
            </a:solidFill>
            <a:prstDash val="solid"/>
          </a:ln>
        </p:spPr>
      </p:sp>
      <p:sp>
        <p:nvSpPr>
          <p:cNvPr id="43" name="!!ivTrail"/>
          <p:cNvSpPr/>
          <p:nvPr/>
        </p:nvSpPr>
        <p:spPr>
          <a:xfrm>
            <a:off x="7223760" y="2030643"/>
            <a:ext cx="3069771" cy="1723423"/>
          </a:xfrm>
          <a:custGeom>
            <a:avLst/>
            <a:gdLst/>
            <a:ahLst/>
            <a:cxnLst/>
            <a:rect l="l" t="t" r="r" b="b"/>
            <a:pathLst>
              <a:path w="3069771" h="1723423">
                <a:moveTo>
                  <a:pt x="0" y="1723423"/>
                </a:moveTo>
                <a:lnTo>
                  <a:pt x="153489" y="1581188"/>
                </a:lnTo>
                <a:lnTo>
                  <a:pt x="306977" y="1435799"/>
                </a:lnTo>
                <a:lnTo>
                  <a:pt x="460466" y="1289497"/>
                </a:lnTo>
                <a:lnTo>
                  <a:pt x="613954" y="1143397"/>
                </a:lnTo>
                <a:lnTo>
                  <a:pt x="767443" y="998344"/>
                </a:lnTo>
                <a:lnTo>
                  <a:pt x="920931" y="855511"/>
                </a:lnTo>
                <a:lnTo>
                  <a:pt x="1074420" y="718055"/>
                </a:lnTo>
                <a:lnTo>
                  <a:pt x="1227909" y="589901"/>
                </a:lnTo>
                <a:lnTo>
                  <a:pt x="1381397" y="474196"/>
                </a:lnTo>
                <a:lnTo>
                  <a:pt x="1534886" y="373411"/>
                </a:lnTo>
                <a:lnTo>
                  <a:pt x="1688374" y="292868"/>
                </a:lnTo>
                <a:lnTo>
                  <a:pt x="1841863" y="232798"/>
                </a:lnTo>
                <a:lnTo>
                  <a:pt x="1995351" y="188218"/>
                </a:lnTo>
                <a:lnTo>
                  <a:pt x="2148840" y="151706"/>
                </a:lnTo>
                <a:lnTo>
                  <a:pt x="2302329" y="119770"/>
                </a:lnTo>
                <a:lnTo>
                  <a:pt x="2455817" y="91149"/>
                </a:lnTo>
                <a:lnTo>
                  <a:pt x="2609306" y="65226"/>
                </a:lnTo>
                <a:lnTo>
                  <a:pt x="2762794" y="41589"/>
                </a:lnTo>
                <a:lnTo>
                  <a:pt x="2916283" y="19931"/>
                </a:lnTo>
                <a:lnTo>
                  <a:pt x="3069771" y="0"/>
                </a:lnTo>
              </a:path>
            </a:pathLst>
          </a:custGeom>
          <a:ln w="38100">
            <a:solidFill>
              <a:srgbClr val="2E9E4F"/>
            </a:solidFill>
            <a:prstDash val="solid"/>
          </a:ln>
        </p:spPr>
      </p:sp>
      <p:sp>
        <p:nvSpPr>
          <p:cNvPr id="44" name="!!ivPt"/>
          <p:cNvSpPr/>
          <p:nvPr/>
        </p:nvSpPr>
        <p:spPr>
          <a:xfrm>
            <a:off x="10211235" y="1948347"/>
            <a:ext cx="164592" cy="164592"/>
          </a:xfrm>
          <a:prstGeom prst="ellipse">
            <a:avLst/>
          </a:prstGeom>
          <a:solidFill>
            <a:srgbClr val="3E6AE1"/>
          </a:solidFill>
          <a:ln w="19050">
            <a:solidFill>
              <a:srgbClr val="FFFFFF"/>
            </a:solidFill>
            <a:prstDash val="solid"/>
          </a:ln>
        </p:spPr>
      </p:sp>
      <p:sp>
        <p:nvSpPr>
          <p:cNvPr id="45" name="!!ivPtL"/>
          <p:cNvSpPr txBox="1"/>
          <p:nvPr/>
        </p:nvSpPr>
        <p:spPr>
          <a:xfrm>
            <a:off x="9379131" y="1701459"/>
            <a:ext cx="868680" cy="219456"/>
          </a:xfrm>
          <a:prstGeom prst="rect">
            <a:avLst/>
          </a:prstGeom>
          <a:noFill/>
          <a:ln/>
        </p:spPr>
        <p:txBody>
          <a:bodyPr wrap="square" lIns="0" tIns="0" rIns="0" bIns="0" rtlCol="0" anchor="t"/>
          <a:lstStyle/>
          <a:p>
            <a:pPr algn="r" indent="0" marL="0">
              <a:buNone/>
            </a:pPr>
            <a:r>
              <a:rPr lang="en-US" sz="1100" dirty="0">
                <a:solidFill>
                  <a:srgbClr val="3E6AE1"/>
                </a:solidFill>
                <a:latin typeface="Segoe UI Semibold" pitchFamily="34" charset="0"/>
                <a:ea typeface="Segoe UI Semibold" pitchFamily="34" charset="-122"/>
                <a:cs typeface="Segoe UI Semibold" pitchFamily="34" charset="-120"/>
              </a:rPr>
              <a:t>13.9 µA</a:t>
            </a:r>
            <a:endParaRPr lang="en-US" sz="1100" dirty="0"/>
          </a:p>
        </p:txBody>
      </p:sp>
      <p:sp>
        <p:nvSpPr>
          <p:cNvPr id="46" name="!!ivRead"/>
          <p:cNvSpPr txBox="1"/>
          <p:nvPr/>
        </p:nvSpPr>
        <p:spPr>
          <a:xfrm>
            <a:off x="6858000" y="4572000"/>
            <a:ext cx="4754880" cy="256032"/>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G</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0.50 V     I</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13.9 µA</a:t>
            </a:r>
            <a:endParaRPr lang="en-US" sz="1400" dirty="0"/>
          </a:p>
        </p:txBody>
      </p:sp>
      <p:sp>
        <p:nvSpPr>
          <p:cNvPr id="47" name="!!ivReg"/>
          <p:cNvSpPr txBox="1"/>
          <p:nvPr/>
        </p:nvSpPr>
        <p:spPr>
          <a:xfrm>
            <a:off x="6858000" y="4818888"/>
            <a:ext cx="4754880" cy="219456"/>
          </a:xfrm>
          <a:prstGeom prst="rect">
            <a:avLst/>
          </a:prstGeom>
          <a:noFill/>
          <a:ln/>
        </p:spPr>
        <p:txBody>
          <a:bodyPr wrap="square" lIns="0" tIns="0" rIns="0" bIns="0" rtlCol="0" anchor="t"/>
          <a:lstStyle/>
          <a:p>
            <a:pPr algn="l" indent="0" marL="0">
              <a:buNone/>
            </a:pPr>
            <a:r>
              <a:rPr lang="en-US" sz="1100" dirty="0">
                <a:solidFill>
                  <a:srgbClr val="3E6AE1"/>
                </a:solidFill>
                <a:latin typeface="Segoe UI Semibold" pitchFamily="34" charset="0"/>
                <a:ea typeface="Segoe UI Semibold" pitchFamily="34" charset="-122"/>
                <a:cs typeface="Segoe UI Semibold" pitchFamily="34" charset="-120"/>
              </a:rPr>
              <a:t>STRONG INVERSION</a:t>
            </a:r>
            <a:endParaRPr lang="en-US" sz="1100" dirty="0"/>
          </a:p>
        </p:txBody>
      </p:sp>
      <p:sp>
        <p:nvSpPr>
          <p:cNvPr id="48" name="!!knobLbl"/>
          <p:cNvSpPr txBox="1"/>
          <p:nvPr/>
        </p:nvSpPr>
        <p:spPr>
          <a:xfrm>
            <a:off x="7022592" y="507492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0.5 V</a:t>
            </a:r>
            <a:endParaRPr lang="en-US" sz="1200" dirty="0"/>
          </a:p>
        </p:txBody>
      </p:sp>
      <p:sp>
        <p:nvSpPr>
          <p:cNvPr id="49" name="!!knobTrack"/>
          <p:cNvSpPr/>
          <p:nvPr/>
        </p:nvSpPr>
        <p:spPr>
          <a:xfrm>
            <a:off x="7040880" y="5458968"/>
            <a:ext cx="4480560" cy="54864"/>
          </a:xfrm>
          <a:prstGeom prst="roundRect">
            <a:avLst>
              <a:gd name="adj" fmla="val 50000"/>
            </a:avLst>
          </a:prstGeom>
          <a:solidFill>
            <a:srgbClr val="E2E3E3"/>
          </a:solidFill>
          <a:ln/>
        </p:spPr>
      </p:sp>
      <p:sp>
        <p:nvSpPr>
          <p:cNvPr id="50" name="!!knobFill"/>
          <p:cNvSpPr/>
          <p:nvPr/>
        </p:nvSpPr>
        <p:spPr>
          <a:xfrm>
            <a:off x="7040880" y="5458968"/>
            <a:ext cx="3200400" cy="54864"/>
          </a:xfrm>
          <a:prstGeom prst="roundRect">
            <a:avLst>
              <a:gd name="adj" fmla="val 50000"/>
            </a:avLst>
          </a:prstGeom>
          <a:solidFill>
            <a:srgbClr val="6B5BC4"/>
          </a:solidFill>
          <a:ln/>
        </p:spPr>
      </p:sp>
      <p:sp>
        <p:nvSpPr>
          <p:cNvPr id="51" name="!!knobT0"/>
          <p:cNvSpPr txBox="1"/>
          <p:nvPr/>
        </p:nvSpPr>
        <p:spPr>
          <a:xfrm>
            <a:off x="667512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52" name="!!knobT1"/>
          <p:cNvSpPr txBox="1"/>
          <p:nvPr/>
        </p:nvSpPr>
        <p:spPr>
          <a:xfrm>
            <a:off x="795528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53" name="!!knobT2"/>
          <p:cNvSpPr txBox="1"/>
          <p:nvPr/>
        </p:nvSpPr>
        <p:spPr>
          <a:xfrm>
            <a:off x="923544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54" name="!!knobT3"/>
          <p:cNvSpPr txBox="1"/>
          <p:nvPr/>
        </p:nvSpPr>
        <p:spPr>
          <a:xfrm>
            <a:off x="1051560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55" name="!!knobT4"/>
          <p:cNvSpPr txBox="1"/>
          <p:nvPr/>
        </p:nvSpPr>
        <p:spPr>
          <a:xfrm>
            <a:off x="1115568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56" name="!!knobThumb"/>
          <p:cNvSpPr/>
          <p:nvPr/>
        </p:nvSpPr>
        <p:spPr>
          <a:xfrm>
            <a:off x="10140696" y="5385816"/>
            <a:ext cx="201168" cy="201168"/>
          </a:xfrm>
          <a:prstGeom prst="ellipse">
            <a:avLst/>
          </a:prstGeom>
          <a:solidFill>
            <a:srgbClr val="FFFFFF"/>
          </a:solidFill>
          <a:ln w="28575">
            <a:solidFill>
              <a:srgbClr val="6B5BC4"/>
            </a:solidFill>
            <a:prstDash val="solid"/>
          </a:ln>
        </p:spPr>
      </p:sp>
      <p:sp>
        <p:nvSpPr>
          <p:cNvPr id="5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 ring grows inward: most of the wire now carries current.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71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Turning the gate in our wire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Reproduced GAA wire (r = 5.64 nm, L</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14 nm): Silvaco Atlas data,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171A20"/>
          </a:solidFill>
          <a:ln/>
        </p:spPr>
      </p:sp>
      <p:sp>
        <p:nvSpPr>
          <p:cNvPr id="6" name="!!sdot2"/>
          <p:cNvSpPr/>
          <p:nvPr/>
        </p:nvSpPr>
        <p:spPr>
          <a:xfrm>
            <a:off x="11132820" y="525780"/>
            <a:ext cx="82296" cy="82296"/>
          </a:xfrm>
          <a:prstGeom prst="ellipse">
            <a:avLst/>
          </a:prstGeom>
          <a:solidFill>
            <a:srgbClr val="171A20"/>
          </a:solidFill>
          <a:ln/>
        </p:spPr>
      </p:sp>
      <p:sp>
        <p:nvSpPr>
          <p:cNvPr id="7" name="!!sdot3"/>
          <p:cNvSpPr/>
          <p:nvPr/>
        </p:nvSpPr>
        <p:spPr>
          <a:xfrm>
            <a:off x="11288268" y="525780"/>
            <a:ext cx="82296" cy="82296"/>
          </a:xfrm>
          <a:prstGeom prst="ellipse">
            <a:avLst/>
          </a:prstGeom>
          <a:solidFill>
            <a:srgbClr val="171A20"/>
          </a:solidFill>
          <a:ln/>
        </p:spPr>
      </p:sp>
      <p:sp>
        <p:nvSpPr>
          <p:cNvPr id="8" name="!!sdot4"/>
          <p:cNvSpPr/>
          <p:nvPr/>
        </p:nvSpPr>
        <p:spPr>
          <a:xfrm>
            <a:off x="11443716" y="525780"/>
            <a:ext cx="82296" cy="82296"/>
          </a:xfrm>
          <a:prstGeom prst="ellipse">
            <a:avLst/>
          </a:prstGeom>
          <a:solidFill>
            <a:srgbClr val="171A20"/>
          </a:solidFill>
          <a:ln/>
        </p:spPr>
      </p:sp>
      <p:sp>
        <p:nvSpPr>
          <p:cNvPr id="9" name="!!sdot5"/>
          <p:cNvSpPr/>
          <p:nvPr/>
        </p:nvSpPr>
        <p:spPr>
          <a:xfrm>
            <a:off x="11599164" y="525780"/>
            <a:ext cx="82296" cy="82296"/>
          </a:xfrm>
          <a:prstGeom prst="ellipse">
            <a:avLst/>
          </a:prstGeom>
          <a:solidFill>
            <a:srgbClr val="171A20"/>
          </a:solidFill>
          <a:ln/>
        </p:spPr>
      </p:sp>
      <p:sp>
        <p:nvSpPr>
          <p:cNvPr id="10" name="!!gsG"/>
          <p:cNvSpPr/>
          <p:nvPr/>
        </p:nvSpPr>
        <p:spPr>
          <a:xfrm>
            <a:off x="777240" y="1874520"/>
            <a:ext cx="2834640" cy="2834640"/>
          </a:xfrm>
          <a:prstGeom prst="ellipse">
            <a:avLst/>
          </a:prstGeom>
          <a:solidFill>
            <a:srgbClr val="B3A6E6"/>
          </a:solidFill>
          <a:ln/>
        </p:spPr>
      </p:sp>
      <p:sp>
        <p:nvSpPr>
          <p:cNvPr id="11" name="!!gsH"/>
          <p:cNvSpPr/>
          <p:nvPr/>
        </p:nvSpPr>
        <p:spPr>
          <a:xfrm>
            <a:off x="1143000" y="2240280"/>
            <a:ext cx="2103120" cy="2103120"/>
          </a:xfrm>
          <a:prstGeom prst="ellipse">
            <a:avLst/>
          </a:prstGeom>
          <a:solidFill>
            <a:srgbClr val="8FCBE0"/>
          </a:solidFill>
          <a:ln/>
        </p:spPr>
      </p:sp>
      <p:sp>
        <p:nvSpPr>
          <p:cNvPr id="12" name="!!gsO"/>
          <p:cNvSpPr/>
          <p:nvPr/>
        </p:nvSpPr>
        <p:spPr>
          <a:xfrm>
            <a:off x="1261872" y="2359152"/>
            <a:ext cx="1865376" cy="1865376"/>
          </a:xfrm>
          <a:prstGeom prst="ellipse">
            <a:avLst/>
          </a:prstGeom>
          <a:solidFill>
            <a:srgbClr val="CDEBF5"/>
          </a:solidFill>
          <a:ln/>
        </p:spPr>
      </p:sp>
      <p:sp>
        <p:nvSpPr>
          <p:cNvPr id="13" name="!!gsE"/>
          <p:cNvSpPr/>
          <p:nvPr/>
        </p:nvSpPr>
        <p:spPr>
          <a:xfrm>
            <a:off x="1371600" y="2468880"/>
            <a:ext cx="1645920" cy="1645920"/>
          </a:xfrm>
          <a:prstGeom prst="ellipse">
            <a:avLst/>
          </a:prstGeom>
          <a:solidFill>
            <a:srgbClr val="1F2F6B">
              <a:alpha val="80000"/>
            </a:srgbClr>
          </a:solidFill>
          <a:ln/>
        </p:spPr>
      </p:sp>
      <p:sp>
        <p:nvSpPr>
          <p:cNvPr id="14" name="!!gsS"/>
          <p:cNvSpPr/>
          <p:nvPr/>
        </p:nvSpPr>
        <p:spPr>
          <a:xfrm>
            <a:off x="2139696" y="3236976"/>
            <a:ext cx="109728" cy="109728"/>
          </a:xfrm>
          <a:prstGeom prst="ellipse">
            <a:avLst/>
          </a:prstGeom>
          <a:solidFill>
            <a:srgbClr val="F6E7B8">
              <a:alpha val="40000"/>
            </a:srgbClr>
          </a:solidFill>
          <a:ln/>
        </p:spPr>
      </p:sp>
      <p:sp>
        <p:nvSpPr>
          <p:cNvPr id="15" name="!!gsL"/>
          <p:cNvSpPr txBox="1"/>
          <p:nvPr/>
        </p:nvSpPr>
        <p:spPr>
          <a:xfrm>
            <a:off x="548640" y="4892040"/>
            <a:ext cx="3291840" cy="27432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wire cross-section (gate all round)</a:t>
            </a:r>
            <a:endParaRPr lang="en-US" sz="1100" dirty="0"/>
          </a:p>
        </p:txBody>
      </p:sp>
      <p:sp>
        <p:nvSpPr>
          <p:cNvPr id="16" name="!!gsLg0"/>
          <p:cNvSpPr/>
          <p:nvPr/>
        </p:nvSpPr>
        <p:spPr>
          <a:xfrm>
            <a:off x="4023360" y="2194560"/>
            <a:ext cx="201168" cy="201168"/>
          </a:xfrm>
          <a:prstGeom prst="rect">
            <a:avLst/>
          </a:prstGeom>
          <a:solidFill>
            <a:srgbClr val="B3A6E6"/>
          </a:solidFill>
          <a:ln/>
        </p:spPr>
      </p:sp>
      <p:sp>
        <p:nvSpPr>
          <p:cNvPr id="17" name="!!gsLgt0"/>
          <p:cNvSpPr txBox="1"/>
          <p:nvPr/>
        </p:nvSpPr>
        <p:spPr>
          <a:xfrm>
            <a:off x="4315968" y="2167128"/>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gate</a:t>
            </a:r>
            <a:endParaRPr lang="en-US" sz="1100" dirty="0"/>
          </a:p>
        </p:txBody>
      </p:sp>
      <p:sp>
        <p:nvSpPr>
          <p:cNvPr id="18" name="!!gsLg1"/>
          <p:cNvSpPr/>
          <p:nvPr/>
        </p:nvSpPr>
        <p:spPr>
          <a:xfrm>
            <a:off x="4023360" y="2578608"/>
            <a:ext cx="201168" cy="201168"/>
          </a:xfrm>
          <a:prstGeom prst="rect">
            <a:avLst/>
          </a:prstGeom>
          <a:solidFill>
            <a:srgbClr val="8FCBE0"/>
          </a:solidFill>
          <a:ln/>
        </p:spPr>
      </p:sp>
      <p:sp>
        <p:nvSpPr>
          <p:cNvPr id="19" name="!!gsLgt1"/>
          <p:cNvSpPr txBox="1"/>
          <p:nvPr/>
        </p:nvSpPr>
        <p:spPr>
          <a:xfrm>
            <a:off x="4315968" y="2551176"/>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HfO2 / SiO2</a:t>
            </a:r>
            <a:endParaRPr lang="en-US" sz="1100" dirty="0"/>
          </a:p>
        </p:txBody>
      </p:sp>
      <p:sp>
        <p:nvSpPr>
          <p:cNvPr id="20" name="!!gsLg2"/>
          <p:cNvSpPr/>
          <p:nvPr/>
        </p:nvSpPr>
        <p:spPr>
          <a:xfrm>
            <a:off x="4023360" y="2962656"/>
            <a:ext cx="201168" cy="201168"/>
          </a:xfrm>
          <a:prstGeom prst="rect">
            <a:avLst/>
          </a:prstGeom>
          <a:solidFill>
            <a:srgbClr val="F6E7B8"/>
          </a:solidFill>
          <a:ln/>
        </p:spPr>
      </p:sp>
      <p:sp>
        <p:nvSpPr>
          <p:cNvPr id="21" name="!!gsLgt2"/>
          <p:cNvSpPr txBox="1"/>
          <p:nvPr/>
        </p:nvSpPr>
        <p:spPr>
          <a:xfrm>
            <a:off x="4315968" y="2935224"/>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silicon</a:t>
            </a:r>
            <a:endParaRPr lang="en-US" sz="1100" dirty="0"/>
          </a:p>
        </p:txBody>
      </p:sp>
      <p:sp>
        <p:nvSpPr>
          <p:cNvPr id="22" name="!!gsLg3"/>
          <p:cNvSpPr/>
          <p:nvPr/>
        </p:nvSpPr>
        <p:spPr>
          <a:xfrm>
            <a:off x="4023360" y="3346704"/>
            <a:ext cx="201168" cy="201168"/>
          </a:xfrm>
          <a:prstGeom prst="rect">
            <a:avLst/>
          </a:prstGeom>
          <a:solidFill>
            <a:srgbClr val="1F2F6B"/>
          </a:solidFill>
          <a:ln/>
        </p:spPr>
      </p:sp>
      <p:sp>
        <p:nvSpPr>
          <p:cNvPr id="23" name="!!gsLgt3"/>
          <p:cNvSpPr txBox="1"/>
          <p:nvPr/>
        </p:nvSpPr>
        <p:spPr>
          <a:xfrm>
            <a:off x="4315968" y="3319272"/>
            <a:ext cx="1371600" cy="256032"/>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electrons</a:t>
            </a:r>
            <a:endParaRPr lang="en-US" sz="1100" dirty="0"/>
          </a:p>
        </p:txBody>
      </p:sp>
      <p:sp>
        <p:nvSpPr>
          <p:cNvPr id="24" name="!!axg0"/>
          <p:cNvSpPr/>
          <p:nvPr/>
        </p:nvSpPr>
        <p:spPr>
          <a:xfrm>
            <a:off x="7223760" y="4069080"/>
            <a:ext cx="4297680" cy="91"/>
          </a:xfrm>
          <a:prstGeom prst="line">
            <a:avLst/>
          </a:prstGeom>
          <a:noFill/>
          <a:ln w="9525">
            <a:solidFill>
              <a:srgbClr val="EDEEF0"/>
            </a:solidFill>
            <a:prstDash val="solid"/>
          </a:ln>
        </p:spPr>
      </p:sp>
      <p:sp>
        <p:nvSpPr>
          <p:cNvPr id="25" name="!!axg1"/>
          <p:cNvSpPr/>
          <p:nvPr/>
        </p:nvSpPr>
        <p:spPr>
          <a:xfrm>
            <a:off x="7223760" y="3276600"/>
            <a:ext cx="4297680" cy="91"/>
          </a:xfrm>
          <a:prstGeom prst="line">
            <a:avLst/>
          </a:prstGeom>
          <a:noFill/>
          <a:ln w="9525">
            <a:solidFill>
              <a:srgbClr val="EDEEF0"/>
            </a:solidFill>
            <a:prstDash val="solid"/>
          </a:ln>
        </p:spPr>
      </p:sp>
      <p:sp>
        <p:nvSpPr>
          <p:cNvPr id="26" name="!!axg2"/>
          <p:cNvSpPr/>
          <p:nvPr/>
        </p:nvSpPr>
        <p:spPr>
          <a:xfrm>
            <a:off x="7223760" y="2484120"/>
            <a:ext cx="4297680" cy="91"/>
          </a:xfrm>
          <a:prstGeom prst="line">
            <a:avLst/>
          </a:prstGeom>
          <a:noFill/>
          <a:ln w="9525">
            <a:solidFill>
              <a:srgbClr val="EDEEF0"/>
            </a:solidFill>
            <a:prstDash val="solid"/>
          </a:ln>
        </p:spPr>
      </p:sp>
      <p:sp>
        <p:nvSpPr>
          <p:cNvPr id="27" name="!!axg3"/>
          <p:cNvSpPr/>
          <p:nvPr/>
        </p:nvSpPr>
        <p:spPr>
          <a:xfrm>
            <a:off x="7223760" y="1691640"/>
            <a:ext cx="4297680" cy="91"/>
          </a:xfrm>
          <a:prstGeom prst="line">
            <a:avLst/>
          </a:prstGeom>
          <a:noFill/>
          <a:ln w="9525">
            <a:solidFill>
              <a:srgbClr val="EDEEF0"/>
            </a:solidFill>
            <a:prstDash val="solid"/>
          </a:ln>
        </p:spPr>
      </p:sp>
      <p:sp>
        <p:nvSpPr>
          <p:cNvPr id="28" name="!!axxa"/>
          <p:cNvSpPr/>
          <p:nvPr/>
        </p:nvSpPr>
        <p:spPr>
          <a:xfrm>
            <a:off x="7223760" y="4069080"/>
            <a:ext cx="4297680" cy="91"/>
          </a:xfrm>
          <a:prstGeom prst="line">
            <a:avLst/>
          </a:prstGeom>
          <a:noFill/>
          <a:ln w="12700">
            <a:solidFill>
              <a:srgbClr val="8A8D93"/>
            </a:solidFill>
            <a:prstDash val="solid"/>
          </a:ln>
        </p:spPr>
      </p:sp>
      <p:sp>
        <p:nvSpPr>
          <p:cNvPr id="29" name="!!axya"/>
          <p:cNvSpPr/>
          <p:nvPr/>
        </p:nvSpPr>
        <p:spPr>
          <a:xfrm>
            <a:off x="7223760" y="1691640"/>
            <a:ext cx="91" cy="2377440"/>
          </a:xfrm>
          <a:prstGeom prst="line">
            <a:avLst/>
          </a:prstGeom>
          <a:noFill/>
          <a:ln w="12700">
            <a:solidFill>
              <a:srgbClr val="8A8D93"/>
            </a:solidFill>
            <a:prstDash val="solid"/>
          </a:ln>
        </p:spPr>
      </p:sp>
      <p:sp>
        <p:nvSpPr>
          <p:cNvPr id="30" name="!!axxt0"/>
          <p:cNvSpPr txBox="1"/>
          <p:nvPr/>
        </p:nvSpPr>
        <p:spPr>
          <a:xfrm>
            <a:off x="690372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31" name="!!axxt1"/>
          <p:cNvSpPr txBox="1"/>
          <p:nvPr/>
        </p:nvSpPr>
        <p:spPr>
          <a:xfrm>
            <a:off x="8131629"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32" name="!!axxt2"/>
          <p:cNvSpPr txBox="1"/>
          <p:nvPr/>
        </p:nvSpPr>
        <p:spPr>
          <a:xfrm>
            <a:off x="9359537"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33" name="!!axxt3"/>
          <p:cNvSpPr txBox="1"/>
          <p:nvPr/>
        </p:nvSpPr>
        <p:spPr>
          <a:xfrm>
            <a:off x="10587446"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34" name="!!axyt0"/>
          <p:cNvSpPr txBox="1"/>
          <p:nvPr/>
        </p:nvSpPr>
        <p:spPr>
          <a:xfrm>
            <a:off x="6537960" y="39684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35" name="!!axyt1"/>
          <p:cNvSpPr txBox="1"/>
          <p:nvPr/>
        </p:nvSpPr>
        <p:spPr>
          <a:xfrm>
            <a:off x="6537960" y="31760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36" name="!!axyt2"/>
          <p:cNvSpPr txBox="1"/>
          <p:nvPr/>
        </p:nvSpPr>
        <p:spPr>
          <a:xfrm>
            <a:off x="6537960" y="23835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37" name="!!axyt3"/>
          <p:cNvSpPr txBox="1"/>
          <p:nvPr/>
        </p:nvSpPr>
        <p:spPr>
          <a:xfrm>
            <a:off x="653796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38" name="!!axxl"/>
          <p:cNvSpPr txBox="1"/>
          <p:nvPr/>
        </p:nvSpPr>
        <p:spPr>
          <a:xfrm>
            <a:off x="7223760" y="4343400"/>
            <a:ext cx="429768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39" name="!!axyl"/>
          <p:cNvSpPr txBox="1"/>
          <p:nvPr/>
        </p:nvSpPr>
        <p:spPr>
          <a:xfrm>
            <a:off x="704088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a:t>
            </a:r>
            <a:endParaRPr lang="en-US" sz="1100" dirty="0"/>
          </a:p>
        </p:txBody>
      </p:sp>
      <p:sp>
        <p:nvSpPr>
          <p:cNvPr id="40" name="!!gsPlanar"/>
          <p:cNvSpPr/>
          <p:nvPr/>
        </p:nvSpPr>
        <p:spPr>
          <a:xfrm>
            <a:off x="7223760" y="1868223"/>
            <a:ext cx="4297680" cy="862057"/>
          </a:xfrm>
          <a:custGeom>
            <a:avLst/>
            <a:gdLst/>
            <a:ahLst/>
            <a:cxnLst/>
            <a:rect l="l" t="t" r="r" b="b"/>
            <a:pathLst>
              <a:path w="4297680" h="862057">
                <a:moveTo>
                  <a:pt x="0" y="862057"/>
                </a:moveTo>
                <a:lnTo>
                  <a:pt x="153489" y="791433"/>
                </a:lnTo>
                <a:lnTo>
                  <a:pt x="306977" y="725515"/>
                </a:lnTo>
                <a:lnTo>
                  <a:pt x="460466" y="664374"/>
                </a:lnTo>
                <a:lnTo>
                  <a:pt x="613954" y="607945"/>
                </a:lnTo>
                <a:lnTo>
                  <a:pt x="767443" y="556041"/>
                </a:lnTo>
                <a:lnTo>
                  <a:pt x="920931" y="508392"/>
                </a:lnTo>
                <a:lnTo>
                  <a:pt x="1074420" y="464670"/>
                </a:lnTo>
                <a:lnTo>
                  <a:pt x="1227909" y="424523"/>
                </a:lnTo>
                <a:lnTo>
                  <a:pt x="1381397" y="387599"/>
                </a:lnTo>
                <a:lnTo>
                  <a:pt x="1534886" y="353560"/>
                </a:lnTo>
                <a:lnTo>
                  <a:pt x="1688374" y="322093"/>
                </a:lnTo>
                <a:lnTo>
                  <a:pt x="1841863" y="292913"/>
                </a:lnTo>
                <a:lnTo>
                  <a:pt x="1995351" y="265766"/>
                </a:lnTo>
                <a:lnTo>
                  <a:pt x="2148840" y="240430"/>
                </a:lnTo>
                <a:lnTo>
                  <a:pt x="2302329" y="216708"/>
                </a:lnTo>
                <a:lnTo>
                  <a:pt x="2455817" y="194427"/>
                </a:lnTo>
                <a:lnTo>
                  <a:pt x="2609306" y="173439"/>
                </a:lnTo>
                <a:lnTo>
                  <a:pt x="2762794" y="153613"/>
                </a:lnTo>
                <a:lnTo>
                  <a:pt x="2916283" y="134836"/>
                </a:lnTo>
                <a:lnTo>
                  <a:pt x="3069771" y="117008"/>
                </a:lnTo>
                <a:lnTo>
                  <a:pt x="3223260" y="100041"/>
                </a:lnTo>
                <a:lnTo>
                  <a:pt x="3376749" y="83861"/>
                </a:lnTo>
                <a:lnTo>
                  <a:pt x="3530237" y="68398"/>
                </a:lnTo>
                <a:lnTo>
                  <a:pt x="3683726" y="53595"/>
                </a:lnTo>
                <a:lnTo>
                  <a:pt x="3837214" y="39398"/>
                </a:lnTo>
                <a:lnTo>
                  <a:pt x="3990703" y="25760"/>
                </a:lnTo>
                <a:lnTo>
                  <a:pt x="4144191" y="12640"/>
                </a:lnTo>
                <a:lnTo>
                  <a:pt x="4297680" y="0"/>
                </a:lnTo>
              </a:path>
            </a:pathLst>
          </a:custGeom>
          <a:ln w="19050">
            <a:solidFill>
              <a:srgbClr val="D9DCE3"/>
            </a:solidFill>
            <a:prstDash val="dash"/>
          </a:ln>
        </p:spPr>
      </p:sp>
      <p:sp>
        <p:nvSpPr>
          <p:cNvPr id="41" name="!!gsPlanarL"/>
          <p:cNvSpPr txBox="1"/>
          <p:nvPr/>
        </p:nvSpPr>
        <p:spPr>
          <a:xfrm>
            <a:off x="7346551" y="2455960"/>
            <a:ext cx="1280160" cy="201168"/>
          </a:xfrm>
          <a:prstGeom prst="rect">
            <a:avLst/>
          </a:prstGeom>
          <a:noFill/>
          <a:ln/>
        </p:spPr>
        <p:txBody>
          <a:bodyPr wrap="square" lIns="0" tIns="0" rIns="0" bIns="0" rtlCol="0" anchor="t"/>
          <a:lstStyle/>
          <a:p>
            <a:pPr algn="l" indent="0" marL="0">
              <a:buNone/>
            </a:pPr>
            <a:r>
              <a:rPr lang="en-US" sz="900" dirty="0">
                <a:solidFill>
                  <a:srgbClr val="8A8D93"/>
                </a:solidFill>
                <a:latin typeface="Segoe UI" pitchFamily="34" charset="0"/>
                <a:ea typeface="Segoe UI" pitchFamily="34" charset="-122"/>
                <a:cs typeface="Segoe UI" pitchFamily="34" charset="-120"/>
              </a:rPr>
              <a:t>planar at 14 nm</a:t>
            </a:r>
            <a:endParaRPr lang="en-US" sz="900" dirty="0"/>
          </a:p>
        </p:txBody>
      </p:sp>
      <p:sp>
        <p:nvSpPr>
          <p:cNvPr id="42" name="!!ivGhost"/>
          <p:cNvSpPr/>
          <p:nvPr/>
        </p:nvSpPr>
        <p:spPr>
          <a:xfrm>
            <a:off x="7223760" y="1913989"/>
            <a:ext cx="4297680" cy="1840078"/>
          </a:xfrm>
          <a:custGeom>
            <a:avLst/>
            <a:gdLst/>
            <a:ahLst/>
            <a:cxnLst/>
            <a:rect l="l" t="t" r="r" b="b"/>
            <a:pathLst>
              <a:path w="4297680" h="1840078">
                <a:moveTo>
                  <a:pt x="0" y="1840078"/>
                </a:moveTo>
                <a:lnTo>
                  <a:pt x="153489" y="1697842"/>
                </a:lnTo>
                <a:lnTo>
                  <a:pt x="306977" y="1552454"/>
                </a:lnTo>
                <a:lnTo>
                  <a:pt x="460466" y="1406152"/>
                </a:lnTo>
                <a:lnTo>
                  <a:pt x="613954" y="1260051"/>
                </a:lnTo>
                <a:lnTo>
                  <a:pt x="767443" y="1114998"/>
                </a:lnTo>
                <a:lnTo>
                  <a:pt x="920931" y="972166"/>
                </a:lnTo>
                <a:lnTo>
                  <a:pt x="1074420" y="834709"/>
                </a:lnTo>
                <a:lnTo>
                  <a:pt x="1227909" y="706556"/>
                </a:lnTo>
                <a:lnTo>
                  <a:pt x="1381397" y="590851"/>
                </a:lnTo>
                <a:lnTo>
                  <a:pt x="1534886" y="490066"/>
                </a:lnTo>
                <a:lnTo>
                  <a:pt x="1688374" y="409523"/>
                </a:lnTo>
                <a:lnTo>
                  <a:pt x="1841863" y="349453"/>
                </a:lnTo>
                <a:lnTo>
                  <a:pt x="1995351" y="304873"/>
                </a:lnTo>
                <a:lnTo>
                  <a:pt x="2148840" y="268360"/>
                </a:lnTo>
                <a:lnTo>
                  <a:pt x="2302329" y="236425"/>
                </a:lnTo>
                <a:lnTo>
                  <a:pt x="2455817" y="207803"/>
                </a:lnTo>
                <a:lnTo>
                  <a:pt x="2609306" y="181881"/>
                </a:lnTo>
                <a:lnTo>
                  <a:pt x="2762794" y="158244"/>
                </a:lnTo>
                <a:lnTo>
                  <a:pt x="2916283" y="136586"/>
                </a:lnTo>
                <a:lnTo>
                  <a:pt x="3069771" y="116655"/>
                </a:lnTo>
                <a:lnTo>
                  <a:pt x="3223260" y="98246"/>
                </a:lnTo>
                <a:lnTo>
                  <a:pt x="3376749" y="81182"/>
                </a:lnTo>
                <a:lnTo>
                  <a:pt x="3530237" y="65314"/>
                </a:lnTo>
                <a:lnTo>
                  <a:pt x="3683726" y="50515"/>
                </a:lnTo>
                <a:lnTo>
                  <a:pt x="3837214" y="36674"/>
                </a:lnTo>
                <a:lnTo>
                  <a:pt x="3990703" y="23694"/>
                </a:lnTo>
                <a:lnTo>
                  <a:pt x="4144191" y="11494"/>
                </a:lnTo>
                <a:lnTo>
                  <a:pt x="4297680" y="0"/>
                </a:lnTo>
              </a:path>
            </a:pathLst>
          </a:custGeom>
          <a:ln w="25400">
            <a:solidFill>
              <a:srgbClr val="C9CCD3"/>
            </a:solidFill>
            <a:prstDash val="solid"/>
          </a:ln>
        </p:spPr>
      </p:sp>
      <p:sp>
        <p:nvSpPr>
          <p:cNvPr id="43" name="!!ivTrail"/>
          <p:cNvSpPr/>
          <p:nvPr/>
        </p:nvSpPr>
        <p:spPr>
          <a:xfrm>
            <a:off x="7223760" y="1913989"/>
            <a:ext cx="4297680" cy="1840078"/>
          </a:xfrm>
          <a:custGeom>
            <a:avLst/>
            <a:gdLst/>
            <a:ahLst/>
            <a:cxnLst/>
            <a:rect l="l" t="t" r="r" b="b"/>
            <a:pathLst>
              <a:path w="4297680" h="1840078">
                <a:moveTo>
                  <a:pt x="0" y="1840078"/>
                </a:moveTo>
                <a:lnTo>
                  <a:pt x="153489" y="1697842"/>
                </a:lnTo>
                <a:lnTo>
                  <a:pt x="306977" y="1552454"/>
                </a:lnTo>
                <a:lnTo>
                  <a:pt x="460466" y="1406152"/>
                </a:lnTo>
                <a:lnTo>
                  <a:pt x="613954" y="1260051"/>
                </a:lnTo>
                <a:lnTo>
                  <a:pt x="767443" y="1114998"/>
                </a:lnTo>
                <a:lnTo>
                  <a:pt x="920931" y="972166"/>
                </a:lnTo>
                <a:lnTo>
                  <a:pt x="1074420" y="834709"/>
                </a:lnTo>
                <a:lnTo>
                  <a:pt x="1227909" y="706556"/>
                </a:lnTo>
                <a:lnTo>
                  <a:pt x="1381397" y="590851"/>
                </a:lnTo>
                <a:lnTo>
                  <a:pt x="1534886" y="490066"/>
                </a:lnTo>
                <a:lnTo>
                  <a:pt x="1688374" y="409523"/>
                </a:lnTo>
                <a:lnTo>
                  <a:pt x="1841863" y="349453"/>
                </a:lnTo>
                <a:lnTo>
                  <a:pt x="1995351" y="304873"/>
                </a:lnTo>
                <a:lnTo>
                  <a:pt x="2148840" y="268360"/>
                </a:lnTo>
                <a:lnTo>
                  <a:pt x="2302329" y="236425"/>
                </a:lnTo>
                <a:lnTo>
                  <a:pt x="2455817" y="207803"/>
                </a:lnTo>
                <a:lnTo>
                  <a:pt x="2609306" y="181881"/>
                </a:lnTo>
                <a:lnTo>
                  <a:pt x="2762794" y="158244"/>
                </a:lnTo>
                <a:lnTo>
                  <a:pt x="2916283" y="136586"/>
                </a:lnTo>
                <a:lnTo>
                  <a:pt x="3069771" y="116655"/>
                </a:lnTo>
                <a:lnTo>
                  <a:pt x="3223260" y="98246"/>
                </a:lnTo>
                <a:lnTo>
                  <a:pt x="3376749" y="81182"/>
                </a:lnTo>
                <a:lnTo>
                  <a:pt x="3530237" y="65314"/>
                </a:lnTo>
                <a:lnTo>
                  <a:pt x="3683726" y="50515"/>
                </a:lnTo>
                <a:lnTo>
                  <a:pt x="3837214" y="36674"/>
                </a:lnTo>
                <a:lnTo>
                  <a:pt x="3990703" y="23694"/>
                </a:lnTo>
                <a:lnTo>
                  <a:pt x="4144191" y="11494"/>
                </a:lnTo>
                <a:lnTo>
                  <a:pt x="4297680" y="0"/>
                </a:lnTo>
              </a:path>
            </a:pathLst>
          </a:custGeom>
          <a:ln w="38100">
            <a:solidFill>
              <a:srgbClr val="2E9E4F"/>
            </a:solidFill>
            <a:prstDash val="solid"/>
          </a:ln>
        </p:spPr>
      </p:sp>
      <p:sp>
        <p:nvSpPr>
          <p:cNvPr id="44" name="!!ivPt"/>
          <p:cNvSpPr/>
          <p:nvPr/>
        </p:nvSpPr>
        <p:spPr>
          <a:xfrm>
            <a:off x="11439144" y="1831693"/>
            <a:ext cx="164592" cy="164592"/>
          </a:xfrm>
          <a:prstGeom prst="ellipse">
            <a:avLst/>
          </a:prstGeom>
          <a:solidFill>
            <a:srgbClr val="2E9E4F"/>
          </a:solidFill>
          <a:ln w="19050">
            <a:solidFill>
              <a:srgbClr val="FFFFFF"/>
            </a:solidFill>
            <a:prstDash val="solid"/>
          </a:ln>
        </p:spPr>
      </p:sp>
      <p:sp>
        <p:nvSpPr>
          <p:cNvPr id="45" name="!!ivPtL"/>
          <p:cNvSpPr txBox="1"/>
          <p:nvPr/>
        </p:nvSpPr>
        <p:spPr>
          <a:xfrm>
            <a:off x="10607040" y="1584805"/>
            <a:ext cx="868680" cy="219456"/>
          </a:xfrm>
          <a:prstGeom prst="rect">
            <a:avLst/>
          </a:prstGeom>
          <a:noFill/>
          <a:ln/>
        </p:spPr>
        <p:txBody>
          <a:bodyPr wrap="square" lIns="0" tIns="0" rIns="0" bIns="0" rtlCol="0" anchor="t"/>
          <a:lstStyle/>
          <a:p>
            <a:pPr algn="r" indent="0" marL="0">
              <a:buNone/>
            </a:pPr>
            <a:r>
              <a:rPr lang="en-US" sz="1100" dirty="0">
                <a:solidFill>
                  <a:srgbClr val="2E9E4F"/>
                </a:solidFill>
                <a:latin typeface="Segoe UI Semibold" pitchFamily="34" charset="0"/>
                <a:ea typeface="Segoe UI Semibold" pitchFamily="34" charset="-122"/>
                <a:cs typeface="Segoe UI Semibold" pitchFamily="34" charset="-120"/>
              </a:rPr>
              <a:t>27.5 µA</a:t>
            </a:r>
            <a:endParaRPr lang="en-US" sz="1100" dirty="0"/>
          </a:p>
        </p:txBody>
      </p:sp>
      <p:sp>
        <p:nvSpPr>
          <p:cNvPr id="46" name="!!ivRead"/>
          <p:cNvSpPr txBox="1"/>
          <p:nvPr/>
        </p:nvSpPr>
        <p:spPr>
          <a:xfrm>
            <a:off x="6858000" y="4572000"/>
            <a:ext cx="4754880" cy="256032"/>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V</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G</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0.70 V     I</a:t>
            </a:r>
            <a:pPr algn="l" indent="0" marL="0">
              <a:buNone/>
            </a:pPr>
            <a:r>
              <a:rPr lang="en-US" sz="1400" baseline="-40000" dirty="0">
                <a:solidFill>
                  <a:srgbClr val="171A20"/>
                </a:solidFill>
                <a:latin typeface="Segoe UI Semibold" pitchFamily="34" charset="0"/>
                <a:ea typeface="Segoe UI Semibold" pitchFamily="34" charset="-122"/>
                <a:cs typeface="Segoe UI Semibold" pitchFamily="34" charset="-120"/>
              </a:rPr>
              <a:t>D</a:t>
            </a:r>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 = 27.5 µA</a:t>
            </a:r>
            <a:endParaRPr lang="en-US" sz="1400" dirty="0"/>
          </a:p>
        </p:txBody>
      </p:sp>
      <p:sp>
        <p:nvSpPr>
          <p:cNvPr id="47" name="!!ivReg"/>
          <p:cNvSpPr txBox="1"/>
          <p:nvPr/>
        </p:nvSpPr>
        <p:spPr>
          <a:xfrm>
            <a:off x="6858000" y="4818888"/>
            <a:ext cx="4754880" cy="219456"/>
          </a:xfrm>
          <a:prstGeom prst="rect">
            <a:avLst/>
          </a:prstGeom>
          <a:noFill/>
          <a:ln/>
        </p:spPr>
        <p:txBody>
          <a:bodyPr wrap="square" lIns="0" tIns="0" rIns="0" bIns="0" rtlCol="0" anchor="t"/>
          <a:lstStyle/>
          <a:p>
            <a:pPr algn="l" indent="0" marL="0">
              <a:buNone/>
            </a:pPr>
            <a:r>
              <a:rPr lang="en-US" sz="1100" dirty="0">
                <a:solidFill>
                  <a:srgbClr val="2E9E4F"/>
                </a:solidFill>
                <a:latin typeface="Segoe UI Semibold" pitchFamily="34" charset="0"/>
                <a:ea typeface="Segoe UI Semibold" pitchFamily="34" charset="-122"/>
                <a:cs typeface="Segoe UI Semibold" pitchFamily="34" charset="-120"/>
              </a:rPr>
              <a:t>ON: I</a:t>
            </a:r>
            <a:pPr algn="l" indent="0" marL="0">
              <a:buNone/>
            </a:pPr>
            <a:r>
              <a:rPr lang="en-US" sz="1100" baseline="-40000" dirty="0">
                <a:solidFill>
                  <a:srgbClr val="2E9E4F"/>
                </a:solidFill>
                <a:latin typeface="Segoe UI Semibold" pitchFamily="34" charset="0"/>
                <a:ea typeface="Segoe UI Semibold" pitchFamily="34" charset="-122"/>
                <a:cs typeface="Segoe UI Semibold" pitchFamily="34" charset="-120"/>
              </a:rPr>
              <a:t>on</a:t>
            </a:r>
            <a:pPr algn="l" indent="0" marL="0">
              <a:buNone/>
            </a:pPr>
            <a:r>
              <a:rPr lang="en-US" sz="1100" dirty="0">
                <a:solidFill>
                  <a:srgbClr val="2E9E4F"/>
                </a:solidFill>
                <a:latin typeface="Segoe UI Semibold" pitchFamily="34" charset="0"/>
                <a:ea typeface="Segoe UI Semibold" pitchFamily="34" charset="-122"/>
                <a:cs typeface="Segoe UI Semibold" pitchFamily="34" charset="-120"/>
              </a:rPr>
              <a:t> = 27.5 µA</a:t>
            </a:r>
            <a:endParaRPr lang="en-US" sz="1100" dirty="0"/>
          </a:p>
        </p:txBody>
      </p:sp>
      <p:sp>
        <p:nvSpPr>
          <p:cNvPr id="48" name="!!knobLbl"/>
          <p:cNvSpPr txBox="1"/>
          <p:nvPr/>
        </p:nvSpPr>
        <p:spPr>
          <a:xfrm>
            <a:off x="7022592" y="507492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0.7 V</a:t>
            </a:r>
            <a:endParaRPr lang="en-US" sz="1200" dirty="0"/>
          </a:p>
        </p:txBody>
      </p:sp>
      <p:sp>
        <p:nvSpPr>
          <p:cNvPr id="49" name="!!knobTrack"/>
          <p:cNvSpPr/>
          <p:nvPr/>
        </p:nvSpPr>
        <p:spPr>
          <a:xfrm>
            <a:off x="7040880" y="5458968"/>
            <a:ext cx="4480560" cy="54864"/>
          </a:xfrm>
          <a:prstGeom prst="roundRect">
            <a:avLst>
              <a:gd name="adj" fmla="val 50000"/>
            </a:avLst>
          </a:prstGeom>
          <a:solidFill>
            <a:srgbClr val="E2E3E3"/>
          </a:solidFill>
          <a:ln/>
        </p:spPr>
      </p:sp>
      <p:sp>
        <p:nvSpPr>
          <p:cNvPr id="50" name="!!knobFill"/>
          <p:cNvSpPr/>
          <p:nvPr/>
        </p:nvSpPr>
        <p:spPr>
          <a:xfrm>
            <a:off x="7040880" y="5458968"/>
            <a:ext cx="4480560" cy="54864"/>
          </a:xfrm>
          <a:prstGeom prst="roundRect">
            <a:avLst>
              <a:gd name="adj" fmla="val 50000"/>
            </a:avLst>
          </a:prstGeom>
          <a:solidFill>
            <a:srgbClr val="6B5BC4"/>
          </a:solidFill>
          <a:ln/>
        </p:spPr>
      </p:sp>
      <p:sp>
        <p:nvSpPr>
          <p:cNvPr id="51" name="!!knobT0"/>
          <p:cNvSpPr txBox="1"/>
          <p:nvPr/>
        </p:nvSpPr>
        <p:spPr>
          <a:xfrm>
            <a:off x="667512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52" name="!!knobT1"/>
          <p:cNvSpPr txBox="1"/>
          <p:nvPr/>
        </p:nvSpPr>
        <p:spPr>
          <a:xfrm>
            <a:off x="795528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53" name="!!knobT2"/>
          <p:cNvSpPr txBox="1"/>
          <p:nvPr/>
        </p:nvSpPr>
        <p:spPr>
          <a:xfrm>
            <a:off x="923544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54" name="!!knobT3"/>
          <p:cNvSpPr txBox="1"/>
          <p:nvPr/>
        </p:nvSpPr>
        <p:spPr>
          <a:xfrm>
            <a:off x="1051560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55" name="!!knobT4"/>
          <p:cNvSpPr txBox="1"/>
          <p:nvPr/>
        </p:nvSpPr>
        <p:spPr>
          <a:xfrm>
            <a:off x="11155680" y="55961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56" name="!!knobThumb"/>
          <p:cNvSpPr/>
          <p:nvPr/>
        </p:nvSpPr>
        <p:spPr>
          <a:xfrm>
            <a:off x="11420856" y="5385816"/>
            <a:ext cx="201168" cy="201168"/>
          </a:xfrm>
          <a:prstGeom prst="ellipse">
            <a:avLst/>
          </a:prstGeom>
          <a:solidFill>
            <a:srgbClr val="FFFFFF"/>
          </a:solidFill>
          <a:ln w="28575">
            <a:solidFill>
              <a:srgbClr val="6B5BC4"/>
            </a:solidFill>
            <a:prstDash val="solid"/>
          </a:ln>
        </p:spPr>
      </p:sp>
      <p:sp>
        <p:nvSpPr>
          <p:cNvPr id="5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V</a:t>
            </a:r>
            <a:pPr algn="ctr" indent="0" marL="0">
              <a:buNone/>
            </a:pPr>
            <a:r>
              <a:rPr lang="en-US" sz="1600" baseline="-40000" dirty="0">
                <a:solidFill>
                  <a:srgbClr val="171A20"/>
                </a:solidFill>
                <a:latin typeface="Segoe UI" pitchFamily="34" charset="0"/>
                <a:ea typeface="Segoe UI" pitchFamily="34" charset="-122"/>
                <a:cs typeface="Segoe UI" pitchFamily="34" charset="-120"/>
              </a:rPr>
              <a:t>G</a:t>
            </a:r>
            <a:pPr algn="ctr" indent="0" marL="0">
              <a:buNone/>
            </a:pPr>
            <a:r>
              <a:rPr lang="en-US" sz="1600" dirty="0">
                <a:solidFill>
                  <a:srgbClr val="171A20"/>
                </a:solidFill>
                <a:latin typeface="Segoe UI" pitchFamily="34" charset="0"/>
                <a:ea typeface="Segoe UI" pitchFamily="34" charset="-122"/>
                <a:cs typeface="Segoe UI" pitchFamily="34" charset="-120"/>
              </a:rPr>
              <a:t> = 0.7 V: the whole wire conducts (volume inversion): I</a:t>
            </a:r>
            <a:pPr algn="ctr" indent="0" marL="0">
              <a:buNone/>
            </a:pPr>
            <a:r>
              <a:rPr lang="en-US" sz="1600" baseline="-40000" dirty="0">
                <a:solidFill>
                  <a:srgbClr val="171A20"/>
                </a:solidFill>
                <a:latin typeface="Segoe UI" pitchFamily="34" charset="0"/>
                <a:ea typeface="Segoe UI" pitchFamily="34" charset="-122"/>
                <a:cs typeface="Segoe UI" pitchFamily="34" charset="-120"/>
              </a:rPr>
              <a:t>on</a:t>
            </a:r>
            <a:pPr algn="ctr" indent="0" marL="0">
              <a:buNone/>
            </a:pPr>
            <a:r>
              <a:rPr lang="en-US" sz="1600" dirty="0">
                <a:solidFill>
                  <a:srgbClr val="171A20"/>
                </a:solidFill>
                <a:latin typeface="Segoe UI" pitchFamily="34" charset="0"/>
                <a:ea typeface="Segoe UI" pitchFamily="34" charset="-122"/>
                <a:cs typeface="Segoe UI" pitchFamily="34" charset="-120"/>
              </a:rPr>
              <a:t> = 27.5 µA.</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72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Planar vs FinFET vs GAA</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Same 14 nm gate, same silicon: only the number of gate sides changes</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E2E3E3"/>
          </a:solidFill>
          <a:ln/>
        </p:spPr>
      </p:sp>
      <p:sp>
        <p:nvSpPr>
          <p:cNvPr id="6" name="!!sdot2"/>
          <p:cNvSpPr/>
          <p:nvPr/>
        </p:nvSpPr>
        <p:spPr>
          <a:xfrm>
            <a:off x="11599164" y="525780"/>
            <a:ext cx="82296" cy="82296"/>
          </a:xfrm>
          <a:prstGeom prst="ellipse">
            <a:avLst/>
          </a:prstGeom>
          <a:solidFill>
            <a:srgbClr val="E2E3E3"/>
          </a:solidFill>
          <a:ln/>
        </p:spPr>
      </p:sp>
      <p:sp>
        <p:nvSpPr>
          <p:cNvPr id="7" name="!!axg0"/>
          <p:cNvSpPr/>
          <p:nvPr/>
        </p:nvSpPr>
        <p:spPr>
          <a:xfrm>
            <a:off x="1188720" y="4983480"/>
            <a:ext cx="5120640" cy="91"/>
          </a:xfrm>
          <a:prstGeom prst="line">
            <a:avLst/>
          </a:prstGeom>
          <a:noFill/>
          <a:ln w="9525">
            <a:solidFill>
              <a:srgbClr val="EDEEF0"/>
            </a:solidFill>
            <a:prstDash val="solid"/>
          </a:ln>
        </p:spPr>
      </p:sp>
      <p:sp>
        <p:nvSpPr>
          <p:cNvPr id="8" name="!!axg1"/>
          <p:cNvSpPr/>
          <p:nvPr/>
        </p:nvSpPr>
        <p:spPr>
          <a:xfrm>
            <a:off x="1188720" y="4042954"/>
            <a:ext cx="5120640" cy="91"/>
          </a:xfrm>
          <a:prstGeom prst="line">
            <a:avLst/>
          </a:prstGeom>
          <a:noFill/>
          <a:ln w="9525">
            <a:solidFill>
              <a:srgbClr val="EDEEF0"/>
            </a:solidFill>
            <a:prstDash val="solid"/>
          </a:ln>
        </p:spPr>
      </p:sp>
      <p:sp>
        <p:nvSpPr>
          <p:cNvPr id="9" name="!!axg2"/>
          <p:cNvSpPr/>
          <p:nvPr/>
        </p:nvSpPr>
        <p:spPr>
          <a:xfrm>
            <a:off x="1188720" y="3102429"/>
            <a:ext cx="5120640" cy="91"/>
          </a:xfrm>
          <a:prstGeom prst="line">
            <a:avLst/>
          </a:prstGeom>
          <a:noFill/>
          <a:ln w="9525">
            <a:solidFill>
              <a:srgbClr val="EDEEF0"/>
            </a:solidFill>
            <a:prstDash val="solid"/>
          </a:ln>
        </p:spPr>
      </p:sp>
      <p:sp>
        <p:nvSpPr>
          <p:cNvPr id="10" name="!!axg3"/>
          <p:cNvSpPr/>
          <p:nvPr/>
        </p:nvSpPr>
        <p:spPr>
          <a:xfrm>
            <a:off x="1188720" y="2161903"/>
            <a:ext cx="5120640" cy="91"/>
          </a:xfrm>
          <a:prstGeom prst="line">
            <a:avLst/>
          </a:prstGeom>
          <a:noFill/>
          <a:ln w="9525">
            <a:solidFill>
              <a:srgbClr val="EDEEF0"/>
            </a:solidFill>
            <a:prstDash val="solid"/>
          </a:ln>
        </p:spPr>
      </p:sp>
      <p:sp>
        <p:nvSpPr>
          <p:cNvPr id="11" name="!!axxa"/>
          <p:cNvSpPr/>
          <p:nvPr/>
        </p:nvSpPr>
        <p:spPr>
          <a:xfrm>
            <a:off x="1188720" y="4983480"/>
            <a:ext cx="5120640" cy="91"/>
          </a:xfrm>
          <a:prstGeom prst="line">
            <a:avLst/>
          </a:prstGeom>
          <a:noFill/>
          <a:ln w="12700">
            <a:solidFill>
              <a:srgbClr val="8A8D93"/>
            </a:solidFill>
            <a:prstDash val="solid"/>
          </a:ln>
        </p:spPr>
      </p:sp>
      <p:sp>
        <p:nvSpPr>
          <p:cNvPr id="12" name="!!axya"/>
          <p:cNvSpPr/>
          <p:nvPr/>
        </p:nvSpPr>
        <p:spPr>
          <a:xfrm>
            <a:off x="1188720" y="1691640"/>
            <a:ext cx="91" cy="3291840"/>
          </a:xfrm>
          <a:prstGeom prst="line">
            <a:avLst/>
          </a:prstGeom>
          <a:noFill/>
          <a:ln w="12700">
            <a:solidFill>
              <a:srgbClr val="8A8D93"/>
            </a:solidFill>
            <a:prstDash val="solid"/>
          </a:ln>
        </p:spPr>
      </p:sp>
      <p:sp>
        <p:nvSpPr>
          <p:cNvPr id="13" name="!!axxt0"/>
          <p:cNvSpPr txBox="1"/>
          <p:nvPr/>
        </p:nvSpPr>
        <p:spPr>
          <a:xfrm>
            <a:off x="86868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14" name="!!axxt1"/>
          <p:cNvSpPr txBox="1"/>
          <p:nvPr/>
        </p:nvSpPr>
        <p:spPr>
          <a:xfrm>
            <a:off x="160020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15" name="!!axxt2"/>
          <p:cNvSpPr txBox="1"/>
          <p:nvPr/>
        </p:nvSpPr>
        <p:spPr>
          <a:xfrm>
            <a:off x="233172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16" name="!!axxt3"/>
          <p:cNvSpPr txBox="1"/>
          <p:nvPr/>
        </p:nvSpPr>
        <p:spPr>
          <a:xfrm>
            <a:off x="306324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17" name="!!axxt4"/>
          <p:cNvSpPr txBox="1"/>
          <p:nvPr/>
        </p:nvSpPr>
        <p:spPr>
          <a:xfrm>
            <a:off x="379476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18" name="!!axxt5"/>
          <p:cNvSpPr txBox="1"/>
          <p:nvPr/>
        </p:nvSpPr>
        <p:spPr>
          <a:xfrm>
            <a:off x="452628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0.5</a:t>
            </a:r>
            <a:endParaRPr lang="en-US" sz="900" dirty="0"/>
          </a:p>
        </p:txBody>
      </p:sp>
      <p:sp>
        <p:nvSpPr>
          <p:cNvPr id="19" name="!!axxt6"/>
          <p:cNvSpPr txBox="1"/>
          <p:nvPr/>
        </p:nvSpPr>
        <p:spPr>
          <a:xfrm>
            <a:off x="525780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20" name="!!axxt7"/>
          <p:cNvSpPr txBox="1"/>
          <p:nvPr/>
        </p:nvSpPr>
        <p:spPr>
          <a:xfrm>
            <a:off x="598932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0.7</a:t>
            </a:r>
            <a:endParaRPr lang="en-US" sz="900" dirty="0"/>
          </a:p>
        </p:txBody>
      </p:sp>
      <p:sp>
        <p:nvSpPr>
          <p:cNvPr id="21" name="!!axyt0"/>
          <p:cNvSpPr txBox="1"/>
          <p:nvPr/>
        </p:nvSpPr>
        <p:spPr>
          <a:xfrm>
            <a:off x="502920" y="48828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pA</a:t>
            </a:r>
            <a:endParaRPr lang="en-US" sz="900" dirty="0"/>
          </a:p>
        </p:txBody>
      </p:sp>
      <p:sp>
        <p:nvSpPr>
          <p:cNvPr id="22" name="!!axyt1"/>
          <p:cNvSpPr txBox="1"/>
          <p:nvPr/>
        </p:nvSpPr>
        <p:spPr>
          <a:xfrm>
            <a:off x="502920" y="394237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nA</a:t>
            </a:r>
            <a:endParaRPr lang="en-US" sz="900" dirty="0"/>
          </a:p>
        </p:txBody>
      </p:sp>
      <p:sp>
        <p:nvSpPr>
          <p:cNvPr id="23" name="!!axyt2"/>
          <p:cNvSpPr txBox="1"/>
          <p:nvPr/>
        </p:nvSpPr>
        <p:spPr>
          <a:xfrm>
            <a:off x="502920" y="3001845"/>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nA</a:t>
            </a:r>
            <a:endParaRPr lang="en-US" sz="900" dirty="0"/>
          </a:p>
        </p:txBody>
      </p:sp>
      <p:sp>
        <p:nvSpPr>
          <p:cNvPr id="24" name="!!axyt3"/>
          <p:cNvSpPr txBox="1"/>
          <p:nvPr/>
        </p:nvSpPr>
        <p:spPr>
          <a:xfrm>
            <a:off x="502920" y="2061319"/>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µA</a:t>
            </a:r>
            <a:endParaRPr lang="en-US" sz="900" dirty="0"/>
          </a:p>
        </p:txBody>
      </p:sp>
      <p:sp>
        <p:nvSpPr>
          <p:cNvPr id="25" name="!!axxl"/>
          <p:cNvSpPr txBox="1"/>
          <p:nvPr/>
        </p:nvSpPr>
        <p:spPr>
          <a:xfrm>
            <a:off x="1188720" y="5257800"/>
            <a:ext cx="51206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26" name="!!axyl"/>
          <p:cNvSpPr txBox="1"/>
          <p:nvPr/>
        </p:nvSpPr>
        <p:spPr>
          <a:xfrm>
            <a:off x="100584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at V</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 0.7 V (log)</a:t>
            </a:r>
            <a:endParaRPr lang="en-US" sz="1100" dirty="0"/>
          </a:p>
        </p:txBody>
      </p:sp>
      <p:sp>
        <p:nvSpPr>
          <p:cNvPr id="27" name="!!cmC0"/>
          <p:cNvSpPr/>
          <p:nvPr/>
        </p:nvSpPr>
        <p:spPr>
          <a:xfrm>
            <a:off x="1188720" y="1901211"/>
            <a:ext cx="5120640" cy="1023100"/>
          </a:xfrm>
          <a:custGeom>
            <a:avLst/>
            <a:gdLst/>
            <a:ahLst/>
            <a:cxnLst/>
            <a:rect l="l" t="t" r="r" b="b"/>
            <a:pathLst>
              <a:path w="5120640" h="1023100">
                <a:moveTo>
                  <a:pt x="0" y="1023100"/>
                </a:moveTo>
                <a:lnTo>
                  <a:pt x="146304" y="955605"/>
                </a:lnTo>
                <a:lnTo>
                  <a:pt x="292608" y="891664"/>
                </a:lnTo>
                <a:lnTo>
                  <a:pt x="438912" y="831346"/>
                </a:lnTo>
                <a:lnTo>
                  <a:pt x="585216" y="774652"/>
                </a:lnTo>
                <a:lnTo>
                  <a:pt x="731520" y="721517"/>
                </a:lnTo>
                <a:lnTo>
                  <a:pt x="877824" y="671822"/>
                </a:lnTo>
                <a:lnTo>
                  <a:pt x="1024128" y="625405"/>
                </a:lnTo>
                <a:lnTo>
                  <a:pt x="1170432" y="582074"/>
                </a:lnTo>
                <a:lnTo>
                  <a:pt x="1316736" y="541621"/>
                </a:lnTo>
                <a:lnTo>
                  <a:pt x="1463040" y="503829"/>
                </a:lnTo>
                <a:lnTo>
                  <a:pt x="1609344" y="468486"/>
                </a:lnTo>
                <a:lnTo>
                  <a:pt x="1755648" y="435383"/>
                </a:lnTo>
                <a:lnTo>
                  <a:pt x="1901952" y="404325"/>
                </a:lnTo>
                <a:lnTo>
                  <a:pt x="2048256" y="375130"/>
                </a:lnTo>
                <a:lnTo>
                  <a:pt x="2194560" y="347632"/>
                </a:lnTo>
                <a:lnTo>
                  <a:pt x="2340864" y="321679"/>
                </a:lnTo>
                <a:lnTo>
                  <a:pt x="2487168" y="297131"/>
                </a:lnTo>
                <a:lnTo>
                  <a:pt x="2633472" y="273866"/>
                </a:lnTo>
                <a:lnTo>
                  <a:pt x="2779776" y="251772"/>
                </a:lnTo>
                <a:lnTo>
                  <a:pt x="2926080" y="230749"/>
                </a:lnTo>
                <a:lnTo>
                  <a:pt x="3072384" y="210707"/>
                </a:lnTo>
                <a:lnTo>
                  <a:pt x="3218688" y="191566"/>
                </a:lnTo>
                <a:lnTo>
                  <a:pt x="3364992" y="173254"/>
                </a:lnTo>
                <a:lnTo>
                  <a:pt x="3511296" y="155707"/>
                </a:lnTo>
                <a:lnTo>
                  <a:pt x="3657600" y="138866"/>
                </a:lnTo>
                <a:lnTo>
                  <a:pt x="3803904" y="122680"/>
                </a:lnTo>
                <a:lnTo>
                  <a:pt x="3950208" y="107102"/>
                </a:lnTo>
                <a:lnTo>
                  <a:pt x="4096512" y="92088"/>
                </a:lnTo>
                <a:lnTo>
                  <a:pt x="4242816" y="77602"/>
                </a:lnTo>
                <a:lnTo>
                  <a:pt x="4389120" y="63607"/>
                </a:lnTo>
                <a:lnTo>
                  <a:pt x="4535424" y="50073"/>
                </a:lnTo>
                <a:lnTo>
                  <a:pt x="4681728" y="36970"/>
                </a:lnTo>
                <a:lnTo>
                  <a:pt x="4828032" y="24273"/>
                </a:lnTo>
                <a:lnTo>
                  <a:pt x="4974336" y="11957"/>
                </a:lnTo>
                <a:lnTo>
                  <a:pt x="5120640" y="0"/>
                </a:lnTo>
              </a:path>
            </a:pathLst>
          </a:custGeom>
          <a:ln w="38100">
            <a:solidFill>
              <a:srgbClr val="D64545"/>
            </a:solidFill>
            <a:prstDash val="solid"/>
          </a:ln>
        </p:spPr>
      </p:sp>
      <p:sp>
        <p:nvSpPr>
          <p:cNvPr id="28" name="!!cmP0"/>
          <p:cNvSpPr/>
          <p:nvPr/>
        </p:nvSpPr>
        <p:spPr>
          <a:xfrm>
            <a:off x="1115568" y="2851159"/>
            <a:ext cx="146304" cy="146304"/>
          </a:xfrm>
          <a:prstGeom prst="ellipse">
            <a:avLst/>
          </a:prstGeom>
          <a:solidFill>
            <a:srgbClr val="D64545"/>
          </a:solidFill>
          <a:ln/>
        </p:spPr>
      </p:sp>
      <p:sp>
        <p:nvSpPr>
          <p:cNvPr id="29" name="!!cmR0"/>
          <p:cNvSpPr/>
          <p:nvPr/>
        </p:nvSpPr>
        <p:spPr>
          <a:xfrm>
            <a:off x="6858000" y="1645920"/>
            <a:ext cx="4782312" cy="1078992"/>
          </a:xfrm>
          <a:prstGeom prst="roundRect">
            <a:avLst>
              <a:gd name="adj" fmla="val 5085"/>
            </a:avLst>
          </a:prstGeom>
          <a:solidFill>
            <a:srgbClr val="F4F5F7"/>
          </a:solidFill>
          <a:ln/>
        </p:spPr>
      </p:sp>
      <p:sp>
        <p:nvSpPr>
          <p:cNvPr id="30" name="!!cmN0"/>
          <p:cNvSpPr txBox="1"/>
          <p:nvPr/>
        </p:nvSpPr>
        <p:spPr>
          <a:xfrm>
            <a:off x="7040880" y="1737360"/>
            <a:ext cx="2743200" cy="292608"/>
          </a:xfrm>
          <a:prstGeom prst="rect">
            <a:avLst/>
          </a:prstGeom>
          <a:noFill/>
          <a:ln/>
        </p:spPr>
        <p:txBody>
          <a:bodyPr wrap="square" lIns="0" tIns="0" rIns="0" bIns="0" rtlCol="0" anchor="t"/>
          <a:lstStyle/>
          <a:p>
            <a:pPr algn="l" indent="0" marL="0">
              <a:buNone/>
            </a:pPr>
            <a:r>
              <a:rPr lang="en-US" sz="1500" dirty="0">
                <a:solidFill>
                  <a:srgbClr val="D64545"/>
                </a:solidFill>
                <a:latin typeface="Segoe UI Semibold" pitchFamily="34" charset="0"/>
                <a:ea typeface="Segoe UI Semibold" pitchFamily="34" charset="-122"/>
                <a:cs typeface="Segoe UI Semibold" pitchFamily="34" charset="-120"/>
              </a:rPr>
              <a:t>planar (1 side)</a:t>
            </a:r>
            <a:endParaRPr lang="en-US" sz="1500" dirty="0"/>
          </a:p>
        </p:txBody>
      </p:sp>
      <p:sp>
        <p:nvSpPr>
          <p:cNvPr id="31" name="!!cmI0"/>
          <p:cNvSpPr txBox="1"/>
          <p:nvPr/>
        </p:nvSpPr>
        <p:spPr>
          <a:xfrm>
            <a:off x="9509760" y="1737360"/>
            <a:ext cx="2011680" cy="292608"/>
          </a:xfrm>
          <a:prstGeom prst="rect">
            <a:avLst/>
          </a:prstGeom>
          <a:noFill/>
          <a:ln/>
        </p:spPr>
        <p:txBody>
          <a:bodyPr wrap="square" lIns="0" tIns="0" rIns="0" bIns="0" rtlCol="0" anchor="t"/>
          <a:lstStyle/>
          <a:p>
            <a:pPr algn="r" indent="0" marL="0">
              <a:buNone/>
            </a:pPr>
            <a:r>
              <a:rPr lang="en-US" sz="1500" dirty="0">
                <a:solidFill>
                  <a:srgbClr val="171A20"/>
                </a:solidFill>
                <a:latin typeface="Segoe UI Semibold" pitchFamily="34" charset="0"/>
                <a:ea typeface="Segoe UI Semibold" pitchFamily="34" charset="-122"/>
                <a:cs typeface="Segoe UI Semibold" pitchFamily="34" charset="-120"/>
              </a:rPr>
              <a:t>I</a:t>
            </a:r>
            <a:pPr algn="r" indent="0" marL="0">
              <a:buNone/>
            </a:pPr>
            <a:r>
              <a:rPr lang="en-US" sz="1500" baseline="-40000" dirty="0">
                <a:solidFill>
                  <a:srgbClr val="171A20"/>
                </a:solidFill>
                <a:latin typeface="Segoe UI Semibold" pitchFamily="34" charset="0"/>
                <a:ea typeface="Segoe UI Semibold" pitchFamily="34" charset="-122"/>
                <a:cs typeface="Segoe UI Semibold" pitchFamily="34" charset="-120"/>
              </a:rPr>
              <a:t>off</a:t>
            </a:r>
            <a:pPr algn="r" indent="0" marL="0">
              <a:buNone/>
            </a:pPr>
            <a:r>
              <a:rPr lang="en-US" sz="1500" dirty="0">
                <a:solidFill>
                  <a:srgbClr val="171A20"/>
                </a:solidFill>
                <a:latin typeface="Segoe UI Semibold" pitchFamily="34" charset="0"/>
                <a:ea typeface="Segoe UI Semibold" pitchFamily="34" charset="-122"/>
                <a:cs typeface="Segoe UI Semibold" pitchFamily="34" charset="-120"/>
              </a:rPr>
              <a:t> = 241 nA</a:t>
            </a:r>
            <a:endParaRPr lang="en-US" sz="1500" dirty="0"/>
          </a:p>
        </p:txBody>
      </p:sp>
      <p:sp>
        <p:nvSpPr>
          <p:cNvPr id="32" name="!!cmD0"/>
          <p:cNvSpPr txBox="1"/>
          <p:nvPr/>
        </p:nvSpPr>
        <p:spPr>
          <a:xfrm>
            <a:off x="7040880" y="2148840"/>
            <a:ext cx="4480560" cy="4572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λ = 4.37 nm  ·  SS ≈ 100 mV/dec  ·  DIBL ≈ 201 mV/V  ·  V</a:t>
            </a:r>
            <a:pPr algn="l" indent="0" marL="0">
              <a:buNone/>
            </a:pPr>
            <a:r>
              <a:rPr lang="en-US" sz="1100" baseline="-40000" dirty="0">
                <a:solidFill>
                  <a:srgbClr val="5C5E62"/>
                </a:solidFill>
                <a:latin typeface="Segoe UI" pitchFamily="34" charset="0"/>
                <a:ea typeface="Segoe UI" pitchFamily="34" charset="-122"/>
                <a:cs typeface="Segoe UI" pitchFamily="34" charset="-120"/>
              </a:rPr>
              <a:t>T</a:t>
            </a:r>
            <a:pPr algn="l" indent="0" marL="0">
              <a:buNone/>
            </a:pPr>
            <a:r>
              <a:rPr lang="en-US" sz="1100" dirty="0">
                <a:solidFill>
                  <a:srgbClr val="5C5E62"/>
                </a:solidFill>
                <a:latin typeface="Segoe UI" pitchFamily="34" charset="0"/>
                <a:ea typeface="Segoe UI" pitchFamily="34" charset="-122"/>
                <a:cs typeface="Segoe UI" pitchFamily="34" charset="-120"/>
              </a:rPr>
              <a:t> = 0.01 V</a:t>
            </a:r>
            <a:endParaRPr lang="en-US" sz="1100" dirty="0"/>
          </a:p>
        </p:txBody>
      </p:sp>
      <p:sp>
        <p:nvSpPr>
          <p:cNvPr id="33" name="!!cmR1"/>
          <p:cNvSpPr/>
          <p:nvPr/>
        </p:nvSpPr>
        <p:spPr>
          <a:xfrm>
            <a:off x="6858000" y="2880360"/>
            <a:ext cx="4782312" cy="1078992"/>
          </a:xfrm>
          <a:prstGeom prst="roundRect">
            <a:avLst>
              <a:gd name="adj" fmla="val 5085"/>
            </a:avLst>
          </a:prstGeom>
          <a:solidFill>
            <a:srgbClr val="FAFAFB"/>
          </a:solidFill>
          <a:ln/>
        </p:spPr>
      </p:sp>
      <p:sp>
        <p:nvSpPr>
          <p:cNvPr id="34" name="!!cmN1"/>
          <p:cNvSpPr txBox="1"/>
          <p:nvPr/>
        </p:nvSpPr>
        <p:spPr>
          <a:xfrm>
            <a:off x="7040880" y="2971800"/>
            <a:ext cx="2743200" cy="292608"/>
          </a:xfrm>
          <a:prstGeom prst="rect">
            <a:avLst/>
          </a:prstGeom>
          <a:noFill/>
          <a:ln/>
        </p:spPr>
        <p:txBody>
          <a:bodyPr wrap="square" lIns="0" tIns="0" rIns="0" bIns="0" rtlCol="0" anchor="t"/>
          <a:lstStyle/>
          <a:p>
            <a:pPr algn="l" indent="0" marL="0">
              <a:buNone/>
            </a:pPr>
            <a:r>
              <a:rPr lang="en-US" sz="1500" dirty="0">
                <a:solidFill>
                  <a:srgbClr val="C9CCD3"/>
                </a:solidFill>
                <a:latin typeface="Segoe UI Semibold" pitchFamily="34" charset="0"/>
                <a:ea typeface="Segoe UI Semibold" pitchFamily="34" charset="-122"/>
                <a:cs typeface="Segoe UI Semibold" pitchFamily="34" charset="-120"/>
              </a:rPr>
              <a:t>FinFET (3 sides)</a:t>
            </a:r>
            <a:endParaRPr lang="en-US" sz="1500" dirty="0"/>
          </a:p>
        </p:txBody>
      </p:sp>
      <p:sp>
        <p:nvSpPr>
          <p:cNvPr id="35" name="!!cmI1"/>
          <p:cNvSpPr txBox="1"/>
          <p:nvPr/>
        </p:nvSpPr>
        <p:spPr>
          <a:xfrm>
            <a:off x="9509760" y="2971800"/>
            <a:ext cx="2011680" cy="292608"/>
          </a:xfrm>
          <a:prstGeom prst="rect">
            <a:avLst/>
          </a:prstGeom>
          <a:noFill/>
          <a:ln/>
        </p:spPr>
        <p:txBody>
          <a:bodyPr wrap="square" lIns="0" tIns="0" rIns="0" bIns="0" rtlCol="0" anchor="t"/>
          <a:lstStyle/>
          <a:p>
            <a:pPr algn="r" indent="0" marL="0">
              <a:buNone/>
            </a:pPr>
            <a:endParaRPr lang="en-US" sz="1500" dirty="0"/>
          </a:p>
        </p:txBody>
      </p:sp>
      <p:sp>
        <p:nvSpPr>
          <p:cNvPr id="36" name="!!cmD1"/>
          <p:cNvSpPr txBox="1"/>
          <p:nvPr/>
        </p:nvSpPr>
        <p:spPr>
          <a:xfrm>
            <a:off x="7040880" y="3383280"/>
            <a:ext cx="4480560" cy="457200"/>
          </a:xfrm>
          <a:prstGeom prst="rect">
            <a:avLst/>
          </a:prstGeom>
          <a:noFill/>
          <a:ln/>
        </p:spPr>
        <p:txBody>
          <a:bodyPr wrap="square" lIns="0" tIns="0" rIns="0" bIns="0" rtlCol="0" anchor="t"/>
          <a:lstStyle/>
          <a:p>
            <a:pPr algn="l" indent="0" marL="0">
              <a:buNone/>
            </a:pPr>
            <a:endParaRPr lang="en-US" sz="1100" dirty="0"/>
          </a:p>
        </p:txBody>
      </p:sp>
      <p:sp>
        <p:nvSpPr>
          <p:cNvPr id="37" name="!!cmR2"/>
          <p:cNvSpPr/>
          <p:nvPr/>
        </p:nvSpPr>
        <p:spPr>
          <a:xfrm>
            <a:off x="6858000" y="4114800"/>
            <a:ext cx="4782312" cy="1078992"/>
          </a:xfrm>
          <a:prstGeom prst="roundRect">
            <a:avLst>
              <a:gd name="adj" fmla="val 5085"/>
            </a:avLst>
          </a:prstGeom>
          <a:solidFill>
            <a:srgbClr val="FAFAFB"/>
          </a:solidFill>
          <a:ln/>
        </p:spPr>
      </p:sp>
      <p:sp>
        <p:nvSpPr>
          <p:cNvPr id="38" name="!!cmN2"/>
          <p:cNvSpPr txBox="1"/>
          <p:nvPr/>
        </p:nvSpPr>
        <p:spPr>
          <a:xfrm>
            <a:off x="7040880" y="4206240"/>
            <a:ext cx="2743200" cy="292608"/>
          </a:xfrm>
          <a:prstGeom prst="rect">
            <a:avLst/>
          </a:prstGeom>
          <a:noFill/>
          <a:ln/>
        </p:spPr>
        <p:txBody>
          <a:bodyPr wrap="square" lIns="0" tIns="0" rIns="0" bIns="0" rtlCol="0" anchor="t"/>
          <a:lstStyle/>
          <a:p>
            <a:pPr algn="l" indent="0" marL="0">
              <a:buNone/>
            </a:pPr>
            <a:r>
              <a:rPr lang="en-US" sz="1500" dirty="0">
                <a:solidFill>
                  <a:srgbClr val="C9CCD3"/>
                </a:solidFill>
                <a:latin typeface="Segoe UI Semibold" pitchFamily="34" charset="0"/>
                <a:ea typeface="Segoe UI Semibold" pitchFamily="34" charset="-122"/>
                <a:cs typeface="Segoe UI Semibold" pitchFamily="34" charset="-120"/>
              </a:rPr>
              <a:t>GAA (all round)</a:t>
            </a:r>
            <a:endParaRPr lang="en-US" sz="1500" dirty="0"/>
          </a:p>
        </p:txBody>
      </p:sp>
      <p:sp>
        <p:nvSpPr>
          <p:cNvPr id="39" name="!!cmI2"/>
          <p:cNvSpPr txBox="1"/>
          <p:nvPr/>
        </p:nvSpPr>
        <p:spPr>
          <a:xfrm>
            <a:off x="9509760" y="4206240"/>
            <a:ext cx="2011680" cy="292608"/>
          </a:xfrm>
          <a:prstGeom prst="rect">
            <a:avLst/>
          </a:prstGeom>
          <a:noFill/>
          <a:ln/>
        </p:spPr>
        <p:txBody>
          <a:bodyPr wrap="square" lIns="0" tIns="0" rIns="0" bIns="0" rtlCol="0" anchor="t"/>
          <a:lstStyle/>
          <a:p>
            <a:pPr algn="r" indent="0" marL="0">
              <a:buNone/>
            </a:pPr>
            <a:endParaRPr lang="en-US" sz="1500" dirty="0"/>
          </a:p>
        </p:txBody>
      </p:sp>
      <p:sp>
        <p:nvSpPr>
          <p:cNvPr id="40" name="!!cmD2"/>
          <p:cNvSpPr txBox="1"/>
          <p:nvPr/>
        </p:nvSpPr>
        <p:spPr>
          <a:xfrm>
            <a:off x="7040880" y="4617720"/>
            <a:ext cx="4480560" cy="457200"/>
          </a:xfrm>
          <a:prstGeom prst="rect">
            <a:avLst/>
          </a:prstGeom>
          <a:noFill/>
          <a:ln/>
        </p:spPr>
        <p:txBody>
          <a:bodyPr wrap="square" lIns="0" tIns="0" rIns="0" bIns="0" rtlCol="0" anchor="t"/>
          <a:lstStyle/>
          <a:p>
            <a:pPr algn="l" indent="0" marL="0">
              <a:buNone/>
            </a:pPr>
            <a:endParaRPr lang="en-US" sz="1100" dirty="0"/>
          </a:p>
        </p:txBody>
      </p:sp>
      <p:sp>
        <p:nvSpPr>
          <p:cNvPr id="41"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Planar at 14 nm: soft turn-on and 241 nA of leakage.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73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Planar vs FinFET vs GAA</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Same 14 nm gate, same silicon: only the number of gate sides changes</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171A20"/>
          </a:solidFill>
          <a:ln/>
        </p:spPr>
      </p:sp>
      <p:sp>
        <p:nvSpPr>
          <p:cNvPr id="6" name="!!sdot2"/>
          <p:cNvSpPr/>
          <p:nvPr/>
        </p:nvSpPr>
        <p:spPr>
          <a:xfrm>
            <a:off x="11599164" y="525780"/>
            <a:ext cx="82296" cy="82296"/>
          </a:xfrm>
          <a:prstGeom prst="ellipse">
            <a:avLst/>
          </a:prstGeom>
          <a:solidFill>
            <a:srgbClr val="E2E3E3"/>
          </a:solidFill>
          <a:ln/>
        </p:spPr>
      </p:sp>
      <p:sp>
        <p:nvSpPr>
          <p:cNvPr id="7" name="!!axg0"/>
          <p:cNvSpPr/>
          <p:nvPr/>
        </p:nvSpPr>
        <p:spPr>
          <a:xfrm>
            <a:off x="1188720" y="4983480"/>
            <a:ext cx="5120640" cy="91"/>
          </a:xfrm>
          <a:prstGeom prst="line">
            <a:avLst/>
          </a:prstGeom>
          <a:noFill/>
          <a:ln w="9525">
            <a:solidFill>
              <a:srgbClr val="EDEEF0"/>
            </a:solidFill>
            <a:prstDash val="solid"/>
          </a:ln>
        </p:spPr>
      </p:sp>
      <p:sp>
        <p:nvSpPr>
          <p:cNvPr id="8" name="!!axg1"/>
          <p:cNvSpPr/>
          <p:nvPr/>
        </p:nvSpPr>
        <p:spPr>
          <a:xfrm>
            <a:off x="1188720" y="4042954"/>
            <a:ext cx="5120640" cy="91"/>
          </a:xfrm>
          <a:prstGeom prst="line">
            <a:avLst/>
          </a:prstGeom>
          <a:noFill/>
          <a:ln w="9525">
            <a:solidFill>
              <a:srgbClr val="EDEEF0"/>
            </a:solidFill>
            <a:prstDash val="solid"/>
          </a:ln>
        </p:spPr>
      </p:sp>
      <p:sp>
        <p:nvSpPr>
          <p:cNvPr id="9" name="!!axg2"/>
          <p:cNvSpPr/>
          <p:nvPr/>
        </p:nvSpPr>
        <p:spPr>
          <a:xfrm>
            <a:off x="1188720" y="3102429"/>
            <a:ext cx="5120640" cy="91"/>
          </a:xfrm>
          <a:prstGeom prst="line">
            <a:avLst/>
          </a:prstGeom>
          <a:noFill/>
          <a:ln w="9525">
            <a:solidFill>
              <a:srgbClr val="EDEEF0"/>
            </a:solidFill>
            <a:prstDash val="solid"/>
          </a:ln>
        </p:spPr>
      </p:sp>
      <p:sp>
        <p:nvSpPr>
          <p:cNvPr id="10" name="!!axg3"/>
          <p:cNvSpPr/>
          <p:nvPr/>
        </p:nvSpPr>
        <p:spPr>
          <a:xfrm>
            <a:off x="1188720" y="2161903"/>
            <a:ext cx="5120640" cy="91"/>
          </a:xfrm>
          <a:prstGeom prst="line">
            <a:avLst/>
          </a:prstGeom>
          <a:noFill/>
          <a:ln w="9525">
            <a:solidFill>
              <a:srgbClr val="EDEEF0"/>
            </a:solidFill>
            <a:prstDash val="solid"/>
          </a:ln>
        </p:spPr>
      </p:sp>
      <p:sp>
        <p:nvSpPr>
          <p:cNvPr id="11" name="!!axxa"/>
          <p:cNvSpPr/>
          <p:nvPr/>
        </p:nvSpPr>
        <p:spPr>
          <a:xfrm>
            <a:off x="1188720" y="4983480"/>
            <a:ext cx="5120640" cy="91"/>
          </a:xfrm>
          <a:prstGeom prst="line">
            <a:avLst/>
          </a:prstGeom>
          <a:noFill/>
          <a:ln w="12700">
            <a:solidFill>
              <a:srgbClr val="8A8D93"/>
            </a:solidFill>
            <a:prstDash val="solid"/>
          </a:ln>
        </p:spPr>
      </p:sp>
      <p:sp>
        <p:nvSpPr>
          <p:cNvPr id="12" name="!!axya"/>
          <p:cNvSpPr/>
          <p:nvPr/>
        </p:nvSpPr>
        <p:spPr>
          <a:xfrm>
            <a:off x="1188720" y="1691640"/>
            <a:ext cx="91" cy="3291840"/>
          </a:xfrm>
          <a:prstGeom prst="line">
            <a:avLst/>
          </a:prstGeom>
          <a:noFill/>
          <a:ln w="12700">
            <a:solidFill>
              <a:srgbClr val="8A8D93"/>
            </a:solidFill>
            <a:prstDash val="solid"/>
          </a:ln>
        </p:spPr>
      </p:sp>
      <p:sp>
        <p:nvSpPr>
          <p:cNvPr id="13" name="!!axxt0"/>
          <p:cNvSpPr txBox="1"/>
          <p:nvPr/>
        </p:nvSpPr>
        <p:spPr>
          <a:xfrm>
            <a:off x="86868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14" name="!!axxt1"/>
          <p:cNvSpPr txBox="1"/>
          <p:nvPr/>
        </p:nvSpPr>
        <p:spPr>
          <a:xfrm>
            <a:off x="160020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15" name="!!axxt2"/>
          <p:cNvSpPr txBox="1"/>
          <p:nvPr/>
        </p:nvSpPr>
        <p:spPr>
          <a:xfrm>
            <a:off x="233172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16" name="!!axxt3"/>
          <p:cNvSpPr txBox="1"/>
          <p:nvPr/>
        </p:nvSpPr>
        <p:spPr>
          <a:xfrm>
            <a:off x="306324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17" name="!!axxt4"/>
          <p:cNvSpPr txBox="1"/>
          <p:nvPr/>
        </p:nvSpPr>
        <p:spPr>
          <a:xfrm>
            <a:off x="379476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18" name="!!axxt5"/>
          <p:cNvSpPr txBox="1"/>
          <p:nvPr/>
        </p:nvSpPr>
        <p:spPr>
          <a:xfrm>
            <a:off x="452628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0.5</a:t>
            </a:r>
            <a:endParaRPr lang="en-US" sz="900" dirty="0"/>
          </a:p>
        </p:txBody>
      </p:sp>
      <p:sp>
        <p:nvSpPr>
          <p:cNvPr id="19" name="!!axxt6"/>
          <p:cNvSpPr txBox="1"/>
          <p:nvPr/>
        </p:nvSpPr>
        <p:spPr>
          <a:xfrm>
            <a:off x="525780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20" name="!!axxt7"/>
          <p:cNvSpPr txBox="1"/>
          <p:nvPr/>
        </p:nvSpPr>
        <p:spPr>
          <a:xfrm>
            <a:off x="598932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0.7</a:t>
            </a:r>
            <a:endParaRPr lang="en-US" sz="900" dirty="0"/>
          </a:p>
        </p:txBody>
      </p:sp>
      <p:sp>
        <p:nvSpPr>
          <p:cNvPr id="21" name="!!axyt0"/>
          <p:cNvSpPr txBox="1"/>
          <p:nvPr/>
        </p:nvSpPr>
        <p:spPr>
          <a:xfrm>
            <a:off x="502920" y="48828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pA</a:t>
            </a:r>
            <a:endParaRPr lang="en-US" sz="900" dirty="0"/>
          </a:p>
        </p:txBody>
      </p:sp>
      <p:sp>
        <p:nvSpPr>
          <p:cNvPr id="22" name="!!axyt1"/>
          <p:cNvSpPr txBox="1"/>
          <p:nvPr/>
        </p:nvSpPr>
        <p:spPr>
          <a:xfrm>
            <a:off x="502920" y="394237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nA</a:t>
            </a:r>
            <a:endParaRPr lang="en-US" sz="900" dirty="0"/>
          </a:p>
        </p:txBody>
      </p:sp>
      <p:sp>
        <p:nvSpPr>
          <p:cNvPr id="23" name="!!axyt2"/>
          <p:cNvSpPr txBox="1"/>
          <p:nvPr/>
        </p:nvSpPr>
        <p:spPr>
          <a:xfrm>
            <a:off x="502920" y="3001845"/>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nA</a:t>
            </a:r>
            <a:endParaRPr lang="en-US" sz="900" dirty="0"/>
          </a:p>
        </p:txBody>
      </p:sp>
      <p:sp>
        <p:nvSpPr>
          <p:cNvPr id="24" name="!!axyt3"/>
          <p:cNvSpPr txBox="1"/>
          <p:nvPr/>
        </p:nvSpPr>
        <p:spPr>
          <a:xfrm>
            <a:off x="502920" y="2061319"/>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µA</a:t>
            </a:r>
            <a:endParaRPr lang="en-US" sz="900" dirty="0"/>
          </a:p>
        </p:txBody>
      </p:sp>
      <p:sp>
        <p:nvSpPr>
          <p:cNvPr id="25" name="!!axxl"/>
          <p:cNvSpPr txBox="1"/>
          <p:nvPr/>
        </p:nvSpPr>
        <p:spPr>
          <a:xfrm>
            <a:off x="1188720" y="5257800"/>
            <a:ext cx="51206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26" name="!!axyl"/>
          <p:cNvSpPr txBox="1"/>
          <p:nvPr/>
        </p:nvSpPr>
        <p:spPr>
          <a:xfrm>
            <a:off x="100584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at V</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 0.7 V (log)</a:t>
            </a:r>
            <a:endParaRPr lang="en-US" sz="1100" dirty="0"/>
          </a:p>
        </p:txBody>
      </p:sp>
      <p:sp>
        <p:nvSpPr>
          <p:cNvPr id="27" name="!!cmC0"/>
          <p:cNvSpPr/>
          <p:nvPr/>
        </p:nvSpPr>
        <p:spPr>
          <a:xfrm>
            <a:off x="1188720" y="1901211"/>
            <a:ext cx="5120640" cy="1023100"/>
          </a:xfrm>
          <a:custGeom>
            <a:avLst/>
            <a:gdLst/>
            <a:ahLst/>
            <a:cxnLst/>
            <a:rect l="l" t="t" r="r" b="b"/>
            <a:pathLst>
              <a:path w="5120640" h="1023100">
                <a:moveTo>
                  <a:pt x="0" y="1023100"/>
                </a:moveTo>
                <a:lnTo>
                  <a:pt x="146304" y="955605"/>
                </a:lnTo>
                <a:lnTo>
                  <a:pt x="292608" y="891664"/>
                </a:lnTo>
                <a:lnTo>
                  <a:pt x="438912" y="831346"/>
                </a:lnTo>
                <a:lnTo>
                  <a:pt x="585216" y="774652"/>
                </a:lnTo>
                <a:lnTo>
                  <a:pt x="731520" y="721517"/>
                </a:lnTo>
                <a:lnTo>
                  <a:pt x="877824" y="671822"/>
                </a:lnTo>
                <a:lnTo>
                  <a:pt x="1024128" y="625405"/>
                </a:lnTo>
                <a:lnTo>
                  <a:pt x="1170432" y="582074"/>
                </a:lnTo>
                <a:lnTo>
                  <a:pt x="1316736" y="541621"/>
                </a:lnTo>
                <a:lnTo>
                  <a:pt x="1463040" y="503829"/>
                </a:lnTo>
                <a:lnTo>
                  <a:pt x="1609344" y="468486"/>
                </a:lnTo>
                <a:lnTo>
                  <a:pt x="1755648" y="435383"/>
                </a:lnTo>
                <a:lnTo>
                  <a:pt x="1901952" y="404325"/>
                </a:lnTo>
                <a:lnTo>
                  <a:pt x="2048256" y="375130"/>
                </a:lnTo>
                <a:lnTo>
                  <a:pt x="2194560" y="347632"/>
                </a:lnTo>
                <a:lnTo>
                  <a:pt x="2340864" y="321679"/>
                </a:lnTo>
                <a:lnTo>
                  <a:pt x="2487168" y="297131"/>
                </a:lnTo>
                <a:lnTo>
                  <a:pt x="2633472" y="273866"/>
                </a:lnTo>
                <a:lnTo>
                  <a:pt x="2779776" y="251772"/>
                </a:lnTo>
                <a:lnTo>
                  <a:pt x="2926080" y="230749"/>
                </a:lnTo>
                <a:lnTo>
                  <a:pt x="3072384" y="210707"/>
                </a:lnTo>
                <a:lnTo>
                  <a:pt x="3218688" y="191566"/>
                </a:lnTo>
                <a:lnTo>
                  <a:pt x="3364992" y="173254"/>
                </a:lnTo>
                <a:lnTo>
                  <a:pt x="3511296" y="155707"/>
                </a:lnTo>
                <a:lnTo>
                  <a:pt x="3657600" y="138866"/>
                </a:lnTo>
                <a:lnTo>
                  <a:pt x="3803904" y="122680"/>
                </a:lnTo>
                <a:lnTo>
                  <a:pt x="3950208" y="107102"/>
                </a:lnTo>
                <a:lnTo>
                  <a:pt x="4096512" y="92088"/>
                </a:lnTo>
                <a:lnTo>
                  <a:pt x="4242816" y="77602"/>
                </a:lnTo>
                <a:lnTo>
                  <a:pt x="4389120" y="63607"/>
                </a:lnTo>
                <a:lnTo>
                  <a:pt x="4535424" y="50073"/>
                </a:lnTo>
                <a:lnTo>
                  <a:pt x="4681728" y="36970"/>
                </a:lnTo>
                <a:lnTo>
                  <a:pt x="4828032" y="24273"/>
                </a:lnTo>
                <a:lnTo>
                  <a:pt x="4974336" y="11957"/>
                </a:lnTo>
                <a:lnTo>
                  <a:pt x="5120640" y="0"/>
                </a:lnTo>
              </a:path>
            </a:pathLst>
          </a:custGeom>
          <a:ln w="25400">
            <a:solidFill>
              <a:srgbClr val="D64545"/>
            </a:solidFill>
            <a:prstDash val="solid"/>
          </a:ln>
        </p:spPr>
      </p:sp>
      <p:sp>
        <p:nvSpPr>
          <p:cNvPr id="28" name="!!cmP0"/>
          <p:cNvSpPr/>
          <p:nvPr/>
        </p:nvSpPr>
        <p:spPr>
          <a:xfrm>
            <a:off x="1115568" y="2851159"/>
            <a:ext cx="146304" cy="146304"/>
          </a:xfrm>
          <a:prstGeom prst="ellipse">
            <a:avLst/>
          </a:prstGeom>
          <a:solidFill>
            <a:srgbClr val="D64545"/>
          </a:solidFill>
          <a:ln/>
        </p:spPr>
      </p:sp>
      <p:sp>
        <p:nvSpPr>
          <p:cNvPr id="29" name="!!cmR0"/>
          <p:cNvSpPr/>
          <p:nvPr/>
        </p:nvSpPr>
        <p:spPr>
          <a:xfrm>
            <a:off x="6858000" y="1645920"/>
            <a:ext cx="4782312" cy="1078992"/>
          </a:xfrm>
          <a:prstGeom prst="roundRect">
            <a:avLst>
              <a:gd name="adj" fmla="val 5085"/>
            </a:avLst>
          </a:prstGeom>
          <a:solidFill>
            <a:srgbClr val="F4F5F7"/>
          </a:solidFill>
          <a:ln/>
        </p:spPr>
      </p:sp>
      <p:sp>
        <p:nvSpPr>
          <p:cNvPr id="30" name="!!cmN0"/>
          <p:cNvSpPr txBox="1"/>
          <p:nvPr/>
        </p:nvSpPr>
        <p:spPr>
          <a:xfrm>
            <a:off x="7040880" y="1737360"/>
            <a:ext cx="2743200" cy="292608"/>
          </a:xfrm>
          <a:prstGeom prst="rect">
            <a:avLst/>
          </a:prstGeom>
          <a:noFill/>
          <a:ln/>
        </p:spPr>
        <p:txBody>
          <a:bodyPr wrap="square" lIns="0" tIns="0" rIns="0" bIns="0" rtlCol="0" anchor="t"/>
          <a:lstStyle/>
          <a:p>
            <a:pPr algn="l" indent="0" marL="0">
              <a:buNone/>
            </a:pPr>
            <a:r>
              <a:rPr lang="en-US" sz="1500" dirty="0">
                <a:solidFill>
                  <a:srgbClr val="D64545"/>
                </a:solidFill>
                <a:latin typeface="Segoe UI Semibold" pitchFamily="34" charset="0"/>
                <a:ea typeface="Segoe UI Semibold" pitchFamily="34" charset="-122"/>
                <a:cs typeface="Segoe UI Semibold" pitchFamily="34" charset="-120"/>
              </a:rPr>
              <a:t>planar (1 side)</a:t>
            </a:r>
            <a:endParaRPr lang="en-US" sz="1500" dirty="0"/>
          </a:p>
        </p:txBody>
      </p:sp>
      <p:sp>
        <p:nvSpPr>
          <p:cNvPr id="31" name="!!cmI0"/>
          <p:cNvSpPr txBox="1"/>
          <p:nvPr/>
        </p:nvSpPr>
        <p:spPr>
          <a:xfrm>
            <a:off x="9509760" y="1737360"/>
            <a:ext cx="2011680" cy="292608"/>
          </a:xfrm>
          <a:prstGeom prst="rect">
            <a:avLst/>
          </a:prstGeom>
          <a:noFill/>
          <a:ln/>
        </p:spPr>
        <p:txBody>
          <a:bodyPr wrap="square" lIns="0" tIns="0" rIns="0" bIns="0" rtlCol="0" anchor="t"/>
          <a:lstStyle/>
          <a:p>
            <a:pPr algn="r" indent="0" marL="0">
              <a:buNone/>
            </a:pPr>
            <a:r>
              <a:rPr lang="en-US" sz="1500" dirty="0">
                <a:solidFill>
                  <a:srgbClr val="171A20"/>
                </a:solidFill>
                <a:latin typeface="Segoe UI Semibold" pitchFamily="34" charset="0"/>
                <a:ea typeface="Segoe UI Semibold" pitchFamily="34" charset="-122"/>
                <a:cs typeface="Segoe UI Semibold" pitchFamily="34" charset="-120"/>
              </a:rPr>
              <a:t>I</a:t>
            </a:r>
            <a:pPr algn="r" indent="0" marL="0">
              <a:buNone/>
            </a:pPr>
            <a:r>
              <a:rPr lang="en-US" sz="1500" baseline="-40000" dirty="0">
                <a:solidFill>
                  <a:srgbClr val="171A20"/>
                </a:solidFill>
                <a:latin typeface="Segoe UI Semibold" pitchFamily="34" charset="0"/>
                <a:ea typeface="Segoe UI Semibold" pitchFamily="34" charset="-122"/>
                <a:cs typeface="Segoe UI Semibold" pitchFamily="34" charset="-120"/>
              </a:rPr>
              <a:t>off</a:t>
            </a:r>
            <a:pPr algn="r" indent="0" marL="0">
              <a:buNone/>
            </a:pPr>
            <a:r>
              <a:rPr lang="en-US" sz="1500" dirty="0">
                <a:solidFill>
                  <a:srgbClr val="171A20"/>
                </a:solidFill>
                <a:latin typeface="Segoe UI Semibold" pitchFamily="34" charset="0"/>
                <a:ea typeface="Segoe UI Semibold" pitchFamily="34" charset="-122"/>
                <a:cs typeface="Segoe UI Semibold" pitchFamily="34" charset="-120"/>
              </a:rPr>
              <a:t> = 241 nA</a:t>
            </a:r>
            <a:endParaRPr lang="en-US" sz="1500" dirty="0"/>
          </a:p>
        </p:txBody>
      </p:sp>
      <p:sp>
        <p:nvSpPr>
          <p:cNvPr id="32" name="!!cmD0"/>
          <p:cNvSpPr txBox="1"/>
          <p:nvPr/>
        </p:nvSpPr>
        <p:spPr>
          <a:xfrm>
            <a:off x="7040880" y="2148840"/>
            <a:ext cx="4480560" cy="4572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λ = 4.37 nm  ·  SS ≈ 100 mV/dec  ·  DIBL ≈ 201 mV/V  ·  V</a:t>
            </a:r>
            <a:pPr algn="l" indent="0" marL="0">
              <a:buNone/>
            </a:pPr>
            <a:r>
              <a:rPr lang="en-US" sz="1100" baseline="-40000" dirty="0">
                <a:solidFill>
                  <a:srgbClr val="5C5E62"/>
                </a:solidFill>
                <a:latin typeface="Segoe UI" pitchFamily="34" charset="0"/>
                <a:ea typeface="Segoe UI" pitchFamily="34" charset="-122"/>
                <a:cs typeface="Segoe UI" pitchFamily="34" charset="-120"/>
              </a:rPr>
              <a:t>T</a:t>
            </a:r>
            <a:pPr algn="l" indent="0" marL="0">
              <a:buNone/>
            </a:pPr>
            <a:r>
              <a:rPr lang="en-US" sz="1100" dirty="0">
                <a:solidFill>
                  <a:srgbClr val="5C5E62"/>
                </a:solidFill>
                <a:latin typeface="Segoe UI" pitchFamily="34" charset="0"/>
                <a:ea typeface="Segoe UI" pitchFamily="34" charset="-122"/>
                <a:cs typeface="Segoe UI" pitchFamily="34" charset="-120"/>
              </a:rPr>
              <a:t> = 0.01 V</a:t>
            </a:r>
            <a:endParaRPr lang="en-US" sz="1100" dirty="0"/>
          </a:p>
        </p:txBody>
      </p:sp>
      <p:sp>
        <p:nvSpPr>
          <p:cNvPr id="33" name="!!cmC1"/>
          <p:cNvSpPr/>
          <p:nvPr/>
        </p:nvSpPr>
        <p:spPr>
          <a:xfrm>
            <a:off x="1188720" y="1915259"/>
            <a:ext cx="5120640" cy="2527848"/>
          </a:xfrm>
          <a:custGeom>
            <a:avLst/>
            <a:gdLst/>
            <a:ahLst/>
            <a:cxnLst/>
            <a:rect l="l" t="t" r="r" b="b"/>
            <a:pathLst>
              <a:path w="5120640" h="2527848">
                <a:moveTo>
                  <a:pt x="0" y="2527848"/>
                </a:moveTo>
                <a:lnTo>
                  <a:pt x="146304" y="2390680"/>
                </a:lnTo>
                <a:lnTo>
                  <a:pt x="292608" y="2254024"/>
                </a:lnTo>
                <a:lnTo>
                  <a:pt x="438912" y="2118075"/>
                </a:lnTo>
                <a:lnTo>
                  <a:pt x="585216" y="1983099"/>
                </a:lnTo>
                <a:lnTo>
                  <a:pt x="731520" y="1849450"/>
                </a:lnTo>
                <a:lnTo>
                  <a:pt x="877824" y="1717591"/>
                </a:lnTo>
                <a:lnTo>
                  <a:pt x="1024128" y="1588111"/>
                </a:lnTo>
                <a:lnTo>
                  <a:pt x="1170432" y="1461737"/>
                </a:lnTo>
                <a:lnTo>
                  <a:pt x="1316736" y="1339320"/>
                </a:lnTo>
                <a:lnTo>
                  <a:pt x="1463040" y="1221799"/>
                </a:lnTo>
                <a:lnTo>
                  <a:pt x="1609344" y="1110124"/>
                </a:lnTo>
                <a:lnTo>
                  <a:pt x="1755648" y="1005158"/>
                </a:lnTo>
                <a:lnTo>
                  <a:pt x="1901952" y="907560"/>
                </a:lnTo>
                <a:lnTo>
                  <a:pt x="2048256" y="817707"/>
                </a:lnTo>
                <a:lnTo>
                  <a:pt x="2194560" y="735654"/>
                </a:lnTo>
                <a:lnTo>
                  <a:pt x="2340864" y="661159"/>
                </a:lnTo>
                <a:lnTo>
                  <a:pt x="2487168" y="593752"/>
                </a:lnTo>
                <a:lnTo>
                  <a:pt x="2633472" y="532820"/>
                </a:lnTo>
                <a:lnTo>
                  <a:pt x="2779776" y="477690"/>
                </a:lnTo>
                <a:lnTo>
                  <a:pt x="2926080" y="427687"/>
                </a:lnTo>
                <a:lnTo>
                  <a:pt x="3072384" y="382178"/>
                </a:lnTo>
                <a:lnTo>
                  <a:pt x="3218688" y="340588"/>
                </a:lnTo>
                <a:lnTo>
                  <a:pt x="3364992" y="302412"/>
                </a:lnTo>
                <a:lnTo>
                  <a:pt x="3511296" y="267214"/>
                </a:lnTo>
                <a:lnTo>
                  <a:pt x="3657600" y="234618"/>
                </a:lnTo>
                <a:lnTo>
                  <a:pt x="3803904" y="204303"/>
                </a:lnTo>
                <a:lnTo>
                  <a:pt x="3950208" y="175997"/>
                </a:lnTo>
                <a:lnTo>
                  <a:pt x="4096512" y="149469"/>
                </a:lnTo>
                <a:lnTo>
                  <a:pt x="4242816" y="124520"/>
                </a:lnTo>
                <a:lnTo>
                  <a:pt x="4389120" y="100982"/>
                </a:lnTo>
                <a:lnTo>
                  <a:pt x="4535424" y="78708"/>
                </a:lnTo>
                <a:lnTo>
                  <a:pt x="4681728" y="57575"/>
                </a:lnTo>
                <a:lnTo>
                  <a:pt x="4828032" y="37473"/>
                </a:lnTo>
                <a:lnTo>
                  <a:pt x="4974336" y="18309"/>
                </a:lnTo>
                <a:lnTo>
                  <a:pt x="5120640" y="0"/>
                </a:lnTo>
              </a:path>
            </a:pathLst>
          </a:custGeom>
          <a:ln w="38100">
            <a:solidFill>
              <a:srgbClr val="3E6AE1"/>
            </a:solidFill>
            <a:prstDash val="solid"/>
          </a:ln>
        </p:spPr>
      </p:sp>
      <p:sp>
        <p:nvSpPr>
          <p:cNvPr id="34" name="!!cmP1"/>
          <p:cNvSpPr/>
          <p:nvPr/>
        </p:nvSpPr>
        <p:spPr>
          <a:xfrm>
            <a:off x="1115568" y="4369955"/>
            <a:ext cx="146304" cy="146304"/>
          </a:xfrm>
          <a:prstGeom prst="ellipse">
            <a:avLst/>
          </a:prstGeom>
          <a:solidFill>
            <a:srgbClr val="3E6AE1"/>
          </a:solidFill>
          <a:ln/>
        </p:spPr>
      </p:sp>
      <p:sp>
        <p:nvSpPr>
          <p:cNvPr id="35" name="!!cmR1"/>
          <p:cNvSpPr/>
          <p:nvPr/>
        </p:nvSpPr>
        <p:spPr>
          <a:xfrm>
            <a:off x="6858000" y="2880360"/>
            <a:ext cx="4782312" cy="1078992"/>
          </a:xfrm>
          <a:prstGeom prst="roundRect">
            <a:avLst>
              <a:gd name="adj" fmla="val 5085"/>
            </a:avLst>
          </a:prstGeom>
          <a:solidFill>
            <a:srgbClr val="F4F5F7"/>
          </a:solidFill>
          <a:ln/>
        </p:spPr>
      </p:sp>
      <p:sp>
        <p:nvSpPr>
          <p:cNvPr id="36" name="!!cmN1"/>
          <p:cNvSpPr txBox="1"/>
          <p:nvPr/>
        </p:nvSpPr>
        <p:spPr>
          <a:xfrm>
            <a:off x="7040880" y="2971800"/>
            <a:ext cx="2743200" cy="292608"/>
          </a:xfrm>
          <a:prstGeom prst="rect">
            <a:avLst/>
          </a:prstGeom>
          <a:noFill/>
          <a:ln/>
        </p:spPr>
        <p:txBody>
          <a:bodyPr wrap="square" lIns="0" tIns="0" rIns="0" bIns="0" rtlCol="0" anchor="t"/>
          <a:lstStyle/>
          <a:p>
            <a:pPr algn="l" indent="0" marL="0">
              <a:buNone/>
            </a:pPr>
            <a:r>
              <a:rPr lang="en-US" sz="1500" dirty="0">
                <a:solidFill>
                  <a:srgbClr val="3E6AE1"/>
                </a:solidFill>
                <a:latin typeface="Segoe UI Semibold" pitchFamily="34" charset="0"/>
                <a:ea typeface="Segoe UI Semibold" pitchFamily="34" charset="-122"/>
                <a:cs typeface="Segoe UI Semibold" pitchFamily="34" charset="-120"/>
              </a:rPr>
              <a:t>FinFET (3 sides)</a:t>
            </a:r>
            <a:endParaRPr lang="en-US" sz="1500" dirty="0"/>
          </a:p>
        </p:txBody>
      </p:sp>
      <p:sp>
        <p:nvSpPr>
          <p:cNvPr id="37" name="!!cmI1"/>
          <p:cNvSpPr txBox="1"/>
          <p:nvPr/>
        </p:nvSpPr>
        <p:spPr>
          <a:xfrm>
            <a:off x="9509760" y="2971800"/>
            <a:ext cx="2011680" cy="292608"/>
          </a:xfrm>
          <a:prstGeom prst="rect">
            <a:avLst/>
          </a:prstGeom>
          <a:noFill/>
          <a:ln/>
        </p:spPr>
        <p:txBody>
          <a:bodyPr wrap="square" lIns="0" tIns="0" rIns="0" bIns="0" rtlCol="0" anchor="t"/>
          <a:lstStyle/>
          <a:p>
            <a:pPr algn="r" indent="0" marL="0">
              <a:buNone/>
            </a:pPr>
            <a:r>
              <a:rPr lang="en-US" sz="1500" dirty="0">
                <a:solidFill>
                  <a:srgbClr val="171A20"/>
                </a:solidFill>
                <a:latin typeface="Segoe UI Semibold" pitchFamily="34" charset="0"/>
                <a:ea typeface="Segoe UI Semibold" pitchFamily="34" charset="-122"/>
                <a:cs typeface="Segoe UI Semibold" pitchFamily="34" charset="-120"/>
              </a:rPr>
              <a:t>I</a:t>
            </a:r>
            <a:pPr algn="r" indent="0" marL="0">
              <a:buNone/>
            </a:pPr>
            <a:r>
              <a:rPr lang="en-US" sz="1500" baseline="-40000" dirty="0">
                <a:solidFill>
                  <a:srgbClr val="171A20"/>
                </a:solidFill>
                <a:latin typeface="Segoe UI Semibold" pitchFamily="34" charset="0"/>
                <a:ea typeface="Segoe UI Semibold" pitchFamily="34" charset="-122"/>
                <a:cs typeface="Segoe UI Semibold" pitchFamily="34" charset="-120"/>
              </a:rPr>
              <a:t>off</a:t>
            </a:r>
            <a:pPr algn="r" indent="0" marL="0">
              <a:buNone/>
            </a:pPr>
            <a:r>
              <a:rPr lang="en-US" sz="1500" dirty="0">
                <a:solidFill>
                  <a:srgbClr val="171A20"/>
                </a:solidFill>
                <a:latin typeface="Segoe UI Semibold" pitchFamily="34" charset="0"/>
                <a:ea typeface="Segoe UI Semibold" pitchFamily="34" charset="-122"/>
                <a:cs typeface="Segoe UI Semibold" pitchFamily="34" charset="-120"/>
              </a:rPr>
              <a:t> = 144 pA</a:t>
            </a:r>
            <a:endParaRPr lang="en-US" sz="1500" dirty="0"/>
          </a:p>
        </p:txBody>
      </p:sp>
      <p:sp>
        <p:nvSpPr>
          <p:cNvPr id="38" name="!!cmD1"/>
          <p:cNvSpPr txBox="1"/>
          <p:nvPr/>
        </p:nvSpPr>
        <p:spPr>
          <a:xfrm>
            <a:off x="7040880" y="3383280"/>
            <a:ext cx="4480560" cy="4572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λ = 2.52 nm  ·  SS ≈ 68 mV/dec  ·  DIBL ≈ 62 mV/V  ·  V</a:t>
            </a:r>
            <a:pPr algn="l" indent="0" marL="0">
              <a:buNone/>
            </a:pPr>
            <a:r>
              <a:rPr lang="en-US" sz="1100" baseline="-40000" dirty="0">
                <a:solidFill>
                  <a:srgbClr val="5C5E62"/>
                </a:solidFill>
                <a:latin typeface="Segoe UI" pitchFamily="34" charset="0"/>
                <a:ea typeface="Segoe UI" pitchFamily="34" charset="-122"/>
                <a:cs typeface="Segoe UI" pitchFamily="34" charset="-120"/>
              </a:rPr>
              <a:t>T</a:t>
            </a:r>
            <a:pPr algn="l" indent="0" marL="0">
              <a:buNone/>
            </a:pPr>
            <a:r>
              <a:rPr lang="en-US" sz="1100" dirty="0">
                <a:solidFill>
                  <a:srgbClr val="5C5E62"/>
                </a:solidFill>
                <a:latin typeface="Segoe UI" pitchFamily="34" charset="0"/>
                <a:ea typeface="Segoe UI" pitchFamily="34" charset="-122"/>
                <a:cs typeface="Segoe UI" pitchFamily="34" charset="-120"/>
              </a:rPr>
              <a:t> = 0.24 V</a:t>
            </a:r>
            <a:endParaRPr lang="en-US" sz="1100" dirty="0"/>
          </a:p>
        </p:txBody>
      </p:sp>
      <p:sp>
        <p:nvSpPr>
          <p:cNvPr id="39" name="!!cmR2"/>
          <p:cNvSpPr/>
          <p:nvPr/>
        </p:nvSpPr>
        <p:spPr>
          <a:xfrm>
            <a:off x="6858000" y="4114800"/>
            <a:ext cx="4782312" cy="1078992"/>
          </a:xfrm>
          <a:prstGeom prst="roundRect">
            <a:avLst>
              <a:gd name="adj" fmla="val 5085"/>
            </a:avLst>
          </a:prstGeom>
          <a:solidFill>
            <a:srgbClr val="FAFAFB"/>
          </a:solidFill>
          <a:ln/>
        </p:spPr>
      </p:sp>
      <p:sp>
        <p:nvSpPr>
          <p:cNvPr id="40" name="!!cmN2"/>
          <p:cNvSpPr txBox="1"/>
          <p:nvPr/>
        </p:nvSpPr>
        <p:spPr>
          <a:xfrm>
            <a:off x="7040880" y="4206240"/>
            <a:ext cx="2743200" cy="292608"/>
          </a:xfrm>
          <a:prstGeom prst="rect">
            <a:avLst/>
          </a:prstGeom>
          <a:noFill/>
          <a:ln/>
        </p:spPr>
        <p:txBody>
          <a:bodyPr wrap="square" lIns="0" tIns="0" rIns="0" bIns="0" rtlCol="0" anchor="t"/>
          <a:lstStyle/>
          <a:p>
            <a:pPr algn="l" indent="0" marL="0">
              <a:buNone/>
            </a:pPr>
            <a:r>
              <a:rPr lang="en-US" sz="1500" dirty="0">
                <a:solidFill>
                  <a:srgbClr val="C9CCD3"/>
                </a:solidFill>
                <a:latin typeface="Segoe UI Semibold" pitchFamily="34" charset="0"/>
                <a:ea typeface="Segoe UI Semibold" pitchFamily="34" charset="-122"/>
                <a:cs typeface="Segoe UI Semibold" pitchFamily="34" charset="-120"/>
              </a:rPr>
              <a:t>GAA (all round)</a:t>
            </a:r>
            <a:endParaRPr lang="en-US" sz="1500" dirty="0"/>
          </a:p>
        </p:txBody>
      </p:sp>
      <p:sp>
        <p:nvSpPr>
          <p:cNvPr id="41" name="!!cmI2"/>
          <p:cNvSpPr txBox="1"/>
          <p:nvPr/>
        </p:nvSpPr>
        <p:spPr>
          <a:xfrm>
            <a:off x="9509760" y="4206240"/>
            <a:ext cx="2011680" cy="292608"/>
          </a:xfrm>
          <a:prstGeom prst="rect">
            <a:avLst/>
          </a:prstGeom>
          <a:noFill/>
          <a:ln/>
        </p:spPr>
        <p:txBody>
          <a:bodyPr wrap="square" lIns="0" tIns="0" rIns="0" bIns="0" rtlCol="0" anchor="t"/>
          <a:lstStyle/>
          <a:p>
            <a:pPr algn="r" indent="0" marL="0">
              <a:buNone/>
            </a:pPr>
            <a:endParaRPr lang="en-US" sz="1500" dirty="0"/>
          </a:p>
        </p:txBody>
      </p:sp>
      <p:sp>
        <p:nvSpPr>
          <p:cNvPr id="42" name="!!cmD2"/>
          <p:cNvSpPr txBox="1"/>
          <p:nvPr/>
        </p:nvSpPr>
        <p:spPr>
          <a:xfrm>
            <a:off x="7040880" y="4617720"/>
            <a:ext cx="4480560" cy="457200"/>
          </a:xfrm>
          <a:prstGeom prst="rect">
            <a:avLst/>
          </a:prstGeom>
          <a:noFill/>
          <a:ln/>
        </p:spPr>
        <p:txBody>
          <a:bodyPr wrap="square" lIns="0" tIns="0" rIns="0" bIns="0" rtlCol="0" anchor="t"/>
          <a:lstStyle/>
          <a:p>
            <a:pPr algn="l" indent="0" marL="0">
              <a:buNone/>
            </a:pPr>
            <a:endParaRPr lang="en-US" sz="1100" dirty="0"/>
          </a:p>
        </p:txBody>
      </p:sp>
      <p:sp>
        <p:nvSpPr>
          <p:cNvPr id="4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FinFET: steeper turn-on,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T</a:t>
            </a:r>
            <a:pPr algn="ctr" indent="0" marL="0">
              <a:buNone/>
            </a:pPr>
            <a:r>
              <a:rPr lang="en-US" sz="1600" dirty="0">
                <a:solidFill>
                  <a:srgbClr val="171A20"/>
                </a:solidFill>
                <a:latin typeface="Segoe UI" pitchFamily="34" charset="0"/>
                <a:ea typeface="Segoe UI" pitchFamily="34" charset="-122"/>
                <a:cs typeface="Segoe UI" pitchFamily="34" charset="-120"/>
              </a:rPr>
              <a:t> kept, leakage down about 1700×.</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74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Planar vs FinFET vs GAA</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Same 14 nm gate, same silicon: only the number of gate sides changes</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171A20"/>
          </a:solidFill>
          <a:ln/>
        </p:spPr>
      </p:sp>
      <p:sp>
        <p:nvSpPr>
          <p:cNvPr id="6" name="!!sdot2"/>
          <p:cNvSpPr/>
          <p:nvPr/>
        </p:nvSpPr>
        <p:spPr>
          <a:xfrm>
            <a:off x="11599164" y="525780"/>
            <a:ext cx="82296" cy="82296"/>
          </a:xfrm>
          <a:prstGeom prst="ellipse">
            <a:avLst/>
          </a:prstGeom>
          <a:solidFill>
            <a:srgbClr val="171A20"/>
          </a:solidFill>
          <a:ln/>
        </p:spPr>
      </p:sp>
      <p:sp>
        <p:nvSpPr>
          <p:cNvPr id="7" name="!!axg0"/>
          <p:cNvSpPr/>
          <p:nvPr/>
        </p:nvSpPr>
        <p:spPr>
          <a:xfrm>
            <a:off x="1188720" y="4983480"/>
            <a:ext cx="5120640" cy="91"/>
          </a:xfrm>
          <a:prstGeom prst="line">
            <a:avLst/>
          </a:prstGeom>
          <a:noFill/>
          <a:ln w="9525">
            <a:solidFill>
              <a:srgbClr val="EDEEF0"/>
            </a:solidFill>
            <a:prstDash val="solid"/>
          </a:ln>
        </p:spPr>
      </p:sp>
      <p:sp>
        <p:nvSpPr>
          <p:cNvPr id="8" name="!!axg1"/>
          <p:cNvSpPr/>
          <p:nvPr/>
        </p:nvSpPr>
        <p:spPr>
          <a:xfrm>
            <a:off x="1188720" y="4042954"/>
            <a:ext cx="5120640" cy="91"/>
          </a:xfrm>
          <a:prstGeom prst="line">
            <a:avLst/>
          </a:prstGeom>
          <a:noFill/>
          <a:ln w="9525">
            <a:solidFill>
              <a:srgbClr val="EDEEF0"/>
            </a:solidFill>
            <a:prstDash val="solid"/>
          </a:ln>
        </p:spPr>
      </p:sp>
      <p:sp>
        <p:nvSpPr>
          <p:cNvPr id="9" name="!!axg2"/>
          <p:cNvSpPr/>
          <p:nvPr/>
        </p:nvSpPr>
        <p:spPr>
          <a:xfrm>
            <a:off x="1188720" y="3102429"/>
            <a:ext cx="5120640" cy="91"/>
          </a:xfrm>
          <a:prstGeom prst="line">
            <a:avLst/>
          </a:prstGeom>
          <a:noFill/>
          <a:ln w="9525">
            <a:solidFill>
              <a:srgbClr val="EDEEF0"/>
            </a:solidFill>
            <a:prstDash val="solid"/>
          </a:ln>
        </p:spPr>
      </p:sp>
      <p:sp>
        <p:nvSpPr>
          <p:cNvPr id="10" name="!!axg3"/>
          <p:cNvSpPr/>
          <p:nvPr/>
        </p:nvSpPr>
        <p:spPr>
          <a:xfrm>
            <a:off x="1188720" y="2161903"/>
            <a:ext cx="5120640" cy="91"/>
          </a:xfrm>
          <a:prstGeom prst="line">
            <a:avLst/>
          </a:prstGeom>
          <a:noFill/>
          <a:ln w="9525">
            <a:solidFill>
              <a:srgbClr val="EDEEF0"/>
            </a:solidFill>
            <a:prstDash val="solid"/>
          </a:ln>
        </p:spPr>
      </p:sp>
      <p:sp>
        <p:nvSpPr>
          <p:cNvPr id="11" name="!!axxa"/>
          <p:cNvSpPr/>
          <p:nvPr/>
        </p:nvSpPr>
        <p:spPr>
          <a:xfrm>
            <a:off x="1188720" y="4983480"/>
            <a:ext cx="5120640" cy="91"/>
          </a:xfrm>
          <a:prstGeom prst="line">
            <a:avLst/>
          </a:prstGeom>
          <a:noFill/>
          <a:ln w="12700">
            <a:solidFill>
              <a:srgbClr val="8A8D93"/>
            </a:solidFill>
            <a:prstDash val="solid"/>
          </a:ln>
        </p:spPr>
      </p:sp>
      <p:sp>
        <p:nvSpPr>
          <p:cNvPr id="12" name="!!axya"/>
          <p:cNvSpPr/>
          <p:nvPr/>
        </p:nvSpPr>
        <p:spPr>
          <a:xfrm>
            <a:off x="1188720" y="1691640"/>
            <a:ext cx="91" cy="3291840"/>
          </a:xfrm>
          <a:prstGeom prst="line">
            <a:avLst/>
          </a:prstGeom>
          <a:noFill/>
          <a:ln w="12700">
            <a:solidFill>
              <a:srgbClr val="8A8D93"/>
            </a:solidFill>
            <a:prstDash val="solid"/>
          </a:ln>
        </p:spPr>
      </p:sp>
      <p:sp>
        <p:nvSpPr>
          <p:cNvPr id="13" name="!!axxt0"/>
          <p:cNvSpPr txBox="1"/>
          <p:nvPr/>
        </p:nvSpPr>
        <p:spPr>
          <a:xfrm>
            <a:off x="86868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14" name="!!axxt1"/>
          <p:cNvSpPr txBox="1"/>
          <p:nvPr/>
        </p:nvSpPr>
        <p:spPr>
          <a:xfrm>
            <a:off x="160020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15" name="!!axxt2"/>
          <p:cNvSpPr txBox="1"/>
          <p:nvPr/>
        </p:nvSpPr>
        <p:spPr>
          <a:xfrm>
            <a:off x="233172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16" name="!!axxt3"/>
          <p:cNvSpPr txBox="1"/>
          <p:nvPr/>
        </p:nvSpPr>
        <p:spPr>
          <a:xfrm>
            <a:off x="306324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17" name="!!axxt4"/>
          <p:cNvSpPr txBox="1"/>
          <p:nvPr/>
        </p:nvSpPr>
        <p:spPr>
          <a:xfrm>
            <a:off x="379476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18" name="!!axxt5"/>
          <p:cNvSpPr txBox="1"/>
          <p:nvPr/>
        </p:nvSpPr>
        <p:spPr>
          <a:xfrm>
            <a:off x="452628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0.5</a:t>
            </a:r>
            <a:endParaRPr lang="en-US" sz="900" dirty="0"/>
          </a:p>
        </p:txBody>
      </p:sp>
      <p:sp>
        <p:nvSpPr>
          <p:cNvPr id="19" name="!!axxt6"/>
          <p:cNvSpPr txBox="1"/>
          <p:nvPr/>
        </p:nvSpPr>
        <p:spPr>
          <a:xfrm>
            <a:off x="525780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20" name="!!axxt7"/>
          <p:cNvSpPr txBox="1"/>
          <p:nvPr/>
        </p:nvSpPr>
        <p:spPr>
          <a:xfrm>
            <a:off x="598932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0.7</a:t>
            </a:r>
            <a:endParaRPr lang="en-US" sz="900" dirty="0"/>
          </a:p>
        </p:txBody>
      </p:sp>
      <p:sp>
        <p:nvSpPr>
          <p:cNvPr id="21" name="!!axyt0"/>
          <p:cNvSpPr txBox="1"/>
          <p:nvPr/>
        </p:nvSpPr>
        <p:spPr>
          <a:xfrm>
            <a:off x="502920" y="48828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pA</a:t>
            </a:r>
            <a:endParaRPr lang="en-US" sz="900" dirty="0"/>
          </a:p>
        </p:txBody>
      </p:sp>
      <p:sp>
        <p:nvSpPr>
          <p:cNvPr id="22" name="!!axyt1"/>
          <p:cNvSpPr txBox="1"/>
          <p:nvPr/>
        </p:nvSpPr>
        <p:spPr>
          <a:xfrm>
            <a:off x="502920" y="394237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nA</a:t>
            </a:r>
            <a:endParaRPr lang="en-US" sz="900" dirty="0"/>
          </a:p>
        </p:txBody>
      </p:sp>
      <p:sp>
        <p:nvSpPr>
          <p:cNvPr id="23" name="!!axyt2"/>
          <p:cNvSpPr txBox="1"/>
          <p:nvPr/>
        </p:nvSpPr>
        <p:spPr>
          <a:xfrm>
            <a:off x="502920" y="3001845"/>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nA</a:t>
            </a:r>
            <a:endParaRPr lang="en-US" sz="900" dirty="0"/>
          </a:p>
        </p:txBody>
      </p:sp>
      <p:sp>
        <p:nvSpPr>
          <p:cNvPr id="24" name="!!axyt3"/>
          <p:cNvSpPr txBox="1"/>
          <p:nvPr/>
        </p:nvSpPr>
        <p:spPr>
          <a:xfrm>
            <a:off x="502920" y="2061319"/>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µA</a:t>
            </a:r>
            <a:endParaRPr lang="en-US" sz="900" dirty="0"/>
          </a:p>
        </p:txBody>
      </p:sp>
      <p:sp>
        <p:nvSpPr>
          <p:cNvPr id="25" name="!!axxl"/>
          <p:cNvSpPr txBox="1"/>
          <p:nvPr/>
        </p:nvSpPr>
        <p:spPr>
          <a:xfrm>
            <a:off x="1188720" y="5257800"/>
            <a:ext cx="51206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26" name="!!axyl"/>
          <p:cNvSpPr txBox="1"/>
          <p:nvPr/>
        </p:nvSpPr>
        <p:spPr>
          <a:xfrm>
            <a:off x="100584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at V</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 0.7 V (log)</a:t>
            </a:r>
            <a:endParaRPr lang="en-US" sz="1100" dirty="0"/>
          </a:p>
        </p:txBody>
      </p:sp>
      <p:sp>
        <p:nvSpPr>
          <p:cNvPr id="27" name="!!cmC0"/>
          <p:cNvSpPr/>
          <p:nvPr/>
        </p:nvSpPr>
        <p:spPr>
          <a:xfrm>
            <a:off x="1188720" y="1901211"/>
            <a:ext cx="5120640" cy="1023100"/>
          </a:xfrm>
          <a:custGeom>
            <a:avLst/>
            <a:gdLst/>
            <a:ahLst/>
            <a:cxnLst/>
            <a:rect l="l" t="t" r="r" b="b"/>
            <a:pathLst>
              <a:path w="5120640" h="1023100">
                <a:moveTo>
                  <a:pt x="0" y="1023100"/>
                </a:moveTo>
                <a:lnTo>
                  <a:pt x="146304" y="955605"/>
                </a:lnTo>
                <a:lnTo>
                  <a:pt x="292608" y="891664"/>
                </a:lnTo>
                <a:lnTo>
                  <a:pt x="438912" y="831346"/>
                </a:lnTo>
                <a:lnTo>
                  <a:pt x="585216" y="774652"/>
                </a:lnTo>
                <a:lnTo>
                  <a:pt x="731520" y="721517"/>
                </a:lnTo>
                <a:lnTo>
                  <a:pt x="877824" y="671822"/>
                </a:lnTo>
                <a:lnTo>
                  <a:pt x="1024128" y="625405"/>
                </a:lnTo>
                <a:lnTo>
                  <a:pt x="1170432" y="582074"/>
                </a:lnTo>
                <a:lnTo>
                  <a:pt x="1316736" y="541621"/>
                </a:lnTo>
                <a:lnTo>
                  <a:pt x="1463040" y="503829"/>
                </a:lnTo>
                <a:lnTo>
                  <a:pt x="1609344" y="468486"/>
                </a:lnTo>
                <a:lnTo>
                  <a:pt x="1755648" y="435383"/>
                </a:lnTo>
                <a:lnTo>
                  <a:pt x="1901952" y="404325"/>
                </a:lnTo>
                <a:lnTo>
                  <a:pt x="2048256" y="375130"/>
                </a:lnTo>
                <a:lnTo>
                  <a:pt x="2194560" y="347632"/>
                </a:lnTo>
                <a:lnTo>
                  <a:pt x="2340864" y="321679"/>
                </a:lnTo>
                <a:lnTo>
                  <a:pt x="2487168" y="297131"/>
                </a:lnTo>
                <a:lnTo>
                  <a:pt x="2633472" y="273866"/>
                </a:lnTo>
                <a:lnTo>
                  <a:pt x="2779776" y="251772"/>
                </a:lnTo>
                <a:lnTo>
                  <a:pt x="2926080" y="230749"/>
                </a:lnTo>
                <a:lnTo>
                  <a:pt x="3072384" y="210707"/>
                </a:lnTo>
                <a:lnTo>
                  <a:pt x="3218688" y="191566"/>
                </a:lnTo>
                <a:lnTo>
                  <a:pt x="3364992" y="173254"/>
                </a:lnTo>
                <a:lnTo>
                  <a:pt x="3511296" y="155707"/>
                </a:lnTo>
                <a:lnTo>
                  <a:pt x="3657600" y="138866"/>
                </a:lnTo>
                <a:lnTo>
                  <a:pt x="3803904" y="122680"/>
                </a:lnTo>
                <a:lnTo>
                  <a:pt x="3950208" y="107102"/>
                </a:lnTo>
                <a:lnTo>
                  <a:pt x="4096512" y="92088"/>
                </a:lnTo>
                <a:lnTo>
                  <a:pt x="4242816" y="77602"/>
                </a:lnTo>
                <a:lnTo>
                  <a:pt x="4389120" y="63607"/>
                </a:lnTo>
                <a:lnTo>
                  <a:pt x="4535424" y="50073"/>
                </a:lnTo>
                <a:lnTo>
                  <a:pt x="4681728" y="36970"/>
                </a:lnTo>
                <a:lnTo>
                  <a:pt x="4828032" y="24273"/>
                </a:lnTo>
                <a:lnTo>
                  <a:pt x="4974336" y="11957"/>
                </a:lnTo>
                <a:lnTo>
                  <a:pt x="5120640" y="0"/>
                </a:lnTo>
              </a:path>
            </a:pathLst>
          </a:custGeom>
          <a:ln w="25400">
            <a:solidFill>
              <a:srgbClr val="D64545"/>
            </a:solidFill>
            <a:prstDash val="solid"/>
          </a:ln>
        </p:spPr>
      </p:sp>
      <p:sp>
        <p:nvSpPr>
          <p:cNvPr id="28" name="!!cmP0"/>
          <p:cNvSpPr/>
          <p:nvPr/>
        </p:nvSpPr>
        <p:spPr>
          <a:xfrm>
            <a:off x="1115568" y="2851159"/>
            <a:ext cx="146304" cy="146304"/>
          </a:xfrm>
          <a:prstGeom prst="ellipse">
            <a:avLst/>
          </a:prstGeom>
          <a:solidFill>
            <a:srgbClr val="D64545"/>
          </a:solidFill>
          <a:ln/>
        </p:spPr>
      </p:sp>
      <p:sp>
        <p:nvSpPr>
          <p:cNvPr id="29" name="!!cmR0"/>
          <p:cNvSpPr/>
          <p:nvPr/>
        </p:nvSpPr>
        <p:spPr>
          <a:xfrm>
            <a:off x="6858000" y="1645920"/>
            <a:ext cx="4782312" cy="1078992"/>
          </a:xfrm>
          <a:prstGeom prst="roundRect">
            <a:avLst>
              <a:gd name="adj" fmla="val 5085"/>
            </a:avLst>
          </a:prstGeom>
          <a:solidFill>
            <a:srgbClr val="F4F5F7"/>
          </a:solidFill>
          <a:ln/>
        </p:spPr>
      </p:sp>
      <p:sp>
        <p:nvSpPr>
          <p:cNvPr id="30" name="!!cmN0"/>
          <p:cNvSpPr txBox="1"/>
          <p:nvPr/>
        </p:nvSpPr>
        <p:spPr>
          <a:xfrm>
            <a:off x="7040880" y="1737360"/>
            <a:ext cx="2743200" cy="292608"/>
          </a:xfrm>
          <a:prstGeom prst="rect">
            <a:avLst/>
          </a:prstGeom>
          <a:noFill/>
          <a:ln/>
        </p:spPr>
        <p:txBody>
          <a:bodyPr wrap="square" lIns="0" tIns="0" rIns="0" bIns="0" rtlCol="0" anchor="t"/>
          <a:lstStyle/>
          <a:p>
            <a:pPr algn="l" indent="0" marL="0">
              <a:buNone/>
            </a:pPr>
            <a:r>
              <a:rPr lang="en-US" sz="1500" dirty="0">
                <a:solidFill>
                  <a:srgbClr val="D64545"/>
                </a:solidFill>
                <a:latin typeface="Segoe UI Semibold" pitchFamily="34" charset="0"/>
                <a:ea typeface="Segoe UI Semibold" pitchFamily="34" charset="-122"/>
                <a:cs typeface="Segoe UI Semibold" pitchFamily="34" charset="-120"/>
              </a:rPr>
              <a:t>planar (1 side)</a:t>
            </a:r>
            <a:endParaRPr lang="en-US" sz="1500" dirty="0"/>
          </a:p>
        </p:txBody>
      </p:sp>
      <p:sp>
        <p:nvSpPr>
          <p:cNvPr id="31" name="!!cmI0"/>
          <p:cNvSpPr txBox="1"/>
          <p:nvPr/>
        </p:nvSpPr>
        <p:spPr>
          <a:xfrm>
            <a:off x="9509760" y="1737360"/>
            <a:ext cx="2011680" cy="292608"/>
          </a:xfrm>
          <a:prstGeom prst="rect">
            <a:avLst/>
          </a:prstGeom>
          <a:noFill/>
          <a:ln/>
        </p:spPr>
        <p:txBody>
          <a:bodyPr wrap="square" lIns="0" tIns="0" rIns="0" bIns="0" rtlCol="0" anchor="t"/>
          <a:lstStyle/>
          <a:p>
            <a:pPr algn="r" indent="0" marL="0">
              <a:buNone/>
            </a:pPr>
            <a:r>
              <a:rPr lang="en-US" sz="1500" dirty="0">
                <a:solidFill>
                  <a:srgbClr val="171A20"/>
                </a:solidFill>
                <a:latin typeface="Segoe UI Semibold" pitchFamily="34" charset="0"/>
                <a:ea typeface="Segoe UI Semibold" pitchFamily="34" charset="-122"/>
                <a:cs typeface="Segoe UI Semibold" pitchFamily="34" charset="-120"/>
              </a:rPr>
              <a:t>I</a:t>
            </a:r>
            <a:pPr algn="r" indent="0" marL="0">
              <a:buNone/>
            </a:pPr>
            <a:r>
              <a:rPr lang="en-US" sz="1500" baseline="-40000" dirty="0">
                <a:solidFill>
                  <a:srgbClr val="171A20"/>
                </a:solidFill>
                <a:latin typeface="Segoe UI Semibold" pitchFamily="34" charset="0"/>
                <a:ea typeface="Segoe UI Semibold" pitchFamily="34" charset="-122"/>
                <a:cs typeface="Segoe UI Semibold" pitchFamily="34" charset="-120"/>
              </a:rPr>
              <a:t>off</a:t>
            </a:r>
            <a:pPr algn="r" indent="0" marL="0">
              <a:buNone/>
            </a:pPr>
            <a:r>
              <a:rPr lang="en-US" sz="1500" dirty="0">
                <a:solidFill>
                  <a:srgbClr val="171A20"/>
                </a:solidFill>
                <a:latin typeface="Segoe UI Semibold" pitchFamily="34" charset="0"/>
                <a:ea typeface="Segoe UI Semibold" pitchFamily="34" charset="-122"/>
                <a:cs typeface="Segoe UI Semibold" pitchFamily="34" charset="-120"/>
              </a:rPr>
              <a:t> = 241 nA</a:t>
            </a:r>
            <a:endParaRPr lang="en-US" sz="1500" dirty="0"/>
          </a:p>
        </p:txBody>
      </p:sp>
      <p:sp>
        <p:nvSpPr>
          <p:cNvPr id="32" name="!!cmD0"/>
          <p:cNvSpPr txBox="1"/>
          <p:nvPr/>
        </p:nvSpPr>
        <p:spPr>
          <a:xfrm>
            <a:off x="7040880" y="2148840"/>
            <a:ext cx="4480560" cy="4572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λ = 4.37 nm  ·  SS ≈ 100 mV/dec  ·  DIBL ≈ 201 mV/V  ·  V</a:t>
            </a:r>
            <a:pPr algn="l" indent="0" marL="0">
              <a:buNone/>
            </a:pPr>
            <a:r>
              <a:rPr lang="en-US" sz="1100" baseline="-40000" dirty="0">
                <a:solidFill>
                  <a:srgbClr val="5C5E62"/>
                </a:solidFill>
                <a:latin typeface="Segoe UI" pitchFamily="34" charset="0"/>
                <a:ea typeface="Segoe UI" pitchFamily="34" charset="-122"/>
                <a:cs typeface="Segoe UI" pitchFamily="34" charset="-120"/>
              </a:rPr>
              <a:t>T</a:t>
            </a:r>
            <a:pPr algn="l" indent="0" marL="0">
              <a:buNone/>
            </a:pPr>
            <a:r>
              <a:rPr lang="en-US" sz="1100" dirty="0">
                <a:solidFill>
                  <a:srgbClr val="5C5E62"/>
                </a:solidFill>
                <a:latin typeface="Segoe UI" pitchFamily="34" charset="0"/>
                <a:ea typeface="Segoe UI" pitchFamily="34" charset="-122"/>
                <a:cs typeface="Segoe UI" pitchFamily="34" charset="-120"/>
              </a:rPr>
              <a:t> = 0.01 V</a:t>
            </a:r>
            <a:endParaRPr lang="en-US" sz="1100" dirty="0"/>
          </a:p>
        </p:txBody>
      </p:sp>
      <p:sp>
        <p:nvSpPr>
          <p:cNvPr id="33" name="!!cmC1"/>
          <p:cNvSpPr/>
          <p:nvPr/>
        </p:nvSpPr>
        <p:spPr>
          <a:xfrm>
            <a:off x="1188720" y="1915259"/>
            <a:ext cx="5120640" cy="2527848"/>
          </a:xfrm>
          <a:custGeom>
            <a:avLst/>
            <a:gdLst/>
            <a:ahLst/>
            <a:cxnLst/>
            <a:rect l="l" t="t" r="r" b="b"/>
            <a:pathLst>
              <a:path w="5120640" h="2527848">
                <a:moveTo>
                  <a:pt x="0" y="2527848"/>
                </a:moveTo>
                <a:lnTo>
                  <a:pt x="146304" y="2390680"/>
                </a:lnTo>
                <a:lnTo>
                  <a:pt x="292608" y="2254024"/>
                </a:lnTo>
                <a:lnTo>
                  <a:pt x="438912" y="2118075"/>
                </a:lnTo>
                <a:lnTo>
                  <a:pt x="585216" y="1983099"/>
                </a:lnTo>
                <a:lnTo>
                  <a:pt x="731520" y="1849450"/>
                </a:lnTo>
                <a:lnTo>
                  <a:pt x="877824" y="1717591"/>
                </a:lnTo>
                <a:lnTo>
                  <a:pt x="1024128" y="1588111"/>
                </a:lnTo>
                <a:lnTo>
                  <a:pt x="1170432" y="1461737"/>
                </a:lnTo>
                <a:lnTo>
                  <a:pt x="1316736" y="1339320"/>
                </a:lnTo>
                <a:lnTo>
                  <a:pt x="1463040" y="1221799"/>
                </a:lnTo>
                <a:lnTo>
                  <a:pt x="1609344" y="1110124"/>
                </a:lnTo>
                <a:lnTo>
                  <a:pt x="1755648" y="1005158"/>
                </a:lnTo>
                <a:lnTo>
                  <a:pt x="1901952" y="907560"/>
                </a:lnTo>
                <a:lnTo>
                  <a:pt x="2048256" y="817707"/>
                </a:lnTo>
                <a:lnTo>
                  <a:pt x="2194560" y="735654"/>
                </a:lnTo>
                <a:lnTo>
                  <a:pt x="2340864" y="661159"/>
                </a:lnTo>
                <a:lnTo>
                  <a:pt x="2487168" y="593752"/>
                </a:lnTo>
                <a:lnTo>
                  <a:pt x="2633472" y="532820"/>
                </a:lnTo>
                <a:lnTo>
                  <a:pt x="2779776" y="477690"/>
                </a:lnTo>
                <a:lnTo>
                  <a:pt x="2926080" y="427687"/>
                </a:lnTo>
                <a:lnTo>
                  <a:pt x="3072384" y="382178"/>
                </a:lnTo>
                <a:lnTo>
                  <a:pt x="3218688" y="340588"/>
                </a:lnTo>
                <a:lnTo>
                  <a:pt x="3364992" y="302412"/>
                </a:lnTo>
                <a:lnTo>
                  <a:pt x="3511296" y="267214"/>
                </a:lnTo>
                <a:lnTo>
                  <a:pt x="3657600" y="234618"/>
                </a:lnTo>
                <a:lnTo>
                  <a:pt x="3803904" y="204303"/>
                </a:lnTo>
                <a:lnTo>
                  <a:pt x="3950208" y="175997"/>
                </a:lnTo>
                <a:lnTo>
                  <a:pt x="4096512" y="149469"/>
                </a:lnTo>
                <a:lnTo>
                  <a:pt x="4242816" y="124520"/>
                </a:lnTo>
                <a:lnTo>
                  <a:pt x="4389120" y="100982"/>
                </a:lnTo>
                <a:lnTo>
                  <a:pt x="4535424" y="78708"/>
                </a:lnTo>
                <a:lnTo>
                  <a:pt x="4681728" y="57575"/>
                </a:lnTo>
                <a:lnTo>
                  <a:pt x="4828032" y="37473"/>
                </a:lnTo>
                <a:lnTo>
                  <a:pt x="4974336" y="18309"/>
                </a:lnTo>
                <a:lnTo>
                  <a:pt x="5120640" y="0"/>
                </a:lnTo>
              </a:path>
            </a:pathLst>
          </a:custGeom>
          <a:ln w="25400">
            <a:solidFill>
              <a:srgbClr val="3E6AE1"/>
            </a:solidFill>
            <a:prstDash val="solid"/>
          </a:ln>
        </p:spPr>
      </p:sp>
      <p:sp>
        <p:nvSpPr>
          <p:cNvPr id="34" name="!!cmP1"/>
          <p:cNvSpPr/>
          <p:nvPr/>
        </p:nvSpPr>
        <p:spPr>
          <a:xfrm>
            <a:off x="1115568" y="4369955"/>
            <a:ext cx="146304" cy="146304"/>
          </a:xfrm>
          <a:prstGeom prst="ellipse">
            <a:avLst/>
          </a:prstGeom>
          <a:solidFill>
            <a:srgbClr val="3E6AE1"/>
          </a:solidFill>
          <a:ln/>
        </p:spPr>
      </p:sp>
      <p:sp>
        <p:nvSpPr>
          <p:cNvPr id="35" name="!!cmR1"/>
          <p:cNvSpPr/>
          <p:nvPr/>
        </p:nvSpPr>
        <p:spPr>
          <a:xfrm>
            <a:off x="6858000" y="2880360"/>
            <a:ext cx="4782312" cy="1078992"/>
          </a:xfrm>
          <a:prstGeom prst="roundRect">
            <a:avLst>
              <a:gd name="adj" fmla="val 5085"/>
            </a:avLst>
          </a:prstGeom>
          <a:solidFill>
            <a:srgbClr val="F4F5F7"/>
          </a:solidFill>
          <a:ln/>
        </p:spPr>
      </p:sp>
      <p:sp>
        <p:nvSpPr>
          <p:cNvPr id="36" name="!!cmN1"/>
          <p:cNvSpPr txBox="1"/>
          <p:nvPr/>
        </p:nvSpPr>
        <p:spPr>
          <a:xfrm>
            <a:off x="7040880" y="2971800"/>
            <a:ext cx="2743200" cy="292608"/>
          </a:xfrm>
          <a:prstGeom prst="rect">
            <a:avLst/>
          </a:prstGeom>
          <a:noFill/>
          <a:ln/>
        </p:spPr>
        <p:txBody>
          <a:bodyPr wrap="square" lIns="0" tIns="0" rIns="0" bIns="0" rtlCol="0" anchor="t"/>
          <a:lstStyle/>
          <a:p>
            <a:pPr algn="l" indent="0" marL="0">
              <a:buNone/>
            </a:pPr>
            <a:r>
              <a:rPr lang="en-US" sz="1500" dirty="0">
                <a:solidFill>
                  <a:srgbClr val="3E6AE1"/>
                </a:solidFill>
                <a:latin typeface="Segoe UI Semibold" pitchFamily="34" charset="0"/>
                <a:ea typeface="Segoe UI Semibold" pitchFamily="34" charset="-122"/>
                <a:cs typeface="Segoe UI Semibold" pitchFamily="34" charset="-120"/>
              </a:rPr>
              <a:t>FinFET (3 sides)</a:t>
            </a:r>
            <a:endParaRPr lang="en-US" sz="1500" dirty="0"/>
          </a:p>
        </p:txBody>
      </p:sp>
      <p:sp>
        <p:nvSpPr>
          <p:cNvPr id="37" name="!!cmI1"/>
          <p:cNvSpPr txBox="1"/>
          <p:nvPr/>
        </p:nvSpPr>
        <p:spPr>
          <a:xfrm>
            <a:off x="9509760" y="2971800"/>
            <a:ext cx="2011680" cy="292608"/>
          </a:xfrm>
          <a:prstGeom prst="rect">
            <a:avLst/>
          </a:prstGeom>
          <a:noFill/>
          <a:ln/>
        </p:spPr>
        <p:txBody>
          <a:bodyPr wrap="square" lIns="0" tIns="0" rIns="0" bIns="0" rtlCol="0" anchor="t"/>
          <a:lstStyle/>
          <a:p>
            <a:pPr algn="r" indent="0" marL="0">
              <a:buNone/>
            </a:pPr>
            <a:r>
              <a:rPr lang="en-US" sz="1500" dirty="0">
                <a:solidFill>
                  <a:srgbClr val="171A20"/>
                </a:solidFill>
                <a:latin typeface="Segoe UI Semibold" pitchFamily="34" charset="0"/>
                <a:ea typeface="Segoe UI Semibold" pitchFamily="34" charset="-122"/>
                <a:cs typeface="Segoe UI Semibold" pitchFamily="34" charset="-120"/>
              </a:rPr>
              <a:t>I</a:t>
            </a:r>
            <a:pPr algn="r" indent="0" marL="0">
              <a:buNone/>
            </a:pPr>
            <a:r>
              <a:rPr lang="en-US" sz="1500" baseline="-40000" dirty="0">
                <a:solidFill>
                  <a:srgbClr val="171A20"/>
                </a:solidFill>
                <a:latin typeface="Segoe UI Semibold" pitchFamily="34" charset="0"/>
                <a:ea typeface="Segoe UI Semibold" pitchFamily="34" charset="-122"/>
                <a:cs typeface="Segoe UI Semibold" pitchFamily="34" charset="-120"/>
              </a:rPr>
              <a:t>off</a:t>
            </a:r>
            <a:pPr algn="r" indent="0" marL="0">
              <a:buNone/>
            </a:pPr>
            <a:r>
              <a:rPr lang="en-US" sz="1500" dirty="0">
                <a:solidFill>
                  <a:srgbClr val="171A20"/>
                </a:solidFill>
                <a:latin typeface="Segoe UI Semibold" pitchFamily="34" charset="0"/>
                <a:ea typeface="Segoe UI Semibold" pitchFamily="34" charset="-122"/>
                <a:cs typeface="Segoe UI Semibold" pitchFamily="34" charset="-120"/>
              </a:rPr>
              <a:t> = 144 pA</a:t>
            </a:r>
            <a:endParaRPr lang="en-US" sz="1500" dirty="0"/>
          </a:p>
        </p:txBody>
      </p:sp>
      <p:sp>
        <p:nvSpPr>
          <p:cNvPr id="38" name="!!cmD1"/>
          <p:cNvSpPr txBox="1"/>
          <p:nvPr/>
        </p:nvSpPr>
        <p:spPr>
          <a:xfrm>
            <a:off x="7040880" y="3383280"/>
            <a:ext cx="4480560" cy="4572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λ = 2.52 nm  ·  SS ≈ 68 mV/dec  ·  DIBL ≈ 62 mV/V  ·  V</a:t>
            </a:r>
            <a:pPr algn="l" indent="0" marL="0">
              <a:buNone/>
            </a:pPr>
            <a:r>
              <a:rPr lang="en-US" sz="1100" baseline="-40000" dirty="0">
                <a:solidFill>
                  <a:srgbClr val="5C5E62"/>
                </a:solidFill>
                <a:latin typeface="Segoe UI" pitchFamily="34" charset="0"/>
                <a:ea typeface="Segoe UI" pitchFamily="34" charset="-122"/>
                <a:cs typeface="Segoe UI" pitchFamily="34" charset="-120"/>
              </a:rPr>
              <a:t>T</a:t>
            </a:r>
            <a:pPr algn="l" indent="0" marL="0">
              <a:buNone/>
            </a:pPr>
            <a:r>
              <a:rPr lang="en-US" sz="1100" dirty="0">
                <a:solidFill>
                  <a:srgbClr val="5C5E62"/>
                </a:solidFill>
                <a:latin typeface="Segoe UI" pitchFamily="34" charset="0"/>
                <a:ea typeface="Segoe UI" pitchFamily="34" charset="-122"/>
                <a:cs typeface="Segoe UI" pitchFamily="34" charset="-120"/>
              </a:rPr>
              <a:t> = 0.24 V</a:t>
            </a:r>
            <a:endParaRPr lang="en-US" sz="1100" dirty="0"/>
          </a:p>
        </p:txBody>
      </p:sp>
      <p:sp>
        <p:nvSpPr>
          <p:cNvPr id="39" name="!!cmC2"/>
          <p:cNvSpPr/>
          <p:nvPr/>
        </p:nvSpPr>
        <p:spPr>
          <a:xfrm>
            <a:off x="1188720" y="1930728"/>
            <a:ext cx="5120640" cy="2859750"/>
          </a:xfrm>
          <a:custGeom>
            <a:avLst/>
            <a:gdLst/>
            <a:ahLst/>
            <a:cxnLst/>
            <a:rect l="l" t="t" r="r" b="b"/>
            <a:pathLst>
              <a:path w="5120640" h="2859750">
                <a:moveTo>
                  <a:pt x="0" y="2859750"/>
                </a:moveTo>
                <a:lnTo>
                  <a:pt x="146304" y="2715249"/>
                </a:lnTo>
                <a:lnTo>
                  <a:pt x="292608" y="2570996"/>
                </a:lnTo>
                <a:lnTo>
                  <a:pt x="438912" y="2427095"/>
                </a:lnTo>
                <a:lnTo>
                  <a:pt x="585216" y="2283692"/>
                </a:lnTo>
                <a:lnTo>
                  <a:pt x="731520" y="2140987"/>
                </a:lnTo>
                <a:lnTo>
                  <a:pt x="877824" y="1999260"/>
                </a:lnTo>
                <a:lnTo>
                  <a:pt x="1024128" y="1858890"/>
                </a:lnTo>
                <a:lnTo>
                  <a:pt x="1170432" y="1720380"/>
                </a:lnTo>
                <a:lnTo>
                  <a:pt x="1316736" y="1584385"/>
                </a:lnTo>
                <a:lnTo>
                  <a:pt x="1463040" y="1451721"/>
                </a:lnTo>
                <a:lnTo>
                  <a:pt x="1609344" y="1323361"/>
                </a:lnTo>
                <a:lnTo>
                  <a:pt x="1755648" y="1200380"/>
                </a:lnTo>
                <a:lnTo>
                  <a:pt x="1901952" y="1083870"/>
                </a:lnTo>
                <a:lnTo>
                  <a:pt x="2048256" y="974807"/>
                </a:lnTo>
                <a:lnTo>
                  <a:pt x="2194560" y="873915"/>
                </a:lnTo>
                <a:lnTo>
                  <a:pt x="2340864" y="781563"/>
                </a:lnTo>
                <a:lnTo>
                  <a:pt x="2487168" y="697736"/>
                </a:lnTo>
                <a:lnTo>
                  <a:pt x="2633472" y="622076"/>
                </a:lnTo>
                <a:lnTo>
                  <a:pt x="2779776" y="553983"/>
                </a:lnTo>
                <a:lnTo>
                  <a:pt x="2926080" y="492717"/>
                </a:lnTo>
                <a:lnTo>
                  <a:pt x="3072384" y="437496"/>
                </a:lnTo>
                <a:lnTo>
                  <a:pt x="3218688" y="387562"/>
                </a:lnTo>
                <a:lnTo>
                  <a:pt x="3364992" y="342219"/>
                </a:lnTo>
                <a:lnTo>
                  <a:pt x="3511296" y="300851"/>
                </a:lnTo>
                <a:lnTo>
                  <a:pt x="3657600" y="262923"/>
                </a:lnTo>
                <a:lnTo>
                  <a:pt x="3803904" y="227980"/>
                </a:lnTo>
                <a:lnTo>
                  <a:pt x="3950208" y="195634"/>
                </a:lnTo>
                <a:lnTo>
                  <a:pt x="4096512" y="165560"/>
                </a:lnTo>
                <a:lnTo>
                  <a:pt x="4242816" y="137481"/>
                </a:lnTo>
                <a:lnTo>
                  <a:pt x="4389120" y="111163"/>
                </a:lnTo>
                <a:lnTo>
                  <a:pt x="4535424" y="86410"/>
                </a:lnTo>
                <a:lnTo>
                  <a:pt x="4681728" y="63051"/>
                </a:lnTo>
                <a:lnTo>
                  <a:pt x="4828032" y="40943"/>
                </a:lnTo>
                <a:lnTo>
                  <a:pt x="4974336" y="19962"/>
                </a:lnTo>
                <a:lnTo>
                  <a:pt x="5120640" y="0"/>
                </a:lnTo>
              </a:path>
            </a:pathLst>
          </a:custGeom>
          <a:ln w="38100">
            <a:solidFill>
              <a:srgbClr val="2E9E4F"/>
            </a:solidFill>
            <a:prstDash val="solid"/>
          </a:ln>
        </p:spPr>
      </p:sp>
      <p:sp>
        <p:nvSpPr>
          <p:cNvPr id="40" name="!!cmP2"/>
          <p:cNvSpPr/>
          <p:nvPr/>
        </p:nvSpPr>
        <p:spPr>
          <a:xfrm>
            <a:off x="1115568" y="4717326"/>
            <a:ext cx="146304" cy="146304"/>
          </a:xfrm>
          <a:prstGeom prst="ellipse">
            <a:avLst/>
          </a:prstGeom>
          <a:solidFill>
            <a:srgbClr val="2E9E4F"/>
          </a:solidFill>
          <a:ln/>
        </p:spPr>
      </p:sp>
      <p:sp>
        <p:nvSpPr>
          <p:cNvPr id="41" name="!!cmR2"/>
          <p:cNvSpPr/>
          <p:nvPr/>
        </p:nvSpPr>
        <p:spPr>
          <a:xfrm>
            <a:off x="6858000" y="4114800"/>
            <a:ext cx="4782312" cy="1078992"/>
          </a:xfrm>
          <a:prstGeom prst="roundRect">
            <a:avLst>
              <a:gd name="adj" fmla="val 5085"/>
            </a:avLst>
          </a:prstGeom>
          <a:solidFill>
            <a:srgbClr val="F4F5F7"/>
          </a:solidFill>
          <a:ln/>
        </p:spPr>
      </p:sp>
      <p:sp>
        <p:nvSpPr>
          <p:cNvPr id="42" name="!!cmN2"/>
          <p:cNvSpPr txBox="1"/>
          <p:nvPr/>
        </p:nvSpPr>
        <p:spPr>
          <a:xfrm>
            <a:off x="7040880" y="4206240"/>
            <a:ext cx="2743200" cy="292608"/>
          </a:xfrm>
          <a:prstGeom prst="rect">
            <a:avLst/>
          </a:prstGeom>
          <a:noFill/>
          <a:ln/>
        </p:spPr>
        <p:txBody>
          <a:bodyPr wrap="square" lIns="0" tIns="0" rIns="0" bIns="0" rtlCol="0" anchor="t"/>
          <a:lstStyle/>
          <a:p>
            <a:pPr algn="l" indent="0" marL="0">
              <a:buNone/>
            </a:pPr>
            <a:r>
              <a:rPr lang="en-US" sz="1500" dirty="0">
                <a:solidFill>
                  <a:srgbClr val="2E9E4F"/>
                </a:solidFill>
                <a:latin typeface="Segoe UI Semibold" pitchFamily="34" charset="0"/>
                <a:ea typeface="Segoe UI Semibold" pitchFamily="34" charset="-122"/>
                <a:cs typeface="Segoe UI Semibold" pitchFamily="34" charset="-120"/>
              </a:rPr>
              <a:t>GAA (all round)</a:t>
            </a:r>
            <a:endParaRPr lang="en-US" sz="1500" dirty="0"/>
          </a:p>
        </p:txBody>
      </p:sp>
      <p:sp>
        <p:nvSpPr>
          <p:cNvPr id="43" name="!!cmI2"/>
          <p:cNvSpPr txBox="1"/>
          <p:nvPr/>
        </p:nvSpPr>
        <p:spPr>
          <a:xfrm>
            <a:off x="9509760" y="4206240"/>
            <a:ext cx="2011680" cy="292608"/>
          </a:xfrm>
          <a:prstGeom prst="rect">
            <a:avLst/>
          </a:prstGeom>
          <a:noFill/>
          <a:ln/>
        </p:spPr>
        <p:txBody>
          <a:bodyPr wrap="square" lIns="0" tIns="0" rIns="0" bIns="0" rtlCol="0" anchor="t"/>
          <a:lstStyle/>
          <a:p>
            <a:pPr algn="r" indent="0" marL="0">
              <a:buNone/>
            </a:pPr>
            <a:r>
              <a:rPr lang="en-US" sz="1500" dirty="0">
                <a:solidFill>
                  <a:srgbClr val="171A20"/>
                </a:solidFill>
                <a:latin typeface="Segoe UI Semibold" pitchFamily="34" charset="0"/>
                <a:ea typeface="Segoe UI Semibold" pitchFamily="34" charset="-122"/>
                <a:cs typeface="Segoe UI Semibold" pitchFamily="34" charset="-120"/>
              </a:rPr>
              <a:t>I</a:t>
            </a:r>
            <a:pPr algn="r" indent="0" marL="0">
              <a:buNone/>
            </a:pPr>
            <a:r>
              <a:rPr lang="en-US" sz="1500" baseline="-40000" dirty="0">
                <a:solidFill>
                  <a:srgbClr val="171A20"/>
                </a:solidFill>
                <a:latin typeface="Segoe UI Semibold" pitchFamily="34" charset="0"/>
                <a:ea typeface="Segoe UI Semibold" pitchFamily="34" charset="-122"/>
                <a:cs typeface="Segoe UI Semibold" pitchFamily="34" charset="-120"/>
              </a:rPr>
              <a:t>off</a:t>
            </a:r>
            <a:pPr algn="r" indent="0" marL="0">
              <a:buNone/>
            </a:pPr>
            <a:r>
              <a:rPr lang="en-US" sz="1500" dirty="0">
                <a:solidFill>
                  <a:srgbClr val="171A20"/>
                </a:solidFill>
                <a:latin typeface="Segoe UI Semibold" pitchFamily="34" charset="0"/>
                <a:ea typeface="Segoe UI Semibold" pitchFamily="34" charset="-122"/>
                <a:cs typeface="Segoe UI Semibold" pitchFamily="34" charset="-120"/>
              </a:rPr>
              <a:t> = 26 pA</a:t>
            </a:r>
            <a:endParaRPr lang="en-US" sz="1500" dirty="0"/>
          </a:p>
        </p:txBody>
      </p:sp>
      <p:sp>
        <p:nvSpPr>
          <p:cNvPr id="44" name="!!cmD2"/>
          <p:cNvSpPr txBox="1"/>
          <p:nvPr/>
        </p:nvSpPr>
        <p:spPr>
          <a:xfrm>
            <a:off x="7040880" y="4617720"/>
            <a:ext cx="4480560" cy="4572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λ = 2.18 nm  ·  SS ≈ 65 mV/dec  ·  DIBL ≈ 41 mV/V  ·  V</a:t>
            </a:r>
            <a:pPr algn="l" indent="0" marL="0">
              <a:buNone/>
            </a:pPr>
            <a:r>
              <a:rPr lang="en-US" sz="1100" baseline="-40000" dirty="0">
                <a:solidFill>
                  <a:srgbClr val="5C5E62"/>
                </a:solidFill>
                <a:latin typeface="Segoe UI" pitchFamily="34" charset="0"/>
                <a:ea typeface="Segoe UI" pitchFamily="34" charset="-122"/>
                <a:cs typeface="Segoe UI" pitchFamily="34" charset="-120"/>
              </a:rPr>
              <a:t>T</a:t>
            </a:r>
            <a:pPr algn="l" indent="0" marL="0">
              <a:buNone/>
            </a:pPr>
            <a:r>
              <a:rPr lang="en-US" sz="1100" dirty="0">
                <a:solidFill>
                  <a:srgbClr val="5C5E62"/>
                </a:solidFill>
                <a:latin typeface="Segoe UI" pitchFamily="34" charset="0"/>
                <a:ea typeface="Segoe UI" pitchFamily="34" charset="-122"/>
                <a:cs typeface="Segoe UI" pitchFamily="34" charset="-120"/>
              </a:rPr>
              <a:t> = 0.28 V</a:t>
            </a:r>
            <a:endParaRPr lang="en-US" sz="1100" dirty="0"/>
          </a:p>
        </p:txBody>
      </p:sp>
      <p:sp>
        <p:nvSpPr>
          <p:cNvPr id="45"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GAA: steepest turn-on and about 10 000× less leakage than planar.</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75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Why gate-all-around wins at 14 nm</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L</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λ for a 14 nm gate: the gate stays in control when L</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5–10 λ</a:t>
            </a:r>
            <a:endParaRPr lang="en-US" sz="1600" dirty="0"/>
          </a:p>
        </p:txBody>
      </p:sp>
      <p:sp>
        <p:nvSpPr>
          <p:cNvPr id="4" name="Shape 2"/>
          <p:cNvSpPr/>
          <p:nvPr/>
        </p:nvSpPr>
        <p:spPr>
          <a:xfrm>
            <a:off x="914400" y="2423160"/>
            <a:ext cx="6035040" cy="91"/>
          </a:xfrm>
          <a:prstGeom prst="line">
            <a:avLst/>
          </a:prstGeom>
          <a:noFill/>
          <a:ln w="15875">
            <a:solidFill>
              <a:srgbClr val="2E9E4F"/>
            </a:solidFill>
            <a:prstDash val="dash"/>
          </a:ln>
        </p:spPr>
      </p:sp>
      <p:sp>
        <p:nvSpPr>
          <p:cNvPr id="5" name="Text 3"/>
          <p:cNvSpPr txBox="1"/>
          <p:nvPr/>
        </p:nvSpPr>
        <p:spPr>
          <a:xfrm>
            <a:off x="914400" y="2148840"/>
            <a:ext cx="1737360" cy="228600"/>
          </a:xfrm>
          <a:prstGeom prst="rect">
            <a:avLst/>
          </a:prstGeom>
          <a:noFill/>
          <a:ln/>
        </p:spPr>
        <p:txBody>
          <a:bodyPr wrap="square" lIns="0" tIns="0" rIns="0" bIns="0" rtlCol="0" anchor="t"/>
          <a:lstStyle/>
          <a:p>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good zone: L</a:t>
            </a:r>
            <a:pPr algn="l" indent="0" marL="0">
              <a:buNone/>
            </a:pPr>
            <a:r>
              <a:rPr lang="en-US" sz="1000" baseline="-40000" dirty="0">
                <a:solidFill>
                  <a:srgbClr val="2E9E4F"/>
                </a:solidFill>
                <a:latin typeface="Segoe UI Semibold" pitchFamily="34" charset="0"/>
                <a:ea typeface="Segoe UI Semibold" pitchFamily="34" charset="-122"/>
                <a:cs typeface="Segoe UI Semibold" pitchFamily="34" charset="-120"/>
              </a:rPr>
              <a:t>g</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 5 λ</a:t>
            </a:r>
            <a:endParaRPr lang="en-US" sz="1000" dirty="0"/>
          </a:p>
        </p:txBody>
      </p:sp>
      <p:sp>
        <p:nvSpPr>
          <p:cNvPr id="6" name="Shape 4"/>
          <p:cNvSpPr/>
          <p:nvPr/>
        </p:nvSpPr>
        <p:spPr>
          <a:xfrm>
            <a:off x="1097280" y="3328416"/>
            <a:ext cx="914400" cy="1609344"/>
          </a:xfrm>
          <a:prstGeom prst="rect">
            <a:avLst/>
          </a:prstGeom>
          <a:solidFill>
            <a:srgbClr val="D64545"/>
          </a:solidFill>
          <a:ln/>
        </p:spPr>
      </p:sp>
      <p:sp>
        <p:nvSpPr>
          <p:cNvPr id="7" name="Text 5"/>
          <p:cNvSpPr txBox="1"/>
          <p:nvPr/>
        </p:nvSpPr>
        <p:spPr>
          <a:xfrm>
            <a:off x="914400" y="3008376"/>
            <a:ext cx="1280160" cy="274320"/>
          </a:xfrm>
          <a:prstGeom prst="rect">
            <a:avLst/>
          </a:prstGeom>
          <a:noFill/>
          <a:ln/>
        </p:spPr>
        <p:txBody>
          <a:bodyPr wrap="square" lIns="0" tIns="0" rIns="0" bIns="0" rtlCol="0" anchor="t"/>
          <a:lstStyle/>
          <a:p>
            <a:pPr algn="ctr" indent="0" marL="0">
              <a:buNone/>
            </a:pPr>
            <a:r>
              <a:rPr lang="en-US" sz="1600" dirty="0">
                <a:solidFill>
                  <a:srgbClr val="171A20"/>
                </a:solidFill>
                <a:latin typeface="Segoe UI Semibold" pitchFamily="34" charset="0"/>
                <a:ea typeface="Segoe UI Semibold" pitchFamily="34" charset="-122"/>
                <a:cs typeface="Segoe UI Semibold" pitchFamily="34" charset="-120"/>
              </a:rPr>
              <a:t>3.2</a:t>
            </a:r>
            <a:endParaRPr lang="en-US" sz="1600" dirty="0"/>
          </a:p>
        </p:txBody>
      </p:sp>
      <p:sp>
        <p:nvSpPr>
          <p:cNvPr id="8" name="Text 6"/>
          <p:cNvSpPr txBox="1"/>
          <p:nvPr/>
        </p:nvSpPr>
        <p:spPr>
          <a:xfrm>
            <a:off x="822960" y="5010912"/>
            <a:ext cx="1463040" cy="228600"/>
          </a:xfrm>
          <a:prstGeom prst="rect">
            <a:avLst/>
          </a:prstGeom>
          <a:noFill/>
          <a:ln/>
        </p:spPr>
        <p:txBody>
          <a:bodyPr wrap="square" lIns="0" tIns="0" rIns="0" bIns="0" rtlCol="0" anchor="t"/>
          <a:lstStyle/>
          <a:p>
            <a:pPr algn="ctr" indent="0" marL="0">
              <a:buNone/>
            </a:pPr>
            <a:r>
              <a:rPr lang="en-US" sz="1200" dirty="0">
                <a:solidFill>
                  <a:srgbClr val="171A20"/>
                </a:solidFill>
                <a:latin typeface="Segoe UI Semibold" pitchFamily="34" charset="0"/>
                <a:ea typeface="Segoe UI Semibold" pitchFamily="34" charset="-122"/>
                <a:cs typeface="Segoe UI Semibold" pitchFamily="34" charset="-120"/>
              </a:rPr>
              <a:t>planar</a:t>
            </a:r>
            <a:endParaRPr lang="en-US" sz="1200" dirty="0"/>
          </a:p>
        </p:txBody>
      </p:sp>
      <p:sp>
        <p:nvSpPr>
          <p:cNvPr id="9" name="Text 7"/>
          <p:cNvSpPr txBox="1"/>
          <p:nvPr/>
        </p:nvSpPr>
        <p:spPr>
          <a:xfrm>
            <a:off x="822960" y="5239512"/>
            <a:ext cx="146304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λ = 4.37 nm</a:t>
            </a:r>
            <a:endParaRPr lang="en-US" sz="1000" dirty="0"/>
          </a:p>
        </p:txBody>
      </p:sp>
      <p:sp>
        <p:nvSpPr>
          <p:cNvPr id="10" name="Shape 8"/>
          <p:cNvSpPr/>
          <p:nvPr/>
        </p:nvSpPr>
        <p:spPr>
          <a:xfrm>
            <a:off x="2560320" y="2674620"/>
            <a:ext cx="914400" cy="2263140"/>
          </a:xfrm>
          <a:prstGeom prst="rect">
            <a:avLst/>
          </a:prstGeom>
          <a:solidFill>
            <a:srgbClr val="E07B00"/>
          </a:solidFill>
          <a:ln/>
        </p:spPr>
      </p:sp>
      <p:sp>
        <p:nvSpPr>
          <p:cNvPr id="11" name="Text 9"/>
          <p:cNvSpPr txBox="1"/>
          <p:nvPr/>
        </p:nvSpPr>
        <p:spPr>
          <a:xfrm>
            <a:off x="2377440" y="2354580"/>
            <a:ext cx="1280160" cy="274320"/>
          </a:xfrm>
          <a:prstGeom prst="rect">
            <a:avLst/>
          </a:prstGeom>
          <a:noFill/>
          <a:ln/>
        </p:spPr>
        <p:txBody>
          <a:bodyPr wrap="square" lIns="0" tIns="0" rIns="0" bIns="0" rtlCol="0" anchor="t"/>
          <a:lstStyle/>
          <a:p>
            <a:pPr algn="ctr" indent="0" marL="0">
              <a:buNone/>
            </a:pPr>
            <a:r>
              <a:rPr lang="en-US" sz="1600" dirty="0">
                <a:solidFill>
                  <a:srgbClr val="171A20"/>
                </a:solidFill>
                <a:latin typeface="Segoe UI Semibold" pitchFamily="34" charset="0"/>
                <a:ea typeface="Segoe UI Semibold" pitchFamily="34" charset="-122"/>
                <a:cs typeface="Segoe UI Semibold" pitchFamily="34" charset="-120"/>
              </a:rPr>
              <a:t>4.5</a:t>
            </a:r>
            <a:endParaRPr lang="en-US" sz="1600" dirty="0"/>
          </a:p>
        </p:txBody>
      </p:sp>
      <p:sp>
        <p:nvSpPr>
          <p:cNvPr id="12" name="Text 10"/>
          <p:cNvSpPr txBox="1"/>
          <p:nvPr/>
        </p:nvSpPr>
        <p:spPr>
          <a:xfrm>
            <a:off x="2286000" y="5010912"/>
            <a:ext cx="1463040" cy="228600"/>
          </a:xfrm>
          <a:prstGeom prst="rect">
            <a:avLst/>
          </a:prstGeom>
          <a:noFill/>
          <a:ln/>
        </p:spPr>
        <p:txBody>
          <a:bodyPr wrap="square" lIns="0" tIns="0" rIns="0" bIns="0" rtlCol="0" anchor="t"/>
          <a:lstStyle/>
          <a:p>
            <a:pPr algn="ctr" indent="0" marL="0">
              <a:buNone/>
            </a:pPr>
            <a:r>
              <a:rPr lang="en-US" sz="1200" dirty="0">
                <a:solidFill>
                  <a:srgbClr val="171A20"/>
                </a:solidFill>
                <a:latin typeface="Segoe UI Semibold" pitchFamily="34" charset="0"/>
                <a:ea typeface="Segoe UI Semibold" pitchFamily="34" charset="-122"/>
                <a:cs typeface="Segoe UI Semibold" pitchFamily="34" charset="-120"/>
              </a:rPr>
              <a:t>double gate</a:t>
            </a:r>
            <a:endParaRPr lang="en-US" sz="1200" dirty="0"/>
          </a:p>
        </p:txBody>
      </p:sp>
      <p:sp>
        <p:nvSpPr>
          <p:cNvPr id="13" name="Text 11"/>
          <p:cNvSpPr txBox="1"/>
          <p:nvPr/>
        </p:nvSpPr>
        <p:spPr>
          <a:xfrm>
            <a:off x="2286000" y="5239512"/>
            <a:ext cx="146304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λ = 3.09 nm</a:t>
            </a:r>
            <a:endParaRPr lang="en-US" sz="1000" dirty="0"/>
          </a:p>
        </p:txBody>
      </p:sp>
      <p:sp>
        <p:nvSpPr>
          <p:cNvPr id="14" name="Shape 12"/>
          <p:cNvSpPr/>
          <p:nvPr/>
        </p:nvSpPr>
        <p:spPr>
          <a:xfrm>
            <a:off x="4023360" y="2121408"/>
            <a:ext cx="914400" cy="2816352"/>
          </a:xfrm>
          <a:prstGeom prst="rect">
            <a:avLst/>
          </a:prstGeom>
          <a:solidFill>
            <a:srgbClr val="3E6AE1"/>
          </a:solidFill>
          <a:ln/>
        </p:spPr>
      </p:sp>
      <p:sp>
        <p:nvSpPr>
          <p:cNvPr id="15" name="Text 13"/>
          <p:cNvSpPr txBox="1"/>
          <p:nvPr/>
        </p:nvSpPr>
        <p:spPr>
          <a:xfrm>
            <a:off x="3840480" y="1801368"/>
            <a:ext cx="1280160" cy="274320"/>
          </a:xfrm>
          <a:prstGeom prst="rect">
            <a:avLst/>
          </a:prstGeom>
          <a:noFill/>
          <a:ln/>
        </p:spPr>
        <p:txBody>
          <a:bodyPr wrap="square" lIns="0" tIns="0" rIns="0" bIns="0" rtlCol="0" anchor="t"/>
          <a:lstStyle/>
          <a:p>
            <a:pPr algn="ctr" indent="0" marL="0">
              <a:buNone/>
            </a:pPr>
            <a:r>
              <a:rPr lang="en-US" sz="1600" dirty="0">
                <a:solidFill>
                  <a:srgbClr val="171A20"/>
                </a:solidFill>
                <a:latin typeface="Segoe UI Semibold" pitchFamily="34" charset="0"/>
                <a:ea typeface="Segoe UI Semibold" pitchFamily="34" charset="-122"/>
                <a:cs typeface="Segoe UI Semibold" pitchFamily="34" charset="-120"/>
              </a:rPr>
              <a:t>5.6</a:t>
            </a:r>
            <a:endParaRPr lang="en-US" sz="1600" dirty="0"/>
          </a:p>
        </p:txBody>
      </p:sp>
      <p:sp>
        <p:nvSpPr>
          <p:cNvPr id="16" name="Text 14"/>
          <p:cNvSpPr txBox="1"/>
          <p:nvPr/>
        </p:nvSpPr>
        <p:spPr>
          <a:xfrm>
            <a:off x="3749040" y="5010912"/>
            <a:ext cx="1463040" cy="228600"/>
          </a:xfrm>
          <a:prstGeom prst="rect">
            <a:avLst/>
          </a:prstGeom>
          <a:noFill/>
          <a:ln/>
        </p:spPr>
        <p:txBody>
          <a:bodyPr wrap="square" lIns="0" tIns="0" rIns="0" bIns="0" rtlCol="0" anchor="t"/>
          <a:lstStyle/>
          <a:p>
            <a:pPr algn="ctr" indent="0" marL="0">
              <a:buNone/>
            </a:pPr>
            <a:r>
              <a:rPr lang="en-US" sz="1200" dirty="0">
                <a:solidFill>
                  <a:srgbClr val="171A20"/>
                </a:solidFill>
                <a:latin typeface="Segoe UI Semibold" pitchFamily="34" charset="0"/>
                <a:ea typeface="Segoe UI Semibold" pitchFamily="34" charset="-122"/>
                <a:cs typeface="Segoe UI Semibold" pitchFamily="34" charset="-120"/>
              </a:rPr>
              <a:t>FinFET</a:t>
            </a:r>
            <a:endParaRPr lang="en-US" sz="1200" dirty="0"/>
          </a:p>
        </p:txBody>
      </p:sp>
      <p:sp>
        <p:nvSpPr>
          <p:cNvPr id="17" name="Text 15"/>
          <p:cNvSpPr txBox="1"/>
          <p:nvPr/>
        </p:nvSpPr>
        <p:spPr>
          <a:xfrm>
            <a:off x="3749040" y="5239512"/>
            <a:ext cx="146304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λ = 2.52 nm</a:t>
            </a:r>
            <a:endParaRPr lang="en-US" sz="1000" dirty="0"/>
          </a:p>
        </p:txBody>
      </p:sp>
      <p:sp>
        <p:nvSpPr>
          <p:cNvPr id="18" name="Shape 16"/>
          <p:cNvSpPr/>
          <p:nvPr/>
        </p:nvSpPr>
        <p:spPr>
          <a:xfrm>
            <a:off x="5486400" y="1719072"/>
            <a:ext cx="914400" cy="3218688"/>
          </a:xfrm>
          <a:prstGeom prst="rect">
            <a:avLst/>
          </a:prstGeom>
          <a:solidFill>
            <a:srgbClr val="2E9E4F"/>
          </a:solidFill>
          <a:ln/>
        </p:spPr>
      </p:sp>
      <p:sp>
        <p:nvSpPr>
          <p:cNvPr id="19" name="Text 17"/>
          <p:cNvSpPr txBox="1"/>
          <p:nvPr/>
        </p:nvSpPr>
        <p:spPr>
          <a:xfrm>
            <a:off x="5303520" y="1399032"/>
            <a:ext cx="1280160" cy="274320"/>
          </a:xfrm>
          <a:prstGeom prst="rect">
            <a:avLst/>
          </a:prstGeom>
          <a:noFill/>
          <a:ln/>
        </p:spPr>
        <p:txBody>
          <a:bodyPr wrap="square" lIns="0" tIns="0" rIns="0" bIns="0" rtlCol="0" anchor="t"/>
          <a:lstStyle/>
          <a:p>
            <a:pPr algn="ctr" indent="0" marL="0">
              <a:buNone/>
            </a:pPr>
            <a:r>
              <a:rPr lang="en-US" sz="1600" dirty="0">
                <a:solidFill>
                  <a:srgbClr val="171A20"/>
                </a:solidFill>
                <a:latin typeface="Segoe UI Semibold" pitchFamily="34" charset="0"/>
                <a:ea typeface="Segoe UI Semibold" pitchFamily="34" charset="-122"/>
                <a:cs typeface="Segoe UI Semibold" pitchFamily="34" charset="-120"/>
              </a:rPr>
              <a:t>6.4</a:t>
            </a:r>
            <a:endParaRPr lang="en-US" sz="1600" dirty="0"/>
          </a:p>
        </p:txBody>
      </p:sp>
      <p:sp>
        <p:nvSpPr>
          <p:cNvPr id="20" name="Text 18"/>
          <p:cNvSpPr txBox="1"/>
          <p:nvPr/>
        </p:nvSpPr>
        <p:spPr>
          <a:xfrm>
            <a:off x="5212080" y="5010912"/>
            <a:ext cx="1463040" cy="228600"/>
          </a:xfrm>
          <a:prstGeom prst="rect">
            <a:avLst/>
          </a:prstGeom>
          <a:noFill/>
          <a:ln/>
        </p:spPr>
        <p:txBody>
          <a:bodyPr wrap="square" lIns="0" tIns="0" rIns="0" bIns="0" rtlCol="0" anchor="t"/>
          <a:lstStyle/>
          <a:p>
            <a:pPr algn="ctr" indent="0" marL="0">
              <a:buNone/>
            </a:pPr>
            <a:r>
              <a:rPr lang="en-US" sz="1200" dirty="0">
                <a:solidFill>
                  <a:srgbClr val="171A20"/>
                </a:solidFill>
                <a:latin typeface="Segoe UI Semibold" pitchFamily="34" charset="0"/>
                <a:ea typeface="Segoe UI Semibold" pitchFamily="34" charset="-122"/>
                <a:cs typeface="Segoe UI Semibold" pitchFamily="34" charset="-120"/>
              </a:rPr>
              <a:t>GAA</a:t>
            </a:r>
            <a:endParaRPr lang="en-US" sz="1200" dirty="0"/>
          </a:p>
        </p:txBody>
      </p:sp>
      <p:sp>
        <p:nvSpPr>
          <p:cNvPr id="21" name="Text 19"/>
          <p:cNvSpPr txBox="1"/>
          <p:nvPr/>
        </p:nvSpPr>
        <p:spPr>
          <a:xfrm>
            <a:off x="5212080" y="5239512"/>
            <a:ext cx="146304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λ = 2.18 nm</a:t>
            </a:r>
            <a:endParaRPr lang="en-US" sz="1000" dirty="0"/>
          </a:p>
        </p:txBody>
      </p:sp>
      <p:sp>
        <p:nvSpPr>
          <p:cNvPr id="22" name="!!card"/>
          <p:cNvSpPr/>
          <p:nvPr/>
        </p:nvSpPr>
        <p:spPr>
          <a:xfrm>
            <a:off x="7315200" y="1554480"/>
            <a:ext cx="4325112" cy="3566160"/>
          </a:xfrm>
          <a:prstGeom prst="roundRect">
            <a:avLst>
              <a:gd name="adj" fmla="val 2051"/>
            </a:avLst>
          </a:prstGeom>
          <a:solidFill>
            <a:srgbClr val="F4F5F7"/>
          </a:solidFill>
          <a:ln/>
        </p:spPr>
      </p:sp>
      <p:sp>
        <p:nvSpPr>
          <p:cNvPr id="23" name="!!cardh"/>
          <p:cNvSpPr txBox="1"/>
          <p:nvPr/>
        </p:nvSpPr>
        <p:spPr>
          <a:xfrm>
            <a:off x="7543800" y="1773936"/>
            <a:ext cx="3913632" cy="347472"/>
          </a:xfrm>
          <a:prstGeom prst="rect">
            <a:avLst/>
          </a:prstGeom>
          <a:noFill/>
          <a:ln/>
        </p:spPr>
        <p:txBody>
          <a:bodyPr wrap="square" lIns="0" tIns="0" rIns="0" bIns="0" rtlCol="0" anchor="ctr"/>
          <a:lstStyle/>
          <a:p>
            <a:pPr algn="l" indent="0" marL="0">
              <a:buNone/>
            </a:pPr>
            <a:r>
              <a:rPr lang="en-US" sz="1600" dirty="0">
                <a:solidFill>
                  <a:srgbClr val="171A20"/>
                </a:solidFill>
                <a:latin typeface="Segoe UI Semibold" pitchFamily="34" charset="0"/>
                <a:ea typeface="Segoe UI Semibold" pitchFamily="34" charset="-122"/>
                <a:cs typeface="Segoe UI Semibold" pitchFamily="34" charset="-120"/>
              </a:rPr>
              <a:t>Reading the bars</a:t>
            </a:r>
            <a:endParaRPr lang="en-US" sz="1600" dirty="0"/>
          </a:p>
        </p:txBody>
      </p:sp>
      <p:sp>
        <p:nvSpPr>
          <p:cNvPr id="24" name="!!cardb"/>
          <p:cNvSpPr txBox="1"/>
          <p:nvPr/>
        </p:nvSpPr>
        <p:spPr>
          <a:xfrm>
            <a:off x="7543800" y="2267712"/>
            <a:ext cx="3867912" cy="269748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λ = √(3 · 8 nm · 0.8 nm / N).</a:t>
            </a:r>
            <a:endParaRPr lang="en-US" sz="1300" dirty="0"/>
          </a:p>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More sides N → smaller λ → the gate wins over the drain.</a:t>
            </a:r>
            <a:endParaRPr lang="en-US" sz="1300" dirty="0"/>
          </a:p>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Planar 3.2 and double gate 4.5 fail at 14 nm.</a:t>
            </a:r>
            <a:endParaRPr lang="en-US" sz="1300" dirty="0"/>
          </a:p>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FinFET 5.6 just passes; GAA 6.4 is safest.</a:t>
            </a:r>
            <a:endParaRPr lang="en-US" sz="1300" dirty="0"/>
          </a:p>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A real fin has an open bottom, so a real FinFET is a bit worse than N = 3.</a:t>
            </a:r>
            <a:endParaRPr lang="en-US" sz="1300" dirty="0"/>
          </a:p>
        </p:txBody>
      </p:sp>
      <p:sp>
        <p:nvSpPr>
          <p:cNvPr id="25"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Only GAA keeps L</a:t>
            </a:r>
            <a:pPr algn="ctr" indent="0" marL="0">
              <a:buNone/>
            </a:pPr>
            <a:r>
              <a:rPr lang="en-US" sz="1600" baseline="-40000" dirty="0">
                <a:solidFill>
                  <a:srgbClr val="171A20"/>
                </a:solidFill>
                <a:latin typeface="Segoe UI" pitchFamily="34" charset="0"/>
                <a:ea typeface="Segoe UI" pitchFamily="34" charset="-122"/>
                <a:cs typeface="Segoe UI" pitchFamily="34" charset="-120"/>
              </a:rPr>
              <a:t>g</a:t>
            </a:r>
            <a:pPr algn="ctr" indent="0" marL="0">
              <a:buNone/>
            </a:pPr>
            <a:r>
              <a:rPr lang="en-US" sz="1600" dirty="0">
                <a:solidFill>
                  <a:srgbClr val="171A20"/>
                </a:solidFill>
                <a:latin typeface="Segoe UI" pitchFamily="34" charset="0"/>
                <a:ea typeface="Segoe UI" pitchFamily="34" charset="-122"/>
                <a:cs typeface="Segoe UI" pitchFamily="34" charset="-120"/>
              </a:rPr>
              <a:t> / λ above 6 at L</a:t>
            </a:r>
            <a:pPr algn="ctr" indent="0" marL="0">
              <a:buNone/>
            </a:pPr>
            <a:r>
              <a:rPr lang="en-US" sz="1600" baseline="-40000" dirty="0">
                <a:solidFill>
                  <a:srgbClr val="171A20"/>
                </a:solidFill>
                <a:latin typeface="Segoe UI" pitchFamily="34" charset="0"/>
                <a:ea typeface="Segoe UI" pitchFamily="34" charset="-122"/>
                <a:cs typeface="Segoe UI" pitchFamily="34" charset="-120"/>
              </a:rPr>
              <a:t>g</a:t>
            </a:r>
            <a:pPr algn="ctr" indent="0" marL="0">
              <a:buNone/>
            </a:pPr>
            <a:r>
              <a:rPr lang="en-US" sz="1600" dirty="0">
                <a:solidFill>
                  <a:srgbClr val="171A20"/>
                </a:solidFill>
                <a:latin typeface="Segoe UI" pitchFamily="34" charset="0"/>
                <a:ea typeface="Segoe UI" pitchFamily="34" charset="-122"/>
                <a:cs typeface="Segoe UI" pitchFamily="34" charset="-120"/>
              </a:rPr>
              <a:t> = 14 nm: that is why 3 nm-class chips use it.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76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Measuring DIBL on our data</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Raise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from 0.05 V to 0.7 V: the whole curve shifts left</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E2E3E3"/>
          </a:solidFill>
          <a:ln/>
        </p:spPr>
      </p:sp>
      <p:sp>
        <p:nvSpPr>
          <p:cNvPr id="6" name="!!sdot2"/>
          <p:cNvSpPr/>
          <p:nvPr/>
        </p:nvSpPr>
        <p:spPr>
          <a:xfrm>
            <a:off x="11599164" y="525780"/>
            <a:ext cx="82296" cy="82296"/>
          </a:xfrm>
          <a:prstGeom prst="ellipse">
            <a:avLst/>
          </a:prstGeom>
          <a:solidFill>
            <a:srgbClr val="E2E3E3"/>
          </a:solidFill>
          <a:ln/>
        </p:spPr>
      </p:sp>
      <p:sp>
        <p:nvSpPr>
          <p:cNvPr id="7" name="!!axg0"/>
          <p:cNvSpPr/>
          <p:nvPr/>
        </p:nvSpPr>
        <p:spPr>
          <a:xfrm>
            <a:off x="1188720" y="4983480"/>
            <a:ext cx="5303520" cy="91"/>
          </a:xfrm>
          <a:prstGeom prst="line">
            <a:avLst/>
          </a:prstGeom>
          <a:noFill/>
          <a:ln w="9525">
            <a:solidFill>
              <a:srgbClr val="EDEEF0"/>
            </a:solidFill>
            <a:prstDash val="solid"/>
          </a:ln>
        </p:spPr>
      </p:sp>
      <p:sp>
        <p:nvSpPr>
          <p:cNvPr id="8" name="!!axg1"/>
          <p:cNvSpPr/>
          <p:nvPr/>
        </p:nvSpPr>
        <p:spPr>
          <a:xfrm>
            <a:off x="1188720" y="3886200"/>
            <a:ext cx="5303520" cy="91"/>
          </a:xfrm>
          <a:prstGeom prst="line">
            <a:avLst/>
          </a:prstGeom>
          <a:noFill/>
          <a:ln w="9525">
            <a:solidFill>
              <a:srgbClr val="EDEEF0"/>
            </a:solidFill>
            <a:prstDash val="solid"/>
          </a:ln>
        </p:spPr>
      </p:sp>
      <p:sp>
        <p:nvSpPr>
          <p:cNvPr id="9" name="!!axg2"/>
          <p:cNvSpPr/>
          <p:nvPr/>
        </p:nvSpPr>
        <p:spPr>
          <a:xfrm>
            <a:off x="1188720" y="2788920"/>
            <a:ext cx="5303520" cy="91"/>
          </a:xfrm>
          <a:prstGeom prst="line">
            <a:avLst/>
          </a:prstGeom>
          <a:noFill/>
          <a:ln w="9525">
            <a:solidFill>
              <a:srgbClr val="EDEEF0"/>
            </a:solidFill>
            <a:prstDash val="solid"/>
          </a:ln>
        </p:spPr>
      </p:sp>
      <p:sp>
        <p:nvSpPr>
          <p:cNvPr id="10" name="!!axg3"/>
          <p:cNvSpPr/>
          <p:nvPr/>
        </p:nvSpPr>
        <p:spPr>
          <a:xfrm>
            <a:off x="1188720" y="1691640"/>
            <a:ext cx="5303520" cy="91"/>
          </a:xfrm>
          <a:prstGeom prst="line">
            <a:avLst/>
          </a:prstGeom>
          <a:noFill/>
          <a:ln w="9525">
            <a:solidFill>
              <a:srgbClr val="EDEEF0"/>
            </a:solidFill>
            <a:prstDash val="solid"/>
          </a:ln>
        </p:spPr>
      </p:sp>
      <p:sp>
        <p:nvSpPr>
          <p:cNvPr id="11" name="!!axxa"/>
          <p:cNvSpPr/>
          <p:nvPr/>
        </p:nvSpPr>
        <p:spPr>
          <a:xfrm>
            <a:off x="1188720" y="4983480"/>
            <a:ext cx="5303520" cy="91"/>
          </a:xfrm>
          <a:prstGeom prst="line">
            <a:avLst/>
          </a:prstGeom>
          <a:noFill/>
          <a:ln w="12700">
            <a:solidFill>
              <a:srgbClr val="8A8D93"/>
            </a:solidFill>
            <a:prstDash val="solid"/>
          </a:ln>
        </p:spPr>
      </p:sp>
      <p:sp>
        <p:nvSpPr>
          <p:cNvPr id="12" name="!!axya"/>
          <p:cNvSpPr/>
          <p:nvPr/>
        </p:nvSpPr>
        <p:spPr>
          <a:xfrm>
            <a:off x="1188720" y="1691640"/>
            <a:ext cx="91" cy="3291840"/>
          </a:xfrm>
          <a:prstGeom prst="line">
            <a:avLst/>
          </a:prstGeom>
          <a:noFill/>
          <a:ln w="12700">
            <a:solidFill>
              <a:srgbClr val="8A8D93"/>
            </a:solidFill>
            <a:prstDash val="solid"/>
          </a:ln>
        </p:spPr>
      </p:sp>
      <p:sp>
        <p:nvSpPr>
          <p:cNvPr id="13" name="!!axxt0"/>
          <p:cNvSpPr txBox="1"/>
          <p:nvPr/>
        </p:nvSpPr>
        <p:spPr>
          <a:xfrm>
            <a:off x="86868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14" name="!!axxt1"/>
          <p:cNvSpPr txBox="1"/>
          <p:nvPr/>
        </p:nvSpPr>
        <p:spPr>
          <a:xfrm>
            <a:off x="1626326"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15" name="!!axxt2"/>
          <p:cNvSpPr txBox="1"/>
          <p:nvPr/>
        </p:nvSpPr>
        <p:spPr>
          <a:xfrm>
            <a:off x="2383971"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16" name="!!axxt3"/>
          <p:cNvSpPr txBox="1"/>
          <p:nvPr/>
        </p:nvSpPr>
        <p:spPr>
          <a:xfrm>
            <a:off x="3141617"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17" name="!!axxt4"/>
          <p:cNvSpPr txBox="1"/>
          <p:nvPr/>
        </p:nvSpPr>
        <p:spPr>
          <a:xfrm>
            <a:off x="3899263"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18" name="!!axxt5"/>
          <p:cNvSpPr txBox="1"/>
          <p:nvPr/>
        </p:nvSpPr>
        <p:spPr>
          <a:xfrm>
            <a:off x="4656909"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0.5</a:t>
            </a:r>
            <a:endParaRPr lang="en-US" sz="900" dirty="0"/>
          </a:p>
        </p:txBody>
      </p:sp>
      <p:sp>
        <p:nvSpPr>
          <p:cNvPr id="19" name="!!axxt6"/>
          <p:cNvSpPr txBox="1"/>
          <p:nvPr/>
        </p:nvSpPr>
        <p:spPr>
          <a:xfrm>
            <a:off x="5414554"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20" name="!!axxt7"/>
          <p:cNvSpPr txBox="1"/>
          <p:nvPr/>
        </p:nvSpPr>
        <p:spPr>
          <a:xfrm>
            <a:off x="617220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0.7</a:t>
            </a:r>
            <a:endParaRPr lang="en-US" sz="900" dirty="0"/>
          </a:p>
        </p:txBody>
      </p:sp>
      <p:sp>
        <p:nvSpPr>
          <p:cNvPr id="21" name="!!axyt0"/>
          <p:cNvSpPr txBox="1"/>
          <p:nvPr/>
        </p:nvSpPr>
        <p:spPr>
          <a:xfrm>
            <a:off x="502920" y="48828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22" name="!!axyt1"/>
          <p:cNvSpPr txBox="1"/>
          <p:nvPr/>
        </p:nvSpPr>
        <p:spPr>
          <a:xfrm>
            <a:off x="502920" y="37856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23" name="!!axyt2"/>
          <p:cNvSpPr txBox="1"/>
          <p:nvPr/>
        </p:nvSpPr>
        <p:spPr>
          <a:xfrm>
            <a:off x="502920" y="2688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24" name="!!axyt3"/>
          <p:cNvSpPr txBox="1"/>
          <p:nvPr/>
        </p:nvSpPr>
        <p:spPr>
          <a:xfrm>
            <a:off x="50292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25" name="!!axxl"/>
          <p:cNvSpPr txBox="1"/>
          <p:nvPr/>
        </p:nvSpPr>
        <p:spPr>
          <a:xfrm>
            <a:off x="1188720" y="5257800"/>
            <a:ext cx="530352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26" name="!!axyl"/>
          <p:cNvSpPr txBox="1"/>
          <p:nvPr/>
        </p:nvSpPr>
        <p:spPr>
          <a:xfrm>
            <a:off x="100584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a:t>
            </a:r>
            <a:endParaRPr lang="en-US" sz="1100" dirty="0"/>
          </a:p>
        </p:txBody>
      </p:sp>
      <p:sp>
        <p:nvSpPr>
          <p:cNvPr id="27" name="!!dbLo"/>
          <p:cNvSpPr/>
          <p:nvPr/>
        </p:nvSpPr>
        <p:spPr>
          <a:xfrm>
            <a:off x="1188720" y="2317331"/>
            <a:ext cx="5303520" cy="2459444"/>
          </a:xfrm>
          <a:custGeom>
            <a:avLst/>
            <a:gdLst/>
            <a:ahLst/>
            <a:cxnLst/>
            <a:rect l="l" t="t" r="r" b="b"/>
            <a:pathLst>
              <a:path w="5303520" h="2459444">
                <a:moveTo>
                  <a:pt x="0" y="2459444"/>
                </a:moveTo>
                <a:lnTo>
                  <a:pt x="189411" y="2249580"/>
                </a:lnTo>
                <a:lnTo>
                  <a:pt x="378823" y="2040503"/>
                </a:lnTo>
                <a:lnTo>
                  <a:pt x="568234" y="1832362"/>
                </a:lnTo>
                <a:lnTo>
                  <a:pt x="757646" y="1625352"/>
                </a:lnTo>
                <a:lnTo>
                  <a:pt x="947057" y="1419770"/>
                </a:lnTo>
                <a:lnTo>
                  <a:pt x="1136469" y="1216191"/>
                </a:lnTo>
                <a:lnTo>
                  <a:pt x="1325880" y="1015831"/>
                </a:lnTo>
                <a:lnTo>
                  <a:pt x="1515291" y="821149"/>
                </a:lnTo>
                <a:lnTo>
                  <a:pt x="1704703" y="636142"/>
                </a:lnTo>
                <a:lnTo>
                  <a:pt x="1894114" y="467870"/>
                </a:lnTo>
                <a:lnTo>
                  <a:pt x="2083526" y="332511"/>
                </a:lnTo>
                <a:lnTo>
                  <a:pt x="2272937" y="228666"/>
                </a:lnTo>
                <a:lnTo>
                  <a:pt x="2462349" y="160440"/>
                </a:lnTo>
                <a:lnTo>
                  <a:pt x="2651760" y="125186"/>
                </a:lnTo>
                <a:lnTo>
                  <a:pt x="2841171" y="106798"/>
                </a:lnTo>
                <a:lnTo>
                  <a:pt x="3030583" y="92886"/>
                </a:lnTo>
                <a:lnTo>
                  <a:pt x="3219994" y="80697"/>
                </a:lnTo>
                <a:lnTo>
                  <a:pt x="3409406" y="69685"/>
                </a:lnTo>
                <a:lnTo>
                  <a:pt x="3598817" y="59676"/>
                </a:lnTo>
                <a:lnTo>
                  <a:pt x="3788229" y="50556"/>
                </a:lnTo>
                <a:lnTo>
                  <a:pt x="3977640" y="42240"/>
                </a:lnTo>
                <a:lnTo>
                  <a:pt x="4167051" y="34636"/>
                </a:lnTo>
                <a:lnTo>
                  <a:pt x="4356463" y="27664"/>
                </a:lnTo>
                <a:lnTo>
                  <a:pt x="4545874" y="21248"/>
                </a:lnTo>
                <a:lnTo>
                  <a:pt x="4735286" y="15327"/>
                </a:lnTo>
                <a:lnTo>
                  <a:pt x="4924697" y="9842"/>
                </a:lnTo>
                <a:lnTo>
                  <a:pt x="5114109" y="4749"/>
                </a:lnTo>
                <a:lnTo>
                  <a:pt x="5303520" y="0"/>
                </a:lnTo>
              </a:path>
            </a:pathLst>
          </a:custGeom>
          <a:ln w="31750">
            <a:solidFill>
              <a:srgbClr val="11998E"/>
            </a:solidFill>
            <a:prstDash val="solid"/>
          </a:ln>
        </p:spPr>
      </p:sp>
      <p:sp>
        <p:nvSpPr>
          <p:cNvPr id="28" name="!!dbHi"/>
          <p:cNvSpPr/>
          <p:nvPr/>
        </p:nvSpPr>
        <p:spPr>
          <a:xfrm>
            <a:off x="1188720" y="1999507"/>
            <a:ext cx="5303520" cy="2547800"/>
          </a:xfrm>
          <a:custGeom>
            <a:avLst/>
            <a:gdLst/>
            <a:ahLst/>
            <a:cxnLst/>
            <a:rect l="l" t="t" r="r" b="b"/>
            <a:pathLst>
              <a:path w="5303520" h="2547800">
                <a:moveTo>
                  <a:pt x="0" y="2547800"/>
                </a:moveTo>
                <a:lnTo>
                  <a:pt x="189411" y="2350859"/>
                </a:lnTo>
                <a:lnTo>
                  <a:pt x="378823" y="2149552"/>
                </a:lnTo>
                <a:lnTo>
                  <a:pt x="568234" y="1946980"/>
                </a:lnTo>
                <a:lnTo>
                  <a:pt x="757646" y="1744686"/>
                </a:lnTo>
                <a:lnTo>
                  <a:pt x="947057" y="1543844"/>
                </a:lnTo>
                <a:lnTo>
                  <a:pt x="1136469" y="1346076"/>
                </a:lnTo>
                <a:lnTo>
                  <a:pt x="1325880" y="1155751"/>
                </a:lnTo>
                <a:lnTo>
                  <a:pt x="1515291" y="978308"/>
                </a:lnTo>
                <a:lnTo>
                  <a:pt x="1704703" y="818101"/>
                </a:lnTo>
                <a:lnTo>
                  <a:pt x="1894114" y="678553"/>
                </a:lnTo>
                <a:lnTo>
                  <a:pt x="2083526" y="567032"/>
                </a:lnTo>
                <a:lnTo>
                  <a:pt x="2272937" y="483858"/>
                </a:lnTo>
                <a:lnTo>
                  <a:pt x="2462349" y="422131"/>
                </a:lnTo>
                <a:lnTo>
                  <a:pt x="2651760" y="371576"/>
                </a:lnTo>
                <a:lnTo>
                  <a:pt x="2841171" y="327357"/>
                </a:lnTo>
                <a:lnTo>
                  <a:pt x="3030583" y="287728"/>
                </a:lnTo>
                <a:lnTo>
                  <a:pt x="3219994" y="251835"/>
                </a:lnTo>
                <a:lnTo>
                  <a:pt x="3409406" y="219107"/>
                </a:lnTo>
                <a:lnTo>
                  <a:pt x="3598817" y="189119"/>
                </a:lnTo>
                <a:lnTo>
                  <a:pt x="3788229" y="161522"/>
                </a:lnTo>
                <a:lnTo>
                  <a:pt x="3977640" y="136033"/>
                </a:lnTo>
                <a:lnTo>
                  <a:pt x="4167051" y="112406"/>
                </a:lnTo>
                <a:lnTo>
                  <a:pt x="4356463" y="90435"/>
                </a:lnTo>
                <a:lnTo>
                  <a:pt x="4545874" y="69944"/>
                </a:lnTo>
                <a:lnTo>
                  <a:pt x="4735286" y="50779"/>
                </a:lnTo>
                <a:lnTo>
                  <a:pt x="4924697" y="32807"/>
                </a:lnTo>
                <a:lnTo>
                  <a:pt x="5114109" y="15914"/>
                </a:lnTo>
                <a:lnTo>
                  <a:pt x="5303520" y="0"/>
                </a:lnTo>
              </a:path>
            </a:pathLst>
          </a:custGeom>
          <a:ln w="31750">
            <a:solidFill>
              <a:srgbClr val="3E6AE1"/>
            </a:solidFill>
            <a:prstDash val="solid"/>
          </a:ln>
        </p:spPr>
      </p:sp>
      <p:sp>
        <p:nvSpPr>
          <p:cNvPr id="29" name="!!dbLoL"/>
          <p:cNvSpPr txBox="1"/>
          <p:nvPr/>
        </p:nvSpPr>
        <p:spPr>
          <a:xfrm>
            <a:off x="4370832" y="2496877"/>
            <a:ext cx="1188720" cy="219456"/>
          </a:xfrm>
          <a:prstGeom prst="rect">
            <a:avLst/>
          </a:prstGeom>
          <a:noFill/>
          <a:ln/>
        </p:spPr>
        <p:txBody>
          <a:bodyPr wrap="square" lIns="0" tIns="0" rIns="0" bIns="0" rtlCol="0" anchor="t"/>
          <a:lstStyle/>
          <a:p>
            <a:pPr algn="l" indent="0" marL="0">
              <a:buNone/>
            </a:pPr>
            <a:r>
              <a:rPr lang="en-US" sz="1100" dirty="0">
                <a:solidFill>
                  <a:srgbClr val="11998E"/>
                </a:solidFill>
                <a:latin typeface="Segoe UI Semibold" pitchFamily="34" charset="0"/>
                <a:ea typeface="Segoe UI Semibold" pitchFamily="34" charset="-122"/>
                <a:cs typeface="Segoe UI Semibold" pitchFamily="34" charset="-120"/>
              </a:rPr>
              <a:t>V</a:t>
            </a:r>
            <a:pPr algn="l" indent="0" marL="0">
              <a:buNone/>
            </a:pPr>
            <a:r>
              <a:rPr lang="en-US" sz="1100" baseline="-40000" dirty="0">
                <a:solidFill>
                  <a:srgbClr val="11998E"/>
                </a:solidFill>
                <a:latin typeface="Segoe UI Semibold" pitchFamily="34" charset="0"/>
                <a:ea typeface="Segoe UI Semibold" pitchFamily="34" charset="-122"/>
                <a:cs typeface="Segoe UI Semibold" pitchFamily="34" charset="-120"/>
              </a:rPr>
              <a:t>D</a:t>
            </a:r>
            <a:pPr algn="l" indent="0" marL="0">
              <a:buNone/>
            </a:pPr>
            <a:r>
              <a:rPr lang="en-US" sz="1100" dirty="0">
                <a:solidFill>
                  <a:srgbClr val="11998E"/>
                </a:solidFill>
                <a:latin typeface="Segoe UI Semibold" pitchFamily="34" charset="0"/>
                <a:ea typeface="Segoe UI Semibold" pitchFamily="34" charset="-122"/>
                <a:cs typeface="Segoe UI Semibold" pitchFamily="34" charset="-120"/>
              </a:rPr>
              <a:t> = 0.05 V</a:t>
            </a:r>
            <a:endParaRPr lang="en-US" sz="1100" dirty="0"/>
          </a:p>
        </p:txBody>
      </p:sp>
      <p:sp>
        <p:nvSpPr>
          <p:cNvPr id="30" name="!!dbHiL"/>
          <p:cNvSpPr txBox="1"/>
          <p:nvPr/>
        </p:nvSpPr>
        <p:spPr>
          <a:xfrm>
            <a:off x="4370832" y="1876798"/>
            <a:ext cx="1188720" cy="219456"/>
          </a:xfrm>
          <a:prstGeom prst="rect">
            <a:avLst/>
          </a:prstGeom>
          <a:noFill/>
          <a:ln/>
        </p:spPr>
        <p:txBody>
          <a:bodyPr wrap="square" lIns="0" tIns="0" rIns="0" bIns="0" rtlCol="0" anchor="t"/>
          <a:lstStyle/>
          <a:p>
            <a:pPr algn="l" indent="0" marL="0">
              <a:buNone/>
            </a:pPr>
            <a:r>
              <a:rPr lang="en-US" sz="1100" dirty="0">
                <a:solidFill>
                  <a:srgbClr val="3E6AE1"/>
                </a:solidFill>
                <a:latin typeface="Segoe UI Semibold" pitchFamily="34" charset="0"/>
                <a:ea typeface="Segoe UI Semibold" pitchFamily="34" charset="-122"/>
                <a:cs typeface="Segoe UI Semibold" pitchFamily="34" charset="-120"/>
              </a:rPr>
              <a:t>V</a:t>
            </a:r>
            <a:pPr algn="l" indent="0" marL="0">
              <a:buNone/>
            </a:pPr>
            <a:r>
              <a:rPr lang="en-US" sz="1100" baseline="-40000" dirty="0">
                <a:solidFill>
                  <a:srgbClr val="3E6AE1"/>
                </a:solidFill>
                <a:latin typeface="Segoe UI Semibold" pitchFamily="34" charset="0"/>
                <a:ea typeface="Segoe UI Semibold" pitchFamily="34" charset="-122"/>
                <a:cs typeface="Segoe UI Semibold" pitchFamily="34" charset="-120"/>
              </a:rPr>
              <a:t>D</a:t>
            </a:r>
            <a:pPr algn="l" indent="0" marL="0">
              <a:buNone/>
            </a:pPr>
            <a:r>
              <a:rPr lang="en-US" sz="1100" dirty="0">
                <a:solidFill>
                  <a:srgbClr val="3E6AE1"/>
                </a:solidFill>
                <a:latin typeface="Segoe UI Semibold" pitchFamily="34" charset="0"/>
                <a:ea typeface="Segoe UI Semibold" pitchFamily="34" charset="-122"/>
                <a:cs typeface="Segoe UI Semibold" pitchFamily="34" charset="-120"/>
              </a:rPr>
              <a:t> = 0.7 V</a:t>
            </a:r>
            <a:endParaRPr lang="en-US" sz="1100" dirty="0"/>
          </a:p>
        </p:txBody>
      </p:sp>
      <p:sp>
        <p:nvSpPr>
          <p:cNvPr id="31" name="!!dbK0"/>
          <p:cNvSpPr/>
          <p:nvPr/>
        </p:nvSpPr>
        <p:spPr>
          <a:xfrm>
            <a:off x="7040880" y="1645920"/>
            <a:ext cx="4599432" cy="868680"/>
          </a:xfrm>
          <a:prstGeom prst="roundRect">
            <a:avLst>
              <a:gd name="adj" fmla="val 6316"/>
            </a:avLst>
          </a:prstGeom>
          <a:solidFill>
            <a:srgbClr val="F4F5F7"/>
          </a:solidFill>
          <a:ln/>
        </p:spPr>
      </p:sp>
      <p:sp>
        <p:nvSpPr>
          <p:cNvPr id="32" name="!!dbKh0"/>
          <p:cNvSpPr txBox="1"/>
          <p:nvPr/>
        </p:nvSpPr>
        <p:spPr>
          <a:xfrm>
            <a:off x="7269480" y="1755648"/>
            <a:ext cx="4206240" cy="274320"/>
          </a:xfrm>
          <a:prstGeom prst="rect">
            <a:avLst/>
          </a:prstGeom>
          <a:noFill/>
          <a:ln/>
        </p:spPr>
        <p:txBody>
          <a:bodyPr wrap="square" lIns="0" tIns="0" rIns="0" bIns="0" rtlCol="0" anchor="t"/>
          <a:lstStyle/>
          <a:p>
            <a:pPr algn="l" indent="0" marL="0">
              <a:buNone/>
            </a:pPr>
            <a:r>
              <a:rPr lang="en-US" sz="1500" dirty="0">
                <a:solidFill>
                  <a:srgbClr val="6B5BC4"/>
                </a:solidFill>
                <a:latin typeface="Segoe UI Semibold" pitchFamily="34" charset="0"/>
                <a:ea typeface="Segoe UI Semibold" pitchFamily="34" charset="-122"/>
                <a:cs typeface="Segoe UI Semibold" pitchFamily="34" charset="-120"/>
              </a:rPr>
              <a:t>Two drain voltages</a:t>
            </a:r>
            <a:endParaRPr lang="en-US" sz="1500" dirty="0"/>
          </a:p>
        </p:txBody>
      </p:sp>
      <p:sp>
        <p:nvSpPr>
          <p:cNvPr id="33" name="!!dbKb0"/>
          <p:cNvSpPr txBox="1"/>
          <p:nvPr/>
        </p:nvSpPr>
        <p:spPr>
          <a:xfrm>
            <a:off x="7269480" y="2057400"/>
            <a:ext cx="4206240" cy="6400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Same device, two transfer curves: V</a:t>
            </a:r>
            <a:pPr algn="l" indent="0" marL="0">
              <a:buNone/>
            </a:pPr>
            <a:r>
              <a:rPr lang="en-US" sz="1200" baseline="-40000" dirty="0">
                <a:solidFill>
                  <a:srgbClr val="5C5E62"/>
                </a:solidFill>
                <a:latin typeface="Segoe UI" pitchFamily="34" charset="0"/>
                <a:ea typeface="Segoe UI" pitchFamily="34" charset="-122"/>
                <a:cs typeface="Segoe UI" pitchFamily="34" charset="-120"/>
              </a:rPr>
              <a:t>D</a:t>
            </a:r>
            <a:pPr algn="l" indent="0" marL="0">
              <a:buNone/>
            </a:pPr>
            <a:r>
              <a:rPr lang="en-US" sz="1200" dirty="0">
                <a:solidFill>
                  <a:srgbClr val="5C5E62"/>
                </a:solidFill>
                <a:latin typeface="Segoe UI" pitchFamily="34" charset="0"/>
                <a:ea typeface="Segoe UI" pitchFamily="34" charset="-122"/>
                <a:cs typeface="Segoe UI" pitchFamily="34" charset="-120"/>
              </a:rPr>
              <a:t> = 0.05 V and 0.7 V.</a:t>
            </a:r>
            <a:endParaRPr lang="en-US" sz="1200" dirty="0"/>
          </a:p>
        </p:txBody>
      </p:sp>
      <p:sp>
        <p:nvSpPr>
          <p:cNvPr id="34"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DIBL = shift ÷ ΔV</a:t>
            </a:r>
            <a:pPr algn="ctr" indent="0" marL="0">
              <a:buNone/>
            </a:pPr>
            <a:r>
              <a:rPr lang="en-US" sz="1600" baseline="-40000" dirty="0">
                <a:solidFill>
                  <a:srgbClr val="171A20"/>
                </a:solidFill>
                <a:latin typeface="Segoe UI" pitchFamily="34" charset="0"/>
                <a:ea typeface="Segoe UI" pitchFamily="34" charset="-122"/>
                <a:cs typeface="Segoe UI" pitchFamily="34" charset="-120"/>
              </a:rPr>
              <a:t>D</a:t>
            </a:r>
            <a:pPr algn="ctr" indent="0" marL="0">
              <a:buNone/>
            </a:pPr>
            <a:r>
              <a:rPr lang="en-US" sz="1600" dirty="0">
                <a:solidFill>
                  <a:srgbClr val="171A20"/>
                </a:solidFill>
                <a:latin typeface="Segoe UI" pitchFamily="34" charset="0"/>
                <a:ea typeface="Segoe UI" pitchFamily="34" charset="-122"/>
                <a:cs typeface="Segoe UI" pitchFamily="34" charset="-120"/>
              </a:rPr>
              <a:t>: a small number means the gate, not the drain, is in charge.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77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Measuring DIBL on our data</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Raise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from 0.05 V to 0.7 V: the whole curve shifts left</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171A20"/>
          </a:solidFill>
          <a:ln/>
        </p:spPr>
      </p:sp>
      <p:sp>
        <p:nvSpPr>
          <p:cNvPr id="6" name="!!sdot2"/>
          <p:cNvSpPr/>
          <p:nvPr/>
        </p:nvSpPr>
        <p:spPr>
          <a:xfrm>
            <a:off x="11599164" y="525780"/>
            <a:ext cx="82296" cy="82296"/>
          </a:xfrm>
          <a:prstGeom prst="ellipse">
            <a:avLst/>
          </a:prstGeom>
          <a:solidFill>
            <a:srgbClr val="E2E3E3"/>
          </a:solidFill>
          <a:ln/>
        </p:spPr>
      </p:sp>
      <p:sp>
        <p:nvSpPr>
          <p:cNvPr id="7" name="!!axg0"/>
          <p:cNvSpPr/>
          <p:nvPr/>
        </p:nvSpPr>
        <p:spPr>
          <a:xfrm>
            <a:off x="1188720" y="4983480"/>
            <a:ext cx="5303520" cy="91"/>
          </a:xfrm>
          <a:prstGeom prst="line">
            <a:avLst/>
          </a:prstGeom>
          <a:noFill/>
          <a:ln w="9525">
            <a:solidFill>
              <a:srgbClr val="EDEEF0"/>
            </a:solidFill>
            <a:prstDash val="solid"/>
          </a:ln>
        </p:spPr>
      </p:sp>
      <p:sp>
        <p:nvSpPr>
          <p:cNvPr id="8" name="!!axg1"/>
          <p:cNvSpPr/>
          <p:nvPr/>
        </p:nvSpPr>
        <p:spPr>
          <a:xfrm>
            <a:off x="1188720" y="3886200"/>
            <a:ext cx="5303520" cy="91"/>
          </a:xfrm>
          <a:prstGeom prst="line">
            <a:avLst/>
          </a:prstGeom>
          <a:noFill/>
          <a:ln w="9525">
            <a:solidFill>
              <a:srgbClr val="EDEEF0"/>
            </a:solidFill>
            <a:prstDash val="solid"/>
          </a:ln>
        </p:spPr>
      </p:sp>
      <p:sp>
        <p:nvSpPr>
          <p:cNvPr id="9" name="!!axg2"/>
          <p:cNvSpPr/>
          <p:nvPr/>
        </p:nvSpPr>
        <p:spPr>
          <a:xfrm>
            <a:off x="1188720" y="2788920"/>
            <a:ext cx="5303520" cy="91"/>
          </a:xfrm>
          <a:prstGeom prst="line">
            <a:avLst/>
          </a:prstGeom>
          <a:noFill/>
          <a:ln w="9525">
            <a:solidFill>
              <a:srgbClr val="EDEEF0"/>
            </a:solidFill>
            <a:prstDash val="solid"/>
          </a:ln>
        </p:spPr>
      </p:sp>
      <p:sp>
        <p:nvSpPr>
          <p:cNvPr id="10" name="!!axg3"/>
          <p:cNvSpPr/>
          <p:nvPr/>
        </p:nvSpPr>
        <p:spPr>
          <a:xfrm>
            <a:off x="1188720" y="1691640"/>
            <a:ext cx="5303520" cy="91"/>
          </a:xfrm>
          <a:prstGeom prst="line">
            <a:avLst/>
          </a:prstGeom>
          <a:noFill/>
          <a:ln w="9525">
            <a:solidFill>
              <a:srgbClr val="EDEEF0"/>
            </a:solidFill>
            <a:prstDash val="solid"/>
          </a:ln>
        </p:spPr>
      </p:sp>
      <p:sp>
        <p:nvSpPr>
          <p:cNvPr id="11" name="!!axxa"/>
          <p:cNvSpPr/>
          <p:nvPr/>
        </p:nvSpPr>
        <p:spPr>
          <a:xfrm>
            <a:off x="1188720" y="4983480"/>
            <a:ext cx="5303520" cy="91"/>
          </a:xfrm>
          <a:prstGeom prst="line">
            <a:avLst/>
          </a:prstGeom>
          <a:noFill/>
          <a:ln w="12700">
            <a:solidFill>
              <a:srgbClr val="8A8D93"/>
            </a:solidFill>
            <a:prstDash val="solid"/>
          </a:ln>
        </p:spPr>
      </p:sp>
      <p:sp>
        <p:nvSpPr>
          <p:cNvPr id="12" name="!!axya"/>
          <p:cNvSpPr/>
          <p:nvPr/>
        </p:nvSpPr>
        <p:spPr>
          <a:xfrm>
            <a:off x="1188720" y="1691640"/>
            <a:ext cx="91" cy="3291840"/>
          </a:xfrm>
          <a:prstGeom prst="line">
            <a:avLst/>
          </a:prstGeom>
          <a:noFill/>
          <a:ln w="12700">
            <a:solidFill>
              <a:srgbClr val="8A8D93"/>
            </a:solidFill>
            <a:prstDash val="solid"/>
          </a:ln>
        </p:spPr>
      </p:sp>
      <p:sp>
        <p:nvSpPr>
          <p:cNvPr id="13" name="!!axxt0"/>
          <p:cNvSpPr txBox="1"/>
          <p:nvPr/>
        </p:nvSpPr>
        <p:spPr>
          <a:xfrm>
            <a:off x="86868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14" name="!!axxt1"/>
          <p:cNvSpPr txBox="1"/>
          <p:nvPr/>
        </p:nvSpPr>
        <p:spPr>
          <a:xfrm>
            <a:off x="1626326"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15" name="!!axxt2"/>
          <p:cNvSpPr txBox="1"/>
          <p:nvPr/>
        </p:nvSpPr>
        <p:spPr>
          <a:xfrm>
            <a:off x="2383971"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16" name="!!axxt3"/>
          <p:cNvSpPr txBox="1"/>
          <p:nvPr/>
        </p:nvSpPr>
        <p:spPr>
          <a:xfrm>
            <a:off x="3141617"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17" name="!!axxt4"/>
          <p:cNvSpPr txBox="1"/>
          <p:nvPr/>
        </p:nvSpPr>
        <p:spPr>
          <a:xfrm>
            <a:off x="3899263"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18" name="!!axxt5"/>
          <p:cNvSpPr txBox="1"/>
          <p:nvPr/>
        </p:nvSpPr>
        <p:spPr>
          <a:xfrm>
            <a:off x="4656909"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0.5</a:t>
            </a:r>
            <a:endParaRPr lang="en-US" sz="900" dirty="0"/>
          </a:p>
        </p:txBody>
      </p:sp>
      <p:sp>
        <p:nvSpPr>
          <p:cNvPr id="19" name="!!axxt6"/>
          <p:cNvSpPr txBox="1"/>
          <p:nvPr/>
        </p:nvSpPr>
        <p:spPr>
          <a:xfrm>
            <a:off x="5414554"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20" name="!!axxt7"/>
          <p:cNvSpPr txBox="1"/>
          <p:nvPr/>
        </p:nvSpPr>
        <p:spPr>
          <a:xfrm>
            <a:off x="617220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0.7</a:t>
            </a:r>
            <a:endParaRPr lang="en-US" sz="900" dirty="0"/>
          </a:p>
        </p:txBody>
      </p:sp>
      <p:sp>
        <p:nvSpPr>
          <p:cNvPr id="21" name="!!axyt0"/>
          <p:cNvSpPr txBox="1"/>
          <p:nvPr/>
        </p:nvSpPr>
        <p:spPr>
          <a:xfrm>
            <a:off x="502920" y="48828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22" name="!!axyt1"/>
          <p:cNvSpPr txBox="1"/>
          <p:nvPr/>
        </p:nvSpPr>
        <p:spPr>
          <a:xfrm>
            <a:off x="502920" y="37856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23" name="!!axyt2"/>
          <p:cNvSpPr txBox="1"/>
          <p:nvPr/>
        </p:nvSpPr>
        <p:spPr>
          <a:xfrm>
            <a:off x="502920" y="2688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24" name="!!axyt3"/>
          <p:cNvSpPr txBox="1"/>
          <p:nvPr/>
        </p:nvSpPr>
        <p:spPr>
          <a:xfrm>
            <a:off x="50292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25" name="!!axxl"/>
          <p:cNvSpPr txBox="1"/>
          <p:nvPr/>
        </p:nvSpPr>
        <p:spPr>
          <a:xfrm>
            <a:off x="1188720" y="5257800"/>
            <a:ext cx="530352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26" name="!!axyl"/>
          <p:cNvSpPr txBox="1"/>
          <p:nvPr/>
        </p:nvSpPr>
        <p:spPr>
          <a:xfrm>
            <a:off x="100584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a:t>
            </a:r>
            <a:endParaRPr lang="en-US" sz="1100" dirty="0"/>
          </a:p>
        </p:txBody>
      </p:sp>
      <p:sp>
        <p:nvSpPr>
          <p:cNvPr id="27" name="!!dbLo"/>
          <p:cNvSpPr/>
          <p:nvPr/>
        </p:nvSpPr>
        <p:spPr>
          <a:xfrm>
            <a:off x="1188720" y="2317331"/>
            <a:ext cx="5303520" cy="2459444"/>
          </a:xfrm>
          <a:custGeom>
            <a:avLst/>
            <a:gdLst/>
            <a:ahLst/>
            <a:cxnLst/>
            <a:rect l="l" t="t" r="r" b="b"/>
            <a:pathLst>
              <a:path w="5303520" h="2459444">
                <a:moveTo>
                  <a:pt x="0" y="2459444"/>
                </a:moveTo>
                <a:lnTo>
                  <a:pt x="189411" y="2249580"/>
                </a:lnTo>
                <a:lnTo>
                  <a:pt x="378823" y="2040503"/>
                </a:lnTo>
                <a:lnTo>
                  <a:pt x="568234" y="1832362"/>
                </a:lnTo>
                <a:lnTo>
                  <a:pt x="757646" y="1625352"/>
                </a:lnTo>
                <a:lnTo>
                  <a:pt x="947057" y="1419770"/>
                </a:lnTo>
                <a:lnTo>
                  <a:pt x="1136469" y="1216191"/>
                </a:lnTo>
                <a:lnTo>
                  <a:pt x="1325880" y="1015831"/>
                </a:lnTo>
                <a:lnTo>
                  <a:pt x="1515291" y="821149"/>
                </a:lnTo>
                <a:lnTo>
                  <a:pt x="1704703" y="636142"/>
                </a:lnTo>
                <a:lnTo>
                  <a:pt x="1894114" y="467870"/>
                </a:lnTo>
                <a:lnTo>
                  <a:pt x="2083526" y="332511"/>
                </a:lnTo>
                <a:lnTo>
                  <a:pt x="2272937" y="228666"/>
                </a:lnTo>
                <a:lnTo>
                  <a:pt x="2462349" y="160440"/>
                </a:lnTo>
                <a:lnTo>
                  <a:pt x="2651760" y="125186"/>
                </a:lnTo>
                <a:lnTo>
                  <a:pt x="2841171" y="106798"/>
                </a:lnTo>
                <a:lnTo>
                  <a:pt x="3030583" y="92886"/>
                </a:lnTo>
                <a:lnTo>
                  <a:pt x="3219994" y="80697"/>
                </a:lnTo>
                <a:lnTo>
                  <a:pt x="3409406" y="69685"/>
                </a:lnTo>
                <a:lnTo>
                  <a:pt x="3598817" y="59676"/>
                </a:lnTo>
                <a:lnTo>
                  <a:pt x="3788229" y="50556"/>
                </a:lnTo>
                <a:lnTo>
                  <a:pt x="3977640" y="42240"/>
                </a:lnTo>
                <a:lnTo>
                  <a:pt x="4167051" y="34636"/>
                </a:lnTo>
                <a:lnTo>
                  <a:pt x="4356463" y="27664"/>
                </a:lnTo>
                <a:lnTo>
                  <a:pt x="4545874" y="21248"/>
                </a:lnTo>
                <a:lnTo>
                  <a:pt x="4735286" y="15327"/>
                </a:lnTo>
                <a:lnTo>
                  <a:pt x="4924697" y="9842"/>
                </a:lnTo>
                <a:lnTo>
                  <a:pt x="5114109" y="4749"/>
                </a:lnTo>
                <a:lnTo>
                  <a:pt x="5303520" y="0"/>
                </a:lnTo>
              </a:path>
            </a:pathLst>
          </a:custGeom>
          <a:ln w="31750">
            <a:solidFill>
              <a:srgbClr val="11998E"/>
            </a:solidFill>
            <a:prstDash val="solid"/>
          </a:ln>
        </p:spPr>
      </p:sp>
      <p:sp>
        <p:nvSpPr>
          <p:cNvPr id="28" name="!!dbHi"/>
          <p:cNvSpPr/>
          <p:nvPr/>
        </p:nvSpPr>
        <p:spPr>
          <a:xfrm>
            <a:off x="1188720" y="1999507"/>
            <a:ext cx="5303520" cy="2547800"/>
          </a:xfrm>
          <a:custGeom>
            <a:avLst/>
            <a:gdLst/>
            <a:ahLst/>
            <a:cxnLst/>
            <a:rect l="l" t="t" r="r" b="b"/>
            <a:pathLst>
              <a:path w="5303520" h="2547800">
                <a:moveTo>
                  <a:pt x="0" y="2547800"/>
                </a:moveTo>
                <a:lnTo>
                  <a:pt x="189411" y="2350859"/>
                </a:lnTo>
                <a:lnTo>
                  <a:pt x="378823" y="2149552"/>
                </a:lnTo>
                <a:lnTo>
                  <a:pt x="568234" y="1946980"/>
                </a:lnTo>
                <a:lnTo>
                  <a:pt x="757646" y="1744686"/>
                </a:lnTo>
                <a:lnTo>
                  <a:pt x="947057" y="1543844"/>
                </a:lnTo>
                <a:lnTo>
                  <a:pt x="1136469" y="1346076"/>
                </a:lnTo>
                <a:lnTo>
                  <a:pt x="1325880" y="1155751"/>
                </a:lnTo>
                <a:lnTo>
                  <a:pt x="1515291" y="978308"/>
                </a:lnTo>
                <a:lnTo>
                  <a:pt x="1704703" y="818101"/>
                </a:lnTo>
                <a:lnTo>
                  <a:pt x="1894114" y="678553"/>
                </a:lnTo>
                <a:lnTo>
                  <a:pt x="2083526" y="567032"/>
                </a:lnTo>
                <a:lnTo>
                  <a:pt x="2272937" y="483858"/>
                </a:lnTo>
                <a:lnTo>
                  <a:pt x="2462349" y="422131"/>
                </a:lnTo>
                <a:lnTo>
                  <a:pt x="2651760" y="371576"/>
                </a:lnTo>
                <a:lnTo>
                  <a:pt x="2841171" y="327357"/>
                </a:lnTo>
                <a:lnTo>
                  <a:pt x="3030583" y="287728"/>
                </a:lnTo>
                <a:lnTo>
                  <a:pt x="3219994" y="251835"/>
                </a:lnTo>
                <a:lnTo>
                  <a:pt x="3409406" y="219107"/>
                </a:lnTo>
                <a:lnTo>
                  <a:pt x="3598817" y="189119"/>
                </a:lnTo>
                <a:lnTo>
                  <a:pt x="3788229" y="161522"/>
                </a:lnTo>
                <a:lnTo>
                  <a:pt x="3977640" y="136033"/>
                </a:lnTo>
                <a:lnTo>
                  <a:pt x="4167051" y="112406"/>
                </a:lnTo>
                <a:lnTo>
                  <a:pt x="4356463" y="90435"/>
                </a:lnTo>
                <a:lnTo>
                  <a:pt x="4545874" y="69944"/>
                </a:lnTo>
                <a:lnTo>
                  <a:pt x="4735286" y="50779"/>
                </a:lnTo>
                <a:lnTo>
                  <a:pt x="4924697" y="32807"/>
                </a:lnTo>
                <a:lnTo>
                  <a:pt x="5114109" y="15914"/>
                </a:lnTo>
                <a:lnTo>
                  <a:pt x="5303520" y="0"/>
                </a:lnTo>
              </a:path>
            </a:pathLst>
          </a:custGeom>
          <a:ln w="31750">
            <a:solidFill>
              <a:srgbClr val="3E6AE1"/>
            </a:solidFill>
            <a:prstDash val="solid"/>
          </a:ln>
        </p:spPr>
      </p:sp>
      <p:sp>
        <p:nvSpPr>
          <p:cNvPr id="29" name="!!dbLoL"/>
          <p:cNvSpPr txBox="1"/>
          <p:nvPr/>
        </p:nvSpPr>
        <p:spPr>
          <a:xfrm>
            <a:off x="4370832" y="2496877"/>
            <a:ext cx="1188720" cy="219456"/>
          </a:xfrm>
          <a:prstGeom prst="rect">
            <a:avLst/>
          </a:prstGeom>
          <a:noFill/>
          <a:ln/>
        </p:spPr>
        <p:txBody>
          <a:bodyPr wrap="square" lIns="0" tIns="0" rIns="0" bIns="0" rtlCol="0" anchor="t"/>
          <a:lstStyle/>
          <a:p>
            <a:pPr algn="l" indent="0" marL="0">
              <a:buNone/>
            </a:pPr>
            <a:r>
              <a:rPr lang="en-US" sz="1100" dirty="0">
                <a:solidFill>
                  <a:srgbClr val="11998E"/>
                </a:solidFill>
                <a:latin typeface="Segoe UI Semibold" pitchFamily="34" charset="0"/>
                <a:ea typeface="Segoe UI Semibold" pitchFamily="34" charset="-122"/>
                <a:cs typeface="Segoe UI Semibold" pitchFamily="34" charset="-120"/>
              </a:rPr>
              <a:t>V</a:t>
            </a:r>
            <a:pPr algn="l" indent="0" marL="0">
              <a:buNone/>
            </a:pPr>
            <a:r>
              <a:rPr lang="en-US" sz="1100" baseline="-40000" dirty="0">
                <a:solidFill>
                  <a:srgbClr val="11998E"/>
                </a:solidFill>
                <a:latin typeface="Segoe UI Semibold" pitchFamily="34" charset="0"/>
                <a:ea typeface="Segoe UI Semibold" pitchFamily="34" charset="-122"/>
                <a:cs typeface="Segoe UI Semibold" pitchFamily="34" charset="-120"/>
              </a:rPr>
              <a:t>D</a:t>
            </a:r>
            <a:pPr algn="l" indent="0" marL="0">
              <a:buNone/>
            </a:pPr>
            <a:r>
              <a:rPr lang="en-US" sz="1100" dirty="0">
                <a:solidFill>
                  <a:srgbClr val="11998E"/>
                </a:solidFill>
                <a:latin typeface="Segoe UI Semibold" pitchFamily="34" charset="0"/>
                <a:ea typeface="Segoe UI Semibold" pitchFamily="34" charset="-122"/>
                <a:cs typeface="Segoe UI Semibold" pitchFamily="34" charset="-120"/>
              </a:rPr>
              <a:t> = 0.05 V</a:t>
            </a:r>
            <a:endParaRPr lang="en-US" sz="1100" dirty="0"/>
          </a:p>
        </p:txBody>
      </p:sp>
      <p:sp>
        <p:nvSpPr>
          <p:cNvPr id="30" name="!!dbHiL"/>
          <p:cNvSpPr txBox="1"/>
          <p:nvPr/>
        </p:nvSpPr>
        <p:spPr>
          <a:xfrm>
            <a:off x="4370832" y="1876798"/>
            <a:ext cx="1188720" cy="219456"/>
          </a:xfrm>
          <a:prstGeom prst="rect">
            <a:avLst/>
          </a:prstGeom>
          <a:noFill/>
          <a:ln/>
        </p:spPr>
        <p:txBody>
          <a:bodyPr wrap="square" lIns="0" tIns="0" rIns="0" bIns="0" rtlCol="0" anchor="t"/>
          <a:lstStyle/>
          <a:p>
            <a:pPr algn="l" indent="0" marL="0">
              <a:buNone/>
            </a:pPr>
            <a:r>
              <a:rPr lang="en-US" sz="1100" dirty="0">
                <a:solidFill>
                  <a:srgbClr val="3E6AE1"/>
                </a:solidFill>
                <a:latin typeface="Segoe UI Semibold" pitchFamily="34" charset="0"/>
                <a:ea typeface="Segoe UI Semibold" pitchFamily="34" charset="-122"/>
                <a:cs typeface="Segoe UI Semibold" pitchFamily="34" charset="-120"/>
              </a:rPr>
              <a:t>V</a:t>
            </a:r>
            <a:pPr algn="l" indent="0" marL="0">
              <a:buNone/>
            </a:pPr>
            <a:r>
              <a:rPr lang="en-US" sz="1100" baseline="-40000" dirty="0">
                <a:solidFill>
                  <a:srgbClr val="3E6AE1"/>
                </a:solidFill>
                <a:latin typeface="Segoe UI Semibold" pitchFamily="34" charset="0"/>
                <a:ea typeface="Segoe UI Semibold" pitchFamily="34" charset="-122"/>
                <a:cs typeface="Segoe UI Semibold" pitchFamily="34" charset="-120"/>
              </a:rPr>
              <a:t>D</a:t>
            </a:r>
            <a:pPr algn="l" indent="0" marL="0">
              <a:buNone/>
            </a:pPr>
            <a:r>
              <a:rPr lang="en-US" sz="1100" dirty="0">
                <a:solidFill>
                  <a:srgbClr val="3E6AE1"/>
                </a:solidFill>
                <a:latin typeface="Segoe UI Semibold" pitchFamily="34" charset="0"/>
                <a:ea typeface="Segoe UI Semibold" pitchFamily="34" charset="-122"/>
                <a:cs typeface="Segoe UI Semibold" pitchFamily="34" charset="-120"/>
              </a:rPr>
              <a:t> = 0.7 V</a:t>
            </a:r>
            <a:endParaRPr lang="en-US" sz="1100" dirty="0"/>
          </a:p>
        </p:txBody>
      </p:sp>
      <p:sp>
        <p:nvSpPr>
          <p:cNvPr id="31" name="!!dbI"/>
          <p:cNvSpPr/>
          <p:nvPr/>
        </p:nvSpPr>
        <p:spPr>
          <a:xfrm>
            <a:off x="1188720" y="3886200"/>
            <a:ext cx="5303520" cy="91"/>
          </a:xfrm>
          <a:prstGeom prst="line">
            <a:avLst/>
          </a:prstGeom>
          <a:noFill/>
          <a:ln w="12700">
            <a:solidFill>
              <a:srgbClr val="6B5BC4"/>
            </a:solidFill>
            <a:prstDash val="dash"/>
          </a:ln>
        </p:spPr>
      </p:sp>
      <p:sp>
        <p:nvSpPr>
          <p:cNvPr id="32" name="!!dbIL"/>
          <p:cNvSpPr txBox="1"/>
          <p:nvPr/>
        </p:nvSpPr>
        <p:spPr>
          <a:xfrm>
            <a:off x="5355771" y="3630168"/>
            <a:ext cx="914400" cy="201168"/>
          </a:xfrm>
          <a:prstGeom prst="rect">
            <a:avLst/>
          </a:prstGeom>
          <a:noFill/>
          <a:ln/>
        </p:spPr>
        <p:txBody>
          <a:bodyPr wrap="square" lIns="0" tIns="0" rIns="0" bIns="0" rtlCol="0" anchor="t"/>
          <a:lstStyle/>
          <a:p>
            <a:pPr algn="l" indent="0" marL="0">
              <a:buNone/>
            </a:pPr>
            <a:r>
              <a:rPr lang="en-US" sz="1000" dirty="0">
                <a:solidFill>
                  <a:srgbClr val="6B5BC4"/>
                </a:solidFill>
                <a:latin typeface="Segoe UI Semibold" pitchFamily="34" charset="0"/>
                <a:ea typeface="Segoe UI Semibold" pitchFamily="34" charset="-122"/>
                <a:cs typeface="Segoe UI Semibold" pitchFamily="34" charset="-120"/>
              </a:rPr>
              <a:t>I = 10 nA</a:t>
            </a:r>
            <a:endParaRPr lang="en-US" sz="1000" dirty="0"/>
          </a:p>
        </p:txBody>
      </p:sp>
      <p:sp>
        <p:nvSpPr>
          <p:cNvPr id="33" name="!!dbK0"/>
          <p:cNvSpPr/>
          <p:nvPr/>
        </p:nvSpPr>
        <p:spPr>
          <a:xfrm>
            <a:off x="7040880" y="1645920"/>
            <a:ext cx="4599432" cy="868680"/>
          </a:xfrm>
          <a:prstGeom prst="roundRect">
            <a:avLst>
              <a:gd name="adj" fmla="val 6316"/>
            </a:avLst>
          </a:prstGeom>
          <a:solidFill>
            <a:srgbClr val="F4F5F7"/>
          </a:solidFill>
          <a:ln/>
        </p:spPr>
      </p:sp>
      <p:sp>
        <p:nvSpPr>
          <p:cNvPr id="34" name="!!dbKh0"/>
          <p:cNvSpPr txBox="1"/>
          <p:nvPr/>
        </p:nvSpPr>
        <p:spPr>
          <a:xfrm>
            <a:off x="7269480" y="1755648"/>
            <a:ext cx="4206240" cy="274320"/>
          </a:xfrm>
          <a:prstGeom prst="rect">
            <a:avLst/>
          </a:prstGeom>
          <a:noFill/>
          <a:ln/>
        </p:spPr>
        <p:txBody>
          <a:bodyPr wrap="square" lIns="0" tIns="0" rIns="0" bIns="0" rtlCol="0" anchor="t"/>
          <a:lstStyle/>
          <a:p>
            <a:pPr algn="l" indent="0" marL="0">
              <a:buNone/>
            </a:pPr>
            <a:r>
              <a:rPr lang="en-US" sz="1500" dirty="0">
                <a:solidFill>
                  <a:srgbClr val="6B5BC4"/>
                </a:solidFill>
                <a:latin typeface="Segoe UI Semibold" pitchFamily="34" charset="0"/>
                <a:ea typeface="Segoe UI Semibold" pitchFamily="34" charset="-122"/>
                <a:cs typeface="Segoe UI Semibold" pitchFamily="34" charset="-120"/>
              </a:rPr>
              <a:t>Two drain voltages</a:t>
            </a:r>
            <a:endParaRPr lang="en-US" sz="1500" dirty="0"/>
          </a:p>
        </p:txBody>
      </p:sp>
      <p:sp>
        <p:nvSpPr>
          <p:cNvPr id="35" name="!!dbKb0"/>
          <p:cNvSpPr txBox="1"/>
          <p:nvPr/>
        </p:nvSpPr>
        <p:spPr>
          <a:xfrm>
            <a:off x="7269480" y="2057400"/>
            <a:ext cx="4206240" cy="6400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Same device, two transfer curves: V</a:t>
            </a:r>
            <a:pPr algn="l" indent="0" marL="0">
              <a:buNone/>
            </a:pPr>
            <a:r>
              <a:rPr lang="en-US" sz="1200" baseline="-40000" dirty="0">
                <a:solidFill>
                  <a:srgbClr val="5C5E62"/>
                </a:solidFill>
                <a:latin typeface="Segoe UI" pitchFamily="34" charset="0"/>
                <a:ea typeface="Segoe UI" pitchFamily="34" charset="-122"/>
                <a:cs typeface="Segoe UI" pitchFamily="34" charset="-120"/>
              </a:rPr>
              <a:t>D</a:t>
            </a:r>
            <a:pPr algn="l" indent="0" marL="0">
              <a:buNone/>
            </a:pPr>
            <a:r>
              <a:rPr lang="en-US" sz="1200" dirty="0">
                <a:solidFill>
                  <a:srgbClr val="5C5E62"/>
                </a:solidFill>
                <a:latin typeface="Segoe UI" pitchFamily="34" charset="0"/>
                <a:ea typeface="Segoe UI" pitchFamily="34" charset="-122"/>
                <a:cs typeface="Segoe UI" pitchFamily="34" charset="-120"/>
              </a:rPr>
              <a:t> = 0.05 V and 0.7 V.</a:t>
            </a:r>
            <a:endParaRPr lang="en-US" sz="1200" dirty="0"/>
          </a:p>
        </p:txBody>
      </p:sp>
      <p:sp>
        <p:nvSpPr>
          <p:cNvPr id="36" name="!!dbK1"/>
          <p:cNvSpPr/>
          <p:nvPr/>
        </p:nvSpPr>
        <p:spPr>
          <a:xfrm>
            <a:off x="7040880" y="2697480"/>
            <a:ext cx="4599432" cy="868680"/>
          </a:xfrm>
          <a:prstGeom prst="roundRect">
            <a:avLst>
              <a:gd name="adj" fmla="val 6316"/>
            </a:avLst>
          </a:prstGeom>
          <a:solidFill>
            <a:srgbClr val="F4F5F7"/>
          </a:solidFill>
          <a:ln/>
        </p:spPr>
      </p:sp>
      <p:sp>
        <p:nvSpPr>
          <p:cNvPr id="37" name="!!dbKh1"/>
          <p:cNvSpPr txBox="1"/>
          <p:nvPr/>
        </p:nvSpPr>
        <p:spPr>
          <a:xfrm>
            <a:off x="7269480" y="2807208"/>
            <a:ext cx="4206240" cy="274320"/>
          </a:xfrm>
          <a:prstGeom prst="rect">
            <a:avLst/>
          </a:prstGeom>
          <a:noFill/>
          <a:ln/>
        </p:spPr>
        <p:txBody>
          <a:bodyPr wrap="square" lIns="0" tIns="0" rIns="0" bIns="0" rtlCol="0" anchor="t"/>
          <a:lstStyle/>
          <a:p>
            <a:pPr algn="l" indent="0" marL="0">
              <a:buNone/>
            </a:pPr>
            <a:r>
              <a:rPr lang="en-US" sz="1500" dirty="0">
                <a:solidFill>
                  <a:srgbClr val="6B5BC4"/>
                </a:solidFill>
                <a:latin typeface="Segoe UI Semibold" pitchFamily="34" charset="0"/>
                <a:ea typeface="Segoe UI Semibold" pitchFamily="34" charset="-122"/>
                <a:cs typeface="Segoe UI Semibold" pitchFamily="34" charset="-120"/>
              </a:rPr>
              <a:t>Pick one current</a:t>
            </a:r>
            <a:endParaRPr lang="en-US" sz="1500" dirty="0"/>
          </a:p>
        </p:txBody>
      </p:sp>
      <p:sp>
        <p:nvSpPr>
          <p:cNvPr id="38" name="!!dbKb1"/>
          <p:cNvSpPr txBox="1"/>
          <p:nvPr/>
        </p:nvSpPr>
        <p:spPr>
          <a:xfrm>
            <a:off x="7269480" y="3108960"/>
            <a:ext cx="4206240" cy="6400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Draw a line at 10 nA and read where each curve crosses it.</a:t>
            </a:r>
            <a:endParaRPr lang="en-US" sz="1200" dirty="0"/>
          </a:p>
        </p:txBody>
      </p:sp>
      <p:sp>
        <p:nvSpPr>
          <p:cNvPr id="3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DIBL = shift ÷ ΔV</a:t>
            </a:r>
            <a:pPr algn="ctr" indent="0" marL="0">
              <a:buNone/>
            </a:pPr>
            <a:r>
              <a:rPr lang="en-US" sz="1600" baseline="-40000" dirty="0">
                <a:solidFill>
                  <a:srgbClr val="171A20"/>
                </a:solidFill>
                <a:latin typeface="Segoe UI" pitchFamily="34" charset="0"/>
                <a:ea typeface="Segoe UI" pitchFamily="34" charset="-122"/>
                <a:cs typeface="Segoe UI" pitchFamily="34" charset="-120"/>
              </a:rPr>
              <a:t>D</a:t>
            </a:r>
            <a:pPr algn="ctr" indent="0" marL="0">
              <a:buNone/>
            </a:pPr>
            <a:r>
              <a:rPr lang="en-US" sz="1600" dirty="0">
                <a:solidFill>
                  <a:srgbClr val="171A20"/>
                </a:solidFill>
                <a:latin typeface="Segoe UI" pitchFamily="34" charset="0"/>
                <a:ea typeface="Segoe UI" pitchFamily="34" charset="-122"/>
                <a:cs typeface="Segoe UI" pitchFamily="34" charset="-120"/>
              </a:rPr>
              <a:t>: a small number means the gate, not the drain, is in charge.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78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GAAFET – Measuring DIBL on our data</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Raise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from 0.05 V to 0.7 V: the whole curve shifts left</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171A20"/>
          </a:solidFill>
          <a:ln/>
        </p:spPr>
      </p:sp>
      <p:sp>
        <p:nvSpPr>
          <p:cNvPr id="6" name="!!sdot2"/>
          <p:cNvSpPr/>
          <p:nvPr/>
        </p:nvSpPr>
        <p:spPr>
          <a:xfrm>
            <a:off x="11599164" y="525780"/>
            <a:ext cx="82296" cy="82296"/>
          </a:xfrm>
          <a:prstGeom prst="ellipse">
            <a:avLst/>
          </a:prstGeom>
          <a:solidFill>
            <a:srgbClr val="171A20"/>
          </a:solidFill>
          <a:ln/>
        </p:spPr>
      </p:sp>
      <p:sp>
        <p:nvSpPr>
          <p:cNvPr id="7" name="!!axg0"/>
          <p:cNvSpPr/>
          <p:nvPr/>
        </p:nvSpPr>
        <p:spPr>
          <a:xfrm>
            <a:off x="1188720" y="4983480"/>
            <a:ext cx="5303520" cy="91"/>
          </a:xfrm>
          <a:prstGeom prst="line">
            <a:avLst/>
          </a:prstGeom>
          <a:noFill/>
          <a:ln w="9525">
            <a:solidFill>
              <a:srgbClr val="EDEEF0"/>
            </a:solidFill>
            <a:prstDash val="solid"/>
          </a:ln>
        </p:spPr>
      </p:sp>
      <p:sp>
        <p:nvSpPr>
          <p:cNvPr id="8" name="!!axg1"/>
          <p:cNvSpPr/>
          <p:nvPr/>
        </p:nvSpPr>
        <p:spPr>
          <a:xfrm>
            <a:off x="1188720" y="3886200"/>
            <a:ext cx="5303520" cy="91"/>
          </a:xfrm>
          <a:prstGeom prst="line">
            <a:avLst/>
          </a:prstGeom>
          <a:noFill/>
          <a:ln w="9525">
            <a:solidFill>
              <a:srgbClr val="EDEEF0"/>
            </a:solidFill>
            <a:prstDash val="solid"/>
          </a:ln>
        </p:spPr>
      </p:sp>
      <p:sp>
        <p:nvSpPr>
          <p:cNvPr id="9" name="!!axg2"/>
          <p:cNvSpPr/>
          <p:nvPr/>
        </p:nvSpPr>
        <p:spPr>
          <a:xfrm>
            <a:off x="1188720" y="2788920"/>
            <a:ext cx="5303520" cy="91"/>
          </a:xfrm>
          <a:prstGeom prst="line">
            <a:avLst/>
          </a:prstGeom>
          <a:noFill/>
          <a:ln w="9525">
            <a:solidFill>
              <a:srgbClr val="EDEEF0"/>
            </a:solidFill>
            <a:prstDash val="solid"/>
          </a:ln>
        </p:spPr>
      </p:sp>
      <p:sp>
        <p:nvSpPr>
          <p:cNvPr id="10" name="!!axg3"/>
          <p:cNvSpPr/>
          <p:nvPr/>
        </p:nvSpPr>
        <p:spPr>
          <a:xfrm>
            <a:off x="1188720" y="1691640"/>
            <a:ext cx="5303520" cy="91"/>
          </a:xfrm>
          <a:prstGeom prst="line">
            <a:avLst/>
          </a:prstGeom>
          <a:noFill/>
          <a:ln w="9525">
            <a:solidFill>
              <a:srgbClr val="EDEEF0"/>
            </a:solidFill>
            <a:prstDash val="solid"/>
          </a:ln>
        </p:spPr>
      </p:sp>
      <p:sp>
        <p:nvSpPr>
          <p:cNvPr id="11" name="!!axxa"/>
          <p:cNvSpPr/>
          <p:nvPr/>
        </p:nvSpPr>
        <p:spPr>
          <a:xfrm>
            <a:off x="1188720" y="4983480"/>
            <a:ext cx="5303520" cy="91"/>
          </a:xfrm>
          <a:prstGeom prst="line">
            <a:avLst/>
          </a:prstGeom>
          <a:noFill/>
          <a:ln w="12700">
            <a:solidFill>
              <a:srgbClr val="8A8D93"/>
            </a:solidFill>
            <a:prstDash val="solid"/>
          </a:ln>
        </p:spPr>
      </p:sp>
      <p:sp>
        <p:nvSpPr>
          <p:cNvPr id="12" name="!!axya"/>
          <p:cNvSpPr/>
          <p:nvPr/>
        </p:nvSpPr>
        <p:spPr>
          <a:xfrm>
            <a:off x="1188720" y="1691640"/>
            <a:ext cx="91" cy="3291840"/>
          </a:xfrm>
          <a:prstGeom prst="line">
            <a:avLst/>
          </a:prstGeom>
          <a:noFill/>
          <a:ln w="12700">
            <a:solidFill>
              <a:srgbClr val="8A8D93"/>
            </a:solidFill>
            <a:prstDash val="solid"/>
          </a:ln>
        </p:spPr>
      </p:sp>
      <p:sp>
        <p:nvSpPr>
          <p:cNvPr id="13" name="!!axxt0"/>
          <p:cNvSpPr txBox="1"/>
          <p:nvPr/>
        </p:nvSpPr>
        <p:spPr>
          <a:xfrm>
            <a:off x="86868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14" name="!!axxt1"/>
          <p:cNvSpPr txBox="1"/>
          <p:nvPr/>
        </p:nvSpPr>
        <p:spPr>
          <a:xfrm>
            <a:off x="1626326"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15" name="!!axxt2"/>
          <p:cNvSpPr txBox="1"/>
          <p:nvPr/>
        </p:nvSpPr>
        <p:spPr>
          <a:xfrm>
            <a:off x="2383971"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16" name="!!axxt3"/>
          <p:cNvSpPr txBox="1"/>
          <p:nvPr/>
        </p:nvSpPr>
        <p:spPr>
          <a:xfrm>
            <a:off x="3141617"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17" name="!!axxt4"/>
          <p:cNvSpPr txBox="1"/>
          <p:nvPr/>
        </p:nvSpPr>
        <p:spPr>
          <a:xfrm>
            <a:off x="3899263"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18" name="!!axxt5"/>
          <p:cNvSpPr txBox="1"/>
          <p:nvPr/>
        </p:nvSpPr>
        <p:spPr>
          <a:xfrm>
            <a:off x="4656909"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0.5</a:t>
            </a:r>
            <a:endParaRPr lang="en-US" sz="900" dirty="0"/>
          </a:p>
        </p:txBody>
      </p:sp>
      <p:sp>
        <p:nvSpPr>
          <p:cNvPr id="19" name="!!axxt6"/>
          <p:cNvSpPr txBox="1"/>
          <p:nvPr/>
        </p:nvSpPr>
        <p:spPr>
          <a:xfrm>
            <a:off x="5414554"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20" name="!!axxt7"/>
          <p:cNvSpPr txBox="1"/>
          <p:nvPr/>
        </p:nvSpPr>
        <p:spPr>
          <a:xfrm>
            <a:off x="617220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0.7</a:t>
            </a:r>
            <a:endParaRPr lang="en-US" sz="900" dirty="0"/>
          </a:p>
        </p:txBody>
      </p:sp>
      <p:sp>
        <p:nvSpPr>
          <p:cNvPr id="21" name="!!axyt0"/>
          <p:cNvSpPr txBox="1"/>
          <p:nvPr/>
        </p:nvSpPr>
        <p:spPr>
          <a:xfrm>
            <a:off x="502920" y="48828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22" name="!!axyt1"/>
          <p:cNvSpPr txBox="1"/>
          <p:nvPr/>
        </p:nvSpPr>
        <p:spPr>
          <a:xfrm>
            <a:off x="502920" y="37856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23" name="!!axyt2"/>
          <p:cNvSpPr txBox="1"/>
          <p:nvPr/>
        </p:nvSpPr>
        <p:spPr>
          <a:xfrm>
            <a:off x="502920" y="2688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24" name="!!axyt3"/>
          <p:cNvSpPr txBox="1"/>
          <p:nvPr/>
        </p:nvSpPr>
        <p:spPr>
          <a:xfrm>
            <a:off x="50292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25" name="!!axxl"/>
          <p:cNvSpPr txBox="1"/>
          <p:nvPr/>
        </p:nvSpPr>
        <p:spPr>
          <a:xfrm>
            <a:off x="1188720" y="5257800"/>
            <a:ext cx="530352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26" name="!!axyl"/>
          <p:cNvSpPr txBox="1"/>
          <p:nvPr/>
        </p:nvSpPr>
        <p:spPr>
          <a:xfrm>
            <a:off x="100584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a:t>
            </a:r>
            <a:endParaRPr lang="en-US" sz="1100" dirty="0"/>
          </a:p>
        </p:txBody>
      </p:sp>
      <p:sp>
        <p:nvSpPr>
          <p:cNvPr id="27" name="!!dbLo"/>
          <p:cNvSpPr/>
          <p:nvPr/>
        </p:nvSpPr>
        <p:spPr>
          <a:xfrm>
            <a:off x="1188720" y="2317331"/>
            <a:ext cx="5303520" cy="2459444"/>
          </a:xfrm>
          <a:custGeom>
            <a:avLst/>
            <a:gdLst/>
            <a:ahLst/>
            <a:cxnLst/>
            <a:rect l="l" t="t" r="r" b="b"/>
            <a:pathLst>
              <a:path w="5303520" h="2459444">
                <a:moveTo>
                  <a:pt x="0" y="2459444"/>
                </a:moveTo>
                <a:lnTo>
                  <a:pt x="189411" y="2249580"/>
                </a:lnTo>
                <a:lnTo>
                  <a:pt x="378823" y="2040503"/>
                </a:lnTo>
                <a:lnTo>
                  <a:pt x="568234" y="1832362"/>
                </a:lnTo>
                <a:lnTo>
                  <a:pt x="757646" y="1625352"/>
                </a:lnTo>
                <a:lnTo>
                  <a:pt x="947057" y="1419770"/>
                </a:lnTo>
                <a:lnTo>
                  <a:pt x="1136469" y="1216191"/>
                </a:lnTo>
                <a:lnTo>
                  <a:pt x="1325880" y="1015831"/>
                </a:lnTo>
                <a:lnTo>
                  <a:pt x="1515291" y="821149"/>
                </a:lnTo>
                <a:lnTo>
                  <a:pt x="1704703" y="636142"/>
                </a:lnTo>
                <a:lnTo>
                  <a:pt x="1894114" y="467870"/>
                </a:lnTo>
                <a:lnTo>
                  <a:pt x="2083526" y="332511"/>
                </a:lnTo>
                <a:lnTo>
                  <a:pt x="2272937" y="228666"/>
                </a:lnTo>
                <a:lnTo>
                  <a:pt x="2462349" y="160440"/>
                </a:lnTo>
                <a:lnTo>
                  <a:pt x="2651760" y="125186"/>
                </a:lnTo>
                <a:lnTo>
                  <a:pt x="2841171" y="106798"/>
                </a:lnTo>
                <a:lnTo>
                  <a:pt x="3030583" y="92886"/>
                </a:lnTo>
                <a:lnTo>
                  <a:pt x="3219994" y="80697"/>
                </a:lnTo>
                <a:lnTo>
                  <a:pt x="3409406" y="69685"/>
                </a:lnTo>
                <a:lnTo>
                  <a:pt x="3598817" y="59676"/>
                </a:lnTo>
                <a:lnTo>
                  <a:pt x="3788229" y="50556"/>
                </a:lnTo>
                <a:lnTo>
                  <a:pt x="3977640" y="42240"/>
                </a:lnTo>
                <a:lnTo>
                  <a:pt x="4167051" y="34636"/>
                </a:lnTo>
                <a:lnTo>
                  <a:pt x="4356463" y="27664"/>
                </a:lnTo>
                <a:lnTo>
                  <a:pt x="4545874" y="21248"/>
                </a:lnTo>
                <a:lnTo>
                  <a:pt x="4735286" y="15327"/>
                </a:lnTo>
                <a:lnTo>
                  <a:pt x="4924697" y="9842"/>
                </a:lnTo>
                <a:lnTo>
                  <a:pt x="5114109" y="4749"/>
                </a:lnTo>
                <a:lnTo>
                  <a:pt x="5303520" y="0"/>
                </a:lnTo>
              </a:path>
            </a:pathLst>
          </a:custGeom>
          <a:ln w="31750">
            <a:solidFill>
              <a:srgbClr val="11998E"/>
            </a:solidFill>
            <a:prstDash val="solid"/>
          </a:ln>
        </p:spPr>
      </p:sp>
      <p:sp>
        <p:nvSpPr>
          <p:cNvPr id="28" name="!!dbHi"/>
          <p:cNvSpPr/>
          <p:nvPr/>
        </p:nvSpPr>
        <p:spPr>
          <a:xfrm>
            <a:off x="1188720" y="1999507"/>
            <a:ext cx="5303520" cy="2547800"/>
          </a:xfrm>
          <a:custGeom>
            <a:avLst/>
            <a:gdLst/>
            <a:ahLst/>
            <a:cxnLst/>
            <a:rect l="l" t="t" r="r" b="b"/>
            <a:pathLst>
              <a:path w="5303520" h="2547800">
                <a:moveTo>
                  <a:pt x="0" y="2547800"/>
                </a:moveTo>
                <a:lnTo>
                  <a:pt x="189411" y="2350859"/>
                </a:lnTo>
                <a:lnTo>
                  <a:pt x="378823" y="2149552"/>
                </a:lnTo>
                <a:lnTo>
                  <a:pt x="568234" y="1946980"/>
                </a:lnTo>
                <a:lnTo>
                  <a:pt x="757646" y="1744686"/>
                </a:lnTo>
                <a:lnTo>
                  <a:pt x="947057" y="1543844"/>
                </a:lnTo>
                <a:lnTo>
                  <a:pt x="1136469" y="1346076"/>
                </a:lnTo>
                <a:lnTo>
                  <a:pt x="1325880" y="1155751"/>
                </a:lnTo>
                <a:lnTo>
                  <a:pt x="1515291" y="978308"/>
                </a:lnTo>
                <a:lnTo>
                  <a:pt x="1704703" y="818101"/>
                </a:lnTo>
                <a:lnTo>
                  <a:pt x="1894114" y="678553"/>
                </a:lnTo>
                <a:lnTo>
                  <a:pt x="2083526" y="567032"/>
                </a:lnTo>
                <a:lnTo>
                  <a:pt x="2272937" y="483858"/>
                </a:lnTo>
                <a:lnTo>
                  <a:pt x="2462349" y="422131"/>
                </a:lnTo>
                <a:lnTo>
                  <a:pt x="2651760" y="371576"/>
                </a:lnTo>
                <a:lnTo>
                  <a:pt x="2841171" y="327357"/>
                </a:lnTo>
                <a:lnTo>
                  <a:pt x="3030583" y="287728"/>
                </a:lnTo>
                <a:lnTo>
                  <a:pt x="3219994" y="251835"/>
                </a:lnTo>
                <a:lnTo>
                  <a:pt x="3409406" y="219107"/>
                </a:lnTo>
                <a:lnTo>
                  <a:pt x="3598817" y="189119"/>
                </a:lnTo>
                <a:lnTo>
                  <a:pt x="3788229" y="161522"/>
                </a:lnTo>
                <a:lnTo>
                  <a:pt x="3977640" y="136033"/>
                </a:lnTo>
                <a:lnTo>
                  <a:pt x="4167051" y="112406"/>
                </a:lnTo>
                <a:lnTo>
                  <a:pt x="4356463" y="90435"/>
                </a:lnTo>
                <a:lnTo>
                  <a:pt x="4545874" y="69944"/>
                </a:lnTo>
                <a:lnTo>
                  <a:pt x="4735286" y="50779"/>
                </a:lnTo>
                <a:lnTo>
                  <a:pt x="4924697" y="32807"/>
                </a:lnTo>
                <a:lnTo>
                  <a:pt x="5114109" y="15914"/>
                </a:lnTo>
                <a:lnTo>
                  <a:pt x="5303520" y="0"/>
                </a:lnTo>
              </a:path>
            </a:pathLst>
          </a:custGeom>
          <a:ln w="31750">
            <a:solidFill>
              <a:srgbClr val="3E6AE1"/>
            </a:solidFill>
            <a:prstDash val="solid"/>
          </a:ln>
        </p:spPr>
      </p:sp>
      <p:sp>
        <p:nvSpPr>
          <p:cNvPr id="29" name="!!dbLoL"/>
          <p:cNvSpPr txBox="1"/>
          <p:nvPr/>
        </p:nvSpPr>
        <p:spPr>
          <a:xfrm>
            <a:off x="4370832" y="2496877"/>
            <a:ext cx="1188720" cy="219456"/>
          </a:xfrm>
          <a:prstGeom prst="rect">
            <a:avLst/>
          </a:prstGeom>
          <a:noFill/>
          <a:ln/>
        </p:spPr>
        <p:txBody>
          <a:bodyPr wrap="square" lIns="0" tIns="0" rIns="0" bIns="0" rtlCol="0" anchor="t"/>
          <a:lstStyle/>
          <a:p>
            <a:pPr algn="l" indent="0" marL="0">
              <a:buNone/>
            </a:pPr>
            <a:r>
              <a:rPr lang="en-US" sz="1100" dirty="0">
                <a:solidFill>
                  <a:srgbClr val="11998E"/>
                </a:solidFill>
                <a:latin typeface="Segoe UI Semibold" pitchFamily="34" charset="0"/>
                <a:ea typeface="Segoe UI Semibold" pitchFamily="34" charset="-122"/>
                <a:cs typeface="Segoe UI Semibold" pitchFamily="34" charset="-120"/>
              </a:rPr>
              <a:t>V</a:t>
            </a:r>
            <a:pPr algn="l" indent="0" marL="0">
              <a:buNone/>
            </a:pPr>
            <a:r>
              <a:rPr lang="en-US" sz="1100" baseline="-40000" dirty="0">
                <a:solidFill>
                  <a:srgbClr val="11998E"/>
                </a:solidFill>
                <a:latin typeface="Segoe UI Semibold" pitchFamily="34" charset="0"/>
                <a:ea typeface="Segoe UI Semibold" pitchFamily="34" charset="-122"/>
                <a:cs typeface="Segoe UI Semibold" pitchFamily="34" charset="-120"/>
              </a:rPr>
              <a:t>D</a:t>
            </a:r>
            <a:pPr algn="l" indent="0" marL="0">
              <a:buNone/>
            </a:pPr>
            <a:r>
              <a:rPr lang="en-US" sz="1100" dirty="0">
                <a:solidFill>
                  <a:srgbClr val="11998E"/>
                </a:solidFill>
                <a:latin typeface="Segoe UI Semibold" pitchFamily="34" charset="0"/>
                <a:ea typeface="Segoe UI Semibold" pitchFamily="34" charset="-122"/>
                <a:cs typeface="Segoe UI Semibold" pitchFamily="34" charset="-120"/>
              </a:rPr>
              <a:t> = 0.05 V</a:t>
            </a:r>
            <a:endParaRPr lang="en-US" sz="1100" dirty="0"/>
          </a:p>
        </p:txBody>
      </p:sp>
      <p:sp>
        <p:nvSpPr>
          <p:cNvPr id="30" name="!!dbHiL"/>
          <p:cNvSpPr txBox="1"/>
          <p:nvPr/>
        </p:nvSpPr>
        <p:spPr>
          <a:xfrm>
            <a:off x="4370832" y="1876798"/>
            <a:ext cx="1188720" cy="219456"/>
          </a:xfrm>
          <a:prstGeom prst="rect">
            <a:avLst/>
          </a:prstGeom>
          <a:noFill/>
          <a:ln/>
        </p:spPr>
        <p:txBody>
          <a:bodyPr wrap="square" lIns="0" tIns="0" rIns="0" bIns="0" rtlCol="0" anchor="t"/>
          <a:lstStyle/>
          <a:p>
            <a:pPr algn="l" indent="0" marL="0">
              <a:buNone/>
            </a:pPr>
            <a:r>
              <a:rPr lang="en-US" sz="1100" dirty="0">
                <a:solidFill>
                  <a:srgbClr val="3E6AE1"/>
                </a:solidFill>
                <a:latin typeface="Segoe UI Semibold" pitchFamily="34" charset="0"/>
                <a:ea typeface="Segoe UI Semibold" pitchFamily="34" charset="-122"/>
                <a:cs typeface="Segoe UI Semibold" pitchFamily="34" charset="-120"/>
              </a:rPr>
              <a:t>V</a:t>
            </a:r>
            <a:pPr algn="l" indent="0" marL="0">
              <a:buNone/>
            </a:pPr>
            <a:r>
              <a:rPr lang="en-US" sz="1100" baseline="-40000" dirty="0">
                <a:solidFill>
                  <a:srgbClr val="3E6AE1"/>
                </a:solidFill>
                <a:latin typeface="Segoe UI Semibold" pitchFamily="34" charset="0"/>
                <a:ea typeface="Segoe UI Semibold" pitchFamily="34" charset="-122"/>
                <a:cs typeface="Segoe UI Semibold" pitchFamily="34" charset="-120"/>
              </a:rPr>
              <a:t>D</a:t>
            </a:r>
            <a:pPr algn="l" indent="0" marL="0">
              <a:buNone/>
            </a:pPr>
            <a:r>
              <a:rPr lang="en-US" sz="1100" dirty="0">
                <a:solidFill>
                  <a:srgbClr val="3E6AE1"/>
                </a:solidFill>
                <a:latin typeface="Segoe UI Semibold" pitchFamily="34" charset="0"/>
                <a:ea typeface="Segoe UI Semibold" pitchFamily="34" charset="-122"/>
                <a:cs typeface="Segoe UI Semibold" pitchFamily="34" charset="-120"/>
              </a:rPr>
              <a:t> = 0.7 V</a:t>
            </a:r>
            <a:endParaRPr lang="en-US" sz="1100" dirty="0"/>
          </a:p>
        </p:txBody>
      </p:sp>
      <p:sp>
        <p:nvSpPr>
          <p:cNvPr id="31" name="!!dbI"/>
          <p:cNvSpPr/>
          <p:nvPr/>
        </p:nvSpPr>
        <p:spPr>
          <a:xfrm>
            <a:off x="1188720" y="3886200"/>
            <a:ext cx="5303520" cy="91"/>
          </a:xfrm>
          <a:prstGeom prst="line">
            <a:avLst/>
          </a:prstGeom>
          <a:noFill/>
          <a:ln w="12700">
            <a:solidFill>
              <a:srgbClr val="6B5BC4"/>
            </a:solidFill>
            <a:prstDash val="dash"/>
          </a:ln>
        </p:spPr>
      </p:sp>
      <p:sp>
        <p:nvSpPr>
          <p:cNvPr id="32" name="!!dbIL"/>
          <p:cNvSpPr txBox="1"/>
          <p:nvPr/>
        </p:nvSpPr>
        <p:spPr>
          <a:xfrm>
            <a:off x="5355771" y="3630168"/>
            <a:ext cx="914400" cy="201168"/>
          </a:xfrm>
          <a:prstGeom prst="rect">
            <a:avLst/>
          </a:prstGeom>
          <a:noFill/>
          <a:ln/>
        </p:spPr>
        <p:txBody>
          <a:bodyPr wrap="square" lIns="0" tIns="0" rIns="0" bIns="0" rtlCol="0" anchor="t"/>
          <a:lstStyle/>
          <a:p>
            <a:pPr algn="l" indent="0" marL="0">
              <a:buNone/>
            </a:pPr>
            <a:r>
              <a:rPr lang="en-US" sz="1000" dirty="0">
                <a:solidFill>
                  <a:srgbClr val="6B5BC4"/>
                </a:solidFill>
                <a:latin typeface="Segoe UI Semibold" pitchFamily="34" charset="0"/>
                <a:ea typeface="Segoe UI Semibold" pitchFamily="34" charset="-122"/>
                <a:cs typeface="Segoe UI Semibold" pitchFamily="34" charset="-120"/>
              </a:rPr>
              <a:t>I = 10 nA</a:t>
            </a:r>
            <a:endParaRPr lang="en-US" sz="1000" dirty="0"/>
          </a:p>
        </p:txBody>
      </p:sp>
      <p:sp>
        <p:nvSpPr>
          <p:cNvPr id="33" name="!!dbSh"/>
          <p:cNvSpPr/>
          <p:nvPr/>
        </p:nvSpPr>
        <p:spPr>
          <a:xfrm>
            <a:off x="1817566" y="4050792"/>
            <a:ext cx="181835" cy="91"/>
          </a:xfrm>
          <a:prstGeom prst="line">
            <a:avLst/>
          </a:prstGeom>
          <a:noFill/>
          <a:ln w="25400">
            <a:solidFill>
              <a:srgbClr val="6B5BC4"/>
            </a:solidFill>
            <a:prstDash val="solid"/>
            <a:headEnd type="triangle"/>
            <a:tailEnd type="triangle"/>
          </a:ln>
        </p:spPr>
      </p:sp>
      <p:sp>
        <p:nvSpPr>
          <p:cNvPr id="34" name="!!dbShL"/>
          <p:cNvSpPr txBox="1"/>
          <p:nvPr/>
        </p:nvSpPr>
        <p:spPr>
          <a:xfrm>
            <a:off x="2045121" y="3959352"/>
            <a:ext cx="914400" cy="201168"/>
          </a:xfrm>
          <a:prstGeom prst="rect">
            <a:avLst/>
          </a:prstGeom>
          <a:noFill/>
          <a:ln/>
        </p:spPr>
        <p:txBody>
          <a:bodyPr wrap="square" lIns="0" tIns="0" rIns="0" bIns="0" rtlCol="0" anchor="t"/>
          <a:lstStyle/>
          <a:p>
            <a:pPr algn="l" indent="0" marL="0">
              <a:buNone/>
            </a:pPr>
            <a:r>
              <a:rPr lang="en-US" sz="1100" dirty="0">
                <a:solidFill>
                  <a:srgbClr val="6B5BC4"/>
                </a:solidFill>
                <a:latin typeface="Segoe UI Semibold" pitchFamily="34" charset="0"/>
                <a:ea typeface="Segoe UI Semibold" pitchFamily="34" charset="-122"/>
                <a:cs typeface="Segoe UI Semibold" pitchFamily="34" charset="-120"/>
              </a:rPr>
              <a:t>24.4 mV</a:t>
            </a:r>
            <a:endParaRPr lang="en-US" sz="1100" dirty="0"/>
          </a:p>
        </p:txBody>
      </p:sp>
      <p:sp>
        <p:nvSpPr>
          <p:cNvPr id="35" name="!!dbK0"/>
          <p:cNvSpPr/>
          <p:nvPr/>
        </p:nvSpPr>
        <p:spPr>
          <a:xfrm>
            <a:off x="7040880" y="1645920"/>
            <a:ext cx="4599432" cy="868680"/>
          </a:xfrm>
          <a:prstGeom prst="roundRect">
            <a:avLst>
              <a:gd name="adj" fmla="val 6316"/>
            </a:avLst>
          </a:prstGeom>
          <a:solidFill>
            <a:srgbClr val="F4F5F7"/>
          </a:solidFill>
          <a:ln/>
        </p:spPr>
      </p:sp>
      <p:sp>
        <p:nvSpPr>
          <p:cNvPr id="36" name="!!dbKh0"/>
          <p:cNvSpPr txBox="1"/>
          <p:nvPr/>
        </p:nvSpPr>
        <p:spPr>
          <a:xfrm>
            <a:off x="7269480" y="1755648"/>
            <a:ext cx="4206240" cy="274320"/>
          </a:xfrm>
          <a:prstGeom prst="rect">
            <a:avLst/>
          </a:prstGeom>
          <a:noFill/>
          <a:ln/>
        </p:spPr>
        <p:txBody>
          <a:bodyPr wrap="square" lIns="0" tIns="0" rIns="0" bIns="0" rtlCol="0" anchor="t"/>
          <a:lstStyle/>
          <a:p>
            <a:pPr algn="l" indent="0" marL="0">
              <a:buNone/>
            </a:pPr>
            <a:r>
              <a:rPr lang="en-US" sz="1500" dirty="0">
                <a:solidFill>
                  <a:srgbClr val="6B5BC4"/>
                </a:solidFill>
                <a:latin typeface="Segoe UI Semibold" pitchFamily="34" charset="0"/>
                <a:ea typeface="Segoe UI Semibold" pitchFamily="34" charset="-122"/>
                <a:cs typeface="Segoe UI Semibold" pitchFamily="34" charset="-120"/>
              </a:rPr>
              <a:t>Two drain voltages</a:t>
            </a:r>
            <a:endParaRPr lang="en-US" sz="1500" dirty="0"/>
          </a:p>
        </p:txBody>
      </p:sp>
      <p:sp>
        <p:nvSpPr>
          <p:cNvPr id="37" name="!!dbKb0"/>
          <p:cNvSpPr txBox="1"/>
          <p:nvPr/>
        </p:nvSpPr>
        <p:spPr>
          <a:xfrm>
            <a:off x="7269480" y="2057400"/>
            <a:ext cx="4206240" cy="6400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Same device, two transfer curves: V</a:t>
            </a:r>
            <a:pPr algn="l" indent="0" marL="0">
              <a:buNone/>
            </a:pPr>
            <a:r>
              <a:rPr lang="en-US" sz="1200" baseline="-40000" dirty="0">
                <a:solidFill>
                  <a:srgbClr val="5C5E62"/>
                </a:solidFill>
                <a:latin typeface="Segoe UI" pitchFamily="34" charset="0"/>
                <a:ea typeface="Segoe UI" pitchFamily="34" charset="-122"/>
                <a:cs typeface="Segoe UI" pitchFamily="34" charset="-120"/>
              </a:rPr>
              <a:t>D</a:t>
            </a:r>
            <a:pPr algn="l" indent="0" marL="0">
              <a:buNone/>
            </a:pPr>
            <a:r>
              <a:rPr lang="en-US" sz="1200" dirty="0">
                <a:solidFill>
                  <a:srgbClr val="5C5E62"/>
                </a:solidFill>
                <a:latin typeface="Segoe UI" pitchFamily="34" charset="0"/>
                <a:ea typeface="Segoe UI" pitchFamily="34" charset="-122"/>
                <a:cs typeface="Segoe UI" pitchFamily="34" charset="-120"/>
              </a:rPr>
              <a:t> = 0.05 V and 0.7 V.</a:t>
            </a:r>
            <a:endParaRPr lang="en-US" sz="1200" dirty="0"/>
          </a:p>
        </p:txBody>
      </p:sp>
      <p:sp>
        <p:nvSpPr>
          <p:cNvPr id="38" name="!!dbK1"/>
          <p:cNvSpPr/>
          <p:nvPr/>
        </p:nvSpPr>
        <p:spPr>
          <a:xfrm>
            <a:off x="7040880" y="2697480"/>
            <a:ext cx="4599432" cy="868680"/>
          </a:xfrm>
          <a:prstGeom prst="roundRect">
            <a:avLst>
              <a:gd name="adj" fmla="val 6316"/>
            </a:avLst>
          </a:prstGeom>
          <a:solidFill>
            <a:srgbClr val="F4F5F7"/>
          </a:solidFill>
          <a:ln/>
        </p:spPr>
      </p:sp>
      <p:sp>
        <p:nvSpPr>
          <p:cNvPr id="39" name="!!dbKh1"/>
          <p:cNvSpPr txBox="1"/>
          <p:nvPr/>
        </p:nvSpPr>
        <p:spPr>
          <a:xfrm>
            <a:off x="7269480" y="2807208"/>
            <a:ext cx="4206240" cy="274320"/>
          </a:xfrm>
          <a:prstGeom prst="rect">
            <a:avLst/>
          </a:prstGeom>
          <a:noFill/>
          <a:ln/>
        </p:spPr>
        <p:txBody>
          <a:bodyPr wrap="square" lIns="0" tIns="0" rIns="0" bIns="0" rtlCol="0" anchor="t"/>
          <a:lstStyle/>
          <a:p>
            <a:pPr algn="l" indent="0" marL="0">
              <a:buNone/>
            </a:pPr>
            <a:r>
              <a:rPr lang="en-US" sz="1500" dirty="0">
                <a:solidFill>
                  <a:srgbClr val="6B5BC4"/>
                </a:solidFill>
                <a:latin typeface="Segoe UI Semibold" pitchFamily="34" charset="0"/>
                <a:ea typeface="Segoe UI Semibold" pitchFamily="34" charset="-122"/>
                <a:cs typeface="Segoe UI Semibold" pitchFamily="34" charset="-120"/>
              </a:rPr>
              <a:t>Pick one current</a:t>
            </a:r>
            <a:endParaRPr lang="en-US" sz="1500" dirty="0"/>
          </a:p>
        </p:txBody>
      </p:sp>
      <p:sp>
        <p:nvSpPr>
          <p:cNvPr id="40" name="!!dbKb1"/>
          <p:cNvSpPr txBox="1"/>
          <p:nvPr/>
        </p:nvSpPr>
        <p:spPr>
          <a:xfrm>
            <a:off x="7269480" y="3108960"/>
            <a:ext cx="4206240" cy="6400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Draw a line at 10 nA and read where each curve crosses it.</a:t>
            </a:r>
            <a:endParaRPr lang="en-US" sz="1200" dirty="0"/>
          </a:p>
        </p:txBody>
      </p:sp>
      <p:sp>
        <p:nvSpPr>
          <p:cNvPr id="41" name="!!dbK2"/>
          <p:cNvSpPr/>
          <p:nvPr/>
        </p:nvSpPr>
        <p:spPr>
          <a:xfrm>
            <a:off x="7040880" y="3749040"/>
            <a:ext cx="4599432" cy="1097280"/>
          </a:xfrm>
          <a:prstGeom prst="roundRect">
            <a:avLst>
              <a:gd name="adj" fmla="val 5000"/>
            </a:avLst>
          </a:prstGeom>
          <a:solidFill>
            <a:srgbClr val="F4F5F7"/>
          </a:solidFill>
          <a:ln/>
        </p:spPr>
      </p:sp>
      <p:sp>
        <p:nvSpPr>
          <p:cNvPr id="42" name="!!dbKh2"/>
          <p:cNvSpPr txBox="1"/>
          <p:nvPr/>
        </p:nvSpPr>
        <p:spPr>
          <a:xfrm>
            <a:off x="7269480" y="3858768"/>
            <a:ext cx="4206240" cy="274320"/>
          </a:xfrm>
          <a:prstGeom prst="rect">
            <a:avLst/>
          </a:prstGeom>
          <a:noFill/>
          <a:ln/>
        </p:spPr>
        <p:txBody>
          <a:bodyPr wrap="square" lIns="0" tIns="0" rIns="0" bIns="0" rtlCol="0" anchor="t"/>
          <a:lstStyle/>
          <a:p>
            <a:pPr algn="l" indent="0" marL="0">
              <a:buNone/>
            </a:pPr>
            <a:r>
              <a:rPr lang="en-US" sz="1500" dirty="0">
                <a:solidFill>
                  <a:srgbClr val="6B5BC4"/>
                </a:solidFill>
                <a:latin typeface="Segoe UI Semibold" pitchFamily="34" charset="0"/>
                <a:ea typeface="Segoe UI Semibold" pitchFamily="34" charset="-122"/>
                <a:cs typeface="Segoe UI Semibold" pitchFamily="34" charset="-120"/>
              </a:rPr>
              <a:t>Read the shift</a:t>
            </a:r>
            <a:endParaRPr lang="en-US" sz="1500" dirty="0"/>
          </a:p>
        </p:txBody>
      </p:sp>
      <p:sp>
        <p:nvSpPr>
          <p:cNvPr id="43" name="!!dbKb2"/>
          <p:cNvSpPr txBox="1"/>
          <p:nvPr/>
        </p:nvSpPr>
        <p:spPr>
          <a:xfrm>
            <a:off x="7269480" y="4160520"/>
            <a:ext cx="4206240" cy="6400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V</a:t>
            </a:r>
            <a:pPr algn="l" indent="0" marL="0">
              <a:buNone/>
            </a:pPr>
            <a:r>
              <a:rPr lang="en-US" sz="1200" baseline="-40000" dirty="0">
                <a:solidFill>
                  <a:srgbClr val="5C5E62"/>
                </a:solidFill>
                <a:latin typeface="Segoe UI" pitchFamily="34" charset="0"/>
                <a:ea typeface="Segoe UI" pitchFamily="34" charset="-122"/>
                <a:cs typeface="Segoe UI" pitchFamily="34" charset="-120"/>
              </a:rPr>
              <a:t>G</a:t>
            </a:r>
            <a:pPr algn="l" indent="0" marL="0">
              <a:buNone/>
            </a:pPr>
            <a:r>
              <a:rPr lang="en-US" sz="1200" dirty="0">
                <a:solidFill>
                  <a:srgbClr val="5C5E62"/>
                </a:solidFill>
                <a:latin typeface="Segoe UI" pitchFamily="34" charset="0"/>
                <a:ea typeface="Segoe UI" pitchFamily="34" charset="-122"/>
                <a:cs typeface="Segoe UI" pitchFamily="34" charset="-120"/>
              </a:rPr>
              <a:t> needed: 0.107 V → 0.083 V, a shift of 24.4 mV.</a:t>
            </a:r>
            <a:endParaRPr lang="en-US" sz="1200" dirty="0"/>
          </a:p>
          <a:p>
            <a:pPr algn="l" indent="0" marL="0">
              <a:buNone/>
            </a:pPr>
            <a:r>
              <a:rPr lang="en-US" sz="1200" dirty="0">
                <a:solidFill>
                  <a:srgbClr val="5C5E62"/>
                </a:solidFill>
                <a:latin typeface="Segoe UI" pitchFamily="34" charset="0"/>
                <a:ea typeface="Segoe UI" pitchFamily="34" charset="-122"/>
                <a:cs typeface="Segoe UI" pitchFamily="34" charset="-120"/>
              </a:rPr>
              <a:t>DIBL = 24.4 mV / 0.65 V = 38 mV/V.</a:t>
            </a:r>
            <a:endParaRPr lang="en-US" sz="1200" dirty="0"/>
          </a:p>
        </p:txBody>
      </p:sp>
      <p:sp>
        <p:nvSpPr>
          <p:cNvPr id="44" name="!!dbNote"/>
          <p:cNvSpPr txBox="1"/>
          <p:nvPr/>
        </p:nvSpPr>
        <p:spPr>
          <a:xfrm>
            <a:off x="7040880" y="4800600"/>
            <a:ext cx="4599432" cy="548640"/>
          </a:xfrm>
          <a:prstGeom prst="rect">
            <a:avLst/>
          </a:prstGeom>
          <a:noFill/>
          <a:ln/>
        </p:spPr>
        <p:txBody>
          <a:bodyPr wrap="square" lIns="0" tIns="0" rIns="0" bIns="0" rtlCol="0" anchor="t"/>
          <a:lstStyle/>
          <a:p>
            <a:pPr algn="l" indent="0" marL="0">
              <a:buNone/>
            </a:pPr>
            <a:r>
              <a:rPr lang="en-US" sz="1200" dirty="0">
                <a:solidFill>
                  <a:srgbClr val="171A20"/>
                </a:solidFill>
                <a:latin typeface="Segoe UI Semibold" pitchFamily="34" charset="0"/>
                <a:ea typeface="Segoe UI Semibold" pitchFamily="34" charset="-122"/>
                <a:cs typeface="Segoe UI Semibold" pitchFamily="34" charset="-120"/>
              </a:rPr>
              <a:t>Standard wire r = 4 nm: 17.3 mV/V · reproduced r = 5.64 nm: 38 mV/V.</a:t>
            </a:r>
            <a:endParaRPr lang="en-US" sz="1200" dirty="0"/>
          </a:p>
          <a:p>
            <a:pPr algn="l" indent="0" marL="0">
              <a:buNone/>
            </a:pPr>
            <a:r>
              <a:rPr lang="en-US" sz="1200" dirty="0">
                <a:solidFill>
                  <a:srgbClr val="171A20"/>
                </a:solidFill>
                <a:latin typeface="Segoe UI Semibold" pitchFamily="34" charset="0"/>
                <a:ea typeface="Segoe UI Semibold" pitchFamily="34" charset="-122"/>
                <a:cs typeface="Segoe UI Semibold" pitchFamily="34" charset="-120"/>
              </a:rPr>
              <a:t>Thicker wire → weaker gate grip.</a:t>
            </a:r>
            <a:endParaRPr lang="en-US" sz="1200" dirty="0"/>
          </a:p>
        </p:txBody>
      </p:sp>
      <p:sp>
        <p:nvSpPr>
          <p:cNvPr id="45"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DIBL = shift ÷ ΔV</a:t>
            </a:r>
            <a:pPr algn="ctr" indent="0" marL="0">
              <a:buNone/>
            </a:pPr>
            <a:r>
              <a:rPr lang="en-US" sz="1600" baseline="-40000" dirty="0">
                <a:solidFill>
                  <a:srgbClr val="171A20"/>
                </a:solidFill>
                <a:latin typeface="Segoe UI" pitchFamily="34" charset="0"/>
                <a:ea typeface="Segoe UI" pitchFamily="34" charset="-122"/>
                <a:cs typeface="Segoe UI" pitchFamily="34" charset="-120"/>
              </a:rPr>
              <a:t>D</a:t>
            </a:r>
            <a:pPr algn="ctr" indent="0" marL="0">
              <a:buNone/>
            </a:pPr>
            <a:r>
              <a:rPr lang="en-US" sz="1600" dirty="0">
                <a:solidFill>
                  <a:srgbClr val="171A20"/>
                </a:solidFill>
                <a:latin typeface="Segoe UI" pitchFamily="34" charset="0"/>
                <a:ea typeface="Segoe UI" pitchFamily="34" charset="-122"/>
                <a:cs typeface="Segoe UI" pitchFamily="34" charset="-120"/>
              </a:rPr>
              <a:t>: a small number means the gate, not the drain, is in charge.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79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Our GAA device in numbers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Standard cylindrical GAAFET in Atlas (L</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14 nm, r = 4 nm), before any thermal tuning</a:t>
            </a:r>
            <a:endParaRPr lang="en-US" sz="1600" dirty="0"/>
          </a:p>
        </p:txBody>
      </p:sp>
      <p:sp>
        <p:nvSpPr>
          <p:cNvPr id="4" name="Shape 2"/>
          <p:cNvSpPr/>
          <p:nvPr/>
        </p:nvSpPr>
        <p:spPr>
          <a:xfrm>
            <a:off x="548640" y="1600200"/>
            <a:ext cx="2606040" cy="1828800"/>
          </a:xfrm>
          <a:prstGeom prst="roundRect">
            <a:avLst>
              <a:gd name="adj" fmla="val 4000"/>
            </a:avLst>
          </a:prstGeom>
          <a:solidFill>
            <a:srgbClr val="F4F5F7"/>
          </a:solidFill>
          <a:ln/>
        </p:spPr>
      </p:sp>
      <p:sp>
        <p:nvSpPr>
          <p:cNvPr id="5" name="Text 3"/>
          <p:cNvSpPr txBox="1"/>
          <p:nvPr/>
        </p:nvSpPr>
        <p:spPr>
          <a:xfrm>
            <a:off x="731520" y="1737360"/>
            <a:ext cx="2286000" cy="731520"/>
          </a:xfrm>
          <a:prstGeom prst="rect">
            <a:avLst/>
          </a:prstGeom>
          <a:noFill/>
          <a:ln/>
        </p:spPr>
        <p:txBody>
          <a:bodyPr wrap="square" lIns="0" tIns="0" rIns="0" bIns="0" rtlCol="0" anchor="ctr"/>
          <a:lstStyle/>
          <a:p>
            <a:pPr algn="l" indent="0" marL="0">
              <a:buNone/>
            </a:pPr>
            <a:r>
              <a:rPr lang="en-US" sz="3600" dirty="0">
                <a:solidFill>
                  <a:srgbClr val="2E9E4F"/>
                </a:solidFill>
                <a:latin typeface="Segoe UI Semibold" pitchFamily="34" charset="0"/>
                <a:ea typeface="Segoe UI Semibold" pitchFamily="34" charset="-122"/>
                <a:cs typeface="Segoe UI Semibold" pitchFamily="34" charset="-120"/>
              </a:rPr>
              <a:t>61.3</a:t>
            </a:r>
            <a:pPr algn="l" indent="0" marL="0">
              <a:buNone/>
            </a:pPr>
            <a:r>
              <a:rPr lang="en-US" sz="1400" dirty="0">
                <a:solidFill>
                  <a:srgbClr val="5C5E62"/>
                </a:solidFill>
                <a:latin typeface="Segoe UI Semibold" pitchFamily="34" charset="0"/>
                <a:ea typeface="Segoe UI Semibold" pitchFamily="34" charset="-122"/>
                <a:cs typeface="Segoe UI Semibold" pitchFamily="34" charset="-120"/>
              </a:rPr>
              <a:t> mV/dec</a:t>
            </a:r>
            <a:endParaRPr lang="en-US" sz="1400" dirty="0"/>
          </a:p>
        </p:txBody>
      </p:sp>
      <p:sp>
        <p:nvSpPr>
          <p:cNvPr id="6" name="Text 4"/>
          <p:cNvSpPr txBox="1"/>
          <p:nvPr/>
        </p:nvSpPr>
        <p:spPr>
          <a:xfrm>
            <a:off x="731520" y="2514600"/>
            <a:ext cx="2286000" cy="292608"/>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subthreshold swing</a:t>
            </a:r>
            <a:endParaRPr lang="en-US" sz="1500" dirty="0"/>
          </a:p>
        </p:txBody>
      </p:sp>
      <p:sp>
        <p:nvSpPr>
          <p:cNvPr id="7" name="Text 5"/>
          <p:cNvSpPr txBox="1"/>
          <p:nvPr/>
        </p:nvSpPr>
        <p:spPr>
          <a:xfrm>
            <a:off x="731520" y="2834640"/>
            <a:ext cx="2286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ideal limit 60</a:t>
            </a:r>
            <a:endParaRPr lang="en-US" sz="1200" dirty="0"/>
          </a:p>
        </p:txBody>
      </p:sp>
      <p:sp>
        <p:nvSpPr>
          <p:cNvPr id="8" name="Shape 6"/>
          <p:cNvSpPr/>
          <p:nvPr/>
        </p:nvSpPr>
        <p:spPr>
          <a:xfrm>
            <a:off x="3364992" y="1600200"/>
            <a:ext cx="2606040" cy="1828800"/>
          </a:xfrm>
          <a:prstGeom prst="roundRect">
            <a:avLst>
              <a:gd name="adj" fmla="val 4000"/>
            </a:avLst>
          </a:prstGeom>
          <a:solidFill>
            <a:srgbClr val="F4F5F7"/>
          </a:solidFill>
          <a:ln/>
        </p:spPr>
      </p:sp>
      <p:sp>
        <p:nvSpPr>
          <p:cNvPr id="9" name="Text 7"/>
          <p:cNvSpPr txBox="1"/>
          <p:nvPr/>
        </p:nvSpPr>
        <p:spPr>
          <a:xfrm>
            <a:off x="3547872" y="1737360"/>
            <a:ext cx="2286000" cy="731520"/>
          </a:xfrm>
          <a:prstGeom prst="rect">
            <a:avLst/>
          </a:prstGeom>
          <a:noFill/>
          <a:ln/>
        </p:spPr>
        <p:txBody>
          <a:bodyPr wrap="square" lIns="0" tIns="0" rIns="0" bIns="0" rtlCol="0" anchor="ctr"/>
          <a:lstStyle/>
          <a:p>
            <a:pPr algn="l" indent="0" marL="0">
              <a:buNone/>
            </a:pPr>
            <a:r>
              <a:rPr lang="en-US" sz="3600" dirty="0">
                <a:solidFill>
                  <a:srgbClr val="2E9E4F"/>
                </a:solidFill>
                <a:latin typeface="Segoe UI Semibold" pitchFamily="34" charset="0"/>
                <a:ea typeface="Segoe UI Semibold" pitchFamily="34" charset="-122"/>
                <a:cs typeface="Segoe UI Semibold" pitchFamily="34" charset="-120"/>
              </a:rPr>
              <a:t>17.3</a:t>
            </a:r>
            <a:pPr algn="l" indent="0" marL="0">
              <a:buNone/>
            </a:pPr>
            <a:r>
              <a:rPr lang="en-US" sz="1400" dirty="0">
                <a:solidFill>
                  <a:srgbClr val="5C5E62"/>
                </a:solidFill>
                <a:latin typeface="Segoe UI Semibold" pitchFamily="34" charset="0"/>
                <a:ea typeface="Segoe UI Semibold" pitchFamily="34" charset="-122"/>
                <a:cs typeface="Segoe UI Semibold" pitchFamily="34" charset="-120"/>
              </a:rPr>
              <a:t> mV/V</a:t>
            </a:r>
            <a:endParaRPr lang="en-US" sz="1400" dirty="0"/>
          </a:p>
        </p:txBody>
      </p:sp>
      <p:sp>
        <p:nvSpPr>
          <p:cNvPr id="10" name="Text 8"/>
          <p:cNvSpPr txBox="1"/>
          <p:nvPr/>
        </p:nvSpPr>
        <p:spPr>
          <a:xfrm>
            <a:off x="3547872" y="2514600"/>
            <a:ext cx="2286000" cy="292608"/>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DIBL</a:t>
            </a:r>
            <a:endParaRPr lang="en-US" sz="1500" dirty="0"/>
          </a:p>
        </p:txBody>
      </p:sp>
      <p:sp>
        <p:nvSpPr>
          <p:cNvPr id="11" name="Text 9"/>
          <p:cNvSpPr txBox="1"/>
          <p:nvPr/>
        </p:nvSpPr>
        <p:spPr>
          <a:xfrm>
            <a:off x="3547872" y="2834640"/>
            <a:ext cx="2286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drain barely moves V</a:t>
            </a:r>
            <a:pPr algn="l" indent="0" marL="0">
              <a:buNone/>
            </a:pPr>
            <a:r>
              <a:rPr lang="en-US" sz="1200" baseline="-40000" dirty="0">
                <a:solidFill>
                  <a:srgbClr val="5C5E62"/>
                </a:solidFill>
                <a:latin typeface="Segoe UI" pitchFamily="34" charset="0"/>
                <a:ea typeface="Segoe UI" pitchFamily="34" charset="-122"/>
                <a:cs typeface="Segoe UI" pitchFamily="34" charset="-120"/>
              </a:rPr>
              <a:t>T</a:t>
            </a:r>
            <a:endParaRPr lang="en-US" sz="1200" dirty="0"/>
          </a:p>
        </p:txBody>
      </p:sp>
      <p:sp>
        <p:nvSpPr>
          <p:cNvPr id="12" name="Shape 10"/>
          <p:cNvSpPr/>
          <p:nvPr/>
        </p:nvSpPr>
        <p:spPr>
          <a:xfrm>
            <a:off x="6181344" y="1600200"/>
            <a:ext cx="2606040" cy="1828800"/>
          </a:xfrm>
          <a:prstGeom prst="roundRect">
            <a:avLst>
              <a:gd name="adj" fmla="val 4000"/>
            </a:avLst>
          </a:prstGeom>
          <a:solidFill>
            <a:srgbClr val="F4F5F7"/>
          </a:solidFill>
          <a:ln/>
        </p:spPr>
      </p:sp>
      <p:sp>
        <p:nvSpPr>
          <p:cNvPr id="13" name="Text 11"/>
          <p:cNvSpPr txBox="1"/>
          <p:nvPr/>
        </p:nvSpPr>
        <p:spPr>
          <a:xfrm>
            <a:off x="6364224" y="1737360"/>
            <a:ext cx="2286000" cy="731520"/>
          </a:xfrm>
          <a:prstGeom prst="rect">
            <a:avLst/>
          </a:prstGeom>
          <a:noFill/>
          <a:ln/>
        </p:spPr>
        <p:txBody>
          <a:bodyPr wrap="square" lIns="0" tIns="0" rIns="0" bIns="0" rtlCol="0" anchor="ctr"/>
          <a:lstStyle/>
          <a:p>
            <a:pPr algn="l" indent="0" marL="0">
              <a:buNone/>
            </a:pPr>
            <a:r>
              <a:rPr lang="en-US" sz="3600" dirty="0">
                <a:solidFill>
                  <a:srgbClr val="2E9E4F"/>
                </a:solidFill>
                <a:latin typeface="Segoe UI Semibold" pitchFamily="34" charset="0"/>
                <a:ea typeface="Segoe UI Semibold" pitchFamily="34" charset="-122"/>
                <a:cs typeface="Segoe UI Semibold" pitchFamily="34" charset="-120"/>
              </a:rPr>
              <a:t>99</a:t>
            </a:r>
            <a:pPr algn="l" indent="0" marL="0">
              <a:buNone/>
            </a:pPr>
            <a:r>
              <a:rPr lang="en-US" sz="1400" dirty="0">
                <a:solidFill>
                  <a:srgbClr val="5C5E62"/>
                </a:solidFill>
                <a:latin typeface="Segoe UI Semibold" pitchFamily="34" charset="0"/>
                <a:ea typeface="Segoe UI Semibold" pitchFamily="34" charset="-122"/>
                <a:cs typeface="Segoe UI Semibold" pitchFamily="34" charset="-120"/>
              </a:rPr>
              <a:t> pA</a:t>
            </a:r>
            <a:endParaRPr lang="en-US" sz="1400" dirty="0"/>
          </a:p>
        </p:txBody>
      </p:sp>
      <p:sp>
        <p:nvSpPr>
          <p:cNvPr id="14" name="Text 12"/>
          <p:cNvSpPr txBox="1"/>
          <p:nvPr/>
        </p:nvSpPr>
        <p:spPr>
          <a:xfrm>
            <a:off x="6364224" y="2514600"/>
            <a:ext cx="2286000" cy="292608"/>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I</a:t>
            </a:r>
            <a:pPr algn="l" indent="0" marL="0">
              <a:buNone/>
            </a:pPr>
            <a:r>
              <a:rPr lang="en-US" sz="1500" baseline="-40000" dirty="0">
                <a:solidFill>
                  <a:srgbClr val="171A20"/>
                </a:solidFill>
                <a:latin typeface="Segoe UI Semibold" pitchFamily="34" charset="0"/>
                <a:ea typeface="Segoe UI Semibold" pitchFamily="34" charset="-122"/>
                <a:cs typeface="Segoe UI Semibold" pitchFamily="34" charset="-120"/>
              </a:rPr>
              <a:t>off</a:t>
            </a:r>
            <a:endParaRPr lang="en-US" sz="1500" dirty="0"/>
          </a:p>
        </p:txBody>
      </p:sp>
      <p:sp>
        <p:nvSpPr>
          <p:cNvPr id="15" name="Text 13"/>
          <p:cNvSpPr txBox="1"/>
          <p:nvPr/>
        </p:nvSpPr>
        <p:spPr>
          <a:xfrm>
            <a:off x="6364224" y="2834640"/>
            <a:ext cx="2286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tiny leakage when off</a:t>
            </a:r>
            <a:endParaRPr lang="en-US" sz="1200" dirty="0"/>
          </a:p>
        </p:txBody>
      </p:sp>
      <p:sp>
        <p:nvSpPr>
          <p:cNvPr id="16" name="Shape 14"/>
          <p:cNvSpPr/>
          <p:nvPr/>
        </p:nvSpPr>
        <p:spPr>
          <a:xfrm>
            <a:off x="8997696" y="1600200"/>
            <a:ext cx="2606040" cy="1828800"/>
          </a:xfrm>
          <a:prstGeom prst="roundRect">
            <a:avLst>
              <a:gd name="adj" fmla="val 4000"/>
            </a:avLst>
          </a:prstGeom>
          <a:solidFill>
            <a:srgbClr val="F4F5F7"/>
          </a:solidFill>
          <a:ln/>
        </p:spPr>
      </p:sp>
      <p:sp>
        <p:nvSpPr>
          <p:cNvPr id="17" name="Text 15"/>
          <p:cNvSpPr txBox="1"/>
          <p:nvPr/>
        </p:nvSpPr>
        <p:spPr>
          <a:xfrm>
            <a:off x="9180576" y="1737360"/>
            <a:ext cx="2286000" cy="731520"/>
          </a:xfrm>
          <a:prstGeom prst="rect">
            <a:avLst/>
          </a:prstGeom>
          <a:noFill/>
          <a:ln/>
        </p:spPr>
        <p:txBody>
          <a:bodyPr wrap="square" lIns="0" tIns="0" rIns="0" bIns="0" rtlCol="0" anchor="ctr"/>
          <a:lstStyle/>
          <a:p>
            <a:pPr algn="l" indent="0" marL="0">
              <a:buNone/>
            </a:pPr>
            <a:r>
              <a:rPr lang="en-US" sz="3600" dirty="0">
                <a:solidFill>
                  <a:srgbClr val="2E9E4F"/>
                </a:solidFill>
                <a:latin typeface="Segoe UI Semibold" pitchFamily="34" charset="0"/>
                <a:ea typeface="Segoe UI Semibold" pitchFamily="34" charset="-122"/>
                <a:cs typeface="Segoe UI Semibold" pitchFamily="34" charset="-120"/>
              </a:rPr>
              <a:t>1.8×10⁵</a:t>
            </a:r>
            <a:endParaRPr lang="en-US" sz="1400" dirty="0"/>
          </a:p>
        </p:txBody>
      </p:sp>
      <p:sp>
        <p:nvSpPr>
          <p:cNvPr id="18" name="Text 16"/>
          <p:cNvSpPr txBox="1"/>
          <p:nvPr/>
        </p:nvSpPr>
        <p:spPr>
          <a:xfrm>
            <a:off x="9180576" y="2514600"/>
            <a:ext cx="2286000" cy="292608"/>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I</a:t>
            </a:r>
            <a:pPr algn="l" indent="0" marL="0">
              <a:buNone/>
            </a:pPr>
            <a:r>
              <a:rPr lang="en-US" sz="1500" baseline="-40000" dirty="0">
                <a:solidFill>
                  <a:srgbClr val="171A20"/>
                </a:solidFill>
                <a:latin typeface="Segoe UI Semibold" pitchFamily="34" charset="0"/>
                <a:ea typeface="Segoe UI Semibold" pitchFamily="34" charset="-122"/>
                <a:cs typeface="Segoe UI Semibold" pitchFamily="34" charset="-120"/>
              </a:rPr>
              <a:t>on</a:t>
            </a:r>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 / I</a:t>
            </a:r>
            <a:pPr algn="l" indent="0" marL="0">
              <a:buNone/>
            </a:pPr>
            <a:r>
              <a:rPr lang="en-US" sz="1500" baseline="-40000" dirty="0">
                <a:solidFill>
                  <a:srgbClr val="171A20"/>
                </a:solidFill>
                <a:latin typeface="Segoe UI Semibold" pitchFamily="34" charset="0"/>
                <a:ea typeface="Segoe UI Semibold" pitchFamily="34" charset="-122"/>
                <a:cs typeface="Segoe UI Semibold" pitchFamily="34" charset="-120"/>
              </a:rPr>
              <a:t>off</a:t>
            </a:r>
            <a:endParaRPr lang="en-US" sz="1500" dirty="0"/>
          </a:p>
        </p:txBody>
      </p:sp>
      <p:sp>
        <p:nvSpPr>
          <p:cNvPr id="19" name="Text 17"/>
          <p:cNvSpPr txBox="1"/>
          <p:nvPr/>
        </p:nvSpPr>
        <p:spPr>
          <a:xfrm>
            <a:off x="9180576" y="2834640"/>
            <a:ext cx="2286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clean switch</a:t>
            </a:r>
            <a:endParaRPr lang="en-US" sz="120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11091672" cy="914400"/>
        </p:xfrm>
        <a:graphic>
          <a:graphicData uri="http://schemas.openxmlformats.org/drawingml/2006/table">
            <a:tbl>
              <a:tblPr/>
              <a:tblGrid>
                <a:gridCol w="1463040"/>
                <a:gridCol w="2377440"/>
                <a:gridCol w="7251192"/>
              </a:tblGrid>
              <a:tr h="265176">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Metric</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Our standard GAA</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indent="0" marL="0">
                        <a:buNone/>
                      </a:pPr>
                      <a:r>
                        <a:rPr lang="en-US" sz="1100" b="1" dirty="0">
                          <a:solidFill>
                            <a:srgbClr val="FFFFFF"/>
                          </a:solidFill>
                          <a:latin typeface="Segoe UI" pitchFamily="34" charset="0"/>
                          <a:ea typeface="Segoe UI" pitchFamily="34" charset="-122"/>
                          <a:cs typeface="Segoe UI" pitchFamily="34" charset="-120"/>
                        </a:rPr>
                        <a:t>Gets better when</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r>
              <a:tr h="265176">
                <a:tc>
                  <a:txBody>
                    <a:bodyPr/>
                    <a:lstStyle/>
                    <a:p>
                      <a:pPr indent="0" marL="0">
                        <a:buNone/>
                      </a:pPr>
                      <a:r>
                        <a:rPr lang="en-US" sz="1100" b="1" dirty="0">
                          <a:solidFill>
                            <a:srgbClr val="171A20"/>
                          </a:solidFill>
                          <a:latin typeface="Segoe UI" pitchFamily="34" charset="0"/>
                          <a:ea typeface="Segoe UI" pitchFamily="34" charset="-122"/>
                          <a:cs typeface="Segoe UI" pitchFamily="34" charset="-120"/>
                        </a:rPr>
                        <a:t>V</a:t>
                      </a:r>
                      <a:pPr indent="0" marL="0">
                        <a:buNone/>
                      </a:pPr>
                      <a:r>
                        <a:rPr lang="en-US" sz="1100" b="1" baseline="-40000" dirty="0">
                          <a:solidFill>
                            <a:srgbClr val="171A20"/>
                          </a:solidFill>
                          <a:latin typeface="Segoe UI" pitchFamily="34" charset="0"/>
                          <a:ea typeface="Segoe UI" pitchFamily="34" charset="-122"/>
                          <a:cs typeface="Segoe UI" pitchFamily="34" charset="-120"/>
                        </a:rPr>
                        <a:t>T</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100" dirty="0">
                          <a:solidFill>
                            <a:srgbClr val="171A20"/>
                          </a:solidFill>
                          <a:latin typeface="Segoe UI" pitchFamily="34" charset="0"/>
                          <a:ea typeface="Segoe UI" pitchFamily="34" charset="-122"/>
                          <a:cs typeface="Segoe UI" pitchFamily="34" charset="-120"/>
                        </a:rPr>
                        <a:t>0.209 V</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100" dirty="0">
                          <a:solidFill>
                            <a:srgbClr val="171A20"/>
                          </a:solidFill>
                          <a:latin typeface="Segoe UI" pitchFamily="34" charset="0"/>
                          <a:ea typeface="Segoe UI" pitchFamily="34" charset="-122"/>
                          <a:cs typeface="Segoe UI" pitchFamily="34" charset="-120"/>
                        </a:rPr>
                        <a:t>φm ↑ raises it; short L</a:t>
                      </a:r>
                      <a:pPr indent="0" marL="0">
                        <a:buNone/>
                      </a:pPr>
                      <a:r>
                        <a:rPr lang="en-US" sz="1100" baseline="-40000" dirty="0">
                          <a:solidFill>
                            <a:srgbClr val="171A20"/>
                          </a:solidFill>
                          <a:latin typeface="Segoe UI" pitchFamily="34" charset="0"/>
                          <a:ea typeface="Segoe UI" pitchFamily="34" charset="-122"/>
                          <a:cs typeface="Segoe UI" pitchFamily="34" charset="-120"/>
                        </a:rPr>
                        <a:t>g</a:t>
                      </a:r>
                      <a:pPr indent="0" marL="0">
                        <a:buNone/>
                      </a:pPr>
                      <a:r>
                        <a:rPr lang="en-US" sz="1100" dirty="0">
                          <a:solidFill>
                            <a:srgbClr val="171A20"/>
                          </a:solidFill>
                          <a:latin typeface="Segoe UI" pitchFamily="34" charset="0"/>
                          <a:ea typeface="Segoe UI" pitchFamily="34" charset="-122"/>
                          <a:cs typeface="Segoe UI" pitchFamily="34" charset="-120"/>
                        </a:rPr>
                        <a:t> lowers it</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265176">
                <a:tc>
                  <a:txBody>
                    <a:bodyPr/>
                    <a:lstStyle/>
                    <a:p>
                      <a:pPr indent="0" marL="0">
                        <a:buNone/>
                      </a:pPr>
                      <a:r>
                        <a:rPr lang="en-US" sz="1100" b="1" dirty="0">
                          <a:solidFill>
                            <a:srgbClr val="171A20"/>
                          </a:solidFill>
                          <a:latin typeface="Segoe UI" pitchFamily="34" charset="0"/>
                          <a:ea typeface="Segoe UI" pitchFamily="34" charset="-122"/>
                          <a:cs typeface="Segoe UI" pitchFamily="34" charset="-120"/>
                        </a:rPr>
                        <a:t>SS</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100" dirty="0">
                          <a:solidFill>
                            <a:srgbClr val="171A20"/>
                          </a:solidFill>
                          <a:latin typeface="Segoe UI" pitchFamily="34" charset="0"/>
                          <a:ea typeface="Segoe UI" pitchFamily="34" charset="-122"/>
                          <a:cs typeface="Segoe UI" pitchFamily="34" charset="-120"/>
                        </a:rPr>
                        <a:t>61.3 mV/dec</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100" dirty="0">
                          <a:solidFill>
                            <a:srgbClr val="171A20"/>
                          </a:solidFill>
                          <a:latin typeface="Segoe UI" pitchFamily="34" charset="0"/>
                          <a:ea typeface="Segoe UI" pitchFamily="34" charset="-122"/>
                          <a:cs typeface="Segoe UI" pitchFamily="34" charset="-120"/>
                        </a:rPr>
                        <a:t>more gate sides, thin oxide, cooler</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265176">
                <a:tc>
                  <a:txBody>
                    <a:bodyPr/>
                    <a:lstStyle/>
                    <a:p>
                      <a:pPr indent="0" marL="0">
                        <a:buNone/>
                      </a:pPr>
                      <a:r>
                        <a:rPr lang="en-US" sz="1100" b="1" dirty="0">
                          <a:solidFill>
                            <a:srgbClr val="171A20"/>
                          </a:solidFill>
                          <a:latin typeface="Segoe UI" pitchFamily="34" charset="0"/>
                          <a:ea typeface="Segoe UI" pitchFamily="34" charset="-122"/>
                          <a:cs typeface="Segoe UI" pitchFamily="34" charset="-120"/>
                        </a:rPr>
                        <a:t>DIBL</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100" dirty="0">
                          <a:solidFill>
                            <a:srgbClr val="171A20"/>
                          </a:solidFill>
                          <a:latin typeface="Segoe UI" pitchFamily="34" charset="0"/>
                          <a:ea typeface="Segoe UI" pitchFamily="34" charset="-122"/>
                          <a:cs typeface="Segoe UI" pitchFamily="34" charset="-120"/>
                        </a:rPr>
                        <a:t>17.3 mV/V</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100" dirty="0">
                          <a:solidFill>
                            <a:srgbClr val="171A20"/>
                          </a:solidFill>
                          <a:latin typeface="Segoe UI" pitchFamily="34" charset="0"/>
                          <a:ea typeface="Segoe UI" pitchFamily="34" charset="-122"/>
                          <a:cs typeface="Segoe UI" pitchFamily="34" charset="-120"/>
                        </a:rPr>
                        <a:t>large L</a:t>
                      </a:r>
                      <a:pPr indent="0" marL="0">
                        <a:buNone/>
                      </a:pPr>
                      <a:r>
                        <a:rPr lang="en-US" sz="1100" baseline="-40000" dirty="0">
                          <a:solidFill>
                            <a:srgbClr val="171A20"/>
                          </a:solidFill>
                          <a:latin typeface="Segoe UI" pitchFamily="34" charset="0"/>
                          <a:ea typeface="Segoe UI" pitchFamily="34" charset="-122"/>
                          <a:cs typeface="Segoe UI" pitchFamily="34" charset="-120"/>
                        </a:rPr>
                        <a:t>g</a:t>
                      </a:r>
                      <a:pPr indent="0" marL="0">
                        <a:buNone/>
                      </a:pPr>
                      <a:r>
                        <a:rPr lang="en-US" sz="1100" dirty="0">
                          <a:solidFill>
                            <a:srgbClr val="171A20"/>
                          </a:solidFill>
                          <a:latin typeface="Segoe UI" pitchFamily="34" charset="0"/>
                          <a:ea typeface="Segoe UI" pitchFamily="34" charset="-122"/>
                          <a:cs typeface="Segoe UI" pitchFamily="34" charset="-120"/>
                        </a:rPr>
                        <a:t> / λ (GAA, thin wire)</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265176">
                <a:tc>
                  <a:txBody>
                    <a:bodyPr/>
                    <a:lstStyle/>
                    <a:p>
                      <a:pPr indent="0" marL="0">
                        <a:buNone/>
                      </a:pPr>
                      <a:r>
                        <a:rPr lang="en-US" sz="1100" b="1" dirty="0">
                          <a:solidFill>
                            <a:srgbClr val="171A20"/>
                          </a:solidFill>
                          <a:latin typeface="Segoe UI" pitchFamily="34" charset="0"/>
                          <a:ea typeface="Segoe UI" pitchFamily="34" charset="-122"/>
                          <a:cs typeface="Segoe UI" pitchFamily="34" charset="-120"/>
                        </a:rPr>
                        <a:t>I</a:t>
                      </a:r>
                      <a:pPr indent="0" marL="0">
                        <a:buNone/>
                      </a:pPr>
                      <a:r>
                        <a:rPr lang="en-US" sz="1100" b="1" baseline="-40000" dirty="0">
                          <a:solidFill>
                            <a:srgbClr val="171A20"/>
                          </a:solidFill>
                          <a:latin typeface="Segoe UI" pitchFamily="34" charset="0"/>
                          <a:ea typeface="Segoe UI" pitchFamily="34" charset="-122"/>
                          <a:cs typeface="Segoe UI" pitchFamily="34" charset="-120"/>
                        </a:rPr>
                        <a:t>on</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100" dirty="0">
                          <a:solidFill>
                            <a:srgbClr val="171A20"/>
                          </a:solidFill>
                          <a:latin typeface="Segoe UI" pitchFamily="34" charset="0"/>
                          <a:ea typeface="Segoe UI" pitchFamily="34" charset="-122"/>
                          <a:cs typeface="Segoe UI" pitchFamily="34" charset="-120"/>
                        </a:rPr>
                        <a:t>17.9 µA</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100" dirty="0">
                          <a:solidFill>
                            <a:srgbClr val="171A20"/>
                          </a:solidFill>
                          <a:latin typeface="Segoe UI" pitchFamily="34" charset="0"/>
                          <a:ea typeface="Segoe UI" pitchFamily="34" charset="-122"/>
                          <a:cs typeface="Segoe UI" pitchFamily="34" charset="-120"/>
                        </a:rPr>
                        <a:t>W</a:t>
                      </a:r>
                      <a:pPr indent="0" marL="0">
                        <a:buNone/>
                      </a:pPr>
                      <a:r>
                        <a:rPr lang="en-US" sz="1100" baseline="-40000" dirty="0">
                          <a:solidFill>
                            <a:srgbClr val="171A20"/>
                          </a:solidFill>
                          <a:latin typeface="Segoe UI" pitchFamily="34" charset="0"/>
                          <a:ea typeface="Segoe UI" pitchFamily="34" charset="-122"/>
                          <a:cs typeface="Segoe UI" pitchFamily="34" charset="-120"/>
                        </a:rPr>
                        <a:t>eff</a:t>
                      </a:r>
                      <a:pPr indent="0" marL="0">
                        <a:buNone/>
                      </a:pPr>
                      <a:r>
                        <a:rPr lang="en-US" sz="1100" dirty="0">
                          <a:solidFill>
                            <a:srgbClr val="171A20"/>
                          </a:solidFill>
                          <a:latin typeface="Segoe UI" pitchFamily="34" charset="0"/>
                          <a:ea typeface="Segoe UI" pitchFamily="34" charset="-122"/>
                          <a:cs typeface="Segoe UI" pitchFamily="34" charset="-120"/>
                        </a:rPr>
                        <a:t> ↑, V</a:t>
                      </a:r>
                      <a:pPr indent="0" marL="0">
                        <a:buNone/>
                      </a:pPr>
                      <a:r>
                        <a:rPr lang="en-US" sz="1100" baseline="-40000" dirty="0">
                          <a:solidFill>
                            <a:srgbClr val="171A20"/>
                          </a:solidFill>
                          <a:latin typeface="Segoe UI" pitchFamily="34" charset="0"/>
                          <a:ea typeface="Segoe UI" pitchFamily="34" charset="-122"/>
                          <a:cs typeface="Segoe UI" pitchFamily="34" charset="-120"/>
                        </a:rPr>
                        <a:t>T</a:t>
                      </a:r>
                      <a:pPr indent="0" marL="0">
                        <a:buNone/>
                      </a:pPr>
                      <a:r>
                        <a:rPr lang="en-US" sz="1100" dirty="0">
                          <a:solidFill>
                            <a:srgbClr val="171A20"/>
                          </a:solidFill>
                          <a:latin typeface="Segoe UI" pitchFamily="34" charset="0"/>
                          <a:ea typeface="Segoe UI" pitchFamily="34" charset="-122"/>
                          <a:cs typeface="Segoe UI" pitchFamily="34" charset="-120"/>
                        </a:rPr>
                        <a:t> ↓, cooler (μ ↑)</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265176">
                <a:tc>
                  <a:txBody>
                    <a:bodyPr/>
                    <a:lstStyle/>
                    <a:p>
                      <a:pPr indent="0" marL="0">
                        <a:buNone/>
                      </a:pPr>
                      <a:r>
                        <a:rPr lang="en-US" sz="1100" b="1" dirty="0">
                          <a:solidFill>
                            <a:srgbClr val="171A20"/>
                          </a:solidFill>
                          <a:latin typeface="Segoe UI" pitchFamily="34" charset="0"/>
                          <a:ea typeface="Segoe UI" pitchFamily="34" charset="-122"/>
                          <a:cs typeface="Segoe UI" pitchFamily="34" charset="-120"/>
                        </a:rPr>
                        <a:t>I</a:t>
                      </a:r>
                      <a:pPr indent="0" marL="0">
                        <a:buNone/>
                      </a:pPr>
                      <a:r>
                        <a:rPr lang="en-US" sz="1100" b="1" baseline="-40000" dirty="0">
                          <a:solidFill>
                            <a:srgbClr val="171A20"/>
                          </a:solidFill>
                          <a:latin typeface="Segoe UI" pitchFamily="34" charset="0"/>
                          <a:ea typeface="Segoe UI" pitchFamily="34" charset="-122"/>
                          <a:cs typeface="Segoe UI" pitchFamily="34" charset="-120"/>
                        </a:rPr>
                        <a:t>off</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100" dirty="0">
                          <a:solidFill>
                            <a:srgbClr val="171A20"/>
                          </a:solidFill>
                          <a:latin typeface="Segoe UI" pitchFamily="34" charset="0"/>
                          <a:ea typeface="Segoe UI" pitchFamily="34" charset="-122"/>
                          <a:cs typeface="Segoe UI" pitchFamily="34" charset="-120"/>
                        </a:rPr>
                        <a:t>99 pA</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100" dirty="0">
                          <a:solidFill>
                            <a:srgbClr val="171A20"/>
                          </a:solidFill>
                          <a:latin typeface="Segoe UI" pitchFamily="34" charset="0"/>
                          <a:ea typeface="Segoe UI" pitchFamily="34" charset="-122"/>
                          <a:cs typeface="Segoe UI" pitchFamily="34" charset="-120"/>
                        </a:rPr>
                        <a:t>V</a:t>
                      </a:r>
                      <a:pPr indent="0" marL="0">
                        <a:buNone/>
                      </a:pPr>
                      <a:r>
                        <a:rPr lang="en-US" sz="1100" baseline="-40000" dirty="0">
                          <a:solidFill>
                            <a:srgbClr val="171A20"/>
                          </a:solidFill>
                          <a:latin typeface="Segoe UI" pitchFamily="34" charset="0"/>
                          <a:ea typeface="Segoe UI" pitchFamily="34" charset="-122"/>
                          <a:cs typeface="Segoe UI" pitchFamily="34" charset="-120"/>
                        </a:rPr>
                        <a:t>T</a:t>
                      </a:r>
                      <a:pPr indent="0" marL="0">
                        <a:buNone/>
                      </a:pPr>
                      <a:r>
                        <a:rPr lang="en-US" sz="1100" dirty="0">
                          <a:solidFill>
                            <a:srgbClr val="171A20"/>
                          </a:solidFill>
                          <a:latin typeface="Segoe UI" pitchFamily="34" charset="0"/>
                          <a:ea typeface="Segoe UI" pitchFamily="34" charset="-122"/>
                          <a:cs typeface="Segoe UI" pitchFamily="34" charset="-120"/>
                        </a:rPr>
                        <a:t> ↑, SS ↓, DIBL ↓</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265176">
                <a:tc>
                  <a:txBody>
                    <a:bodyPr/>
                    <a:lstStyle/>
                    <a:p>
                      <a:pPr indent="0" marL="0">
                        <a:buNone/>
                      </a:pPr>
                      <a:r>
                        <a:rPr lang="en-US" sz="1100" b="1" dirty="0">
                          <a:solidFill>
                            <a:srgbClr val="171A20"/>
                          </a:solidFill>
                          <a:latin typeface="Segoe UI" pitchFamily="34" charset="0"/>
                          <a:ea typeface="Segoe UI" pitchFamily="34" charset="-122"/>
                          <a:cs typeface="Segoe UI" pitchFamily="34" charset="-120"/>
                        </a:rPr>
                        <a:t>λ</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100" dirty="0">
                          <a:solidFill>
                            <a:srgbClr val="171A20"/>
                          </a:solidFill>
                          <a:latin typeface="Segoe UI" pitchFamily="34" charset="0"/>
                          <a:ea typeface="Segoe UI" pitchFamily="34" charset="-122"/>
                          <a:cs typeface="Segoe UI" pitchFamily="34" charset="-120"/>
                        </a:rPr>
                        <a:t>2.18 nm</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100" dirty="0">
                          <a:solidFill>
                            <a:srgbClr val="171A20"/>
                          </a:solidFill>
                          <a:latin typeface="Segoe UI" pitchFamily="34" charset="0"/>
                          <a:ea typeface="Segoe UI" pitchFamily="34" charset="-122"/>
                          <a:cs typeface="Segoe UI" pitchFamily="34" charset="-120"/>
                        </a:rPr>
                        <a:t>N ↑, t</a:t>
                      </a:r>
                      <a:pPr indent="0" marL="0">
                        <a:buNone/>
                      </a:pPr>
                      <a:r>
                        <a:rPr lang="en-US" sz="1100" baseline="-40000" dirty="0">
                          <a:solidFill>
                            <a:srgbClr val="171A20"/>
                          </a:solidFill>
                          <a:latin typeface="Segoe UI" pitchFamily="34" charset="0"/>
                          <a:ea typeface="Segoe UI" pitchFamily="34" charset="-122"/>
                          <a:cs typeface="Segoe UI" pitchFamily="34" charset="-120"/>
                        </a:rPr>
                        <a:t>si</a:t>
                      </a:r>
                      <a:pPr indent="0" marL="0">
                        <a:buNone/>
                      </a:pPr>
                      <a:r>
                        <a:rPr lang="en-US" sz="1100" dirty="0">
                          <a:solidFill>
                            <a:srgbClr val="171A20"/>
                          </a:solidFill>
                          <a:latin typeface="Segoe UI" pitchFamily="34" charset="0"/>
                          <a:ea typeface="Segoe UI" pitchFamily="34" charset="-122"/>
                          <a:cs typeface="Segoe UI" pitchFamily="34" charset="-120"/>
                        </a:rPr>
                        <a:t> ↓, t</a:t>
                      </a:r>
                      <a:pPr indent="0" marL="0">
                        <a:buNone/>
                      </a:pPr>
                      <a:r>
                        <a:rPr lang="en-US" sz="1100" baseline="-40000" dirty="0">
                          <a:solidFill>
                            <a:srgbClr val="171A20"/>
                          </a:solidFill>
                          <a:latin typeface="Segoe UI" pitchFamily="34" charset="0"/>
                          <a:ea typeface="Segoe UI" pitchFamily="34" charset="-122"/>
                          <a:cs typeface="Segoe UI" pitchFamily="34" charset="-120"/>
                        </a:rPr>
                        <a:t>ox</a:t>
                      </a:r>
                      <a:pPr indent="0" marL="0">
                        <a:buNone/>
                      </a:pPr>
                      <a:r>
                        <a:rPr lang="en-US" sz="1100" dirty="0">
                          <a:solidFill>
                            <a:srgbClr val="171A20"/>
                          </a:solidFill>
                          <a:latin typeface="Segoe UI" pitchFamily="34" charset="0"/>
                          <a:ea typeface="Segoe UI" pitchFamily="34" charset="-122"/>
                          <a:cs typeface="Segoe UI" pitchFamily="34" charset="-120"/>
                        </a:rPr>
                        <a:t> ↓</a:t>
                      </a:r>
                      <a:endParaRPr lang="en-US" sz="11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bl>
          </a:graphicData>
        </a:graphic>
      </p:graphicFrame>
      <p:sp>
        <p:nvSpPr>
          <p:cNvPr id="21"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GAA solves the short-channel problem at L</a:t>
            </a:r>
            <a:pPr algn="ctr" indent="0" marL="0">
              <a:buNone/>
            </a:pPr>
            <a:r>
              <a:rPr lang="en-US" sz="1600" baseline="-40000" dirty="0">
                <a:solidFill>
                  <a:srgbClr val="171A20"/>
                </a:solidFill>
                <a:latin typeface="Segoe UI" pitchFamily="34" charset="0"/>
                <a:ea typeface="Segoe UI" pitchFamily="34" charset="-122"/>
                <a:cs typeface="Segoe UI" pitchFamily="34" charset="-120"/>
              </a:rPr>
              <a:t>g</a:t>
            </a:r>
            <a:pPr algn="ctr" indent="0" marL="0">
              <a:buNone/>
            </a:pPr>
            <a:r>
              <a:rPr lang="en-US" sz="1600" dirty="0">
                <a:solidFill>
                  <a:srgbClr val="171A20"/>
                </a:solidFill>
                <a:latin typeface="Segoe UI" pitchFamily="34" charset="0"/>
                <a:ea typeface="Segoe UI" pitchFamily="34" charset="-122"/>
                <a:cs typeface="Segoe UI" pitchFamily="34" charset="-120"/>
              </a:rPr>
              <a:t> = 14 nm.</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80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Contents</a:t>
            </a:r>
            <a:endParaRPr lang="en-US" sz="3000" dirty="0"/>
          </a:p>
        </p:txBody>
      </p:sp>
      <p:sp>
        <p:nvSpPr>
          <p:cNvPr id="3" name="!!tocLine"/>
          <p:cNvSpPr/>
          <p:nvPr/>
        </p:nvSpPr>
        <p:spPr>
          <a:xfrm>
            <a:off x="868680" y="1508760"/>
            <a:ext cx="91" cy="3840480"/>
          </a:xfrm>
          <a:prstGeom prst="line">
            <a:avLst/>
          </a:prstGeom>
          <a:noFill/>
          <a:ln w="38100">
            <a:solidFill>
              <a:srgbClr val="E2E3E3"/>
            </a:solidFill>
            <a:prstDash val="solid"/>
          </a:ln>
        </p:spPr>
      </p:sp>
      <p:sp>
        <p:nvSpPr>
          <p:cNvPr id="4" name="!!tocC0"/>
          <p:cNvSpPr/>
          <p:nvPr/>
        </p:nvSpPr>
        <p:spPr>
          <a:xfrm>
            <a:off x="685800" y="1325880"/>
            <a:ext cx="365760" cy="365760"/>
          </a:xfrm>
          <a:prstGeom prst="ellipse">
            <a:avLst/>
          </a:prstGeom>
          <a:solidFill>
            <a:srgbClr val="FFFFFF"/>
          </a:solidFill>
          <a:ln w="15875">
            <a:solidFill>
              <a:srgbClr val="2E9E4F"/>
            </a:solidFill>
            <a:prstDash val="solid"/>
          </a:ln>
        </p:spPr>
      </p:sp>
      <p:sp>
        <p:nvSpPr>
          <p:cNvPr id="5" name="!!tocN0"/>
          <p:cNvSpPr txBox="1"/>
          <p:nvPr/>
        </p:nvSpPr>
        <p:spPr>
          <a:xfrm>
            <a:off x="685800" y="135331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01</a:t>
            </a:r>
            <a:endParaRPr lang="en-US" sz="1000" dirty="0"/>
          </a:p>
        </p:txBody>
      </p:sp>
      <p:sp>
        <p:nvSpPr>
          <p:cNvPr id="6" name="!!tocH0"/>
          <p:cNvSpPr txBox="1"/>
          <p:nvPr/>
        </p:nvSpPr>
        <p:spPr>
          <a:xfrm>
            <a:off x="1325880" y="128016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The MOSFET switch</a:t>
            </a:r>
            <a:endParaRPr lang="en-US" sz="1800" dirty="0"/>
          </a:p>
        </p:txBody>
      </p:sp>
      <p:sp>
        <p:nvSpPr>
          <p:cNvPr id="7" name="!!tocS0"/>
          <p:cNvSpPr txBox="1"/>
          <p:nvPr/>
        </p:nvSpPr>
        <p:spPr>
          <a:xfrm>
            <a:off x="1325880" y="162763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Build it · turn the gate · turn the drain · V</a:t>
            </a:r>
            <a:pPr algn="l" indent="0" marL="0">
              <a:buNone/>
            </a:pPr>
            <a:r>
              <a:rPr lang="en-US" sz="1100" baseline="-40000" dirty="0">
                <a:solidFill>
                  <a:srgbClr val="A9ACB1"/>
                </a:solidFill>
                <a:latin typeface="Segoe UI" pitchFamily="34" charset="0"/>
                <a:ea typeface="Segoe UI" pitchFamily="34" charset="-122"/>
                <a:cs typeface="Segoe UI" pitchFamily="34" charset="-120"/>
              </a:rPr>
              <a:t>T</a:t>
            </a:r>
            <a:pPr algn="l" indent="0" marL="0">
              <a:buNone/>
            </a:pPr>
            <a:r>
              <a:rPr lang="en-US" sz="1100" dirty="0">
                <a:solidFill>
                  <a:srgbClr val="A9ACB1"/>
                </a:solidFill>
                <a:latin typeface="Segoe UI" pitchFamily="34" charset="0"/>
                <a:ea typeface="Segoe UI" pitchFamily="34" charset="-122"/>
                <a:cs typeface="Segoe UI" pitchFamily="34" charset="-120"/>
              </a:rPr>
              <a:t> and SS in depth</a:t>
            </a:r>
            <a:endParaRPr lang="en-US" sz="1100" dirty="0"/>
          </a:p>
        </p:txBody>
      </p:sp>
      <p:sp>
        <p:nvSpPr>
          <p:cNvPr id="8" name="!!tocC1"/>
          <p:cNvSpPr/>
          <p:nvPr/>
        </p:nvSpPr>
        <p:spPr>
          <a:xfrm>
            <a:off x="685800" y="1965960"/>
            <a:ext cx="365760" cy="365760"/>
          </a:xfrm>
          <a:prstGeom prst="ellipse">
            <a:avLst/>
          </a:prstGeom>
          <a:solidFill>
            <a:srgbClr val="FFFFFF"/>
          </a:solidFill>
          <a:ln w="15875">
            <a:solidFill>
              <a:srgbClr val="2E9E4F"/>
            </a:solidFill>
            <a:prstDash val="solid"/>
          </a:ln>
        </p:spPr>
      </p:sp>
      <p:sp>
        <p:nvSpPr>
          <p:cNvPr id="9" name="!!tocN1"/>
          <p:cNvSpPr txBox="1"/>
          <p:nvPr/>
        </p:nvSpPr>
        <p:spPr>
          <a:xfrm>
            <a:off x="685800" y="199339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02</a:t>
            </a:r>
            <a:endParaRPr lang="en-US" sz="1000" dirty="0"/>
          </a:p>
        </p:txBody>
      </p:sp>
      <p:sp>
        <p:nvSpPr>
          <p:cNvPr id="10" name="!!tocH1"/>
          <p:cNvSpPr txBox="1"/>
          <p:nvPr/>
        </p:nvSpPr>
        <p:spPr>
          <a:xfrm>
            <a:off x="1325880" y="192024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Shrinking the gate</a:t>
            </a:r>
            <a:endParaRPr lang="en-US" sz="1800" dirty="0"/>
          </a:p>
        </p:txBody>
      </p:sp>
      <p:sp>
        <p:nvSpPr>
          <p:cNvPr id="11" name="!!tocS1"/>
          <p:cNvSpPr txBox="1"/>
          <p:nvPr/>
        </p:nvSpPr>
        <p:spPr>
          <a:xfrm>
            <a:off x="1325880" y="226771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Shorter L</a:t>
            </a:r>
            <a:pPr algn="l" indent="0" marL="0">
              <a:buNone/>
            </a:pPr>
            <a:r>
              <a:rPr lang="en-US" sz="1100" baseline="-40000" dirty="0">
                <a:solidFill>
                  <a:srgbClr val="A9ACB1"/>
                </a:solidFill>
                <a:latin typeface="Segoe UI" pitchFamily="34" charset="0"/>
                <a:ea typeface="Segoe UI" pitchFamily="34" charset="-122"/>
                <a:cs typeface="Segoe UI" pitchFamily="34" charset="-120"/>
              </a:rPr>
              <a:t>g</a:t>
            </a:r>
            <a:pPr algn="l" indent="0" marL="0">
              <a:buNone/>
            </a:pPr>
            <a:r>
              <a:rPr lang="en-US" sz="1100" dirty="0">
                <a:solidFill>
                  <a:srgbClr val="A9ACB1"/>
                </a:solidFill>
                <a:latin typeface="Segoe UI" pitchFamily="34" charset="0"/>
                <a:ea typeface="Segoe UI" pitchFamily="34" charset="-122"/>
                <a:cs typeface="Segoe UI" pitchFamily="34" charset="-120"/>
              </a:rPr>
              <a:t> · DIBL and leakage · the scale length λ</a:t>
            </a:r>
            <a:endParaRPr lang="en-US" sz="1100" dirty="0"/>
          </a:p>
        </p:txBody>
      </p:sp>
      <p:sp>
        <p:nvSpPr>
          <p:cNvPr id="12" name="!!tocC2"/>
          <p:cNvSpPr/>
          <p:nvPr/>
        </p:nvSpPr>
        <p:spPr>
          <a:xfrm>
            <a:off x="685800" y="2606040"/>
            <a:ext cx="365760" cy="365760"/>
          </a:xfrm>
          <a:prstGeom prst="ellipse">
            <a:avLst/>
          </a:prstGeom>
          <a:solidFill>
            <a:srgbClr val="FFFFFF"/>
          </a:solidFill>
          <a:ln w="15875">
            <a:solidFill>
              <a:srgbClr val="2E9E4F"/>
            </a:solidFill>
            <a:prstDash val="solid"/>
          </a:ln>
        </p:spPr>
      </p:sp>
      <p:sp>
        <p:nvSpPr>
          <p:cNvPr id="13" name="!!tocN2"/>
          <p:cNvSpPr txBox="1"/>
          <p:nvPr/>
        </p:nvSpPr>
        <p:spPr>
          <a:xfrm>
            <a:off x="685800" y="263347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03</a:t>
            </a:r>
            <a:endParaRPr lang="en-US" sz="1000" dirty="0"/>
          </a:p>
        </p:txBody>
      </p:sp>
      <p:sp>
        <p:nvSpPr>
          <p:cNvPr id="14" name="!!tocH2"/>
          <p:cNvSpPr txBox="1"/>
          <p:nvPr/>
        </p:nvSpPr>
        <p:spPr>
          <a:xfrm>
            <a:off x="1325880" y="256032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FinFET → GAAFET</a:t>
            </a:r>
            <a:endParaRPr lang="en-US" sz="1800" dirty="0"/>
          </a:p>
        </p:txBody>
      </p:sp>
      <p:sp>
        <p:nvSpPr>
          <p:cNvPr id="15" name="!!tocS2"/>
          <p:cNvSpPr txBox="1"/>
          <p:nvPr/>
        </p:nvSpPr>
        <p:spPr>
          <a:xfrm>
            <a:off x="1325880" y="290779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More gate sides · fin width · wire, sheet, stack · our GAA in numbers</a:t>
            </a:r>
            <a:endParaRPr lang="en-US" sz="1100" dirty="0"/>
          </a:p>
        </p:txBody>
      </p:sp>
      <p:sp>
        <p:nvSpPr>
          <p:cNvPr id="16" name="!!tocC3"/>
          <p:cNvSpPr/>
          <p:nvPr/>
        </p:nvSpPr>
        <p:spPr>
          <a:xfrm>
            <a:off x="685800" y="3246120"/>
            <a:ext cx="365760" cy="365760"/>
          </a:xfrm>
          <a:prstGeom prst="ellipse">
            <a:avLst/>
          </a:prstGeom>
          <a:solidFill>
            <a:srgbClr val="171A20"/>
          </a:solidFill>
          <a:ln w="15875">
            <a:solidFill>
              <a:srgbClr val="171A20"/>
            </a:solidFill>
            <a:prstDash val="solid"/>
          </a:ln>
        </p:spPr>
      </p:sp>
      <p:sp>
        <p:nvSpPr>
          <p:cNvPr id="17" name="!!tocN3"/>
          <p:cNvSpPr txBox="1"/>
          <p:nvPr/>
        </p:nvSpPr>
        <p:spPr>
          <a:xfrm>
            <a:off x="685800" y="3273552"/>
            <a:ext cx="365760" cy="310896"/>
          </a:xfrm>
          <a:prstGeom prst="rect">
            <a:avLst/>
          </a:prstGeom>
          <a:noFill/>
          <a:ln/>
        </p:spPr>
        <p:txBody>
          <a:bodyPr wrap="square" lIns="0" tIns="0" rIns="0" bIns="0" rtlCol="0" anchor="ctr"/>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04</a:t>
            </a:r>
            <a:endParaRPr lang="en-US" sz="1000" dirty="0"/>
          </a:p>
        </p:txBody>
      </p:sp>
      <p:sp>
        <p:nvSpPr>
          <p:cNvPr id="18" name="!!tocH3"/>
          <p:cNvSpPr txBox="1"/>
          <p:nvPr/>
        </p:nvSpPr>
        <p:spPr>
          <a:xfrm>
            <a:off x="1325880" y="3200400"/>
            <a:ext cx="6400800" cy="347472"/>
          </a:xfrm>
          <a:prstGeom prst="rect">
            <a:avLst/>
          </a:prstGeom>
          <a:noFill/>
          <a:ln/>
        </p:spPr>
        <p:txBody>
          <a:bodyPr wrap="square" lIns="0" tIns="0" rIns="0" bIns="0" rtlCol="0" anchor="ctr"/>
          <a:lstStyle/>
          <a:p>
            <a:pPr algn="l" indent="0" marL="0">
              <a:buNone/>
            </a:pPr>
            <a:r>
              <a:rPr lang="en-US" sz="2000" dirty="0">
                <a:solidFill>
                  <a:srgbClr val="171A20"/>
                </a:solidFill>
                <a:latin typeface="Segoe UI Semibold" pitchFamily="34" charset="0"/>
                <a:ea typeface="Segoe UI Semibold" pitchFamily="34" charset="-122"/>
                <a:cs typeface="Segoe UI Semibold" pitchFamily="34" charset="-120"/>
              </a:rPr>
              <a:t>The new problem: heat</a:t>
            </a:r>
            <a:endParaRPr lang="en-US" sz="2000" dirty="0"/>
          </a:p>
        </p:txBody>
      </p:sp>
      <p:sp>
        <p:nvSpPr>
          <p:cNvPr id="19" name="!!tocS3"/>
          <p:cNvSpPr txBox="1"/>
          <p:nvPr/>
        </p:nvSpPr>
        <p:spPr>
          <a:xfrm>
            <a:off x="1325880" y="3547872"/>
            <a:ext cx="8229600" cy="237744"/>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Oxide traps heat · ΔT = R</a:t>
            </a:r>
            <a:pPr algn="l" indent="0" marL="0">
              <a:buNone/>
            </a:pPr>
            <a:r>
              <a:rPr lang="en-US" sz="1100" baseline="-40000" dirty="0">
                <a:solidFill>
                  <a:srgbClr val="5C5E62"/>
                </a:solidFill>
                <a:latin typeface="Segoe UI" pitchFamily="34" charset="0"/>
                <a:ea typeface="Segoe UI" pitchFamily="34" charset="-122"/>
                <a:cs typeface="Segoe UI" pitchFamily="34" charset="-120"/>
              </a:rPr>
              <a:t>th</a:t>
            </a:r>
            <a:pPr algn="l" indent="0" marL="0">
              <a:buNone/>
            </a:pPr>
            <a:r>
              <a:rPr lang="en-US" sz="1100" dirty="0">
                <a:solidFill>
                  <a:srgbClr val="5C5E62"/>
                </a:solidFill>
                <a:latin typeface="Segoe UI" pitchFamily="34" charset="0"/>
                <a:ea typeface="Segoe UI" pitchFamily="34" charset="-122"/>
                <a:cs typeface="Segoe UI" pitchFamily="34" charset="-120"/>
              </a:rPr>
              <a:t> · P · what heat does to every metric</a:t>
            </a:r>
            <a:endParaRPr lang="en-US" sz="1100" dirty="0"/>
          </a:p>
        </p:txBody>
      </p:sp>
      <p:sp>
        <p:nvSpPr>
          <p:cNvPr id="20" name="!!tocC4"/>
          <p:cNvSpPr/>
          <p:nvPr/>
        </p:nvSpPr>
        <p:spPr>
          <a:xfrm>
            <a:off x="685800" y="3886200"/>
            <a:ext cx="365760" cy="365760"/>
          </a:xfrm>
          <a:prstGeom prst="ellipse">
            <a:avLst/>
          </a:prstGeom>
          <a:solidFill>
            <a:srgbClr val="FFFFFF"/>
          </a:solidFill>
          <a:ln w="15875">
            <a:solidFill>
              <a:srgbClr val="9C7A3C"/>
            </a:solidFill>
            <a:prstDash val="solid"/>
          </a:ln>
        </p:spPr>
      </p:sp>
      <p:sp>
        <p:nvSpPr>
          <p:cNvPr id="21" name="!!tocN4"/>
          <p:cNvSpPr txBox="1"/>
          <p:nvPr/>
        </p:nvSpPr>
        <p:spPr>
          <a:xfrm>
            <a:off x="685800" y="391363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05</a:t>
            </a:r>
            <a:endParaRPr lang="en-US" sz="1000" dirty="0"/>
          </a:p>
        </p:txBody>
      </p:sp>
      <p:sp>
        <p:nvSpPr>
          <p:cNvPr id="22" name="!!tocH4"/>
          <p:cNvSpPr txBox="1"/>
          <p:nvPr/>
        </p:nvSpPr>
        <p:spPr>
          <a:xfrm>
            <a:off x="1325880" y="384048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Literature and method</a:t>
            </a:r>
            <a:endParaRPr lang="en-US" sz="1800" dirty="0"/>
          </a:p>
        </p:txBody>
      </p:sp>
      <p:sp>
        <p:nvSpPr>
          <p:cNvPr id="23" name="!!tocS4"/>
          <p:cNvSpPr txBox="1"/>
          <p:nvPr/>
        </p:nvSpPr>
        <p:spPr>
          <a:xfrm>
            <a:off x="1325880" y="418795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Five papers · base paper Chen et al. 2025 · Silvaco Atlas flow</a:t>
            </a:r>
            <a:endParaRPr lang="en-US" sz="1100" dirty="0"/>
          </a:p>
        </p:txBody>
      </p:sp>
      <p:sp>
        <p:nvSpPr>
          <p:cNvPr id="24" name="!!tocC5"/>
          <p:cNvSpPr/>
          <p:nvPr/>
        </p:nvSpPr>
        <p:spPr>
          <a:xfrm>
            <a:off x="685800" y="4526280"/>
            <a:ext cx="365760" cy="365760"/>
          </a:xfrm>
          <a:prstGeom prst="ellipse">
            <a:avLst/>
          </a:prstGeom>
          <a:solidFill>
            <a:srgbClr val="FFFFFF"/>
          </a:solidFill>
          <a:ln w="15875">
            <a:solidFill>
              <a:srgbClr val="9C7A3C"/>
            </a:solidFill>
            <a:prstDash val="solid"/>
          </a:ln>
        </p:spPr>
      </p:sp>
      <p:sp>
        <p:nvSpPr>
          <p:cNvPr id="25" name="!!tocN5"/>
          <p:cNvSpPr txBox="1"/>
          <p:nvPr/>
        </p:nvSpPr>
        <p:spPr>
          <a:xfrm>
            <a:off x="685800" y="455371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06</a:t>
            </a:r>
            <a:endParaRPr lang="en-US" sz="1000" dirty="0"/>
          </a:p>
        </p:txBody>
      </p:sp>
      <p:sp>
        <p:nvSpPr>
          <p:cNvPr id="26" name="!!tocH5"/>
          <p:cNvSpPr txBox="1"/>
          <p:nvPr/>
        </p:nvSpPr>
        <p:spPr>
          <a:xfrm>
            <a:off x="1325880" y="448056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Three stages in TCAD</a:t>
            </a:r>
            <a:endParaRPr lang="en-US" sz="1800" dirty="0"/>
          </a:p>
        </p:txBody>
      </p:sp>
      <p:sp>
        <p:nvSpPr>
          <p:cNvPr id="27" name="!!tocS5"/>
          <p:cNvSpPr txBox="1"/>
          <p:nvPr/>
        </p:nvSpPr>
        <p:spPr>
          <a:xfrm>
            <a:off x="1325880" y="482803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Standard GAAFET · reproduce the paper · optimal design D</a:t>
            </a:r>
            <a:endParaRPr lang="en-US" sz="1100" dirty="0"/>
          </a:p>
        </p:txBody>
      </p:sp>
      <p:sp>
        <p:nvSpPr>
          <p:cNvPr id="28" name="!!tocC6"/>
          <p:cNvSpPr/>
          <p:nvPr/>
        </p:nvSpPr>
        <p:spPr>
          <a:xfrm>
            <a:off x="685800" y="5166360"/>
            <a:ext cx="365760" cy="365760"/>
          </a:xfrm>
          <a:prstGeom prst="ellipse">
            <a:avLst/>
          </a:prstGeom>
          <a:solidFill>
            <a:srgbClr val="FFFFFF"/>
          </a:solidFill>
          <a:ln w="15875">
            <a:solidFill>
              <a:srgbClr val="9C7A3C"/>
            </a:solidFill>
            <a:prstDash val="solid"/>
          </a:ln>
        </p:spPr>
      </p:sp>
      <p:sp>
        <p:nvSpPr>
          <p:cNvPr id="29" name="!!tocN6"/>
          <p:cNvSpPr txBox="1"/>
          <p:nvPr/>
        </p:nvSpPr>
        <p:spPr>
          <a:xfrm>
            <a:off x="685800" y="519379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07</a:t>
            </a:r>
            <a:endParaRPr lang="en-US" sz="1000" dirty="0"/>
          </a:p>
        </p:txBody>
      </p:sp>
      <p:sp>
        <p:nvSpPr>
          <p:cNvPr id="30" name="!!tocH6"/>
          <p:cNvSpPr txBox="1"/>
          <p:nvPr/>
        </p:nvSpPr>
        <p:spPr>
          <a:xfrm>
            <a:off x="1325880" y="512064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Conclusion</a:t>
            </a:r>
            <a:endParaRPr lang="en-US" sz="1800" dirty="0"/>
          </a:p>
        </p:txBody>
      </p:sp>
      <p:sp>
        <p:nvSpPr>
          <p:cNvPr id="31" name="!!tocS6"/>
          <p:cNvSpPr txBox="1"/>
          <p:nvPr/>
        </p:nvSpPr>
        <p:spPr>
          <a:xfrm>
            <a:off x="1325880" y="546811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Gains and limits · the whole story · next steps</a:t>
            </a:r>
            <a:endParaRPr lang="en-US" sz="1100" dirty="0"/>
          </a:p>
        </p:txBody>
      </p:sp>
      <p:sp>
        <p:nvSpPr>
          <p:cNvPr id="32" name="!!tocCard"/>
          <p:cNvSpPr/>
          <p:nvPr/>
        </p:nvSpPr>
        <p:spPr>
          <a:xfrm>
            <a:off x="8503920" y="2011680"/>
            <a:ext cx="3136392" cy="2377440"/>
          </a:xfrm>
          <a:prstGeom prst="roundRect">
            <a:avLst>
              <a:gd name="adj" fmla="val 3077"/>
            </a:avLst>
          </a:prstGeom>
          <a:solidFill>
            <a:srgbClr val="F4F5F7"/>
          </a:solidFill>
          <a:ln/>
        </p:spPr>
      </p:sp>
      <p:sp>
        <p:nvSpPr>
          <p:cNvPr id="33" name="!!tocCk"/>
          <p:cNvSpPr txBox="1"/>
          <p:nvPr/>
        </p:nvSpPr>
        <p:spPr>
          <a:xfrm>
            <a:off x="8732520" y="2240280"/>
            <a:ext cx="27432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Chapter 04</a:t>
            </a:r>
            <a:endParaRPr lang="en-US" sz="1200" dirty="0"/>
          </a:p>
        </p:txBody>
      </p:sp>
      <p:sp>
        <p:nvSpPr>
          <p:cNvPr id="34" name="!!tocCh"/>
          <p:cNvSpPr txBox="1"/>
          <p:nvPr/>
        </p:nvSpPr>
        <p:spPr>
          <a:xfrm>
            <a:off x="8732520" y="2560320"/>
            <a:ext cx="2743200" cy="822960"/>
          </a:xfrm>
          <a:prstGeom prst="rect">
            <a:avLst/>
          </a:prstGeom>
          <a:noFill/>
          <a:ln/>
        </p:spPr>
        <p:txBody>
          <a:bodyPr wrap="square" lIns="0" tIns="0" rIns="0" bIns="0" rtlCol="0" anchor="t"/>
          <a:lstStyle/>
          <a:p>
            <a:pPr algn="l" indent="0" marL="0">
              <a:buNone/>
            </a:pPr>
            <a:r>
              <a:rPr lang="en-US" sz="2200" dirty="0">
                <a:solidFill>
                  <a:srgbClr val="171A20"/>
                </a:solidFill>
                <a:latin typeface="Segoe UI Semibold" pitchFamily="34" charset="0"/>
                <a:ea typeface="Segoe UI Semibold" pitchFamily="34" charset="-122"/>
                <a:cs typeface="Segoe UI Semibold" pitchFamily="34" charset="-120"/>
              </a:rPr>
              <a:t>The new problem: heat</a:t>
            </a:r>
            <a:endParaRPr lang="en-US" sz="2200" dirty="0"/>
          </a:p>
        </p:txBody>
      </p:sp>
      <p:sp>
        <p:nvSpPr>
          <p:cNvPr id="35" name="!!tocCs"/>
          <p:cNvSpPr txBox="1"/>
          <p:nvPr/>
        </p:nvSpPr>
        <p:spPr>
          <a:xfrm>
            <a:off x="8732520" y="3383280"/>
            <a:ext cx="2743200" cy="9144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Oxide traps heat</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ΔT = R</a:t>
            </a:r>
            <a:pPr algn="l" indent="0" marL="0">
              <a:buNone/>
            </a:pPr>
            <a:r>
              <a:rPr lang="en-US" sz="1100" baseline="-40000" dirty="0">
                <a:solidFill>
                  <a:srgbClr val="5C5E62"/>
                </a:solidFill>
                <a:latin typeface="Segoe UI" pitchFamily="34" charset="0"/>
                <a:ea typeface="Segoe UI" pitchFamily="34" charset="-122"/>
                <a:cs typeface="Segoe UI" pitchFamily="34" charset="-120"/>
              </a:rPr>
              <a:t>th</a:t>
            </a:r>
            <a:pPr algn="l" indent="0" marL="0">
              <a:buNone/>
            </a:pP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P</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what heat does to every metric</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81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new problem – The oxide traps the heat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Thermal conductivity κ of every material around our channel (W/m·K, log scale)</a:t>
            </a:r>
            <a:endParaRPr lang="en-US" sz="1600" dirty="0"/>
          </a:p>
        </p:txBody>
      </p:sp>
      <p:graphicFrame>
        <p:nvGraphicFramePr>
          <p:cNvPr id="4" name="Chart 0" descr=""/>
          <p:cNvGraphicFramePr/>
          <p:nvPr/>
        </p:nvGraphicFramePr>
        <p:xfrm>
          <a:off x="548640" y="1463040"/>
          <a:ext cx="658368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554480"/>
            <a:ext cx="4050792" cy="1417320"/>
          </a:xfrm>
          <a:prstGeom prst="roundRect">
            <a:avLst>
              <a:gd name="adj" fmla="val 5161"/>
            </a:avLst>
          </a:prstGeom>
          <a:solidFill>
            <a:srgbClr val="F4F5F7"/>
          </a:solidFill>
          <a:ln/>
        </p:spPr>
      </p:sp>
      <p:sp>
        <p:nvSpPr>
          <p:cNvPr id="6" name="Text 3"/>
          <p:cNvSpPr txBox="1"/>
          <p:nvPr/>
        </p:nvSpPr>
        <p:spPr>
          <a:xfrm>
            <a:off x="7818120" y="1691640"/>
            <a:ext cx="3657600" cy="594360"/>
          </a:xfrm>
          <a:prstGeom prst="rect">
            <a:avLst/>
          </a:prstGeom>
          <a:noFill/>
          <a:ln/>
        </p:spPr>
        <p:txBody>
          <a:bodyPr wrap="square" lIns="0" tIns="0" rIns="0" bIns="0" rtlCol="0" anchor="t"/>
          <a:lstStyle/>
          <a:p>
            <a:pPr algn="l" indent="0" marL="0">
              <a:buNone/>
            </a:pPr>
            <a:r>
              <a:rPr lang="en-US" sz="3400" dirty="0">
                <a:solidFill>
                  <a:srgbClr val="D64545"/>
                </a:solidFill>
                <a:latin typeface="Segoe UI Semibold" pitchFamily="34" charset="0"/>
                <a:ea typeface="Segoe UI Semibold" pitchFamily="34" charset="-122"/>
                <a:cs typeface="Segoe UI Semibold" pitchFamily="34" charset="-120"/>
              </a:rPr>
              <a:t>10–100×</a:t>
            </a:r>
            <a:endParaRPr lang="en-US" sz="3400" dirty="0"/>
          </a:p>
        </p:txBody>
      </p:sp>
      <p:sp>
        <p:nvSpPr>
          <p:cNvPr id="7" name="Text 4"/>
          <p:cNvSpPr txBox="1"/>
          <p:nvPr/>
        </p:nvSpPr>
        <p:spPr>
          <a:xfrm>
            <a:off x="7818120" y="2286000"/>
            <a:ext cx="3657600" cy="54864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worse heat conduction in the oxides that wrap the GAA channel</a:t>
            </a:r>
            <a:endParaRPr lang="en-US" sz="1200" dirty="0"/>
          </a:p>
        </p:txBody>
      </p:sp>
      <p:sp>
        <p:nvSpPr>
          <p:cNvPr id="8" name="Shape 5"/>
          <p:cNvSpPr/>
          <p:nvPr/>
        </p:nvSpPr>
        <p:spPr>
          <a:xfrm>
            <a:off x="7589520" y="3154680"/>
            <a:ext cx="4050792" cy="1143000"/>
          </a:xfrm>
          <a:prstGeom prst="roundRect">
            <a:avLst>
              <a:gd name="adj" fmla="val 6400"/>
            </a:avLst>
          </a:prstGeom>
          <a:solidFill>
            <a:srgbClr val="F4F5F7"/>
          </a:solidFill>
          <a:ln/>
        </p:spPr>
      </p:sp>
      <p:sp>
        <p:nvSpPr>
          <p:cNvPr id="9" name="Text 6"/>
          <p:cNvSpPr txBox="1"/>
          <p:nvPr/>
        </p:nvSpPr>
        <p:spPr>
          <a:xfrm>
            <a:off x="7818120" y="3291840"/>
            <a:ext cx="3657600" cy="365760"/>
          </a:xfrm>
          <a:prstGeom prst="rect">
            <a:avLst/>
          </a:prstGeom>
          <a:noFill/>
          <a:ln/>
        </p:spPr>
        <p:txBody>
          <a:bodyPr wrap="square" lIns="0" tIns="0" rIns="0" bIns="0" rtlCol="0" anchor="t"/>
          <a:lstStyle/>
          <a:p>
            <a:pPr algn="l" indent="0" marL="0">
              <a:buNone/>
            </a:pPr>
            <a:r>
              <a:rPr lang="en-US" sz="1800" dirty="0">
                <a:solidFill>
                  <a:srgbClr val="E07B00"/>
                </a:solidFill>
                <a:latin typeface="Segoe UI Semibold" pitchFamily="34" charset="0"/>
                <a:ea typeface="Segoe UI Semibold" pitchFamily="34" charset="-122"/>
                <a:cs typeface="Segoe UI Semibold" pitchFamily="34" charset="-120"/>
              </a:rPr>
              <a:t>Joule heat  P = I</a:t>
            </a:r>
            <a:pPr algn="l" indent="0" marL="0">
              <a:buNone/>
            </a:pPr>
            <a:r>
              <a:rPr lang="en-US" sz="1800" baseline="-40000" dirty="0">
                <a:solidFill>
                  <a:srgbClr val="E07B00"/>
                </a:solidFill>
                <a:latin typeface="Segoe UI Semibold" pitchFamily="34" charset="0"/>
                <a:ea typeface="Segoe UI Semibold" pitchFamily="34" charset="-122"/>
                <a:cs typeface="Segoe UI Semibold" pitchFamily="34" charset="-120"/>
              </a:rPr>
              <a:t>D</a:t>
            </a:r>
            <a:pPr algn="l" indent="0" marL="0">
              <a:buNone/>
            </a:pPr>
            <a:r>
              <a:rPr lang="en-US" sz="1800" dirty="0">
                <a:solidFill>
                  <a:srgbClr val="E07B00"/>
                </a:solidFill>
                <a:latin typeface="Segoe UI Semibold" pitchFamily="34" charset="0"/>
                <a:ea typeface="Segoe UI Semibold" pitchFamily="34" charset="-122"/>
                <a:cs typeface="Segoe UI Semibold" pitchFamily="34" charset="-120"/>
              </a:rPr>
              <a:t> · V</a:t>
            </a:r>
            <a:pPr algn="l" indent="0" marL="0">
              <a:buNone/>
            </a:pPr>
            <a:r>
              <a:rPr lang="en-US" sz="1800" baseline="-40000" dirty="0">
                <a:solidFill>
                  <a:srgbClr val="E07B00"/>
                </a:solidFill>
                <a:latin typeface="Segoe UI Semibold" pitchFamily="34" charset="0"/>
                <a:ea typeface="Segoe UI Semibold" pitchFamily="34" charset="-122"/>
                <a:cs typeface="Segoe UI Semibold" pitchFamily="34" charset="-120"/>
              </a:rPr>
              <a:t>DS</a:t>
            </a:r>
            <a:endParaRPr lang="en-US" sz="1800" dirty="0"/>
          </a:p>
        </p:txBody>
      </p:sp>
      <p:sp>
        <p:nvSpPr>
          <p:cNvPr id="10" name="Text 7"/>
          <p:cNvSpPr txBox="1"/>
          <p:nvPr/>
        </p:nvSpPr>
        <p:spPr>
          <a:xfrm>
            <a:off x="7818120" y="3703320"/>
            <a:ext cx="3657600" cy="45720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every working transistor turns its power into heat</a:t>
            </a:r>
            <a:endParaRPr lang="en-US" sz="1200" dirty="0"/>
          </a:p>
        </p:txBody>
      </p:sp>
      <p:sp>
        <p:nvSpPr>
          <p:cNvPr id="11" name="Shape 8"/>
          <p:cNvSpPr/>
          <p:nvPr/>
        </p:nvSpPr>
        <p:spPr>
          <a:xfrm>
            <a:off x="7589520" y="4480560"/>
            <a:ext cx="4050792" cy="1097280"/>
          </a:xfrm>
          <a:prstGeom prst="roundRect">
            <a:avLst>
              <a:gd name="adj" fmla="val 6667"/>
            </a:avLst>
          </a:prstGeom>
          <a:solidFill>
            <a:srgbClr val="171A20"/>
          </a:solidFill>
          <a:ln/>
        </p:spPr>
      </p:sp>
      <p:sp>
        <p:nvSpPr>
          <p:cNvPr id="12" name="Text 9"/>
          <p:cNvSpPr txBox="1"/>
          <p:nvPr/>
        </p:nvSpPr>
        <p:spPr>
          <a:xfrm>
            <a:off x="7818120" y="4572000"/>
            <a:ext cx="3657600" cy="914400"/>
          </a:xfrm>
          <a:prstGeom prst="rect">
            <a:avLst/>
          </a:prstGeom>
          <a:noFill/>
          <a:ln/>
        </p:spPr>
        <p:txBody>
          <a:bodyPr wrap="square" lIns="0" tIns="0" rIns="0" bIns="0" rtlCol="0" anchor="ctr"/>
          <a:lstStyle/>
          <a:p>
            <a:pPr algn="l" indent="0" marL="0">
              <a:buNone/>
            </a:pPr>
            <a:r>
              <a:rPr lang="en-US" sz="1300" dirty="0">
                <a:solidFill>
                  <a:srgbClr val="FFFFFF"/>
                </a:solidFill>
                <a:latin typeface="Segoe UI" pitchFamily="34" charset="0"/>
                <a:ea typeface="Segoe UI" pitchFamily="34" charset="-122"/>
                <a:cs typeface="Segoe UI" pitchFamily="34" charset="-120"/>
              </a:rPr>
              <a:t>The gate oxide is what gives GAA its control. It is also what keeps the heat in.</a:t>
            </a:r>
            <a:endParaRPr lang="en-US" sz="1300" dirty="0"/>
          </a:p>
        </p:txBody>
      </p:sp>
      <p:sp>
        <p:nvSpPr>
          <p:cNvPr id="1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Better gate control comes with a worse heat path.</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82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The new problem – Ohm's law for heat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Heat flows like current through a chain of thermal resistances</a:t>
            </a:r>
            <a:endParaRPr lang="en-US" sz="1600" dirty="0"/>
          </a:p>
        </p:txBody>
      </p:sp>
      <p:sp>
        <p:nvSpPr>
          <p:cNvPr id="4" name="Shape 2"/>
          <p:cNvSpPr/>
          <p:nvPr/>
        </p:nvSpPr>
        <p:spPr>
          <a:xfrm>
            <a:off x="777240" y="2148840"/>
            <a:ext cx="1005840" cy="1005840"/>
          </a:xfrm>
          <a:prstGeom prst="ellipse">
            <a:avLst/>
          </a:prstGeom>
          <a:solidFill>
            <a:srgbClr val="F07A3A"/>
          </a:solidFill>
          <a:ln/>
        </p:spPr>
      </p:sp>
      <p:sp>
        <p:nvSpPr>
          <p:cNvPr id="5" name="Text 3"/>
          <p:cNvSpPr txBox="1"/>
          <p:nvPr/>
        </p:nvSpPr>
        <p:spPr>
          <a:xfrm>
            <a:off x="777240" y="2377440"/>
            <a:ext cx="1005840" cy="548640"/>
          </a:xfrm>
          <a:prstGeom prst="rect">
            <a:avLst/>
          </a:prstGeom>
          <a:noFill/>
          <a:ln/>
        </p:spPr>
        <p:txBody>
          <a:bodyPr wrap="square" lIns="0" tIns="0" rIns="0" bIns="0" rtlCol="0" anchor="ctr"/>
          <a:lstStyle/>
          <a:p>
            <a:pPr algn="ctr" indent="0" marL="0">
              <a:buNone/>
            </a:pPr>
            <a:r>
              <a:rPr lang="en-US" sz="2400" dirty="0">
                <a:solidFill>
                  <a:srgbClr val="FFFFFF"/>
                </a:solidFill>
                <a:latin typeface="Segoe UI Semibold" pitchFamily="34" charset="0"/>
                <a:ea typeface="Segoe UI Semibold" pitchFamily="34" charset="-122"/>
                <a:cs typeface="Segoe UI Semibold" pitchFamily="34" charset="-120"/>
              </a:rPr>
              <a:t>P</a:t>
            </a:r>
            <a:endParaRPr lang="en-US" sz="2400" dirty="0"/>
          </a:p>
        </p:txBody>
      </p:sp>
      <p:sp>
        <p:nvSpPr>
          <p:cNvPr id="6" name="Text 4"/>
          <p:cNvSpPr txBox="1"/>
          <p:nvPr/>
        </p:nvSpPr>
        <p:spPr>
          <a:xfrm>
            <a:off x="548640" y="3246120"/>
            <a:ext cx="1463040" cy="4572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heat source</a:t>
            </a:r>
            <a:endParaRPr lang="en-US" sz="1100" dirty="0"/>
          </a:p>
          <a:p>
            <a:pPr algn="ctr" indent="0" marL="0">
              <a:buNone/>
            </a:pPr>
            <a:r>
              <a:rPr lang="en-US" sz="1100" dirty="0">
                <a:solidFill>
                  <a:srgbClr val="5C5E62"/>
                </a:solidFill>
                <a:latin typeface="Segoe UI" pitchFamily="34" charset="0"/>
                <a:ea typeface="Segoe UI" pitchFamily="34" charset="-122"/>
                <a:cs typeface="Segoe UI" pitchFamily="34" charset="-120"/>
              </a:rPr>
              <a:t>(channel)</a:t>
            </a:r>
            <a:endParaRPr lang="en-US" sz="1100" dirty="0"/>
          </a:p>
        </p:txBody>
      </p:sp>
      <p:sp>
        <p:nvSpPr>
          <p:cNvPr id="7" name="Shape 5"/>
          <p:cNvSpPr/>
          <p:nvPr/>
        </p:nvSpPr>
        <p:spPr>
          <a:xfrm>
            <a:off x="1783080" y="2651760"/>
            <a:ext cx="320040" cy="91"/>
          </a:xfrm>
          <a:prstGeom prst="line">
            <a:avLst/>
          </a:prstGeom>
          <a:noFill/>
          <a:ln w="25400">
            <a:solidFill>
              <a:srgbClr val="171A20"/>
            </a:solidFill>
            <a:prstDash val="solid"/>
          </a:ln>
        </p:spPr>
      </p:sp>
      <p:sp>
        <p:nvSpPr>
          <p:cNvPr id="8" name="Shape 6"/>
          <p:cNvSpPr/>
          <p:nvPr/>
        </p:nvSpPr>
        <p:spPr>
          <a:xfrm>
            <a:off x="2103120" y="2468880"/>
            <a:ext cx="1097280" cy="365760"/>
          </a:xfrm>
          <a:custGeom>
            <a:avLst/>
            <a:gdLst/>
            <a:ahLst/>
            <a:cxnLst/>
            <a:rect l="l" t="t" r="r" b="b"/>
            <a:pathLst>
              <a:path w="1097280" h="365760">
                <a:moveTo>
                  <a:pt x="0" y="182880"/>
                </a:moveTo>
                <a:lnTo>
                  <a:pt x="137160" y="0"/>
                </a:lnTo>
                <a:lnTo>
                  <a:pt x="274320" y="365760"/>
                </a:lnTo>
                <a:lnTo>
                  <a:pt x="411480" y="0"/>
                </a:lnTo>
                <a:lnTo>
                  <a:pt x="548640" y="365760"/>
                </a:lnTo>
                <a:lnTo>
                  <a:pt x="685800" y="0"/>
                </a:lnTo>
                <a:lnTo>
                  <a:pt x="822960" y="365760"/>
                </a:lnTo>
                <a:lnTo>
                  <a:pt x="960120" y="0"/>
                </a:lnTo>
                <a:lnTo>
                  <a:pt x="1097280" y="182880"/>
                </a:lnTo>
              </a:path>
            </a:pathLst>
          </a:custGeom>
          <a:ln w="31750">
            <a:solidFill>
              <a:srgbClr val="D64545"/>
            </a:solidFill>
            <a:prstDash val="solid"/>
          </a:ln>
        </p:spPr>
      </p:sp>
      <p:sp>
        <p:nvSpPr>
          <p:cNvPr id="9" name="Text 7"/>
          <p:cNvSpPr txBox="1"/>
          <p:nvPr/>
        </p:nvSpPr>
        <p:spPr>
          <a:xfrm>
            <a:off x="1920240" y="2057400"/>
            <a:ext cx="1463040" cy="274320"/>
          </a:xfrm>
          <a:prstGeom prst="rect">
            <a:avLst/>
          </a:prstGeom>
          <a:noFill/>
          <a:ln/>
        </p:spPr>
        <p:txBody>
          <a:bodyPr wrap="square" lIns="0" tIns="0" rIns="0" bIns="0" rtlCol="0" anchor="t"/>
          <a:lstStyle/>
          <a:p>
            <a:pPr algn="ctr" indent="0" marL="0">
              <a:buNone/>
            </a:pPr>
            <a:r>
              <a:rPr lang="en-US" sz="1400" dirty="0">
                <a:solidFill>
                  <a:srgbClr val="D64545"/>
                </a:solidFill>
                <a:latin typeface="Segoe UI Semibold" pitchFamily="34" charset="0"/>
                <a:ea typeface="Segoe UI Semibold" pitchFamily="34" charset="-122"/>
                <a:cs typeface="Segoe UI Semibold" pitchFamily="34" charset="-120"/>
              </a:rPr>
              <a:t>R</a:t>
            </a:r>
            <a:pPr algn="ctr" indent="0" marL="0">
              <a:buNone/>
            </a:pPr>
            <a:r>
              <a:rPr lang="en-US" sz="1400" baseline="-40000" dirty="0">
                <a:solidFill>
                  <a:srgbClr val="D64545"/>
                </a:solidFill>
                <a:latin typeface="Segoe UI Semibold" pitchFamily="34" charset="0"/>
                <a:ea typeface="Segoe UI Semibold" pitchFamily="34" charset="-122"/>
                <a:cs typeface="Segoe UI Semibold" pitchFamily="34" charset="-120"/>
              </a:rPr>
              <a:t>oxide</a:t>
            </a:r>
            <a:endParaRPr lang="en-US" sz="1400" dirty="0"/>
          </a:p>
        </p:txBody>
      </p:sp>
      <p:sp>
        <p:nvSpPr>
          <p:cNvPr id="10" name="Text 8"/>
          <p:cNvSpPr txBox="1"/>
          <p:nvPr/>
        </p:nvSpPr>
        <p:spPr>
          <a:xfrm>
            <a:off x="1920240" y="2926080"/>
            <a:ext cx="1463040" cy="27432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SiO2 + HfO2</a:t>
            </a:r>
            <a:endParaRPr lang="en-US" sz="1100" dirty="0"/>
          </a:p>
        </p:txBody>
      </p:sp>
      <p:sp>
        <p:nvSpPr>
          <p:cNvPr id="11" name="Shape 9"/>
          <p:cNvSpPr/>
          <p:nvPr/>
        </p:nvSpPr>
        <p:spPr>
          <a:xfrm>
            <a:off x="3383280" y="2651760"/>
            <a:ext cx="320040" cy="91"/>
          </a:xfrm>
          <a:prstGeom prst="line">
            <a:avLst/>
          </a:prstGeom>
          <a:noFill/>
          <a:ln w="25400">
            <a:solidFill>
              <a:srgbClr val="171A20"/>
            </a:solidFill>
            <a:prstDash val="solid"/>
          </a:ln>
        </p:spPr>
      </p:sp>
      <p:sp>
        <p:nvSpPr>
          <p:cNvPr id="12" name="Shape 10"/>
          <p:cNvSpPr/>
          <p:nvPr/>
        </p:nvSpPr>
        <p:spPr>
          <a:xfrm>
            <a:off x="3703320" y="2468880"/>
            <a:ext cx="1097280" cy="365760"/>
          </a:xfrm>
          <a:custGeom>
            <a:avLst/>
            <a:gdLst/>
            <a:ahLst/>
            <a:cxnLst/>
            <a:rect l="l" t="t" r="r" b="b"/>
            <a:pathLst>
              <a:path w="1097280" h="365760">
                <a:moveTo>
                  <a:pt x="0" y="182880"/>
                </a:moveTo>
                <a:lnTo>
                  <a:pt x="137160" y="0"/>
                </a:lnTo>
                <a:lnTo>
                  <a:pt x="274320" y="365760"/>
                </a:lnTo>
                <a:lnTo>
                  <a:pt x="411480" y="0"/>
                </a:lnTo>
                <a:lnTo>
                  <a:pt x="548640" y="365760"/>
                </a:lnTo>
                <a:lnTo>
                  <a:pt x="685800" y="0"/>
                </a:lnTo>
                <a:lnTo>
                  <a:pt x="822960" y="365760"/>
                </a:lnTo>
                <a:lnTo>
                  <a:pt x="960120" y="0"/>
                </a:lnTo>
                <a:lnTo>
                  <a:pt x="1097280" y="182880"/>
                </a:lnTo>
              </a:path>
            </a:pathLst>
          </a:custGeom>
          <a:ln w="31750">
            <a:solidFill>
              <a:srgbClr val="6B5BC4"/>
            </a:solidFill>
            <a:prstDash val="solid"/>
          </a:ln>
        </p:spPr>
      </p:sp>
      <p:sp>
        <p:nvSpPr>
          <p:cNvPr id="13" name="Text 11"/>
          <p:cNvSpPr txBox="1"/>
          <p:nvPr/>
        </p:nvSpPr>
        <p:spPr>
          <a:xfrm>
            <a:off x="3520440" y="2057400"/>
            <a:ext cx="1463040" cy="274320"/>
          </a:xfrm>
          <a:prstGeom prst="rect">
            <a:avLst/>
          </a:prstGeom>
          <a:noFill/>
          <a:ln/>
        </p:spPr>
        <p:txBody>
          <a:bodyPr wrap="square" lIns="0" tIns="0" rIns="0" bIns="0" rtlCol="0" anchor="t"/>
          <a:lstStyle/>
          <a:p>
            <a:pPr algn="ctr" indent="0" marL="0">
              <a:buNone/>
            </a:pPr>
            <a:r>
              <a:rPr lang="en-US" sz="1400" dirty="0">
                <a:solidFill>
                  <a:srgbClr val="6B5BC4"/>
                </a:solidFill>
                <a:latin typeface="Segoe UI Semibold" pitchFamily="34" charset="0"/>
                <a:ea typeface="Segoe UI Semibold" pitchFamily="34" charset="-122"/>
                <a:cs typeface="Segoe UI Semibold" pitchFamily="34" charset="-120"/>
              </a:rPr>
              <a:t>R</a:t>
            </a:r>
            <a:pPr algn="ctr" indent="0" marL="0">
              <a:buNone/>
            </a:pPr>
            <a:r>
              <a:rPr lang="en-US" sz="1400" baseline="-40000" dirty="0">
                <a:solidFill>
                  <a:srgbClr val="6B5BC4"/>
                </a:solidFill>
                <a:latin typeface="Segoe UI Semibold" pitchFamily="34" charset="0"/>
                <a:ea typeface="Segoe UI Semibold" pitchFamily="34" charset="-122"/>
                <a:cs typeface="Segoe UI Semibold" pitchFamily="34" charset="-120"/>
              </a:rPr>
              <a:t>gate</a:t>
            </a:r>
            <a:endParaRPr lang="en-US" sz="1400" dirty="0"/>
          </a:p>
        </p:txBody>
      </p:sp>
      <p:sp>
        <p:nvSpPr>
          <p:cNvPr id="14" name="Text 12"/>
          <p:cNvSpPr txBox="1"/>
          <p:nvPr/>
        </p:nvSpPr>
        <p:spPr>
          <a:xfrm>
            <a:off x="3520440" y="2926080"/>
            <a:ext cx="1463040" cy="27432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metal shell</a:t>
            </a:r>
            <a:endParaRPr lang="en-US" sz="1100" dirty="0"/>
          </a:p>
        </p:txBody>
      </p:sp>
      <p:sp>
        <p:nvSpPr>
          <p:cNvPr id="15" name="Shape 13"/>
          <p:cNvSpPr/>
          <p:nvPr/>
        </p:nvSpPr>
        <p:spPr>
          <a:xfrm>
            <a:off x="4983480" y="2651760"/>
            <a:ext cx="320040" cy="91"/>
          </a:xfrm>
          <a:prstGeom prst="line">
            <a:avLst/>
          </a:prstGeom>
          <a:noFill/>
          <a:ln w="25400">
            <a:solidFill>
              <a:srgbClr val="171A20"/>
            </a:solidFill>
            <a:prstDash val="solid"/>
          </a:ln>
        </p:spPr>
      </p:sp>
      <p:sp>
        <p:nvSpPr>
          <p:cNvPr id="16" name="Shape 14"/>
          <p:cNvSpPr/>
          <p:nvPr/>
        </p:nvSpPr>
        <p:spPr>
          <a:xfrm>
            <a:off x="5303520" y="2468880"/>
            <a:ext cx="1097280" cy="365760"/>
          </a:xfrm>
          <a:custGeom>
            <a:avLst/>
            <a:gdLst/>
            <a:ahLst/>
            <a:cxnLst/>
            <a:rect l="l" t="t" r="r" b="b"/>
            <a:pathLst>
              <a:path w="1097280" h="365760">
                <a:moveTo>
                  <a:pt x="0" y="182880"/>
                </a:moveTo>
                <a:lnTo>
                  <a:pt x="137160" y="0"/>
                </a:lnTo>
                <a:lnTo>
                  <a:pt x="274320" y="365760"/>
                </a:lnTo>
                <a:lnTo>
                  <a:pt x="411480" y="0"/>
                </a:lnTo>
                <a:lnTo>
                  <a:pt x="548640" y="365760"/>
                </a:lnTo>
                <a:lnTo>
                  <a:pt x="685800" y="0"/>
                </a:lnTo>
                <a:lnTo>
                  <a:pt x="822960" y="365760"/>
                </a:lnTo>
                <a:lnTo>
                  <a:pt x="960120" y="0"/>
                </a:lnTo>
                <a:lnTo>
                  <a:pt x="1097280" y="182880"/>
                </a:lnTo>
              </a:path>
            </a:pathLst>
          </a:custGeom>
          <a:ln w="31750">
            <a:solidFill>
              <a:srgbClr val="5C5E62"/>
            </a:solidFill>
            <a:prstDash val="solid"/>
          </a:ln>
        </p:spPr>
      </p:sp>
      <p:sp>
        <p:nvSpPr>
          <p:cNvPr id="17" name="Text 15"/>
          <p:cNvSpPr txBox="1"/>
          <p:nvPr/>
        </p:nvSpPr>
        <p:spPr>
          <a:xfrm>
            <a:off x="5120640" y="2057400"/>
            <a:ext cx="1463040" cy="274320"/>
          </a:xfrm>
          <a:prstGeom prst="rect">
            <a:avLst/>
          </a:prstGeom>
          <a:noFill/>
          <a:ln/>
        </p:spPr>
        <p:txBody>
          <a:bodyPr wrap="square" lIns="0" tIns="0" rIns="0" bIns="0" rtlCol="0" anchor="t"/>
          <a:lstStyle/>
          <a:p>
            <a:pPr algn="ctr" indent="0" marL="0">
              <a:buNone/>
            </a:pPr>
            <a:r>
              <a:rPr lang="en-US" sz="1400" dirty="0">
                <a:solidFill>
                  <a:srgbClr val="5C5E62"/>
                </a:solidFill>
                <a:latin typeface="Segoe UI Semibold" pitchFamily="34" charset="0"/>
                <a:ea typeface="Segoe UI Semibold" pitchFamily="34" charset="-122"/>
                <a:cs typeface="Segoe UI Semibold" pitchFamily="34" charset="-120"/>
              </a:rPr>
              <a:t>R</a:t>
            </a:r>
            <a:pPr algn="ctr" indent="0" marL="0">
              <a:buNone/>
            </a:pPr>
            <a:r>
              <a:rPr lang="en-US" sz="1400" baseline="-40000" dirty="0">
                <a:solidFill>
                  <a:srgbClr val="5C5E62"/>
                </a:solidFill>
                <a:latin typeface="Segoe UI Semibold" pitchFamily="34" charset="0"/>
                <a:ea typeface="Segoe UI Semibold" pitchFamily="34" charset="-122"/>
                <a:cs typeface="Segoe UI Semibold" pitchFamily="34" charset="-120"/>
              </a:rPr>
              <a:t>contact</a:t>
            </a:r>
            <a:endParaRPr lang="en-US" sz="1400" dirty="0"/>
          </a:p>
        </p:txBody>
      </p:sp>
      <p:sp>
        <p:nvSpPr>
          <p:cNvPr id="18" name="Text 16"/>
          <p:cNvSpPr txBox="1"/>
          <p:nvPr/>
        </p:nvSpPr>
        <p:spPr>
          <a:xfrm>
            <a:off x="5120640" y="2926080"/>
            <a:ext cx="1463040" cy="27432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contacts, wires</a:t>
            </a:r>
            <a:endParaRPr lang="en-US" sz="1100" dirty="0"/>
          </a:p>
        </p:txBody>
      </p:sp>
      <p:sp>
        <p:nvSpPr>
          <p:cNvPr id="19" name="Shape 17"/>
          <p:cNvSpPr/>
          <p:nvPr/>
        </p:nvSpPr>
        <p:spPr>
          <a:xfrm>
            <a:off x="6537960" y="2651760"/>
            <a:ext cx="320040" cy="91"/>
          </a:xfrm>
          <a:prstGeom prst="line">
            <a:avLst/>
          </a:prstGeom>
          <a:noFill/>
          <a:ln w="25400">
            <a:solidFill>
              <a:srgbClr val="171A20"/>
            </a:solidFill>
            <a:prstDash val="solid"/>
          </a:ln>
        </p:spPr>
      </p:sp>
      <p:sp>
        <p:nvSpPr>
          <p:cNvPr id="20" name="Shape 18"/>
          <p:cNvSpPr/>
          <p:nvPr/>
        </p:nvSpPr>
        <p:spPr>
          <a:xfrm>
            <a:off x="6858000" y="2240280"/>
            <a:ext cx="822960" cy="822960"/>
          </a:xfrm>
          <a:prstGeom prst="roundRect">
            <a:avLst>
              <a:gd name="adj" fmla="val 6667"/>
            </a:avLst>
          </a:prstGeom>
          <a:solidFill>
            <a:srgbClr val="3E6AE1"/>
          </a:solidFill>
          <a:ln/>
        </p:spPr>
      </p:sp>
      <p:sp>
        <p:nvSpPr>
          <p:cNvPr id="21" name="Text 19"/>
          <p:cNvSpPr txBox="1"/>
          <p:nvPr/>
        </p:nvSpPr>
        <p:spPr>
          <a:xfrm>
            <a:off x="6858000" y="2240280"/>
            <a:ext cx="822960" cy="822960"/>
          </a:xfrm>
          <a:prstGeom prst="rect">
            <a:avLst/>
          </a:prstGeom>
          <a:noFill/>
          <a:ln/>
        </p:spPr>
        <p:txBody>
          <a:bodyPr wrap="square" lIns="0" tIns="0" rIns="0" bIns="0" rtlCol="0" anchor="ctr"/>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300 K</a:t>
            </a:r>
            <a:endParaRPr lang="en-US" sz="1300" dirty="0"/>
          </a:p>
        </p:txBody>
      </p:sp>
      <p:sp>
        <p:nvSpPr>
          <p:cNvPr id="22" name="Text 20"/>
          <p:cNvSpPr txBox="1"/>
          <p:nvPr/>
        </p:nvSpPr>
        <p:spPr>
          <a:xfrm>
            <a:off x="6675120" y="3108960"/>
            <a:ext cx="1188720" cy="27432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heat sink</a:t>
            </a:r>
            <a:endParaRPr lang="en-US" sz="11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731520" y="3840480"/>
          <a:ext cx="6949440" cy="914400"/>
        </p:xfrm>
        <a:graphic>
          <a:graphicData uri="http://schemas.openxmlformats.org/drawingml/2006/table">
            <a:tbl>
              <a:tblPr/>
              <a:tblGrid>
                <a:gridCol w="2743200"/>
                <a:gridCol w="4206240"/>
              </a:tblGrid>
              <a:tr h="329184">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Electrical</a:t>
                      </a:r>
                      <a:endParaRPr lang="en-US" sz="13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Thermal</a:t>
                      </a:r>
                      <a:endParaRPr lang="en-US" sz="13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r>
              <a:tr h="329184">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voltage V</a:t>
                      </a:r>
                      <a:endParaRPr lang="en-US" sz="13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temperature rise ΔT (K)</a:t>
                      </a:r>
                      <a:endParaRPr lang="en-US" sz="13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329184">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current I</a:t>
                      </a:r>
                      <a:endParaRPr lang="en-US" sz="13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power P (W)</a:t>
                      </a:r>
                      <a:endParaRPr lang="en-US" sz="13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329184">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resistance R</a:t>
                      </a:r>
                      <a:endParaRPr lang="en-US" sz="13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thermal resistance R</a:t>
                      </a:r>
                      <a:pPr indent="0" marL="0">
                        <a:buNone/>
                      </a:pPr>
                      <a:r>
                        <a:rPr lang="en-US" sz="1300" baseline="-40000" dirty="0">
                          <a:solidFill>
                            <a:srgbClr val="171A20"/>
                          </a:solidFill>
                          <a:latin typeface="Segoe UI" pitchFamily="34" charset="0"/>
                          <a:ea typeface="Segoe UI" pitchFamily="34" charset="-122"/>
                          <a:cs typeface="Segoe UI" pitchFamily="34" charset="-120"/>
                        </a:rPr>
                        <a:t>th</a:t>
                      </a:r>
                      <a:pPr indent="0" marL="0">
                        <a:buNone/>
                      </a:pPr>
                      <a:r>
                        <a:rPr lang="en-US" sz="1300" dirty="0">
                          <a:solidFill>
                            <a:srgbClr val="171A20"/>
                          </a:solidFill>
                          <a:latin typeface="Segoe UI" pitchFamily="34" charset="0"/>
                          <a:ea typeface="Segoe UI" pitchFamily="34" charset="-122"/>
                          <a:cs typeface="Segoe UI" pitchFamily="34" charset="-120"/>
                        </a:rPr>
                        <a:t> (K/W)</a:t>
                      </a:r>
                      <a:endParaRPr lang="en-US" sz="13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329184">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V = I · R</a:t>
                      </a:r>
                      <a:endParaRPr lang="en-US" sz="13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ΔT = P · R</a:t>
                      </a:r>
                      <a:pPr indent="0" marL="0">
                        <a:buNone/>
                      </a:pPr>
                      <a:r>
                        <a:rPr lang="en-US" sz="1300" baseline="-40000" dirty="0">
                          <a:solidFill>
                            <a:srgbClr val="171A20"/>
                          </a:solidFill>
                          <a:latin typeface="Segoe UI" pitchFamily="34" charset="0"/>
                          <a:ea typeface="Segoe UI" pitchFamily="34" charset="-122"/>
                          <a:cs typeface="Segoe UI" pitchFamily="34" charset="-120"/>
                        </a:rPr>
                        <a:t>th</a:t>
                      </a:r>
                      <a:endParaRPr lang="en-US" sz="1300" dirty="0">
                        <a:latin typeface="Segoe UI" charset="0"/>
                        <a:ea typeface="Segoe UI" charset="0"/>
                        <a:cs typeface="Segoe U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bl>
          </a:graphicData>
        </a:graphic>
      </p:graphicFrame>
      <p:sp>
        <p:nvSpPr>
          <p:cNvPr id="24" name="Shape 21"/>
          <p:cNvSpPr/>
          <p:nvPr/>
        </p:nvSpPr>
        <p:spPr>
          <a:xfrm>
            <a:off x="8229600" y="1554480"/>
            <a:ext cx="3410712" cy="3931920"/>
          </a:xfrm>
          <a:prstGeom prst="roundRect">
            <a:avLst>
              <a:gd name="adj" fmla="val 2145"/>
            </a:avLst>
          </a:prstGeom>
          <a:solidFill>
            <a:srgbClr val="F4F5F7"/>
          </a:solidFill>
          <a:ln/>
        </p:spPr>
      </p:sp>
      <p:sp>
        <p:nvSpPr>
          <p:cNvPr id="25" name="Text 22"/>
          <p:cNvSpPr txBox="1"/>
          <p:nvPr/>
        </p:nvSpPr>
        <p:spPr>
          <a:xfrm>
            <a:off x="8458200" y="1737360"/>
            <a:ext cx="3017520" cy="274320"/>
          </a:xfrm>
          <a:prstGeom prst="rect">
            <a:avLst/>
          </a:prstGeom>
          <a:noFill/>
          <a:ln/>
        </p:spPr>
        <p:txBody>
          <a:bodyPr wrap="square" lIns="0" tIns="0" rIns="0" bIns="0" rtlCol="0" anchor="t"/>
          <a:lstStyle/>
          <a:p>
            <a:pPr algn="l" indent="0" marL="0">
              <a:buNone/>
            </a:pPr>
            <a:r>
              <a:rPr lang="en-US" sz="1300" dirty="0">
                <a:solidFill>
                  <a:srgbClr val="5C5E62"/>
                </a:solidFill>
                <a:latin typeface="Segoe UI Semibold" pitchFamily="34" charset="0"/>
                <a:ea typeface="Segoe UI Semibold" pitchFamily="34" charset="-122"/>
                <a:cs typeface="Segoe UI Semibold" pitchFamily="34" charset="-120"/>
              </a:rPr>
              <a:t>Base paper target</a:t>
            </a:r>
            <a:endParaRPr lang="en-US" sz="1300" dirty="0"/>
          </a:p>
        </p:txBody>
      </p:sp>
      <p:sp>
        <p:nvSpPr>
          <p:cNvPr id="26" name="Text 23"/>
          <p:cNvSpPr txBox="1"/>
          <p:nvPr/>
        </p:nvSpPr>
        <p:spPr>
          <a:xfrm>
            <a:off x="8458200" y="2103120"/>
            <a:ext cx="3017520" cy="640080"/>
          </a:xfrm>
          <a:prstGeom prst="rect">
            <a:avLst/>
          </a:prstGeom>
          <a:noFill/>
          <a:ln/>
        </p:spPr>
        <p:txBody>
          <a:bodyPr wrap="square" lIns="0" tIns="0" rIns="0" bIns="0" rtlCol="0" anchor="t"/>
          <a:lstStyle/>
          <a:p>
            <a:pPr algn="l" indent="0" marL="0">
              <a:buNone/>
            </a:pPr>
            <a:r>
              <a:rPr lang="en-US" sz="3600" dirty="0">
                <a:solidFill>
                  <a:srgbClr val="E07B00"/>
                </a:solidFill>
                <a:latin typeface="Segoe UI Semibold" pitchFamily="34" charset="0"/>
                <a:ea typeface="Segoe UI Semibold" pitchFamily="34" charset="-122"/>
                <a:cs typeface="Segoe UI Semibold" pitchFamily="34" charset="-120"/>
              </a:rPr>
              <a:t>64.8 K</a:t>
            </a:r>
            <a:endParaRPr lang="en-US" sz="3600" dirty="0"/>
          </a:p>
        </p:txBody>
      </p:sp>
      <p:sp>
        <p:nvSpPr>
          <p:cNvPr id="27" name="Text 24"/>
          <p:cNvSpPr txBox="1"/>
          <p:nvPr/>
        </p:nvSpPr>
        <p:spPr>
          <a:xfrm>
            <a:off x="8458200" y="2743200"/>
            <a:ext cx="3017520" cy="274320"/>
          </a:xfrm>
          <a:prstGeom prst="rect">
            <a:avLst/>
          </a:prstGeom>
          <a:noFill/>
          <a:ln/>
        </p:spPr>
        <p:txBody>
          <a:bodyPr wrap="square" lIns="0" tIns="0" rIns="0" bIns="0" rtlCol="0" anchor="t"/>
          <a:lstStyle/>
          <a:p>
            <a:pPr algn="l" indent="0" marL="0">
              <a:buNone/>
            </a:pPr>
            <a:r>
              <a:rPr lang="en-US" sz="1400" dirty="0">
                <a:solidFill>
                  <a:srgbClr val="5C5E62"/>
                </a:solidFill>
                <a:latin typeface="Segoe UI" pitchFamily="34" charset="0"/>
                <a:ea typeface="Segoe UI" pitchFamily="34" charset="-122"/>
                <a:cs typeface="Segoe UI" pitchFamily="34" charset="-120"/>
              </a:rPr>
              <a:t>at 30 µW</a:t>
            </a:r>
            <a:endParaRPr lang="en-US" sz="1400" dirty="0"/>
          </a:p>
        </p:txBody>
      </p:sp>
      <p:sp>
        <p:nvSpPr>
          <p:cNvPr id="28" name="Text 25"/>
          <p:cNvSpPr txBox="1"/>
          <p:nvPr/>
        </p:nvSpPr>
        <p:spPr>
          <a:xfrm>
            <a:off x="8458200" y="3291840"/>
            <a:ext cx="3017520" cy="365760"/>
          </a:xfrm>
          <a:prstGeom prst="rect">
            <a:avLst/>
          </a:prstGeom>
          <a:noFill/>
          <a:ln/>
        </p:spPr>
        <p:txBody>
          <a:bodyPr wrap="square" lIns="0" tIns="0" rIns="0" bIns="0" rtlCol="0" anchor="t"/>
          <a:lstStyle/>
          <a:p>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R</a:t>
            </a:r>
            <a:pPr algn="l" indent="0" marL="0">
              <a:buNone/>
            </a:pPr>
            <a:r>
              <a:rPr lang="en-US" sz="1800" baseline="-40000" dirty="0">
                <a:solidFill>
                  <a:srgbClr val="171A20"/>
                </a:solidFill>
                <a:latin typeface="Segoe UI Semibold" pitchFamily="34" charset="0"/>
                <a:ea typeface="Segoe UI Semibold" pitchFamily="34" charset="-122"/>
                <a:cs typeface="Segoe UI Semibold" pitchFamily="34" charset="-120"/>
              </a:rPr>
              <a:t>th</a:t>
            </a:r>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 = 2.16 × 10⁶ K/W</a:t>
            </a:r>
            <a:endParaRPr lang="en-US" sz="1800" dirty="0"/>
          </a:p>
        </p:txBody>
      </p:sp>
      <p:sp>
        <p:nvSpPr>
          <p:cNvPr id="29" name="Text 26"/>
          <p:cNvSpPr txBox="1"/>
          <p:nvPr/>
        </p:nvSpPr>
        <p:spPr>
          <a:xfrm>
            <a:off x="8458200" y="3840480"/>
            <a:ext cx="3017520" cy="109728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Our job: build a device with the same R</a:t>
            </a:r>
            <a:pPr algn="l" indent="0" marL="0">
              <a:buNone/>
            </a:pPr>
            <a:r>
              <a:rPr lang="en-US" sz="1300" baseline="-40000" dirty="0">
                <a:solidFill>
                  <a:srgbClr val="5C5E62"/>
                </a:solidFill>
                <a:latin typeface="Segoe UI" pitchFamily="34" charset="0"/>
                <a:ea typeface="Segoe UI" pitchFamily="34" charset="-122"/>
                <a:cs typeface="Segoe UI" pitchFamily="34" charset="-120"/>
              </a:rPr>
              <a:t>th</a:t>
            </a:r>
            <a:pPr algn="l" indent="0" marL="0">
              <a:buNone/>
            </a:pPr>
            <a:r>
              <a:rPr lang="en-US" sz="1300" dirty="0">
                <a:solidFill>
                  <a:srgbClr val="5C5E62"/>
                </a:solidFill>
                <a:latin typeface="Segoe UI" pitchFamily="34" charset="0"/>
                <a:ea typeface="Segoe UI" pitchFamily="34" charset="-122"/>
                <a:cs typeface="Segoe UI" pitchFamily="34" charset="-120"/>
              </a:rPr>
              <a:t>, then lower it.</a:t>
            </a:r>
            <a:endParaRPr lang="en-US" sz="1300" dirty="0"/>
          </a:p>
        </p:txBody>
      </p:sp>
      <p:sp>
        <p:nvSpPr>
          <p:cNvPr id="30"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ΔT = R</a:t>
            </a:r>
            <a:pPr algn="ctr" indent="0" marL="0">
              <a:buNone/>
            </a:pPr>
            <a:r>
              <a:rPr lang="en-US" sz="1600" baseline="-40000" dirty="0">
                <a:solidFill>
                  <a:srgbClr val="171A20"/>
                </a:solidFill>
                <a:latin typeface="Segoe UI" pitchFamily="34" charset="0"/>
                <a:ea typeface="Segoe UI" pitchFamily="34" charset="-122"/>
                <a:cs typeface="Segoe UI" pitchFamily="34" charset="-120"/>
              </a:rPr>
              <a:t>th</a:t>
            </a:r>
            <a:pPr algn="ctr" indent="0" marL="0">
              <a:buNone/>
            </a:pPr>
            <a:r>
              <a:rPr lang="en-US" sz="1600" dirty="0">
                <a:solidFill>
                  <a:srgbClr val="171A20"/>
                </a:solidFill>
                <a:latin typeface="Segoe UI" pitchFamily="34" charset="0"/>
                <a:ea typeface="Segoe UI" pitchFamily="34" charset="-122"/>
                <a:cs typeface="Segoe UI" pitchFamily="34" charset="-120"/>
              </a:rPr>
              <a:t> · P: lower R</a:t>
            </a:r>
            <a:pPr algn="ctr" indent="0" marL="0">
              <a:buNone/>
            </a:pPr>
            <a:r>
              <a:rPr lang="en-US" sz="1600" baseline="-40000" dirty="0">
                <a:solidFill>
                  <a:srgbClr val="171A20"/>
                </a:solidFill>
                <a:latin typeface="Segoe UI" pitchFamily="34" charset="0"/>
                <a:ea typeface="Segoe UI" pitchFamily="34" charset="-122"/>
                <a:cs typeface="Segoe UI" pitchFamily="34" charset="-120"/>
              </a:rPr>
              <a:t>th</a:t>
            </a:r>
            <a:pPr algn="ctr" indent="0" marL="0">
              <a:buNone/>
            </a:pPr>
            <a:r>
              <a:rPr lang="en-US" sz="1600" dirty="0">
                <a:solidFill>
                  <a:srgbClr val="171A20"/>
                </a:solidFill>
                <a:latin typeface="Segoe UI" pitchFamily="34" charset="0"/>
                <a:ea typeface="Segoe UI" pitchFamily="34" charset="-122"/>
                <a:cs typeface="Segoe UI" pitchFamily="34" charset="-120"/>
              </a:rPr>
              <a:t> or lower P to run cooler.</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83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Self-heating – What happens inside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Same GAA wire, now running at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 (side view along the channel)</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E2E3E3"/>
          </a:solidFill>
          <a:ln/>
        </p:spPr>
      </p:sp>
      <p:sp>
        <p:nvSpPr>
          <p:cNvPr id="6" name="!!sdot2"/>
          <p:cNvSpPr/>
          <p:nvPr/>
        </p:nvSpPr>
        <p:spPr>
          <a:xfrm>
            <a:off x="11443716" y="525780"/>
            <a:ext cx="82296" cy="82296"/>
          </a:xfrm>
          <a:prstGeom prst="ellipse">
            <a:avLst/>
          </a:prstGeom>
          <a:solidFill>
            <a:srgbClr val="E2E3E3"/>
          </a:solidFill>
          <a:ln/>
        </p:spPr>
      </p:sp>
      <p:sp>
        <p:nvSpPr>
          <p:cNvPr id="7" name="!!sdot3"/>
          <p:cNvSpPr/>
          <p:nvPr/>
        </p:nvSpPr>
        <p:spPr>
          <a:xfrm>
            <a:off x="11599164" y="525780"/>
            <a:ext cx="82296" cy="82296"/>
          </a:xfrm>
          <a:prstGeom prst="ellipse">
            <a:avLst/>
          </a:prstGeom>
          <a:solidFill>
            <a:srgbClr val="E2E3E3"/>
          </a:solidFill>
          <a:ln/>
        </p:spPr>
      </p:sp>
      <p:sp>
        <p:nvSpPr>
          <p:cNvPr id="8" name="!!hsS"/>
          <p:cNvSpPr/>
          <p:nvPr/>
        </p:nvSpPr>
        <p:spPr>
          <a:xfrm>
            <a:off x="640080" y="2011680"/>
            <a:ext cx="1463040" cy="2194560"/>
          </a:xfrm>
          <a:prstGeom prst="roundRect">
            <a:avLst>
              <a:gd name="adj" fmla="val 2500"/>
            </a:avLst>
          </a:prstGeom>
          <a:solidFill>
            <a:srgbClr val="7D9BE6"/>
          </a:solidFill>
          <a:ln/>
        </p:spPr>
      </p:sp>
      <p:sp>
        <p:nvSpPr>
          <p:cNvPr id="9" name="!!hsD"/>
          <p:cNvSpPr/>
          <p:nvPr/>
        </p:nvSpPr>
        <p:spPr>
          <a:xfrm>
            <a:off x="4389120" y="2011680"/>
            <a:ext cx="1463040" cy="2194560"/>
          </a:xfrm>
          <a:prstGeom prst="roundRect">
            <a:avLst>
              <a:gd name="adj" fmla="val 2500"/>
            </a:avLst>
          </a:prstGeom>
          <a:solidFill>
            <a:srgbClr val="7D9BE6"/>
          </a:solidFill>
          <a:ln/>
        </p:spPr>
      </p:sp>
      <p:sp>
        <p:nvSpPr>
          <p:cNvPr id="10" name="!!hsSL"/>
          <p:cNvSpPr txBox="1"/>
          <p:nvPr/>
        </p:nvSpPr>
        <p:spPr>
          <a:xfrm>
            <a:off x="64008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source</a:t>
            </a:r>
            <a:endParaRPr lang="en-US" sz="1100" dirty="0"/>
          </a:p>
        </p:txBody>
      </p:sp>
      <p:sp>
        <p:nvSpPr>
          <p:cNvPr id="11" name="!!hsDL"/>
          <p:cNvSpPr txBox="1"/>
          <p:nvPr/>
        </p:nvSpPr>
        <p:spPr>
          <a:xfrm>
            <a:off x="438912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drain</a:t>
            </a:r>
            <a:endParaRPr lang="en-US" sz="1100" dirty="0"/>
          </a:p>
        </p:txBody>
      </p:sp>
      <p:sp>
        <p:nvSpPr>
          <p:cNvPr id="12" name="!!hsSpL"/>
          <p:cNvSpPr/>
          <p:nvPr/>
        </p:nvSpPr>
        <p:spPr>
          <a:xfrm>
            <a:off x="2103120" y="2011680"/>
            <a:ext cx="320040" cy="2194560"/>
          </a:xfrm>
          <a:prstGeom prst="rect">
            <a:avLst/>
          </a:prstGeom>
          <a:solidFill>
            <a:srgbClr val="D9DCE3"/>
          </a:solidFill>
          <a:ln/>
        </p:spPr>
      </p:sp>
      <p:sp>
        <p:nvSpPr>
          <p:cNvPr id="13" name="!!hsSpR"/>
          <p:cNvSpPr/>
          <p:nvPr/>
        </p:nvSpPr>
        <p:spPr>
          <a:xfrm>
            <a:off x="4069080" y="2011680"/>
            <a:ext cx="320040" cy="2194560"/>
          </a:xfrm>
          <a:prstGeom prst="rect">
            <a:avLst/>
          </a:prstGeom>
          <a:solidFill>
            <a:srgbClr val="D9DCE3"/>
          </a:solidFill>
          <a:ln/>
        </p:spPr>
      </p:sp>
      <p:sp>
        <p:nvSpPr>
          <p:cNvPr id="14" name="!!hsG"/>
          <p:cNvSpPr/>
          <p:nvPr/>
        </p:nvSpPr>
        <p:spPr>
          <a:xfrm>
            <a:off x="2423160" y="2011680"/>
            <a:ext cx="1645920" cy="2194560"/>
          </a:xfrm>
          <a:prstGeom prst="rect">
            <a:avLst/>
          </a:prstGeom>
          <a:solidFill>
            <a:srgbClr val="B3A6E6"/>
          </a:solidFill>
          <a:ln/>
        </p:spPr>
      </p:sp>
      <p:sp>
        <p:nvSpPr>
          <p:cNvPr id="15" name="!!hsGL"/>
          <p:cNvSpPr txBox="1"/>
          <p:nvPr/>
        </p:nvSpPr>
        <p:spPr>
          <a:xfrm>
            <a:off x="2423160" y="2103120"/>
            <a:ext cx="1645920" cy="274320"/>
          </a:xfrm>
          <a:prstGeom prst="rect">
            <a:avLst/>
          </a:prstGeom>
          <a:noFill/>
          <a:ln/>
        </p:spPr>
        <p:txBody>
          <a:bodyPr wrap="square" lIns="0" tIns="0" rIns="0" bIns="0" rtlCol="0" anchor="t"/>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 (wraps)</a:t>
            </a:r>
            <a:endParaRPr lang="en-US" sz="1100" dirty="0"/>
          </a:p>
        </p:txBody>
      </p:sp>
      <p:sp>
        <p:nvSpPr>
          <p:cNvPr id="16" name="!!hsOx"/>
          <p:cNvSpPr/>
          <p:nvPr/>
        </p:nvSpPr>
        <p:spPr>
          <a:xfrm>
            <a:off x="2103120" y="2770632"/>
            <a:ext cx="2286000" cy="676656"/>
          </a:xfrm>
          <a:prstGeom prst="rect">
            <a:avLst/>
          </a:prstGeom>
          <a:solidFill>
            <a:srgbClr val="8FCBE0"/>
          </a:solidFill>
          <a:ln/>
        </p:spPr>
      </p:sp>
      <p:sp>
        <p:nvSpPr>
          <p:cNvPr id="17" name="!!hsW"/>
          <p:cNvSpPr/>
          <p:nvPr/>
        </p:nvSpPr>
        <p:spPr>
          <a:xfrm>
            <a:off x="2103120" y="2880360"/>
            <a:ext cx="2286000" cy="457200"/>
          </a:xfrm>
          <a:prstGeom prst="rect">
            <a:avLst/>
          </a:prstGeom>
          <a:solidFill>
            <a:srgbClr val="F6E7B8"/>
          </a:solidFill>
          <a:ln/>
        </p:spPr>
      </p:sp>
      <p:sp>
        <p:nvSpPr>
          <p:cNvPr id="18" name="!!hsC0"/>
          <p:cNvSpPr/>
          <p:nvPr/>
        </p:nvSpPr>
        <p:spPr>
          <a:xfrm>
            <a:off x="640080" y="1691640"/>
            <a:ext cx="1463040" cy="228600"/>
          </a:xfrm>
          <a:prstGeom prst="roundRect">
            <a:avLst>
              <a:gd name="adj" fmla="val 12000"/>
            </a:avLst>
          </a:prstGeom>
          <a:solidFill>
            <a:srgbClr val="171A20"/>
          </a:solidFill>
          <a:ln/>
        </p:spPr>
      </p:sp>
      <p:sp>
        <p:nvSpPr>
          <p:cNvPr id="19" name="!!hsCt0"/>
          <p:cNvSpPr txBox="1"/>
          <p:nvPr/>
        </p:nvSpPr>
        <p:spPr>
          <a:xfrm>
            <a:off x="64008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0" name="!!hsC1"/>
          <p:cNvSpPr/>
          <p:nvPr/>
        </p:nvSpPr>
        <p:spPr>
          <a:xfrm>
            <a:off x="2423160" y="1691640"/>
            <a:ext cx="1645920" cy="228600"/>
          </a:xfrm>
          <a:prstGeom prst="roundRect">
            <a:avLst>
              <a:gd name="adj" fmla="val 12000"/>
            </a:avLst>
          </a:prstGeom>
          <a:solidFill>
            <a:srgbClr val="171A20"/>
          </a:solidFill>
          <a:ln/>
        </p:spPr>
      </p:sp>
      <p:sp>
        <p:nvSpPr>
          <p:cNvPr id="21" name="!!hsCt1"/>
          <p:cNvSpPr txBox="1"/>
          <p:nvPr/>
        </p:nvSpPr>
        <p:spPr>
          <a:xfrm>
            <a:off x="2423160" y="1691640"/>
            <a:ext cx="164592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2" name="!!hsC2"/>
          <p:cNvSpPr/>
          <p:nvPr/>
        </p:nvSpPr>
        <p:spPr>
          <a:xfrm>
            <a:off x="4389120" y="1691640"/>
            <a:ext cx="1463040" cy="228600"/>
          </a:xfrm>
          <a:prstGeom prst="roundRect">
            <a:avLst>
              <a:gd name="adj" fmla="val 12000"/>
            </a:avLst>
          </a:prstGeom>
          <a:solidFill>
            <a:srgbClr val="171A20"/>
          </a:solidFill>
          <a:ln/>
        </p:spPr>
      </p:sp>
      <p:sp>
        <p:nvSpPr>
          <p:cNvPr id="23" name="!!hsCt2"/>
          <p:cNvSpPr txBox="1"/>
          <p:nvPr/>
        </p:nvSpPr>
        <p:spPr>
          <a:xfrm>
            <a:off x="438912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4" name="!!hsH0"/>
          <p:cNvSpPr/>
          <p:nvPr/>
        </p:nvSpPr>
        <p:spPr>
          <a:xfrm>
            <a:off x="3644646" y="2961742"/>
            <a:ext cx="665988" cy="294437"/>
          </a:xfrm>
          <a:prstGeom prst="ellipse">
            <a:avLst/>
          </a:prstGeom>
          <a:solidFill>
            <a:srgbClr val="FFE1B3">
              <a:alpha val="85000"/>
            </a:srgbClr>
          </a:solidFill>
          <a:ln/>
        </p:spPr>
      </p:sp>
      <p:sp>
        <p:nvSpPr>
          <p:cNvPr id="25" name="!!hsH1"/>
          <p:cNvSpPr/>
          <p:nvPr/>
        </p:nvSpPr>
        <p:spPr>
          <a:xfrm>
            <a:off x="3731514" y="3000146"/>
            <a:ext cx="492252" cy="217627"/>
          </a:xfrm>
          <a:prstGeom prst="ellipse">
            <a:avLst/>
          </a:prstGeom>
          <a:solidFill>
            <a:srgbClr val="FFB36B">
              <a:alpha val="85000"/>
            </a:srgbClr>
          </a:solidFill>
          <a:ln/>
        </p:spPr>
      </p:sp>
      <p:sp>
        <p:nvSpPr>
          <p:cNvPr id="26" name="!!hsH2"/>
          <p:cNvSpPr/>
          <p:nvPr/>
        </p:nvSpPr>
        <p:spPr>
          <a:xfrm>
            <a:off x="3803904" y="3032150"/>
            <a:ext cx="347472" cy="153619"/>
          </a:xfrm>
          <a:prstGeom prst="ellipse">
            <a:avLst/>
          </a:prstGeom>
          <a:solidFill>
            <a:srgbClr val="F07A3A">
              <a:alpha val="85000"/>
            </a:srgbClr>
          </a:solidFill>
          <a:ln/>
        </p:spPr>
      </p:sp>
      <p:sp>
        <p:nvSpPr>
          <p:cNvPr id="27" name="!!hsH3"/>
          <p:cNvSpPr/>
          <p:nvPr/>
        </p:nvSpPr>
        <p:spPr>
          <a:xfrm>
            <a:off x="3861816" y="3057754"/>
            <a:ext cx="231648" cy="102413"/>
          </a:xfrm>
          <a:prstGeom prst="ellipse">
            <a:avLst/>
          </a:prstGeom>
          <a:solidFill>
            <a:srgbClr val="D64545">
              <a:alpha val="85000"/>
            </a:srgbClr>
          </a:solidFill>
          <a:ln/>
        </p:spPr>
      </p:sp>
      <p:sp>
        <p:nvSpPr>
          <p:cNvPr id="28" name="!!hsA0"/>
          <p:cNvSpPr/>
          <p:nvPr/>
        </p:nvSpPr>
        <p:spPr>
          <a:xfrm>
            <a:off x="2240280" y="3108960"/>
            <a:ext cx="457200" cy="91"/>
          </a:xfrm>
          <a:prstGeom prst="line">
            <a:avLst/>
          </a:prstGeom>
          <a:noFill/>
          <a:ln w="25400">
            <a:solidFill>
              <a:srgbClr val="1F2F6B"/>
            </a:solidFill>
            <a:prstDash val="solid"/>
            <a:tailEnd type="triangle"/>
          </a:ln>
        </p:spPr>
      </p:sp>
      <p:sp>
        <p:nvSpPr>
          <p:cNvPr id="29" name="!!hsA1"/>
          <p:cNvSpPr/>
          <p:nvPr/>
        </p:nvSpPr>
        <p:spPr>
          <a:xfrm>
            <a:off x="2880360" y="3108960"/>
            <a:ext cx="457200" cy="91"/>
          </a:xfrm>
          <a:prstGeom prst="line">
            <a:avLst/>
          </a:prstGeom>
          <a:noFill/>
          <a:ln w="25400">
            <a:solidFill>
              <a:srgbClr val="1F2F6B"/>
            </a:solidFill>
            <a:prstDash val="solid"/>
            <a:tailEnd type="triangle"/>
          </a:ln>
        </p:spPr>
      </p:sp>
      <p:sp>
        <p:nvSpPr>
          <p:cNvPr id="30" name="!!hsA2"/>
          <p:cNvSpPr/>
          <p:nvPr/>
        </p:nvSpPr>
        <p:spPr>
          <a:xfrm>
            <a:off x="3520440" y="3108960"/>
            <a:ext cx="457200" cy="91"/>
          </a:xfrm>
          <a:prstGeom prst="line">
            <a:avLst/>
          </a:prstGeom>
          <a:noFill/>
          <a:ln w="25400">
            <a:solidFill>
              <a:srgbClr val="1F2F6B"/>
            </a:solidFill>
            <a:prstDash val="solid"/>
            <a:tailEnd type="triangle"/>
          </a:ln>
        </p:spPr>
      </p:sp>
      <p:sp>
        <p:nvSpPr>
          <p:cNvPr id="31" name="!!hsHL"/>
          <p:cNvSpPr txBox="1"/>
          <p:nvPr/>
        </p:nvSpPr>
        <p:spPr>
          <a:xfrm>
            <a:off x="3291840" y="4297680"/>
            <a:ext cx="1828800" cy="228600"/>
          </a:xfrm>
          <a:prstGeom prst="rect">
            <a:avLst/>
          </a:prstGeom>
          <a:noFill/>
          <a:ln/>
        </p:spPr>
        <p:txBody>
          <a:bodyPr wrap="square" lIns="0" tIns="0" rIns="0" bIns="0" rtlCol="0" anchor="t"/>
          <a:lstStyle/>
          <a:p>
            <a:pPr algn="ctr" indent="0" marL="0">
              <a:buNone/>
            </a:pPr>
            <a:r>
              <a:rPr lang="en-US" sz="1000" dirty="0">
                <a:solidFill>
                  <a:srgbClr val="E07B00"/>
                </a:solidFill>
                <a:latin typeface="Segoe UI Semibold" pitchFamily="34" charset="0"/>
                <a:ea typeface="Segoe UI Semibold" pitchFamily="34" charset="-122"/>
                <a:cs typeface="Segoe UI Semibold" pitchFamily="34" charset="-120"/>
              </a:rPr>
              <a:t>hot spot: drain end</a:t>
            </a:r>
            <a:endParaRPr lang="en-US" sz="1000" dirty="0"/>
          </a:p>
        </p:txBody>
      </p:sp>
      <p:sp>
        <p:nvSpPr>
          <p:cNvPr id="32" name="!!card"/>
          <p:cNvSpPr/>
          <p:nvPr/>
        </p:nvSpPr>
        <p:spPr>
          <a:xfrm>
            <a:off x="6766560" y="1554480"/>
            <a:ext cx="4873752" cy="2377440"/>
          </a:xfrm>
          <a:prstGeom prst="roundRect">
            <a:avLst>
              <a:gd name="adj" fmla="val 3077"/>
            </a:avLst>
          </a:prstGeom>
          <a:solidFill>
            <a:srgbClr val="F4F5F7"/>
          </a:solidFill>
          <a:ln/>
        </p:spPr>
      </p:sp>
      <p:sp>
        <p:nvSpPr>
          <p:cNvPr id="33" name="!!cardn"/>
          <p:cNvSpPr/>
          <p:nvPr/>
        </p:nvSpPr>
        <p:spPr>
          <a:xfrm>
            <a:off x="6976872" y="1764792"/>
            <a:ext cx="347472" cy="347472"/>
          </a:xfrm>
          <a:prstGeom prst="ellipse">
            <a:avLst/>
          </a:prstGeom>
          <a:solidFill>
            <a:srgbClr val="E07B00"/>
          </a:solidFill>
          <a:ln/>
        </p:spPr>
      </p:sp>
      <p:sp>
        <p:nvSpPr>
          <p:cNvPr id="34" name="!!cardnt"/>
          <p:cNvSpPr txBox="1"/>
          <p:nvPr/>
        </p:nvSpPr>
        <p:spPr>
          <a:xfrm>
            <a:off x="697687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35" name="!!cardh"/>
          <p:cNvSpPr txBox="1"/>
          <p:nvPr/>
        </p:nvSpPr>
        <p:spPr>
          <a:xfrm>
            <a:off x="7452360" y="1773936"/>
            <a:ext cx="4005072" cy="347472"/>
          </a:xfrm>
          <a:prstGeom prst="rect">
            <a:avLst/>
          </a:prstGeom>
          <a:noFill/>
          <a:ln/>
        </p:spPr>
        <p:txBody>
          <a:bodyPr wrap="square" lIns="0" tIns="0" rIns="0" bIns="0" rtlCol="0" anchor="ctr"/>
          <a:lstStyle/>
          <a:p>
            <a:pPr algn="l" indent="0" marL="0">
              <a:buNone/>
            </a:pPr>
            <a:r>
              <a:rPr lang="en-US" sz="1600" dirty="0">
                <a:solidFill>
                  <a:srgbClr val="E07B00"/>
                </a:solidFill>
                <a:latin typeface="Segoe UI Semibold" pitchFamily="34" charset="0"/>
                <a:ea typeface="Segoe UI Semibold" pitchFamily="34" charset="-122"/>
                <a:cs typeface="Segoe UI Semibold" pitchFamily="34" charset="-120"/>
              </a:rPr>
              <a:t>Current makes heat</a:t>
            </a:r>
            <a:endParaRPr lang="en-US" sz="1600" dirty="0"/>
          </a:p>
        </p:txBody>
      </p:sp>
      <p:sp>
        <p:nvSpPr>
          <p:cNvPr id="36" name="!!cardb"/>
          <p:cNvSpPr txBox="1"/>
          <p:nvPr/>
        </p:nvSpPr>
        <p:spPr>
          <a:xfrm>
            <a:off x="6995160" y="2267712"/>
            <a:ext cx="4416552" cy="150876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Moving electrons carry power P = I</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D</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 V</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D</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That power must turn into heat somewhere.</a:t>
            </a:r>
            <a:endParaRPr lang="en-US" sz="1300" dirty="0"/>
          </a:p>
        </p:txBody>
      </p:sp>
      <p:sp>
        <p:nvSpPr>
          <p:cNvPr id="3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Every working transistor turns its power into heat.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84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Self-heating – What happens inside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Same GAA wire, now running at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 (side view along the channel)</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171A20"/>
          </a:solidFill>
          <a:ln/>
        </p:spPr>
      </p:sp>
      <p:sp>
        <p:nvSpPr>
          <p:cNvPr id="6" name="!!sdot2"/>
          <p:cNvSpPr/>
          <p:nvPr/>
        </p:nvSpPr>
        <p:spPr>
          <a:xfrm>
            <a:off x="11443716" y="525780"/>
            <a:ext cx="82296" cy="82296"/>
          </a:xfrm>
          <a:prstGeom prst="ellipse">
            <a:avLst/>
          </a:prstGeom>
          <a:solidFill>
            <a:srgbClr val="E2E3E3"/>
          </a:solidFill>
          <a:ln/>
        </p:spPr>
      </p:sp>
      <p:sp>
        <p:nvSpPr>
          <p:cNvPr id="7" name="!!sdot3"/>
          <p:cNvSpPr/>
          <p:nvPr/>
        </p:nvSpPr>
        <p:spPr>
          <a:xfrm>
            <a:off x="11599164" y="525780"/>
            <a:ext cx="82296" cy="82296"/>
          </a:xfrm>
          <a:prstGeom prst="ellipse">
            <a:avLst/>
          </a:prstGeom>
          <a:solidFill>
            <a:srgbClr val="E2E3E3"/>
          </a:solidFill>
          <a:ln/>
        </p:spPr>
      </p:sp>
      <p:sp>
        <p:nvSpPr>
          <p:cNvPr id="8" name="!!hsS"/>
          <p:cNvSpPr/>
          <p:nvPr/>
        </p:nvSpPr>
        <p:spPr>
          <a:xfrm>
            <a:off x="640080" y="2011680"/>
            <a:ext cx="1463040" cy="2194560"/>
          </a:xfrm>
          <a:prstGeom prst="roundRect">
            <a:avLst>
              <a:gd name="adj" fmla="val 2500"/>
            </a:avLst>
          </a:prstGeom>
          <a:solidFill>
            <a:srgbClr val="7D9BE6"/>
          </a:solidFill>
          <a:ln/>
        </p:spPr>
      </p:sp>
      <p:sp>
        <p:nvSpPr>
          <p:cNvPr id="9" name="!!hsD"/>
          <p:cNvSpPr/>
          <p:nvPr/>
        </p:nvSpPr>
        <p:spPr>
          <a:xfrm>
            <a:off x="4389120" y="2011680"/>
            <a:ext cx="1463040" cy="2194560"/>
          </a:xfrm>
          <a:prstGeom prst="roundRect">
            <a:avLst>
              <a:gd name="adj" fmla="val 2500"/>
            </a:avLst>
          </a:prstGeom>
          <a:solidFill>
            <a:srgbClr val="7D9BE6"/>
          </a:solidFill>
          <a:ln/>
        </p:spPr>
      </p:sp>
      <p:sp>
        <p:nvSpPr>
          <p:cNvPr id="10" name="!!hsSL"/>
          <p:cNvSpPr txBox="1"/>
          <p:nvPr/>
        </p:nvSpPr>
        <p:spPr>
          <a:xfrm>
            <a:off x="64008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source</a:t>
            </a:r>
            <a:endParaRPr lang="en-US" sz="1100" dirty="0"/>
          </a:p>
        </p:txBody>
      </p:sp>
      <p:sp>
        <p:nvSpPr>
          <p:cNvPr id="11" name="!!hsDL"/>
          <p:cNvSpPr txBox="1"/>
          <p:nvPr/>
        </p:nvSpPr>
        <p:spPr>
          <a:xfrm>
            <a:off x="438912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drain</a:t>
            </a:r>
            <a:endParaRPr lang="en-US" sz="1100" dirty="0"/>
          </a:p>
        </p:txBody>
      </p:sp>
      <p:sp>
        <p:nvSpPr>
          <p:cNvPr id="12" name="!!hsSpL"/>
          <p:cNvSpPr/>
          <p:nvPr/>
        </p:nvSpPr>
        <p:spPr>
          <a:xfrm>
            <a:off x="2103120" y="2011680"/>
            <a:ext cx="320040" cy="2194560"/>
          </a:xfrm>
          <a:prstGeom prst="rect">
            <a:avLst/>
          </a:prstGeom>
          <a:solidFill>
            <a:srgbClr val="D9DCE3"/>
          </a:solidFill>
          <a:ln/>
        </p:spPr>
      </p:sp>
      <p:sp>
        <p:nvSpPr>
          <p:cNvPr id="13" name="!!hsSpR"/>
          <p:cNvSpPr/>
          <p:nvPr/>
        </p:nvSpPr>
        <p:spPr>
          <a:xfrm>
            <a:off x="4069080" y="2011680"/>
            <a:ext cx="320040" cy="2194560"/>
          </a:xfrm>
          <a:prstGeom prst="rect">
            <a:avLst/>
          </a:prstGeom>
          <a:solidFill>
            <a:srgbClr val="D9DCE3"/>
          </a:solidFill>
          <a:ln/>
        </p:spPr>
      </p:sp>
      <p:sp>
        <p:nvSpPr>
          <p:cNvPr id="14" name="!!hsG"/>
          <p:cNvSpPr/>
          <p:nvPr/>
        </p:nvSpPr>
        <p:spPr>
          <a:xfrm>
            <a:off x="2423160" y="2011680"/>
            <a:ext cx="1645920" cy="2194560"/>
          </a:xfrm>
          <a:prstGeom prst="rect">
            <a:avLst/>
          </a:prstGeom>
          <a:solidFill>
            <a:srgbClr val="B3A6E6"/>
          </a:solidFill>
          <a:ln/>
        </p:spPr>
      </p:sp>
      <p:sp>
        <p:nvSpPr>
          <p:cNvPr id="15" name="!!hsGL"/>
          <p:cNvSpPr txBox="1"/>
          <p:nvPr/>
        </p:nvSpPr>
        <p:spPr>
          <a:xfrm>
            <a:off x="2423160" y="2103120"/>
            <a:ext cx="1645920" cy="274320"/>
          </a:xfrm>
          <a:prstGeom prst="rect">
            <a:avLst/>
          </a:prstGeom>
          <a:noFill/>
          <a:ln/>
        </p:spPr>
        <p:txBody>
          <a:bodyPr wrap="square" lIns="0" tIns="0" rIns="0" bIns="0" rtlCol="0" anchor="t"/>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 (wraps)</a:t>
            </a:r>
            <a:endParaRPr lang="en-US" sz="1100" dirty="0"/>
          </a:p>
        </p:txBody>
      </p:sp>
      <p:sp>
        <p:nvSpPr>
          <p:cNvPr id="16" name="!!hsOx"/>
          <p:cNvSpPr/>
          <p:nvPr/>
        </p:nvSpPr>
        <p:spPr>
          <a:xfrm>
            <a:off x="2103120" y="2770632"/>
            <a:ext cx="2286000" cy="676656"/>
          </a:xfrm>
          <a:prstGeom prst="rect">
            <a:avLst/>
          </a:prstGeom>
          <a:solidFill>
            <a:srgbClr val="8FCBE0"/>
          </a:solidFill>
          <a:ln/>
        </p:spPr>
      </p:sp>
      <p:sp>
        <p:nvSpPr>
          <p:cNvPr id="17" name="!!hsW"/>
          <p:cNvSpPr/>
          <p:nvPr/>
        </p:nvSpPr>
        <p:spPr>
          <a:xfrm>
            <a:off x="2103120" y="2880360"/>
            <a:ext cx="2286000" cy="457200"/>
          </a:xfrm>
          <a:prstGeom prst="rect">
            <a:avLst/>
          </a:prstGeom>
          <a:solidFill>
            <a:srgbClr val="F6E7B8"/>
          </a:solidFill>
          <a:ln/>
        </p:spPr>
      </p:sp>
      <p:sp>
        <p:nvSpPr>
          <p:cNvPr id="18" name="!!hsC0"/>
          <p:cNvSpPr/>
          <p:nvPr/>
        </p:nvSpPr>
        <p:spPr>
          <a:xfrm>
            <a:off x="640080" y="1691640"/>
            <a:ext cx="1463040" cy="228600"/>
          </a:xfrm>
          <a:prstGeom prst="roundRect">
            <a:avLst>
              <a:gd name="adj" fmla="val 12000"/>
            </a:avLst>
          </a:prstGeom>
          <a:solidFill>
            <a:srgbClr val="171A20"/>
          </a:solidFill>
          <a:ln/>
        </p:spPr>
      </p:sp>
      <p:sp>
        <p:nvSpPr>
          <p:cNvPr id="19" name="!!hsCt0"/>
          <p:cNvSpPr txBox="1"/>
          <p:nvPr/>
        </p:nvSpPr>
        <p:spPr>
          <a:xfrm>
            <a:off x="64008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0" name="!!hsC1"/>
          <p:cNvSpPr/>
          <p:nvPr/>
        </p:nvSpPr>
        <p:spPr>
          <a:xfrm>
            <a:off x="2423160" y="1691640"/>
            <a:ext cx="1645920" cy="228600"/>
          </a:xfrm>
          <a:prstGeom prst="roundRect">
            <a:avLst>
              <a:gd name="adj" fmla="val 12000"/>
            </a:avLst>
          </a:prstGeom>
          <a:solidFill>
            <a:srgbClr val="171A20"/>
          </a:solidFill>
          <a:ln/>
        </p:spPr>
      </p:sp>
      <p:sp>
        <p:nvSpPr>
          <p:cNvPr id="21" name="!!hsCt1"/>
          <p:cNvSpPr txBox="1"/>
          <p:nvPr/>
        </p:nvSpPr>
        <p:spPr>
          <a:xfrm>
            <a:off x="2423160" y="1691640"/>
            <a:ext cx="164592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2" name="!!hsC2"/>
          <p:cNvSpPr/>
          <p:nvPr/>
        </p:nvSpPr>
        <p:spPr>
          <a:xfrm>
            <a:off x="4389120" y="1691640"/>
            <a:ext cx="1463040" cy="228600"/>
          </a:xfrm>
          <a:prstGeom prst="roundRect">
            <a:avLst>
              <a:gd name="adj" fmla="val 12000"/>
            </a:avLst>
          </a:prstGeom>
          <a:solidFill>
            <a:srgbClr val="171A20"/>
          </a:solidFill>
          <a:ln/>
        </p:spPr>
      </p:sp>
      <p:sp>
        <p:nvSpPr>
          <p:cNvPr id="23" name="!!hsCt2"/>
          <p:cNvSpPr txBox="1"/>
          <p:nvPr/>
        </p:nvSpPr>
        <p:spPr>
          <a:xfrm>
            <a:off x="438912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4" name="!!hsH0"/>
          <p:cNvSpPr/>
          <p:nvPr/>
        </p:nvSpPr>
        <p:spPr>
          <a:xfrm>
            <a:off x="3355086" y="2833726"/>
            <a:ext cx="1245108" cy="550469"/>
          </a:xfrm>
          <a:prstGeom prst="ellipse">
            <a:avLst/>
          </a:prstGeom>
          <a:solidFill>
            <a:srgbClr val="FFE1B3">
              <a:alpha val="85000"/>
            </a:srgbClr>
          </a:solidFill>
          <a:ln/>
        </p:spPr>
      </p:sp>
      <p:sp>
        <p:nvSpPr>
          <p:cNvPr id="25" name="!!hsH1"/>
          <p:cNvSpPr/>
          <p:nvPr/>
        </p:nvSpPr>
        <p:spPr>
          <a:xfrm>
            <a:off x="3528822" y="2910535"/>
            <a:ext cx="897636" cy="396850"/>
          </a:xfrm>
          <a:prstGeom prst="ellipse">
            <a:avLst/>
          </a:prstGeom>
          <a:solidFill>
            <a:srgbClr val="FFB36B">
              <a:alpha val="85000"/>
            </a:srgbClr>
          </a:solidFill>
          <a:ln/>
        </p:spPr>
      </p:sp>
      <p:sp>
        <p:nvSpPr>
          <p:cNvPr id="26" name="!!hsH2"/>
          <p:cNvSpPr/>
          <p:nvPr/>
        </p:nvSpPr>
        <p:spPr>
          <a:xfrm>
            <a:off x="3673602" y="2974543"/>
            <a:ext cx="608076" cy="268834"/>
          </a:xfrm>
          <a:prstGeom prst="ellipse">
            <a:avLst/>
          </a:prstGeom>
          <a:solidFill>
            <a:srgbClr val="F07A3A">
              <a:alpha val="85000"/>
            </a:srgbClr>
          </a:solidFill>
          <a:ln/>
        </p:spPr>
      </p:sp>
      <p:sp>
        <p:nvSpPr>
          <p:cNvPr id="27" name="!!hsH3"/>
          <p:cNvSpPr/>
          <p:nvPr/>
        </p:nvSpPr>
        <p:spPr>
          <a:xfrm>
            <a:off x="3789426" y="3025750"/>
            <a:ext cx="376428" cy="166421"/>
          </a:xfrm>
          <a:prstGeom prst="ellipse">
            <a:avLst/>
          </a:prstGeom>
          <a:solidFill>
            <a:srgbClr val="D64545">
              <a:alpha val="85000"/>
            </a:srgbClr>
          </a:solidFill>
          <a:ln/>
        </p:spPr>
      </p:sp>
      <p:sp>
        <p:nvSpPr>
          <p:cNvPr id="28" name="!!hsA0"/>
          <p:cNvSpPr/>
          <p:nvPr/>
        </p:nvSpPr>
        <p:spPr>
          <a:xfrm>
            <a:off x="2240280" y="3108960"/>
            <a:ext cx="457200" cy="91"/>
          </a:xfrm>
          <a:prstGeom prst="line">
            <a:avLst/>
          </a:prstGeom>
          <a:noFill/>
          <a:ln w="25400">
            <a:solidFill>
              <a:srgbClr val="1F2F6B"/>
            </a:solidFill>
            <a:prstDash val="solid"/>
            <a:tailEnd type="triangle"/>
          </a:ln>
        </p:spPr>
      </p:sp>
      <p:sp>
        <p:nvSpPr>
          <p:cNvPr id="29" name="!!hsA1"/>
          <p:cNvSpPr/>
          <p:nvPr/>
        </p:nvSpPr>
        <p:spPr>
          <a:xfrm>
            <a:off x="2880360" y="3108960"/>
            <a:ext cx="457200" cy="91"/>
          </a:xfrm>
          <a:prstGeom prst="line">
            <a:avLst/>
          </a:prstGeom>
          <a:noFill/>
          <a:ln w="25400">
            <a:solidFill>
              <a:srgbClr val="1F2F6B"/>
            </a:solidFill>
            <a:prstDash val="solid"/>
            <a:tailEnd type="triangle"/>
          </a:ln>
        </p:spPr>
      </p:sp>
      <p:sp>
        <p:nvSpPr>
          <p:cNvPr id="30" name="!!hsA2"/>
          <p:cNvSpPr/>
          <p:nvPr/>
        </p:nvSpPr>
        <p:spPr>
          <a:xfrm>
            <a:off x="3520440" y="3108960"/>
            <a:ext cx="457200" cy="91"/>
          </a:xfrm>
          <a:prstGeom prst="line">
            <a:avLst/>
          </a:prstGeom>
          <a:noFill/>
          <a:ln w="25400">
            <a:solidFill>
              <a:srgbClr val="1F2F6B"/>
            </a:solidFill>
            <a:prstDash val="solid"/>
            <a:tailEnd type="triangle"/>
          </a:ln>
        </p:spPr>
      </p:sp>
      <p:sp>
        <p:nvSpPr>
          <p:cNvPr id="31" name="!!hsHL"/>
          <p:cNvSpPr txBox="1"/>
          <p:nvPr/>
        </p:nvSpPr>
        <p:spPr>
          <a:xfrm>
            <a:off x="3291840" y="4297680"/>
            <a:ext cx="1828800" cy="228600"/>
          </a:xfrm>
          <a:prstGeom prst="rect">
            <a:avLst/>
          </a:prstGeom>
          <a:noFill/>
          <a:ln/>
        </p:spPr>
        <p:txBody>
          <a:bodyPr wrap="square" lIns="0" tIns="0" rIns="0" bIns="0" rtlCol="0" anchor="t"/>
          <a:lstStyle/>
          <a:p>
            <a:pPr algn="ctr" indent="0" marL="0">
              <a:buNone/>
            </a:pPr>
            <a:r>
              <a:rPr lang="en-US" sz="1000" dirty="0">
                <a:solidFill>
                  <a:srgbClr val="E07B00"/>
                </a:solidFill>
                <a:latin typeface="Segoe UI Semibold" pitchFamily="34" charset="0"/>
                <a:ea typeface="Segoe UI Semibold" pitchFamily="34" charset="-122"/>
                <a:cs typeface="Segoe UI Semibold" pitchFamily="34" charset="-120"/>
              </a:rPr>
              <a:t>hot spot: drain end</a:t>
            </a:r>
            <a:endParaRPr lang="en-US" sz="1000" dirty="0"/>
          </a:p>
        </p:txBody>
      </p:sp>
      <p:sp>
        <p:nvSpPr>
          <p:cNvPr id="32" name="!!card"/>
          <p:cNvSpPr/>
          <p:nvPr/>
        </p:nvSpPr>
        <p:spPr>
          <a:xfrm>
            <a:off x="6766560" y="1554480"/>
            <a:ext cx="4873752" cy="2377440"/>
          </a:xfrm>
          <a:prstGeom prst="roundRect">
            <a:avLst>
              <a:gd name="adj" fmla="val 3077"/>
            </a:avLst>
          </a:prstGeom>
          <a:solidFill>
            <a:srgbClr val="F4F5F7"/>
          </a:solidFill>
          <a:ln/>
        </p:spPr>
      </p:sp>
      <p:sp>
        <p:nvSpPr>
          <p:cNvPr id="33" name="!!cardn"/>
          <p:cNvSpPr/>
          <p:nvPr/>
        </p:nvSpPr>
        <p:spPr>
          <a:xfrm>
            <a:off x="6976872" y="1764792"/>
            <a:ext cx="347472" cy="347472"/>
          </a:xfrm>
          <a:prstGeom prst="ellipse">
            <a:avLst/>
          </a:prstGeom>
          <a:solidFill>
            <a:srgbClr val="D64545"/>
          </a:solidFill>
          <a:ln/>
        </p:spPr>
      </p:sp>
      <p:sp>
        <p:nvSpPr>
          <p:cNvPr id="34" name="!!cardnt"/>
          <p:cNvSpPr txBox="1"/>
          <p:nvPr/>
        </p:nvSpPr>
        <p:spPr>
          <a:xfrm>
            <a:off x="697687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35" name="!!cardh"/>
          <p:cNvSpPr txBox="1"/>
          <p:nvPr/>
        </p:nvSpPr>
        <p:spPr>
          <a:xfrm>
            <a:off x="7452360" y="1773936"/>
            <a:ext cx="4005072" cy="347472"/>
          </a:xfrm>
          <a:prstGeom prst="rect">
            <a:avLst/>
          </a:prstGeom>
          <a:noFill/>
          <a:ln/>
        </p:spPr>
        <p:txBody>
          <a:bodyPr wrap="square" lIns="0" tIns="0" rIns="0" bIns="0" rtlCol="0" anchor="ctr"/>
          <a:lstStyle/>
          <a:p>
            <a:pPr algn="l" indent="0" marL="0">
              <a:buNone/>
            </a:pPr>
            <a:r>
              <a:rPr lang="en-US" sz="1600" dirty="0">
                <a:solidFill>
                  <a:srgbClr val="D64545"/>
                </a:solidFill>
                <a:latin typeface="Segoe UI Semibold" pitchFamily="34" charset="0"/>
                <a:ea typeface="Segoe UI Semibold" pitchFamily="34" charset="-122"/>
                <a:cs typeface="Segoe UI Semibold" pitchFamily="34" charset="-120"/>
              </a:rPr>
              <a:t>Hot spot at the drain end</a:t>
            </a:r>
            <a:endParaRPr lang="en-US" sz="1600" dirty="0"/>
          </a:p>
        </p:txBody>
      </p:sp>
      <p:sp>
        <p:nvSpPr>
          <p:cNvPr id="36" name="!!cardb"/>
          <p:cNvSpPr txBox="1"/>
          <p:nvPr/>
        </p:nvSpPr>
        <p:spPr>
          <a:xfrm>
            <a:off x="6995160" y="2267712"/>
            <a:ext cx="4416552" cy="150876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Near the drain the field is strongest. Fast electrons hit the silicon atoms there and the crystal vibrates: it heats up.</a:t>
            </a:r>
            <a:endParaRPr lang="en-US" sz="1300" dirty="0"/>
          </a:p>
        </p:txBody>
      </p:sp>
      <p:sp>
        <p:nvSpPr>
          <p:cNvPr id="3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 hot spot forms at the drain end of the wire.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85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Self-heating – What happens inside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Same GAA wire, now running at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 (side view along the channel)</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171A20"/>
          </a:solidFill>
          <a:ln/>
        </p:spPr>
      </p:sp>
      <p:sp>
        <p:nvSpPr>
          <p:cNvPr id="6" name="!!sdot2"/>
          <p:cNvSpPr/>
          <p:nvPr/>
        </p:nvSpPr>
        <p:spPr>
          <a:xfrm>
            <a:off x="11443716" y="525780"/>
            <a:ext cx="82296" cy="82296"/>
          </a:xfrm>
          <a:prstGeom prst="ellipse">
            <a:avLst/>
          </a:prstGeom>
          <a:solidFill>
            <a:srgbClr val="171A20"/>
          </a:solidFill>
          <a:ln/>
        </p:spPr>
      </p:sp>
      <p:sp>
        <p:nvSpPr>
          <p:cNvPr id="7" name="!!sdot3"/>
          <p:cNvSpPr/>
          <p:nvPr/>
        </p:nvSpPr>
        <p:spPr>
          <a:xfrm>
            <a:off x="11599164" y="525780"/>
            <a:ext cx="82296" cy="82296"/>
          </a:xfrm>
          <a:prstGeom prst="ellipse">
            <a:avLst/>
          </a:prstGeom>
          <a:solidFill>
            <a:srgbClr val="E2E3E3"/>
          </a:solidFill>
          <a:ln/>
        </p:spPr>
      </p:sp>
      <p:sp>
        <p:nvSpPr>
          <p:cNvPr id="8" name="!!hsS"/>
          <p:cNvSpPr/>
          <p:nvPr/>
        </p:nvSpPr>
        <p:spPr>
          <a:xfrm>
            <a:off x="640080" y="2011680"/>
            <a:ext cx="1463040" cy="2194560"/>
          </a:xfrm>
          <a:prstGeom prst="roundRect">
            <a:avLst>
              <a:gd name="adj" fmla="val 2500"/>
            </a:avLst>
          </a:prstGeom>
          <a:solidFill>
            <a:srgbClr val="7D9BE6"/>
          </a:solidFill>
          <a:ln/>
        </p:spPr>
      </p:sp>
      <p:sp>
        <p:nvSpPr>
          <p:cNvPr id="9" name="!!hsD"/>
          <p:cNvSpPr/>
          <p:nvPr/>
        </p:nvSpPr>
        <p:spPr>
          <a:xfrm>
            <a:off x="4389120" y="2011680"/>
            <a:ext cx="1463040" cy="2194560"/>
          </a:xfrm>
          <a:prstGeom prst="roundRect">
            <a:avLst>
              <a:gd name="adj" fmla="val 2500"/>
            </a:avLst>
          </a:prstGeom>
          <a:solidFill>
            <a:srgbClr val="7D9BE6"/>
          </a:solidFill>
          <a:ln/>
        </p:spPr>
      </p:sp>
      <p:sp>
        <p:nvSpPr>
          <p:cNvPr id="10" name="!!hsSL"/>
          <p:cNvSpPr txBox="1"/>
          <p:nvPr/>
        </p:nvSpPr>
        <p:spPr>
          <a:xfrm>
            <a:off x="64008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source</a:t>
            </a:r>
            <a:endParaRPr lang="en-US" sz="1100" dirty="0"/>
          </a:p>
        </p:txBody>
      </p:sp>
      <p:sp>
        <p:nvSpPr>
          <p:cNvPr id="11" name="!!hsDL"/>
          <p:cNvSpPr txBox="1"/>
          <p:nvPr/>
        </p:nvSpPr>
        <p:spPr>
          <a:xfrm>
            <a:off x="438912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drain</a:t>
            </a:r>
            <a:endParaRPr lang="en-US" sz="1100" dirty="0"/>
          </a:p>
        </p:txBody>
      </p:sp>
      <p:sp>
        <p:nvSpPr>
          <p:cNvPr id="12" name="!!hsSpL"/>
          <p:cNvSpPr/>
          <p:nvPr/>
        </p:nvSpPr>
        <p:spPr>
          <a:xfrm>
            <a:off x="2103120" y="2011680"/>
            <a:ext cx="320040" cy="2194560"/>
          </a:xfrm>
          <a:prstGeom prst="rect">
            <a:avLst/>
          </a:prstGeom>
          <a:solidFill>
            <a:srgbClr val="D9DCE3"/>
          </a:solidFill>
          <a:ln/>
        </p:spPr>
      </p:sp>
      <p:sp>
        <p:nvSpPr>
          <p:cNvPr id="13" name="!!hsSpR"/>
          <p:cNvSpPr/>
          <p:nvPr/>
        </p:nvSpPr>
        <p:spPr>
          <a:xfrm>
            <a:off x="4069080" y="2011680"/>
            <a:ext cx="320040" cy="2194560"/>
          </a:xfrm>
          <a:prstGeom prst="rect">
            <a:avLst/>
          </a:prstGeom>
          <a:solidFill>
            <a:srgbClr val="D9DCE3"/>
          </a:solidFill>
          <a:ln/>
        </p:spPr>
      </p:sp>
      <p:sp>
        <p:nvSpPr>
          <p:cNvPr id="14" name="!!hsG"/>
          <p:cNvSpPr/>
          <p:nvPr/>
        </p:nvSpPr>
        <p:spPr>
          <a:xfrm>
            <a:off x="2423160" y="2011680"/>
            <a:ext cx="1645920" cy="2194560"/>
          </a:xfrm>
          <a:prstGeom prst="rect">
            <a:avLst/>
          </a:prstGeom>
          <a:solidFill>
            <a:srgbClr val="B3A6E6"/>
          </a:solidFill>
          <a:ln/>
        </p:spPr>
      </p:sp>
      <p:sp>
        <p:nvSpPr>
          <p:cNvPr id="15" name="!!hsGL"/>
          <p:cNvSpPr txBox="1"/>
          <p:nvPr/>
        </p:nvSpPr>
        <p:spPr>
          <a:xfrm>
            <a:off x="2423160" y="2103120"/>
            <a:ext cx="1645920" cy="274320"/>
          </a:xfrm>
          <a:prstGeom prst="rect">
            <a:avLst/>
          </a:prstGeom>
          <a:noFill/>
          <a:ln/>
        </p:spPr>
        <p:txBody>
          <a:bodyPr wrap="square" lIns="0" tIns="0" rIns="0" bIns="0" rtlCol="0" anchor="t"/>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 (wraps)</a:t>
            </a:r>
            <a:endParaRPr lang="en-US" sz="1100" dirty="0"/>
          </a:p>
        </p:txBody>
      </p:sp>
      <p:sp>
        <p:nvSpPr>
          <p:cNvPr id="16" name="!!hsOx"/>
          <p:cNvSpPr/>
          <p:nvPr/>
        </p:nvSpPr>
        <p:spPr>
          <a:xfrm>
            <a:off x="2103120" y="2770632"/>
            <a:ext cx="2286000" cy="676656"/>
          </a:xfrm>
          <a:prstGeom prst="rect">
            <a:avLst/>
          </a:prstGeom>
          <a:solidFill>
            <a:srgbClr val="8FCBE0"/>
          </a:solidFill>
          <a:ln w="25400">
            <a:solidFill>
              <a:srgbClr val="D64545"/>
            </a:solidFill>
            <a:prstDash val="solid"/>
          </a:ln>
        </p:spPr>
      </p:sp>
      <p:sp>
        <p:nvSpPr>
          <p:cNvPr id="17" name="!!hsW"/>
          <p:cNvSpPr/>
          <p:nvPr/>
        </p:nvSpPr>
        <p:spPr>
          <a:xfrm>
            <a:off x="2103120" y="2880360"/>
            <a:ext cx="2286000" cy="457200"/>
          </a:xfrm>
          <a:prstGeom prst="rect">
            <a:avLst/>
          </a:prstGeom>
          <a:solidFill>
            <a:srgbClr val="F6E7B8"/>
          </a:solidFill>
          <a:ln/>
        </p:spPr>
      </p:sp>
      <p:sp>
        <p:nvSpPr>
          <p:cNvPr id="18" name="!!hsC0"/>
          <p:cNvSpPr/>
          <p:nvPr/>
        </p:nvSpPr>
        <p:spPr>
          <a:xfrm>
            <a:off x="640080" y="1691640"/>
            <a:ext cx="1463040" cy="228600"/>
          </a:xfrm>
          <a:prstGeom prst="roundRect">
            <a:avLst>
              <a:gd name="adj" fmla="val 12000"/>
            </a:avLst>
          </a:prstGeom>
          <a:solidFill>
            <a:srgbClr val="171A20"/>
          </a:solidFill>
          <a:ln/>
        </p:spPr>
      </p:sp>
      <p:sp>
        <p:nvSpPr>
          <p:cNvPr id="19" name="!!hsCt0"/>
          <p:cNvSpPr txBox="1"/>
          <p:nvPr/>
        </p:nvSpPr>
        <p:spPr>
          <a:xfrm>
            <a:off x="64008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0" name="!!hsC1"/>
          <p:cNvSpPr/>
          <p:nvPr/>
        </p:nvSpPr>
        <p:spPr>
          <a:xfrm>
            <a:off x="2423160" y="1691640"/>
            <a:ext cx="1645920" cy="228600"/>
          </a:xfrm>
          <a:prstGeom prst="roundRect">
            <a:avLst>
              <a:gd name="adj" fmla="val 12000"/>
            </a:avLst>
          </a:prstGeom>
          <a:solidFill>
            <a:srgbClr val="171A20"/>
          </a:solidFill>
          <a:ln/>
        </p:spPr>
      </p:sp>
      <p:sp>
        <p:nvSpPr>
          <p:cNvPr id="21" name="!!hsCt1"/>
          <p:cNvSpPr txBox="1"/>
          <p:nvPr/>
        </p:nvSpPr>
        <p:spPr>
          <a:xfrm>
            <a:off x="2423160" y="1691640"/>
            <a:ext cx="164592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2" name="!!hsC2"/>
          <p:cNvSpPr/>
          <p:nvPr/>
        </p:nvSpPr>
        <p:spPr>
          <a:xfrm>
            <a:off x="4389120" y="1691640"/>
            <a:ext cx="1463040" cy="228600"/>
          </a:xfrm>
          <a:prstGeom prst="roundRect">
            <a:avLst>
              <a:gd name="adj" fmla="val 12000"/>
            </a:avLst>
          </a:prstGeom>
          <a:solidFill>
            <a:srgbClr val="171A20"/>
          </a:solidFill>
          <a:ln/>
        </p:spPr>
      </p:sp>
      <p:sp>
        <p:nvSpPr>
          <p:cNvPr id="23" name="!!hsCt2"/>
          <p:cNvSpPr txBox="1"/>
          <p:nvPr/>
        </p:nvSpPr>
        <p:spPr>
          <a:xfrm>
            <a:off x="438912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4" name="!!hsH0"/>
          <p:cNvSpPr/>
          <p:nvPr/>
        </p:nvSpPr>
        <p:spPr>
          <a:xfrm>
            <a:off x="3092552" y="2717658"/>
            <a:ext cx="1770177" cy="782604"/>
          </a:xfrm>
          <a:prstGeom prst="ellipse">
            <a:avLst/>
          </a:prstGeom>
          <a:solidFill>
            <a:srgbClr val="FFE1B3">
              <a:alpha val="85000"/>
            </a:srgbClr>
          </a:solidFill>
          <a:ln/>
        </p:spPr>
      </p:sp>
      <p:sp>
        <p:nvSpPr>
          <p:cNvPr id="25" name="!!hsH1"/>
          <p:cNvSpPr/>
          <p:nvPr/>
        </p:nvSpPr>
        <p:spPr>
          <a:xfrm>
            <a:off x="3345048" y="2829288"/>
            <a:ext cx="1265184" cy="559345"/>
          </a:xfrm>
          <a:prstGeom prst="ellipse">
            <a:avLst/>
          </a:prstGeom>
          <a:solidFill>
            <a:srgbClr val="FFB36B">
              <a:alpha val="85000"/>
            </a:srgbClr>
          </a:solidFill>
          <a:ln/>
        </p:spPr>
      </p:sp>
      <p:sp>
        <p:nvSpPr>
          <p:cNvPr id="26" name="!!hsH2"/>
          <p:cNvSpPr/>
          <p:nvPr/>
        </p:nvSpPr>
        <p:spPr>
          <a:xfrm>
            <a:off x="3555462" y="2922313"/>
            <a:ext cx="844357" cy="373295"/>
          </a:xfrm>
          <a:prstGeom prst="ellipse">
            <a:avLst/>
          </a:prstGeom>
          <a:solidFill>
            <a:srgbClr val="F07A3A">
              <a:alpha val="85000"/>
            </a:srgbClr>
          </a:solidFill>
          <a:ln/>
        </p:spPr>
      </p:sp>
      <p:sp>
        <p:nvSpPr>
          <p:cNvPr id="27" name="!!hsH3"/>
          <p:cNvSpPr/>
          <p:nvPr/>
        </p:nvSpPr>
        <p:spPr>
          <a:xfrm>
            <a:off x="3723792" y="2996733"/>
            <a:ext cx="507695" cy="224455"/>
          </a:xfrm>
          <a:prstGeom prst="ellipse">
            <a:avLst/>
          </a:prstGeom>
          <a:solidFill>
            <a:srgbClr val="D64545">
              <a:alpha val="85000"/>
            </a:srgbClr>
          </a:solidFill>
          <a:ln/>
        </p:spPr>
      </p:sp>
      <p:sp>
        <p:nvSpPr>
          <p:cNvPr id="28" name="!!hsA0"/>
          <p:cNvSpPr/>
          <p:nvPr/>
        </p:nvSpPr>
        <p:spPr>
          <a:xfrm>
            <a:off x="2240280" y="3108960"/>
            <a:ext cx="457200" cy="91"/>
          </a:xfrm>
          <a:prstGeom prst="line">
            <a:avLst/>
          </a:prstGeom>
          <a:noFill/>
          <a:ln w="25400">
            <a:solidFill>
              <a:srgbClr val="1F2F6B"/>
            </a:solidFill>
            <a:prstDash val="solid"/>
            <a:tailEnd type="triangle"/>
          </a:ln>
        </p:spPr>
      </p:sp>
      <p:sp>
        <p:nvSpPr>
          <p:cNvPr id="29" name="!!hsA1"/>
          <p:cNvSpPr/>
          <p:nvPr/>
        </p:nvSpPr>
        <p:spPr>
          <a:xfrm>
            <a:off x="2880360" y="3108960"/>
            <a:ext cx="457200" cy="91"/>
          </a:xfrm>
          <a:prstGeom prst="line">
            <a:avLst/>
          </a:prstGeom>
          <a:noFill/>
          <a:ln w="25400">
            <a:solidFill>
              <a:srgbClr val="1F2F6B"/>
            </a:solidFill>
            <a:prstDash val="solid"/>
            <a:tailEnd type="triangle"/>
          </a:ln>
        </p:spPr>
      </p:sp>
      <p:sp>
        <p:nvSpPr>
          <p:cNvPr id="30" name="!!hsA2"/>
          <p:cNvSpPr/>
          <p:nvPr/>
        </p:nvSpPr>
        <p:spPr>
          <a:xfrm>
            <a:off x="3520440" y="3108960"/>
            <a:ext cx="457200" cy="91"/>
          </a:xfrm>
          <a:prstGeom prst="line">
            <a:avLst/>
          </a:prstGeom>
          <a:noFill/>
          <a:ln w="25400">
            <a:solidFill>
              <a:srgbClr val="1F2F6B"/>
            </a:solidFill>
            <a:prstDash val="solid"/>
            <a:tailEnd type="triangle"/>
          </a:ln>
        </p:spPr>
      </p:sp>
      <p:sp>
        <p:nvSpPr>
          <p:cNvPr id="31" name="!!hsTr"/>
          <p:cNvSpPr txBox="1"/>
          <p:nvPr/>
        </p:nvSpPr>
        <p:spPr>
          <a:xfrm>
            <a:off x="2103120" y="3520440"/>
            <a:ext cx="2286000" cy="228600"/>
          </a:xfrm>
          <a:prstGeom prst="rect">
            <a:avLst/>
          </a:prstGeom>
          <a:noFill/>
          <a:ln/>
        </p:spPr>
        <p:txBody>
          <a:bodyPr wrap="square" lIns="0" tIns="0" rIns="0" bIns="0" rtlCol="0" anchor="t"/>
          <a:lstStyle/>
          <a:p>
            <a:pPr algn="ctr" indent="0" marL="0">
              <a:buNone/>
            </a:pPr>
            <a:r>
              <a:rPr lang="en-US" sz="1000" dirty="0">
                <a:solidFill>
                  <a:srgbClr val="D64545"/>
                </a:solidFill>
                <a:latin typeface="Segoe UI Semibold" pitchFamily="34" charset="0"/>
                <a:ea typeface="Segoe UI Semibold" pitchFamily="34" charset="-122"/>
                <a:cs typeface="Segoe UI Semibold" pitchFamily="34" charset="-120"/>
              </a:rPr>
              <a:t>heat trapped by the oxide</a:t>
            </a:r>
            <a:endParaRPr lang="en-US" sz="1000" dirty="0"/>
          </a:p>
        </p:txBody>
      </p:sp>
      <p:sp>
        <p:nvSpPr>
          <p:cNvPr id="32" name="!!hsHL"/>
          <p:cNvSpPr txBox="1"/>
          <p:nvPr/>
        </p:nvSpPr>
        <p:spPr>
          <a:xfrm>
            <a:off x="3291840" y="4297680"/>
            <a:ext cx="1828800" cy="228600"/>
          </a:xfrm>
          <a:prstGeom prst="rect">
            <a:avLst/>
          </a:prstGeom>
          <a:noFill/>
          <a:ln/>
        </p:spPr>
        <p:txBody>
          <a:bodyPr wrap="square" lIns="0" tIns="0" rIns="0" bIns="0" rtlCol="0" anchor="t"/>
          <a:lstStyle/>
          <a:p>
            <a:pPr algn="ctr" indent="0" marL="0">
              <a:buNone/>
            </a:pPr>
            <a:r>
              <a:rPr lang="en-US" sz="1000" dirty="0">
                <a:solidFill>
                  <a:srgbClr val="E07B00"/>
                </a:solidFill>
                <a:latin typeface="Segoe UI Semibold" pitchFamily="34" charset="0"/>
                <a:ea typeface="Segoe UI Semibold" pitchFamily="34" charset="-122"/>
                <a:cs typeface="Segoe UI Semibold" pitchFamily="34" charset="-120"/>
              </a:rPr>
              <a:t>hot spot: drain end</a:t>
            </a:r>
            <a:endParaRPr lang="en-US" sz="1000" dirty="0"/>
          </a:p>
        </p:txBody>
      </p:sp>
      <p:sp>
        <p:nvSpPr>
          <p:cNvPr id="33" name="!!card"/>
          <p:cNvSpPr/>
          <p:nvPr/>
        </p:nvSpPr>
        <p:spPr>
          <a:xfrm>
            <a:off x="6766560" y="1554480"/>
            <a:ext cx="4873752" cy="2377440"/>
          </a:xfrm>
          <a:prstGeom prst="roundRect">
            <a:avLst>
              <a:gd name="adj" fmla="val 3077"/>
            </a:avLst>
          </a:prstGeom>
          <a:solidFill>
            <a:srgbClr val="F4F5F7"/>
          </a:solidFill>
          <a:ln/>
        </p:spPr>
      </p:sp>
      <p:sp>
        <p:nvSpPr>
          <p:cNvPr id="34" name="!!cardn"/>
          <p:cNvSpPr/>
          <p:nvPr/>
        </p:nvSpPr>
        <p:spPr>
          <a:xfrm>
            <a:off x="6976872" y="1764792"/>
            <a:ext cx="347472" cy="347472"/>
          </a:xfrm>
          <a:prstGeom prst="ellipse">
            <a:avLst/>
          </a:prstGeom>
          <a:solidFill>
            <a:srgbClr val="D64545"/>
          </a:solidFill>
          <a:ln/>
        </p:spPr>
      </p:sp>
      <p:sp>
        <p:nvSpPr>
          <p:cNvPr id="35" name="!!cardnt"/>
          <p:cNvSpPr txBox="1"/>
          <p:nvPr/>
        </p:nvSpPr>
        <p:spPr>
          <a:xfrm>
            <a:off x="697687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6" name="!!cardh"/>
          <p:cNvSpPr txBox="1"/>
          <p:nvPr/>
        </p:nvSpPr>
        <p:spPr>
          <a:xfrm>
            <a:off x="7452360" y="1773936"/>
            <a:ext cx="4005072" cy="347472"/>
          </a:xfrm>
          <a:prstGeom prst="rect">
            <a:avLst/>
          </a:prstGeom>
          <a:noFill/>
          <a:ln/>
        </p:spPr>
        <p:txBody>
          <a:bodyPr wrap="square" lIns="0" tIns="0" rIns="0" bIns="0" rtlCol="0" anchor="ctr"/>
          <a:lstStyle/>
          <a:p>
            <a:pPr algn="l" indent="0" marL="0">
              <a:buNone/>
            </a:pPr>
            <a:r>
              <a:rPr lang="en-US" sz="1600" dirty="0">
                <a:solidFill>
                  <a:srgbClr val="D64545"/>
                </a:solidFill>
                <a:latin typeface="Segoe UI Semibold" pitchFamily="34" charset="0"/>
                <a:ea typeface="Segoe UI Semibold" pitchFamily="34" charset="-122"/>
                <a:cs typeface="Segoe UI Semibold" pitchFamily="34" charset="-120"/>
              </a:rPr>
              <a:t>The oxide traps the heat</a:t>
            </a:r>
            <a:endParaRPr lang="en-US" sz="1600" dirty="0"/>
          </a:p>
        </p:txBody>
      </p:sp>
      <p:sp>
        <p:nvSpPr>
          <p:cNvPr id="37" name="!!cardb"/>
          <p:cNvSpPr txBox="1"/>
          <p:nvPr/>
        </p:nvSpPr>
        <p:spPr>
          <a:xfrm>
            <a:off x="6995160" y="2267712"/>
            <a:ext cx="4416552" cy="150876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The wire is wrapped in SiO₂ and HfO₂, which conduct heat 10–100× worse than silicon. Heat cannot get out easily.</a:t>
            </a:r>
            <a:endParaRPr lang="en-US" sz="1300" dirty="0"/>
          </a:p>
        </p:txBody>
      </p:sp>
      <p:sp>
        <p:nvSpPr>
          <p:cNvPr id="38"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Good for gate control, bad for cooling.</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86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Self-heating – What happens inside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Same GAA wire, now running at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 (side view along the channel)</a:t>
            </a:r>
            <a:endParaRPr lang="en-US" sz="1600" dirty="0"/>
          </a:p>
        </p:txBody>
      </p:sp>
      <p:sp>
        <p:nvSpPr>
          <p:cNvPr id="4" name="!!sdot0"/>
          <p:cNvSpPr/>
          <p:nvPr/>
        </p:nvSpPr>
        <p:spPr>
          <a:xfrm>
            <a:off x="11132820" y="525780"/>
            <a:ext cx="82296" cy="82296"/>
          </a:xfrm>
          <a:prstGeom prst="ellipse">
            <a:avLst/>
          </a:prstGeom>
          <a:solidFill>
            <a:srgbClr val="171A20"/>
          </a:solidFill>
          <a:ln/>
        </p:spPr>
      </p:sp>
      <p:sp>
        <p:nvSpPr>
          <p:cNvPr id="5" name="!!sdot1"/>
          <p:cNvSpPr/>
          <p:nvPr/>
        </p:nvSpPr>
        <p:spPr>
          <a:xfrm>
            <a:off x="11288268" y="525780"/>
            <a:ext cx="82296" cy="82296"/>
          </a:xfrm>
          <a:prstGeom prst="ellipse">
            <a:avLst/>
          </a:prstGeom>
          <a:solidFill>
            <a:srgbClr val="171A20"/>
          </a:solidFill>
          <a:ln/>
        </p:spPr>
      </p:sp>
      <p:sp>
        <p:nvSpPr>
          <p:cNvPr id="6" name="!!sdot2"/>
          <p:cNvSpPr/>
          <p:nvPr/>
        </p:nvSpPr>
        <p:spPr>
          <a:xfrm>
            <a:off x="11443716" y="525780"/>
            <a:ext cx="82296" cy="82296"/>
          </a:xfrm>
          <a:prstGeom prst="ellipse">
            <a:avLst/>
          </a:prstGeom>
          <a:solidFill>
            <a:srgbClr val="171A20"/>
          </a:solidFill>
          <a:ln/>
        </p:spPr>
      </p:sp>
      <p:sp>
        <p:nvSpPr>
          <p:cNvPr id="7" name="!!sdot3"/>
          <p:cNvSpPr/>
          <p:nvPr/>
        </p:nvSpPr>
        <p:spPr>
          <a:xfrm>
            <a:off x="11599164" y="525780"/>
            <a:ext cx="82296" cy="82296"/>
          </a:xfrm>
          <a:prstGeom prst="ellipse">
            <a:avLst/>
          </a:prstGeom>
          <a:solidFill>
            <a:srgbClr val="171A20"/>
          </a:solidFill>
          <a:ln/>
        </p:spPr>
      </p:sp>
      <p:sp>
        <p:nvSpPr>
          <p:cNvPr id="8" name="!!hsS"/>
          <p:cNvSpPr/>
          <p:nvPr/>
        </p:nvSpPr>
        <p:spPr>
          <a:xfrm>
            <a:off x="640080" y="2011680"/>
            <a:ext cx="1463040" cy="2194560"/>
          </a:xfrm>
          <a:prstGeom prst="roundRect">
            <a:avLst>
              <a:gd name="adj" fmla="val 2500"/>
            </a:avLst>
          </a:prstGeom>
          <a:solidFill>
            <a:srgbClr val="7D9BE6"/>
          </a:solidFill>
          <a:ln/>
        </p:spPr>
      </p:sp>
      <p:sp>
        <p:nvSpPr>
          <p:cNvPr id="9" name="!!hsD"/>
          <p:cNvSpPr/>
          <p:nvPr/>
        </p:nvSpPr>
        <p:spPr>
          <a:xfrm>
            <a:off x="4389120" y="2011680"/>
            <a:ext cx="1463040" cy="2194560"/>
          </a:xfrm>
          <a:prstGeom prst="roundRect">
            <a:avLst>
              <a:gd name="adj" fmla="val 2500"/>
            </a:avLst>
          </a:prstGeom>
          <a:solidFill>
            <a:srgbClr val="7D9BE6"/>
          </a:solidFill>
          <a:ln/>
        </p:spPr>
      </p:sp>
      <p:sp>
        <p:nvSpPr>
          <p:cNvPr id="10" name="!!hsSL"/>
          <p:cNvSpPr txBox="1"/>
          <p:nvPr/>
        </p:nvSpPr>
        <p:spPr>
          <a:xfrm>
            <a:off x="64008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source</a:t>
            </a:r>
            <a:endParaRPr lang="en-US" sz="1100" dirty="0"/>
          </a:p>
        </p:txBody>
      </p:sp>
      <p:sp>
        <p:nvSpPr>
          <p:cNvPr id="11" name="!!hsDL"/>
          <p:cNvSpPr txBox="1"/>
          <p:nvPr/>
        </p:nvSpPr>
        <p:spPr>
          <a:xfrm>
            <a:off x="438912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drain</a:t>
            </a:r>
            <a:endParaRPr lang="en-US" sz="1100" dirty="0"/>
          </a:p>
        </p:txBody>
      </p:sp>
      <p:sp>
        <p:nvSpPr>
          <p:cNvPr id="12" name="!!hsSpL"/>
          <p:cNvSpPr/>
          <p:nvPr/>
        </p:nvSpPr>
        <p:spPr>
          <a:xfrm>
            <a:off x="2103120" y="2011680"/>
            <a:ext cx="320040" cy="2194560"/>
          </a:xfrm>
          <a:prstGeom prst="rect">
            <a:avLst/>
          </a:prstGeom>
          <a:solidFill>
            <a:srgbClr val="D9DCE3"/>
          </a:solidFill>
          <a:ln/>
        </p:spPr>
      </p:sp>
      <p:sp>
        <p:nvSpPr>
          <p:cNvPr id="13" name="!!hsSpR"/>
          <p:cNvSpPr/>
          <p:nvPr/>
        </p:nvSpPr>
        <p:spPr>
          <a:xfrm>
            <a:off x="4069080" y="2011680"/>
            <a:ext cx="320040" cy="2194560"/>
          </a:xfrm>
          <a:prstGeom prst="rect">
            <a:avLst/>
          </a:prstGeom>
          <a:solidFill>
            <a:srgbClr val="D9DCE3"/>
          </a:solidFill>
          <a:ln/>
        </p:spPr>
      </p:sp>
      <p:sp>
        <p:nvSpPr>
          <p:cNvPr id="14" name="!!hsG"/>
          <p:cNvSpPr/>
          <p:nvPr/>
        </p:nvSpPr>
        <p:spPr>
          <a:xfrm>
            <a:off x="2423160" y="2011680"/>
            <a:ext cx="1645920" cy="2194560"/>
          </a:xfrm>
          <a:prstGeom prst="rect">
            <a:avLst/>
          </a:prstGeom>
          <a:solidFill>
            <a:srgbClr val="B3A6E6"/>
          </a:solidFill>
          <a:ln/>
        </p:spPr>
      </p:sp>
      <p:sp>
        <p:nvSpPr>
          <p:cNvPr id="15" name="!!hsGL"/>
          <p:cNvSpPr txBox="1"/>
          <p:nvPr/>
        </p:nvSpPr>
        <p:spPr>
          <a:xfrm>
            <a:off x="2423160" y="2103120"/>
            <a:ext cx="1645920" cy="274320"/>
          </a:xfrm>
          <a:prstGeom prst="rect">
            <a:avLst/>
          </a:prstGeom>
          <a:noFill/>
          <a:ln/>
        </p:spPr>
        <p:txBody>
          <a:bodyPr wrap="square" lIns="0" tIns="0" rIns="0" bIns="0" rtlCol="0" anchor="t"/>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 (wraps)</a:t>
            </a:r>
            <a:endParaRPr lang="en-US" sz="1100" dirty="0"/>
          </a:p>
        </p:txBody>
      </p:sp>
      <p:sp>
        <p:nvSpPr>
          <p:cNvPr id="16" name="!!hsOx"/>
          <p:cNvSpPr/>
          <p:nvPr/>
        </p:nvSpPr>
        <p:spPr>
          <a:xfrm>
            <a:off x="2103120" y="2770632"/>
            <a:ext cx="2286000" cy="676656"/>
          </a:xfrm>
          <a:prstGeom prst="rect">
            <a:avLst/>
          </a:prstGeom>
          <a:solidFill>
            <a:srgbClr val="8FCBE0"/>
          </a:solidFill>
          <a:ln w="25400">
            <a:solidFill>
              <a:srgbClr val="D64545"/>
            </a:solidFill>
            <a:prstDash val="solid"/>
          </a:ln>
        </p:spPr>
      </p:sp>
      <p:sp>
        <p:nvSpPr>
          <p:cNvPr id="17" name="!!hsW"/>
          <p:cNvSpPr/>
          <p:nvPr/>
        </p:nvSpPr>
        <p:spPr>
          <a:xfrm>
            <a:off x="2103120" y="2880360"/>
            <a:ext cx="2286000" cy="457200"/>
          </a:xfrm>
          <a:prstGeom prst="rect">
            <a:avLst/>
          </a:prstGeom>
          <a:solidFill>
            <a:srgbClr val="F6E7B8"/>
          </a:solidFill>
          <a:ln/>
        </p:spPr>
      </p:sp>
      <p:sp>
        <p:nvSpPr>
          <p:cNvPr id="18" name="!!hsC0"/>
          <p:cNvSpPr/>
          <p:nvPr/>
        </p:nvSpPr>
        <p:spPr>
          <a:xfrm>
            <a:off x="640080" y="1691640"/>
            <a:ext cx="1463040" cy="228600"/>
          </a:xfrm>
          <a:prstGeom prst="roundRect">
            <a:avLst>
              <a:gd name="adj" fmla="val 12000"/>
            </a:avLst>
          </a:prstGeom>
          <a:solidFill>
            <a:srgbClr val="171A20"/>
          </a:solidFill>
          <a:ln/>
        </p:spPr>
      </p:sp>
      <p:sp>
        <p:nvSpPr>
          <p:cNvPr id="19" name="!!hsCt0"/>
          <p:cNvSpPr txBox="1"/>
          <p:nvPr/>
        </p:nvSpPr>
        <p:spPr>
          <a:xfrm>
            <a:off x="64008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0" name="!!hsC1"/>
          <p:cNvSpPr/>
          <p:nvPr/>
        </p:nvSpPr>
        <p:spPr>
          <a:xfrm>
            <a:off x="2423160" y="1691640"/>
            <a:ext cx="1645920" cy="228600"/>
          </a:xfrm>
          <a:prstGeom prst="roundRect">
            <a:avLst>
              <a:gd name="adj" fmla="val 12000"/>
            </a:avLst>
          </a:prstGeom>
          <a:solidFill>
            <a:srgbClr val="171A20"/>
          </a:solidFill>
          <a:ln/>
        </p:spPr>
      </p:sp>
      <p:sp>
        <p:nvSpPr>
          <p:cNvPr id="21" name="!!hsCt1"/>
          <p:cNvSpPr txBox="1"/>
          <p:nvPr/>
        </p:nvSpPr>
        <p:spPr>
          <a:xfrm>
            <a:off x="2423160" y="1691640"/>
            <a:ext cx="164592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2" name="!!hsC2"/>
          <p:cNvSpPr/>
          <p:nvPr/>
        </p:nvSpPr>
        <p:spPr>
          <a:xfrm>
            <a:off x="4389120" y="1691640"/>
            <a:ext cx="1463040" cy="228600"/>
          </a:xfrm>
          <a:prstGeom prst="roundRect">
            <a:avLst>
              <a:gd name="adj" fmla="val 12000"/>
            </a:avLst>
          </a:prstGeom>
          <a:solidFill>
            <a:srgbClr val="171A20"/>
          </a:solidFill>
          <a:ln/>
        </p:spPr>
      </p:sp>
      <p:sp>
        <p:nvSpPr>
          <p:cNvPr id="23" name="!!hsCt2"/>
          <p:cNvSpPr txBox="1"/>
          <p:nvPr/>
        </p:nvSpPr>
        <p:spPr>
          <a:xfrm>
            <a:off x="438912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4" name="!!hsH0"/>
          <p:cNvSpPr/>
          <p:nvPr/>
        </p:nvSpPr>
        <p:spPr>
          <a:xfrm>
            <a:off x="3092552" y="2717658"/>
            <a:ext cx="1770177" cy="782604"/>
          </a:xfrm>
          <a:prstGeom prst="ellipse">
            <a:avLst/>
          </a:prstGeom>
          <a:solidFill>
            <a:srgbClr val="FFE1B3">
              <a:alpha val="85000"/>
            </a:srgbClr>
          </a:solidFill>
          <a:ln/>
        </p:spPr>
      </p:sp>
      <p:sp>
        <p:nvSpPr>
          <p:cNvPr id="25" name="!!hsH1"/>
          <p:cNvSpPr/>
          <p:nvPr/>
        </p:nvSpPr>
        <p:spPr>
          <a:xfrm>
            <a:off x="3345048" y="2829288"/>
            <a:ext cx="1265184" cy="559345"/>
          </a:xfrm>
          <a:prstGeom prst="ellipse">
            <a:avLst/>
          </a:prstGeom>
          <a:solidFill>
            <a:srgbClr val="FFB36B">
              <a:alpha val="85000"/>
            </a:srgbClr>
          </a:solidFill>
          <a:ln/>
        </p:spPr>
      </p:sp>
      <p:sp>
        <p:nvSpPr>
          <p:cNvPr id="26" name="!!hsH2"/>
          <p:cNvSpPr/>
          <p:nvPr/>
        </p:nvSpPr>
        <p:spPr>
          <a:xfrm>
            <a:off x="3555462" y="2922313"/>
            <a:ext cx="844357" cy="373295"/>
          </a:xfrm>
          <a:prstGeom prst="ellipse">
            <a:avLst/>
          </a:prstGeom>
          <a:solidFill>
            <a:srgbClr val="F07A3A">
              <a:alpha val="85000"/>
            </a:srgbClr>
          </a:solidFill>
          <a:ln/>
        </p:spPr>
      </p:sp>
      <p:sp>
        <p:nvSpPr>
          <p:cNvPr id="27" name="!!hsH3"/>
          <p:cNvSpPr/>
          <p:nvPr/>
        </p:nvSpPr>
        <p:spPr>
          <a:xfrm>
            <a:off x="3723792" y="2996733"/>
            <a:ext cx="507695" cy="224455"/>
          </a:xfrm>
          <a:prstGeom prst="ellipse">
            <a:avLst/>
          </a:prstGeom>
          <a:solidFill>
            <a:srgbClr val="D64545">
              <a:alpha val="85000"/>
            </a:srgbClr>
          </a:solidFill>
          <a:ln/>
        </p:spPr>
      </p:sp>
      <p:sp>
        <p:nvSpPr>
          <p:cNvPr id="28" name="!!hsA0"/>
          <p:cNvSpPr/>
          <p:nvPr/>
        </p:nvSpPr>
        <p:spPr>
          <a:xfrm>
            <a:off x="2240280" y="3108960"/>
            <a:ext cx="457200" cy="91"/>
          </a:xfrm>
          <a:prstGeom prst="line">
            <a:avLst/>
          </a:prstGeom>
          <a:noFill/>
          <a:ln w="25400">
            <a:solidFill>
              <a:srgbClr val="1F2F6B"/>
            </a:solidFill>
            <a:prstDash val="solid"/>
            <a:tailEnd type="triangle"/>
          </a:ln>
        </p:spPr>
      </p:sp>
      <p:sp>
        <p:nvSpPr>
          <p:cNvPr id="29" name="!!hsA1"/>
          <p:cNvSpPr/>
          <p:nvPr/>
        </p:nvSpPr>
        <p:spPr>
          <a:xfrm>
            <a:off x="2880360" y="3108960"/>
            <a:ext cx="457200" cy="91"/>
          </a:xfrm>
          <a:prstGeom prst="line">
            <a:avLst/>
          </a:prstGeom>
          <a:noFill/>
          <a:ln w="25400">
            <a:solidFill>
              <a:srgbClr val="1F2F6B"/>
            </a:solidFill>
            <a:prstDash val="solid"/>
            <a:tailEnd type="triangle"/>
          </a:ln>
        </p:spPr>
      </p:sp>
      <p:sp>
        <p:nvSpPr>
          <p:cNvPr id="30" name="!!hsA2"/>
          <p:cNvSpPr/>
          <p:nvPr/>
        </p:nvSpPr>
        <p:spPr>
          <a:xfrm>
            <a:off x="3520440" y="3108960"/>
            <a:ext cx="457200" cy="91"/>
          </a:xfrm>
          <a:prstGeom prst="line">
            <a:avLst/>
          </a:prstGeom>
          <a:noFill/>
          <a:ln w="25400">
            <a:solidFill>
              <a:srgbClr val="1F2F6B"/>
            </a:solidFill>
            <a:prstDash val="solid"/>
            <a:tailEnd type="triangle"/>
          </a:ln>
        </p:spPr>
      </p:sp>
      <p:sp>
        <p:nvSpPr>
          <p:cNvPr id="31" name="!!hsX0"/>
          <p:cNvSpPr/>
          <p:nvPr/>
        </p:nvSpPr>
        <p:spPr>
          <a:xfrm flipH="1">
            <a:off x="4023360" y="1938528"/>
            <a:ext cx="91" cy="804672"/>
          </a:xfrm>
          <a:prstGeom prst="line">
            <a:avLst/>
          </a:prstGeom>
          <a:noFill/>
          <a:ln w="31750">
            <a:solidFill>
              <a:srgbClr val="E07B00"/>
            </a:solidFill>
            <a:prstDash val="solid"/>
            <a:tailEnd type="triangle"/>
          </a:ln>
        </p:spPr>
      </p:sp>
      <p:sp>
        <p:nvSpPr>
          <p:cNvPr id="32" name="!!hsX1"/>
          <p:cNvSpPr/>
          <p:nvPr/>
        </p:nvSpPr>
        <p:spPr>
          <a:xfrm flipH="1">
            <a:off x="4206240" y="1938528"/>
            <a:ext cx="914400" cy="1170432"/>
          </a:xfrm>
          <a:prstGeom prst="line">
            <a:avLst/>
          </a:prstGeom>
          <a:noFill/>
          <a:ln w="31750">
            <a:solidFill>
              <a:srgbClr val="E07B00"/>
            </a:solidFill>
            <a:prstDash val="solid"/>
            <a:tailEnd type="triangle"/>
          </a:ln>
        </p:spPr>
      </p:sp>
      <p:sp>
        <p:nvSpPr>
          <p:cNvPr id="33" name="!!hsX2"/>
          <p:cNvSpPr/>
          <p:nvPr/>
        </p:nvSpPr>
        <p:spPr>
          <a:xfrm>
            <a:off x="1371600" y="1938528"/>
            <a:ext cx="2468880" cy="1170432"/>
          </a:xfrm>
          <a:prstGeom prst="line">
            <a:avLst/>
          </a:prstGeom>
          <a:noFill/>
          <a:ln w="19050">
            <a:solidFill>
              <a:srgbClr val="E07B00"/>
            </a:solidFill>
            <a:prstDash val="dash"/>
            <a:tailEnd type="triangle"/>
          </a:ln>
        </p:spPr>
      </p:sp>
      <p:sp>
        <p:nvSpPr>
          <p:cNvPr id="34" name="!!hsTr"/>
          <p:cNvSpPr txBox="1"/>
          <p:nvPr/>
        </p:nvSpPr>
        <p:spPr>
          <a:xfrm>
            <a:off x="2103120" y="3520440"/>
            <a:ext cx="2286000" cy="228600"/>
          </a:xfrm>
          <a:prstGeom prst="rect">
            <a:avLst/>
          </a:prstGeom>
          <a:noFill/>
          <a:ln/>
        </p:spPr>
        <p:txBody>
          <a:bodyPr wrap="square" lIns="0" tIns="0" rIns="0" bIns="0" rtlCol="0" anchor="t"/>
          <a:lstStyle/>
          <a:p>
            <a:pPr algn="ctr" indent="0" marL="0">
              <a:buNone/>
            </a:pPr>
            <a:r>
              <a:rPr lang="en-US" sz="1000" dirty="0">
                <a:solidFill>
                  <a:srgbClr val="D64545"/>
                </a:solidFill>
                <a:latin typeface="Segoe UI Semibold" pitchFamily="34" charset="0"/>
                <a:ea typeface="Segoe UI Semibold" pitchFamily="34" charset="-122"/>
                <a:cs typeface="Segoe UI Semibold" pitchFamily="34" charset="-120"/>
              </a:rPr>
              <a:t>heat trapped by the oxide</a:t>
            </a:r>
            <a:endParaRPr lang="en-US" sz="1000" dirty="0"/>
          </a:p>
        </p:txBody>
      </p:sp>
      <p:sp>
        <p:nvSpPr>
          <p:cNvPr id="35" name="!!hsHL"/>
          <p:cNvSpPr txBox="1"/>
          <p:nvPr/>
        </p:nvSpPr>
        <p:spPr>
          <a:xfrm>
            <a:off x="3291840" y="4297680"/>
            <a:ext cx="1828800" cy="228600"/>
          </a:xfrm>
          <a:prstGeom prst="rect">
            <a:avLst/>
          </a:prstGeom>
          <a:noFill/>
          <a:ln/>
        </p:spPr>
        <p:txBody>
          <a:bodyPr wrap="square" lIns="0" tIns="0" rIns="0" bIns="0" rtlCol="0" anchor="t"/>
          <a:lstStyle/>
          <a:p>
            <a:pPr algn="ctr" indent="0" marL="0">
              <a:buNone/>
            </a:pPr>
            <a:r>
              <a:rPr lang="en-US" sz="1000" dirty="0">
                <a:solidFill>
                  <a:srgbClr val="E07B00"/>
                </a:solidFill>
                <a:latin typeface="Segoe UI Semibold" pitchFamily="34" charset="0"/>
                <a:ea typeface="Segoe UI Semibold" pitchFamily="34" charset="-122"/>
                <a:cs typeface="Segoe UI Semibold" pitchFamily="34" charset="-120"/>
              </a:rPr>
              <a:t>hot spot: drain end</a:t>
            </a:r>
            <a:endParaRPr lang="en-US" sz="1000" dirty="0"/>
          </a:p>
        </p:txBody>
      </p:sp>
      <p:sp>
        <p:nvSpPr>
          <p:cNvPr id="36" name="!!card"/>
          <p:cNvSpPr/>
          <p:nvPr/>
        </p:nvSpPr>
        <p:spPr>
          <a:xfrm>
            <a:off x="6766560" y="1554480"/>
            <a:ext cx="4873752" cy="2377440"/>
          </a:xfrm>
          <a:prstGeom prst="roundRect">
            <a:avLst>
              <a:gd name="adj" fmla="val 3077"/>
            </a:avLst>
          </a:prstGeom>
          <a:solidFill>
            <a:srgbClr val="F4F5F7"/>
          </a:solidFill>
          <a:ln/>
        </p:spPr>
      </p:sp>
      <p:sp>
        <p:nvSpPr>
          <p:cNvPr id="37" name="!!cardn"/>
          <p:cNvSpPr/>
          <p:nvPr/>
        </p:nvSpPr>
        <p:spPr>
          <a:xfrm>
            <a:off x="6976872" y="1764792"/>
            <a:ext cx="347472" cy="347472"/>
          </a:xfrm>
          <a:prstGeom prst="ellipse">
            <a:avLst/>
          </a:prstGeom>
          <a:solidFill>
            <a:srgbClr val="2E9E4F"/>
          </a:solidFill>
          <a:ln/>
        </p:spPr>
      </p:sp>
      <p:sp>
        <p:nvSpPr>
          <p:cNvPr id="38" name="!!cardnt"/>
          <p:cNvSpPr txBox="1"/>
          <p:nvPr/>
        </p:nvSpPr>
        <p:spPr>
          <a:xfrm>
            <a:off x="697687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cardh"/>
          <p:cNvSpPr txBox="1"/>
          <p:nvPr/>
        </p:nvSpPr>
        <p:spPr>
          <a:xfrm>
            <a:off x="7452360" y="1773936"/>
            <a:ext cx="4005072" cy="347472"/>
          </a:xfrm>
          <a:prstGeom prst="rect">
            <a:avLst/>
          </a:prstGeom>
          <a:noFill/>
          <a:ln/>
        </p:spPr>
        <p:txBody>
          <a:bodyPr wrap="square" lIns="0" tIns="0" rIns="0" bIns="0" rtlCol="0" anchor="ctr"/>
          <a:lstStyle/>
          <a:p>
            <a:pPr algn="l" indent="0" marL="0">
              <a:buNone/>
            </a:pPr>
            <a:r>
              <a:rPr lang="en-US" sz="1600" dirty="0">
                <a:solidFill>
                  <a:srgbClr val="2E9E4F"/>
                </a:solidFill>
                <a:latin typeface="Segoe UI Semibold" pitchFamily="34" charset="0"/>
                <a:ea typeface="Segoe UI Semibold" pitchFamily="34" charset="-122"/>
                <a:cs typeface="Segoe UI Semibold" pitchFamily="34" charset="-120"/>
              </a:rPr>
              <a:t>Heat escapes through metal</a:t>
            </a:r>
            <a:endParaRPr lang="en-US" sz="1600" dirty="0"/>
          </a:p>
        </p:txBody>
      </p:sp>
      <p:sp>
        <p:nvSpPr>
          <p:cNvPr id="40" name="!!cardb"/>
          <p:cNvSpPr txBox="1"/>
          <p:nvPr/>
        </p:nvSpPr>
        <p:spPr>
          <a:xfrm>
            <a:off x="6995160" y="2267712"/>
            <a:ext cx="4416552" cy="150876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It leaves through the drain, the gate metal and the contacts to 300 K. A harder path means a hotter channel: ΔT = R</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th</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 P.</a:t>
            </a:r>
            <a:endParaRPr lang="en-US" sz="1300" dirty="0"/>
          </a:p>
        </p:txBody>
      </p:sp>
      <p:sp>
        <p:nvSpPr>
          <p:cNvPr id="41"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Better heat paths (lower R</a:t>
            </a:r>
            <a:pPr algn="ctr" indent="0" marL="0">
              <a:buNone/>
            </a:pPr>
            <a:r>
              <a:rPr lang="en-US" sz="1600" baseline="-40000" dirty="0">
                <a:solidFill>
                  <a:srgbClr val="171A20"/>
                </a:solidFill>
                <a:latin typeface="Segoe UI" pitchFamily="34" charset="0"/>
                <a:ea typeface="Segoe UI" pitchFamily="34" charset="-122"/>
                <a:cs typeface="Segoe UI" pitchFamily="34" charset="-120"/>
              </a:rPr>
              <a:t>th</a:t>
            </a:r>
            <a:pPr algn="ctr" indent="0" marL="0">
              <a:buNone/>
            </a:pPr>
            <a:r>
              <a:rPr lang="en-US" sz="1600" dirty="0">
                <a:solidFill>
                  <a:srgbClr val="171A20"/>
                </a:solidFill>
                <a:latin typeface="Segoe UI" pitchFamily="34" charset="0"/>
                <a:ea typeface="Segoe UI" pitchFamily="34" charset="-122"/>
                <a:cs typeface="Segoe UI" pitchFamily="34" charset="-120"/>
              </a:rPr>
              <a:t>) keep the channel cool: that is our project.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87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Self-heating – Where the heat goes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Reproduced GAAFET,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raised step by step (Silvaco Atlas)</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E2E3E3"/>
          </a:solidFill>
          <a:ln/>
        </p:spPr>
      </p:sp>
      <p:sp>
        <p:nvSpPr>
          <p:cNvPr id="6" name="!!sdot2"/>
          <p:cNvSpPr/>
          <p:nvPr/>
        </p:nvSpPr>
        <p:spPr>
          <a:xfrm>
            <a:off x="11132820" y="525780"/>
            <a:ext cx="82296" cy="82296"/>
          </a:xfrm>
          <a:prstGeom prst="ellipse">
            <a:avLst/>
          </a:prstGeom>
          <a:solidFill>
            <a:srgbClr val="E2E3E3"/>
          </a:solidFill>
          <a:ln/>
        </p:spPr>
      </p:sp>
      <p:sp>
        <p:nvSpPr>
          <p:cNvPr id="7" name="!!sdot3"/>
          <p:cNvSpPr/>
          <p:nvPr/>
        </p:nvSpPr>
        <p:spPr>
          <a:xfrm>
            <a:off x="11288268" y="525780"/>
            <a:ext cx="82296" cy="82296"/>
          </a:xfrm>
          <a:prstGeom prst="ellipse">
            <a:avLst/>
          </a:prstGeom>
          <a:solidFill>
            <a:srgbClr val="E2E3E3"/>
          </a:solidFill>
          <a:ln/>
        </p:spPr>
      </p:sp>
      <p:sp>
        <p:nvSpPr>
          <p:cNvPr id="8" name="!!sdot4"/>
          <p:cNvSpPr/>
          <p:nvPr/>
        </p:nvSpPr>
        <p:spPr>
          <a:xfrm>
            <a:off x="11443716" y="525780"/>
            <a:ext cx="82296" cy="82296"/>
          </a:xfrm>
          <a:prstGeom prst="ellipse">
            <a:avLst/>
          </a:prstGeom>
          <a:solidFill>
            <a:srgbClr val="E2E3E3"/>
          </a:solidFill>
          <a:ln/>
        </p:spPr>
      </p:sp>
      <p:sp>
        <p:nvSpPr>
          <p:cNvPr id="9" name="!!sdot5"/>
          <p:cNvSpPr/>
          <p:nvPr/>
        </p:nvSpPr>
        <p:spPr>
          <a:xfrm>
            <a:off x="11599164" y="525780"/>
            <a:ext cx="82296" cy="82296"/>
          </a:xfrm>
          <a:prstGeom prst="ellipse">
            <a:avLst/>
          </a:prstGeom>
          <a:solidFill>
            <a:srgbClr val="E2E3E3"/>
          </a:solidFill>
          <a:ln/>
        </p:spPr>
      </p:sp>
      <p:sp>
        <p:nvSpPr>
          <p:cNvPr id="10" name="!!hsS"/>
          <p:cNvSpPr/>
          <p:nvPr/>
        </p:nvSpPr>
        <p:spPr>
          <a:xfrm>
            <a:off x="640080" y="2011680"/>
            <a:ext cx="1463040" cy="2194560"/>
          </a:xfrm>
          <a:prstGeom prst="roundRect">
            <a:avLst>
              <a:gd name="adj" fmla="val 2500"/>
            </a:avLst>
          </a:prstGeom>
          <a:solidFill>
            <a:srgbClr val="7D9BE6"/>
          </a:solidFill>
          <a:ln/>
        </p:spPr>
      </p:sp>
      <p:sp>
        <p:nvSpPr>
          <p:cNvPr id="11" name="!!hsD"/>
          <p:cNvSpPr/>
          <p:nvPr/>
        </p:nvSpPr>
        <p:spPr>
          <a:xfrm>
            <a:off x="4389120" y="2011680"/>
            <a:ext cx="1463040" cy="2194560"/>
          </a:xfrm>
          <a:prstGeom prst="roundRect">
            <a:avLst>
              <a:gd name="adj" fmla="val 2500"/>
            </a:avLst>
          </a:prstGeom>
          <a:solidFill>
            <a:srgbClr val="7D9BE6"/>
          </a:solidFill>
          <a:ln/>
        </p:spPr>
      </p:sp>
      <p:sp>
        <p:nvSpPr>
          <p:cNvPr id="12" name="!!hsSL"/>
          <p:cNvSpPr txBox="1"/>
          <p:nvPr/>
        </p:nvSpPr>
        <p:spPr>
          <a:xfrm>
            <a:off x="64008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source</a:t>
            </a:r>
            <a:endParaRPr lang="en-US" sz="1100" dirty="0"/>
          </a:p>
        </p:txBody>
      </p:sp>
      <p:sp>
        <p:nvSpPr>
          <p:cNvPr id="13" name="!!hsDL"/>
          <p:cNvSpPr txBox="1"/>
          <p:nvPr/>
        </p:nvSpPr>
        <p:spPr>
          <a:xfrm>
            <a:off x="438912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drain</a:t>
            </a:r>
            <a:endParaRPr lang="en-US" sz="1100" dirty="0"/>
          </a:p>
        </p:txBody>
      </p:sp>
      <p:sp>
        <p:nvSpPr>
          <p:cNvPr id="14" name="!!hsSpL"/>
          <p:cNvSpPr/>
          <p:nvPr/>
        </p:nvSpPr>
        <p:spPr>
          <a:xfrm>
            <a:off x="2103120" y="2011680"/>
            <a:ext cx="320040" cy="2194560"/>
          </a:xfrm>
          <a:prstGeom prst="rect">
            <a:avLst/>
          </a:prstGeom>
          <a:solidFill>
            <a:srgbClr val="D9DCE3"/>
          </a:solidFill>
          <a:ln/>
        </p:spPr>
      </p:sp>
      <p:sp>
        <p:nvSpPr>
          <p:cNvPr id="15" name="!!hsSpR"/>
          <p:cNvSpPr/>
          <p:nvPr/>
        </p:nvSpPr>
        <p:spPr>
          <a:xfrm>
            <a:off x="4069080" y="2011680"/>
            <a:ext cx="320040" cy="2194560"/>
          </a:xfrm>
          <a:prstGeom prst="rect">
            <a:avLst/>
          </a:prstGeom>
          <a:solidFill>
            <a:srgbClr val="D9DCE3"/>
          </a:solidFill>
          <a:ln/>
        </p:spPr>
      </p:sp>
      <p:sp>
        <p:nvSpPr>
          <p:cNvPr id="16" name="!!hsG"/>
          <p:cNvSpPr/>
          <p:nvPr/>
        </p:nvSpPr>
        <p:spPr>
          <a:xfrm>
            <a:off x="2423160" y="2011680"/>
            <a:ext cx="1645920" cy="2194560"/>
          </a:xfrm>
          <a:prstGeom prst="rect">
            <a:avLst/>
          </a:prstGeom>
          <a:solidFill>
            <a:srgbClr val="B3A6E6"/>
          </a:solidFill>
          <a:ln/>
        </p:spPr>
      </p:sp>
      <p:sp>
        <p:nvSpPr>
          <p:cNvPr id="17" name="!!hsGL"/>
          <p:cNvSpPr txBox="1"/>
          <p:nvPr/>
        </p:nvSpPr>
        <p:spPr>
          <a:xfrm>
            <a:off x="2423160" y="2103120"/>
            <a:ext cx="1645920" cy="274320"/>
          </a:xfrm>
          <a:prstGeom prst="rect">
            <a:avLst/>
          </a:prstGeom>
          <a:noFill/>
          <a:ln/>
        </p:spPr>
        <p:txBody>
          <a:bodyPr wrap="square" lIns="0" tIns="0" rIns="0" bIns="0" rtlCol="0" anchor="t"/>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 (wraps)</a:t>
            </a:r>
            <a:endParaRPr lang="en-US" sz="1100" dirty="0"/>
          </a:p>
        </p:txBody>
      </p:sp>
      <p:sp>
        <p:nvSpPr>
          <p:cNvPr id="18" name="!!hsOx"/>
          <p:cNvSpPr/>
          <p:nvPr/>
        </p:nvSpPr>
        <p:spPr>
          <a:xfrm>
            <a:off x="2103120" y="2770632"/>
            <a:ext cx="2286000" cy="676656"/>
          </a:xfrm>
          <a:prstGeom prst="rect">
            <a:avLst/>
          </a:prstGeom>
          <a:solidFill>
            <a:srgbClr val="8FCBE0"/>
          </a:solidFill>
          <a:ln/>
        </p:spPr>
      </p:sp>
      <p:sp>
        <p:nvSpPr>
          <p:cNvPr id="19" name="!!hsW"/>
          <p:cNvSpPr/>
          <p:nvPr/>
        </p:nvSpPr>
        <p:spPr>
          <a:xfrm>
            <a:off x="2103120" y="2880360"/>
            <a:ext cx="2286000" cy="457200"/>
          </a:xfrm>
          <a:prstGeom prst="rect">
            <a:avLst/>
          </a:prstGeom>
          <a:solidFill>
            <a:srgbClr val="F6E7B8"/>
          </a:solidFill>
          <a:ln/>
        </p:spPr>
      </p:sp>
      <p:sp>
        <p:nvSpPr>
          <p:cNvPr id="20" name="!!hsC0"/>
          <p:cNvSpPr/>
          <p:nvPr/>
        </p:nvSpPr>
        <p:spPr>
          <a:xfrm>
            <a:off x="640080" y="1691640"/>
            <a:ext cx="1463040" cy="228600"/>
          </a:xfrm>
          <a:prstGeom prst="roundRect">
            <a:avLst>
              <a:gd name="adj" fmla="val 12000"/>
            </a:avLst>
          </a:prstGeom>
          <a:solidFill>
            <a:srgbClr val="171A20"/>
          </a:solidFill>
          <a:ln/>
        </p:spPr>
      </p:sp>
      <p:sp>
        <p:nvSpPr>
          <p:cNvPr id="21" name="!!hsCt0"/>
          <p:cNvSpPr txBox="1"/>
          <p:nvPr/>
        </p:nvSpPr>
        <p:spPr>
          <a:xfrm>
            <a:off x="64008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2" name="!!hsC1"/>
          <p:cNvSpPr/>
          <p:nvPr/>
        </p:nvSpPr>
        <p:spPr>
          <a:xfrm>
            <a:off x="2423160" y="1691640"/>
            <a:ext cx="1645920" cy="228600"/>
          </a:xfrm>
          <a:prstGeom prst="roundRect">
            <a:avLst>
              <a:gd name="adj" fmla="val 12000"/>
            </a:avLst>
          </a:prstGeom>
          <a:solidFill>
            <a:srgbClr val="171A20"/>
          </a:solidFill>
          <a:ln/>
        </p:spPr>
      </p:sp>
      <p:sp>
        <p:nvSpPr>
          <p:cNvPr id="23" name="!!hsCt1"/>
          <p:cNvSpPr txBox="1"/>
          <p:nvPr/>
        </p:nvSpPr>
        <p:spPr>
          <a:xfrm>
            <a:off x="2423160" y="1691640"/>
            <a:ext cx="164592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4" name="!!hsC2"/>
          <p:cNvSpPr/>
          <p:nvPr/>
        </p:nvSpPr>
        <p:spPr>
          <a:xfrm>
            <a:off x="4389120" y="1691640"/>
            <a:ext cx="1463040" cy="228600"/>
          </a:xfrm>
          <a:prstGeom prst="roundRect">
            <a:avLst>
              <a:gd name="adj" fmla="val 12000"/>
            </a:avLst>
          </a:prstGeom>
          <a:solidFill>
            <a:srgbClr val="171A20"/>
          </a:solidFill>
          <a:ln/>
        </p:spPr>
      </p:sp>
      <p:sp>
        <p:nvSpPr>
          <p:cNvPr id="25" name="!!hsCt2"/>
          <p:cNvSpPr txBox="1"/>
          <p:nvPr/>
        </p:nvSpPr>
        <p:spPr>
          <a:xfrm>
            <a:off x="438912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6" name="!!hsH0"/>
          <p:cNvSpPr/>
          <p:nvPr/>
        </p:nvSpPr>
        <p:spPr>
          <a:xfrm>
            <a:off x="3914670" y="3081121"/>
            <a:ext cx="125939" cy="55678"/>
          </a:xfrm>
          <a:prstGeom prst="ellipse">
            <a:avLst/>
          </a:prstGeom>
          <a:solidFill>
            <a:srgbClr val="FFE1B3">
              <a:alpha val="85000"/>
            </a:srgbClr>
          </a:solidFill>
          <a:ln/>
        </p:spPr>
      </p:sp>
      <p:sp>
        <p:nvSpPr>
          <p:cNvPr id="27" name="!!hsH1"/>
          <p:cNvSpPr/>
          <p:nvPr/>
        </p:nvSpPr>
        <p:spPr>
          <a:xfrm>
            <a:off x="3920531" y="3083712"/>
            <a:ext cx="114218" cy="50496"/>
          </a:xfrm>
          <a:prstGeom prst="ellipse">
            <a:avLst/>
          </a:prstGeom>
          <a:solidFill>
            <a:srgbClr val="FFB36B">
              <a:alpha val="85000"/>
            </a:srgbClr>
          </a:solidFill>
          <a:ln/>
        </p:spPr>
      </p:sp>
      <p:sp>
        <p:nvSpPr>
          <p:cNvPr id="28" name="!!hsH2"/>
          <p:cNvSpPr/>
          <p:nvPr/>
        </p:nvSpPr>
        <p:spPr>
          <a:xfrm>
            <a:off x="3925415" y="3085871"/>
            <a:ext cx="104450" cy="46178"/>
          </a:xfrm>
          <a:prstGeom prst="ellipse">
            <a:avLst/>
          </a:prstGeom>
          <a:solidFill>
            <a:srgbClr val="F07A3A">
              <a:alpha val="85000"/>
            </a:srgbClr>
          </a:solidFill>
          <a:ln/>
        </p:spPr>
      </p:sp>
      <p:sp>
        <p:nvSpPr>
          <p:cNvPr id="29" name="!!hsH3"/>
          <p:cNvSpPr/>
          <p:nvPr/>
        </p:nvSpPr>
        <p:spPr>
          <a:xfrm>
            <a:off x="3929322" y="3087598"/>
            <a:ext cx="96636" cy="42723"/>
          </a:xfrm>
          <a:prstGeom prst="ellipse">
            <a:avLst/>
          </a:prstGeom>
          <a:solidFill>
            <a:srgbClr val="D64545">
              <a:alpha val="85000"/>
            </a:srgbClr>
          </a:solidFill>
          <a:ln/>
        </p:spPr>
      </p:sp>
      <p:sp>
        <p:nvSpPr>
          <p:cNvPr id="30" name="!!hsHL"/>
          <p:cNvSpPr txBox="1"/>
          <p:nvPr/>
        </p:nvSpPr>
        <p:spPr>
          <a:xfrm>
            <a:off x="3291840" y="4297680"/>
            <a:ext cx="1828800" cy="228600"/>
          </a:xfrm>
          <a:prstGeom prst="rect">
            <a:avLst/>
          </a:prstGeom>
          <a:noFill/>
          <a:ln/>
        </p:spPr>
        <p:txBody>
          <a:bodyPr wrap="square" lIns="0" tIns="0" rIns="0" bIns="0" rtlCol="0" anchor="t"/>
          <a:lstStyle/>
          <a:p>
            <a:pPr algn="ctr" indent="0" marL="0">
              <a:buNone/>
            </a:pPr>
            <a:r>
              <a:rPr lang="en-US" sz="1000" dirty="0">
                <a:solidFill>
                  <a:srgbClr val="E07B00"/>
                </a:solidFill>
                <a:latin typeface="Segoe UI Semibold" pitchFamily="34" charset="0"/>
                <a:ea typeface="Segoe UI Semibold" pitchFamily="34" charset="-122"/>
                <a:cs typeface="Segoe UI Semibold" pitchFamily="34" charset="-120"/>
              </a:rPr>
              <a:t>hot spot: drain end</a:t>
            </a:r>
            <a:endParaRPr lang="en-US" sz="1000" dirty="0"/>
          </a:p>
        </p:txBody>
      </p:sp>
      <p:sp>
        <p:nvSpPr>
          <p:cNvPr id="31" name="!!axg0"/>
          <p:cNvSpPr/>
          <p:nvPr/>
        </p:nvSpPr>
        <p:spPr>
          <a:xfrm>
            <a:off x="7315200" y="4023360"/>
            <a:ext cx="4206240" cy="91"/>
          </a:xfrm>
          <a:prstGeom prst="line">
            <a:avLst/>
          </a:prstGeom>
          <a:noFill/>
          <a:ln w="9525">
            <a:solidFill>
              <a:srgbClr val="EDEEF0"/>
            </a:solidFill>
            <a:prstDash val="solid"/>
          </a:ln>
        </p:spPr>
      </p:sp>
      <p:sp>
        <p:nvSpPr>
          <p:cNvPr id="32" name="!!axg1"/>
          <p:cNvSpPr/>
          <p:nvPr/>
        </p:nvSpPr>
        <p:spPr>
          <a:xfrm>
            <a:off x="7315200" y="3547872"/>
            <a:ext cx="4206240" cy="91"/>
          </a:xfrm>
          <a:prstGeom prst="line">
            <a:avLst/>
          </a:prstGeom>
          <a:noFill/>
          <a:ln w="9525">
            <a:solidFill>
              <a:srgbClr val="EDEEF0"/>
            </a:solidFill>
            <a:prstDash val="solid"/>
          </a:ln>
        </p:spPr>
      </p:sp>
      <p:sp>
        <p:nvSpPr>
          <p:cNvPr id="33" name="!!axg2"/>
          <p:cNvSpPr/>
          <p:nvPr/>
        </p:nvSpPr>
        <p:spPr>
          <a:xfrm>
            <a:off x="7315200" y="3072384"/>
            <a:ext cx="4206240" cy="91"/>
          </a:xfrm>
          <a:prstGeom prst="line">
            <a:avLst/>
          </a:prstGeom>
          <a:noFill/>
          <a:ln w="9525">
            <a:solidFill>
              <a:srgbClr val="EDEEF0"/>
            </a:solidFill>
            <a:prstDash val="solid"/>
          </a:ln>
        </p:spPr>
      </p:sp>
      <p:sp>
        <p:nvSpPr>
          <p:cNvPr id="34" name="!!axg3"/>
          <p:cNvSpPr/>
          <p:nvPr/>
        </p:nvSpPr>
        <p:spPr>
          <a:xfrm>
            <a:off x="7315200" y="2596896"/>
            <a:ext cx="4206240" cy="91"/>
          </a:xfrm>
          <a:prstGeom prst="line">
            <a:avLst/>
          </a:prstGeom>
          <a:noFill/>
          <a:ln w="9525">
            <a:solidFill>
              <a:srgbClr val="EDEEF0"/>
            </a:solidFill>
            <a:prstDash val="solid"/>
          </a:ln>
        </p:spPr>
      </p:sp>
      <p:sp>
        <p:nvSpPr>
          <p:cNvPr id="35" name="!!axg4"/>
          <p:cNvSpPr/>
          <p:nvPr/>
        </p:nvSpPr>
        <p:spPr>
          <a:xfrm>
            <a:off x="7315200" y="2121408"/>
            <a:ext cx="4206240" cy="91"/>
          </a:xfrm>
          <a:prstGeom prst="line">
            <a:avLst/>
          </a:prstGeom>
          <a:noFill/>
          <a:ln w="9525">
            <a:solidFill>
              <a:srgbClr val="EDEEF0"/>
            </a:solidFill>
            <a:prstDash val="solid"/>
          </a:ln>
        </p:spPr>
      </p:sp>
      <p:sp>
        <p:nvSpPr>
          <p:cNvPr id="36" name="!!axg5"/>
          <p:cNvSpPr/>
          <p:nvPr/>
        </p:nvSpPr>
        <p:spPr>
          <a:xfrm>
            <a:off x="7315200" y="1645920"/>
            <a:ext cx="4206240" cy="91"/>
          </a:xfrm>
          <a:prstGeom prst="line">
            <a:avLst/>
          </a:prstGeom>
          <a:noFill/>
          <a:ln w="9525">
            <a:solidFill>
              <a:srgbClr val="EDEEF0"/>
            </a:solidFill>
            <a:prstDash val="solid"/>
          </a:ln>
        </p:spPr>
      </p:sp>
      <p:sp>
        <p:nvSpPr>
          <p:cNvPr id="37" name="!!axxa"/>
          <p:cNvSpPr/>
          <p:nvPr/>
        </p:nvSpPr>
        <p:spPr>
          <a:xfrm>
            <a:off x="7315200" y="4023360"/>
            <a:ext cx="4206240" cy="91"/>
          </a:xfrm>
          <a:prstGeom prst="line">
            <a:avLst/>
          </a:prstGeom>
          <a:noFill/>
          <a:ln w="12700">
            <a:solidFill>
              <a:srgbClr val="8A8D93"/>
            </a:solidFill>
            <a:prstDash val="solid"/>
          </a:ln>
        </p:spPr>
      </p:sp>
      <p:sp>
        <p:nvSpPr>
          <p:cNvPr id="38" name="!!axya"/>
          <p:cNvSpPr/>
          <p:nvPr/>
        </p:nvSpPr>
        <p:spPr>
          <a:xfrm>
            <a:off x="7315200" y="1645920"/>
            <a:ext cx="91" cy="2377440"/>
          </a:xfrm>
          <a:prstGeom prst="line">
            <a:avLst/>
          </a:prstGeom>
          <a:noFill/>
          <a:ln w="12700">
            <a:solidFill>
              <a:srgbClr val="8A8D93"/>
            </a:solidFill>
            <a:prstDash val="solid"/>
          </a:ln>
        </p:spPr>
      </p:sp>
      <p:sp>
        <p:nvSpPr>
          <p:cNvPr id="39" name="!!axxt0"/>
          <p:cNvSpPr txBox="1"/>
          <p:nvPr/>
        </p:nvSpPr>
        <p:spPr>
          <a:xfrm>
            <a:off x="699516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0" name="!!axxt1"/>
          <p:cNvSpPr txBox="1"/>
          <p:nvPr/>
        </p:nvSpPr>
        <p:spPr>
          <a:xfrm>
            <a:off x="804672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5</a:t>
            </a:r>
            <a:endParaRPr lang="en-US" sz="900" dirty="0"/>
          </a:p>
        </p:txBody>
      </p:sp>
      <p:sp>
        <p:nvSpPr>
          <p:cNvPr id="41" name="!!axxt2"/>
          <p:cNvSpPr txBox="1"/>
          <p:nvPr/>
        </p:nvSpPr>
        <p:spPr>
          <a:xfrm>
            <a:off x="909828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42" name="!!axxt3"/>
          <p:cNvSpPr txBox="1"/>
          <p:nvPr/>
        </p:nvSpPr>
        <p:spPr>
          <a:xfrm>
            <a:off x="1014984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15</a:t>
            </a:r>
            <a:endParaRPr lang="en-US" sz="900" dirty="0"/>
          </a:p>
        </p:txBody>
      </p:sp>
      <p:sp>
        <p:nvSpPr>
          <p:cNvPr id="43" name="!!axxt4"/>
          <p:cNvSpPr txBox="1"/>
          <p:nvPr/>
        </p:nvSpPr>
        <p:spPr>
          <a:xfrm>
            <a:off x="1120140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44" name="!!axyt0"/>
          <p:cNvSpPr txBox="1"/>
          <p:nvPr/>
        </p:nvSpPr>
        <p:spPr>
          <a:xfrm>
            <a:off x="6629400" y="39227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5" name="!!axyt1"/>
          <p:cNvSpPr txBox="1"/>
          <p:nvPr/>
        </p:nvSpPr>
        <p:spPr>
          <a:xfrm>
            <a:off x="6629400" y="3447288"/>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46" name="!!axyt2"/>
          <p:cNvSpPr txBox="1"/>
          <p:nvPr/>
        </p:nvSpPr>
        <p:spPr>
          <a:xfrm>
            <a:off x="6629400" y="297180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47" name="!!axyt3"/>
          <p:cNvSpPr txBox="1"/>
          <p:nvPr/>
        </p:nvSpPr>
        <p:spPr>
          <a:xfrm>
            <a:off x="6629400" y="249631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30</a:t>
            </a:r>
            <a:endParaRPr lang="en-US" sz="900" dirty="0"/>
          </a:p>
        </p:txBody>
      </p:sp>
      <p:sp>
        <p:nvSpPr>
          <p:cNvPr id="48" name="!!axyt4"/>
          <p:cNvSpPr txBox="1"/>
          <p:nvPr/>
        </p:nvSpPr>
        <p:spPr>
          <a:xfrm>
            <a:off x="6629400" y="2020824"/>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40</a:t>
            </a:r>
            <a:endParaRPr lang="en-US" sz="900" dirty="0"/>
          </a:p>
        </p:txBody>
      </p:sp>
      <p:sp>
        <p:nvSpPr>
          <p:cNvPr id="49" name="!!axyt5"/>
          <p:cNvSpPr txBox="1"/>
          <p:nvPr/>
        </p:nvSpPr>
        <p:spPr>
          <a:xfrm>
            <a:off x="6629400" y="1545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50</a:t>
            </a:r>
            <a:endParaRPr lang="en-US" sz="900" dirty="0"/>
          </a:p>
        </p:txBody>
      </p:sp>
      <p:sp>
        <p:nvSpPr>
          <p:cNvPr id="50" name="!!axxl"/>
          <p:cNvSpPr txBox="1"/>
          <p:nvPr/>
        </p:nvSpPr>
        <p:spPr>
          <a:xfrm>
            <a:off x="7315200" y="429768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power P = I</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·V</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 (µW)</a:t>
            </a:r>
            <a:endParaRPr lang="en-US" sz="1100" dirty="0"/>
          </a:p>
        </p:txBody>
      </p:sp>
      <p:sp>
        <p:nvSpPr>
          <p:cNvPr id="51" name="!!axyl"/>
          <p:cNvSpPr txBox="1"/>
          <p:nvPr/>
        </p:nvSpPr>
        <p:spPr>
          <a:xfrm>
            <a:off x="7132320" y="134416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temperature rise ΔT (K)</a:t>
            </a:r>
            <a:endParaRPr lang="en-US" sz="1100" dirty="0"/>
          </a:p>
        </p:txBody>
      </p:sp>
      <p:sp>
        <p:nvSpPr>
          <p:cNvPr id="52" name="!!ivGhost"/>
          <p:cNvSpPr/>
          <p:nvPr/>
        </p:nvSpPr>
        <p:spPr>
          <a:xfrm>
            <a:off x="7315292" y="1949567"/>
            <a:ext cx="4043953" cy="2073746"/>
          </a:xfrm>
          <a:custGeom>
            <a:avLst/>
            <a:gdLst/>
            <a:ahLst/>
            <a:cxnLst/>
            <a:rect l="l" t="t" r="r" b="b"/>
            <a:pathLst>
              <a:path w="4043953" h="2073746">
                <a:moveTo>
                  <a:pt x="0" y="2073746"/>
                </a:moveTo>
                <a:lnTo>
                  <a:pt x="118" y="2073698"/>
                </a:lnTo>
                <a:lnTo>
                  <a:pt x="397" y="2073603"/>
                </a:lnTo>
                <a:lnTo>
                  <a:pt x="1051" y="2072890"/>
                </a:lnTo>
                <a:lnTo>
                  <a:pt x="2580" y="2071701"/>
                </a:lnTo>
                <a:lnTo>
                  <a:pt x="6115" y="2069038"/>
                </a:lnTo>
                <a:lnTo>
                  <a:pt x="14143" y="2063095"/>
                </a:lnTo>
                <a:lnTo>
                  <a:pt x="31548" y="2050447"/>
                </a:lnTo>
                <a:lnTo>
                  <a:pt x="66537" y="2025722"/>
                </a:lnTo>
                <a:lnTo>
                  <a:pt x="130427" y="1981739"/>
                </a:lnTo>
                <a:lnTo>
                  <a:pt x="234345" y="1911700"/>
                </a:lnTo>
                <a:lnTo>
                  <a:pt x="374271" y="1820976"/>
                </a:lnTo>
                <a:lnTo>
                  <a:pt x="530663" y="1723359"/>
                </a:lnTo>
                <a:lnTo>
                  <a:pt x="687612" y="1629260"/>
                </a:lnTo>
                <a:lnTo>
                  <a:pt x="850162" y="1535208"/>
                </a:lnTo>
                <a:lnTo>
                  <a:pt x="1023544" y="1437923"/>
                </a:lnTo>
                <a:lnTo>
                  <a:pt x="1208773" y="1336026"/>
                </a:lnTo>
                <a:lnTo>
                  <a:pt x="1405305" y="1230658"/>
                </a:lnTo>
                <a:lnTo>
                  <a:pt x="1612229" y="1122342"/>
                </a:lnTo>
                <a:lnTo>
                  <a:pt x="1828478" y="1011838"/>
                </a:lnTo>
                <a:lnTo>
                  <a:pt x="2053016" y="899718"/>
                </a:lnTo>
                <a:lnTo>
                  <a:pt x="2284826" y="786600"/>
                </a:lnTo>
                <a:lnTo>
                  <a:pt x="2523011" y="672863"/>
                </a:lnTo>
                <a:lnTo>
                  <a:pt x="2766731" y="559174"/>
                </a:lnTo>
                <a:lnTo>
                  <a:pt x="3015206" y="445818"/>
                </a:lnTo>
                <a:lnTo>
                  <a:pt x="3267759" y="332984"/>
                </a:lnTo>
                <a:lnTo>
                  <a:pt x="3523772" y="220959"/>
                </a:lnTo>
                <a:lnTo>
                  <a:pt x="3782670" y="109885"/>
                </a:lnTo>
                <a:lnTo>
                  <a:pt x="4043953" y="0"/>
                </a:lnTo>
              </a:path>
            </a:pathLst>
          </a:custGeom>
          <a:ln w="25400">
            <a:solidFill>
              <a:srgbClr val="C9CCD3"/>
            </a:solidFill>
            <a:prstDash val="solid"/>
          </a:ln>
        </p:spPr>
      </p:sp>
      <p:sp>
        <p:nvSpPr>
          <p:cNvPr id="53" name="!!ivTrail"/>
          <p:cNvSpPr/>
          <p:nvPr/>
        </p:nvSpPr>
        <p:spPr>
          <a:xfrm>
            <a:off x="7315292" y="3975288"/>
            <a:ext cx="66537" cy="48024"/>
          </a:xfrm>
          <a:custGeom>
            <a:avLst/>
            <a:gdLst/>
            <a:ahLst/>
            <a:cxnLst/>
            <a:rect l="l" t="t" r="r" b="b"/>
            <a:pathLst>
              <a:path w="66537" h="48024">
                <a:moveTo>
                  <a:pt x="0" y="48024"/>
                </a:moveTo>
                <a:lnTo>
                  <a:pt x="118" y="47977"/>
                </a:lnTo>
                <a:lnTo>
                  <a:pt x="397" y="47882"/>
                </a:lnTo>
                <a:lnTo>
                  <a:pt x="1051" y="47168"/>
                </a:lnTo>
                <a:lnTo>
                  <a:pt x="2580" y="45980"/>
                </a:lnTo>
                <a:lnTo>
                  <a:pt x="6115" y="43317"/>
                </a:lnTo>
                <a:lnTo>
                  <a:pt x="14143" y="37373"/>
                </a:lnTo>
                <a:lnTo>
                  <a:pt x="31548" y="24725"/>
                </a:lnTo>
                <a:lnTo>
                  <a:pt x="66537" y="0"/>
                </a:lnTo>
              </a:path>
            </a:pathLst>
          </a:custGeom>
          <a:ln w="38100">
            <a:solidFill>
              <a:srgbClr val="E07B00"/>
            </a:solidFill>
            <a:prstDash val="solid"/>
          </a:ln>
        </p:spPr>
      </p:sp>
      <p:sp>
        <p:nvSpPr>
          <p:cNvPr id="54" name="!!ivPt"/>
          <p:cNvSpPr/>
          <p:nvPr/>
        </p:nvSpPr>
        <p:spPr>
          <a:xfrm>
            <a:off x="7299533" y="3892945"/>
            <a:ext cx="164592" cy="164592"/>
          </a:xfrm>
          <a:prstGeom prst="ellipse">
            <a:avLst/>
          </a:prstGeom>
          <a:solidFill>
            <a:srgbClr val="D64545"/>
          </a:solidFill>
          <a:ln w="19050">
            <a:solidFill>
              <a:srgbClr val="FFFFFF"/>
            </a:solidFill>
            <a:prstDash val="solid"/>
          </a:ln>
        </p:spPr>
      </p:sp>
      <p:sp>
        <p:nvSpPr>
          <p:cNvPr id="55" name="!!ivPtL"/>
          <p:cNvSpPr txBox="1"/>
          <p:nvPr/>
        </p:nvSpPr>
        <p:spPr>
          <a:xfrm>
            <a:off x="6467429" y="3646057"/>
            <a:ext cx="868680" cy="219456"/>
          </a:xfrm>
          <a:prstGeom prst="rect">
            <a:avLst/>
          </a:prstGeom>
          <a:noFill/>
          <a:ln/>
        </p:spPr>
        <p:txBody>
          <a:bodyPr wrap="square" lIns="0" tIns="0" rIns="0" bIns="0" rtlCol="0" anchor="t"/>
          <a:lstStyle/>
          <a:p>
            <a:pPr algn="r" indent="0" marL="0">
              <a:buNone/>
            </a:pPr>
            <a:r>
              <a:rPr lang="en-US" sz="1100" dirty="0">
                <a:solidFill>
                  <a:srgbClr val="D64545"/>
                </a:solidFill>
                <a:latin typeface="Segoe UI Semibold" pitchFamily="34" charset="0"/>
                <a:ea typeface="Segoe UI Semibold" pitchFamily="34" charset="-122"/>
                <a:cs typeface="Segoe UI Semibold" pitchFamily="34" charset="-120"/>
              </a:rPr>
              <a:t>1.0 K</a:t>
            </a:r>
            <a:endParaRPr lang="en-US" sz="1100" dirty="0"/>
          </a:p>
        </p:txBody>
      </p:sp>
      <p:sp>
        <p:nvSpPr>
          <p:cNvPr id="56" name="!!chip0"/>
          <p:cNvSpPr/>
          <p:nvPr/>
        </p:nvSpPr>
        <p:spPr>
          <a:xfrm>
            <a:off x="6858000" y="4434840"/>
            <a:ext cx="1508760" cy="658368"/>
          </a:xfrm>
          <a:prstGeom prst="roundRect">
            <a:avLst>
              <a:gd name="adj" fmla="val 8333"/>
            </a:avLst>
          </a:prstGeom>
          <a:solidFill>
            <a:srgbClr val="F4F5F7"/>
          </a:solidFill>
          <a:ln/>
        </p:spPr>
      </p:sp>
      <p:sp>
        <p:nvSpPr>
          <p:cNvPr id="57" name="!!chipk0"/>
          <p:cNvSpPr txBox="1"/>
          <p:nvPr/>
        </p:nvSpPr>
        <p:spPr>
          <a:xfrm>
            <a:off x="6967728"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power P</a:t>
            </a:r>
            <a:endParaRPr lang="en-US" sz="1000" dirty="0"/>
          </a:p>
        </p:txBody>
      </p:sp>
      <p:sp>
        <p:nvSpPr>
          <p:cNvPr id="58" name="!!chipv0"/>
          <p:cNvSpPr txBox="1"/>
          <p:nvPr/>
        </p:nvSpPr>
        <p:spPr>
          <a:xfrm>
            <a:off x="6967728"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0.3 µW</a:t>
            </a:r>
            <a:endParaRPr lang="en-US" sz="1500" dirty="0"/>
          </a:p>
        </p:txBody>
      </p:sp>
      <p:sp>
        <p:nvSpPr>
          <p:cNvPr id="59" name="!!chip1"/>
          <p:cNvSpPr/>
          <p:nvPr/>
        </p:nvSpPr>
        <p:spPr>
          <a:xfrm>
            <a:off x="8476488" y="4434840"/>
            <a:ext cx="1508760" cy="658368"/>
          </a:xfrm>
          <a:prstGeom prst="roundRect">
            <a:avLst>
              <a:gd name="adj" fmla="val 8333"/>
            </a:avLst>
          </a:prstGeom>
          <a:solidFill>
            <a:srgbClr val="F4F5F7"/>
          </a:solidFill>
          <a:ln/>
        </p:spPr>
      </p:sp>
      <p:sp>
        <p:nvSpPr>
          <p:cNvPr id="60" name="!!chipk1"/>
          <p:cNvSpPr txBox="1"/>
          <p:nvPr/>
        </p:nvSpPr>
        <p:spPr>
          <a:xfrm>
            <a:off x="8586216"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rise ΔT</a:t>
            </a:r>
            <a:endParaRPr lang="en-US" sz="1000" dirty="0"/>
          </a:p>
        </p:txBody>
      </p:sp>
      <p:sp>
        <p:nvSpPr>
          <p:cNvPr id="61" name="!!chipv1"/>
          <p:cNvSpPr txBox="1"/>
          <p:nvPr/>
        </p:nvSpPr>
        <p:spPr>
          <a:xfrm>
            <a:off x="8586216"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1.0 K</a:t>
            </a:r>
            <a:endParaRPr lang="en-US" sz="1500" dirty="0"/>
          </a:p>
        </p:txBody>
      </p:sp>
      <p:sp>
        <p:nvSpPr>
          <p:cNvPr id="62" name="!!chip2"/>
          <p:cNvSpPr/>
          <p:nvPr/>
        </p:nvSpPr>
        <p:spPr>
          <a:xfrm>
            <a:off x="10094976" y="4434840"/>
            <a:ext cx="1508760" cy="658368"/>
          </a:xfrm>
          <a:prstGeom prst="roundRect">
            <a:avLst>
              <a:gd name="adj" fmla="val 8333"/>
            </a:avLst>
          </a:prstGeom>
          <a:solidFill>
            <a:srgbClr val="F4F5F7"/>
          </a:solidFill>
          <a:ln/>
        </p:spPr>
      </p:sp>
      <p:sp>
        <p:nvSpPr>
          <p:cNvPr id="63" name="!!chipk2"/>
          <p:cNvSpPr txBox="1"/>
          <p:nvPr/>
        </p:nvSpPr>
        <p:spPr>
          <a:xfrm>
            <a:off x="10204704"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R</a:t>
            </a:r>
            <a:pPr algn="l" indent="0" marL="0">
              <a:buNone/>
            </a:pPr>
            <a:r>
              <a:rPr lang="en-US" sz="1000" baseline="-40000" dirty="0">
                <a:solidFill>
                  <a:srgbClr val="5C5E62"/>
                </a:solidFill>
                <a:latin typeface="Segoe UI" pitchFamily="34" charset="0"/>
                <a:ea typeface="Segoe UI" pitchFamily="34" charset="-122"/>
                <a:cs typeface="Segoe UI" pitchFamily="34" charset="-120"/>
              </a:rPr>
              <a:t>th</a:t>
            </a:r>
            <a:pPr algn="l" indent="0" marL="0">
              <a:buNone/>
            </a:pPr>
            <a:r>
              <a:rPr lang="en-US" sz="1000" dirty="0">
                <a:solidFill>
                  <a:srgbClr val="5C5E62"/>
                </a:solidFill>
                <a:latin typeface="Segoe UI" pitchFamily="34" charset="0"/>
                <a:ea typeface="Segoe UI" pitchFamily="34" charset="-122"/>
                <a:cs typeface="Segoe UI" pitchFamily="34" charset="-120"/>
              </a:rPr>
              <a:t> = ΔT / P</a:t>
            </a:r>
            <a:endParaRPr lang="en-US" sz="1000" dirty="0"/>
          </a:p>
        </p:txBody>
      </p:sp>
      <p:sp>
        <p:nvSpPr>
          <p:cNvPr id="64" name="!!chipv2"/>
          <p:cNvSpPr txBox="1"/>
          <p:nvPr/>
        </p:nvSpPr>
        <p:spPr>
          <a:xfrm>
            <a:off x="10204704"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3.19 K/µW</a:t>
            </a:r>
            <a:endParaRPr lang="en-US" sz="1500" dirty="0"/>
          </a:p>
        </p:txBody>
      </p:sp>
      <p:sp>
        <p:nvSpPr>
          <p:cNvPr id="65" name="!!knobLbl"/>
          <p:cNvSpPr txBox="1"/>
          <p:nvPr/>
        </p:nvSpPr>
        <p:spPr>
          <a:xfrm>
            <a:off x="7022592" y="512064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0.2 V</a:t>
            </a:r>
            <a:endParaRPr lang="en-US" sz="1200" dirty="0"/>
          </a:p>
        </p:txBody>
      </p:sp>
      <p:sp>
        <p:nvSpPr>
          <p:cNvPr id="66" name="!!knobTrack"/>
          <p:cNvSpPr/>
          <p:nvPr/>
        </p:nvSpPr>
        <p:spPr>
          <a:xfrm>
            <a:off x="7040880" y="5504688"/>
            <a:ext cx="4480560" cy="54864"/>
          </a:xfrm>
          <a:prstGeom prst="roundRect">
            <a:avLst>
              <a:gd name="adj" fmla="val 50000"/>
            </a:avLst>
          </a:prstGeom>
          <a:solidFill>
            <a:srgbClr val="E2E3E3"/>
          </a:solidFill>
          <a:ln/>
        </p:spPr>
      </p:sp>
      <p:sp>
        <p:nvSpPr>
          <p:cNvPr id="67" name="!!knobFill"/>
          <p:cNvSpPr/>
          <p:nvPr/>
        </p:nvSpPr>
        <p:spPr>
          <a:xfrm>
            <a:off x="7040880" y="5504688"/>
            <a:ext cx="1280160" cy="54864"/>
          </a:xfrm>
          <a:prstGeom prst="roundRect">
            <a:avLst>
              <a:gd name="adj" fmla="val 50000"/>
            </a:avLst>
          </a:prstGeom>
          <a:solidFill>
            <a:srgbClr val="6B5BC4"/>
          </a:solidFill>
          <a:ln/>
        </p:spPr>
      </p:sp>
      <p:sp>
        <p:nvSpPr>
          <p:cNvPr id="68" name="!!knobT0"/>
          <p:cNvSpPr txBox="1"/>
          <p:nvPr/>
        </p:nvSpPr>
        <p:spPr>
          <a:xfrm>
            <a:off x="667512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69" name="!!knobT1"/>
          <p:cNvSpPr txBox="1"/>
          <p:nvPr/>
        </p:nvSpPr>
        <p:spPr>
          <a:xfrm>
            <a:off x="79552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70" name="!!knobT2"/>
          <p:cNvSpPr txBox="1"/>
          <p:nvPr/>
        </p:nvSpPr>
        <p:spPr>
          <a:xfrm>
            <a:off x="923544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71" name="!!knobT3"/>
          <p:cNvSpPr txBox="1"/>
          <p:nvPr/>
        </p:nvSpPr>
        <p:spPr>
          <a:xfrm>
            <a:off x="1051560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72" name="!!knobT4"/>
          <p:cNvSpPr txBox="1"/>
          <p:nvPr/>
        </p:nvSpPr>
        <p:spPr>
          <a:xfrm>
            <a:off x="111556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73" name="!!knobThumb"/>
          <p:cNvSpPr/>
          <p:nvPr/>
        </p:nvSpPr>
        <p:spPr>
          <a:xfrm>
            <a:off x="8220456" y="5431536"/>
            <a:ext cx="201168" cy="201168"/>
          </a:xfrm>
          <a:prstGeom prst="ellipse">
            <a:avLst/>
          </a:prstGeom>
          <a:solidFill>
            <a:srgbClr val="FFFFFF"/>
          </a:solidFill>
          <a:ln w="28575">
            <a:solidFill>
              <a:srgbClr val="6B5BC4"/>
            </a:solidFill>
            <a:prstDash val="solid"/>
          </a:ln>
        </p:spPr>
      </p:sp>
      <p:sp>
        <p:nvSpPr>
          <p:cNvPr id="74"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V</a:t>
            </a:r>
            <a:pPr algn="ctr" indent="0" marL="0">
              <a:buNone/>
            </a:pPr>
            <a:r>
              <a:rPr lang="en-US" sz="1600" baseline="-40000" dirty="0">
                <a:solidFill>
                  <a:srgbClr val="171A20"/>
                </a:solidFill>
                <a:latin typeface="Segoe UI" pitchFamily="34" charset="0"/>
                <a:ea typeface="Segoe UI" pitchFamily="34" charset="-122"/>
                <a:cs typeface="Segoe UI" pitchFamily="34" charset="-120"/>
              </a:rPr>
              <a:t>G</a:t>
            </a:r>
            <a:pPr algn="ctr" indent="0" marL="0">
              <a:buNone/>
            </a:pPr>
            <a:r>
              <a:rPr lang="en-US" sz="1600" dirty="0">
                <a:solidFill>
                  <a:srgbClr val="171A20"/>
                </a:solidFill>
                <a:latin typeface="Segoe UI" pitchFamily="34" charset="0"/>
                <a:ea typeface="Segoe UI" pitchFamily="34" charset="-122"/>
                <a:cs typeface="Segoe UI" pitchFamily="34" charset="-120"/>
              </a:rPr>
              <a:t> = 0.2 V: almost no current, almost no heat: the wire stays near 300 K.</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88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Self-heating – Where the heat goes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Reproduced GAAFET,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raised step by step (Silvaco Atlas)</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171A20"/>
          </a:solidFill>
          <a:ln/>
        </p:spPr>
      </p:sp>
      <p:sp>
        <p:nvSpPr>
          <p:cNvPr id="6" name="!!sdot2"/>
          <p:cNvSpPr/>
          <p:nvPr/>
        </p:nvSpPr>
        <p:spPr>
          <a:xfrm>
            <a:off x="11132820" y="525780"/>
            <a:ext cx="82296" cy="82296"/>
          </a:xfrm>
          <a:prstGeom prst="ellipse">
            <a:avLst/>
          </a:prstGeom>
          <a:solidFill>
            <a:srgbClr val="E2E3E3"/>
          </a:solidFill>
          <a:ln/>
        </p:spPr>
      </p:sp>
      <p:sp>
        <p:nvSpPr>
          <p:cNvPr id="7" name="!!sdot3"/>
          <p:cNvSpPr/>
          <p:nvPr/>
        </p:nvSpPr>
        <p:spPr>
          <a:xfrm>
            <a:off x="11288268" y="525780"/>
            <a:ext cx="82296" cy="82296"/>
          </a:xfrm>
          <a:prstGeom prst="ellipse">
            <a:avLst/>
          </a:prstGeom>
          <a:solidFill>
            <a:srgbClr val="E2E3E3"/>
          </a:solidFill>
          <a:ln/>
        </p:spPr>
      </p:sp>
      <p:sp>
        <p:nvSpPr>
          <p:cNvPr id="8" name="!!sdot4"/>
          <p:cNvSpPr/>
          <p:nvPr/>
        </p:nvSpPr>
        <p:spPr>
          <a:xfrm>
            <a:off x="11443716" y="525780"/>
            <a:ext cx="82296" cy="82296"/>
          </a:xfrm>
          <a:prstGeom prst="ellipse">
            <a:avLst/>
          </a:prstGeom>
          <a:solidFill>
            <a:srgbClr val="E2E3E3"/>
          </a:solidFill>
          <a:ln/>
        </p:spPr>
      </p:sp>
      <p:sp>
        <p:nvSpPr>
          <p:cNvPr id="9" name="!!sdot5"/>
          <p:cNvSpPr/>
          <p:nvPr/>
        </p:nvSpPr>
        <p:spPr>
          <a:xfrm>
            <a:off x="11599164" y="525780"/>
            <a:ext cx="82296" cy="82296"/>
          </a:xfrm>
          <a:prstGeom prst="ellipse">
            <a:avLst/>
          </a:prstGeom>
          <a:solidFill>
            <a:srgbClr val="E2E3E3"/>
          </a:solidFill>
          <a:ln/>
        </p:spPr>
      </p:sp>
      <p:sp>
        <p:nvSpPr>
          <p:cNvPr id="10" name="!!hsS"/>
          <p:cNvSpPr/>
          <p:nvPr/>
        </p:nvSpPr>
        <p:spPr>
          <a:xfrm>
            <a:off x="640080" y="2011680"/>
            <a:ext cx="1463040" cy="2194560"/>
          </a:xfrm>
          <a:prstGeom prst="roundRect">
            <a:avLst>
              <a:gd name="adj" fmla="val 2500"/>
            </a:avLst>
          </a:prstGeom>
          <a:solidFill>
            <a:srgbClr val="7D9BE6"/>
          </a:solidFill>
          <a:ln/>
        </p:spPr>
      </p:sp>
      <p:sp>
        <p:nvSpPr>
          <p:cNvPr id="11" name="!!hsD"/>
          <p:cNvSpPr/>
          <p:nvPr/>
        </p:nvSpPr>
        <p:spPr>
          <a:xfrm>
            <a:off x="4389120" y="2011680"/>
            <a:ext cx="1463040" cy="2194560"/>
          </a:xfrm>
          <a:prstGeom prst="roundRect">
            <a:avLst>
              <a:gd name="adj" fmla="val 2500"/>
            </a:avLst>
          </a:prstGeom>
          <a:solidFill>
            <a:srgbClr val="7D9BE6"/>
          </a:solidFill>
          <a:ln/>
        </p:spPr>
      </p:sp>
      <p:sp>
        <p:nvSpPr>
          <p:cNvPr id="12" name="!!hsSL"/>
          <p:cNvSpPr txBox="1"/>
          <p:nvPr/>
        </p:nvSpPr>
        <p:spPr>
          <a:xfrm>
            <a:off x="64008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source</a:t>
            </a:r>
            <a:endParaRPr lang="en-US" sz="1100" dirty="0"/>
          </a:p>
        </p:txBody>
      </p:sp>
      <p:sp>
        <p:nvSpPr>
          <p:cNvPr id="13" name="!!hsDL"/>
          <p:cNvSpPr txBox="1"/>
          <p:nvPr/>
        </p:nvSpPr>
        <p:spPr>
          <a:xfrm>
            <a:off x="438912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drain</a:t>
            </a:r>
            <a:endParaRPr lang="en-US" sz="1100" dirty="0"/>
          </a:p>
        </p:txBody>
      </p:sp>
      <p:sp>
        <p:nvSpPr>
          <p:cNvPr id="14" name="!!hsSpL"/>
          <p:cNvSpPr/>
          <p:nvPr/>
        </p:nvSpPr>
        <p:spPr>
          <a:xfrm>
            <a:off x="2103120" y="2011680"/>
            <a:ext cx="320040" cy="2194560"/>
          </a:xfrm>
          <a:prstGeom prst="rect">
            <a:avLst/>
          </a:prstGeom>
          <a:solidFill>
            <a:srgbClr val="D9DCE3"/>
          </a:solidFill>
          <a:ln/>
        </p:spPr>
      </p:sp>
      <p:sp>
        <p:nvSpPr>
          <p:cNvPr id="15" name="!!hsSpR"/>
          <p:cNvSpPr/>
          <p:nvPr/>
        </p:nvSpPr>
        <p:spPr>
          <a:xfrm>
            <a:off x="4069080" y="2011680"/>
            <a:ext cx="320040" cy="2194560"/>
          </a:xfrm>
          <a:prstGeom prst="rect">
            <a:avLst/>
          </a:prstGeom>
          <a:solidFill>
            <a:srgbClr val="D9DCE3"/>
          </a:solidFill>
          <a:ln/>
        </p:spPr>
      </p:sp>
      <p:sp>
        <p:nvSpPr>
          <p:cNvPr id="16" name="!!hsG"/>
          <p:cNvSpPr/>
          <p:nvPr/>
        </p:nvSpPr>
        <p:spPr>
          <a:xfrm>
            <a:off x="2423160" y="2011680"/>
            <a:ext cx="1645920" cy="2194560"/>
          </a:xfrm>
          <a:prstGeom prst="rect">
            <a:avLst/>
          </a:prstGeom>
          <a:solidFill>
            <a:srgbClr val="B3A6E6"/>
          </a:solidFill>
          <a:ln/>
        </p:spPr>
      </p:sp>
      <p:sp>
        <p:nvSpPr>
          <p:cNvPr id="17" name="!!hsGL"/>
          <p:cNvSpPr txBox="1"/>
          <p:nvPr/>
        </p:nvSpPr>
        <p:spPr>
          <a:xfrm>
            <a:off x="2423160" y="2103120"/>
            <a:ext cx="1645920" cy="274320"/>
          </a:xfrm>
          <a:prstGeom prst="rect">
            <a:avLst/>
          </a:prstGeom>
          <a:noFill/>
          <a:ln/>
        </p:spPr>
        <p:txBody>
          <a:bodyPr wrap="square" lIns="0" tIns="0" rIns="0" bIns="0" rtlCol="0" anchor="t"/>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 (wraps)</a:t>
            </a:r>
            <a:endParaRPr lang="en-US" sz="1100" dirty="0"/>
          </a:p>
        </p:txBody>
      </p:sp>
      <p:sp>
        <p:nvSpPr>
          <p:cNvPr id="18" name="!!hsOx"/>
          <p:cNvSpPr/>
          <p:nvPr/>
        </p:nvSpPr>
        <p:spPr>
          <a:xfrm>
            <a:off x="2103120" y="2770632"/>
            <a:ext cx="2286000" cy="676656"/>
          </a:xfrm>
          <a:prstGeom prst="rect">
            <a:avLst/>
          </a:prstGeom>
          <a:solidFill>
            <a:srgbClr val="8FCBE0"/>
          </a:solidFill>
          <a:ln/>
        </p:spPr>
      </p:sp>
      <p:sp>
        <p:nvSpPr>
          <p:cNvPr id="19" name="!!hsW"/>
          <p:cNvSpPr/>
          <p:nvPr/>
        </p:nvSpPr>
        <p:spPr>
          <a:xfrm>
            <a:off x="2103120" y="2880360"/>
            <a:ext cx="2286000" cy="457200"/>
          </a:xfrm>
          <a:prstGeom prst="rect">
            <a:avLst/>
          </a:prstGeom>
          <a:solidFill>
            <a:srgbClr val="F6E7B8"/>
          </a:solidFill>
          <a:ln/>
        </p:spPr>
      </p:sp>
      <p:sp>
        <p:nvSpPr>
          <p:cNvPr id="20" name="!!hsC0"/>
          <p:cNvSpPr/>
          <p:nvPr/>
        </p:nvSpPr>
        <p:spPr>
          <a:xfrm>
            <a:off x="640080" y="1691640"/>
            <a:ext cx="1463040" cy="228600"/>
          </a:xfrm>
          <a:prstGeom prst="roundRect">
            <a:avLst>
              <a:gd name="adj" fmla="val 12000"/>
            </a:avLst>
          </a:prstGeom>
          <a:solidFill>
            <a:srgbClr val="171A20"/>
          </a:solidFill>
          <a:ln/>
        </p:spPr>
      </p:sp>
      <p:sp>
        <p:nvSpPr>
          <p:cNvPr id="21" name="!!hsCt0"/>
          <p:cNvSpPr txBox="1"/>
          <p:nvPr/>
        </p:nvSpPr>
        <p:spPr>
          <a:xfrm>
            <a:off x="64008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2" name="!!hsC1"/>
          <p:cNvSpPr/>
          <p:nvPr/>
        </p:nvSpPr>
        <p:spPr>
          <a:xfrm>
            <a:off x="2423160" y="1691640"/>
            <a:ext cx="1645920" cy="228600"/>
          </a:xfrm>
          <a:prstGeom prst="roundRect">
            <a:avLst>
              <a:gd name="adj" fmla="val 12000"/>
            </a:avLst>
          </a:prstGeom>
          <a:solidFill>
            <a:srgbClr val="171A20"/>
          </a:solidFill>
          <a:ln/>
        </p:spPr>
      </p:sp>
      <p:sp>
        <p:nvSpPr>
          <p:cNvPr id="23" name="!!hsCt1"/>
          <p:cNvSpPr txBox="1"/>
          <p:nvPr/>
        </p:nvSpPr>
        <p:spPr>
          <a:xfrm>
            <a:off x="2423160" y="1691640"/>
            <a:ext cx="164592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4" name="!!hsC2"/>
          <p:cNvSpPr/>
          <p:nvPr/>
        </p:nvSpPr>
        <p:spPr>
          <a:xfrm>
            <a:off x="4389120" y="1691640"/>
            <a:ext cx="1463040" cy="228600"/>
          </a:xfrm>
          <a:prstGeom prst="roundRect">
            <a:avLst>
              <a:gd name="adj" fmla="val 12000"/>
            </a:avLst>
          </a:prstGeom>
          <a:solidFill>
            <a:srgbClr val="171A20"/>
          </a:solidFill>
          <a:ln/>
        </p:spPr>
      </p:sp>
      <p:sp>
        <p:nvSpPr>
          <p:cNvPr id="25" name="!!hsCt2"/>
          <p:cNvSpPr txBox="1"/>
          <p:nvPr/>
        </p:nvSpPr>
        <p:spPr>
          <a:xfrm>
            <a:off x="438912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6" name="!!hsH0"/>
          <p:cNvSpPr/>
          <p:nvPr/>
        </p:nvSpPr>
        <p:spPr>
          <a:xfrm>
            <a:off x="3791916" y="3026851"/>
            <a:ext cx="371448" cy="164219"/>
          </a:xfrm>
          <a:prstGeom prst="ellipse">
            <a:avLst/>
          </a:prstGeom>
          <a:solidFill>
            <a:srgbClr val="FFE1B3">
              <a:alpha val="85000"/>
            </a:srgbClr>
          </a:solidFill>
          <a:ln/>
        </p:spPr>
      </p:sp>
      <p:sp>
        <p:nvSpPr>
          <p:cNvPr id="27" name="!!hsH1"/>
          <p:cNvSpPr/>
          <p:nvPr/>
        </p:nvSpPr>
        <p:spPr>
          <a:xfrm>
            <a:off x="3834603" y="3045723"/>
            <a:ext cx="286074" cy="126475"/>
          </a:xfrm>
          <a:prstGeom prst="ellipse">
            <a:avLst/>
          </a:prstGeom>
          <a:solidFill>
            <a:srgbClr val="FFB36B">
              <a:alpha val="85000"/>
            </a:srgbClr>
          </a:solidFill>
          <a:ln/>
        </p:spPr>
      </p:sp>
      <p:sp>
        <p:nvSpPr>
          <p:cNvPr id="28" name="!!hsH2"/>
          <p:cNvSpPr/>
          <p:nvPr/>
        </p:nvSpPr>
        <p:spPr>
          <a:xfrm>
            <a:off x="3870176" y="3061449"/>
            <a:ext cx="214929" cy="95021"/>
          </a:xfrm>
          <a:prstGeom prst="ellipse">
            <a:avLst/>
          </a:prstGeom>
          <a:solidFill>
            <a:srgbClr val="F07A3A">
              <a:alpha val="85000"/>
            </a:srgbClr>
          </a:solidFill>
          <a:ln/>
        </p:spPr>
      </p:sp>
      <p:sp>
        <p:nvSpPr>
          <p:cNvPr id="29" name="!!hsH3"/>
          <p:cNvSpPr/>
          <p:nvPr/>
        </p:nvSpPr>
        <p:spPr>
          <a:xfrm>
            <a:off x="3898634" y="3074031"/>
            <a:ext cx="158013" cy="69858"/>
          </a:xfrm>
          <a:prstGeom prst="ellipse">
            <a:avLst/>
          </a:prstGeom>
          <a:solidFill>
            <a:srgbClr val="D64545">
              <a:alpha val="85000"/>
            </a:srgbClr>
          </a:solidFill>
          <a:ln/>
        </p:spPr>
      </p:sp>
      <p:sp>
        <p:nvSpPr>
          <p:cNvPr id="30" name="!!hsA0"/>
          <p:cNvSpPr/>
          <p:nvPr/>
        </p:nvSpPr>
        <p:spPr>
          <a:xfrm>
            <a:off x="2240280" y="3108960"/>
            <a:ext cx="457200" cy="91"/>
          </a:xfrm>
          <a:prstGeom prst="line">
            <a:avLst/>
          </a:prstGeom>
          <a:noFill/>
          <a:ln w="25400">
            <a:solidFill>
              <a:srgbClr val="1F2F6B"/>
            </a:solidFill>
            <a:prstDash val="solid"/>
            <a:tailEnd type="triangle"/>
          </a:ln>
        </p:spPr>
      </p:sp>
      <p:sp>
        <p:nvSpPr>
          <p:cNvPr id="31" name="!!hsA1"/>
          <p:cNvSpPr/>
          <p:nvPr/>
        </p:nvSpPr>
        <p:spPr>
          <a:xfrm>
            <a:off x="2880360" y="3108960"/>
            <a:ext cx="457200" cy="91"/>
          </a:xfrm>
          <a:prstGeom prst="line">
            <a:avLst/>
          </a:prstGeom>
          <a:noFill/>
          <a:ln w="25400">
            <a:solidFill>
              <a:srgbClr val="1F2F6B"/>
            </a:solidFill>
            <a:prstDash val="solid"/>
            <a:tailEnd type="triangle"/>
          </a:ln>
        </p:spPr>
      </p:sp>
      <p:sp>
        <p:nvSpPr>
          <p:cNvPr id="32" name="!!hsA2"/>
          <p:cNvSpPr/>
          <p:nvPr/>
        </p:nvSpPr>
        <p:spPr>
          <a:xfrm>
            <a:off x="3520440" y="3108960"/>
            <a:ext cx="457200" cy="91"/>
          </a:xfrm>
          <a:prstGeom prst="line">
            <a:avLst/>
          </a:prstGeom>
          <a:noFill/>
          <a:ln w="25400">
            <a:solidFill>
              <a:srgbClr val="1F2F6B"/>
            </a:solidFill>
            <a:prstDash val="solid"/>
            <a:tailEnd type="triangle"/>
          </a:ln>
        </p:spPr>
      </p:sp>
      <p:sp>
        <p:nvSpPr>
          <p:cNvPr id="33" name="!!hsHL"/>
          <p:cNvSpPr txBox="1"/>
          <p:nvPr/>
        </p:nvSpPr>
        <p:spPr>
          <a:xfrm>
            <a:off x="3291840" y="4297680"/>
            <a:ext cx="1828800" cy="228600"/>
          </a:xfrm>
          <a:prstGeom prst="rect">
            <a:avLst/>
          </a:prstGeom>
          <a:noFill/>
          <a:ln/>
        </p:spPr>
        <p:txBody>
          <a:bodyPr wrap="square" lIns="0" tIns="0" rIns="0" bIns="0" rtlCol="0" anchor="t"/>
          <a:lstStyle/>
          <a:p>
            <a:pPr algn="ctr" indent="0" marL="0">
              <a:buNone/>
            </a:pPr>
            <a:r>
              <a:rPr lang="en-US" sz="1000" dirty="0">
                <a:solidFill>
                  <a:srgbClr val="E07B00"/>
                </a:solidFill>
                <a:latin typeface="Segoe UI Semibold" pitchFamily="34" charset="0"/>
                <a:ea typeface="Segoe UI Semibold" pitchFamily="34" charset="-122"/>
                <a:cs typeface="Segoe UI Semibold" pitchFamily="34" charset="-120"/>
              </a:rPr>
              <a:t>hot spot: drain end</a:t>
            </a:r>
            <a:endParaRPr lang="en-US" sz="1000" dirty="0"/>
          </a:p>
        </p:txBody>
      </p:sp>
      <p:sp>
        <p:nvSpPr>
          <p:cNvPr id="34" name="!!axg0"/>
          <p:cNvSpPr/>
          <p:nvPr/>
        </p:nvSpPr>
        <p:spPr>
          <a:xfrm>
            <a:off x="7315200" y="4023360"/>
            <a:ext cx="4206240" cy="91"/>
          </a:xfrm>
          <a:prstGeom prst="line">
            <a:avLst/>
          </a:prstGeom>
          <a:noFill/>
          <a:ln w="9525">
            <a:solidFill>
              <a:srgbClr val="EDEEF0"/>
            </a:solidFill>
            <a:prstDash val="solid"/>
          </a:ln>
        </p:spPr>
      </p:sp>
      <p:sp>
        <p:nvSpPr>
          <p:cNvPr id="35" name="!!axg1"/>
          <p:cNvSpPr/>
          <p:nvPr/>
        </p:nvSpPr>
        <p:spPr>
          <a:xfrm>
            <a:off x="7315200" y="3547872"/>
            <a:ext cx="4206240" cy="91"/>
          </a:xfrm>
          <a:prstGeom prst="line">
            <a:avLst/>
          </a:prstGeom>
          <a:noFill/>
          <a:ln w="9525">
            <a:solidFill>
              <a:srgbClr val="EDEEF0"/>
            </a:solidFill>
            <a:prstDash val="solid"/>
          </a:ln>
        </p:spPr>
      </p:sp>
      <p:sp>
        <p:nvSpPr>
          <p:cNvPr id="36" name="!!axg2"/>
          <p:cNvSpPr/>
          <p:nvPr/>
        </p:nvSpPr>
        <p:spPr>
          <a:xfrm>
            <a:off x="7315200" y="3072384"/>
            <a:ext cx="4206240" cy="91"/>
          </a:xfrm>
          <a:prstGeom prst="line">
            <a:avLst/>
          </a:prstGeom>
          <a:noFill/>
          <a:ln w="9525">
            <a:solidFill>
              <a:srgbClr val="EDEEF0"/>
            </a:solidFill>
            <a:prstDash val="solid"/>
          </a:ln>
        </p:spPr>
      </p:sp>
      <p:sp>
        <p:nvSpPr>
          <p:cNvPr id="37" name="!!axg3"/>
          <p:cNvSpPr/>
          <p:nvPr/>
        </p:nvSpPr>
        <p:spPr>
          <a:xfrm>
            <a:off x="7315200" y="2596896"/>
            <a:ext cx="4206240" cy="91"/>
          </a:xfrm>
          <a:prstGeom prst="line">
            <a:avLst/>
          </a:prstGeom>
          <a:noFill/>
          <a:ln w="9525">
            <a:solidFill>
              <a:srgbClr val="EDEEF0"/>
            </a:solidFill>
            <a:prstDash val="solid"/>
          </a:ln>
        </p:spPr>
      </p:sp>
      <p:sp>
        <p:nvSpPr>
          <p:cNvPr id="38" name="!!axg4"/>
          <p:cNvSpPr/>
          <p:nvPr/>
        </p:nvSpPr>
        <p:spPr>
          <a:xfrm>
            <a:off x="7315200" y="2121408"/>
            <a:ext cx="4206240" cy="91"/>
          </a:xfrm>
          <a:prstGeom prst="line">
            <a:avLst/>
          </a:prstGeom>
          <a:noFill/>
          <a:ln w="9525">
            <a:solidFill>
              <a:srgbClr val="EDEEF0"/>
            </a:solidFill>
            <a:prstDash val="solid"/>
          </a:ln>
        </p:spPr>
      </p:sp>
      <p:sp>
        <p:nvSpPr>
          <p:cNvPr id="39" name="!!axg5"/>
          <p:cNvSpPr/>
          <p:nvPr/>
        </p:nvSpPr>
        <p:spPr>
          <a:xfrm>
            <a:off x="7315200" y="1645920"/>
            <a:ext cx="4206240" cy="91"/>
          </a:xfrm>
          <a:prstGeom prst="line">
            <a:avLst/>
          </a:prstGeom>
          <a:noFill/>
          <a:ln w="9525">
            <a:solidFill>
              <a:srgbClr val="EDEEF0"/>
            </a:solidFill>
            <a:prstDash val="solid"/>
          </a:ln>
        </p:spPr>
      </p:sp>
      <p:sp>
        <p:nvSpPr>
          <p:cNvPr id="40" name="!!axxa"/>
          <p:cNvSpPr/>
          <p:nvPr/>
        </p:nvSpPr>
        <p:spPr>
          <a:xfrm>
            <a:off x="7315200" y="4023360"/>
            <a:ext cx="4206240" cy="91"/>
          </a:xfrm>
          <a:prstGeom prst="line">
            <a:avLst/>
          </a:prstGeom>
          <a:noFill/>
          <a:ln w="12700">
            <a:solidFill>
              <a:srgbClr val="8A8D93"/>
            </a:solidFill>
            <a:prstDash val="solid"/>
          </a:ln>
        </p:spPr>
      </p:sp>
      <p:sp>
        <p:nvSpPr>
          <p:cNvPr id="41" name="!!axya"/>
          <p:cNvSpPr/>
          <p:nvPr/>
        </p:nvSpPr>
        <p:spPr>
          <a:xfrm>
            <a:off x="7315200" y="1645920"/>
            <a:ext cx="91" cy="2377440"/>
          </a:xfrm>
          <a:prstGeom prst="line">
            <a:avLst/>
          </a:prstGeom>
          <a:noFill/>
          <a:ln w="12700">
            <a:solidFill>
              <a:srgbClr val="8A8D93"/>
            </a:solidFill>
            <a:prstDash val="solid"/>
          </a:ln>
        </p:spPr>
      </p:sp>
      <p:sp>
        <p:nvSpPr>
          <p:cNvPr id="42" name="!!axxt0"/>
          <p:cNvSpPr txBox="1"/>
          <p:nvPr/>
        </p:nvSpPr>
        <p:spPr>
          <a:xfrm>
            <a:off x="699516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3" name="!!axxt1"/>
          <p:cNvSpPr txBox="1"/>
          <p:nvPr/>
        </p:nvSpPr>
        <p:spPr>
          <a:xfrm>
            <a:off x="804672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5</a:t>
            </a:r>
            <a:endParaRPr lang="en-US" sz="900" dirty="0"/>
          </a:p>
        </p:txBody>
      </p:sp>
      <p:sp>
        <p:nvSpPr>
          <p:cNvPr id="44" name="!!axxt2"/>
          <p:cNvSpPr txBox="1"/>
          <p:nvPr/>
        </p:nvSpPr>
        <p:spPr>
          <a:xfrm>
            <a:off x="909828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45" name="!!axxt3"/>
          <p:cNvSpPr txBox="1"/>
          <p:nvPr/>
        </p:nvSpPr>
        <p:spPr>
          <a:xfrm>
            <a:off x="1014984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15</a:t>
            </a:r>
            <a:endParaRPr lang="en-US" sz="900" dirty="0"/>
          </a:p>
        </p:txBody>
      </p:sp>
      <p:sp>
        <p:nvSpPr>
          <p:cNvPr id="46" name="!!axxt4"/>
          <p:cNvSpPr txBox="1"/>
          <p:nvPr/>
        </p:nvSpPr>
        <p:spPr>
          <a:xfrm>
            <a:off x="1120140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47" name="!!axyt0"/>
          <p:cNvSpPr txBox="1"/>
          <p:nvPr/>
        </p:nvSpPr>
        <p:spPr>
          <a:xfrm>
            <a:off x="6629400" y="39227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8" name="!!axyt1"/>
          <p:cNvSpPr txBox="1"/>
          <p:nvPr/>
        </p:nvSpPr>
        <p:spPr>
          <a:xfrm>
            <a:off x="6629400" y="3447288"/>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49" name="!!axyt2"/>
          <p:cNvSpPr txBox="1"/>
          <p:nvPr/>
        </p:nvSpPr>
        <p:spPr>
          <a:xfrm>
            <a:off x="6629400" y="297180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50" name="!!axyt3"/>
          <p:cNvSpPr txBox="1"/>
          <p:nvPr/>
        </p:nvSpPr>
        <p:spPr>
          <a:xfrm>
            <a:off x="6629400" y="249631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30</a:t>
            </a:r>
            <a:endParaRPr lang="en-US" sz="900" dirty="0"/>
          </a:p>
        </p:txBody>
      </p:sp>
      <p:sp>
        <p:nvSpPr>
          <p:cNvPr id="51" name="!!axyt4"/>
          <p:cNvSpPr txBox="1"/>
          <p:nvPr/>
        </p:nvSpPr>
        <p:spPr>
          <a:xfrm>
            <a:off x="6629400" y="2020824"/>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40</a:t>
            </a:r>
            <a:endParaRPr lang="en-US" sz="900" dirty="0"/>
          </a:p>
        </p:txBody>
      </p:sp>
      <p:sp>
        <p:nvSpPr>
          <p:cNvPr id="52" name="!!axyt5"/>
          <p:cNvSpPr txBox="1"/>
          <p:nvPr/>
        </p:nvSpPr>
        <p:spPr>
          <a:xfrm>
            <a:off x="6629400" y="1545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50</a:t>
            </a:r>
            <a:endParaRPr lang="en-US" sz="900" dirty="0"/>
          </a:p>
        </p:txBody>
      </p:sp>
      <p:sp>
        <p:nvSpPr>
          <p:cNvPr id="53" name="!!axxl"/>
          <p:cNvSpPr txBox="1"/>
          <p:nvPr/>
        </p:nvSpPr>
        <p:spPr>
          <a:xfrm>
            <a:off x="7315200" y="429768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power P = I</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·V</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 (µW)</a:t>
            </a:r>
            <a:endParaRPr lang="en-US" sz="1100" dirty="0"/>
          </a:p>
        </p:txBody>
      </p:sp>
      <p:sp>
        <p:nvSpPr>
          <p:cNvPr id="54" name="!!axyl"/>
          <p:cNvSpPr txBox="1"/>
          <p:nvPr/>
        </p:nvSpPr>
        <p:spPr>
          <a:xfrm>
            <a:off x="7132320" y="134416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temperature rise ΔT (K)</a:t>
            </a:r>
            <a:endParaRPr lang="en-US" sz="1100" dirty="0"/>
          </a:p>
        </p:txBody>
      </p:sp>
      <p:sp>
        <p:nvSpPr>
          <p:cNvPr id="55" name="!!ivGhost"/>
          <p:cNvSpPr/>
          <p:nvPr/>
        </p:nvSpPr>
        <p:spPr>
          <a:xfrm>
            <a:off x="7315292" y="1949567"/>
            <a:ext cx="4043953" cy="2073746"/>
          </a:xfrm>
          <a:custGeom>
            <a:avLst/>
            <a:gdLst/>
            <a:ahLst/>
            <a:cxnLst/>
            <a:rect l="l" t="t" r="r" b="b"/>
            <a:pathLst>
              <a:path w="4043953" h="2073746">
                <a:moveTo>
                  <a:pt x="0" y="2073746"/>
                </a:moveTo>
                <a:lnTo>
                  <a:pt x="118" y="2073698"/>
                </a:lnTo>
                <a:lnTo>
                  <a:pt x="397" y="2073603"/>
                </a:lnTo>
                <a:lnTo>
                  <a:pt x="1051" y="2072890"/>
                </a:lnTo>
                <a:lnTo>
                  <a:pt x="2580" y="2071701"/>
                </a:lnTo>
                <a:lnTo>
                  <a:pt x="6115" y="2069038"/>
                </a:lnTo>
                <a:lnTo>
                  <a:pt x="14143" y="2063095"/>
                </a:lnTo>
                <a:lnTo>
                  <a:pt x="31548" y="2050447"/>
                </a:lnTo>
                <a:lnTo>
                  <a:pt x="66537" y="2025722"/>
                </a:lnTo>
                <a:lnTo>
                  <a:pt x="130427" y="1981739"/>
                </a:lnTo>
                <a:lnTo>
                  <a:pt x="234345" y="1911700"/>
                </a:lnTo>
                <a:lnTo>
                  <a:pt x="374271" y="1820976"/>
                </a:lnTo>
                <a:lnTo>
                  <a:pt x="530663" y="1723359"/>
                </a:lnTo>
                <a:lnTo>
                  <a:pt x="687612" y="1629260"/>
                </a:lnTo>
                <a:lnTo>
                  <a:pt x="850162" y="1535208"/>
                </a:lnTo>
                <a:lnTo>
                  <a:pt x="1023544" y="1437923"/>
                </a:lnTo>
                <a:lnTo>
                  <a:pt x="1208773" y="1336026"/>
                </a:lnTo>
                <a:lnTo>
                  <a:pt x="1405305" y="1230658"/>
                </a:lnTo>
                <a:lnTo>
                  <a:pt x="1612229" y="1122342"/>
                </a:lnTo>
                <a:lnTo>
                  <a:pt x="1828478" y="1011838"/>
                </a:lnTo>
                <a:lnTo>
                  <a:pt x="2053016" y="899718"/>
                </a:lnTo>
                <a:lnTo>
                  <a:pt x="2284826" y="786600"/>
                </a:lnTo>
                <a:lnTo>
                  <a:pt x="2523011" y="672863"/>
                </a:lnTo>
                <a:lnTo>
                  <a:pt x="2766731" y="559174"/>
                </a:lnTo>
                <a:lnTo>
                  <a:pt x="3015206" y="445818"/>
                </a:lnTo>
                <a:lnTo>
                  <a:pt x="3267759" y="332984"/>
                </a:lnTo>
                <a:lnTo>
                  <a:pt x="3523772" y="220959"/>
                </a:lnTo>
                <a:lnTo>
                  <a:pt x="3782670" y="109885"/>
                </a:lnTo>
                <a:lnTo>
                  <a:pt x="4043953" y="0"/>
                </a:lnTo>
              </a:path>
            </a:pathLst>
          </a:custGeom>
          <a:ln w="25400">
            <a:solidFill>
              <a:srgbClr val="C9CCD3"/>
            </a:solidFill>
            <a:prstDash val="solid"/>
          </a:ln>
        </p:spPr>
      </p:sp>
      <p:sp>
        <p:nvSpPr>
          <p:cNvPr id="56" name="!!ivTrail"/>
          <p:cNvSpPr/>
          <p:nvPr/>
        </p:nvSpPr>
        <p:spPr>
          <a:xfrm>
            <a:off x="7315292" y="3672925"/>
            <a:ext cx="530663" cy="350387"/>
          </a:xfrm>
          <a:custGeom>
            <a:avLst/>
            <a:gdLst/>
            <a:ahLst/>
            <a:cxnLst/>
            <a:rect l="l" t="t" r="r" b="b"/>
            <a:pathLst>
              <a:path w="530663" h="350387">
                <a:moveTo>
                  <a:pt x="0" y="350387"/>
                </a:moveTo>
                <a:lnTo>
                  <a:pt x="118" y="350340"/>
                </a:lnTo>
                <a:lnTo>
                  <a:pt x="397" y="350244"/>
                </a:lnTo>
                <a:lnTo>
                  <a:pt x="1051" y="349531"/>
                </a:lnTo>
                <a:lnTo>
                  <a:pt x="2580" y="348343"/>
                </a:lnTo>
                <a:lnTo>
                  <a:pt x="6115" y="345680"/>
                </a:lnTo>
                <a:lnTo>
                  <a:pt x="14143" y="339736"/>
                </a:lnTo>
                <a:lnTo>
                  <a:pt x="31548" y="327088"/>
                </a:lnTo>
                <a:lnTo>
                  <a:pt x="66537" y="302363"/>
                </a:lnTo>
                <a:lnTo>
                  <a:pt x="130427" y="258380"/>
                </a:lnTo>
                <a:lnTo>
                  <a:pt x="234345" y="188341"/>
                </a:lnTo>
                <a:lnTo>
                  <a:pt x="374271" y="97618"/>
                </a:lnTo>
                <a:lnTo>
                  <a:pt x="530663" y="0"/>
                </a:lnTo>
              </a:path>
            </a:pathLst>
          </a:custGeom>
          <a:ln w="38100">
            <a:solidFill>
              <a:srgbClr val="E07B00"/>
            </a:solidFill>
            <a:prstDash val="solid"/>
          </a:ln>
        </p:spPr>
      </p:sp>
      <p:sp>
        <p:nvSpPr>
          <p:cNvPr id="57" name="!!ivPt"/>
          <p:cNvSpPr/>
          <p:nvPr/>
        </p:nvSpPr>
        <p:spPr>
          <a:xfrm>
            <a:off x="7763659" y="3590582"/>
            <a:ext cx="164592" cy="164592"/>
          </a:xfrm>
          <a:prstGeom prst="ellipse">
            <a:avLst/>
          </a:prstGeom>
          <a:solidFill>
            <a:srgbClr val="D64545"/>
          </a:solidFill>
          <a:ln w="19050">
            <a:solidFill>
              <a:srgbClr val="FFFFFF"/>
            </a:solidFill>
            <a:prstDash val="solid"/>
          </a:ln>
        </p:spPr>
      </p:sp>
      <p:sp>
        <p:nvSpPr>
          <p:cNvPr id="58" name="!!ivPtL"/>
          <p:cNvSpPr txBox="1"/>
          <p:nvPr/>
        </p:nvSpPr>
        <p:spPr>
          <a:xfrm>
            <a:off x="6931555" y="3343694"/>
            <a:ext cx="868680" cy="219456"/>
          </a:xfrm>
          <a:prstGeom prst="rect">
            <a:avLst/>
          </a:prstGeom>
          <a:noFill/>
          <a:ln/>
        </p:spPr>
        <p:txBody>
          <a:bodyPr wrap="square" lIns="0" tIns="0" rIns="0" bIns="0" rtlCol="0" anchor="t"/>
          <a:lstStyle/>
          <a:p>
            <a:pPr algn="r" indent="0" marL="0">
              <a:buNone/>
            </a:pPr>
            <a:r>
              <a:rPr lang="en-US" sz="1100" dirty="0">
                <a:solidFill>
                  <a:srgbClr val="D64545"/>
                </a:solidFill>
                <a:latin typeface="Segoe UI Semibold" pitchFamily="34" charset="0"/>
                <a:ea typeface="Segoe UI Semibold" pitchFamily="34" charset="-122"/>
                <a:cs typeface="Segoe UI Semibold" pitchFamily="34" charset="-120"/>
              </a:rPr>
              <a:t>7.4 K</a:t>
            </a:r>
            <a:endParaRPr lang="en-US" sz="1100" dirty="0"/>
          </a:p>
        </p:txBody>
      </p:sp>
      <p:sp>
        <p:nvSpPr>
          <p:cNvPr id="59" name="!!chip0"/>
          <p:cNvSpPr/>
          <p:nvPr/>
        </p:nvSpPr>
        <p:spPr>
          <a:xfrm>
            <a:off x="6858000" y="4434840"/>
            <a:ext cx="1508760" cy="658368"/>
          </a:xfrm>
          <a:prstGeom prst="roundRect">
            <a:avLst>
              <a:gd name="adj" fmla="val 8333"/>
            </a:avLst>
          </a:prstGeom>
          <a:solidFill>
            <a:srgbClr val="F4F5F7"/>
          </a:solidFill>
          <a:ln/>
        </p:spPr>
      </p:sp>
      <p:sp>
        <p:nvSpPr>
          <p:cNvPr id="60" name="!!chipk0"/>
          <p:cNvSpPr txBox="1"/>
          <p:nvPr/>
        </p:nvSpPr>
        <p:spPr>
          <a:xfrm>
            <a:off x="6967728"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power P</a:t>
            </a:r>
            <a:endParaRPr lang="en-US" sz="1000" dirty="0"/>
          </a:p>
        </p:txBody>
      </p:sp>
      <p:sp>
        <p:nvSpPr>
          <p:cNvPr id="61" name="!!chipv0"/>
          <p:cNvSpPr txBox="1"/>
          <p:nvPr/>
        </p:nvSpPr>
        <p:spPr>
          <a:xfrm>
            <a:off x="6967728"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2.5 µW</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62" name="!!chip1"/>
          <p:cNvSpPr/>
          <p:nvPr/>
        </p:nvSpPr>
        <p:spPr>
          <a:xfrm>
            <a:off x="8476488" y="4434840"/>
            <a:ext cx="1508760" cy="658368"/>
          </a:xfrm>
          <a:prstGeom prst="roundRect">
            <a:avLst>
              <a:gd name="adj" fmla="val 8333"/>
            </a:avLst>
          </a:prstGeom>
          <a:solidFill>
            <a:srgbClr val="F4F5F7"/>
          </a:solidFill>
          <a:ln/>
        </p:spPr>
      </p:sp>
      <p:sp>
        <p:nvSpPr>
          <p:cNvPr id="63" name="!!chipk1"/>
          <p:cNvSpPr txBox="1"/>
          <p:nvPr/>
        </p:nvSpPr>
        <p:spPr>
          <a:xfrm>
            <a:off x="8586216"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rise ΔT</a:t>
            </a:r>
            <a:endParaRPr lang="en-US" sz="1000" dirty="0"/>
          </a:p>
        </p:txBody>
      </p:sp>
      <p:sp>
        <p:nvSpPr>
          <p:cNvPr id="64" name="!!chipv1"/>
          <p:cNvSpPr txBox="1"/>
          <p:nvPr/>
        </p:nvSpPr>
        <p:spPr>
          <a:xfrm>
            <a:off x="8586216"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7.4 K</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65" name="!!chip2"/>
          <p:cNvSpPr/>
          <p:nvPr/>
        </p:nvSpPr>
        <p:spPr>
          <a:xfrm>
            <a:off x="10094976" y="4434840"/>
            <a:ext cx="1508760" cy="658368"/>
          </a:xfrm>
          <a:prstGeom prst="roundRect">
            <a:avLst>
              <a:gd name="adj" fmla="val 8333"/>
            </a:avLst>
          </a:prstGeom>
          <a:solidFill>
            <a:srgbClr val="F4F5F7"/>
          </a:solidFill>
          <a:ln/>
        </p:spPr>
      </p:sp>
      <p:sp>
        <p:nvSpPr>
          <p:cNvPr id="66" name="!!chipk2"/>
          <p:cNvSpPr txBox="1"/>
          <p:nvPr/>
        </p:nvSpPr>
        <p:spPr>
          <a:xfrm>
            <a:off x="10204704"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R</a:t>
            </a:r>
            <a:pPr algn="l" indent="0" marL="0">
              <a:buNone/>
            </a:pPr>
            <a:r>
              <a:rPr lang="en-US" sz="1000" baseline="-40000" dirty="0">
                <a:solidFill>
                  <a:srgbClr val="5C5E62"/>
                </a:solidFill>
                <a:latin typeface="Segoe UI" pitchFamily="34" charset="0"/>
                <a:ea typeface="Segoe UI" pitchFamily="34" charset="-122"/>
                <a:cs typeface="Segoe UI" pitchFamily="34" charset="-120"/>
              </a:rPr>
              <a:t>th</a:t>
            </a:r>
            <a:pPr algn="l" indent="0" marL="0">
              <a:buNone/>
            </a:pPr>
            <a:r>
              <a:rPr lang="en-US" sz="1000" dirty="0">
                <a:solidFill>
                  <a:srgbClr val="5C5E62"/>
                </a:solidFill>
                <a:latin typeface="Segoe UI" pitchFamily="34" charset="0"/>
                <a:ea typeface="Segoe UI" pitchFamily="34" charset="-122"/>
                <a:cs typeface="Segoe UI" pitchFamily="34" charset="-120"/>
              </a:rPr>
              <a:t> = ΔT / P</a:t>
            </a:r>
            <a:endParaRPr lang="en-US" sz="1000" dirty="0"/>
          </a:p>
        </p:txBody>
      </p:sp>
      <p:sp>
        <p:nvSpPr>
          <p:cNvPr id="67" name="!!chipv2"/>
          <p:cNvSpPr txBox="1"/>
          <p:nvPr/>
        </p:nvSpPr>
        <p:spPr>
          <a:xfrm>
            <a:off x="10204704"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2.92 K/µW</a:t>
            </a:r>
            <a:endParaRPr lang="en-US" sz="1500" dirty="0"/>
          </a:p>
        </p:txBody>
      </p:sp>
      <p:sp>
        <p:nvSpPr>
          <p:cNvPr id="68" name="!!knobLbl"/>
          <p:cNvSpPr txBox="1"/>
          <p:nvPr/>
        </p:nvSpPr>
        <p:spPr>
          <a:xfrm>
            <a:off x="7022592" y="512064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0.3 V</a:t>
            </a:r>
            <a:endParaRPr lang="en-US" sz="1200" dirty="0"/>
          </a:p>
        </p:txBody>
      </p:sp>
      <p:sp>
        <p:nvSpPr>
          <p:cNvPr id="69" name="!!knobTrack"/>
          <p:cNvSpPr/>
          <p:nvPr/>
        </p:nvSpPr>
        <p:spPr>
          <a:xfrm>
            <a:off x="7040880" y="5504688"/>
            <a:ext cx="4480560" cy="54864"/>
          </a:xfrm>
          <a:prstGeom prst="roundRect">
            <a:avLst>
              <a:gd name="adj" fmla="val 50000"/>
            </a:avLst>
          </a:prstGeom>
          <a:solidFill>
            <a:srgbClr val="E2E3E3"/>
          </a:solidFill>
          <a:ln/>
        </p:spPr>
      </p:sp>
      <p:sp>
        <p:nvSpPr>
          <p:cNvPr id="70" name="!!knobFill"/>
          <p:cNvSpPr/>
          <p:nvPr/>
        </p:nvSpPr>
        <p:spPr>
          <a:xfrm>
            <a:off x="7040880" y="5504688"/>
            <a:ext cx="1920240" cy="54864"/>
          </a:xfrm>
          <a:prstGeom prst="roundRect">
            <a:avLst>
              <a:gd name="adj" fmla="val 50000"/>
            </a:avLst>
          </a:prstGeom>
          <a:solidFill>
            <a:srgbClr val="6B5BC4"/>
          </a:solidFill>
          <a:ln/>
        </p:spPr>
      </p:sp>
      <p:sp>
        <p:nvSpPr>
          <p:cNvPr id="71" name="!!knobT0"/>
          <p:cNvSpPr txBox="1"/>
          <p:nvPr/>
        </p:nvSpPr>
        <p:spPr>
          <a:xfrm>
            <a:off x="667512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72" name="!!knobT1"/>
          <p:cNvSpPr txBox="1"/>
          <p:nvPr/>
        </p:nvSpPr>
        <p:spPr>
          <a:xfrm>
            <a:off x="79552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73" name="!!knobT2"/>
          <p:cNvSpPr txBox="1"/>
          <p:nvPr/>
        </p:nvSpPr>
        <p:spPr>
          <a:xfrm>
            <a:off x="923544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74" name="!!knobT3"/>
          <p:cNvSpPr txBox="1"/>
          <p:nvPr/>
        </p:nvSpPr>
        <p:spPr>
          <a:xfrm>
            <a:off x="1051560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75" name="!!knobT4"/>
          <p:cNvSpPr txBox="1"/>
          <p:nvPr/>
        </p:nvSpPr>
        <p:spPr>
          <a:xfrm>
            <a:off x="111556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76" name="!!knobThumb"/>
          <p:cNvSpPr/>
          <p:nvPr/>
        </p:nvSpPr>
        <p:spPr>
          <a:xfrm>
            <a:off x="8860536" y="5431536"/>
            <a:ext cx="201168" cy="201168"/>
          </a:xfrm>
          <a:prstGeom prst="ellipse">
            <a:avLst/>
          </a:prstGeom>
          <a:solidFill>
            <a:srgbClr val="FFFFFF"/>
          </a:solidFill>
          <a:ln w="28575">
            <a:solidFill>
              <a:srgbClr val="6B5BC4"/>
            </a:solidFill>
            <a:prstDash val="solid"/>
          </a:ln>
        </p:spPr>
      </p:sp>
      <p:sp>
        <p:nvSpPr>
          <p:cNvPr id="7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Low power: a little Joule heat appears at the drain end.</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89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Self-heating – Where the heat goes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Reproduced GAAFET,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raised step by step (Silvaco Atlas)</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171A20"/>
          </a:solidFill>
          <a:ln/>
        </p:spPr>
      </p:sp>
      <p:sp>
        <p:nvSpPr>
          <p:cNvPr id="6" name="!!sdot2"/>
          <p:cNvSpPr/>
          <p:nvPr/>
        </p:nvSpPr>
        <p:spPr>
          <a:xfrm>
            <a:off x="11132820" y="525780"/>
            <a:ext cx="82296" cy="82296"/>
          </a:xfrm>
          <a:prstGeom prst="ellipse">
            <a:avLst/>
          </a:prstGeom>
          <a:solidFill>
            <a:srgbClr val="171A20"/>
          </a:solidFill>
          <a:ln/>
        </p:spPr>
      </p:sp>
      <p:sp>
        <p:nvSpPr>
          <p:cNvPr id="7" name="!!sdot3"/>
          <p:cNvSpPr/>
          <p:nvPr/>
        </p:nvSpPr>
        <p:spPr>
          <a:xfrm>
            <a:off x="11288268" y="525780"/>
            <a:ext cx="82296" cy="82296"/>
          </a:xfrm>
          <a:prstGeom prst="ellipse">
            <a:avLst/>
          </a:prstGeom>
          <a:solidFill>
            <a:srgbClr val="E2E3E3"/>
          </a:solidFill>
          <a:ln/>
        </p:spPr>
      </p:sp>
      <p:sp>
        <p:nvSpPr>
          <p:cNvPr id="8" name="!!sdot4"/>
          <p:cNvSpPr/>
          <p:nvPr/>
        </p:nvSpPr>
        <p:spPr>
          <a:xfrm>
            <a:off x="11443716" y="525780"/>
            <a:ext cx="82296" cy="82296"/>
          </a:xfrm>
          <a:prstGeom prst="ellipse">
            <a:avLst/>
          </a:prstGeom>
          <a:solidFill>
            <a:srgbClr val="E2E3E3"/>
          </a:solidFill>
          <a:ln/>
        </p:spPr>
      </p:sp>
      <p:sp>
        <p:nvSpPr>
          <p:cNvPr id="9" name="!!sdot5"/>
          <p:cNvSpPr/>
          <p:nvPr/>
        </p:nvSpPr>
        <p:spPr>
          <a:xfrm>
            <a:off x="11599164" y="525780"/>
            <a:ext cx="82296" cy="82296"/>
          </a:xfrm>
          <a:prstGeom prst="ellipse">
            <a:avLst/>
          </a:prstGeom>
          <a:solidFill>
            <a:srgbClr val="E2E3E3"/>
          </a:solidFill>
          <a:ln/>
        </p:spPr>
      </p:sp>
      <p:sp>
        <p:nvSpPr>
          <p:cNvPr id="10" name="!!hsS"/>
          <p:cNvSpPr/>
          <p:nvPr/>
        </p:nvSpPr>
        <p:spPr>
          <a:xfrm>
            <a:off x="640080" y="2011680"/>
            <a:ext cx="1463040" cy="2194560"/>
          </a:xfrm>
          <a:prstGeom prst="roundRect">
            <a:avLst>
              <a:gd name="adj" fmla="val 2500"/>
            </a:avLst>
          </a:prstGeom>
          <a:solidFill>
            <a:srgbClr val="7D9BE6"/>
          </a:solidFill>
          <a:ln/>
        </p:spPr>
      </p:sp>
      <p:sp>
        <p:nvSpPr>
          <p:cNvPr id="11" name="!!hsD"/>
          <p:cNvSpPr/>
          <p:nvPr/>
        </p:nvSpPr>
        <p:spPr>
          <a:xfrm>
            <a:off x="4389120" y="2011680"/>
            <a:ext cx="1463040" cy="2194560"/>
          </a:xfrm>
          <a:prstGeom prst="roundRect">
            <a:avLst>
              <a:gd name="adj" fmla="val 2500"/>
            </a:avLst>
          </a:prstGeom>
          <a:solidFill>
            <a:srgbClr val="7D9BE6"/>
          </a:solidFill>
          <a:ln/>
        </p:spPr>
      </p:sp>
      <p:sp>
        <p:nvSpPr>
          <p:cNvPr id="12" name="!!hsSL"/>
          <p:cNvSpPr txBox="1"/>
          <p:nvPr/>
        </p:nvSpPr>
        <p:spPr>
          <a:xfrm>
            <a:off x="64008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source</a:t>
            </a:r>
            <a:endParaRPr lang="en-US" sz="1100" dirty="0"/>
          </a:p>
        </p:txBody>
      </p:sp>
      <p:sp>
        <p:nvSpPr>
          <p:cNvPr id="13" name="!!hsDL"/>
          <p:cNvSpPr txBox="1"/>
          <p:nvPr/>
        </p:nvSpPr>
        <p:spPr>
          <a:xfrm>
            <a:off x="438912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drain</a:t>
            </a:r>
            <a:endParaRPr lang="en-US" sz="1100" dirty="0"/>
          </a:p>
        </p:txBody>
      </p:sp>
      <p:sp>
        <p:nvSpPr>
          <p:cNvPr id="14" name="!!hsSpL"/>
          <p:cNvSpPr/>
          <p:nvPr/>
        </p:nvSpPr>
        <p:spPr>
          <a:xfrm>
            <a:off x="2103120" y="2011680"/>
            <a:ext cx="320040" cy="2194560"/>
          </a:xfrm>
          <a:prstGeom prst="rect">
            <a:avLst/>
          </a:prstGeom>
          <a:solidFill>
            <a:srgbClr val="D9DCE3"/>
          </a:solidFill>
          <a:ln/>
        </p:spPr>
      </p:sp>
      <p:sp>
        <p:nvSpPr>
          <p:cNvPr id="15" name="!!hsSpR"/>
          <p:cNvSpPr/>
          <p:nvPr/>
        </p:nvSpPr>
        <p:spPr>
          <a:xfrm>
            <a:off x="4069080" y="2011680"/>
            <a:ext cx="320040" cy="2194560"/>
          </a:xfrm>
          <a:prstGeom prst="rect">
            <a:avLst/>
          </a:prstGeom>
          <a:solidFill>
            <a:srgbClr val="D9DCE3"/>
          </a:solidFill>
          <a:ln/>
        </p:spPr>
      </p:sp>
      <p:sp>
        <p:nvSpPr>
          <p:cNvPr id="16" name="!!hsG"/>
          <p:cNvSpPr/>
          <p:nvPr/>
        </p:nvSpPr>
        <p:spPr>
          <a:xfrm>
            <a:off x="2423160" y="2011680"/>
            <a:ext cx="1645920" cy="2194560"/>
          </a:xfrm>
          <a:prstGeom prst="rect">
            <a:avLst/>
          </a:prstGeom>
          <a:solidFill>
            <a:srgbClr val="B3A6E6"/>
          </a:solidFill>
          <a:ln/>
        </p:spPr>
      </p:sp>
      <p:sp>
        <p:nvSpPr>
          <p:cNvPr id="17" name="!!hsGL"/>
          <p:cNvSpPr txBox="1"/>
          <p:nvPr/>
        </p:nvSpPr>
        <p:spPr>
          <a:xfrm>
            <a:off x="2423160" y="2103120"/>
            <a:ext cx="1645920" cy="274320"/>
          </a:xfrm>
          <a:prstGeom prst="rect">
            <a:avLst/>
          </a:prstGeom>
          <a:noFill/>
          <a:ln/>
        </p:spPr>
        <p:txBody>
          <a:bodyPr wrap="square" lIns="0" tIns="0" rIns="0" bIns="0" rtlCol="0" anchor="t"/>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 (wraps)</a:t>
            </a:r>
            <a:endParaRPr lang="en-US" sz="1100" dirty="0"/>
          </a:p>
        </p:txBody>
      </p:sp>
      <p:sp>
        <p:nvSpPr>
          <p:cNvPr id="18" name="!!hsOx"/>
          <p:cNvSpPr/>
          <p:nvPr/>
        </p:nvSpPr>
        <p:spPr>
          <a:xfrm>
            <a:off x="2103120" y="2770632"/>
            <a:ext cx="2286000" cy="676656"/>
          </a:xfrm>
          <a:prstGeom prst="rect">
            <a:avLst/>
          </a:prstGeom>
          <a:solidFill>
            <a:srgbClr val="8FCBE0"/>
          </a:solidFill>
          <a:ln/>
        </p:spPr>
      </p:sp>
      <p:sp>
        <p:nvSpPr>
          <p:cNvPr id="19" name="!!hsW"/>
          <p:cNvSpPr/>
          <p:nvPr/>
        </p:nvSpPr>
        <p:spPr>
          <a:xfrm>
            <a:off x="2103120" y="2880360"/>
            <a:ext cx="2286000" cy="457200"/>
          </a:xfrm>
          <a:prstGeom prst="rect">
            <a:avLst/>
          </a:prstGeom>
          <a:solidFill>
            <a:srgbClr val="F6E7B8"/>
          </a:solidFill>
          <a:ln/>
        </p:spPr>
      </p:sp>
      <p:sp>
        <p:nvSpPr>
          <p:cNvPr id="20" name="!!hsC0"/>
          <p:cNvSpPr/>
          <p:nvPr/>
        </p:nvSpPr>
        <p:spPr>
          <a:xfrm>
            <a:off x="640080" y="1691640"/>
            <a:ext cx="1463040" cy="228600"/>
          </a:xfrm>
          <a:prstGeom prst="roundRect">
            <a:avLst>
              <a:gd name="adj" fmla="val 12000"/>
            </a:avLst>
          </a:prstGeom>
          <a:solidFill>
            <a:srgbClr val="171A20"/>
          </a:solidFill>
          <a:ln/>
        </p:spPr>
      </p:sp>
      <p:sp>
        <p:nvSpPr>
          <p:cNvPr id="21" name="!!hsCt0"/>
          <p:cNvSpPr txBox="1"/>
          <p:nvPr/>
        </p:nvSpPr>
        <p:spPr>
          <a:xfrm>
            <a:off x="64008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2" name="!!hsC1"/>
          <p:cNvSpPr/>
          <p:nvPr/>
        </p:nvSpPr>
        <p:spPr>
          <a:xfrm>
            <a:off x="2423160" y="1691640"/>
            <a:ext cx="1645920" cy="228600"/>
          </a:xfrm>
          <a:prstGeom prst="roundRect">
            <a:avLst>
              <a:gd name="adj" fmla="val 12000"/>
            </a:avLst>
          </a:prstGeom>
          <a:solidFill>
            <a:srgbClr val="171A20"/>
          </a:solidFill>
          <a:ln/>
        </p:spPr>
      </p:sp>
      <p:sp>
        <p:nvSpPr>
          <p:cNvPr id="23" name="!!hsCt1"/>
          <p:cNvSpPr txBox="1"/>
          <p:nvPr/>
        </p:nvSpPr>
        <p:spPr>
          <a:xfrm>
            <a:off x="2423160" y="1691640"/>
            <a:ext cx="164592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4" name="!!hsC2"/>
          <p:cNvSpPr/>
          <p:nvPr/>
        </p:nvSpPr>
        <p:spPr>
          <a:xfrm>
            <a:off x="4389120" y="1691640"/>
            <a:ext cx="1463040" cy="228600"/>
          </a:xfrm>
          <a:prstGeom prst="roundRect">
            <a:avLst>
              <a:gd name="adj" fmla="val 12000"/>
            </a:avLst>
          </a:prstGeom>
          <a:solidFill>
            <a:srgbClr val="171A20"/>
          </a:solidFill>
          <a:ln/>
        </p:spPr>
      </p:sp>
      <p:sp>
        <p:nvSpPr>
          <p:cNvPr id="25" name="!!hsCt2"/>
          <p:cNvSpPr txBox="1"/>
          <p:nvPr/>
        </p:nvSpPr>
        <p:spPr>
          <a:xfrm>
            <a:off x="438912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6" name="!!hsH0"/>
          <p:cNvSpPr/>
          <p:nvPr/>
        </p:nvSpPr>
        <p:spPr>
          <a:xfrm>
            <a:off x="3634666" y="2957329"/>
            <a:ext cx="685948" cy="303261"/>
          </a:xfrm>
          <a:prstGeom prst="ellipse">
            <a:avLst/>
          </a:prstGeom>
          <a:solidFill>
            <a:srgbClr val="FFE1B3">
              <a:alpha val="85000"/>
            </a:srgbClr>
          </a:solidFill>
          <a:ln/>
        </p:spPr>
      </p:sp>
      <p:sp>
        <p:nvSpPr>
          <p:cNvPr id="27" name="!!hsH1"/>
          <p:cNvSpPr/>
          <p:nvPr/>
        </p:nvSpPr>
        <p:spPr>
          <a:xfrm>
            <a:off x="3724528" y="2997058"/>
            <a:ext cx="506224" cy="223804"/>
          </a:xfrm>
          <a:prstGeom prst="ellipse">
            <a:avLst/>
          </a:prstGeom>
          <a:solidFill>
            <a:srgbClr val="FFB36B">
              <a:alpha val="85000"/>
            </a:srgbClr>
          </a:solidFill>
          <a:ln/>
        </p:spPr>
      </p:sp>
      <p:sp>
        <p:nvSpPr>
          <p:cNvPr id="28" name="!!hsH2"/>
          <p:cNvSpPr/>
          <p:nvPr/>
        </p:nvSpPr>
        <p:spPr>
          <a:xfrm>
            <a:off x="3799413" y="3030165"/>
            <a:ext cx="356454" cy="157590"/>
          </a:xfrm>
          <a:prstGeom prst="ellipse">
            <a:avLst/>
          </a:prstGeom>
          <a:solidFill>
            <a:srgbClr val="F07A3A">
              <a:alpha val="85000"/>
            </a:srgbClr>
          </a:solidFill>
          <a:ln/>
        </p:spPr>
      </p:sp>
      <p:sp>
        <p:nvSpPr>
          <p:cNvPr id="29" name="!!hsH3"/>
          <p:cNvSpPr/>
          <p:nvPr/>
        </p:nvSpPr>
        <p:spPr>
          <a:xfrm>
            <a:off x="3859321" y="3056651"/>
            <a:ext cx="236638" cy="104619"/>
          </a:xfrm>
          <a:prstGeom prst="ellipse">
            <a:avLst/>
          </a:prstGeom>
          <a:solidFill>
            <a:srgbClr val="D64545">
              <a:alpha val="85000"/>
            </a:srgbClr>
          </a:solidFill>
          <a:ln/>
        </p:spPr>
      </p:sp>
      <p:sp>
        <p:nvSpPr>
          <p:cNvPr id="30" name="!!hsA0"/>
          <p:cNvSpPr/>
          <p:nvPr/>
        </p:nvSpPr>
        <p:spPr>
          <a:xfrm>
            <a:off x="2240280" y="3108960"/>
            <a:ext cx="457200" cy="91"/>
          </a:xfrm>
          <a:prstGeom prst="line">
            <a:avLst/>
          </a:prstGeom>
          <a:noFill/>
          <a:ln w="25400">
            <a:solidFill>
              <a:srgbClr val="1F2F6B"/>
            </a:solidFill>
            <a:prstDash val="solid"/>
            <a:tailEnd type="triangle"/>
          </a:ln>
        </p:spPr>
      </p:sp>
      <p:sp>
        <p:nvSpPr>
          <p:cNvPr id="31" name="!!hsA1"/>
          <p:cNvSpPr/>
          <p:nvPr/>
        </p:nvSpPr>
        <p:spPr>
          <a:xfrm>
            <a:off x="2880360" y="3108960"/>
            <a:ext cx="457200" cy="91"/>
          </a:xfrm>
          <a:prstGeom prst="line">
            <a:avLst/>
          </a:prstGeom>
          <a:noFill/>
          <a:ln w="25400">
            <a:solidFill>
              <a:srgbClr val="1F2F6B"/>
            </a:solidFill>
            <a:prstDash val="solid"/>
            <a:tailEnd type="triangle"/>
          </a:ln>
        </p:spPr>
      </p:sp>
      <p:sp>
        <p:nvSpPr>
          <p:cNvPr id="32" name="!!hsA2"/>
          <p:cNvSpPr/>
          <p:nvPr/>
        </p:nvSpPr>
        <p:spPr>
          <a:xfrm>
            <a:off x="3520440" y="3108960"/>
            <a:ext cx="457200" cy="91"/>
          </a:xfrm>
          <a:prstGeom prst="line">
            <a:avLst/>
          </a:prstGeom>
          <a:noFill/>
          <a:ln w="25400">
            <a:solidFill>
              <a:srgbClr val="1F2F6B"/>
            </a:solidFill>
            <a:prstDash val="solid"/>
            <a:tailEnd type="triangle"/>
          </a:ln>
        </p:spPr>
      </p:sp>
      <p:sp>
        <p:nvSpPr>
          <p:cNvPr id="33" name="!!hsHL"/>
          <p:cNvSpPr txBox="1"/>
          <p:nvPr/>
        </p:nvSpPr>
        <p:spPr>
          <a:xfrm>
            <a:off x="3291840" y="4297680"/>
            <a:ext cx="1828800" cy="228600"/>
          </a:xfrm>
          <a:prstGeom prst="rect">
            <a:avLst/>
          </a:prstGeom>
          <a:noFill/>
          <a:ln/>
        </p:spPr>
        <p:txBody>
          <a:bodyPr wrap="square" lIns="0" tIns="0" rIns="0" bIns="0" rtlCol="0" anchor="t"/>
          <a:lstStyle/>
          <a:p>
            <a:pPr algn="ctr" indent="0" marL="0">
              <a:buNone/>
            </a:pPr>
            <a:r>
              <a:rPr lang="en-US" sz="1000" dirty="0">
                <a:solidFill>
                  <a:srgbClr val="E07B00"/>
                </a:solidFill>
                <a:latin typeface="Segoe UI Semibold" pitchFamily="34" charset="0"/>
                <a:ea typeface="Segoe UI Semibold" pitchFamily="34" charset="-122"/>
                <a:cs typeface="Segoe UI Semibold" pitchFamily="34" charset="-120"/>
              </a:rPr>
              <a:t>hot spot: drain end</a:t>
            </a:r>
            <a:endParaRPr lang="en-US" sz="1000" dirty="0"/>
          </a:p>
        </p:txBody>
      </p:sp>
      <p:sp>
        <p:nvSpPr>
          <p:cNvPr id="34" name="!!axg0"/>
          <p:cNvSpPr/>
          <p:nvPr/>
        </p:nvSpPr>
        <p:spPr>
          <a:xfrm>
            <a:off x="7315200" y="4023360"/>
            <a:ext cx="4206240" cy="91"/>
          </a:xfrm>
          <a:prstGeom prst="line">
            <a:avLst/>
          </a:prstGeom>
          <a:noFill/>
          <a:ln w="9525">
            <a:solidFill>
              <a:srgbClr val="EDEEF0"/>
            </a:solidFill>
            <a:prstDash val="solid"/>
          </a:ln>
        </p:spPr>
      </p:sp>
      <p:sp>
        <p:nvSpPr>
          <p:cNvPr id="35" name="!!axg1"/>
          <p:cNvSpPr/>
          <p:nvPr/>
        </p:nvSpPr>
        <p:spPr>
          <a:xfrm>
            <a:off x="7315200" y="3547872"/>
            <a:ext cx="4206240" cy="91"/>
          </a:xfrm>
          <a:prstGeom prst="line">
            <a:avLst/>
          </a:prstGeom>
          <a:noFill/>
          <a:ln w="9525">
            <a:solidFill>
              <a:srgbClr val="EDEEF0"/>
            </a:solidFill>
            <a:prstDash val="solid"/>
          </a:ln>
        </p:spPr>
      </p:sp>
      <p:sp>
        <p:nvSpPr>
          <p:cNvPr id="36" name="!!axg2"/>
          <p:cNvSpPr/>
          <p:nvPr/>
        </p:nvSpPr>
        <p:spPr>
          <a:xfrm>
            <a:off x="7315200" y="3072384"/>
            <a:ext cx="4206240" cy="91"/>
          </a:xfrm>
          <a:prstGeom prst="line">
            <a:avLst/>
          </a:prstGeom>
          <a:noFill/>
          <a:ln w="9525">
            <a:solidFill>
              <a:srgbClr val="EDEEF0"/>
            </a:solidFill>
            <a:prstDash val="solid"/>
          </a:ln>
        </p:spPr>
      </p:sp>
      <p:sp>
        <p:nvSpPr>
          <p:cNvPr id="37" name="!!axg3"/>
          <p:cNvSpPr/>
          <p:nvPr/>
        </p:nvSpPr>
        <p:spPr>
          <a:xfrm>
            <a:off x="7315200" y="2596896"/>
            <a:ext cx="4206240" cy="91"/>
          </a:xfrm>
          <a:prstGeom prst="line">
            <a:avLst/>
          </a:prstGeom>
          <a:noFill/>
          <a:ln w="9525">
            <a:solidFill>
              <a:srgbClr val="EDEEF0"/>
            </a:solidFill>
            <a:prstDash val="solid"/>
          </a:ln>
        </p:spPr>
      </p:sp>
      <p:sp>
        <p:nvSpPr>
          <p:cNvPr id="38" name="!!axg4"/>
          <p:cNvSpPr/>
          <p:nvPr/>
        </p:nvSpPr>
        <p:spPr>
          <a:xfrm>
            <a:off x="7315200" y="2121408"/>
            <a:ext cx="4206240" cy="91"/>
          </a:xfrm>
          <a:prstGeom prst="line">
            <a:avLst/>
          </a:prstGeom>
          <a:noFill/>
          <a:ln w="9525">
            <a:solidFill>
              <a:srgbClr val="EDEEF0"/>
            </a:solidFill>
            <a:prstDash val="solid"/>
          </a:ln>
        </p:spPr>
      </p:sp>
      <p:sp>
        <p:nvSpPr>
          <p:cNvPr id="39" name="!!axg5"/>
          <p:cNvSpPr/>
          <p:nvPr/>
        </p:nvSpPr>
        <p:spPr>
          <a:xfrm>
            <a:off x="7315200" y="1645920"/>
            <a:ext cx="4206240" cy="91"/>
          </a:xfrm>
          <a:prstGeom prst="line">
            <a:avLst/>
          </a:prstGeom>
          <a:noFill/>
          <a:ln w="9525">
            <a:solidFill>
              <a:srgbClr val="EDEEF0"/>
            </a:solidFill>
            <a:prstDash val="solid"/>
          </a:ln>
        </p:spPr>
      </p:sp>
      <p:sp>
        <p:nvSpPr>
          <p:cNvPr id="40" name="!!axxa"/>
          <p:cNvSpPr/>
          <p:nvPr/>
        </p:nvSpPr>
        <p:spPr>
          <a:xfrm>
            <a:off x="7315200" y="4023360"/>
            <a:ext cx="4206240" cy="91"/>
          </a:xfrm>
          <a:prstGeom prst="line">
            <a:avLst/>
          </a:prstGeom>
          <a:noFill/>
          <a:ln w="12700">
            <a:solidFill>
              <a:srgbClr val="8A8D93"/>
            </a:solidFill>
            <a:prstDash val="solid"/>
          </a:ln>
        </p:spPr>
      </p:sp>
      <p:sp>
        <p:nvSpPr>
          <p:cNvPr id="41" name="!!axya"/>
          <p:cNvSpPr/>
          <p:nvPr/>
        </p:nvSpPr>
        <p:spPr>
          <a:xfrm>
            <a:off x="7315200" y="1645920"/>
            <a:ext cx="91" cy="2377440"/>
          </a:xfrm>
          <a:prstGeom prst="line">
            <a:avLst/>
          </a:prstGeom>
          <a:noFill/>
          <a:ln w="12700">
            <a:solidFill>
              <a:srgbClr val="8A8D93"/>
            </a:solidFill>
            <a:prstDash val="solid"/>
          </a:ln>
        </p:spPr>
      </p:sp>
      <p:sp>
        <p:nvSpPr>
          <p:cNvPr id="42" name="!!axxt0"/>
          <p:cNvSpPr txBox="1"/>
          <p:nvPr/>
        </p:nvSpPr>
        <p:spPr>
          <a:xfrm>
            <a:off x="699516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3" name="!!axxt1"/>
          <p:cNvSpPr txBox="1"/>
          <p:nvPr/>
        </p:nvSpPr>
        <p:spPr>
          <a:xfrm>
            <a:off x="804672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5</a:t>
            </a:r>
            <a:endParaRPr lang="en-US" sz="900" dirty="0"/>
          </a:p>
        </p:txBody>
      </p:sp>
      <p:sp>
        <p:nvSpPr>
          <p:cNvPr id="44" name="!!axxt2"/>
          <p:cNvSpPr txBox="1"/>
          <p:nvPr/>
        </p:nvSpPr>
        <p:spPr>
          <a:xfrm>
            <a:off x="909828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45" name="!!axxt3"/>
          <p:cNvSpPr txBox="1"/>
          <p:nvPr/>
        </p:nvSpPr>
        <p:spPr>
          <a:xfrm>
            <a:off x="1014984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15</a:t>
            </a:r>
            <a:endParaRPr lang="en-US" sz="900" dirty="0"/>
          </a:p>
        </p:txBody>
      </p:sp>
      <p:sp>
        <p:nvSpPr>
          <p:cNvPr id="46" name="!!axxt4"/>
          <p:cNvSpPr txBox="1"/>
          <p:nvPr/>
        </p:nvSpPr>
        <p:spPr>
          <a:xfrm>
            <a:off x="1120140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47" name="!!axyt0"/>
          <p:cNvSpPr txBox="1"/>
          <p:nvPr/>
        </p:nvSpPr>
        <p:spPr>
          <a:xfrm>
            <a:off x="6629400" y="39227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8" name="!!axyt1"/>
          <p:cNvSpPr txBox="1"/>
          <p:nvPr/>
        </p:nvSpPr>
        <p:spPr>
          <a:xfrm>
            <a:off x="6629400" y="3447288"/>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49" name="!!axyt2"/>
          <p:cNvSpPr txBox="1"/>
          <p:nvPr/>
        </p:nvSpPr>
        <p:spPr>
          <a:xfrm>
            <a:off x="6629400" y="297180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50" name="!!axyt3"/>
          <p:cNvSpPr txBox="1"/>
          <p:nvPr/>
        </p:nvSpPr>
        <p:spPr>
          <a:xfrm>
            <a:off x="6629400" y="249631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30</a:t>
            </a:r>
            <a:endParaRPr lang="en-US" sz="900" dirty="0"/>
          </a:p>
        </p:txBody>
      </p:sp>
      <p:sp>
        <p:nvSpPr>
          <p:cNvPr id="51" name="!!axyt4"/>
          <p:cNvSpPr txBox="1"/>
          <p:nvPr/>
        </p:nvSpPr>
        <p:spPr>
          <a:xfrm>
            <a:off x="6629400" y="2020824"/>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40</a:t>
            </a:r>
            <a:endParaRPr lang="en-US" sz="900" dirty="0"/>
          </a:p>
        </p:txBody>
      </p:sp>
      <p:sp>
        <p:nvSpPr>
          <p:cNvPr id="52" name="!!axyt5"/>
          <p:cNvSpPr txBox="1"/>
          <p:nvPr/>
        </p:nvSpPr>
        <p:spPr>
          <a:xfrm>
            <a:off x="6629400" y="1545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50</a:t>
            </a:r>
            <a:endParaRPr lang="en-US" sz="900" dirty="0"/>
          </a:p>
        </p:txBody>
      </p:sp>
      <p:sp>
        <p:nvSpPr>
          <p:cNvPr id="53" name="!!axxl"/>
          <p:cNvSpPr txBox="1"/>
          <p:nvPr/>
        </p:nvSpPr>
        <p:spPr>
          <a:xfrm>
            <a:off x="7315200" y="429768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power P = I</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·V</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 (µW)</a:t>
            </a:r>
            <a:endParaRPr lang="en-US" sz="1100" dirty="0"/>
          </a:p>
        </p:txBody>
      </p:sp>
      <p:sp>
        <p:nvSpPr>
          <p:cNvPr id="54" name="!!axyl"/>
          <p:cNvSpPr txBox="1"/>
          <p:nvPr/>
        </p:nvSpPr>
        <p:spPr>
          <a:xfrm>
            <a:off x="7132320" y="134416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temperature rise ΔT (K)</a:t>
            </a:r>
            <a:endParaRPr lang="en-US" sz="1100" dirty="0"/>
          </a:p>
        </p:txBody>
      </p:sp>
      <p:sp>
        <p:nvSpPr>
          <p:cNvPr id="55" name="!!ivGhost"/>
          <p:cNvSpPr/>
          <p:nvPr/>
        </p:nvSpPr>
        <p:spPr>
          <a:xfrm>
            <a:off x="7315292" y="1949567"/>
            <a:ext cx="4043953" cy="2073746"/>
          </a:xfrm>
          <a:custGeom>
            <a:avLst/>
            <a:gdLst/>
            <a:ahLst/>
            <a:cxnLst/>
            <a:rect l="l" t="t" r="r" b="b"/>
            <a:pathLst>
              <a:path w="4043953" h="2073746">
                <a:moveTo>
                  <a:pt x="0" y="2073746"/>
                </a:moveTo>
                <a:lnTo>
                  <a:pt x="118" y="2073698"/>
                </a:lnTo>
                <a:lnTo>
                  <a:pt x="397" y="2073603"/>
                </a:lnTo>
                <a:lnTo>
                  <a:pt x="1051" y="2072890"/>
                </a:lnTo>
                <a:lnTo>
                  <a:pt x="2580" y="2071701"/>
                </a:lnTo>
                <a:lnTo>
                  <a:pt x="6115" y="2069038"/>
                </a:lnTo>
                <a:lnTo>
                  <a:pt x="14143" y="2063095"/>
                </a:lnTo>
                <a:lnTo>
                  <a:pt x="31548" y="2050447"/>
                </a:lnTo>
                <a:lnTo>
                  <a:pt x="66537" y="2025722"/>
                </a:lnTo>
                <a:lnTo>
                  <a:pt x="130427" y="1981739"/>
                </a:lnTo>
                <a:lnTo>
                  <a:pt x="234345" y="1911700"/>
                </a:lnTo>
                <a:lnTo>
                  <a:pt x="374271" y="1820976"/>
                </a:lnTo>
                <a:lnTo>
                  <a:pt x="530663" y="1723359"/>
                </a:lnTo>
                <a:lnTo>
                  <a:pt x="687612" y="1629260"/>
                </a:lnTo>
                <a:lnTo>
                  <a:pt x="850162" y="1535208"/>
                </a:lnTo>
                <a:lnTo>
                  <a:pt x="1023544" y="1437923"/>
                </a:lnTo>
                <a:lnTo>
                  <a:pt x="1208773" y="1336026"/>
                </a:lnTo>
                <a:lnTo>
                  <a:pt x="1405305" y="1230658"/>
                </a:lnTo>
                <a:lnTo>
                  <a:pt x="1612229" y="1122342"/>
                </a:lnTo>
                <a:lnTo>
                  <a:pt x="1828478" y="1011838"/>
                </a:lnTo>
                <a:lnTo>
                  <a:pt x="2053016" y="899718"/>
                </a:lnTo>
                <a:lnTo>
                  <a:pt x="2284826" y="786600"/>
                </a:lnTo>
                <a:lnTo>
                  <a:pt x="2523011" y="672863"/>
                </a:lnTo>
                <a:lnTo>
                  <a:pt x="2766731" y="559174"/>
                </a:lnTo>
                <a:lnTo>
                  <a:pt x="3015206" y="445818"/>
                </a:lnTo>
                <a:lnTo>
                  <a:pt x="3267759" y="332984"/>
                </a:lnTo>
                <a:lnTo>
                  <a:pt x="3523772" y="220959"/>
                </a:lnTo>
                <a:lnTo>
                  <a:pt x="3782670" y="109885"/>
                </a:lnTo>
                <a:lnTo>
                  <a:pt x="4043953" y="0"/>
                </a:lnTo>
              </a:path>
            </a:pathLst>
          </a:custGeom>
          <a:ln w="25400">
            <a:solidFill>
              <a:srgbClr val="C9CCD3"/>
            </a:solidFill>
            <a:prstDash val="solid"/>
          </a:ln>
        </p:spPr>
      </p:sp>
      <p:sp>
        <p:nvSpPr>
          <p:cNvPr id="56" name="!!ivTrail"/>
          <p:cNvSpPr/>
          <p:nvPr/>
        </p:nvSpPr>
        <p:spPr>
          <a:xfrm>
            <a:off x="7315292" y="3285593"/>
            <a:ext cx="1208773" cy="737720"/>
          </a:xfrm>
          <a:custGeom>
            <a:avLst/>
            <a:gdLst/>
            <a:ahLst/>
            <a:cxnLst/>
            <a:rect l="l" t="t" r="r" b="b"/>
            <a:pathLst>
              <a:path w="1208773" h="737720">
                <a:moveTo>
                  <a:pt x="0" y="737720"/>
                </a:moveTo>
                <a:lnTo>
                  <a:pt x="118" y="737672"/>
                </a:lnTo>
                <a:lnTo>
                  <a:pt x="397" y="737577"/>
                </a:lnTo>
                <a:lnTo>
                  <a:pt x="1051" y="736864"/>
                </a:lnTo>
                <a:lnTo>
                  <a:pt x="2580" y="735675"/>
                </a:lnTo>
                <a:lnTo>
                  <a:pt x="6115" y="733012"/>
                </a:lnTo>
                <a:lnTo>
                  <a:pt x="14143" y="727069"/>
                </a:lnTo>
                <a:lnTo>
                  <a:pt x="31548" y="714421"/>
                </a:lnTo>
                <a:lnTo>
                  <a:pt x="66537" y="689695"/>
                </a:lnTo>
                <a:lnTo>
                  <a:pt x="130427" y="645713"/>
                </a:lnTo>
                <a:lnTo>
                  <a:pt x="234345" y="575673"/>
                </a:lnTo>
                <a:lnTo>
                  <a:pt x="374271" y="484950"/>
                </a:lnTo>
                <a:lnTo>
                  <a:pt x="530663" y="387333"/>
                </a:lnTo>
                <a:lnTo>
                  <a:pt x="687612" y="293233"/>
                </a:lnTo>
                <a:lnTo>
                  <a:pt x="850162" y="199182"/>
                </a:lnTo>
                <a:lnTo>
                  <a:pt x="1023544" y="101897"/>
                </a:lnTo>
                <a:lnTo>
                  <a:pt x="1208773" y="0"/>
                </a:lnTo>
              </a:path>
            </a:pathLst>
          </a:custGeom>
          <a:ln w="38100">
            <a:solidFill>
              <a:srgbClr val="E07B00"/>
            </a:solidFill>
            <a:prstDash val="solid"/>
          </a:ln>
        </p:spPr>
      </p:sp>
      <p:sp>
        <p:nvSpPr>
          <p:cNvPr id="57" name="!!ivPt"/>
          <p:cNvSpPr/>
          <p:nvPr/>
        </p:nvSpPr>
        <p:spPr>
          <a:xfrm>
            <a:off x="8441769" y="3203249"/>
            <a:ext cx="164592" cy="164592"/>
          </a:xfrm>
          <a:prstGeom prst="ellipse">
            <a:avLst/>
          </a:prstGeom>
          <a:solidFill>
            <a:srgbClr val="D64545"/>
          </a:solidFill>
          <a:ln w="19050">
            <a:solidFill>
              <a:srgbClr val="FFFFFF"/>
            </a:solidFill>
            <a:prstDash val="solid"/>
          </a:ln>
        </p:spPr>
      </p:sp>
      <p:sp>
        <p:nvSpPr>
          <p:cNvPr id="58" name="!!ivPtL"/>
          <p:cNvSpPr txBox="1"/>
          <p:nvPr/>
        </p:nvSpPr>
        <p:spPr>
          <a:xfrm>
            <a:off x="7609665" y="2956361"/>
            <a:ext cx="868680" cy="219456"/>
          </a:xfrm>
          <a:prstGeom prst="rect">
            <a:avLst/>
          </a:prstGeom>
          <a:noFill/>
          <a:ln/>
        </p:spPr>
        <p:txBody>
          <a:bodyPr wrap="square" lIns="0" tIns="0" rIns="0" bIns="0" rtlCol="0" anchor="t"/>
          <a:lstStyle/>
          <a:p>
            <a:pPr algn="r" indent="0" marL="0">
              <a:buNone/>
            </a:pPr>
            <a:r>
              <a:rPr lang="en-US" sz="1100" dirty="0">
                <a:solidFill>
                  <a:srgbClr val="D64545"/>
                </a:solidFill>
                <a:latin typeface="Segoe UI Semibold" pitchFamily="34" charset="0"/>
                <a:ea typeface="Segoe UI Semibold" pitchFamily="34" charset="-122"/>
                <a:cs typeface="Segoe UI Semibold" pitchFamily="34" charset="-120"/>
              </a:rPr>
              <a:t>15.5 K</a:t>
            </a:r>
            <a:endParaRPr lang="en-US" sz="1100" dirty="0"/>
          </a:p>
        </p:txBody>
      </p:sp>
      <p:sp>
        <p:nvSpPr>
          <p:cNvPr id="59" name="!!chip0"/>
          <p:cNvSpPr/>
          <p:nvPr/>
        </p:nvSpPr>
        <p:spPr>
          <a:xfrm>
            <a:off x="6858000" y="4434840"/>
            <a:ext cx="1508760" cy="658368"/>
          </a:xfrm>
          <a:prstGeom prst="roundRect">
            <a:avLst>
              <a:gd name="adj" fmla="val 8333"/>
            </a:avLst>
          </a:prstGeom>
          <a:solidFill>
            <a:srgbClr val="F4F5F7"/>
          </a:solidFill>
          <a:ln/>
        </p:spPr>
      </p:sp>
      <p:sp>
        <p:nvSpPr>
          <p:cNvPr id="60" name="!!chipk0"/>
          <p:cNvSpPr txBox="1"/>
          <p:nvPr/>
        </p:nvSpPr>
        <p:spPr>
          <a:xfrm>
            <a:off x="6967728"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power P</a:t>
            </a:r>
            <a:endParaRPr lang="en-US" sz="1000" dirty="0"/>
          </a:p>
        </p:txBody>
      </p:sp>
      <p:sp>
        <p:nvSpPr>
          <p:cNvPr id="61" name="!!chipv0"/>
          <p:cNvSpPr txBox="1"/>
          <p:nvPr/>
        </p:nvSpPr>
        <p:spPr>
          <a:xfrm>
            <a:off x="6967728"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5.7 µW</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62" name="!!chip1"/>
          <p:cNvSpPr/>
          <p:nvPr/>
        </p:nvSpPr>
        <p:spPr>
          <a:xfrm>
            <a:off x="8476488" y="4434840"/>
            <a:ext cx="1508760" cy="658368"/>
          </a:xfrm>
          <a:prstGeom prst="roundRect">
            <a:avLst>
              <a:gd name="adj" fmla="val 8333"/>
            </a:avLst>
          </a:prstGeom>
          <a:solidFill>
            <a:srgbClr val="F4F5F7"/>
          </a:solidFill>
          <a:ln/>
        </p:spPr>
      </p:sp>
      <p:sp>
        <p:nvSpPr>
          <p:cNvPr id="63" name="!!chipk1"/>
          <p:cNvSpPr txBox="1"/>
          <p:nvPr/>
        </p:nvSpPr>
        <p:spPr>
          <a:xfrm>
            <a:off x="8586216"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rise ΔT</a:t>
            </a:r>
            <a:endParaRPr lang="en-US" sz="1000" dirty="0"/>
          </a:p>
        </p:txBody>
      </p:sp>
      <p:sp>
        <p:nvSpPr>
          <p:cNvPr id="64" name="!!chipv1"/>
          <p:cNvSpPr txBox="1"/>
          <p:nvPr/>
        </p:nvSpPr>
        <p:spPr>
          <a:xfrm>
            <a:off x="8586216"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15.5 K</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65" name="!!chip2"/>
          <p:cNvSpPr/>
          <p:nvPr/>
        </p:nvSpPr>
        <p:spPr>
          <a:xfrm>
            <a:off x="10094976" y="4434840"/>
            <a:ext cx="1508760" cy="658368"/>
          </a:xfrm>
          <a:prstGeom prst="roundRect">
            <a:avLst>
              <a:gd name="adj" fmla="val 8333"/>
            </a:avLst>
          </a:prstGeom>
          <a:solidFill>
            <a:srgbClr val="F4F5F7"/>
          </a:solidFill>
          <a:ln/>
        </p:spPr>
      </p:sp>
      <p:sp>
        <p:nvSpPr>
          <p:cNvPr id="66" name="!!chipk2"/>
          <p:cNvSpPr txBox="1"/>
          <p:nvPr/>
        </p:nvSpPr>
        <p:spPr>
          <a:xfrm>
            <a:off x="10204704"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R</a:t>
            </a:r>
            <a:pPr algn="l" indent="0" marL="0">
              <a:buNone/>
            </a:pPr>
            <a:r>
              <a:rPr lang="en-US" sz="1000" baseline="-40000" dirty="0">
                <a:solidFill>
                  <a:srgbClr val="5C5E62"/>
                </a:solidFill>
                <a:latin typeface="Segoe UI" pitchFamily="34" charset="0"/>
                <a:ea typeface="Segoe UI" pitchFamily="34" charset="-122"/>
                <a:cs typeface="Segoe UI" pitchFamily="34" charset="-120"/>
              </a:rPr>
              <a:t>th</a:t>
            </a:r>
            <a:pPr algn="l" indent="0" marL="0">
              <a:buNone/>
            </a:pPr>
            <a:r>
              <a:rPr lang="en-US" sz="1000" dirty="0">
                <a:solidFill>
                  <a:srgbClr val="5C5E62"/>
                </a:solidFill>
                <a:latin typeface="Segoe UI" pitchFamily="34" charset="0"/>
                <a:ea typeface="Segoe UI" pitchFamily="34" charset="-122"/>
                <a:cs typeface="Segoe UI" pitchFamily="34" charset="-120"/>
              </a:rPr>
              <a:t> = ΔT / P</a:t>
            </a:r>
            <a:endParaRPr lang="en-US" sz="1000" dirty="0"/>
          </a:p>
        </p:txBody>
      </p:sp>
      <p:sp>
        <p:nvSpPr>
          <p:cNvPr id="67" name="!!chipv2"/>
          <p:cNvSpPr txBox="1"/>
          <p:nvPr/>
        </p:nvSpPr>
        <p:spPr>
          <a:xfrm>
            <a:off x="10204704"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2.70 K/µW</a:t>
            </a:r>
            <a:endParaRPr lang="en-US" sz="1500" dirty="0"/>
          </a:p>
        </p:txBody>
      </p:sp>
      <p:sp>
        <p:nvSpPr>
          <p:cNvPr id="68" name="!!knobLbl"/>
          <p:cNvSpPr txBox="1"/>
          <p:nvPr/>
        </p:nvSpPr>
        <p:spPr>
          <a:xfrm>
            <a:off x="7022592" y="512064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0.4 V</a:t>
            </a:r>
            <a:endParaRPr lang="en-US" sz="1200" dirty="0"/>
          </a:p>
        </p:txBody>
      </p:sp>
      <p:sp>
        <p:nvSpPr>
          <p:cNvPr id="69" name="!!knobTrack"/>
          <p:cNvSpPr/>
          <p:nvPr/>
        </p:nvSpPr>
        <p:spPr>
          <a:xfrm>
            <a:off x="7040880" y="5504688"/>
            <a:ext cx="4480560" cy="54864"/>
          </a:xfrm>
          <a:prstGeom prst="roundRect">
            <a:avLst>
              <a:gd name="adj" fmla="val 50000"/>
            </a:avLst>
          </a:prstGeom>
          <a:solidFill>
            <a:srgbClr val="E2E3E3"/>
          </a:solidFill>
          <a:ln/>
        </p:spPr>
      </p:sp>
      <p:sp>
        <p:nvSpPr>
          <p:cNvPr id="70" name="!!knobFill"/>
          <p:cNvSpPr/>
          <p:nvPr/>
        </p:nvSpPr>
        <p:spPr>
          <a:xfrm>
            <a:off x="7040880" y="5504688"/>
            <a:ext cx="2560320" cy="54864"/>
          </a:xfrm>
          <a:prstGeom prst="roundRect">
            <a:avLst>
              <a:gd name="adj" fmla="val 50000"/>
            </a:avLst>
          </a:prstGeom>
          <a:solidFill>
            <a:srgbClr val="6B5BC4"/>
          </a:solidFill>
          <a:ln/>
        </p:spPr>
      </p:sp>
      <p:sp>
        <p:nvSpPr>
          <p:cNvPr id="71" name="!!knobT0"/>
          <p:cNvSpPr txBox="1"/>
          <p:nvPr/>
        </p:nvSpPr>
        <p:spPr>
          <a:xfrm>
            <a:off x="667512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72" name="!!knobT1"/>
          <p:cNvSpPr txBox="1"/>
          <p:nvPr/>
        </p:nvSpPr>
        <p:spPr>
          <a:xfrm>
            <a:off x="79552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73" name="!!knobT2"/>
          <p:cNvSpPr txBox="1"/>
          <p:nvPr/>
        </p:nvSpPr>
        <p:spPr>
          <a:xfrm>
            <a:off x="923544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74" name="!!knobT3"/>
          <p:cNvSpPr txBox="1"/>
          <p:nvPr/>
        </p:nvSpPr>
        <p:spPr>
          <a:xfrm>
            <a:off x="1051560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75" name="!!knobT4"/>
          <p:cNvSpPr txBox="1"/>
          <p:nvPr/>
        </p:nvSpPr>
        <p:spPr>
          <a:xfrm>
            <a:off x="111556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76" name="!!knobThumb"/>
          <p:cNvSpPr/>
          <p:nvPr/>
        </p:nvSpPr>
        <p:spPr>
          <a:xfrm>
            <a:off x="9500616" y="5431536"/>
            <a:ext cx="201168" cy="201168"/>
          </a:xfrm>
          <a:prstGeom prst="ellipse">
            <a:avLst/>
          </a:prstGeom>
          <a:solidFill>
            <a:srgbClr val="FFFFFF"/>
          </a:solidFill>
          <a:ln w="28575">
            <a:solidFill>
              <a:srgbClr val="6B5BC4"/>
            </a:solidFill>
            <a:prstDash val="solid"/>
          </a:ln>
        </p:spPr>
      </p:sp>
      <p:sp>
        <p:nvSpPr>
          <p:cNvPr id="7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Current rises: heat grows and collects where the field is strongest.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90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Self-heating – Where the heat goes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Reproduced GAAFET,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raised step by step (Silvaco Atlas)</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171A20"/>
          </a:solidFill>
          <a:ln/>
        </p:spPr>
      </p:sp>
      <p:sp>
        <p:nvSpPr>
          <p:cNvPr id="6" name="!!sdot2"/>
          <p:cNvSpPr/>
          <p:nvPr/>
        </p:nvSpPr>
        <p:spPr>
          <a:xfrm>
            <a:off x="11132820" y="525780"/>
            <a:ext cx="82296" cy="82296"/>
          </a:xfrm>
          <a:prstGeom prst="ellipse">
            <a:avLst/>
          </a:prstGeom>
          <a:solidFill>
            <a:srgbClr val="171A20"/>
          </a:solidFill>
          <a:ln/>
        </p:spPr>
      </p:sp>
      <p:sp>
        <p:nvSpPr>
          <p:cNvPr id="7" name="!!sdot3"/>
          <p:cNvSpPr/>
          <p:nvPr/>
        </p:nvSpPr>
        <p:spPr>
          <a:xfrm>
            <a:off x="11288268" y="525780"/>
            <a:ext cx="82296" cy="82296"/>
          </a:xfrm>
          <a:prstGeom prst="ellipse">
            <a:avLst/>
          </a:prstGeom>
          <a:solidFill>
            <a:srgbClr val="171A20"/>
          </a:solidFill>
          <a:ln/>
        </p:spPr>
      </p:sp>
      <p:sp>
        <p:nvSpPr>
          <p:cNvPr id="8" name="!!sdot4"/>
          <p:cNvSpPr/>
          <p:nvPr/>
        </p:nvSpPr>
        <p:spPr>
          <a:xfrm>
            <a:off x="11443716" y="525780"/>
            <a:ext cx="82296" cy="82296"/>
          </a:xfrm>
          <a:prstGeom prst="ellipse">
            <a:avLst/>
          </a:prstGeom>
          <a:solidFill>
            <a:srgbClr val="E2E3E3"/>
          </a:solidFill>
          <a:ln/>
        </p:spPr>
      </p:sp>
      <p:sp>
        <p:nvSpPr>
          <p:cNvPr id="9" name="!!sdot5"/>
          <p:cNvSpPr/>
          <p:nvPr/>
        </p:nvSpPr>
        <p:spPr>
          <a:xfrm>
            <a:off x="11599164" y="525780"/>
            <a:ext cx="82296" cy="82296"/>
          </a:xfrm>
          <a:prstGeom prst="ellipse">
            <a:avLst/>
          </a:prstGeom>
          <a:solidFill>
            <a:srgbClr val="E2E3E3"/>
          </a:solidFill>
          <a:ln/>
        </p:spPr>
      </p:sp>
      <p:sp>
        <p:nvSpPr>
          <p:cNvPr id="10" name="!!hsS"/>
          <p:cNvSpPr/>
          <p:nvPr/>
        </p:nvSpPr>
        <p:spPr>
          <a:xfrm>
            <a:off x="640080" y="2011680"/>
            <a:ext cx="1463040" cy="2194560"/>
          </a:xfrm>
          <a:prstGeom prst="roundRect">
            <a:avLst>
              <a:gd name="adj" fmla="val 2500"/>
            </a:avLst>
          </a:prstGeom>
          <a:solidFill>
            <a:srgbClr val="7D9BE6"/>
          </a:solidFill>
          <a:ln/>
        </p:spPr>
      </p:sp>
      <p:sp>
        <p:nvSpPr>
          <p:cNvPr id="11" name="!!hsD"/>
          <p:cNvSpPr/>
          <p:nvPr/>
        </p:nvSpPr>
        <p:spPr>
          <a:xfrm>
            <a:off x="4389120" y="2011680"/>
            <a:ext cx="1463040" cy="2194560"/>
          </a:xfrm>
          <a:prstGeom prst="roundRect">
            <a:avLst>
              <a:gd name="adj" fmla="val 2500"/>
            </a:avLst>
          </a:prstGeom>
          <a:solidFill>
            <a:srgbClr val="7D9BE6"/>
          </a:solidFill>
          <a:ln/>
        </p:spPr>
      </p:sp>
      <p:sp>
        <p:nvSpPr>
          <p:cNvPr id="12" name="!!hsSL"/>
          <p:cNvSpPr txBox="1"/>
          <p:nvPr/>
        </p:nvSpPr>
        <p:spPr>
          <a:xfrm>
            <a:off x="64008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source</a:t>
            </a:r>
            <a:endParaRPr lang="en-US" sz="1100" dirty="0"/>
          </a:p>
        </p:txBody>
      </p:sp>
      <p:sp>
        <p:nvSpPr>
          <p:cNvPr id="13" name="!!hsDL"/>
          <p:cNvSpPr txBox="1"/>
          <p:nvPr/>
        </p:nvSpPr>
        <p:spPr>
          <a:xfrm>
            <a:off x="438912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drain</a:t>
            </a:r>
            <a:endParaRPr lang="en-US" sz="1100" dirty="0"/>
          </a:p>
        </p:txBody>
      </p:sp>
      <p:sp>
        <p:nvSpPr>
          <p:cNvPr id="14" name="!!hsSpL"/>
          <p:cNvSpPr/>
          <p:nvPr/>
        </p:nvSpPr>
        <p:spPr>
          <a:xfrm>
            <a:off x="2103120" y="2011680"/>
            <a:ext cx="320040" cy="2194560"/>
          </a:xfrm>
          <a:prstGeom prst="rect">
            <a:avLst/>
          </a:prstGeom>
          <a:solidFill>
            <a:srgbClr val="D9DCE3"/>
          </a:solidFill>
          <a:ln/>
        </p:spPr>
      </p:sp>
      <p:sp>
        <p:nvSpPr>
          <p:cNvPr id="15" name="!!hsSpR"/>
          <p:cNvSpPr/>
          <p:nvPr/>
        </p:nvSpPr>
        <p:spPr>
          <a:xfrm>
            <a:off x="4069080" y="2011680"/>
            <a:ext cx="320040" cy="2194560"/>
          </a:xfrm>
          <a:prstGeom prst="rect">
            <a:avLst/>
          </a:prstGeom>
          <a:solidFill>
            <a:srgbClr val="D9DCE3"/>
          </a:solidFill>
          <a:ln/>
        </p:spPr>
      </p:sp>
      <p:sp>
        <p:nvSpPr>
          <p:cNvPr id="16" name="!!hsG"/>
          <p:cNvSpPr/>
          <p:nvPr/>
        </p:nvSpPr>
        <p:spPr>
          <a:xfrm>
            <a:off x="2423160" y="2011680"/>
            <a:ext cx="1645920" cy="2194560"/>
          </a:xfrm>
          <a:prstGeom prst="rect">
            <a:avLst/>
          </a:prstGeom>
          <a:solidFill>
            <a:srgbClr val="B3A6E6"/>
          </a:solidFill>
          <a:ln/>
        </p:spPr>
      </p:sp>
      <p:sp>
        <p:nvSpPr>
          <p:cNvPr id="17" name="!!hsGL"/>
          <p:cNvSpPr txBox="1"/>
          <p:nvPr/>
        </p:nvSpPr>
        <p:spPr>
          <a:xfrm>
            <a:off x="2423160" y="2103120"/>
            <a:ext cx="1645920" cy="274320"/>
          </a:xfrm>
          <a:prstGeom prst="rect">
            <a:avLst/>
          </a:prstGeom>
          <a:noFill/>
          <a:ln/>
        </p:spPr>
        <p:txBody>
          <a:bodyPr wrap="square" lIns="0" tIns="0" rIns="0" bIns="0" rtlCol="0" anchor="t"/>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 (wraps)</a:t>
            </a:r>
            <a:endParaRPr lang="en-US" sz="1100" dirty="0"/>
          </a:p>
        </p:txBody>
      </p:sp>
      <p:sp>
        <p:nvSpPr>
          <p:cNvPr id="18" name="!!hsOx"/>
          <p:cNvSpPr/>
          <p:nvPr/>
        </p:nvSpPr>
        <p:spPr>
          <a:xfrm>
            <a:off x="2103120" y="2770632"/>
            <a:ext cx="2286000" cy="676656"/>
          </a:xfrm>
          <a:prstGeom prst="rect">
            <a:avLst/>
          </a:prstGeom>
          <a:solidFill>
            <a:srgbClr val="8FCBE0"/>
          </a:solidFill>
          <a:ln/>
        </p:spPr>
      </p:sp>
      <p:sp>
        <p:nvSpPr>
          <p:cNvPr id="19" name="!!hsW"/>
          <p:cNvSpPr/>
          <p:nvPr/>
        </p:nvSpPr>
        <p:spPr>
          <a:xfrm>
            <a:off x="2103120" y="2880360"/>
            <a:ext cx="2286000" cy="457200"/>
          </a:xfrm>
          <a:prstGeom prst="rect">
            <a:avLst/>
          </a:prstGeom>
          <a:solidFill>
            <a:srgbClr val="F6E7B8"/>
          </a:solidFill>
          <a:ln/>
        </p:spPr>
      </p:sp>
      <p:sp>
        <p:nvSpPr>
          <p:cNvPr id="20" name="!!hsC0"/>
          <p:cNvSpPr/>
          <p:nvPr/>
        </p:nvSpPr>
        <p:spPr>
          <a:xfrm>
            <a:off x="640080" y="1691640"/>
            <a:ext cx="1463040" cy="228600"/>
          </a:xfrm>
          <a:prstGeom prst="roundRect">
            <a:avLst>
              <a:gd name="adj" fmla="val 12000"/>
            </a:avLst>
          </a:prstGeom>
          <a:solidFill>
            <a:srgbClr val="171A20"/>
          </a:solidFill>
          <a:ln/>
        </p:spPr>
      </p:sp>
      <p:sp>
        <p:nvSpPr>
          <p:cNvPr id="21" name="!!hsCt0"/>
          <p:cNvSpPr txBox="1"/>
          <p:nvPr/>
        </p:nvSpPr>
        <p:spPr>
          <a:xfrm>
            <a:off x="64008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2" name="!!hsC1"/>
          <p:cNvSpPr/>
          <p:nvPr/>
        </p:nvSpPr>
        <p:spPr>
          <a:xfrm>
            <a:off x="2423160" y="1691640"/>
            <a:ext cx="1645920" cy="228600"/>
          </a:xfrm>
          <a:prstGeom prst="roundRect">
            <a:avLst>
              <a:gd name="adj" fmla="val 12000"/>
            </a:avLst>
          </a:prstGeom>
          <a:solidFill>
            <a:srgbClr val="171A20"/>
          </a:solidFill>
          <a:ln/>
        </p:spPr>
      </p:sp>
      <p:sp>
        <p:nvSpPr>
          <p:cNvPr id="23" name="!!hsCt1"/>
          <p:cNvSpPr txBox="1"/>
          <p:nvPr/>
        </p:nvSpPr>
        <p:spPr>
          <a:xfrm>
            <a:off x="2423160" y="1691640"/>
            <a:ext cx="164592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4" name="!!hsC2"/>
          <p:cNvSpPr/>
          <p:nvPr/>
        </p:nvSpPr>
        <p:spPr>
          <a:xfrm>
            <a:off x="4389120" y="1691640"/>
            <a:ext cx="1463040" cy="228600"/>
          </a:xfrm>
          <a:prstGeom prst="roundRect">
            <a:avLst>
              <a:gd name="adj" fmla="val 12000"/>
            </a:avLst>
          </a:prstGeom>
          <a:solidFill>
            <a:srgbClr val="171A20"/>
          </a:solidFill>
          <a:ln/>
        </p:spPr>
      </p:sp>
      <p:sp>
        <p:nvSpPr>
          <p:cNvPr id="25" name="!!hsCt2"/>
          <p:cNvSpPr txBox="1"/>
          <p:nvPr/>
        </p:nvSpPr>
        <p:spPr>
          <a:xfrm>
            <a:off x="438912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6" name="!!hsH0"/>
          <p:cNvSpPr/>
          <p:nvPr/>
        </p:nvSpPr>
        <p:spPr>
          <a:xfrm>
            <a:off x="3457532" y="2879018"/>
            <a:ext cx="1040215" cy="459885"/>
          </a:xfrm>
          <a:prstGeom prst="ellipse">
            <a:avLst/>
          </a:prstGeom>
          <a:solidFill>
            <a:srgbClr val="FFE1B3">
              <a:alpha val="85000"/>
            </a:srgbClr>
          </a:solidFill>
          <a:ln/>
        </p:spPr>
      </p:sp>
      <p:sp>
        <p:nvSpPr>
          <p:cNvPr id="27" name="!!hsH1"/>
          <p:cNvSpPr/>
          <p:nvPr/>
        </p:nvSpPr>
        <p:spPr>
          <a:xfrm>
            <a:off x="3600534" y="2942240"/>
            <a:ext cx="754211" cy="333441"/>
          </a:xfrm>
          <a:prstGeom prst="ellipse">
            <a:avLst/>
          </a:prstGeom>
          <a:solidFill>
            <a:srgbClr val="FFB36B">
              <a:alpha val="85000"/>
            </a:srgbClr>
          </a:solidFill>
          <a:ln/>
        </p:spPr>
      </p:sp>
      <p:sp>
        <p:nvSpPr>
          <p:cNvPr id="28" name="!!hsH2"/>
          <p:cNvSpPr/>
          <p:nvPr/>
        </p:nvSpPr>
        <p:spPr>
          <a:xfrm>
            <a:off x="3719703" y="2994925"/>
            <a:ext cx="515874" cy="228071"/>
          </a:xfrm>
          <a:prstGeom prst="ellipse">
            <a:avLst/>
          </a:prstGeom>
          <a:solidFill>
            <a:srgbClr val="F07A3A">
              <a:alpha val="85000"/>
            </a:srgbClr>
          </a:solidFill>
          <a:ln/>
        </p:spPr>
      </p:sp>
      <p:sp>
        <p:nvSpPr>
          <p:cNvPr id="29" name="!!hsH3"/>
          <p:cNvSpPr/>
          <p:nvPr/>
        </p:nvSpPr>
        <p:spPr>
          <a:xfrm>
            <a:off x="3815038" y="3037073"/>
            <a:ext cx="325205" cy="143775"/>
          </a:xfrm>
          <a:prstGeom prst="ellipse">
            <a:avLst/>
          </a:prstGeom>
          <a:solidFill>
            <a:srgbClr val="D64545">
              <a:alpha val="85000"/>
            </a:srgbClr>
          </a:solidFill>
          <a:ln/>
        </p:spPr>
      </p:sp>
      <p:sp>
        <p:nvSpPr>
          <p:cNvPr id="30" name="!!hsA0"/>
          <p:cNvSpPr/>
          <p:nvPr/>
        </p:nvSpPr>
        <p:spPr>
          <a:xfrm>
            <a:off x="2240280" y="3108960"/>
            <a:ext cx="457200" cy="91"/>
          </a:xfrm>
          <a:prstGeom prst="line">
            <a:avLst/>
          </a:prstGeom>
          <a:noFill/>
          <a:ln w="25400">
            <a:solidFill>
              <a:srgbClr val="1F2F6B"/>
            </a:solidFill>
            <a:prstDash val="solid"/>
            <a:tailEnd type="triangle"/>
          </a:ln>
        </p:spPr>
      </p:sp>
      <p:sp>
        <p:nvSpPr>
          <p:cNvPr id="31" name="!!hsA1"/>
          <p:cNvSpPr/>
          <p:nvPr/>
        </p:nvSpPr>
        <p:spPr>
          <a:xfrm>
            <a:off x="2880360" y="3108960"/>
            <a:ext cx="457200" cy="91"/>
          </a:xfrm>
          <a:prstGeom prst="line">
            <a:avLst/>
          </a:prstGeom>
          <a:noFill/>
          <a:ln w="25400">
            <a:solidFill>
              <a:srgbClr val="1F2F6B"/>
            </a:solidFill>
            <a:prstDash val="solid"/>
            <a:tailEnd type="triangle"/>
          </a:ln>
        </p:spPr>
      </p:sp>
      <p:sp>
        <p:nvSpPr>
          <p:cNvPr id="32" name="!!hsA2"/>
          <p:cNvSpPr/>
          <p:nvPr/>
        </p:nvSpPr>
        <p:spPr>
          <a:xfrm>
            <a:off x="3520440" y="3108960"/>
            <a:ext cx="457200" cy="91"/>
          </a:xfrm>
          <a:prstGeom prst="line">
            <a:avLst/>
          </a:prstGeom>
          <a:noFill/>
          <a:ln w="25400">
            <a:solidFill>
              <a:srgbClr val="1F2F6B"/>
            </a:solidFill>
            <a:prstDash val="solid"/>
            <a:tailEnd type="triangle"/>
          </a:ln>
        </p:spPr>
      </p:sp>
      <p:sp>
        <p:nvSpPr>
          <p:cNvPr id="33" name="!!hsHL"/>
          <p:cNvSpPr txBox="1"/>
          <p:nvPr/>
        </p:nvSpPr>
        <p:spPr>
          <a:xfrm>
            <a:off x="3291840" y="4297680"/>
            <a:ext cx="1828800" cy="228600"/>
          </a:xfrm>
          <a:prstGeom prst="rect">
            <a:avLst/>
          </a:prstGeom>
          <a:noFill/>
          <a:ln/>
        </p:spPr>
        <p:txBody>
          <a:bodyPr wrap="square" lIns="0" tIns="0" rIns="0" bIns="0" rtlCol="0" anchor="t"/>
          <a:lstStyle/>
          <a:p>
            <a:pPr algn="ctr" indent="0" marL="0">
              <a:buNone/>
            </a:pPr>
            <a:r>
              <a:rPr lang="en-US" sz="1000" dirty="0">
                <a:solidFill>
                  <a:srgbClr val="E07B00"/>
                </a:solidFill>
                <a:latin typeface="Segoe UI Semibold" pitchFamily="34" charset="0"/>
                <a:ea typeface="Segoe UI Semibold" pitchFamily="34" charset="-122"/>
                <a:cs typeface="Segoe UI Semibold" pitchFamily="34" charset="-120"/>
              </a:rPr>
              <a:t>hot spot: drain end</a:t>
            </a:r>
            <a:endParaRPr lang="en-US" sz="1000" dirty="0"/>
          </a:p>
        </p:txBody>
      </p:sp>
      <p:sp>
        <p:nvSpPr>
          <p:cNvPr id="34" name="!!axg0"/>
          <p:cNvSpPr/>
          <p:nvPr/>
        </p:nvSpPr>
        <p:spPr>
          <a:xfrm>
            <a:off x="7315200" y="4023360"/>
            <a:ext cx="4206240" cy="91"/>
          </a:xfrm>
          <a:prstGeom prst="line">
            <a:avLst/>
          </a:prstGeom>
          <a:noFill/>
          <a:ln w="9525">
            <a:solidFill>
              <a:srgbClr val="EDEEF0"/>
            </a:solidFill>
            <a:prstDash val="solid"/>
          </a:ln>
        </p:spPr>
      </p:sp>
      <p:sp>
        <p:nvSpPr>
          <p:cNvPr id="35" name="!!axg1"/>
          <p:cNvSpPr/>
          <p:nvPr/>
        </p:nvSpPr>
        <p:spPr>
          <a:xfrm>
            <a:off x="7315200" y="3547872"/>
            <a:ext cx="4206240" cy="91"/>
          </a:xfrm>
          <a:prstGeom prst="line">
            <a:avLst/>
          </a:prstGeom>
          <a:noFill/>
          <a:ln w="9525">
            <a:solidFill>
              <a:srgbClr val="EDEEF0"/>
            </a:solidFill>
            <a:prstDash val="solid"/>
          </a:ln>
        </p:spPr>
      </p:sp>
      <p:sp>
        <p:nvSpPr>
          <p:cNvPr id="36" name="!!axg2"/>
          <p:cNvSpPr/>
          <p:nvPr/>
        </p:nvSpPr>
        <p:spPr>
          <a:xfrm>
            <a:off x="7315200" y="3072384"/>
            <a:ext cx="4206240" cy="91"/>
          </a:xfrm>
          <a:prstGeom prst="line">
            <a:avLst/>
          </a:prstGeom>
          <a:noFill/>
          <a:ln w="9525">
            <a:solidFill>
              <a:srgbClr val="EDEEF0"/>
            </a:solidFill>
            <a:prstDash val="solid"/>
          </a:ln>
        </p:spPr>
      </p:sp>
      <p:sp>
        <p:nvSpPr>
          <p:cNvPr id="37" name="!!axg3"/>
          <p:cNvSpPr/>
          <p:nvPr/>
        </p:nvSpPr>
        <p:spPr>
          <a:xfrm>
            <a:off x="7315200" y="2596896"/>
            <a:ext cx="4206240" cy="91"/>
          </a:xfrm>
          <a:prstGeom prst="line">
            <a:avLst/>
          </a:prstGeom>
          <a:noFill/>
          <a:ln w="9525">
            <a:solidFill>
              <a:srgbClr val="EDEEF0"/>
            </a:solidFill>
            <a:prstDash val="solid"/>
          </a:ln>
        </p:spPr>
      </p:sp>
      <p:sp>
        <p:nvSpPr>
          <p:cNvPr id="38" name="!!axg4"/>
          <p:cNvSpPr/>
          <p:nvPr/>
        </p:nvSpPr>
        <p:spPr>
          <a:xfrm>
            <a:off x="7315200" y="2121408"/>
            <a:ext cx="4206240" cy="91"/>
          </a:xfrm>
          <a:prstGeom prst="line">
            <a:avLst/>
          </a:prstGeom>
          <a:noFill/>
          <a:ln w="9525">
            <a:solidFill>
              <a:srgbClr val="EDEEF0"/>
            </a:solidFill>
            <a:prstDash val="solid"/>
          </a:ln>
        </p:spPr>
      </p:sp>
      <p:sp>
        <p:nvSpPr>
          <p:cNvPr id="39" name="!!axg5"/>
          <p:cNvSpPr/>
          <p:nvPr/>
        </p:nvSpPr>
        <p:spPr>
          <a:xfrm>
            <a:off x="7315200" y="1645920"/>
            <a:ext cx="4206240" cy="91"/>
          </a:xfrm>
          <a:prstGeom prst="line">
            <a:avLst/>
          </a:prstGeom>
          <a:noFill/>
          <a:ln w="9525">
            <a:solidFill>
              <a:srgbClr val="EDEEF0"/>
            </a:solidFill>
            <a:prstDash val="solid"/>
          </a:ln>
        </p:spPr>
      </p:sp>
      <p:sp>
        <p:nvSpPr>
          <p:cNvPr id="40" name="!!axxa"/>
          <p:cNvSpPr/>
          <p:nvPr/>
        </p:nvSpPr>
        <p:spPr>
          <a:xfrm>
            <a:off x="7315200" y="4023360"/>
            <a:ext cx="4206240" cy="91"/>
          </a:xfrm>
          <a:prstGeom prst="line">
            <a:avLst/>
          </a:prstGeom>
          <a:noFill/>
          <a:ln w="12700">
            <a:solidFill>
              <a:srgbClr val="8A8D93"/>
            </a:solidFill>
            <a:prstDash val="solid"/>
          </a:ln>
        </p:spPr>
      </p:sp>
      <p:sp>
        <p:nvSpPr>
          <p:cNvPr id="41" name="!!axya"/>
          <p:cNvSpPr/>
          <p:nvPr/>
        </p:nvSpPr>
        <p:spPr>
          <a:xfrm>
            <a:off x="7315200" y="1645920"/>
            <a:ext cx="91" cy="2377440"/>
          </a:xfrm>
          <a:prstGeom prst="line">
            <a:avLst/>
          </a:prstGeom>
          <a:noFill/>
          <a:ln w="12700">
            <a:solidFill>
              <a:srgbClr val="8A8D93"/>
            </a:solidFill>
            <a:prstDash val="solid"/>
          </a:ln>
        </p:spPr>
      </p:sp>
      <p:sp>
        <p:nvSpPr>
          <p:cNvPr id="42" name="!!axxt0"/>
          <p:cNvSpPr txBox="1"/>
          <p:nvPr/>
        </p:nvSpPr>
        <p:spPr>
          <a:xfrm>
            <a:off x="699516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3" name="!!axxt1"/>
          <p:cNvSpPr txBox="1"/>
          <p:nvPr/>
        </p:nvSpPr>
        <p:spPr>
          <a:xfrm>
            <a:off x="804672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5</a:t>
            </a:r>
            <a:endParaRPr lang="en-US" sz="900" dirty="0"/>
          </a:p>
        </p:txBody>
      </p:sp>
      <p:sp>
        <p:nvSpPr>
          <p:cNvPr id="44" name="!!axxt2"/>
          <p:cNvSpPr txBox="1"/>
          <p:nvPr/>
        </p:nvSpPr>
        <p:spPr>
          <a:xfrm>
            <a:off x="909828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45" name="!!axxt3"/>
          <p:cNvSpPr txBox="1"/>
          <p:nvPr/>
        </p:nvSpPr>
        <p:spPr>
          <a:xfrm>
            <a:off x="1014984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15</a:t>
            </a:r>
            <a:endParaRPr lang="en-US" sz="900" dirty="0"/>
          </a:p>
        </p:txBody>
      </p:sp>
      <p:sp>
        <p:nvSpPr>
          <p:cNvPr id="46" name="!!axxt4"/>
          <p:cNvSpPr txBox="1"/>
          <p:nvPr/>
        </p:nvSpPr>
        <p:spPr>
          <a:xfrm>
            <a:off x="1120140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47" name="!!axyt0"/>
          <p:cNvSpPr txBox="1"/>
          <p:nvPr/>
        </p:nvSpPr>
        <p:spPr>
          <a:xfrm>
            <a:off x="6629400" y="39227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8" name="!!axyt1"/>
          <p:cNvSpPr txBox="1"/>
          <p:nvPr/>
        </p:nvSpPr>
        <p:spPr>
          <a:xfrm>
            <a:off x="6629400" y="3447288"/>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49" name="!!axyt2"/>
          <p:cNvSpPr txBox="1"/>
          <p:nvPr/>
        </p:nvSpPr>
        <p:spPr>
          <a:xfrm>
            <a:off x="6629400" y="297180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50" name="!!axyt3"/>
          <p:cNvSpPr txBox="1"/>
          <p:nvPr/>
        </p:nvSpPr>
        <p:spPr>
          <a:xfrm>
            <a:off x="6629400" y="249631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30</a:t>
            </a:r>
            <a:endParaRPr lang="en-US" sz="900" dirty="0"/>
          </a:p>
        </p:txBody>
      </p:sp>
      <p:sp>
        <p:nvSpPr>
          <p:cNvPr id="51" name="!!axyt4"/>
          <p:cNvSpPr txBox="1"/>
          <p:nvPr/>
        </p:nvSpPr>
        <p:spPr>
          <a:xfrm>
            <a:off x="6629400" y="2020824"/>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40</a:t>
            </a:r>
            <a:endParaRPr lang="en-US" sz="900" dirty="0"/>
          </a:p>
        </p:txBody>
      </p:sp>
      <p:sp>
        <p:nvSpPr>
          <p:cNvPr id="52" name="!!axyt5"/>
          <p:cNvSpPr txBox="1"/>
          <p:nvPr/>
        </p:nvSpPr>
        <p:spPr>
          <a:xfrm>
            <a:off x="6629400" y="1545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50</a:t>
            </a:r>
            <a:endParaRPr lang="en-US" sz="900" dirty="0"/>
          </a:p>
        </p:txBody>
      </p:sp>
      <p:sp>
        <p:nvSpPr>
          <p:cNvPr id="53" name="!!axxl"/>
          <p:cNvSpPr txBox="1"/>
          <p:nvPr/>
        </p:nvSpPr>
        <p:spPr>
          <a:xfrm>
            <a:off x="7315200" y="429768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power P = I</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·V</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 (µW)</a:t>
            </a:r>
            <a:endParaRPr lang="en-US" sz="1100" dirty="0"/>
          </a:p>
        </p:txBody>
      </p:sp>
      <p:sp>
        <p:nvSpPr>
          <p:cNvPr id="54" name="!!axyl"/>
          <p:cNvSpPr txBox="1"/>
          <p:nvPr/>
        </p:nvSpPr>
        <p:spPr>
          <a:xfrm>
            <a:off x="7132320" y="134416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temperature rise ΔT (K)</a:t>
            </a:r>
            <a:endParaRPr lang="en-US" sz="1100" dirty="0"/>
          </a:p>
        </p:txBody>
      </p:sp>
      <p:sp>
        <p:nvSpPr>
          <p:cNvPr id="55" name="!!ivGhost"/>
          <p:cNvSpPr/>
          <p:nvPr/>
        </p:nvSpPr>
        <p:spPr>
          <a:xfrm>
            <a:off x="7315292" y="1949567"/>
            <a:ext cx="4043953" cy="2073746"/>
          </a:xfrm>
          <a:custGeom>
            <a:avLst/>
            <a:gdLst/>
            <a:ahLst/>
            <a:cxnLst/>
            <a:rect l="l" t="t" r="r" b="b"/>
            <a:pathLst>
              <a:path w="4043953" h="2073746">
                <a:moveTo>
                  <a:pt x="0" y="2073746"/>
                </a:moveTo>
                <a:lnTo>
                  <a:pt x="118" y="2073698"/>
                </a:lnTo>
                <a:lnTo>
                  <a:pt x="397" y="2073603"/>
                </a:lnTo>
                <a:lnTo>
                  <a:pt x="1051" y="2072890"/>
                </a:lnTo>
                <a:lnTo>
                  <a:pt x="2580" y="2071701"/>
                </a:lnTo>
                <a:lnTo>
                  <a:pt x="6115" y="2069038"/>
                </a:lnTo>
                <a:lnTo>
                  <a:pt x="14143" y="2063095"/>
                </a:lnTo>
                <a:lnTo>
                  <a:pt x="31548" y="2050447"/>
                </a:lnTo>
                <a:lnTo>
                  <a:pt x="66537" y="2025722"/>
                </a:lnTo>
                <a:lnTo>
                  <a:pt x="130427" y="1981739"/>
                </a:lnTo>
                <a:lnTo>
                  <a:pt x="234345" y="1911700"/>
                </a:lnTo>
                <a:lnTo>
                  <a:pt x="374271" y="1820976"/>
                </a:lnTo>
                <a:lnTo>
                  <a:pt x="530663" y="1723359"/>
                </a:lnTo>
                <a:lnTo>
                  <a:pt x="687612" y="1629260"/>
                </a:lnTo>
                <a:lnTo>
                  <a:pt x="850162" y="1535208"/>
                </a:lnTo>
                <a:lnTo>
                  <a:pt x="1023544" y="1437923"/>
                </a:lnTo>
                <a:lnTo>
                  <a:pt x="1208773" y="1336026"/>
                </a:lnTo>
                <a:lnTo>
                  <a:pt x="1405305" y="1230658"/>
                </a:lnTo>
                <a:lnTo>
                  <a:pt x="1612229" y="1122342"/>
                </a:lnTo>
                <a:lnTo>
                  <a:pt x="1828478" y="1011838"/>
                </a:lnTo>
                <a:lnTo>
                  <a:pt x="2053016" y="899718"/>
                </a:lnTo>
                <a:lnTo>
                  <a:pt x="2284826" y="786600"/>
                </a:lnTo>
                <a:lnTo>
                  <a:pt x="2523011" y="672863"/>
                </a:lnTo>
                <a:lnTo>
                  <a:pt x="2766731" y="559174"/>
                </a:lnTo>
                <a:lnTo>
                  <a:pt x="3015206" y="445818"/>
                </a:lnTo>
                <a:lnTo>
                  <a:pt x="3267759" y="332984"/>
                </a:lnTo>
                <a:lnTo>
                  <a:pt x="3523772" y="220959"/>
                </a:lnTo>
                <a:lnTo>
                  <a:pt x="3782670" y="109885"/>
                </a:lnTo>
                <a:lnTo>
                  <a:pt x="4043953" y="0"/>
                </a:lnTo>
              </a:path>
            </a:pathLst>
          </a:custGeom>
          <a:ln w="25400">
            <a:solidFill>
              <a:srgbClr val="C9CCD3"/>
            </a:solidFill>
            <a:prstDash val="solid"/>
          </a:ln>
        </p:spPr>
      </p:sp>
      <p:sp>
        <p:nvSpPr>
          <p:cNvPr id="56" name="!!ivTrail"/>
          <p:cNvSpPr/>
          <p:nvPr/>
        </p:nvSpPr>
        <p:spPr>
          <a:xfrm>
            <a:off x="7315292" y="2849285"/>
            <a:ext cx="2053016" cy="1174027"/>
          </a:xfrm>
          <a:custGeom>
            <a:avLst/>
            <a:gdLst/>
            <a:ahLst/>
            <a:cxnLst/>
            <a:rect l="l" t="t" r="r" b="b"/>
            <a:pathLst>
              <a:path w="2053016" h="1174027">
                <a:moveTo>
                  <a:pt x="0" y="1174027"/>
                </a:moveTo>
                <a:lnTo>
                  <a:pt x="118" y="1173980"/>
                </a:lnTo>
                <a:lnTo>
                  <a:pt x="397" y="1173885"/>
                </a:lnTo>
                <a:lnTo>
                  <a:pt x="1051" y="1173172"/>
                </a:lnTo>
                <a:lnTo>
                  <a:pt x="2580" y="1171983"/>
                </a:lnTo>
                <a:lnTo>
                  <a:pt x="6115" y="1169320"/>
                </a:lnTo>
                <a:lnTo>
                  <a:pt x="14143" y="1163376"/>
                </a:lnTo>
                <a:lnTo>
                  <a:pt x="31548" y="1150729"/>
                </a:lnTo>
                <a:lnTo>
                  <a:pt x="66537" y="1126003"/>
                </a:lnTo>
                <a:lnTo>
                  <a:pt x="130427" y="1082020"/>
                </a:lnTo>
                <a:lnTo>
                  <a:pt x="234345" y="1011981"/>
                </a:lnTo>
                <a:lnTo>
                  <a:pt x="374271" y="921258"/>
                </a:lnTo>
                <a:lnTo>
                  <a:pt x="530663" y="823640"/>
                </a:lnTo>
                <a:lnTo>
                  <a:pt x="687612" y="729541"/>
                </a:lnTo>
                <a:lnTo>
                  <a:pt x="850162" y="635490"/>
                </a:lnTo>
                <a:lnTo>
                  <a:pt x="1023544" y="538205"/>
                </a:lnTo>
                <a:lnTo>
                  <a:pt x="1208773" y="436308"/>
                </a:lnTo>
                <a:lnTo>
                  <a:pt x="1405305" y="330940"/>
                </a:lnTo>
                <a:lnTo>
                  <a:pt x="1612229" y="222623"/>
                </a:lnTo>
                <a:lnTo>
                  <a:pt x="1828478" y="112120"/>
                </a:lnTo>
                <a:lnTo>
                  <a:pt x="2053016" y="0"/>
                </a:lnTo>
              </a:path>
            </a:pathLst>
          </a:custGeom>
          <a:ln w="38100">
            <a:solidFill>
              <a:srgbClr val="E07B00"/>
            </a:solidFill>
            <a:prstDash val="solid"/>
          </a:ln>
        </p:spPr>
      </p:sp>
      <p:sp>
        <p:nvSpPr>
          <p:cNvPr id="57" name="!!ivPt"/>
          <p:cNvSpPr/>
          <p:nvPr/>
        </p:nvSpPr>
        <p:spPr>
          <a:xfrm>
            <a:off x="9286012" y="2766941"/>
            <a:ext cx="164592" cy="164592"/>
          </a:xfrm>
          <a:prstGeom prst="ellipse">
            <a:avLst/>
          </a:prstGeom>
          <a:solidFill>
            <a:srgbClr val="D64545"/>
          </a:solidFill>
          <a:ln w="19050">
            <a:solidFill>
              <a:srgbClr val="FFFFFF"/>
            </a:solidFill>
            <a:prstDash val="solid"/>
          </a:ln>
        </p:spPr>
      </p:sp>
      <p:sp>
        <p:nvSpPr>
          <p:cNvPr id="58" name="!!ivPtL"/>
          <p:cNvSpPr txBox="1"/>
          <p:nvPr/>
        </p:nvSpPr>
        <p:spPr>
          <a:xfrm>
            <a:off x="8453908" y="2520053"/>
            <a:ext cx="868680" cy="219456"/>
          </a:xfrm>
          <a:prstGeom prst="rect">
            <a:avLst/>
          </a:prstGeom>
          <a:noFill/>
          <a:ln/>
        </p:spPr>
        <p:txBody>
          <a:bodyPr wrap="square" lIns="0" tIns="0" rIns="0" bIns="0" rtlCol="0" anchor="t"/>
          <a:lstStyle/>
          <a:p>
            <a:pPr algn="r" indent="0" marL="0">
              <a:buNone/>
            </a:pPr>
            <a:r>
              <a:rPr lang="en-US" sz="1100" dirty="0">
                <a:solidFill>
                  <a:srgbClr val="D64545"/>
                </a:solidFill>
                <a:latin typeface="Segoe UI Semibold" pitchFamily="34" charset="0"/>
                <a:ea typeface="Segoe UI Semibold" pitchFamily="34" charset="-122"/>
                <a:cs typeface="Segoe UI Semibold" pitchFamily="34" charset="-120"/>
              </a:rPr>
              <a:t>24.7 K</a:t>
            </a:r>
            <a:endParaRPr lang="en-US" sz="1100" dirty="0"/>
          </a:p>
        </p:txBody>
      </p:sp>
      <p:sp>
        <p:nvSpPr>
          <p:cNvPr id="59" name="!!chip0"/>
          <p:cNvSpPr/>
          <p:nvPr/>
        </p:nvSpPr>
        <p:spPr>
          <a:xfrm>
            <a:off x="6858000" y="4434840"/>
            <a:ext cx="1508760" cy="658368"/>
          </a:xfrm>
          <a:prstGeom prst="roundRect">
            <a:avLst>
              <a:gd name="adj" fmla="val 8333"/>
            </a:avLst>
          </a:prstGeom>
          <a:solidFill>
            <a:srgbClr val="F4F5F7"/>
          </a:solidFill>
          <a:ln/>
        </p:spPr>
      </p:sp>
      <p:sp>
        <p:nvSpPr>
          <p:cNvPr id="60" name="!!chipk0"/>
          <p:cNvSpPr txBox="1"/>
          <p:nvPr/>
        </p:nvSpPr>
        <p:spPr>
          <a:xfrm>
            <a:off x="6967728"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power P</a:t>
            </a:r>
            <a:endParaRPr lang="en-US" sz="1000" dirty="0"/>
          </a:p>
        </p:txBody>
      </p:sp>
      <p:sp>
        <p:nvSpPr>
          <p:cNvPr id="61" name="!!chipv0"/>
          <p:cNvSpPr txBox="1"/>
          <p:nvPr/>
        </p:nvSpPr>
        <p:spPr>
          <a:xfrm>
            <a:off x="6967728"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9.8 µW</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62" name="!!chip1"/>
          <p:cNvSpPr/>
          <p:nvPr/>
        </p:nvSpPr>
        <p:spPr>
          <a:xfrm>
            <a:off x="8476488" y="4434840"/>
            <a:ext cx="1508760" cy="658368"/>
          </a:xfrm>
          <a:prstGeom prst="roundRect">
            <a:avLst>
              <a:gd name="adj" fmla="val 8333"/>
            </a:avLst>
          </a:prstGeom>
          <a:solidFill>
            <a:srgbClr val="F4F5F7"/>
          </a:solidFill>
          <a:ln/>
        </p:spPr>
      </p:sp>
      <p:sp>
        <p:nvSpPr>
          <p:cNvPr id="63" name="!!chipk1"/>
          <p:cNvSpPr txBox="1"/>
          <p:nvPr/>
        </p:nvSpPr>
        <p:spPr>
          <a:xfrm>
            <a:off x="8586216"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rise ΔT</a:t>
            </a:r>
            <a:endParaRPr lang="en-US" sz="1000" dirty="0"/>
          </a:p>
        </p:txBody>
      </p:sp>
      <p:sp>
        <p:nvSpPr>
          <p:cNvPr id="64" name="!!chipv1"/>
          <p:cNvSpPr txBox="1"/>
          <p:nvPr/>
        </p:nvSpPr>
        <p:spPr>
          <a:xfrm>
            <a:off x="8586216"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24.7 K</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65" name="!!chip2"/>
          <p:cNvSpPr/>
          <p:nvPr/>
        </p:nvSpPr>
        <p:spPr>
          <a:xfrm>
            <a:off x="10094976" y="4434840"/>
            <a:ext cx="1508760" cy="658368"/>
          </a:xfrm>
          <a:prstGeom prst="roundRect">
            <a:avLst>
              <a:gd name="adj" fmla="val 8333"/>
            </a:avLst>
          </a:prstGeom>
          <a:solidFill>
            <a:srgbClr val="F4F5F7"/>
          </a:solidFill>
          <a:ln/>
        </p:spPr>
      </p:sp>
      <p:sp>
        <p:nvSpPr>
          <p:cNvPr id="66" name="!!chipk2"/>
          <p:cNvSpPr txBox="1"/>
          <p:nvPr/>
        </p:nvSpPr>
        <p:spPr>
          <a:xfrm>
            <a:off x="10204704"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R</a:t>
            </a:r>
            <a:pPr algn="l" indent="0" marL="0">
              <a:buNone/>
            </a:pPr>
            <a:r>
              <a:rPr lang="en-US" sz="1000" baseline="-40000" dirty="0">
                <a:solidFill>
                  <a:srgbClr val="5C5E62"/>
                </a:solidFill>
                <a:latin typeface="Segoe UI" pitchFamily="34" charset="0"/>
                <a:ea typeface="Segoe UI" pitchFamily="34" charset="-122"/>
                <a:cs typeface="Segoe UI" pitchFamily="34" charset="-120"/>
              </a:rPr>
              <a:t>th</a:t>
            </a:r>
            <a:pPr algn="l" indent="0" marL="0">
              <a:buNone/>
            </a:pPr>
            <a:r>
              <a:rPr lang="en-US" sz="1000" dirty="0">
                <a:solidFill>
                  <a:srgbClr val="5C5E62"/>
                </a:solidFill>
                <a:latin typeface="Segoe UI" pitchFamily="34" charset="0"/>
                <a:ea typeface="Segoe UI" pitchFamily="34" charset="-122"/>
                <a:cs typeface="Segoe UI" pitchFamily="34" charset="-120"/>
              </a:rPr>
              <a:t> = ΔT / P</a:t>
            </a:r>
            <a:endParaRPr lang="en-US" sz="1000" dirty="0"/>
          </a:p>
        </p:txBody>
      </p:sp>
      <p:sp>
        <p:nvSpPr>
          <p:cNvPr id="67" name="!!chipv2"/>
          <p:cNvSpPr txBox="1"/>
          <p:nvPr/>
        </p:nvSpPr>
        <p:spPr>
          <a:xfrm>
            <a:off x="10204704"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2.53 K/µW</a:t>
            </a:r>
            <a:endParaRPr lang="en-US" sz="1500" dirty="0"/>
          </a:p>
        </p:txBody>
      </p:sp>
      <p:sp>
        <p:nvSpPr>
          <p:cNvPr id="68" name="!!knobLbl"/>
          <p:cNvSpPr txBox="1"/>
          <p:nvPr/>
        </p:nvSpPr>
        <p:spPr>
          <a:xfrm>
            <a:off x="7022592" y="512064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0.5 V</a:t>
            </a:r>
            <a:endParaRPr lang="en-US" sz="1200" dirty="0"/>
          </a:p>
        </p:txBody>
      </p:sp>
      <p:sp>
        <p:nvSpPr>
          <p:cNvPr id="69" name="!!knobTrack"/>
          <p:cNvSpPr/>
          <p:nvPr/>
        </p:nvSpPr>
        <p:spPr>
          <a:xfrm>
            <a:off x="7040880" y="5504688"/>
            <a:ext cx="4480560" cy="54864"/>
          </a:xfrm>
          <a:prstGeom prst="roundRect">
            <a:avLst>
              <a:gd name="adj" fmla="val 50000"/>
            </a:avLst>
          </a:prstGeom>
          <a:solidFill>
            <a:srgbClr val="E2E3E3"/>
          </a:solidFill>
          <a:ln/>
        </p:spPr>
      </p:sp>
      <p:sp>
        <p:nvSpPr>
          <p:cNvPr id="70" name="!!knobFill"/>
          <p:cNvSpPr/>
          <p:nvPr/>
        </p:nvSpPr>
        <p:spPr>
          <a:xfrm>
            <a:off x="7040880" y="5504688"/>
            <a:ext cx="3200400" cy="54864"/>
          </a:xfrm>
          <a:prstGeom prst="roundRect">
            <a:avLst>
              <a:gd name="adj" fmla="val 50000"/>
            </a:avLst>
          </a:prstGeom>
          <a:solidFill>
            <a:srgbClr val="6B5BC4"/>
          </a:solidFill>
          <a:ln/>
        </p:spPr>
      </p:sp>
      <p:sp>
        <p:nvSpPr>
          <p:cNvPr id="71" name="!!knobT0"/>
          <p:cNvSpPr txBox="1"/>
          <p:nvPr/>
        </p:nvSpPr>
        <p:spPr>
          <a:xfrm>
            <a:off x="667512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72" name="!!knobT1"/>
          <p:cNvSpPr txBox="1"/>
          <p:nvPr/>
        </p:nvSpPr>
        <p:spPr>
          <a:xfrm>
            <a:off x="79552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73" name="!!knobT2"/>
          <p:cNvSpPr txBox="1"/>
          <p:nvPr/>
        </p:nvSpPr>
        <p:spPr>
          <a:xfrm>
            <a:off x="923544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74" name="!!knobT3"/>
          <p:cNvSpPr txBox="1"/>
          <p:nvPr/>
        </p:nvSpPr>
        <p:spPr>
          <a:xfrm>
            <a:off x="1051560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75" name="!!knobT4"/>
          <p:cNvSpPr txBox="1"/>
          <p:nvPr/>
        </p:nvSpPr>
        <p:spPr>
          <a:xfrm>
            <a:off x="111556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76" name="!!knobThumb"/>
          <p:cNvSpPr/>
          <p:nvPr/>
        </p:nvSpPr>
        <p:spPr>
          <a:xfrm>
            <a:off x="10140696" y="5431536"/>
            <a:ext cx="201168" cy="201168"/>
          </a:xfrm>
          <a:prstGeom prst="ellipse">
            <a:avLst/>
          </a:prstGeom>
          <a:solidFill>
            <a:srgbClr val="FFFFFF"/>
          </a:solidFill>
          <a:ln w="28575">
            <a:solidFill>
              <a:srgbClr val="6B5BC4"/>
            </a:solidFill>
            <a:prstDash val="solid"/>
          </a:ln>
        </p:spPr>
      </p:sp>
      <p:sp>
        <p:nvSpPr>
          <p:cNvPr id="7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More current, more heat: the oxide around the wire holds it in.</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91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Self-heating – Where the heat goes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Reproduced GAAFET,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raised step by step (Silvaco Atlas)</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171A20"/>
          </a:solidFill>
          <a:ln/>
        </p:spPr>
      </p:sp>
      <p:sp>
        <p:nvSpPr>
          <p:cNvPr id="6" name="!!sdot2"/>
          <p:cNvSpPr/>
          <p:nvPr/>
        </p:nvSpPr>
        <p:spPr>
          <a:xfrm>
            <a:off x="11132820" y="525780"/>
            <a:ext cx="82296" cy="82296"/>
          </a:xfrm>
          <a:prstGeom prst="ellipse">
            <a:avLst/>
          </a:prstGeom>
          <a:solidFill>
            <a:srgbClr val="171A20"/>
          </a:solidFill>
          <a:ln/>
        </p:spPr>
      </p:sp>
      <p:sp>
        <p:nvSpPr>
          <p:cNvPr id="7" name="!!sdot3"/>
          <p:cNvSpPr/>
          <p:nvPr/>
        </p:nvSpPr>
        <p:spPr>
          <a:xfrm>
            <a:off x="11288268" y="525780"/>
            <a:ext cx="82296" cy="82296"/>
          </a:xfrm>
          <a:prstGeom prst="ellipse">
            <a:avLst/>
          </a:prstGeom>
          <a:solidFill>
            <a:srgbClr val="171A20"/>
          </a:solidFill>
          <a:ln/>
        </p:spPr>
      </p:sp>
      <p:sp>
        <p:nvSpPr>
          <p:cNvPr id="8" name="!!sdot4"/>
          <p:cNvSpPr/>
          <p:nvPr/>
        </p:nvSpPr>
        <p:spPr>
          <a:xfrm>
            <a:off x="11443716" y="525780"/>
            <a:ext cx="82296" cy="82296"/>
          </a:xfrm>
          <a:prstGeom prst="ellipse">
            <a:avLst/>
          </a:prstGeom>
          <a:solidFill>
            <a:srgbClr val="171A20"/>
          </a:solidFill>
          <a:ln/>
        </p:spPr>
      </p:sp>
      <p:sp>
        <p:nvSpPr>
          <p:cNvPr id="9" name="!!sdot5"/>
          <p:cNvSpPr/>
          <p:nvPr/>
        </p:nvSpPr>
        <p:spPr>
          <a:xfrm>
            <a:off x="11599164" y="525780"/>
            <a:ext cx="82296" cy="82296"/>
          </a:xfrm>
          <a:prstGeom prst="ellipse">
            <a:avLst/>
          </a:prstGeom>
          <a:solidFill>
            <a:srgbClr val="E2E3E3"/>
          </a:solidFill>
          <a:ln/>
        </p:spPr>
      </p:sp>
      <p:sp>
        <p:nvSpPr>
          <p:cNvPr id="10" name="!!hsS"/>
          <p:cNvSpPr/>
          <p:nvPr/>
        </p:nvSpPr>
        <p:spPr>
          <a:xfrm>
            <a:off x="640080" y="2011680"/>
            <a:ext cx="1463040" cy="2194560"/>
          </a:xfrm>
          <a:prstGeom prst="roundRect">
            <a:avLst>
              <a:gd name="adj" fmla="val 2500"/>
            </a:avLst>
          </a:prstGeom>
          <a:solidFill>
            <a:srgbClr val="7D9BE6"/>
          </a:solidFill>
          <a:ln/>
        </p:spPr>
      </p:sp>
      <p:sp>
        <p:nvSpPr>
          <p:cNvPr id="11" name="!!hsD"/>
          <p:cNvSpPr/>
          <p:nvPr/>
        </p:nvSpPr>
        <p:spPr>
          <a:xfrm>
            <a:off x="4389120" y="2011680"/>
            <a:ext cx="1463040" cy="2194560"/>
          </a:xfrm>
          <a:prstGeom prst="roundRect">
            <a:avLst>
              <a:gd name="adj" fmla="val 2500"/>
            </a:avLst>
          </a:prstGeom>
          <a:solidFill>
            <a:srgbClr val="7D9BE6"/>
          </a:solidFill>
          <a:ln/>
        </p:spPr>
      </p:sp>
      <p:sp>
        <p:nvSpPr>
          <p:cNvPr id="12" name="!!hsSL"/>
          <p:cNvSpPr txBox="1"/>
          <p:nvPr/>
        </p:nvSpPr>
        <p:spPr>
          <a:xfrm>
            <a:off x="64008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source</a:t>
            </a:r>
            <a:endParaRPr lang="en-US" sz="1100" dirty="0"/>
          </a:p>
        </p:txBody>
      </p:sp>
      <p:sp>
        <p:nvSpPr>
          <p:cNvPr id="13" name="!!hsDL"/>
          <p:cNvSpPr txBox="1"/>
          <p:nvPr/>
        </p:nvSpPr>
        <p:spPr>
          <a:xfrm>
            <a:off x="438912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drain</a:t>
            </a:r>
            <a:endParaRPr lang="en-US" sz="1100" dirty="0"/>
          </a:p>
        </p:txBody>
      </p:sp>
      <p:sp>
        <p:nvSpPr>
          <p:cNvPr id="14" name="!!hsSpL"/>
          <p:cNvSpPr/>
          <p:nvPr/>
        </p:nvSpPr>
        <p:spPr>
          <a:xfrm>
            <a:off x="2103120" y="2011680"/>
            <a:ext cx="320040" cy="2194560"/>
          </a:xfrm>
          <a:prstGeom prst="rect">
            <a:avLst/>
          </a:prstGeom>
          <a:solidFill>
            <a:srgbClr val="D9DCE3"/>
          </a:solidFill>
          <a:ln/>
        </p:spPr>
      </p:sp>
      <p:sp>
        <p:nvSpPr>
          <p:cNvPr id="15" name="!!hsSpR"/>
          <p:cNvSpPr/>
          <p:nvPr/>
        </p:nvSpPr>
        <p:spPr>
          <a:xfrm>
            <a:off x="4069080" y="2011680"/>
            <a:ext cx="320040" cy="2194560"/>
          </a:xfrm>
          <a:prstGeom prst="rect">
            <a:avLst/>
          </a:prstGeom>
          <a:solidFill>
            <a:srgbClr val="D9DCE3"/>
          </a:solidFill>
          <a:ln/>
        </p:spPr>
      </p:sp>
      <p:sp>
        <p:nvSpPr>
          <p:cNvPr id="16" name="!!hsG"/>
          <p:cNvSpPr/>
          <p:nvPr/>
        </p:nvSpPr>
        <p:spPr>
          <a:xfrm>
            <a:off x="2423160" y="2011680"/>
            <a:ext cx="1645920" cy="2194560"/>
          </a:xfrm>
          <a:prstGeom prst="rect">
            <a:avLst/>
          </a:prstGeom>
          <a:solidFill>
            <a:srgbClr val="B3A6E6"/>
          </a:solidFill>
          <a:ln/>
        </p:spPr>
      </p:sp>
      <p:sp>
        <p:nvSpPr>
          <p:cNvPr id="17" name="!!hsGL"/>
          <p:cNvSpPr txBox="1"/>
          <p:nvPr/>
        </p:nvSpPr>
        <p:spPr>
          <a:xfrm>
            <a:off x="2423160" y="2103120"/>
            <a:ext cx="1645920" cy="274320"/>
          </a:xfrm>
          <a:prstGeom prst="rect">
            <a:avLst/>
          </a:prstGeom>
          <a:noFill/>
          <a:ln/>
        </p:spPr>
        <p:txBody>
          <a:bodyPr wrap="square" lIns="0" tIns="0" rIns="0" bIns="0" rtlCol="0" anchor="t"/>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 (wraps)</a:t>
            </a:r>
            <a:endParaRPr lang="en-US" sz="1100" dirty="0"/>
          </a:p>
        </p:txBody>
      </p:sp>
      <p:sp>
        <p:nvSpPr>
          <p:cNvPr id="18" name="!!hsOx"/>
          <p:cNvSpPr/>
          <p:nvPr/>
        </p:nvSpPr>
        <p:spPr>
          <a:xfrm>
            <a:off x="2103120" y="2770632"/>
            <a:ext cx="2286000" cy="676656"/>
          </a:xfrm>
          <a:prstGeom prst="rect">
            <a:avLst/>
          </a:prstGeom>
          <a:solidFill>
            <a:srgbClr val="8FCBE0"/>
          </a:solidFill>
          <a:ln/>
        </p:spPr>
      </p:sp>
      <p:sp>
        <p:nvSpPr>
          <p:cNvPr id="19" name="!!hsW"/>
          <p:cNvSpPr/>
          <p:nvPr/>
        </p:nvSpPr>
        <p:spPr>
          <a:xfrm>
            <a:off x="2103120" y="2880360"/>
            <a:ext cx="2286000" cy="457200"/>
          </a:xfrm>
          <a:prstGeom prst="rect">
            <a:avLst/>
          </a:prstGeom>
          <a:solidFill>
            <a:srgbClr val="F6E7B8"/>
          </a:solidFill>
          <a:ln/>
        </p:spPr>
      </p:sp>
      <p:sp>
        <p:nvSpPr>
          <p:cNvPr id="20" name="!!hsC0"/>
          <p:cNvSpPr/>
          <p:nvPr/>
        </p:nvSpPr>
        <p:spPr>
          <a:xfrm>
            <a:off x="640080" y="1691640"/>
            <a:ext cx="1463040" cy="228600"/>
          </a:xfrm>
          <a:prstGeom prst="roundRect">
            <a:avLst>
              <a:gd name="adj" fmla="val 12000"/>
            </a:avLst>
          </a:prstGeom>
          <a:solidFill>
            <a:srgbClr val="171A20"/>
          </a:solidFill>
          <a:ln/>
        </p:spPr>
      </p:sp>
      <p:sp>
        <p:nvSpPr>
          <p:cNvPr id="21" name="!!hsCt0"/>
          <p:cNvSpPr txBox="1"/>
          <p:nvPr/>
        </p:nvSpPr>
        <p:spPr>
          <a:xfrm>
            <a:off x="64008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2" name="!!hsC1"/>
          <p:cNvSpPr/>
          <p:nvPr/>
        </p:nvSpPr>
        <p:spPr>
          <a:xfrm>
            <a:off x="2423160" y="1691640"/>
            <a:ext cx="1645920" cy="228600"/>
          </a:xfrm>
          <a:prstGeom prst="roundRect">
            <a:avLst>
              <a:gd name="adj" fmla="val 12000"/>
            </a:avLst>
          </a:prstGeom>
          <a:solidFill>
            <a:srgbClr val="171A20"/>
          </a:solidFill>
          <a:ln/>
        </p:spPr>
      </p:sp>
      <p:sp>
        <p:nvSpPr>
          <p:cNvPr id="23" name="!!hsCt1"/>
          <p:cNvSpPr txBox="1"/>
          <p:nvPr/>
        </p:nvSpPr>
        <p:spPr>
          <a:xfrm>
            <a:off x="2423160" y="1691640"/>
            <a:ext cx="164592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4" name="!!hsC2"/>
          <p:cNvSpPr/>
          <p:nvPr/>
        </p:nvSpPr>
        <p:spPr>
          <a:xfrm>
            <a:off x="4389120" y="1691640"/>
            <a:ext cx="1463040" cy="228600"/>
          </a:xfrm>
          <a:prstGeom prst="roundRect">
            <a:avLst>
              <a:gd name="adj" fmla="val 12000"/>
            </a:avLst>
          </a:prstGeom>
          <a:solidFill>
            <a:srgbClr val="171A20"/>
          </a:solidFill>
          <a:ln/>
        </p:spPr>
      </p:sp>
      <p:sp>
        <p:nvSpPr>
          <p:cNvPr id="25" name="!!hsCt2"/>
          <p:cNvSpPr txBox="1"/>
          <p:nvPr/>
        </p:nvSpPr>
        <p:spPr>
          <a:xfrm>
            <a:off x="438912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6" name="!!hsH0"/>
          <p:cNvSpPr/>
          <p:nvPr/>
        </p:nvSpPr>
        <p:spPr>
          <a:xfrm>
            <a:off x="3273256" y="2797548"/>
            <a:ext cx="1408767" cy="622823"/>
          </a:xfrm>
          <a:prstGeom prst="ellipse">
            <a:avLst/>
          </a:prstGeom>
          <a:solidFill>
            <a:srgbClr val="FFE1B3">
              <a:alpha val="85000"/>
            </a:srgbClr>
          </a:solidFill>
          <a:ln/>
        </p:spPr>
      </p:sp>
      <p:sp>
        <p:nvSpPr>
          <p:cNvPr id="27" name="!!hsH1"/>
          <p:cNvSpPr/>
          <p:nvPr/>
        </p:nvSpPr>
        <p:spPr>
          <a:xfrm>
            <a:off x="3471541" y="2885211"/>
            <a:ext cx="1012198" cy="447498"/>
          </a:xfrm>
          <a:prstGeom prst="ellipse">
            <a:avLst/>
          </a:prstGeom>
          <a:solidFill>
            <a:srgbClr val="FFB36B">
              <a:alpha val="85000"/>
            </a:srgbClr>
          </a:solidFill>
          <a:ln/>
        </p:spPr>
      </p:sp>
      <p:sp>
        <p:nvSpPr>
          <p:cNvPr id="28" name="!!hsH2"/>
          <p:cNvSpPr/>
          <p:nvPr/>
        </p:nvSpPr>
        <p:spPr>
          <a:xfrm>
            <a:off x="3636779" y="2958263"/>
            <a:ext cx="681723" cy="301393"/>
          </a:xfrm>
          <a:prstGeom prst="ellipse">
            <a:avLst/>
          </a:prstGeom>
          <a:solidFill>
            <a:srgbClr val="F07A3A">
              <a:alpha val="85000"/>
            </a:srgbClr>
          </a:solidFill>
          <a:ln/>
        </p:spPr>
      </p:sp>
      <p:sp>
        <p:nvSpPr>
          <p:cNvPr id="29" name="!!hsH3"/>
          <p:cNvSpPr/>
          <p:nvPr/>
        </p:nvSpPr>
        <p:spPr>
          <a:xfrm>
            <a:off x="3768969" y="3016705"/>
            <a:ext cx="417343" cy="184509"/>
          </a:xfrm>
          <a:prstGeom prst="ellipse">
            <a:avLst/>
          </a:prstGeom>
          <a:solidFill>
            <a:srgbClr val="D64545">
              <a:alpha val="85000"/>
            </a:srgbClr>
          </a:solidFill>
          <a:ln/>
        </p:spPr>
      </p:sp>
      <p:sp>
        <p:nvSpPr>
          <p:cNvPr id="30" name="!!hsA0"/>
          <p:cNvSpPr/>
          <p:nvPr/>
        </p:nvSpPr>
        <p:spPr>
          <a:xfrm>
            <a:off x="2240280" y="3108960"/>
            <a:ext cx="457200" cy="91"/>
          </a:xfrm>
          <a:prstGeom prst="line">
            <a:avLst/>
          </a:prstGeom>
          <a:noFill/>
          <a:ln w="25400">
            <a:solidFill>
              <a:srgbClr val="1F2F6B"/>
            </a:solidFill>
            <a:prstDash val="solid"/>
            <a:tailEnd type="triangle"/>
          </a:ln>
        </p:spPr>
      </p:sp>
      <p:sp>
        <p:nvSpPr>
          <p:cNvPr id="31" name="!!hsA1"/>
          <p:cNvSpPr/>
          <p:nvPr/>
        </p:nvSpPr>
        <p:spPr>
          <a:xfrm>
            <a:off x="2880360" y="3108960"/>
            <a:ext cx="457200" cy="91"/>
          </a:xfrm>
          <a:prstGeom prst="line">
            <a:avLst/>
          </a:prstGeom>
          <a:noFill/>
          <a:ln w="25400">
            <a:solidFill>
              <a:srgbClr val="1F2F6B"/>
            </a:solidFill>
            <a:prstDash val="solid"/>
            <a:tailEnd type="triangle"/>
          </a:ln>
        </p:spPr>
      </p:sp>
      <p:sp>
        <p:nvSpPr>
          <p:cNvPr id="32" name="!!hsA2"/>
          <p:cNvSpPr/>
          <p:nvPr/>
        </p:nvSpPr>
        <p:spPr>
          <a:xfrm>
            <a:off x="3520440" y="3108960"/>
            <a:ext cx="457200" cy="91"/>
          </a:xfrm>
          <a:prstGeom prst="line">
            <a:avLst/>
          </a:prstGeom>
          <a:noFill/>
          <a:ln w="25400">
            <a:solidFill>
              <a:srgbClr val="1F2F6B"/>
            </a:solidFill>
            <a:prstDash val="solid"/>
            <a:tailEnd type="triangle"/>
          </a:ln>
        </p:spPr>
      </p:sp>
      <p:sp>
        <p:nvSpPr>
          <p:cNvPr id="33" name="!!hsX0"/>
          <p:cNvSpPr/>
          <p:nvPr/>
        </p:nvSpPr>
        <p:spPr>
          <a:xfrm flipH="1">
            <a:off x="4023360" y="1938528"/>
            <a:ext cx="91" cy="804672"/>
          </a:xfrm>
          <a:prstGeom prst="line">
            <a:avLst/>
          </a:prstGeom>
          <a:noFill/>
          <a:ln w="31750">
            <a:solidFill>
              <a:srgbClr val="E07B00"/>
            </a:solidFill>
            <a:prstDash val="solid"/>
            <a:tailEnd type="triangle"/>
          </a:ln>
        </p:spPr>
      </p:sp>
      <p:sp>
        <p:nvSpPr>
          <p:cNvPr id="34" name="!!hsX1"/>
          <p:cNvSpPr/>
          <p:nvPr/>
        </p:nvSpPr>
        <p:spPr>
          <a:xfrm flipH="1">
            <a:off x="4206240" y="1938528"/>
            <a:ext cx="914400" cy="1170432"/>
          </a:xfrm>
          <a:prstGeom prst="line">
            <a:avLst/>
          </a:prstGeom>
          <a:noFill/>
          <a:ln w="31750">
            <a:solidFill>
              <a:srgbClr val="E07B00"/>
            </a:solidFill>
            <a:prstDash val="solid"/>
            <a:tailEnd type="triangle"/>
          </a:ln>
        </p:spPr>
      </p:sp>
      <p:sp>
        <p:nvSpPr>
          <p:cNvPr id="35" name="!!hsX2"/>
          <p:cNvSpPr/>
          <p:nvPr/>
        </p:nvSpPr>
        <p:spPr>
          <a:xfrm>
            <a:off x="1371600" y="1938528"/>
            <a:ext cx="2468880" cy="1170432"/>
          </a:xfrm>
          <a:prstGeom prst="line">
            <a:avLst/>
          </a:prstGeom>
          <a:noFill/>
          <a:ln w="19050">
            <a:solidFill>
              <a:srgbClr val="E07B00"/>
            </a:solidFill>
            <a:prstDash val="dash"/>
            <a:tailEnd type="triangle"/>
          </a:ln>
        </p:spPr>
      </p:sp>
      <p:sp>
        <p:nvSpPr>
          <p:cNvPr id="36" name="!!hsHL"/>
          <p:cNvSpPr txBox="1"/>
          <p:nvPr/>
        </p:nvSpPr>
        <p:spPr>
          <a:xfrm>
            <a:off x="3291840" y="4297680"/>
            <a:ext cx="1828800" cy="228600"/>
          </a:xfrm>
          <a:prstGeom prst="rect">
            <a:avLst/>
          </a:prstGeom>
          <a:noFill/>
          <a:ln/>
        </p:spPr>
        <p:txBody>
          <a:bodyPr wrap="square" lIns="0" tIns="0" rIns="0" bIns="0" rtlCol="0" anchor="t"/>
          <a:lstStyle/>
          <a:p>
            <a:pPr algn="ctr" indent="0" marL="0">
              <a:buNone/>
            </a:pPr>
            <a:r>
              <a:rPr lang="en-US" sz="1000" dirty="0">
                <a:solidFill>
                  <a:srgbClr val="E07B00"/>
                </a:solidFill>
                <a:latin typeface="Segoe UI Semibold" pitchFamily="34" charset="0"/>
                <a:ea typeface="Segoe UI Semibold" pitchFamily="34" charset="-122"/>
                <a:cs typeface="Segoe UI Semibold" pitchFamily="34" charset="-120"/>
              </a:rPr>
              <a:t>hot spot: drain end</a:t>
            </a:r>
            <a:endParaRPr lang="en-US" sz="1000" dirty="0"/>
          </a:p>
        </p:txBody>
      </p:sp>
      <p:sp>
        <p:nvSpPr>
          <p:cNvPr id="37" name="!!axg0"/>
          <p:cNvSpPr/>
          <p:nvPr/>
        </p:nvSpPr>
        <p:spPr>
          <a:xfrm>
            <a:off x="7315200" y="4023360"/>
            <a:ext cx="4206240" cy="91"/>
          </a:xfrm>
          <a:prstGeom prst="line">
            <a:avLst/>
          </a:prstGeom>
          <a:noFill/>
          <a:ln w="9525">
            <a:solidFill>
              <a:srgbClr val="EDEEF0"/>
            </a:solidFill>
            <a:prstDash val="solid"/>
          </a:ln>
        </p:spPr>
      </p:sp>
      <p:sp>
        <p:nvSpPr>
          <p:cNvPr id="38" name="!!axg1"/>
          <p:cNvSpPr/>
          <p:nvPr/>
        </p:nvSpPr>
        <p:spPr>
          <a:xfrm>
            <a:off x="7315200" y="3547872"/>
            <a:ext cx="4206240" cy="91"/>
          </a:xfrm>
          <a:prstGeom prst="line">
            <a:avLst/>
          </a:prstGeom>
          <a:noFill/>
          <a:ln w="9525">
            <a:solidFill>
              <a:srgbClr val="EDEEF0"/>
            </a:solidFill>
            <a:prstDash val="solid"/>
          </a:ln>
        </p:spPr>
      </p:sp>
      <p:sp>
        <p:nvSpPr>
          <p:cNvPr id="39" name="!!axg2"/>
          <p:cNvSpPr/>
          <p:nvPr/>
        </p:nvSpPr>
        <p:spPr>
          <a:xfrm>
            <a:off x="7315200" y="3072384"/>
            <a:ext cx="4206240" cy="91"/>
          </a:xfrm>
          <a:prstGeom prst="line">
            <a:avLst/>
          </a:prstGeom>
          <a:noFill/>
          <a:ln w="9525">
            <a:solidFill>
              <a:srgbClr val="EDEEF0"/>
            </a:solidFill>
            <a:prstDash val="solid"/>
          </a:ln>
        </p:spPr>
      </p:sp>
      <p:sp>
        <p:nvSpPr>
          <p:cNvPr id="40" name="!!axg3"/>
          <p:cNvSpPr/>
          <p:nvPr/>
        </p:nvSpPr>
        <p:spPr>
          <a:xfrm>
            <a:off x="7315200" y="2596896"/>
            <a:ext cx="4206240" cy="91"/>
          </a:xfrm>
          <a:prstGeom prst="line">
            <a:avLst/>
          </a:prstGeom>
          <a:noFill/>
          <a:ln w="9525">
            <a:solidFill>
              <a:srgbClr val="EDEEF0"/>
            </a:solidFill>
            <a:prstDash val="solid"/>
          </a:ln>
        </p:spPr>
      </p:sp>
      <p:sp>
        <p:nvSpPr>
          <p:cNvPr id="41" name="!!axg4"/>
          <p:cNvSpPr/>
          <p:nvPr/>
        </p:nvSpPr>
        <p:spPr>
          <a:xfrm>
            <a:off x="7315200" y="2121408"/>
            <a:ext cx="4206240" cy="91"/>
          </a:xfrm>
          <a:prstGeom prst="line">
            <a:avLst/>
          </a:prstGeom>
          <a:noFill/>
          <a:ln w="9525">
            <a:solidFill>
              <a:srgbClr val="EDEEF0"/>
            </a:solidFill>
            <a:prstDash val="solid"/>
          </a:ln>
        </p:spPr>
      </p:sp>
      <p:sp>
        <p:nvSpPr>
          <p:cNvPr id="42" name="!!axg5"/>
          <p:cNvSpPr/>
          <p:nvPr/>
        </p:nvSpPr>
        <p:spPr>
          <a:xfrm>
            <a:off x="7315200" y="1645920"/>
            <a:ext cx="4206240" cy="91"/>
          </a:xfrm>
          <a:prstGeom prst="line">
            <a:avLst/>
          </a:prstGeom>
          <a:noFill/>
          <a:ln w="9525">
            <a:solidFill>
              <a:srgbClr val="EDEEF0"/>
            </a:solidFill>
            <a:prstDash val="solid"/>
          </a:ln>
        </p:spPr>
      </p:sp>
      <p:sp>
        <p:nvSpPr>
          <p:cNvPr id="43" name="!!axxa"/>
          <p:cNvSpPr/>
          <p:nvPr/>
        </p:nvSpPr>
        <p:spPr>
          <a:xfrm>
            <a:off x="7315200" y="4023360"/>
            <a:ext cx="4206240" cy="91"/>
          </a:xfrm>
          <a:prstGeom prst="line">
            <a:avLst/>
          </a:prstGeom>
          <a:noFill/>
          <a:ln w="12700">
            <a:solidFill>
              <a:srgbClr val="8A8D93"/>
            </a:solidFill>
            <a:prstDash val="solid"/>
          </a:ln>
        </p:spPr>
      </p:sp>
      <p:sp>
        <p:nvSpPr>
          <p:cNvPr id="44" name="!!axya"/>
          <p:cNvSpPr/>
          <p:nvPr/>
        </p:nvSpPr>
        <p:spPr>
          <a:xfrm>
            <a:off x="7315200" y="1645920"/>
            <a:ext cx="91" cy="2377440"/>
          </a:xfrm>
          <a:prstGeom prst="line">
            <a:avLst/>
          </a:prstGeom>
          <a:noFill/>
          <a:ln w="12700">
            <a:solidFill>
              <a:srgbClr val="8A8D93"/>
            </a:solidFill>
            <a:prstDash val="solid"/>
          </a:ln>
        </p:spPr>
      </p:sp>
      <p:sp>
        <p:nvSpPr>
          <p:cNvPr id="45" name="!!axxt0"/>
          <p:cNvSpPr txBox="1"/>
          <p:nvPr/>
        </p:nvSpPr>
        <p:spPr>
          <a:xfrm>
            <a:off x="699516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6" name="!!axxt1"/>
          <p:cNvSpPr txBox="1"/>
          <p:nvPr/>
        </p:nvSpPr>
        <p:spPr>
          <a:xfrm>
            <a:off x="804672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5</a:t>
            </a:r>
            <a:endParaRPr lang="en-US" sz="900" dirty="0"/>
          </a:p>
        </p:txBody>
      </p:sp>
      <p:sp>
        <p:nvSpPr>
          <p:cNvPr id="47" name="!!axxt2"/>
          <p:cNvSpPr txBox="1"/>
          <p:nvPr/>
        </p:nvSpPr>
        <p:spPr>
          <a:xfrm>
            <a:off x="909828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48" name="!!axxt3"/>
          <p:cNvSpPr txBox="1"/>
          <p:nvPr/>
        </p:nvSpPr>
        <p:spPr>
          <a:xfrm>
            <a:off x="1014984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15</a:t>
            </a:r>
            <a:endParaRPr lang="en-US" sz="900" dirty="0"/>
          </a:p>
        </p:txBody>
      </p:sp>
      <p:sp>
        <p:nvSpPr>
          <p:cNvPr id="49" name="!!axxt4"/>
          <p:cNvSpPr txBox="1"/>
          <p:nvPr/>
        </p:nvSpPr>
        <p:spPr>
          <a:xfrm>
            <a:off x="1120140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50" name="!!axyt0"/>
          <p:cNvSpPr txBox="1"/>
          <p:nvPr/>
        </p:nvSpPr>
        <p:spPr>
          <a:xfrm>
            <a:off x="6629400" y="39227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51" name="!!axyt1"/>
          <p:cNvSpPr txBox="1"/>
          <p:nvPr/>
        </p:nvSpPr>
        <p:spPr>
          <a:xfrm>
            <a:off x="6629400" y="3447288"/>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52" name="!!axyt2"/>
          <p:cNvSpPr txBox="1"/>
          <p:nvPr/>
        </p:nvSpPr>
        <p:spPr>
          <a:xfrm>
            <a:off x="6629400" y="297180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53" name="!!axyt3"/>
          <p:cNvSpPr txBox="1"/>
          <p:nvPr/>
        </p:nvSpPr>
        <p:spPr>
          <a:xfrm>
            <a:off x="6629400" y="249631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30</a:t>
            </a:r>
            <a:endParaRPr lang="en-US" sz="900" dirty="0"/>
          </a:p>
        </p:txBody>
      </p:sp>
      <p:sp>
        <p:nvSpPr>
          <p:cNvPr id="54" name="!!axyt4"/>
          <p:cNvSpPr txBox="1"/>
          <p:nvPr/>
        </p:nvSpPr>
        <p:spPr>
          <a:xfrm>
            <a:off x="6629400" y="2020824"/>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40</a:t>
            </a:r>
            <a:endParaRPr lang="en-US" sz="900" dirty="0"/>
          </a:p>
        </p:txBody>
      </p:sp>
      <p:sp>
        <p:nvSpPr>
          <p:cNvPr id="55" name="!!axyt5"/>
          <p:cNvSpPr txBox="1"/>
          <p:nvPr/>
        </p:nvSpPr>
        <p:spPr>
          <a:xfrm>
            <a:off x="6629400" y="1545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50</a:t>
            </a:r>
            <a:endParaRPr lang="en-US" sz="900" dirty="0"/>
          </a:p>
        </p:txBody>
      </p:sp>
      <p:sp>
        <p:nvSpPr>
          <p:cNvPr id="56" name="!!axxl"/>
          <p:cNvSpPr txBox="1"/>
          <p:nvPr/>
        </p:nvSpPr>
        <p:spPr>
          <a:xfrm>
            <a:off x="7315200" y="429768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power P = I</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·V</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 (µW)</a:t>
            </a:r>
            <a:endParaRPr lang="en-US" sz="1100" dirty="0"/>
          </a:p>
        </p:txBody>
      </p:sp>
      <p:sp>
        <p:nvSpPr>
          <p:cNvPr id="57" name="!!axyl"/>
          <p:cNvSpPr txBox="1"/>
          <p:nvPr/>
        </p:nvSpPr>
        <p:spPr>
          <a:xfrm>
            <a:off x="7132320" y="134416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temperature rise ΔT (K)</a:t>
            </a:r>
            <a:endParaRPr lang="en-US" sz="1100" dirty="0"/>
          </a:p>
        </p:txBody>
      </p:sp>
      <p:sp>
        <p:nvSpPr>
          <p:cNvPr id="58" name="!!ivGhost"/>
          <p:cNvSpPr/>
          <p:nvPr/>
        </p:nvSpPr>
        <p:spPr>
          <a:xfrm>
            <a:off x="7315292" y="1949567"/>
            <a:ext cx="4043953" cy="2073746"/>
          </a:xfrm>
          <a:custGeom>
            <a:avLst/>
            <a:gdLst/>
            <a:ahLst/>
            <a:cxnLst/>
            <a:rect l="l" t="t" r="r" b="b"/>
            <a:pathLst>
              <a:path w="4043953" h="2073746">
                <a:moveTo>
                  <a:pt x="0" y="2073746"/>
                </a:moveTo>
                <a:lnTo>
                  <a:pt x="118" y="2073698"/>
                </a:lnTo>
                <a:lnTo>
                  <a:pt x="397" y="2073603"/>
                </a:lnTo>
                <a:lnTo>
                  <a:pt x="1051" y="2072890"/>
                </a:lnTo>
                <a:lnTo>
                  <a:pt x="2580" y="2071701"/>
                </a:lnTo>
                <a:lnTo>
                  <a:pt x="6115" y="2069038"/>
                </a:lnTo>
                <a:lnTo>
                  <a:pt x="14143" y="2063095"/>
                </a:lnTo>
                <a:lnTo>
                  <a:pt x="31548" y="2050447"/>
                </a:lnTo>
                <a:lnTo>
                  <a:pt x="66537" y="2025722"/>
                </a:lnTo>
                <a:lnTo>
                  <a:pt x="130427" y="1981739"/>
                </a:lnTo>
                <a:lnTo>
                  <a:pt x="234345" y="1911700"/>
                </a:lnTo>
                <a:lnTo>
                  <a:pt x="374271" y="1820976"/>
                </a:lnTo>
                <a:lnTo>
                  <a:pt x="530663" y="1723359"/>
                </a:lnTo>
                <a:lnTo>
                  <a:pt x="687612" y="1629260"/>
                </a:lnTo>
                <a:lnTo>
                  <a:pt x="850162" y="1535208"/>
                </a:lnTo>
                <a:lnTo>
                  <a:pt x="1023544" y="1437923"/>
                </a:lnTo>
                <a:lnTo>
                  <a:pt x="1208773" y="1336026"/>
                </a:lnTo>
                <a:lnTo>
                  <a:pt x="1405305" y="1230658"/>
                </a:lnTo>
                <a:lnTo>
                  <a:pt x="1612229" y="1122342"/>
                </a:lnTo>
                <a:lnTo>
                  <a:pt x="1828478" y="1011838"/>
                </a:lnTo>
                <a:lnTo>
                  <a:pt x="2053016" y="899718"/>
                </a:lnTo>
                <a:lnTo>
                  <a:pt x="2284826" y="786600"/>
                </a:lnTo>
                <a:lnTo>
                  <a:pt x="2523011" y="672863"/>
                </a:lnTo>
                <a:lnTo>
                  <a:pt x="2766731" y="559174"/>
                </a:lnTo>
                <a:lnTo>
                  <a:pt x="3015206" y="445818"/>
                </a:lnTo>
                <a:lnTo>
                  <a:pt x="3267759" y="332984"/>
                </a:lnTo>
                <a:lnTo>
                  <a:pt x="3523772" y="220959"/>
                </a:lnTo>
                <a:lnTo>
                  <a:pt x="3782670" y="109885"/>
                </a:lnTo>
                <a:lnTo>
                  <a:pt x="4043953" y="0"/>
                </a:lnTo>
              </a:path>
            </a:pathLst>
          </a:custGeom>
          <a:ln w="25400">
            <a:solidFill>
              <a:srgbClr val="C9CCD3"/>
            </a:solidFill>
            <a:prstDash val="solid"/>
          </a:ln>
        </p:spPr>
      </p:sp>
      <p:sp>
        <p:nvSpPr>
          <p:cNvPr id="59" name="!!ivTrail"/>
          <p:cNvSpPr/>
          <p:nvPr/>
        </p:nvSpPr>
        <p:spPr>
          <a:xfrm>
            <a:off x="7315292" y="2395384"/>
            <a:ext cx="3015206" cy="1627928"/>
          </a:xfrm>
          <a:custGeom>
            <a:avLst/>
            <a:gdLst/>
            <a:ahLst/>
            <a:cxnLst/>
            <a:rect l="l" t="t" r="r" b="b"/>
            <a:pathLst>
              <a:path w="3015206" h="1627928">
                <a:moveTo>
                  <a:pt x="0" y="1627928"/>
                </a:moveTo>
                <a:lnTo>
                  <a:pt x="118" y="1627881"/>
                </a:lnTo>
                <a:lnTo>
                  <a:pt x="397" y="1627786"/>
                </a:lnTo>
                <a:lnTo>
                  <a:pt x="1051" y="1627072"/>
                </a:lnTo>
                <a:lnTo>
                  <a:pt x="2580" y="1625884"/>
                </a:lnTo>
                <a:lnTo>
                  <a:pt x="6115" y="1623221"/>
                </a:lnTo>
                <a:lnTo>
                  <a:pt x="14143" y="1617277"/>
                </a:lnTo>
                <a:lnTo>
                  <a:pt x="31548" y="1604629"/>
                </a:lnTo>
                <a:lnTo>
                  <a:pt x="66537" y="1579904"/>
                </a:lnTo>
                <a:lnTo>
                  <a:pt x="130427" y="1535921"/>
                </a:lnTo>
                <a:lnTo>
                  <a:pt x="234345" y="1465882"/>
                </a:lnTo>
                <a:lnTo>
                  <a:pt x="374271" y="1375159"/>
                </a:lnTo>
                <a:lnTo>
                  <a:pt x="530663" y="1277541"/>
                </a:lnTo>
                <a:lnTo>
                  <a:pt x="687612" y="1183442"/>
                </a:lnTo>
                <a:lnTo>
                  <a:pt x="850162" y="1089391"/>
                </a:lnTo>
                <a:lnTo>
                  <a:pt x="1023544" y="992106"/>
                </a:lnTo>
                <a:lnTo>
                  <a:pt x="1208773" y="890209"/>
                </a:lnTo>
                <a:lnTo>
                  <a:pt x="1405305" y="784840"/>
                </a:lnTo>
                <a:lnTo>
                  <a:pt x="1612229" y="676524"/>
                </a:lnTo>
                <a:lnTo>
                  <a:pt x="1828478" y="566021"/>
                </a:lnTo>
                <a:lnTo>
                  <a:pt x="2053016" y="453901"/>
                </a:lnTo>
                <a:lnTo>
                  <a:pt x="2284826" y="340782"/>
                </a:lnTo>
                <a:lnTo>
                  <a:pt x="2523011" y="227046"/>
                </a:lnTo>
                <a:lnTo>
                  <a:pt x="2766731" y="113356"/>
                </a:lnTo>
                <a:lnTo>
                  <a:pt x="3015206" y="0"/>
                </a:lnTo>
              </a:path>
            </a:pathLst>
          </a:custGeom>
          <a:ln w="38100">
            <a:solidFill>
              <a:srgbClr val="E07B00"/>
            </a:solidFill>
            <a:prstDash val="solid"/>
          </a:ln>
        </p:spPr>
      </p:sp>
      <p:sp>
        <p:nvSpPr>
          <p:cNvPr id="60" name="!!ivPt"/>
          <p:cNvSpPr/>
          <p:nvPr/>
        </p:nvSpPr>
        <p:spPr>
          <a:xfrm>
            <a:off x="10248202" y="2313041"/>
            <a:ext cx="164592" cy="164592"/>
          </a:xfrm>
          <a:prstGeom prst="ellipse">
            <a:avLst/>
          </a:prstGeom>
          <a:solidFill>
            <a:srgbClr val="D64545"/>
          </a:solidFill>
          <a:ln w="19050">
            <a:solidFill>
              <a:srgbClr val="FFFFFF"/>
            </a:solidFill>
            <a:prstDash val="solid"/>
          </a:ln>
        </p:spPr>
      </p:sp>
      <p:sp>
        <p:nvSpPr>
          <p:cNvPr id="61" name="!!ivPtL"/>
          <p:cNvSpPr txBox="1"/>
          <p:nvPr/>
        </p:nvSpPr>
        <p:spPr>
          <a:xfrm>
            <a:off x="9416098" y="2066153"/>
            <a:ext cx="868680" cy="219456"/>
          </a:xfrm>
          <a:prstGeom prst="rect">
            <a:avLst/>
          </a:prstGeom>
          <a:noFill/>
          <a:ln/>
        </p:spPr>
        <p:txBody>
          <a:bodyPr wrap="square" lIns="0" tIns="0" rIns="0" bIns="0" rtlCol="0" anchor="t"/>
          <a:lstStyle/>
          <a:p>
            <a:pPr algn="r" indent="0" marL="0">
              <a:buNone/>
            </a:pPr>
            <a:r>
              <a:rPr lang="en-US" sz="1100" dirty="0">
                <a:solidFill>
                  <a:srgbClr val="D64545"/>
                </a:solidFill>
                <a:latin typeface="Segoe UI Semibold" pitchFamily="34" charset="0"/>
                <a:ea typeface="Segoe UI Semibold" pitchFamily="34" charset="-122"/>
                <a:cs typeface="Segoe UI Semibold" pitchFamily="34" charset="-120"/>
              </a:rPr>
              <a:t>34.2 K</a:t>
            </a:r>
            <a:endParaRPr lang="en-US" sz="1100" dirty="0"/>
          </a:p>
        </p:txBody>
      </p:sp>
      <p:sp>
        <p:nvSpPr>
          <p:cNvPr id="62" name="!!chip0"/>
          <p:cNvSpPr/>
          <p:nvPr/>
        </p:nvSpPr>
        <p:spPr>
          <a:xfrm>
            <a:off x="6858000" y="4434840"/>
            <a:ext cx="1508760" cy="658368"/>
          </a:xfrm>
          <a:prstGeom prst="roundRect">
            <a:avLst>
              <a:gd name="adj" fmla="val 8333"/>
            </a:avLst>
          </a:prstGeom>
          <a:solidFill>
            <a:srgbClr val="F4F5F7"/>
          </a:solidFill>
          <a:ln/>
        </p:spPr>
      </p:sp>
      <p:sp>
        <p:nvSpPr>
          <p:cNvPr id="63" name="!!chipk0"/>
          <p:cNvSpPr txBox="1"/>
          <p:nvPr/>
        </p:nvSpPr>
        <p:spPr>
          <a:xfrm>
            <a:off x="6967728"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power P</a:t>
            </a:r>
            <a:endParaRPr lang="en-US" sz="1000" dirty="0"/>
          </a:p>
        </p:txBody>
      </p:sp>
      <p:sp>
        <p:nvSpPr>
          <p:cNvPr id="64" name="!!chipv0"/>
          <p:cNvSpPr txBox="1"/>
          <p:nvPr/>
        </p:nvSpPr>
        <p:spPr>
          <a:xfrm>
            <a:off x="6967728"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14.3 µW</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65" name="!!chip1"/>
          <p:cNvSpPr/>
          <p:nvPr/>
        </p:nvSpPr>
        <p:spPr>
          <a:xfrm>
            <a:off x="8476488" y="4434840"/>
            <a:ext cx="1508760" cy="658368"/>
          </a:xfrm>
          <a:prstGeom prst="roundRect">
            <a:avLst>
              <a:gd name="adj" fmla="val 8333"/>
            </a:avLst>
          </a:prstGeom>
          <a:solidFill>
            <a:srgbClr val="F4F5F7"/>
          </a:solidFill>
          <a:ln/>
        </p:spPr>
      </p:sp>
      <p:sp>
        <p:nvSpPr>
          <p:cNvPr id="66" name="!!chipk1"/>
          <p:cNvSpPr txBox="1"/>
          <p:nvPr/>
        </p:nvSpPr>
        <p:spPr>
          <a:xfrm>
            <a:off x="8586216"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rise ΔT</a:t>
            </a:r>
            <a:endParaRPr lang="en-US" sz="1000" dirty="0"/>
          </a:p>
        </p:txBody>
      </p:sp>
      <p:sp>
        <p:nvSpPr>
          <p:cNvPr id="67" name="!!chipv1"/>
          <p:cNvSpPr txBox="1"/>
          <p:nvPr/>
        </p:nvSpPr>
        <p:spPr>
          <a:xfrm>
            <a:off x="8586216"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34.2 K</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68" name="!!chip2"/>
          <p:cNvSpPr/>
          <p:nvPr/>
        </p:nvSpPr>
        <p:spPr>
          <a:xfrm>
            <a:off x="10094976" y="4434840"/>
            <a:ext cx="1508760" cy="658368"/>
          </a:xfrm>
          <a:prstGeom prst="roundRect">
            <a:avLst>
              <a:gd name="adj" fmla="val 8333"/>
            </a:avLst>
          </a:prstGeom>
          <a:solidFill>
            <a:srgbClr val="F4F5F7"/>
          </a:solidFill>
          <a:ln/>
        </p:spPr>
      </p:sp>
      <p:sp>
        <p:nvSpPr>
          <p:cNvPr id="69" name="!!chipk2"/>
          <p:cNvSpPr txBox="1"/>
          <p:nvPr/>
        </p:nvSpPr>
        <p:spPr>
          <a:xfrm>
            <a:off x="10204704"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R</a:t>
            </a:r>
            <a:pPr algn="l" indent="0" marL="0">
              <a:buNone/>
            </a:pPr>
            <a:r>
              <a:rPr lang="en-US" sz="1000" baseline="-40000" dirty="0">
                <a:solidFill>
                  <a:srgbClr val="5C5E62"/>
                </a:solidFill>
                <a:latin typeface="Segoe UI" pitchFamily="34" charset="0"/>
                <a:ea typeface="Segoe UI" pitchFamily="34" charset="-122"/>
                <a:cs typeface="Segoe UI" pitchFamily="34" charset="-120"/>
              </a:rPr>
              <a:t>th</a:t>
            </a:r>
            <a:pPr algn="l" indent="0" marL="0">
              <a:buNone/>
            </a:pPr>
            <a:r>
              <a:rPr lang="en-US" sz="1000" dirty="0">
                <a:solidFill>
                  <a:srgbClr val="5C5E62"/>
                </a:solidFill>
                <a:latin typeface="Segoe UI" pitchFamily="34" charset="0"/>
                <a:ea typeface="Segoe UI" pitchFamily="34" charset="-122"/>
                <a:cs typeface="Segoe UI" pitchFamily="34" charset="-120"/>
              </a:rPr>
              <a:t> = ΔT / P</a:t>
            </a:r>
            <a:endParaRPr lang="en-US" sz="1000" dirty="0"/>
          </a:p>
        </p:txBody>
      </p:sp>
      <p:sp>
        <p:nvSpPr>
          <p:cNvPr id="70" name="!!chipv2"/>
          <p:cNvSpPr txBox="1"/>
          <p:nvPr/>
        </p:nvSpPr>
        <p:spPr>
          <a:xfrm>
            <a:off x="10204704"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2.39 K/µW</a:t>
            </a:r>
            <a:endParaRPr lang="en-US" sz="1500" dirty="0"/>
          </a:p>
        </p:txBody>
      </p:sp>
      <p:sp>
        <p:nvSpPr>
          <p:cNvPr id="71" name="!!knobLbl"/>
          <p:cNvSpPr txBox="1"/>
          <p:nvPr/>
        </p:nvSpPr>
        <p:spPr>
          <a:xfrm>
            <a:off x="7022592" y="512064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0.6 V</a:t>
            </a:r>
            <a:endParaRPr lang="en-US" sz="1200" dirty="0"/>
          </a:p>
        </p:txBody>
      </p:sp>
      <p:sp>
        <p:nvSpPr>
          <p:cNvPr id="72" name="!!knobTrack"/>
          <p:cNvSpPr/>
          <p:nvPr/>
        </p:nvSpPr>
        <p:spPr>
          <a:xfrm>
            <a:off x="7040880" y="5504688"/>
            <a:ext cx="4480560" cy="54864"/>
          </a:xfrm>
          <a:prstGeom prst="roundRect">
            <a:avLst>
              <a:gd name="adj" fmla="val 50000"/>
            </a:avLst>
          </a:prstGeom>
          <a:solidFill>
            <a:srgbClr val="E2E3E3"/>
          </a:solidFill>
          <a:ln/>
        </p:spPr>
      </p:sp>
      <p:sp>
        <p:nvSpPr>
          <p:cNvPr id="73" name="!!knobFill"/>
          <p:cNvSpPr/>
          <p:nvPr/>
        </p:nvSpPr>
        <p:spPr>
          <a:xfrm>
            <a:off x="7040880" y="5504688"/>
            <a:ext cx="3840480" cy="54864"/>
          </a:xfrm>
          <a:prstGeom prst="roundRect">
            <a:avLst>
              <a:gd name="adj" fmla="val 50000"/>
            </a:avLst>
          </a:prstGeom>
          <a:solidFill>
            <a:srgbClr val="6B5BC4"/>
          </a:solidFill>
          <a:ln/>
        </p:spPr>
      </p:sp>
      <p:sp>
        <p:nvSpPr>
          <p:cNvPr id="74" name="!!knobT0"/>
          <p:cNvSpPr txBox="1"/>
          <p:nvPr/>
        </p:nvSpPr>
        <p:spPr>
          <a:xfrm>
            <a:off x="667512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75" name="!!knobT1"/>
          <p:cNvSpPr txBox="1"/>
          <p:nvPr/>
        </p:nvSpPr>
        <p:spPr>
          <a:xfrm>
            <a:off x="79552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76" name="!!knobT2"/>
          <p:cNvSpPr txBox="1"/>
          <p:nvPr/>
        </p:nvSpPr>
        <p:spPr>
          <a:xfrm>
            <a:off x="923544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77" name="!!knobT3"/>
          <p:cNvSpPr txBox="1"/>
          <p:nvPr/>
        </p:nvSpPr>
        <p:spPr>
          <a:xfrm>
            <a:off x="1051560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78" name="!!knobT4"/>
          <p:cNvSpPr txBox="1"/>
          <p:nvPr/>
        </p:nvSpPr>
        <p:spPr>
          <a:xfrm>
            <a:off x="111556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79" name="!!knobThumb"/>
          <p:cNvSpPr/>
          <p:nvPr/>
        </p:nvSpPr>
        <p:spPr>
          <a:xfrm>
            <a:off x="10780776" y="5431536"/>
            <a:ext cx="201168" cy="201168"/>
          </a:xfrm>
          <a:prstGeom prst="ellipse">
            <a:avLst/>
          </a:prstGeom>
          <a:solidFill>
            <a:srgbClr val="FFFFFF"/>
          </a:solidFill>
          <a:ln w="28575">
            <a:solidFill>
              <a:srgbClr val="6B5BC4"/>
            </a:solidFill>
            <a:prstDash val="solid"/>
          </a:ln>
        </p:spPr>
      </p:sp>
      <p:sp>
        <p:nvSpPr>
          <p:cNvPr id="80"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Heat now flows out through the contacts and the gate metal.</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92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Self-heating – Where the heat goes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Reproduced GAAFET,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raised step by step (Silvaco Atlas)</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171A20"/>
          </a:solidFill>
          <a:ln/>
        </p:spPr>
      </p:sp>
      <p:sp>
        <p:nvSpPr>
          <p:cNvPr id="6" name="!!sdot2"/>
          <p:cNvSpPr/>
          <p:nvPr/>
        </p:nvSpPr>
        <p:spPr>
          <a:xfrm>
            <a:off x="11132820" y="525780"/>
            <a:ext cx="82296" cy="82296"/>
          </a:xfrm>
          <a:prstGeom prst="ellipse">
            <a:avLst/>
          </a:prstGeom>
          <a:solidFill>
            <a:srgbClr val="171A20"/>
          </a:solidFill>
          <a:ln/>
        </p:spPr>
      </p:sp>
      <p:sp>
        <p:nvSpPr>
          <p:cNvPr id="7" name="!!sdot3"/>
          <p:cNvSpPr/>
          <p:nvPr/>
        </p:nvSpPr>
        <p:spPr>
          <a:xfrm>
            <a:off x="11288268" y="525780"/>
            <a:ext cx="82296" cy="82296"/>
          </a:xfrm>
          <a:prstGeom prst="ellipse">
            <a:avLst/>
          </a:prstGeom>
          <a:solidFill>
            <a:srgbClr val="171A20"/>
          </a:solidFill>
          <a:ln/>
        </p:spPr>
      </p:sp>
      <p:sp>
        <p:nvSpPr>
          <p:cNvPr id="8" name="!!sdot4"/>
          <p:cNvSpPr/>
          <p:nvPr/>
        </p:nvSpPr>
        <p:spPr>
          <a:xfrm>
            <a:off x="11443716" y="525780"/>
            <a:ext cx="82296" cy="82296"/>
          </a:xfrm>
          <a:prstGeom prst="ellipse">
            <a:avLst/>
          </a:prstGeom>
          <a:solidFill>
            <a:srgbClr val="171A20"/>
          </a:solidFill>
          <a:ln/>
        </p:spPr>
      </p:sp>
      <p:sp>
        <p:nvSpPr>
          <p:cNvPr id="9" name="!!sdot5"/>
          <p:cNvSpPr/>
          <p:nvPr/>
        </p:nvSpPr>
        <p:spPr>
          <a:xfrm>
            <a:off x="11599164" y="525780"/>
            <a:ext cx="82296" cy="82296"/>
          </a:xfrm>
          <a:prstGeom prst="ellipse">
            <a:avLst/>
          </a:prstGeom>
          <a:solidFill>
            <a:srgbClr val="171A20"/>
          </a:solidFill>
          <a:ln/>
        </p:spPr>
      </p:sp>
      <p:sp>
        <p:nvSpPr>
          <p:cNvPr id="10" name="!!hsS"/>
          <p:cNvSpPr/>
          <p:nvPr/>
        </p:nvSpPr>
        <p:spPr>
          <a:xfrm>
            <a:off x="640080" y="2011680"/>
            <a:ext cx="1463040" cy="2194560"/>
          </a:xfrm>
          <a:prstGeom prst="roundRect">
            <a:avLst>
              <a:gd name="adj" fmla="val 2500"/>
            </a:avLst>
          </a:prstGeom>
          <a:solidFill>
            <a:srgbClr val="7D9BE6"/>
          </a:solidFill>
          <a:ln/>
        </p:spPr>
      </p:sp>
      <p:sp>
        <p:nvSpPr>
          <p:cNvPr id="11" name="!!hsD"/>
          <p:cNvSpPr/>
          <p:nvPr/>
        </p:nvSpPr>
        <p:spPr>
          <a:xfrm>
            <a:off x="4389120" y="2011680"/>
            <a:ext cx="1463040" cy="2194560"/>
          </a:xfrm>
          <a:prstGeom prst="roundRect">
            <a:avLst>
              <a:gd name="adj" fmla="val 2500"/>
            </a:avLst>
          </a:prstGeom>
          <a:solidFill>
            <a:srgbClr val="7D9BE6"/>
          </a:solidFill>
          <a:ln/>
        </p:spPr>
      </p:sp>
      <p:sp>
        <p:nvSpPr>
          <p:cNvPr id="12" name="!!hsSL"/>
          <p:cNvSpPr txBox="1"/>
          <p:nvPr/>
        </p:nvSpPr>
        <p:spPr>
          <a:xfrm>
            <a:off x="64008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source</a:t>
            </a:r>
            <a:endParaRPr lang="en-US" sz="1100" dirty="0"/>
          </a:p>
        </p:txBody>
      </p:sp>
      <p:sp>
        <p:nvSpPr>
          <p:cNvPr id="13" name="!!hsDL"/>
          <p:cNvSpPr txBox="1"/>
          <p:nvPr/>
        </p:nvSpPr>
        <p:spPr>
          <a:xfrm>
            <a:off x="4389120" y="3886200"/>
            <a:ext cx="1463040" cy="274320"/>
          </a:xfrm>
          <a:prstGeom prst="rect">
            <a:avLst/>
          </a:prstGeom>
          <a:noFill/>
          <a:ln/>
        </p:spPr>
        <p:txBody>
          <a:bodyPr wrap="square" lIns="0" tIns="0" rIns="0" bIns="0" rtlCol="0" anchor="t"/>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drain</a:t>
            </a:r>
            <a:endParaRPr lang="en-US" sz="1100" dirty="0"/>
          </a:p>
        </p:txBody>
      </p:sp>
      <p:sp>
        <p:nvSpPr>
          <p:cNvPr id="14" name="!!hsSpL"/>
          <p:cNvSpPr/>
          <p:nvPr/>
        </p:nvSpPr>
        <p:spPr>
          <a:xfrm>
            <a:off x="2103120" y="2011680"/>
            <a:ext cx="320040" cy="2194560"/>
          </a:xfrm>
          <a:prstGeom prst="rect">
            <a:avLst/>
          </a:prstGeom>
          <a:solidFill>
            <a:srgbClr val="D9DCE3"/>
          </a:solidFill>
          <a:ln/>
        </p:spPr>
      </p:sp>
      <p:sp>
        <p:nvSpPr>
          <p:cNvPr id="15" name="!!hsSpR"/>
          <p:cNvSpPr/>
          <p:nvPr/>
        </p:nvSpPr>
        <p:spPr>
          <a:xfrm>
            <a:off x="4069080" y="2011680"/>
            <a:ext cx="320040" cy="2194560"/>
          </a:xfrm>
          <a:prstGeom prst="rect">
            <a:avLst/>
          </a:prstGeom>
          <a:solidFill>
            <a:srgbClr val="D9DCE3"/>
          </a:solidFill>
          <a:ln/>
        </p:spPr>
      </p:sp>
      <p:sp>
        <p:nvSpPr>
          <p:cNvPr id="16" name="!!hsG"/>
          <p:cNvSpPr/>
          <p:nvPr/>
        </p:nvSpPr>
        <p:spPr>
          <a:xfrm>
            <a:off x="2423160" y="2011680"/>
            <a:ext cx="1645920" cy="2194560"/>
          </a:xfrm>
          <a:prstGeom prst="rect">
            <a:avLst/>
          </a:prstGeom>
          <a:solidFill>
            <a:srgbClr val="B3A6E6"/>
          </a:solidFill>
          <a:ln/>
        </p:spPr>
      </p:sp>
      <p:sp>
        <p:nvSpPr>
          <p:cNvPr id="17" name="!!hsGL"/>
          <p:cNvSpPr txBox="1"/>
          <p:nvPr/>
        </p:nvSpPr>
        <p:spPr>
          <a:xfrm>
            <a:off x="2423160" y="2103120"/>
            <a:ext cx="1645920" cy="274320"/>
          </a:xfrm>
          <a:prstGeom prst="rect">
            <a:avLst/>
          </a:prstGeom>
          <a:noFill/>
          <a:ln/>
        </p:spPr>
        <p:txBody>
          <a:bodyPr wrap="square" lIns="0" tIns="0" rIns="0" bIns="0" rtlCol="0" anchor="t"/>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 (wraps)</a:t>
            </a:r>
            <a:endParaRPr lang="en-US" sz="1100" dirty="0"/>
          </a:p>
        </p:txBody>
      </p:sp>
      <p:sp>
        <p:nvSpPr>
          <p:cNvPr id="18" name="!!hsOx"/>
          <p:cNvSpPr/>
          <p:nvPr/>
        </p:nvSpPr>
        <p:spPr>
          <a:xfrm>
            <a:off x="2103120" y="2770632"/>
            <a:ext cx="2286000" cy="676656"/>
          </a:xfrm>
          <a:prstGeom prst="rect">
            <a:avLst/>
          </a:prstGeom>
          <a:solidFill>
            <a:srgbClr val="8FCBE0"/>
          </a:solidFill>
          <a:ln/>
        </p:spPr>
      </p:sp>
      <p:sp>
        <p:nvSpPr>
          <p:cNvPr id="19" name="!!hsW"/>
          <p:cNvSpPr/>
          <p:nvPr/>
        </p:nvSpPr>
        <p:spPr>
          <a:xfrm>
            <a:off x="2103120" y="2880360"/>
            <a:ext cx="2286000" cy="457200"/>
          </a:xfrm>
          <a:prstGeom prst="rect">
            <a:avLst/>
          </a:prstGeom>
          <a:solidFill>
            <a:srgbClr val="F6E7B8"/>
          </a:solidFill>
          <a:ln/>
        </p:spPr>
      </p:sp>
      <p:sp>
        <p:nvSpPr>
          <p:cNvPr id="20" name="!!hsC0"/>
          <p:cNvSpPr/>
          <p:nvPr/>
        </p:nvSpPr>
        <p:spPr>
          <a:xfrm>
            <a:off x="640080" y="1691640"/>
            <a:ext cx="1463040" cy="228600"/>
          </a:xfrm>
          <a:prstGeom prst="roundRect">
            <a:avLst>
              <a:gd name="adj" fmla="val 12000"/>
            </a:avLst>
          </a:prstGeom>
          <a:solidFill>
            <a:srgbClr val="171A20"/>
          </a:solidFill>
          <a:ln/>
        </p:spPr>
      </p:sp>
      <p:sp>
        <p:nvSpPr>
          <p:cNvPr id="21" name="!!hsCt0"/>
          <p:cNvSpPr txBox="1"/>
          <p:nvPr/>
        </p:nvSpPr>
        <p:spPr>
          <a:xfrm>
            <a:off x="64008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2" name="!!hsC1"/>
          <p:cNvSpPr/>
          <p:nvPr/>
        </p:nvSpPr>
        <p:spPr>
          <a:xfrm>
            <a:off x="2423160" y="1691640"/>
            <a:ext cx="1645920" cy="228600"/>
          </a:xfrm>
          <a:prstGeom prst="roundRect">
            <a:avLst>
              <a:gd name="adj" fmla="val 12000"/>
            </a:avLst>
          </a:prstGeom>
          <a:solidFill>
            <a:srgbClr val="171A20"/>
          </a:solidFill>
          <a:ln/>
        </p:spPr>
      </p:sp>
      <p:sp>
        <p:nvSpPr>
          <p:cNvPr id="23" name="!!hsCt1"/>
          <p:cNvSpPr txBox="1"/>
          <p:nvPr/>
        </p:nvSpPr>
        <p:spPr>
          <a:xfrm>
            <a:off x="2423160" y="1691640"/>
            <a:ext cx="164592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4" name="!!hsC2"/>
          <p:cNvSpPr/>
          <p:nvPr/>
        </p:nvSpPr>
        <p:spPr>
          <a:xfrm>
            <a:off x="4389120" y="1691640"/>
            <a:ext cx="1463040" cy="228600"/>
          </a:xfrm>
          <a:prstGeom prst="roundRect">
            <a:avLst>
              <a:gd name="adj" fmla="val 12000"/>
            </a:avLst>
          </a:prstGeom>
          <a:solidFill>
            <a:srgbClr val="171A20"/>
          </a:solidFill>
          <a:ln/>
        </p:spPr>
      </p:sp>
      <p:sp>
        <p:nvSpPr>
          <p:cNvPr id="25" name="!!hsCt2"/>
          <p:cNvSpPr txBox="1"/>
          <p:nvPr/>
        </p:nvSpPr>
        <p:spPr>
          <a:xfrm>
            <a:off x="4389120" y="1691640"/>
            <a:ext cx="1463040" cy="228600"/>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300 K</a:t>
            </a:r>
            <a:endParaRPr lang="en-US" sz="900" dirty="0"/>
          </a:p>
        </p:txBody>
      </p:sp>
      <p:sp>
        <p:nvSpPr>
          <p:cNvPr id="26" name="!!hsH0"/>
          <p:cNvSpPr/>
          <p:nvPr/>
        </p:nvSpPr>
        <p:spPr>
          <a:xfrm>
            <a:off x="3092262" y="2717530"/>
            <a:ext cx="1770756" cy="782861"/>
          </a:xfrm>
          <a:prstGeom prst="ellipse">
            <a:avLst/>
          </a:prstGeom>
          <a:solidFill>
            <a:srgbClr val="FFE1B3">
              <a:alpha val="85000"/>
            </a:srgbClr>
          </a:solidFill>
          <a:ln/>
        </p:spPr>
      </p:sp>
      <p:sp>
        <p:nvSpPr>
          <p:cNvPr id="27" name="!!hsH1"/>
          <p:cNvSpPr/>
          <p:nvPr/>
        </p:nvSpPr>
        <p:spPr>
          <a:xfrm>
            <a:off x="3344845" y="2829198"/>
            <a:ext cx="1265590" cy="559524"/>
          </a:xfrm>
          <a:prstGeom prst="ellipse">
            <a:avLst/>
          </a:prstGeom>
          <a:solidFill>
            <a:srgbClr val="FFB36B">
              <a:alpha val="85000"/>
            </a:srgbClr>
          </a:solidFill>
          <a:ln/>
        </p:spPr>
      </p:sp>
      <p:sp>
        <p:nvSpPr>
          <p:cNvPr id="28" name="!!hsH2"/>
          <p:cNvSpPr/>
          <p:nvPr/>
        </p:nvSpPr>
        <p:spPr>
          <a:xfrm>
            <a:off x="3555331" y="2922255"/>
            <a:ext cx="844618" cy="373410"/>
          </a:xfrm>
          <a:prstGeom prst="ellipse">
            <a:avLst/>
          </a:prstGeom>
          <a:solidFill>
            <a:srgbClr val="F07A3A">
              <a:alpha val="85000"/>
            </a:srgbClr>
          </a:solidFill>
          <a:ln/>
        </p:spPr>
      </p:sp>
      <p:sp>
        <p:nvSpPr>
          <p:cNvPr id="29" name="!!hsH3"/>
          <p:cNvSpPr/>
          <p:nvPr/>
        </p:nvSpPr>
        <p:spPr>
          <a:xfrm>
            <a:off x="3723720" y="2996701"/>
            <a:ext cx="507840" cy="224519"/>
          </a:xfrm>
          <a:prstGeom prst="ellipse">
            <a:avLst/>
          </a:prstGeom>
          <a:solidFill>
            <a:srgbClr val="D64545">
              <a:alpha val="85000"/>
            </a:srgbClr>
          </a:solidFill>
          <a:ln/>
        </p:spPr>
      </p:sp>
      <p:sp>
        <p:nvSpPr>
          <p:cNvPr id="30" name="!!hsA0"/>
          <p:cNvSpPr/>
          <p:nvPr/>
        </p:nvSpPr>
        <p:spPr>
          <a:xfrm>
            <a:off x="2240280" y="3108960"/>
            <a:ext cx="457200" cy="91"/>
          </a:xfrm>
          <a:prstGeom prst="line">
            <a:avLst/>
          </a:prstGeom>
          <a:noFill/>
          <a:ln w="25400">
            <a:solidFill>
              <a:srgbClr val="1F2F6B"/>
            </a:solidFill>
            <a:prstDash val="solid"/>
            <a:tailEnd type="triangle"/>
          </a:ln>
        </p:spPr>
      </p:sp>
      <p:sp>
        <p:nvSpPr>
          <p:cNvPr id="31" name="!!hsA1"/>
          <p:cNvSpPr/>
          <p:nvPr/>
        </p:nvSpPr>
        <p:spPr>
          <a:xfrm>
            <a:off x="2880360" y="3108960"/>
            <a:ext cx="457200" cy="91"/>
          </a:xfrm>
          <a:prstGeom prst="line">
            <a:avLst/>
          </a:prstGeom>
          <a:noFill/>
          <a:ln w="25400">
            <a:solidFill>
              <a:srgbClr val="1F2F6B"/>
            </a:solidFill>
            <a:prstDash val="solid"/>
            <a:tailEnd type="triangle"/>
          </a:ln>
        </p:spPr>
      </p:sp>
      <p:sp>
        <p:nvSpPr>
          <p:cNvPr id="32" name="!!hsA2"/>
          <p:cNvSpPr/>
          <p:nvPr/>
        </p:nvSpPr>
        <p:spPr>
          <a:xfrm>
            <a:off x="3520440" y="3108960"/>
            <a:ext cx="457200" cy="91"/>
          </a:xfrm>
          <a:prstGeom prst="line">
            <a:avLst/>
          </a:prstGeom>
          <a:noFill/>
          <a:ln w="25400">
            <a:solidFill>
              <a:srgbClr val="1F2F6B"/>
            </a:solidFill>
            <a:prstDash val="solid"/>
            <a:tailEnd type="triangle"/>
          </a:ln>
        </p:spPr>
      </p:sp>
      <p:sp>
        <p:nvSpPr>
          <p:cNvPr id="33" name="!!hsX0"/>
          <p:cNvSpPr/>
          <p:nvPr/>
        </p:nvSpPr>
        <p:spPr>
          <a:xfrm flipH="1">
            <a:off x="4023360" y="1938528"/>
            <a:ext cx="91" cy="804672"/>
          </a:xfrm>
          <a:prstGeom prst="line">
            <a:avLst/>
          </a:prstGeom>
          <a:noFill/>
          <a:ln w="31750">
            <a:solidFill>
              <a:srgbClr val="E07B00"/>
            </a:solidFill>
            <a:prstDash val="solid"/>
            <a:tailEnd type="triangle"/>
          </a:ln>
        </p:spPr>
      </p:sp>
      <p:sp>
        <p:nvSpPr>
          <p:cNvPr id="34" name="!!hsX1"/>
          <p:cNvSpPr/>
          <p:nvPr/>
        </p:nvSpPr>
        <p:spPr>
          <a:xfrm flipH="1">
            <a:off x="4206240" y="1938528"/>
            <a:ext cx="914400" cy="1170432"/>
          </a:xfrm>
          <a:prstGeom prst="line">
            <a:avLst/>
          </a:prstGeom>
          <a:noFill/>
          <a:ln w="31750">
            <a:solidFill>
              <a:srgbClr val="E07B00"/>
            </a:solidFill>
            <a:prstDash val="solid"/>
            <a:tailEnd type="triangle"/>
          </a:ln>
        </p:spPr>
      </p:sp>
      <p:sp>
        <p:nvSpPr>
          <p:cNvPr id="35" name="!!hsX2"/>
          <p:cNvSpPr/>
          <p:nvPr/>
        </p:nvSpPr>
        <p:spPr>
          <a:xfrm>
            <a:off x="1371600" y="1938528"/>
            <a:ext cx="2468880" cy="1170432"/>
          </a:xfrm>
          <a:prstGeom prst="line">
            <a:avLst/>
          </a:prstGeom>
          <a:noFill/>
          <a:ln w="19050">
            <a:solidFill>
              <a:srgbClr val="E07B00"/>
            </a:solidFill>
            <a:prstDash val="dash"/>
            <a:tailEnd type="triangle"/>
          </a:ln>
        </p:spPr>
      </p:sp>
      <p:sp>
        <p:nvSpPr>
          <p:cNvPr id="36" name="!!hsHL"/>
          <p:cNvSpPr txBox="1"/>
          <p:nvPr/>
        </p:nvSpPr>
        <p:spPr>
          <a:xfrm>
            <a:off x="3291840" y="4297680"/>
            <a:ext cx="1828800" cy="228600"/>
          </a:xfrm>
          <a:prstGeom prst="rect">
            <a:avLst/>
          </a:prstGeom>
          <a:noFill/>
          <a:ln/>
        </p:spPr>
        <p:txBody>
          <a:bodyPr wrap="square" lIns="0" tIns="0" rIns="0" bIns="0" rtlCol="0" anchor="t"/>
          <a:lstStyle/>
          <a:p>
            <a:pPr algn="ctr" indent="0" marL="0">
              <a:buNone/>
            </a:pPr>
            <a:r>
              <a:rPr lang="en-US" sz="1000" dirty="0">
                <a:solidFill>
                  <a:srgbClr val="E07B00"/>
                </a:solidFill>
                <a:latin typeface="Segoe UI Semibold" pitchFamily="34" charset="0"/>
                <a:ea typeface="Segoe UI Semibold" pitchFamily="34" charset="-122"/>
                <a:cs typeface="Segoe UI Semibold" pitchFamily="34" charset="-120"/>
              </a:rPr>
              <a:t>hot spot: drain end</a:t>
            </a:r>
            <a:endParaRPr lang="en-US" sz="1000" dirty="0"/>
          </a:p>
        </p:txBody>
      </p:sp>
      <p:sp>
        <p:nvSpPr>
          <p:cNvPr id="37" name="!!axg0"/>
          <p:cNvSpPr/>
          <p:nvPr/>
        </p:nvSpPr>
        <p:spPr>
          <a:xfrm>
            <a:off x="7315200" y="4023360"/>
            <a:ext cx="4206240" cy="91"/>
          </a:xfrm>
          <a:prstGeom prst="line">
            <a:avLst/>
          </a:prstGeom>
          <a:noFill/>
          <a:ln w="9525">
            <a:solidFill>
              <a:srgbClr val="EDEEF0"/>
            </a:solidFill>
            <a:prstDash val="solid"/>
          </a:ln>
        </p:spPr>
      </p:sp>
      <p:sp>
        <p:nvSpPr>
          <p:cNvPr id="38" name="!!axg1"/>
          <p:cNvSpPr/>
          <p:nvPr/>
        </p:nvSpPr>
        <p:spPr>
          <a:xfrm>
            <a:off x="7315200" y="3547872"/>
            <a:ext cx="4206240" cy="91"/>
          </a:xfrm>
          <a:prstGeom prst="line">
            <a:avLst/>
          </a:prstGeom>
          <a:noFill/>
          <a:ln w="9525">
            <a:solidFill>
              <a:srgbClr val="EDEEF0"/>
            </a:solidFill>
            <a:prstDash val="solid"/>
          </a:ln>
        </p:spPr>
      </p:sp>
      <p:sp>
        <p:nvSpPr>
          <p:cNvPr id="39" name="!!axg2"/>
          <p:cNvSpPr/>
          <p:nvPr/>
        </p:nvSpPr>
        <p:spPr>
          <a:xfrm>
            <a:off x="7315200" y="3072384"/>
            <a:ext cx="4206240" cy="91"/>
          </a:xfrm>
          <a:prstGeom prst="line">
            <a:avLst/>
          </a:prstGeom>
          <a:noFill/>
          <a:ln w="9525">
            <a:solidFill>
              <a:srgbClr val="EDEEF0"/>
            </a:solidFill>
            <a:prstDash val="solid"/>
          </a:ln>
        </p:spPr>
      </p:sp>
      <p:sp>
        <p:nvSpPr>
          <p:cNvPr id="40" name="!!axg3"/>
          <p:cNvSpPr/>
          <p:nvPr/>
        </p:nvSpPr>
        <p:spPr>
          <a:xfrm>
            <a:off x="7315200" y="2596896"/>
            <a:ext cx="4206240" cy="91"/>
          </a:xfrm>
          <a:prstGeom prst="line">
            <a:avLst/>
          </a:prstGeom>
          <a:noFill/>
          <a:ln w="9525">
            <a:solidFill>
              <a:srgbClr val="EDEEF0"/>
            </a:solidFill>
            <a:prstDash val="solid"/>
          </a:ln>
        </p:spPr>
      </p:sp>
      <p:sp>
        <p:nvSpPr>
          <p:cNvPr id="41" name="!!axg4"/>
          <p:cNvSpPr/>
          <p:nvPr/>
        </p:nvSpPr>
        <p:spPr>
          <a:xfrm>
            <a:off x="7315200" y="2121408"/>
            <a:ext cx="4206240" cy="91"/>
          </a:xfrm>
          <a:prstGeom prst="line">
            <a:avLst/>
          </a:prstGeom>
          <a:noFill/>
          <a:ln w="9525">
            <a:solidFill>
              <a:srgbClr val="EDEEF0"/>
            </a:solidFill>
            <a:prstDash val="solid"/>
          </a:ln>
        </p:spPr>
      </p:sp>
      <p:sp>
        <p:nvSpPr>
          <p:cNvPr id="42" name="!!axg5"/>
          <p:cNvSpPr/>
          <p:nvPr/>
        </p:nvSpPr>
        <p:spPr>
          <a:xfrm>
            <a:off x="7315200" y="1645920"/>
            <a:ext cx="4206240" cy="91"/>
          </a:xfrm>
          <a:prstGeom prst="line">
            <a:avLst/>
          </a:prstGeom>
          <a:noFill/>
          <a:ln w="9525">
            <a:solidFill>
              <a:srgbClr val="EDEEF0"/>
            </a:solidFill>
            <a:prstDash val="solid"/>
          </a:ln>
        </p:spPr>
      </p:sp>
      <p:sp>
        <p:nvSpPr>
          <p:cNvPr id="43" name="!!axxa"/>
          <p:cNvSpPr/>
          <p:nvPr/>
        </p:nvSpPr>
        <p:spPr>
          <a:xfrm>
            <a:off x="7315200" y="4023360"/>
            <a:ext cx="4206240" cy="91"/>
          </a:xfrm>
          <a:prstGeom prst="line">
            <a:avLst/>
          </a:prstGeom>
          <a:noFill/>
          <a:ln w="12700">
            <a:solidFill>
              <a:srgbClr val="8A8D93"/>
            </a:solidFill>
            <a:prstDash val="solid"/>
          </a:ln>
        </p:spPr>
      </p:sp>
      <p:sp>
        <p:nvSpPr>
          <p:cNvPr id="44" name="!!axya"/>
          <p:cNvSpPr/>
          <p:nvPr/>
        </p:nvSpPr>
        <p:spPr>
          <a:xfrm>
            <a:off x="7315200" y="1645920"/>
            <a:ext cx="91" cy="2377440"/>
          </a:xfrm>
          <a:prstGeom prst="line">
            <a:avLst/>
          </a:prstGeom>
          <a:noFill/>
          <a:ln w="12700">
            <a:solidFill>
              <a:srgbClr val="8A8D93"/>
            </a:solidFill>
            <a:prstDash val="solid"/>
          </a:ln>
        </p:spPr>
      </p:sp>
      <p:sp>
        <p:nvSpPr>
          <p:cNvPr id="45" name="!!axxt0"/>
          <p:cNvSpPr txBox="1"/>
          <p:nvPr/>
        </p:nvSpPr>
        <p:spPr>
          <a:xfrm>
            <a:off x="699516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6" name="!!axxt1"/>
          <p:cNvSpPr txBox="1"/>
          <p:nvPr/>
        </p:nvSpPr>
        <p:spPr>
          <a:xfrm>
            <a:off x="804672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5</a:t>
            </a:r>
            <a:endParaRPr lang="en-US" sz="900" dirty="0"/>
          </a:p>
        </p:txBody>
      </p:sp>
      <p:sp>
        <p:nvSpPr>
          <p:cNvPr id="47" name="!!axxt2"/>
          <p:cNvSpPr txBox="1"/>
          <p:nvPr/>
        </p:nvSpPr>
        <p:spPr>
          <a:xfrm>
            <a:off x="909828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48" name="!!axxt3"/>
          <p:cNvSpPr txBox="1"/>
          <p:nvPr/>
        </p:nvSpPr>
        <p:spPr>
          <a:xfrm>
            <a:off x="1014984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15</a:t>
            </a:r>
            <a:endParaRPr lang="en-US" sz="900" dirty="0"/>
          </a:p>
        </p:txBody>
      </p:sp>
      <p:sp>
        <p:nvSpPr>
          <p:cNvPr id="49" name="!!axxt4"/>
          <p:cNvSpPr txBox="1"/>
          <p:nvPr/>
        </p:nvSpPr>
        <p:spPr>
          <a:xfrm>
            <a:off x="11201400" y="406908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50" name="!!axyt0"/>
          <p:cNvSpPr txBox="1"/>
          <p:nvPr/>
        </p:nvSpPr>
        <p:spPr>
          <a:xfrm>
            <a:off x="6629400" y="39227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51" name="!!axyt1"/>
          <p:cNvSpPr txBox="1"/>
          <p:nvPr/>
        </p:nvSpPr>
        <p:spPr>
          <a:xfrm>
            <a:off x="6629400" y="3447288"/>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52" name="!!axyt2"/>
          <p:cNvSpPr txBox="1"/>
          <p:nvPr/>
        </p:nvSpPr>
        <p:spPr>
          <a:xfrm>
            <a:off x="6629400" y="297180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53" name="!!axyt3"/>
          <p:cNvSpPr txBox="1"/>
          <p:nvPr/>
        </p:nvSpPr>
        <p:spPr>
          <a:xfrm>
            <a:off x="6629400" y="249631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30</a:t>
            </a:r>
            <a:endParaRPr lang="en-US" sz="900" dirty="0"/>
          </a:p>
        </p:txBody>
      </p:sp>
      <p:sp>
        <p:nvSpPr>
          <p:cNvPr id="54" name="!!axyt4"/>
          <p:cNvSpPr txBox="1"/>
          <p:nvPr/>
        </p:nvSpPr>
        <p:spPr>
          <a:xfrm>
            <a:off x="6629400" y="2020824"/>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40</a:t>
            </a:r>
            <a:endParaRPr lang="en-US" sz="900" dirty="0"/>
          </a:p>
        </p:txBody>
      </p:sp>
      <p:sp>
        <p:nvSpPr>
          <p:cNvPr id="55" name="!!axyt5"/>
          <p:cNvSpPr txBox="1"/>
          <p:nvPr/>
        </p:nvSpPr>
        <p:spPr>
          <a:xfrm>
            <a:off x="6629400" y="1545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50</a:t>
            </a:r>
            <a:endParaRPr lang="en-US" sz="900" dirty="0"/>
          </a:p>
        </p:txBody>
      </p:sp>
      <p:sp>
        <p:nvSpPr>
          <p:cNvPr id="56" name="!!axxl"/>
          <p:cNvSpPr txBox="1"/>
          <p:nvPr/>
        </p:nvSpPr>
        <p:spPr>
          <a:xfrm>
            <a:off x="7315200" y="429768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power P = I</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·V</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 (µW)</a:t>
            </a:r>
            <a:endParaRPr lang="en-US" sz="1100" dirty="0"/>
          </a:p>
        </p:txBody>
      </p:sp>
      <p:sp>
        <p:nvSpPr>
          <p:cNvPr id="57" name="!!axyl"/>
          <p:cNvSpPr txBox="1"/>
          <p:nvPr/>
        </p:nvSpPr>
        <p:spPr>
          <a:xfrm>
            <a:off x="7132320" y="134416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temperature rise ΔT (K)</a:t>
            </a:r>
            <a:endParaRPr lang="en-US" sz="1100" dirty="0"/>
          </a:p>
        </p:txBody>
      </p:sp>
      <p:sp>
        <p:nvSpPr>
          <p:cNvPr id="58" name="!!ivGhost"/>
          <p:cNvSpPr/>
          <p:nvPr/>
        </p:nvSpPr>
        <p:spPr>
          <a:xfrm>
            <a:off x="7315292" y="1949567"/>
            <a:ext cx="4043953" cy="2073746"/>
          </a:xfrm>
          <a:custGeom>
            <a:avLst/>
            <a:gdLst/>
            <a:ahLst/>
            <a:cxnLst/>
            <a:rect l="l" t="t" r="r" b="b"/>
            <a:pathLst>
              <a:path w="4043953" h="2073746">
                <a:moveTo>
                  <a:pt x="0" y="2073746"/>
                </a:moveTo>
                <a:lnTo>
                  <a:pt x="118" y="2073698"/>
                </a:lnTo>
                <a:lnTo>
                  <a:pt x="397" y="2073603"/>
                </a:lnTo>
                <a:lnTo>
                  <a:pt x="1051" y="2072890"/>
                </a:lnTo>
                <a:lnTo>
                  <a:pt x="2580" y="2071701"/>
                </a:lnTo>
                <a:lnTo>
                  <a:pt x="6115" y="2069038"/>
                </a:lnTo>
                <a:lnTo>
                  <a:pt x="14143" y="2063095"/>
                </a:lnTo>
                <a:lnTo>
                  <a:pt x="31548" y="2050447"/>
                </a:lnTo>
                <a:lnTo>
                  <a:pt x="66537" y="2025722"/>
                </a:lnTo>
                <a:lnTo>
                  <a:pt x="130427" y="1981739"/>
                </a:lnTo>
                <a:lnTo>
                  <a:pt x="234345" y="1911700"/>
                </a:lnTo>
                <a:lnTo>
                  <a:pt x="374271" y="1820976"/>
                </a:lnTo>
                <a:lnTo>
                  <a:pt x="530663" y="1723359"/>
                </a:lnTo>
                <a:lnTo>
                  <a:pt x="687612" y="1629260"/>
                </a:lnTo>
                <a:lnTo>
                  <a:pt x="850162" y="1535208"/>
                </a:lnTo>
                <a:lnTo>
                  <a:pt x="1023544" y="1437923"/>
                </a:lnTo>
                <a:lnTo>
                  <a:pt x="1208773" y="1336026"/>
                </a:lnTo>
                <a:lnTo>
                  <a:pt x="1405305" y="1230658"/>
                </a:lnTo>
                <a:lnTo>
                  <a:pt x="1612229" y="1122342"/>
                </a:lnTo>
                <a:lnTo>
                  <a:pt x="1828478" y="1011838"/>
                </a:lnTo>
                <a:lnTo>
                  <a:pt x="2053016" y="899718"/>
                </a:lnTo>
                <a:lnTo>
                  <a:pt x="2284826" y="786600"/>
                </a:lnTo>
                <a:lnTo>
                  <a:pt x="2523011" y="672863"/>
                </a:lnTo>
                <a:lnTo>
                  <a:pt x="2766731" y="559174"/>
                </a:lnTo>
                <a:lnTo>
                  <a:pt x="3015206" y="445818"/>
                </a:lnTo>
                <a:lnTo>
                  <a:pt x="3267759" y="332984"/>
                </a:lnTo>
                <a:lnTo>
                  <a:pt x="3523772" y="220959"/>
                </a:lnTo>
                <a:lnTo>
                  <a:pt x="3782670" y="109885"/>
                </a:lnTo>
                <a:lnTo>
                  <a:pt x="4043953" y="0"/>
                </a:lnTo>
              </a:path>
            </a:pathLst>
          </a:custGeom>
          <a:ln w="25400">
            <a:solidFill>
              <a:srgbClr val="C9CCD3"/>
            </a:solidFill>
            <a:prstDash val="solid"/>
          </a:ln>
        </p:spPr>
      </p:sp>
      <p:sp>
        <p:nvSpPr>
          <p:cNvPr id="59" name="!!ivTrail"/>
          <p:cNvSpPr/>
          <p:nvPr/>
        </p:nvSpPr>
        <p:spPr>
          <a:xfrm>
            <a:off x="7315292" y="1949567"/>
            <a:ext cx="4043953" cy="2073746"/>
          </a:xfrm>
          <a:custGeom>
            <a:avLst/>
            <a:gdLst/>
            <a:ahLst/>
            <a:cxnLst/>
            <a:rect l="l" t="t" r="r" b="b"/>
            <a:pathLst>
              <a:path w="4043953" h="2073746">
                <a:moveTo>
                  <a:pt x="0" y="2073746"/>
                </a:moveTo>
                <a:lnTo>
                  <a:pt x="118" y="2073698"/>
                </a:lnTo>
                <a:lnTo>
                  <a:pt x="397" y="2073603"/>
                </a:lnTo>
                <a:lnTo>
                  <a:pt x="1051" y="2072890"/>
                </a:lnTo>
                <a:lnTo>
                  <a:pt x="2580" y="2071701"/>
                </a:lnTo>
                <a:lnTo>
                  <a:pt x="6115" y="2069038"/>
                </a:lnTo>
                <a:lnTo>
                  <a:pt x="14143" y="2063095"/>
                </a:lnTo>
                <a:lnTo>
                  <a:pt x="31548" y="2050447"/>
                </a:lnTo>
                <a:lnTo>
                  <a:pt x="66537" y="2025722"/>
                </a:lnTo>
                <a:lnTo>
                  <a:pt x="130427" y="1981739"/>
                </a:lnTo>
                <a:lnTo>
                  <a:pt x="234345" y="1911700"/>
                </a:lnTo>
                <a:lnTo>
                  <a:pt x="374271" y="1820976"/>
                </a:lnTo>
                <a:lnTo>
                  <a:pt x="530663" y="1723359"/>
                </a:lnTo>
                <a:lnTo>
                  <a:pt x="687612" y="1629260"/>
                </a:lnTo>
                <a:lnTo>
                  <a:pt x="850162" y="1535208"/>
                </a:lnTo>
                <a:lnTo>
                  <a:pt x="1023544" y="1437923"/>
                </a:lnTo>
                <a:lnTo>
                  <a:pt x="1208773" y="1336026"/>
                </a:lnTo>
                <a:lnTo>
                  <a:pt x="1405305" y="1230658"/>
                </a:lnTo>
                <a:lnTo>
                  <a:pt x="1612229" y="1122342"/>
                </a:lnTo>
                <a:lnTo>
                  <a:pt x="1828478" y="1011838"/>
                </a:lnTo>
                <a:lnTo>
                  <a:pt x="2053016" y="899718"/>
                </a:lnTo>
                <a:lnTo>
                  <a:pt x="2284826" y="786600"/>
                </a:lnTo>
                <a:lnTo>
                  <a:pt x="2523011" y="672863"/>
                </a:lnTo>
                <a:lnTo>
                  <a:pt x="2766731" y="559174"/>
                </a:lnTo>
                <a:lnTo>
                  <a:pt x="3015206" y="445818"/>
                </a:lnTo>
                <a:lnTo>
                  <a:pt x="3267759" y="332984"/>
                </a:lnTo>
                <a:lnTo>
                  <a:pt x="3523772" y="220959"/>
                </a:lnTo>
                <a:lnTo>
                  <a:pt x="3782670" y="109885"/>
                </a:lnTo>
                <a:lnTo>
                  <a:pt x="4043953" y="0"/>
                </a:lnTo>
              </a:path>
            </a:pathLst>
          </a:custGeom>
          <a:ln w="38100">
            <a:solidFill>
              <a:srgbClr val="E07B00"/>
            </a:solidFill>
            <a:prstDash val="solid"/>
          </a:ln>
        </p:spPr>
      </p:sp>
      <p:sp>
        <p:nvSpPr>
          <p:cNvPr id="60" name="!!ivPt"/>
          <p:cNvSpPr/>
          <p:nvPr/>
        </p:nvSpPr>
        <p:spPr>
          <a:xfrm>
            <a:off x="11276949" y="1867223"/>
            <a:ext cx="164592" cy="164592"/>
          </a:xfrm>
          <a:prstGeom prst="ellipse">
            <a:avLst/>
          </a:prstGeom>
          <a:solidFill>
            <a:srgbClr val="D64545"/>
          </a:solidFill>
          <a:ln w="19050">
            <a:solidFill>
              <a:srgbClr val="FFFFFF"/>
            </a:solidFill>
            <a:prstDash val="solid"/>
          </a:ln>
        </p:spPr>
      </p:sp>
      <p:sp>
        <p:nvSpPr>
          <p:cNvPr id="61" name="!!ivPtL"/>
          <p:cNvSpPr txBox="1"/>
          <p:nvPr/>
        </p:nvSpPr>
        <p:spPr>
          <a:xfrm>
            <a:off x="10444845" y="1620335"/>
            <a:ext cx="868680" cy="219456"/>
          </a:xfrm>
          <a:prstGeom prst="rect">
            <a:avLst/>
          </a:prstGeom>
          <a:noFill/>
          <a:ln/>
        </p:spPr>
        <p:txBody>
          <a:bodyPr wrap="square" lIns="0" tIns="0" rIns="0" bIns="0" rtlCol="0" anchor="t"/>
          <a:lstStyle/>
          <a:p>
            <a:pPr algn="r" indent="0" marL="0">
              <a:buNone/>
            </a:pPr>
            <a:r>
              <a:rPr lang="en-US" sz="1100" dirty="0">
                <a:solidFill>
                  <a:srgbClr val="D64545"/>
                </a:solidFill>
                <a:latin typeface="Segoe UI Semibold" pitchFamily="34" charset="0"/>
                <a:ea typeface="Segoe UI Semibold" pitchFamily="34" charset="-122"/>
                <a:cs typeface="Segoe UI Semibold" pitchFamily="34" charset="-120"/>
              </a:rPr>
              <a:t>43.6 K</a:t>
            </a:r>
            <a:endParaRPr lang="en-US" sz="1100" dirty="0"/>
          </a:p>
        </p:txBody>
      </p:sp>
      <p:sp>
        <p:nvSpPr>
          <p:cNvPr id="62" name="!!chip0"/>
          <p:cNvSpPr/>
          <p:nvPr/>
        </p:nvSpPr>
        <p:spPr>
          <a:xfrm>
            <a:off x="6858000" y="4434840"/>
            <a:ext cx="1508760" cy="658368"/>
          </a:xfrm>
          <a:prstGeom prst="roundRect">
            <a:avLst>
              <a:gd name="adj" fmla="val 8333"/>
            </a:avLst>
          </a:prstGeom>
          <a:solidFill>
            <a:srgbClr val="F4F5F7"/>
          </a:solidFill>
          <a:ln/>
        </p:spPr>
      </p:sp>
      <p:sp>
        <p:nvSpPr>
          <p:cNvPr id="63" name="!!chipk0"/>
          <p:cNvSpPr txBox="1"/>
          <p:nvPr/>
        </p:nvSpPr>
        <p:spPr>
          <a:xfrm>
            <a:off x="6967728"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power P</a:t>
            </a:r>
            <a:endParaRPr lang="en-US" sz="1000" dirty="0"/>
          </a:p>
        </p:txBody>
      </p:sp>
      <p:sp>
        <p:nvSpPr>
          <p:cNvPr id="64" name="!!chipv0"/>
          <p:cNvSpPr txBox="1"/>
          <p:nvPr/>
        </p:nvSpPr>
        <p:spPr>
          <a:xfrm>
            <a:off x="6967728"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19.2 µW</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65" name="!!chip1"/>
          <p:cNvSpPr/>
          <p:nvPr/>
        </p:nvSpPr>
        <p:spPr>
          <a:xfrm>
            <a:off x="8476488" y="4434840"/>
            <a:ext cx="1508760" cy="658368"/>
          </a:xfrm>
          <a:prstGeom prst="roundRect">
            <a:avLst>
              <a:gd name="adj" fmla="val 8333"/>
            </a:avLst>
          </a:prstGeom>
          <a:solidFill>
            <a:srgbClr val="F4F5F7"/>
          </a:solidFill>
          <a:ln/>
        </p:spPr>
      </p:sp>
      <p:sp>
        <p:nvSpPr>
          <p:cNvPr id="66" name="!!chipk1"/>
          <p:cNvSpPr txBox="1"/>
          <p:nvPr/>
        </p:nvSpPr>
        <p:spPr>
          <a:xfrm>
            <a:off x="8586216"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rise ΔT</a:t>
            </a:r>
            <a:endParaRPr lang="en-US" sz="1000" dirty="0"/>
          </a:p>
        </p:txBody>
      </p:sp>
      <p:sp>
        <p:nvSpPr>
          <p:cNvPr id="67" name="!!chipv1"/>
          <p:cNvSpPr txBox="1"/>
          <p:nvPr/>
        </p:nvSpPr>
        <p:spPr>
          <a:xfrm>
            <a:off x="8586216"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43.6 K</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68" name="!!chip2"/>
          <p:cNvSpPr/>
          <p:nvPr/>
        </p:nvSpPr>
        <p:spPr>
          <a:xfrm>
            <a:off x="10094976" y="4434840"/>
            <a:ext cx="1508760" cy="658368"/>
          </a:xfrm>
          <a:prstGeom prst="roundRect">
            <a:avLst>
              <a:gd name="adj" fmla="val 8333"/>
            </a:avLst>
          </a:prstGeom>
          <a:solidFill>
            <a:srgbClr val="F4F5F7"/>
          </a:solidFill>
          <a:ln/>
        </p:spPr>
      </p:sp>
      <p:sp>
        <p:nvSpPr>
          <p:cNvPr id="69" name="!!chipk2"/>
          <p:cNvSpPr txBox="1"/>
          <p:nvPr/>
        </p:nvSpPr>
        <p:spPr>
          <a:xfrm>
            <a:off x="10204704" y="450799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R</a:t>
            </a:r>
            <a:pPr algn="l" indent="0" marL="0">
              <a:buNone/>
            </a:pPr>
            <a:r>
              <a:rPr lang="en-US" sz="1000" baseline="-40000" dirty="0">
                <a:solidFill>
                  <a:srgbClr val="5C5E62"/>
                </a:solidFill>
                <a:latin typeface="Segoe UI" pitchFamily="34" charset="0"/>
                <a:ea typeface="Segoe UI" pitchFamily="34" charset="-122"/>
                <a:cs typeface="Segoe UI" pitchFamily="34" charset="-120"/>
              </a:rPr>
              <a:t>th</a:t>
            </a:r>
            <a:pPr algn="l" indent="0" marL="0">
              <a:buNone/>
            </a:pPr>
            <a:r>
              <a:rPr lang="en-US" sz="1000" dirty="0">
                <a:solidFill>
                  <a:srgbClr val="5C5E62"/>
                </a:solidFill>
                <a:latin typeface="Segoe UI" pitchFamily="34" charset="0"/>
                <a:ea typeface="Segoe UI" pitchFamily="34" charset="-122"/>
                <a:cs typeface="Segoe UI" pitchFamily="34" charset="-120"/>
              </a:rPr>
              <a:t> = ΔT / P</a:t>
            </a:r>
            <a:endParaRPr lang="en-US" sz="1000" dirty="0"/>
          </a:p>
        </p:txBody>
      </p:sp>
      <p:sp>
        <p:nvSpPr>
          <p:cNvPr id="70" name="!!chipv2"/>
          <p:cNvSpPr txBox="1"/>
          <p:nvPr/>
        </p:nvSpPr>
        <p:spPr>
          <a:xfrm>
            <a:off x="10204704" y="474573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2.27 K/µW</a:t>
            </a:r>
            <a:endParaRPr lang="en-US" sz="1500" dirty="0"/>
          </a:p>
        </p:txBody>
      </p:sp>
      <p:sp>
        <p:nvSpPr>
          <p:cNvPr id="71" name="!!knobLbl"/>
          <p:cNvSpPr txBox="1"/>
          <p:nvPr/>
        </p:nvSpPr>
        <p:spPr>
          <a:xfrm>
            <a:off x="7022592" y="512064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voltage V</a:t>
            </a:r>
            <a:pPr algn="l" indent="0" marL="0">
              <a:buNone/>
            </a:pPr>
            <a:r>
              <a:rPr lang="en-US" sz="1200" baseline="-40000" dirty="0">
                <a:solidFill>
                  <a:srgbClr val="5C5E62"/>
                </a:solidFill>
                <a:latin typeface="Segoe UI Semibold" pitchFamily="34" charset="0"/>
                <a:ea typeface="Segoe UI Semibold" pitchFamily="34" charset="-122"/>
                <a:cs typeface="Segoe UI Semibold" pitchFamily="34" charset="-120"/>
              </a:rPr>
              <a:t>G</a:t>
            </a:r>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0.7 V</a:t>
            </a:r>
            <a:endParaRPr lang="en-US" sz="1200" dirty="0"/>
          </a:p>
        </p:txBody>
      </p:sp>
      <p:sp>
        <p:nvSpPr>
          <p:cNvPr id="72" name="!!knobTrack"/>
          <p:cNvSpPr/>
          <p:nvPr/>
        </p:nvSpPr>
        <p:spPr>
          <a:xfrm>
            <a:off x="7040880" y="5504688"/>
            <a:ext cx="4480560" cy="54864"/>
          </a:xfrm>
          <a:prstGeom prst="roundRect">
            <a:avLst>
              <a:gd name="adj" fmla="val 50000"/>
            </a:avLst>
          </a:prstGeom>
          <a:solidFill>
            <a:srgbClr val="E2E3E3"/>
          </a:solidFill>
          <a:ln/>
        </p:spPr>
      </p:sp>
      <p:sp>
        <p:nvSpPr>
          <p:cNvPr id="73" name="!!knobFill"/>
          <p:cNvSpPr/>
          <p:nvPr/>
        </p:nvSpPr>
        <p:spPr>
          <a:xfrm>
            <a:off x="7040880" y="5504688"/>
            <a:ext cx="4480560" cy="54864"/>
          </a:xfrm>
          <a:prstGeom prst="roundRect">
            <a:avLst>
              <a:gd name="adj" fmla="val 50000"/>
            </a:avLst>
          </a:prstGeom>
          <a:solidFill>
            <a:srgbClr val="6B5BC4"/>
          </a:solidFill>
          <a:ln/>
        </p:spPr>
      </p:sp>
      <p:sp>
        <p:nvSpPr>
          <p:cNvPr id="74" name="!!knobT0"/>
          <p:cNvSpPr txBox="1"/>
          <p:nvPr/>
        </p:nvSpPr>
        <p:spPr>
          <a:xfrm>
            <a:off x="667512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0.0</a:t>
            </a:r>
            <a:endParaRPr lang="en-US" sz="900" dirty="0"/>
          </a:p>
        </p:txBody>
      </p:sp>
      <p:sp>
        <p:nvSpPr>
          <p:cNvPr id="75" name="!!knobT1"/>
          <p:cNvSpPr txBox="1"/>
          <p:nvPr/>
        </p:nvSpPr>
        <p:spPr>
          <a:xfrm>
            <a:off x="79552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0.2</a:t>
            </a:r>
            <a:endParaRPr lang="en-US" sz="900" dirty="0"/>
          </a:p>
        </p:txBody>
      </p:sp>
      <p:sp>
        <p:nvSpPr>
          <p:cNvPr id="76" name="!!knobT2"/>
          <p:cNvSpPr txBox="1"/>
          <p:nvPr/>
        </p:nvSpPr>
        <p:spPr>
          <a:xfrm>
            <a:off x="923544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0.4</a:t>
            </a:r>
            <a:endParaRPr lang="en-US" sz="900" dirty="0"/>
          </a:p>
        </p:txBody>
      </p:sp>
      <p:sp>
        <p:nvSpPr>
          <p:cNvPr id="77" name="!!knobT3"/>
          <p:cNvSpPr txBox="1"/>
          <p:nvPr/>
        </p:nvSpPr>
        <p:spPr>
          <a:xfrm>
            <a:off x="1051560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0.6</a:t>
            </a:r>
            <a:endParaRPr lang="en-US" sz="900" dirty="0"/>
          </a:p>
        </p:txBody>
      </p:sp>
      <p:sp>
        <p:nvSpPr>
          <p:cNvPr id="78" name="!!knobT4"/>
          <p:cNvSpPr txBox="1"/>
          <p:nvPr/>
        </p:nvSpPr>
        <p:spPr>
          <a:xfrm>
            <a:off x="11155680" y="564184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0.7</a:t>
            </a:r>
            <a:endParaRPr lang="en-US" sz="900" dirty="0"/>
          </a:p>
        </p:txBody>
      </p:sp>
      <p:sp>
        <p:nvSpPr>
          <p:cNvPr id="79" name="!!knobThumb"/>
          <p:cNvSpPr/>
          <p:nvPr/>
        </p:nvSpPr>
        <p:spPr>
          <a:xfrm>
            <a:off x="11420856" y="5431536"/>
            <a:ext cx="201168" cy="201168"/>
          </a:xfrm>
          <a:prstGeom prst="ellipse">
            <a:avLst/>
          </a:prstGeom>
          <a:solidFill>
            <a:srgbClr val="FFFFFF"/>
          </a:solidFill>
          <a:ln w="28575">
            <a:solidFill>
              <a:srgbClr val="6B5BC4"/>
            </a:solidFill>
            <a:prstDash val="solid"/>
          </a:ln>
        </p:spPr>
      </p:sp>
      <p:sp>
        <p:nvSpPr>
          <p:cNvPr id="80"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On point: 19.2 µW → 43.6 K hotter. The slope of this line is R</a:t>
            </a:r>
            <a:pPr algn="ctr" indent="0" marL="0">
              <a:buNone/>
            </a:pPr>
            <a:r>
              <a:rPr lang="en-US" sz="1600" baseline="-40000" dirty="0">
                <a:solidFill>
                  <a:srgbClr val="171A20"/>
                </a:solidFill>
                <a:latin typeface="Segoe UI" pitchFamily="34" charset="0"/>
                <a:ea typeface="Segoe UI" pitchFamily="34" charset="-122"/>
                <a:cs typeface="Segoe UI" pitchFamily="34" charset="-120"/>
              </a:rPr>
              <a:t>th</a:t>
            </a:r>
            <a:pPr algn="ctr" indent="0" marL="0">
              <a:buNone/>
            </a:pPr>
            <a:r>
              <a:rPr lang="en-US" sz="1600" dirty="0">
                <a:solidFill>
                  <a:srgbClr val="171A20"/>
                </a:solidFill>
                <a:latin typeface="Segoe UI" pitchFamily="34" charset="0"/>
                <a:ea typeface="Segoe UI" pitchFamily="34" charset="-122"/>
                <a:cs typeface="Segoe UI" pitchFamily="34" charset="-120"/>
              </a:rPr>
              <a: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93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Self-heating – Heat changes every metric</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Turn the temperature knob and watch the switch get worse</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E2E3E3"/>
          </a:solidFill>
          <a:ln/>
        </p:spPr>
      </p:sp>
      <p:sp>
        <p:nvSpPr>
          <p:cNvPr id="6" name="!!sdot2"/>
          <p:cNvSpPr/>
          <p:nvPr/>
        </p:nvSpPr>
        <p:spPr>
          <a:xfrm>
            <a:off x="11599164" y="525780"/>
            <a:ext cx="82296" cy="82296"/>
          </a:xfrm>
          <a:prstGeom prst="ellipse">
            <a:avLst/>
          </a:prstGeom>
          <a:solidFill>
            <a:srgbClr val="E2E3E3"/>
          </a:solidFill>
          <a:ln/>
        </p:spPr>
      </p:sp>
      <p:sp>
        <p:nvSpPr>
          <p:cNvPr id="7" name="!!axg0"/>
          <p:cNvSpPr/>
          <p:nvPr/>
        </p:nvSpPr>
        <p:spPr>
          <a:xfrm>
            <a:off x="1188720" y="4983480"/>
            <a:ext cx="5120640" cy="91"/>
          </a:xfrm>
          <a:prstGeom prst="line">
            <a:avLst/>
          </a:prstGeom>
          <a:noFill/>
          <a:ln w="9525">
            <a:solidFill>
              <a:srgbClr val="EDEEF0"/>
            </a:solidFill>
            <a:prstDash val="solid"/>
          </a:ln>
        </p:spPr>
      </p:sp>
      <p:sp>
        <p:nvSpPr>
          <p:cNvPr id="8" name="!!axg1"/>
          <p:cNvSpPr/>
          <p:nvPr/>
        </p:nvSpPr>
        <p:spPr>
          <a:xfrm>
            <a:off x="1188720" y="4325112"/>
            <a:ext cx="5120640" cy="91"/>
          </a:xfrm>
          <a:prstGeom prst="line">
            <a:avLst/>
          </a:prstGeom>
          <a:noFill/>
          <a:ln w="9525">
            <a:solidFill>
              <a:srgbClr val="EDEEF0"/>
            </a:solidFill>
            <a:prstDash val="solid"/>
          </a:ln>
        </p:spPr>
      </p:sp>
      <p:sp>
        <p:nvSpPr>
          <p:cNvPr id="9" name="!!axg2"/>
          <p:cNvSpPr/>
          <p:nvPr/>
        </p:nvSpPr>
        <p:spPr>
          <a:xfrm>
            <a:off x="1188720" y="3666744"/>
            <a:ext cx="5120640" cy="91"/>
          </a:xfrm>
          <a:prstGeom prst="line">
            <a:avLst/>
          </a:prstGeom>
          <a:noFill/>
          <a:ln w="9525">
            <a:solidFill>
              <a:srgbClr val="EDEEF0"/>
            </a:solidFill>
            <a:prstDash val="solid"/>
          </a:ln>
        </p:spPr>
      </p:sp>
      <p:sp>
        <p:nvSpPr>
          <p:cNvPr id="10" name="!!axg3"/>
          <p:cNvSpPr/>
          <p:nvPr/>
        </p:nvSpPr>
        <p:spPr>
          <a:xfrm>
            <a:off x="1188720" y="3008376"/>
            <a:ext cx="5120640" cy="91"/>
          </a:xfrm>
          <a:prstGeom prst="line">
            <a:avLst/>
          </a:prstGeom>
          <a:noFill/>
          <a:ln w="9525">
            <a:solidFill>
              <a:srgbClr val="EDEEF0"/>
            </a:solidFill>
            <a:prstDash val="solid"/>
          </a:ln>
        </p:spPr>
      </p:sp>
      <p:sp>
        <p:nvSpPr>
          <p:cNvPr id="11" name="!!axg4"/>
          <p:cNvSpPr/>
          <p:nvPr/>
        </p:nvSpPr>
        <p:spPr>
          <a:xfrm>
            <a:off x="1188720" y="2350008"/>
            <a:ext cx="5120640" cy="91"/>
          </a:xfrm>
          <a:prstGeom prst="line">
            <a:avLst/>
          </a:prstGeom>
          <a:noFill/>
          <a:ln w="9525">
            <a:solidFill>
              <a:srgbClr val="EDEEF0"/>
            </a:solidFill>
            <a:prstDash val="solid"/>
          </a:ln>
        </p:spPr>
      </p:sp>
      <p:sp>
        <p:nvSpPr>
          <p:cNvPr id="12" name="!!axg5"/>
          <p:cNvSpPr/>
          <p:nvPr/>
        </p:nvSpPr>
        <p:spPr>
          <a:xfrm>
            <a:off x="1188720" y="1691640"/>
            <a:ext cx="5120640" cy="91"/>
          </a:xfrm>
          <a:prstGeom prst="line">
            <a:avLst/>
          </a:prstGeom>
          <a:noFill/>
          <a:ln w="9525">
            <a:solidFill>
              <a:srgbClr val="EDEEF0"/>
            </a:solidFill>
            <a:prstDash val="solid"/>
          </a:ln>
        </p:spPr>
      </p:sp>
      <p:sp>
        <p:nvSpPr>
          <p:cNvPr id="13" name="!!axxa"/>
          <p:cNvSpPr/>
          <p:nvPr/>
        </p:nvSpPr>
        <p:spPr>
          <a:xfrm>
            <a:off x="1188720" y="4983480"/>
            <a:ext cx="5120640" cy="91"/>
          </a:xfrm>
          <a:prstGeom prst="line">
            <a:avLst/>
          </a:prstGeom>
          <a:noFill/>
          <a:ln w="12700">
            <a:solidFill>
              <a:srgbClr val="8A8D93"/>
            </a:solidFill>
            <a:prstDash val="solid"/>
          </a:ln>
        </p:spPr>
      </p:sp>
      <p:sp>
        <p:nvSpPr>
          <p:cNvPr id="14" name="!!axya"/>
          <p:cNvSpPr/>
          <p:nvPr/>
        </p:nvSpPr>
        <p:spPr>
          <a:xfrm>
            <a:off x="1188720" y="1691640"/>
            <a:ext cx="91" cy="3291840"/>
          </a:xfrm>
          <a:prstGeom prst="line">
            <a:avLst/>
          </a:prstGeom>
          <a:noFill/>
          <a:ln w="12700">
            <a:solidFill>
              <a:srgbClr val="8A8D93"/>
            </a:solidFill>
            <a:prstDash val="solid"/>
          </a:ln>
        </p:spPr>
      </p:sp>
      <p:sp>
        <p:nvSpPr>
          <p:cNvPr id="15" name="!!axxt0"/>
          <p:cNvSpPr txBox="1"/>
          <p:nvPr/>
        </p:nvSpPr>
        <p:spPr>
          <a:xfrm>
            <a:off x="86868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300</a:t>
            </a:r>
            <a:endParaRPr lang="en-US" sz="900" dirty="0"/>
          </a:p>
        </p:txBody>
      </p:sp>
      <p:sp>
        <p:nvSpPr>
          <p:cNvPr id="16" name="!!axxt1"/>
          <p:cNvSpPr txBox="1"/>
          <p:nvPr/>
        </p:nvSpPr>
        <p:spPr>
          <a:xfrm>
            <a:off x="214884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325</a:t>
            </a:r>
            <a:endParaRPr lang="en-US" sz="900" dirty="0"/>
          </a:p>
        </p:txBody>
      </p:sp>
      <p:sp>
        <p:nvSpPr>
          <p:cNvPr id="17" name="!!axxt2"/>
          <p:cNvSpPr txBox="1"/>
          <p:nvPr/>
        </p:nvSpPr>
        <p:spPr>
          <a:xfrm>
            <a:off x="342900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350</a:t>
            </a:r>
            <a:endParaRPr lang="en-US" sz="900" dirty="0"/>
          </a:p>
        </p:txBody>
      </p:sp>
      <p:sp>
        <p:nvSpPr>
          <p:cNvPr id="18" name="!!axxt3"/>
          <p:cNvSpPr txBox="1"/>
          <p:nvPr/>
        </p:nvSpPr>
        <p:spPr>
          <a:xfrm>
            <a:off x="470916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375</a:t>
            </a:r>
            <a:endParaRPr lang="en-US" sz="900" dirty="0"/>
          </a:p>
        </p:txBody>
      </p:sp>
      <p:sp>
        <p:nvSpPr>
          <p:cNvPr id="19" name="!!axxt4"/>
          <p:cNvSpPr txBox="1"/>
          <p:nvPr/>
        </p:nvSpPr>
        <p:spPr>
          <a:xfrm>
            <a:off x="598932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400</a:t>
            </a:r>
            <a:endParaRPr lang="en-US" sz="900" dirty="0"/>
          </a:p>
        </p:txBody>
      </p:sp>
      <p:sp>
        <p:nvSpPr>
          <p:cNvPr id="20" name="!!axyt0"/>
          <p:cNvSpPr txBox="1"/>
          <p:nvPr/>
        </p:nvSpPr>
        <p:spPr>
          <a:xfrm>
            <a:off x="502920" y="48828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50 %</a:t>
            </a:r>
            <a:endParaRPr lang="en-US" sz="900" dirty="0"/>
          </a:p>
        </p:txBody>
      </p:sp>
      <p:sp>
        <p:nvSpPr>
          <p:cNvPr id="21" name="!!axyt1"/>
          <p:cNvSpPr txBox="1"/>
          <p:nvPr/>
        </p:nvSpPr>
        <p:spPr>
          <a:xfrm>
            <a:off x="502920" y="4224528"/>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60 %</a:t>
            </a:r>
            <a:endParaRPr lang="en-US" sz="900" dirty="0"/>
          </a:p>
        </p:txBody>
      </p:sp>
      <p:sp>
        <p:nvSpPr>
          <p:cNvPr id="22" name="!!axyt2"/>
          <p:cNvSpPr txBox="1"/>
          <p:nvPr/>
        </p:nvSpPr>
        <p:spPr>
          <a:xfrm>
            <a:off x="502920" y="356616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70 %</a:t>
            </a:r>
            <a:endParaRPr lang="en-US" sz="900" dirty="0"/>
          </a:p>
        </p:txBody>
      </p:sp>
      <p:sp>
        <p:nvSpPr>
          <p:cNvPr id="23" name="!!axyt3"/>
          <p:cNvSpPr txBox="1"/>
          <p:nvPr/>
        </p:nvSpPr>
        <p:spPr>
          <a:xfrm>
            <a:off x="502920" y="290779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80 %</a:t>
            </a:r>
            <a:endParaRPr lang="en-US" sz="900" dirty="0"/>
          </a:p>
        </p:txBody>
      </p:sp>
      <p:sp>
        <p:nvSpPr>
          <p:cNvPr id="24" name="!!axyt4"/>
          <p:cNvSpPr txBox="1"/>
          <p:nvPr/>
        </p:nvSpPr>
        <p:spPr>
          <a:xfrm>
            <a:off x="502920" y="2249424"/>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90 %</a:t>
            </a:r>
            <a:endParaRPr lang="en-US" sz="900" dirty="0"/>
          </a:p>
        </p:txBody>
      </p:sp>
      <p:sp>
        <p:nvSpPr>
          <p:cNvPr id="25" name="!!axyt5"/>
          <p:cNvSpPr txBox="1"/>
          <p:nvPr/>
        </p:nvSpPr>
        <p:spPr>
          <a:xfrm>
            <a:off x="50292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a:t>
            </a:r>
            <a:endParaRPr lang="en-US" sz="900" dirty="0"/>
          </a:p>
        </p:txBody>
      </p:sp>
      <p:sp>
        <p:nvSpPr>
          <p:cNvPr id="26" name="!!axxl"/>
          <p:cNvSpPr txBox="1"/>
          <p:nvPr/>
        </p:nvSpPr>
        <p:spPr>
          <a:xfrm>
            <a:off x="1188720" y="5257800"/>
            <a:ext cx="51206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channel temperature T (K)</a:t>
            </a:r>
            <a:endParaRPr lang="en-US" sz="1100" dirty="0"/>
          </a:p>
        </p:txBody>
      </p:sp>
      <p:sp>
        <p:nvSpPr>
          <p:cNvPr id="27" name="!!axyl"/>
          <p:cNvSpPr txBox="1"/>
          <p:nvPr/>
        </p:nvSpPr>
        <p:spPr>
          <a:xfrm>
            <a:off x="100584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mobility μ(T) / μ(300 K)</a:t>
            </a:r>
            <a:endParaRPr lang="en-US" sz="1100" dirty="0"/>
          </a:p>
        </p:txBody>
      </p:sp>
      <p:sp>
        <p:nvSpPr>
          <p:cNvPr id="28" name="!!hmC"/>
          <p:cNvSpPr/>
          <p:nvPr/>
        </p:nvSpPr>
        <p:spPr>
          <a:xfrm>
            <a:off x="1188720" y="1691640"/>
            <a:ext cx="5120640" cy="2880360"/>
          </a:xfrm>
          <a:custGeom>
            <a:avLst/>
            <a:gdLst/>
            <a:ahLst/>
            <a:cxnLst/>
            <a:rect l="l" t="t" r="r" b="b"/>
            <a:pathLst>
              <a:path w="5120640" h="2880360">
                <a:moveTo>
                  <a:pt x="0" y="0"/>
                </a:moveTo>
                <a:lnTo>
                  <a:pt x="176574" y="148779"/>
                </a:lnTo>
                <a:lnTo>
                  <a:pt x="353148" y="292571"/>
                </a:lnTo>
                <a:lnTo>
                  <a:pt x="529721" y="431597"/>
                </a:lnTo>
                <a:lnTo>
                  <a:pt x="706295" y="566065"/>
                </a:lnTo>
                <a:lnTo>
                  <a:pt x="882869" y="696171"/>
                </a:lnTo>
                <a:lnTo>
                  <a:pt x="1059443" y="822104"/>
                </a:lnTo>
                <a:lnTo>
                  <a:pt x="1236017" y="944038"/>
                </a:lnTo>
                <a:lnTo>
                  <a:pt x="1412590" y="1062143"/>
                </a:lnTo>
                <a:lnTo>
                  <a:pt x="1589164" y="1176576"/>
                </a:lnTo>
                <a:lnTo>
                  <a:pt x="1765738" y="1287488"/>
                </a:lnTo>
                <a:lnTo>
                  <a:pt x="1942312" y="1395022"/>
                </a:lnTo>
                <a:lnTo>
                  <a:pt x="2118886" y="1499314"/>
                </a:lnTo>
                <a:lnTo>
                  <a:pt x="2295459" y="1600493"/>
                </a:lnTo>
                <a:lnTo>
                  <a:pt x="2472033" y="1698681"/>
                </a:lnTo>
                <a:lnTo>
                  <a:pt x="2648607" y="1793996"/>
                </a:lnTo>
                <a:lnTo>
                  <a:pt x="2825181" y="1886548"/>
                </a:lnTo>
                <a:lnTo>
                  <a:pt x="3001754" y="1976443"/>
                </a:lnTo>
                <a:lnTo>
                  <a:pt x="3178328" y="2063782"/>
                </a:lnTo>
                <a:lnTo>
                  <a:pt x="3354902" y="2148661"/>
                </a:lnTo>
                <a:lnTo>
                  <a:pt x="3531476" y="2231171"/>
                </a:lnTo>
                <a:lnTo>
                  <a:pt x="3708050" y="2311400"/>
                </a:lnTo>
                <a:lnTo>
                  <a:pt x="3884623" y="2389431"/>
                </a:lnTo>
                <a:lnTo>
                  <a:pt x="4061197" y="2465343"/>
                </a:lnTo>
                <a:lnTo>
                  <a:pt x="4237771" y="2539213"/>
                </a:lnTo>
                <a:lnTo>
                  <a:pt x="4414345" y="2611114"/>
                </a:lnTo>
                <a:lnTo>
                  <a:pt x="4590919" y="2681113"/>
                </a:lnTo>
                <a:lnTo>
                  <a:pt x="4767492" y="2749279"/>
                </a:lnTo>
                <a:lnTo>
                  <a:pt x="4944066" y="2815674"/>
                </a:lnTo>
                <a:lnTo>
                  <a:pt x="5120640" y="2880360"/>
                </a:lnTo>
              </a:path>
            </a:pathLst>
          </a:custGeom>
          <a:ln w="31750">
            <a:solidFill>
              <a:srgbClr val="3E6AE1"/>
            </a:solidFill>
            <a:prstDash val="solid"/>
          </a:ln>
        </p:spPr>
      </p:sp>
      <p:sp>
        <p:nvSpPr>
          <p:cNvPr id="29" name="!!hmV"/>
          <p:cNvSpPr/>
          <p:nvPr/>
        </p:nvSpPr>
        <p:spPr>
          <a:xfrm flipH="1">
            <a:off x="1188720" y="1691640"/>
            <a:ext cx="91" cy="3291840"/>
          </a:xfrm>
          <a:prstGeom prst="line">
            <a:avLst/>
          </a:prstGeom>
          <a:noFill/>
          <a:ln w="9525">
            <a:solidFill>
              <a:srgbClr val="8A8D93"/>
            </a:solidFill>
            <a:prstDash val="dash"/>
          </a:ln>
        </p:spPr>
      </p:sp>
      <p:sp>
        <p:nvSpPr>
          <p:cNvPr id="30" name="!!hmP"/>
          <p:cNvSpPr/>
          <p:nvPr/>
        </p:nvSpPr>
        <p:spPr>
          <a:xfrm>
            <a:off x="1097280" y="1600200"/>
            <a:ext cx="182880" cy="182880"/>
          </a:xfrm>
          <a:prstGeom prst="ellipse">
            <a:avLst/>
          </a:prstGeom>
          <a:solidFill>
            <a:srgbClr val="3E6AE1"/>
          </a:solidFill>
          <a:ln w="19050">
            <a:solidFill>
              <a:srgbClr val="FFFFFF"/>
            </a:solidFill>
            <a:prstDash val="solid"/>
          </a:ln>
        </p:spPr>
      </p:sp>
      <p:sp>
        <p:nvSpPr>
          <p:cNvPr id="31" name="!!hmPL"/>
          <p:cNvSpPr txBox="1"/>
          <p:nvPr/>
        </p:nvSpPr>
        <p:spPr>
          <a:xfrm>
            <a:off x="1325880" y="1783080"/>
            <a:ext cx="1188720" cy="237744"/>
          </a:xfrm>
          <a:prstGeom prst="rect">
            <a:avLst/>
          </a:prstGeom>
          <a:noFill/>
          <a:ln/>
        </p:spPr>
        <p:txBody>
          <a:bodyPr wrap="square" lIns="0" tIns="0" rIns="0" bIns="0" rtlCol="0" anchor="t"/>
          <a:lstStyle/>
          <a:p>
            <a:pPr algn="l" indent="0" marL="0">
              <a:buNone/>
            </a:pPr>
            <a:r>
              <a:rPr lang="en-US" sz="1200" dirty="0">
                <a:solidFill>
                  <a:srgbClr val="3E6AE1"/>
                </a:solidFill>
                <a:latin typeface="Segoe UI Semibold" pitchFamily="34" charset="0"/>
                <a:ea typeface="Segoe UI Semibold" pitchFamily="34" charset="-122"/>
                <a:cs typeface="Segoe UI Semibold" pitchFamily="34" charset="-120"/>
              </a:rPr>
              <a:t>μ = 100 %</a:t>
            </a:r>
            <a:endParaRPr lang="en-US" sz="1200" dirty="0"/>
          </a:p>
        </p:txBody>
      </p:sp>
      <p:sp>
        <p:nvSpPr>
          <p:cNvPr id="32" name="!!chip0"/>
          <p:cNvSpPr/>
          <p:nvPr/>
        </p:nvSpPr>
        <p:spPr>
          <a:xfrm>
            <a:off x="6858000" y="1645920"/>
            <a:ext cx="2331720" cy="749808"/>
          </a:xfrm>
          <a:prstGeom prst="roundRect">
            <a:avLst>
              <a:gd name="adj" fmla="val 7317"/>
            </a:avLst>
          </a:prstGeom>
          <a:solidFill>
            <a:srgbClr val="F4F5F7"/>
          </a:solidFill>
          <a:ln/>
        </p:spPr>
      </p:sp>
      <p:sp>
        <p:nvSpPr>
          <p:cNvPr id="33" name="!!chipk0"/>
          <p:cNvSpPr txBox="1"/>
          <p:nvPr/>
        </p:nvSpPr>
        <p:spPr>
          <a:xfrm>
            <a:off x="6967728" y="1719072"/>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mobility μ  (μ ∝ T⁻²)</a:t>
            </a:r>
            <a:endParaRPr lang="en-US" sz="1000" dirty="0"/>
          </a:p>
        </p:txBody>
      </p:sp>
      <p:sp>
        <p:nvSpPr>
          <p:cNvPr id="34" name="!!chipv0"/>
          <p:cNvSpPr txBox="1"/>
          <p:nvPr/>
        </p:nvSpPr>
        <p:spPr>
          <a:xfrm>
            <a:off x="6967728" y="1956816"/>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100 %</a:t>
            </a:r>
            <a:endParaRPr lang="en-US" sz="1500" dirty="0"/>
          </a:p>
        </p:txBody>
      </p:sp>
      <p:sp>
        <p:nvSpPr>
          <p:cNvPr id="35" name="!!chip1"/>
          <p:cNvSpPr/>
          <p:nvPr/>
        </p:nvSpPr>
        <p:spPr>
          <a:xfrm>
            <a:off x="9299448" y="1645920"/>
            <a:ext cx="2331720" cy="749808"/>
          </a:xfrm>
          <a:prstGeom prst="roundRect">
            <a:avLst>
              <a:gd name="adj" fmla="val 7317"/>
            </a:avLst>
          </a:prstGeom>
          <a:solidFill>
            <a:srgbClr val="F4F5F7"/>
          </a:solidFill>
          <a:ln/>
        </p:spPr>
      </p:sp>
      <p:sp>
        <p:nvSpPr>
          <p:cNvPr id="36" name="!!chipk1"/>
          <p:cNvSpPr txBox="1"/>
          <p:nvPr/>
        </p:nvSpPr>
        <p:spPr>
          <a:xfrm>
            <a:off x="9409176" y="1719072"/>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I</a:t>
            </a:r>
            <a:pPr algn="l" indent="0" marL="0">
              <a:buNone/>
            </a:pPr>
            <a:r>
              <a:rPr lang="en-US" sz="1000" baseline="-40000" dirty="0">
                <a:solidFill>
                  <a:srgbClr val="5C5E62"/>
                </a:solidFill>
                <a:latin typeface="Segoe UI" pitchFamily="34" charset="0"/>
                <a:ea typeface="Segoe UI" pitchFamily="34" charset="-122"/>
                <a:cs typeface="Segoe UI" pitchFamily="34" charset="-120"/>
              </a:rPr>
              <a:t>on</a:t>
            </a:r>
            <a:pPr algn="l" indent="0" marL="0">
              <a:buNone/>
            </a:pPr>
            <a:r>
              <a:rPr lang="en-US" sz="1000" dirty="0">
                <a:solidFill>
                  <a:srgbClr val="5C5E62"/>
                </a:solidFill>
                <a:latin typeface="Segoe UI" pitchFamily="34" charset="0"/>
                <a:ea typeface="Segoe UI" pitchFamily="34" charset="-122"/>
                <a:cs typeface="Segoe UI" pitchFamily="34" charset="-120"/>
              </a:rPr>
              <a:t> → slower circuit</a:t>
            </a:r>
            <a:endParaRPr lang="en-US" sz="1000" dirty="0"/>
          </a:p>
        </p:txBody>
      </p:sp>
      <p:sp>
        <p:nvSpPr>
          <p:cNvPr id="37" name="!!chipv1"/>
          <p:cNvSpPr txBox="1"/>
          <p:nvPr/>
        </p:nvSpPr>
        <p:spPr>
          <a:xfrm>
            <a:off x="9409176" y="1956816"/>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base</a:t>
            </a:r>
            <a:endParaRPr lang="en-US" sz="1500" dirty="0"/>
          </a:p>
        </p:txBody>
      </p:sp>
      <p:sp>
        <p:nvSpPr>
          <p:cNvPr id="38" name="!!chip2"/>
          <p:cNvSpPr/>
          <p:nvPr/>
        </p:nvSpPr>
        <p:spPr>
          <a:xfrm>
            <a:off x="6858000" y="2505456"/>
            <a:ext cx="2331720" cy="749808"/>
          </a:xfrm>
          <a:prstGeom prst="roundRect">
            <a:avLst>
              <a:gd name="adj" fmla="val 7317"/>
            </a:avLst>
          </a:prstGeom>
          <a:solidFill>
            <a:srgbClr val="F4F5F7"/>
          </a:solidFill>
          <a:ln/>
        </p:spPr>
      </p:sp>
      <p:sp>
        <p:nvSpPr>
          <p:cNvPr id="39" name="!!chipk2"/>
          <p:cNvSpPr txBox="1"/>
          <p:nvPr/>
        </p:nvSpPr>
        <p:spPr>
          <a:xfrm>
            <a:off x="6967728" y="2578608"/>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SS limit (kT/q)·ln10</a:t>
            </a:r>
            <a:endParaRPr lang="en-US" sz="1000" dirty="0"/>
          </a:p>
        </p:txBody>
      </p:sp>
      <p:sp>
        <p:nvSpPr>
          <p:cNvPr id="40" name="!!chipv2"/>
          <p:cNvSpPr txBox="1"/>
          <p:nvPr/>
        </p:nvSpPr>
        <p:spPr>
          <a:xfrm>
            <a:off x="6967728" y="2816352"/>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59.5</a:t>
            </a:r>
            <a:endParaRPr lang="en-US" sz="1500" dirty="0"/>
          </a:p>
        </p:txBody>
      </p:sp>
      <p:sp>
        <p:nvSpPr>
          <p:cNvPr id="41" name="!!chip3"/>
          <p:cNvSpPr/>
          <p:nvPr/>
        </p:nvSpPr>
        <p:spPr>
          <a:xfrm>
            <a:off x="9299448" y="2505456"/>
            <a:ext cx="2331720" cy="749808"/>
          </a:xfrm>
          <a:prstGeom prst="roundRect">
            <a:avLst>
              <a:gd name="adj" fmla="val 7317"/>
            </a:avLst>
          </a:prstGeom>
          <a:solidFill>
            <a:srgbClr val="F4F5F7"/>
          </a:solidFill>
          <a:ln/>
        </p:spPr>
      </p:sp>
      <p:sp>
        <p:nvSpPr>
          <p:cNvPr id="42" name="!!chipk3"/>
          <p:cNvSpPr txBox="1"/>
          <p:nvPr/>
        </p:nvSpPr>
        <p:spPr>
          <a:xfrm>
            <a:off x="9409176" y="2578608"/>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I</a:t>
            </a:r>
            <a:pPr algn="l" indent="0" marL="0">
              <a:buNone/>
            </a:pPr>
            <a:r>
              <a:rPr lang="en-US" sz="1000" baseline="-40000" dirty="0">
                <a:solidFill>
                  <a:srgbClr val="5C5E62"/>
                </a:solidFill>
                <a:latin typeface="Segoe UI" pitchFamily="34" charset="0"/>
                <a:ea typeface="Segoe UI" pitchFamily="34" charset="-122"/>
                <a:cs typeface="Segoe UI" pitchFamily="34" charset="-120"/>
              </a:rPr>
              <a:t>off</a:t>
            </a:r>
            <a:pPr algn="l" indent="0" marL="0">
              <a:buNone/>
            </a:pPr>
            <a:r>
              <a:rPr lang="en-US" sz="1000" dirty="0">
                <a:solidFill>
                  <a:srgbClr val="5C5E62"/>
                </a:solidFill>
                <a:latin typeface="Segoe UI" pitchFamily="34" charset="0"/>
                <a:ea typeface="Segoe UI" pitchFamily="34" charset="-122"/>
                <a:cs typeface="Segoe UI" pitchFamily="34" charset="-120"/>
              </a:rPr>
              <a:t> → more power</a:t>
            </a:r>
            <a:endParaRPr lang="en-US" sz="1000" dirty="0"/>
          </a:p>
        </p:txBody>
      </p:sp>
      <p:sp>
        <p:nvSpPr>
          <p:cNvPr id="43" name="!!chipv3"/>
          <p:cNvSpPr txBox="1"/>
          <p:nvPr/>
        </p:nvSpPr>
        <p:spPr>
          <a:xfrm>
            <a:off x="9409176" y="2816352"/>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base</a:t>
            </a:r>
            <a:endParaRPr lang="en-US" sz="1500" dirty="0"/>
          </a:p>
        </p:txBody>
      </p:sp>
      <p:sp>
        <p:nvSpPr>
          <p:cNvPr id="44" name="!!chip4"/>
          <p:cNvSpPr/>
          <p:nvPr/>
        </p:nvSpPr>
        <p:spPr>
          <a:xfrm>
            <a:off x="6858000" y="3364992"/>
            <a:ext cx="2331720" cy="749808"/>
          </a:xfrm>
          <a:prstGeom prst="roundRect">
            <a:avLst>
              <a:gd name="adj" fmla="val 7317"/>
            </a:avLst>
          </a:prstGeom>
          <a:solidFill>
            <a:srgbClr val="F4F5F7"/>
          </a:solidFill>
          <a:ln/>
        </p:spPr>
      </p:sp>
      <p:sp>
        <p:nvSpPr>
          <p:cNvPr id="45" name="!!chipk4"/>
          <p:cNvSpPr txBox="1"/>
          <p:nvPr/>
        </p:nvSpPr>
        <p:spPr>
          <a:xfrm>
            <a:off x="6967728" y="3438144"/>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a:t>
            </a:r>
            <a:pPr algn="l" indent="0" marL="0">
              <a:buNone/>
            </a:pPr>
            <a:r>
              <a:rPr lang="en-US" sz="1000" baseline="-40000" dirty="0">
                <a:solidFill>
                  <a:srgbClr val="5C5E62"/>
                </a:solidFill>
                <a:latin typeface="Segoe UI" pitchFamily="34" charset="0"/>
                <a:ea typeface="Segoe UI" pitchFamily="34" charset="-122"/>
                <a:cs typeface="Segoe UI" pitchFamily="34" charset="-120"/>
              </a:rPr>
              <a:t>T</a:t>
            </a:r>
            <a:pPr algn="l" indent="0" marL="0">
              <a:buNone/>
            </a:pPr>
            <a:r>
              <a:rPr lang="en-US" sz="1000" dirty="0">
                <a:solidFill>
                  <a:srgbClr val="5C5E62"/>
                </a:solidFill>
                <a:latin typeface="Segoe UI" pitchFamily="34" charset="0"/>
                <a:ea typeface="Segoe UI" pitchFamily="34" charset="-122"/>
                <a:cs typeface="Segoe UI" pitchFamily="34" charset="-120"/>
              </a:rPr>
              <a:t> (≈ −1.6 mV/K)</a:t>
            </a:r>
            <a:endParaRPr lang="en-US" sz="1000" dirty="0"/>
          </a:p>
        </p:txBody>
      </p:sp>
      <p:sp>
        <p:nvSpPr>
          <p:cNvPr id="46" name="!!chipv4"/>
          <p:cNvSpPr txBox="1"/>
          <p:nvPr/>
        </p:nvSpPr>
        <p:spPr>
          <a:xfrm>
            <a:off x="6967728" y="3675888"/>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 mV</a:t>
            </a:r>
            <a:endParaRPr lang="en-US" sz="1500" dirty="0"/>
          </a:p>
        </p:txBody>
      </p:sp>
      <p:sp>
        <p:nvSpPr>
          <p:cNvPr id="47" name="!!chip5"/>
          <p:cNvSpPr/>
          <p:nvPr/>
        </p:nvSpPr>
        <p:spPr>
          <a:xfrm>
            <a:off x="9299448" y="3364992"/>
            <a:ext cx="2331720" cy="749808"/>
          </a:xfrm>
          <a:prstGeom prst="roundRect">
            <a:avLst>
              <a:gd name="adj" fmla="val 7317"/>
            </a:avLst>
          </a:prstGeom>
          <a:solidFill>
            <a:srgbClr val="F4F5F7"/>
          </a:solidFill>
          <a:ln/>
        </p:spPr>
      </p:sp>
      <p:sp>
        <p:nvSpPr>
          <p:cNvPr id="48" name="!!chipk5"/>
          <p:cNvSpPr txBox="1"/>
          <p:nvPr/>
        </p:nvSpPr>
        <p:spPr>
          <a:xfrm>
            <a:off x="9409176" y="3438144"/>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ageing (HCD, BTI)</a:t>
            </a:r>
            <a:endParaRPr lang="en-US" sz="1000" dirty="0"/>
          </a:p>
        </p:txBody>
      </p:sp>
      <p:sp>
        <p:nvSpPr>
          <p:cNvPr id="49" name="!!chipv5"/>
          <p:cNvSpPr txBox="1"/>
          <p:nvPr/>
        </p:nvSpPr>
        <p:spPr>
          <a:xfrm>
            <a:off x="9409176" y="3675888"/>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base</a:t>
            </a:r>
            <a:endParaRPr lang="en-US" sz="1500" dirty="0"/>
          </a:p>
        </p:txBody>
      </p:sp>
      <p:sp>
        <p:nvSpPr>
          <p:cNvPr id="50" name="!!knobLbl"/>
          <p:cNvSpPr txBox="1"/>
          <p:nvPr/>
        </p:nvSpPr>
        <p:spPr>
          <a:xfrm>
            <a:off x="7022592" y="452628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channel temperature T   </a:t>
            </a:r>
            <a:pPr algn="l" indent="0" marL="0">
              <a:buNone/>
            </a:pPr>
            <a:r>
              <a:rPr lang="en-US" sz="1200" dirty="0">
                <a:solidFill>
                  <a:srgbClr val="E07B00"/>
                </a:solidFill>
                <a:latin typeface="Segoe UI Semibold" pitchFamily="34" charset="0"/>
                <a:ea typeface="Segoe UI Semibold" pitchFamily="34" charset="-122"/>
                <a:cs typeface="Segoe UI Semibold" pitchFamily="34" charset="-120"/>
              </a:rPr>
              <a:t>300 K</a:t>
            </a:r>
            <a:endParaRPr lang="en-US" sz="1200" dirty="0"/>
          </a:p>
        </p:txBody>
      </p:sp>
      <p:sp>
        <p:nvSpPr>
          <p:cNvPr id="51" name="!!knobTrack"/>
          <p:cNvSpPr/>
          <p:nvPr/>
        </p:nvSpPr>
        <p:spPr>
          <a:xfrm>
            <a:off x="7040880" y="4910328"/>
            <a:ext cx="4480560" cy="54864"/>
          </a:xfrm>
          <a:prstGeom prst="roundRect">
            <a:avLst>
              <a:gd name="adj" fmla="val 50000"/>
            </a:avLst>
          </a:prstGeom>
          <a:solidFill>
            <a:srgbClr val="E2E3E3"/>
          </a:solidFill>
          <a:ln/>
        </p:spPr>
      </p:sp>
      <p:sp>
        <p:nvSpPr>
          <p:cNvPr id="52" name="!!knobFill"/>
          <p:cNvSpPr/>
          <p:nvPr/>
        </p:nvSpPr>
        <p:spPr>
          <a:xfrm>
            <a:off x="7040880" y="4910328"/>
            <a:ext cx="18288" cy="54864"/>
          </a:xfrm>
          <a:prstGeom prst="roundRect">
            <a:avLst>
              <a:gd name="adj" fmla="val 150000"/>
            </a:avLst>
          </a:prstGeom>
          <a:solidFill>
            <a:srgbClr val="E07B00"/>
          </a:solidFill>
          <a:ln/>
        </p:spPr>
      </p:sp>
      <p:sp>
        <p:nvSpPr>
          <p:cNvPr id="53" name="!!knobT0"/>
          <p:cNvSpPr txBox="1"/>
          <p:nvPr/>
        </p:nvSpPr>
        <p:spPr>
          <a:xfrm>
            <a:off x="6675120"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300</a:t>
            </a:r>
            <a:endParaRPr lang="en-US" sz="900" dirty="0"/>
          </a:p>
        </p:txBody>
      </p:sp>
      <p:sp>
        <p:nvSpPr>
          <p:cNvPr id="54" name="!!knobT1"/>
          <p:cNvSpPr txBox="1"/>
          <p:nvPr/>
        </p:nvSpPr>
        <p:spPr>
          <a:xfrm>
            <a:off x="7795260"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325</a:t>
            </a:r>
            <a:endParaRPr lang="en-US" sz="900" dirty="0"/>
          </a:p>
        </p:txBody>
      </p:sp>
      <p:sp>
        <p:nvSpPr>
          <p:cNvPr id="55" name="!!knobT2"/>
          <p:cNvSpPr txBox="1"/>
          <p:nvPr/>
        </p:nvSpPr>
        <p:spPr>
          <a:xfrm>
            <a:off x="8915400"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350</a:t>
            </a:r>
            <a:endParaRPr lang="en-US" sz="900" dirty="0"/>
          </a:p>
        </p:txBody>
      </p:sp>
      <p:sp>
        <p:nvSpPr>
          <p:cNvPr id="56" name="!!knobT3"/>
          <p:cNvSpPr txBox="1"/>
          <p:nvPr/>
        </p:nvSpPr>
        <p:spPr>
          <a:xfrm>
            <a:off x="10035540"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375</a:t>
            </a:r>
            <a:endParaRPr lang="en-US" sz="900" dirty="0"/>
          </a:p>
        </p:txBody>
      </p:sp>
      <p:sp>
        <p:nvSpPr>
          <p:cNvPr id="57" name="!!knobT4"/>
          <p:cNvSpPr txBox="1"/>
          <p:nvPr/>
        </p:nvSpPr>
        <p:spPr>
          <a:xfrm>
            <a:off x="11155680"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400</a:t>
            </a:r>
            <a:endParaRPr lang="en-US" sz="900" dirty="0"/>
          </a:p>
        </p:txBody>
      </p:sp>
      <p:sp>
        <p:nvSpPr>
          <p:cNvPr id="58" name="!!knobThumb"/>
          <p:cNvSpPr/>
          <p:nvPr/>
        </p:nvSpPr>
        <p:spPr>
          <a:xfrm>
            <a:off x="6940296" y="4837176"/>
            <a:ext cx="201168" cy="201168"/>
          </a:xfrm>
          <a:prstGeom prst="ellipse">
            <a:avLst/>
          </a:prstGeom>
          <a:solidFill>
            <a:srgbClr val="FFFFFF"/>
          </a:solidFill>
          <a:ln w="28575">
            <a:solidFill>
              <a:srgbClr val="E07B00"/>
            </a:solidFill>
            <a:prstDash val="solid"/>
          </a:ln>
        </p:spPr>
      </p:sp>
      <p:sp>
        <p:nvSpPr>
          <p:cNvPr id="5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At 300 K the device behaves as designed.</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94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Self-heating – Heat changes every metric</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Turn the temperature knob and watch the switch get worse</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171A20"/>
          </a:solidFill>
          <a:ln/>
        </p:spPr>
      </p:sp>
      <p:sp>
        <p:nvSpPr>
          <p:cNvPr id="6" name="!!sdot2"/>
          <p:cNvSpPr/>
          <p:nvPr/>
        </p:nvSpPr>
        <p:spPr>
          <a:xfrm>
            <a:off x="11599164" y="525780"/>
            <a:ext cx="82296" cy="82296"/>
          </a:xfrm>
          <a:prstGeom prst="ellipse">
            <a:avLst/>
          </a:prstGeom>
          <a:solidFill>
            <a:srgbClr val="E2E3E3"/>
          </a:solidFill>
          <a:ln/>
        </p:spPr>
      </p:sp>
      <p:sp>
        <p:nvSpPr>
          <p:cNvPr id="7" name="!!axg0"/>
          <p:cNvSpPr/>
          <p:nvPr/>
        </p:nvSpPr>
        <p:spPr>
          <a:xfrm>
            <a:off x="1188720" y="4983480"/>
            <a:ext cx="5120640" cy="91"/>
          </a:xfrm>
          <a:prstGeom prst="line">
            <a:avLst/>
          </a:prstGeom>
          <a:noFill/>
          <a:ln w="9525">
            <a:solidFill>
              <a:srgbClr val="EDEEF0"/>
            </a:solidFill>
            <a:prstDash val="solid"/>
          </a:ln>
        </p:spPr>
      </p:sp>
      <p:sp>
        <p:nvSpPr>
          <p:cNvPr id="8" name="!!axg1"/>
          <p:cNvSpPr/>
          <p:nvPr/>
        </p:nvSpPr>
        <p:spPr>
          <a:xfrm>
            <a:off x="1188720" y="4325112"/>
            <a:ext cx="5120640" cy="91"/>
          </a:xfrm>
          <a:prstGeom prst="line">
            <a:avLst/>
          </a:prstGeom>
          <a:noFill/>
          <a:ln w="9525">
            <a:solidFill>
              <a:srgbClr val="EDEEF0"/>
            </a:solidFill>
            <a:prstDash val="solid"/>
          </a:ln>
        </p:spPr>
      </p:sp>
      <p:sp>
        <p:nvSpPr>
          <p:cNvPr id="9" name="!!axg2"/>
          <p:cNvSpPr/>
          <p:nvPr/>
        </p:nvSpPr>
        <p:spPr>
          <a:xfrm>
            <a:off x="1188720" y="3666744"/>
            <a:ext cx="5120640" cy="91"/>
          </a:xfrm>
          <a:prstGeom prst="line">
            <a:avLst/>
          </a:prstGeom>
          <a:noFill/>
          <a:ln w="9525">
            <a:solidFill>
              <a:srgbClr val="EDEEF0"/>
            </a:solidFill>
            <a:prstDash val="solid"/>
          </a:ln>
        </p:spPr>
      </p:sp>
      <p:sp>
        <p:nvSpPr>
          <p:cNvPr id="10" name="!!axg3"/>
          <p:cNvSpPr/>
          <p:nvPr/>
        </p:nvSpPr>
        <p:spPr>
          <a:xfrm>
            <a:off x="1188720" y="3008376"/>
            <a:ext cx="5120640" cy="91"/>
          </a:xfrm>
          <a:prstGeom prst="line">
            <a:avLst/>
          </a:prstGeom>
          <a:noFill/>
          <a:ln w="9525">
            <a:solidFill>
              <a:srgbClr val="EDEEF0"/>
            </a:solidFill>
            <a:prstDash val="solid"/>
          </a:ln>
        </p:spPr>
      </p:sp>
      <p:sp>
        <p:nvSpPr>
          <p:cNvPr id="11" name="!!axg4"/>
          <p:cNvSpPr/>
          <p:nvPr/>
        </p:nvSpPr>
        <p:spPr>
          <a:xfrm>
            <a:off x="1188720" y="2350008"/>
            <a:ext cx="5120640" cy="91"/>
          </a:xfrm>
          <a:prstGeom prst="line">
            <a:avLst/>
          </a:prstGeom>
          <a:noFill/>
          <a:ln w="9525">
            <a:solidFill>
              <a:srgbClr val="EDEEF0"/>
            </a:solidFill>
            <a:prstDash val="solid"/>
          </a:ln>
        </p:spPr>
      </p:sp>
      <p:sp>
        <p:nvSpPr>
          <p:cNvPr id="12" name="!!axg5"/>
          <p:cNvSpPr/>
          <p:nvPr/>
        </p:nvSpPr>
        <p:spPr>
          <a:xfrm>
            <a:off x="1188720" y="1691640"/>
            <a:ext cx="5120640" cy="91"/>
          </a:xfrm>
          <a:prstGeom prst="line">
            <a:avLst/>
          </a:prstGeom>
          <a:noFill/>
          <a:ln w="9525">
            <a:solidFill>
              <a:srgbClr val="EDEEF0"/>
            </a:solidFill>
            <a:prstDash val="solid"/>
          </a:ln>
        </p:spPr>
      </p:sp>
      <p:sp>
        <p:nvSpPr>
          <p:cNvPr id="13" name="!!axxa"/>
          <p:cNvSpPr/>
          <p:nvPr/>
        </p:nvSpPr>
        <p:spPr>
          <a:xfrm>
            <a:off x="1188720" y="4983480"/>
            <a:ext cx="5120640" cy="91"/>
          </a:xfrm>
          <a:prstGeom prst="line">
            <a:avLst/>
          </a:prstGeom>
          <a:noFill/>
          <a:ln w="12700">
            <a:solidFill>
              <a:srgbClr val="8A8D93"/>
            </a:solidFill>
            <a:prstDash val="solid"/>
          </a:ln>
        </p:spPr>
      </p:sp>
      <p:sp>
        <p:nvSpPr>
          <p:cNvPr id="14" name="!!axya"/>
          <p:cNvSpPr/>
          <p:nvPr/>
        </p:nvSpPr>
        <p:spPr>
          <a:xfrm>
            <a:off x="1188720" y="1691640"/>
            <a:ext cx="91" cy="3291840"/>
          </a:xfrm>
          <a:prstGeom prst="line">
            <a:avLst/>
          </a:prstGeom>
          <a:noFill/>
          <a:ln w="12700">
            <a:solidFill>
              <a:srgbClr val="8A8D93"/>
            </a:solidFill>
            <a:prstDash val="solid"/>
          </a:ln>
        </p:spPr>
      </p:sp>
      <p:sp>
        <p:nvSpPr>
          <p:cNvPr id="15" name="!!axxt0"/>
          <p:cNvSpPr txBox="1"/>
          <p:nvPr/>
        </p:nvSpPr>
        <p:spPr>
          <a:xfrm>
            <a:off x="86868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300</a:t>
            </a:r>
            <a:endParaRPr lang="en-US" sz="900" dirty="0"/>
          </a:p>
        </p:txBody>
      </p:sp>
      <p:sp>
        <p:nvSpPr>
          <p:cNvPr id="16" name="!!axxt1"/>
          <p:cNvSpPr txBox="1"/>
          <p:nvPr/>
        </p:nvSpPr>
        <p:spPr>
          <a:xfrm>
            <a:off x="214884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325</a:t>
            </a:r>
            <a:endParaRPr lang="en-US" sz="900" dirty="0"/>
          </a:p>
        </p:txBody>
      </p:sp>
      <p:sp>
        <p:nvSpPr>
          <p:cNvPr id="17" name="!!axxt2"/>
          <p:cNvSpPr txBox="1"/>
          <p:nvPr/>
        </p:nvSpPr>
        <p:spPr>
          <a:xfrm>
            <a:off x="342900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350</a:t>
            </a:r>
            <a:endParaRPr lang="en-US" sz="900" dirty="0"/>
          </a:p>
        </p:txBody>
      </p:sp>
      <p:sp>
        <p:nvSpPr>
          <p:cNvPr id="18" name="!!axxt3"/>
          <p:cNvSpPr txBox="1"/>
          <p:nvPr/>
        </p:nvSpPr>
        <p:spPr>
          <a:xfrm>
            <a:off x="470916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375</a:t>
            </a:r>
            <a:endParaRPr lang="en-US" sz="900" dirty="0"/>
          </a:p>
        </p:txBody>
      </p:sp>
      <p:sp>
        <p:nvSpPr>
          <p:cNvPr id="19" name="!!axxt4"/>
          <p:cNvSpPr txBox="1"/>
          <p:nvPr/>
        </p:nvSpPr>
        <p:spPr>
          <a:xfrm>
            <a:off x="598932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400</a:t>
            </a:r>
            <a:endParaRPr lang="en-US" sz="900" dirty="0"/>
          </a:p>
        </p:txBody>
      </p:sp>
      <p:sp>
        <p:nvSpPr>
          <p:cNvPr id="20" name="!!axyt0"/>
          <p:cNvSpPr txBox="1"/>
          <p:nvPr/>
        </p:nvSpPr>
        <p:spPr>
          <a:xfrm>
            <a:off x="502920" y="48828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50 %</a:t>
            </a:r>
            <a:endParaRPr lang="en-US" sz="900" dirty="0"/>
          </a:p>
        </p:txBody>
      </p:sp>
      <p:sp>
        <p:nvSpPr>
          <p:cNvPr id="21" name="!!axyt1"/>
          <p:cNvSpPr txBox="1"/>
          <p:nvPr/>
        </p:nvSpPr>
        <p:spPr>
          <a:xfrm>
            <a:off x="502920" y="4224528"/>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60 %</a:t>
            </a:r>
            <a:endParaRPr lang="en-US" sz="900" dirty="0"/>
          </a:p>
        </p:txBody>
      </p:sp>
      <p:sp>
        <p:nvSpPr>
          <p:cNvPr id="22" name="!!axyt2"/>
          <p:cNvSpPr txBox="1"/>
          <p:nvPr/>
        </p:nvSpPr>
        <p:spPr>
          <a:xfrm>
            <a:off x="502920" y="356616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70 %</a:t>
            </a:r>
            <a:endParaRPr lang="en-US" sz="900" dirty="0"/>
          </a:p>
        </p:txBody>
      </p:sp>
      <p:sp>
        <p:nvSpPr>
          <p:cNvPr id="23" name="!!axyt3"/>
          <p:cNvSpPr txBox="1"/>
          <p:nvPr/>
        </p:nvSpPr>
        <p:spPr>
          <a:xfrm>
            <a:off x="502920" y="290779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80 %</a:t>
            </a:r>
            <a:endParaRPr lang="en-US" sz="900" dirty="0"/>
          </a:p>
        </p:txBody>
      </p:sp>
      <p:sp>
        <p:nvSpPr>
          <p:cNvPr id="24" name="!!axyt4"/>
          <p:cNvSpPr txBox="1"/>
          <p:nvPr/>
        </p:nvSpPr>
        <p:spPr>
          <a:xfrm>
            <a:off x="502920" y="2249424"/>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90 %</a:t>
            </a:r>
            <a:endParaRPr lang="en-US" sz="900" dirty="0"/>
          </a:p>
        </p:txBody>
      </p:sp>
      <p:sp>
        <p:nvSpPr>
          <p:cNvPr id="25" name="!!axyt5"/>
          <p:cNvSpPr txBox="1"/>
          <p:nvPr/>
        </p:nvSpPr>
        <p:spPr>
          <a:xfrm>
            <a:off x="50292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a:t>
            </a:r>
            <a:endParaRPr lang="en-US" sz="900" dirty="0"/>
          </a:p>
        </p:txBody>
      </p:sp>
      <p:sp>
        <p:nvSpPr>
          <p:cNvPr id="26" name="!!axxl"/>
          <p:cNvSpPr txBox="1"/>
          <p:nvPr/>
        </p:nvSpPr>
        <p:spPr>
          <a:xfrm>
            <a:off x="1188720" y="5257800"/>
            <a:ext cx="51206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channel temperature T (K)</a:t>
            </a:r>
            <a:endParaRPr lang="en-US" sz="1100" dirty="0"/>
          </a:p>
        </p:txBody>
      </p:sp>
      <p:sp>
        <p:nvSpPr>
          <p:cNvPr id="27" name="!!axyl"/>
          <p:cNvSpPr txBox="1"/>
          <p:nvPr/>
        </p:nvSpPr>
        <p:spPr>
          <a:xfrm>
            <a:off x="100584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mobility μ(T) / μ(300 K)</a:t>
            </a:r>
            <a:endParaRPr lang="en-US" sz="1100" dirty="0"/>
          </a:p>
        </p:txBody>
      </p:sp>
      <p:sp>
        <p:nvSpPr>
          <p:cNvPr id="28" name="!!hmC"/>
          <p:cNvSpPr/>
          <p:nvPr/>
        </p:nvSpPr>
        <p:spPr>
          <a:xfrm>
            <a:off x="1188720" y="1691640"/>
            <a:ext cx="5120640" cy="2880360"/>
          </a:xfrm>
          <a:custGeom>
            <a:avLst/>
            <a:gdLst/>
            <a:ahLst/>
            <a:cxnLst/>
            <a:rect l="l" t="t" r="r" b="b"/>
            <a:pathLst>
              <a:path w="5120640" h="2880360">
                <a:moveTo>
                  <a:pt x="0" y="0"/>
                </a:moveTo>
                <a:lnTo>
                  <a:pt x="176574" y="148779"/>
                </a:lnTo>
                <a:lnTo>
                  <a:pt x="353148" y="292571"/>
                </a:lnTo>
                <a:lnTo>
                  <a:pt x="529721" y="431597"/>
                </a:lnTo>
                <a:lnTo>
                  <a:pt x="706295" y="566065"/>
                </a:lnTo>
                <a:lnTo>
                  <a:pt x="882869" y="696171"/>
                </a:lnTo>
                <a:lnTo>
                  <a:pt x="1059443" y="822104"/>
                </a:lnTo>
                <a:lnTo>
                  <a:pt x="1236017" y="944038"/>
                </a:lnTo>
                <a:lnTo>
                  <a:pt x="1412590" y="1062143"/>
                </a:lnTo>
                <a:lnTo>
                  <a:pt x="1589164" y="1176576"/>
                </a:lnTo>
                <a:lnTo>
                  <a:pt x="1765738" y="1287488"/>
                </a:lnTo>
                <a:lnTo>
                  <a:pt x="1942312" y="1395022"/>
                </a:lnTo>
                <a:lnTo>
                  <a:pt x="2118886" y="1499314"/>
                </a:lnTo>
                <a:lnTo>
                  <a:pt x="2295459" y="1600493"/>
                </a:lnTo>
                <a:lnTo>
                  <a:pt x="2472033" y="1698681"/>
                </a:lnTo>
                <a:lnTo>
                  <a:pt x="2648607" y="1793996"/>
                </a:lnTo>
                <a:lnTo>
                  <a:pt x="2825181" y="1886548"/>
                </a:lnTo>
                <a:lnTo>
                  <a:pt x="3001754" y="1976443"/>
                </a:lnTo>
                <a:lnTo>
                  <a:pt x="3178328" y="2063782"/>
                </a:lnTo>
                <a:lnTo>
                  <a:pt x="3354902" y="2148661"/>
                </a:lnTo>
                <a:lnTo>
                  <a:pt x="3531476" y="2231171"/>
                </a:lnTo>
                <a:lnTo>
                  <a:pt x="3708050" y="2311400"/>
                </a:lnTo>
                <a:lnTo>
                  <a:pt x="3884623" y="2389431"/>
                </a:lnTo>
                <a:lnTo>
                  <a:pt x="4061197" y="2465343"/>
                </a:lnTo>
                <a:lnTo>
                  <a:pt x="4237771" y="2539213"/>
                </a:lnTo>
                <a:lnTo>
                  <a:pt x="4414345" y="2611114"/>
                </a:lnTo>
                <a:lnTo>
                  <a:pt x="4590919" y="2681113"/>
                </a:lnTo>
                <a:lnTo>
                  <a:pt x="4767492" y="2749279"/>
                </a:lnTo>
                <a:lnTo>
                  <a:pt x="4944066" y="2815674"/>
                </a:lnTo>
                <a:lnTo>
                  <a:pt x="5120640" y="2880360"/>
                </a:lnTo>
              </a:path>
            </a:pathLst>
          </a:custGeom>
          <a:ln w="31750">
            <a:solidFill>
              <a:srgbClr val="3E6AE1"/>
            </a:solidFill>
            <a:prstDash val="solid"/>
          </a:ln>
        </p:spPr>
      </p:sp>
      <p:sp>
        <p:nvSpPr>
          <p:cNvPr id="29" name="!!hmV"/>
          <p:cNvSpPr/>
          <p:nvPr/>
        </p:nvSpPr>
        <p:spPr>
          <a:xfrm flipH="1">
            <a:off x="3421319" y="3256462"/>
            <a:ext cx="91" cy="1727018"/>
          </a:xfrm>
          <a:prstGeom prst="line">
            <a:avLst/>
          </a:prstGeom>
          <a:noFill/>
          <a:ln w="9525">
            <a:solidFill>
              <a:srgbClr val="8A8D93"/>
            </a:solidFill>
            <a:prstDash val="dash"/>
          </a:ln>
        </p:spPr>
      </p:sp>
      <p:sp>
        <p:nvSpPr>
          <p:cNvPr id="30" name="!!hmP"/>
          <p:cNvSpPr/>
          <p:nvPr/>
        </p:nvSpPr>
        <p:spPr>
          <a:xfrm>
            <a:off x="3329879" y="3165022"/>
            <a:ext cx="182880" cy="182880"/>
          </a:xfrm>
          <a:prstGeom prst="ellipse">
            <a:avLst/>
          </a:prstGeom>
          <a:solidFill>
            <a:srgbClr val="D64545"/>
          </a:solidFill>
          <a:ln w="19050">
            <a:solidFill>
              <a:srgbClr val="FFFFFF"/>
            </a:solidFill>
            <a:prstDash val="solid"/>
          </a:ln>
        </p:spPr>
      </p:sp>
      <p:sp>
        <p:nvSpPr>
          <p:cNvPr id="31" name="!!hmPL"/>
          <p:cNvSpPr txBox="1"/>
          <p:nvPr/>
        </p:nvSpPr>
        <p:spPr>
          <a:xfrm>
            <a:off x="3558479" y="2963854"/>
            <a:ext cx="1188720" cy="237744"/>
          </a:xfrm>
          <a:prstGeom prst="rect">
            <a:avLst/>
          </a:prstGeom>
          <a:noFill/>
          <a:ln/>
        </p:spPr>
        <p:txBody>
          <a:bodyPr wrap="square" lIns="0" tIns="0" rIns="0" bIns="0" rtlCol="0" anchor="t"/>
          <a:lstStyle/>
          <a:p>
            <a:pPr algn="l" indent="0" marL="0">
              <a:buNone/>
            </a:pPr>
            <a:r>
              <a:rPr lang="en-US" sz="1200" dirty="0">
                <a:solidFill>
                  <a:srgbClr val="D64545"/>
                </a:solidFill>
                <a:latin typeface="Segoe UI Semibold" pitchFamily="34" charset="0"/>
                <a:ea typeface="Segoe UI Semibold" pitchFamily="34" charset="-122"/>
                <a:cs typeface="Segoe UI Semibold" pitchFamily="34" charset="-120"/>
              </a:rPr>
              <a:t>μ = 76 %</a:t>
            </a:r>
            <a:endParaRPr lang="en-US" sz="1200" dirty="0"/>
          </a:p>
        </p:txBody>
      </p:sp>
      <p:sp>
        <p:nvSpPr>
          <p:cNvPr id="32" name="!!hmNote"/>
          <p:cNvSpPr txBox="1"/>
          <p:nvPr/>
        </p:nvSpPr>
        <p:spPr>
          <a:xfrm>
            <a:off x="2872679" y="4663440"/>
            <a:ext cx="274320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343.6 K = peak of our reproduced device</a:t>
            </a:r>
            <a:endParaRPr lang="en-US" sz="1000" dirty="0"/>
          </a:p>
        </p:txBody>
      </p:sp>
      <p:sp>
        <p:nvSpPr>
          <p:cNvPr id="33" name="!!chip0"/>
          <p:cNvSpPr/>
          <p:nvPr/>
        </p:nvSpPr>
        <p:spPr>
          <a:xfrm>
            <a:off x="6858000" y="1645920"/>
            <a:ext cx="2331720" cy="749808"/>
          </a:xfrm>
          <a:prstGeom prst="roundRect">
            <a:avLst>
              <a:gd name="adj" fmla="val 7317"/>
            </a:avLst>
          </a:prstGeom>
          <a:solidFill>
            <a:srgbClr val="F4F5F7"/>
          </a:solidFill>
          <a:ln/>
        </p:spPr>
      </p:sp>
      <p:sp>
        <p:nvSpPr>
          <p:cNvPr id="34" name="!!chipk0"/>
          <p:cNvSpPr txBox="1"/>
          <p:nvPr/>
        </p:nvSpPr>
        <p:spPr>
          <a:xfrm>
            <a:off x="6967728" y="1719072"/>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mobility μ  (μ ∝ T⁻²)</a:t>
            </a:r>
            <a:endParaRPr lang="en-US" sz="1000" dirty="0"/>
          </a:p>
        </p:txBody>
      </p:sp>
      <p:sp>
        <p:nvSpPr>
          <p:cNvPr id="35" name="!!chipv0"/>
          <p:cNvSpPr txBox="1"/>
          <p:nvPr/>
        </p:nvSpPr>
        <p:spPr>
          <a:xfrm>
            <a:off x="6967728" y="1956816"/>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76 %</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36" name="!!chip1"/>
          <p:cNvSpPr/>
          <p:nvPr/>
        </p:nvSpPr>
        <p:spPr>
          <a:xfrm>
            <a:off x="9299448" y="1645920"/>
            <a:ext cx="2331720" cy="749808"/>
          </a:xfrm>
          <a:prstGeom prst="roundRect">
            <a:avLst>
              <a:gd name="adj" fmla="val 7317"/>
            </a:avLst>
          </a:prstGeom>
          <a:solidFill>
            <a:srgbClr val="F4F5F7"/>
          </a:solidFill>
          <a:ln/>
        </p:spPr>
      </p:sp>
      <p:sp>
        <p:nvSpPr>
          <p:cNvPr id="37" name="!!chipk1"/>
          <p:cNvSpPr txBox="1"/>
          <p:nvPr/>
        </p:nvSpPr>
        <p:spPr>
          <a:xfrm>
            <a:off x="9409176" y="1719072"/>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I</a:t>
            </a:r>
            <a:pPr algn="l" indent="0" marL="0">
              <a:buNone/>
            </a:pPr>
            <a:r>
              <a:rPr lang="en-US" sz="1000" baseline="-40000" dirty="0">
                <a:solidFill>
                  <a:srgbClr val="5C5E62"/>
                </a:solidFill>
                <a:latin typeface="Segoe UI" pitchFamily="34" charset="0"/>
                <a:ea typeface="Segoe UI" pitchFamily="34" charset="-122"/>
                <a:cs typeface="Segoe UI" pitchFamily="34" charset="-120"/>
              </a:rPr>
              <a:t>on</a:t>
            </a:r>
            <a:pPr algn="l" indent="0" marL="0">
              <a:buNone/>
            </a:pPr>
            <a:r>
              <a:rPr lang="en-US" sz="1000" dirty="0">
                <a:solidFill>
                  <a:srgbClr val="5C5E62"/>
                </a:solidFill>
                <a:latin typeface="Segoe UI" pitchFamily="34" charset="0"/>
                <a:ea typeface="Segoe UI" pitchFamily="34" charset="-122"/>
                <a:cs typeface="Segoe UI" pitchFamily="34" charset="-120"/>
              </a:rPr>
              <a:t> → slower circuit</a:t>
            </a:r>
            <a:endParaRPr lang="en-US" sz="1000" dirty="0"/>
          </a:p>
        </p:txBody>
      </p:sp>
      <p:sp>
        <p:nvSpPr>
          <p:cNvPr id="38" name="!!chipv1"/>
          <p:cNvSpPr txBox="1"/>
          <p:nvPr/>
        </p:nvSpPr>
        <p:spPr>
          <a:xfrm>
            <a:off x="9409176" y="1956816"/>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falls</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39" name="!!chip2"/>
          <p:cNvSpPr/>
          <p:nvPr/>
        </p:nvSpPr>
        <p:spPr>
          <a:xfrm>
            <a:off x="6858000" y="2505456"/>
            <a:ext cx="2331720" cy="749808"/>
          </a:xfrm>
          <a:prstGeom prst="roundRect">
            <a:avLst>
              <a:gd name="adj" fmla="val 7317"/>
            </a:avLst>
          </a:prstGeom>
          <a:solidFill>
            <a:srgbClr val="F4F5F7"/>
          </a:solidFill>
          <a:ln/>
        </p:spPr>
      </p:sp>
      <p:sp>
        <p:nvSpPr>
          <p:cNvPr id="40" name="!!chipk2"/>
          <p:cNvSpPr txBox="1"/>
          <p:nvPr/>
        </p:nvSpPr>
        <p:spPr>
          <a:xfrm>
            <a:off x="6967728" y="2578608"/>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SS limit (kT/q)·ln10</a:t>
            </a:r>
            <a:endParaRPr lang="en-US" sz="1000" dirty="0"/>
          </a:p>
        </p:txBody>
      </p:sp>
      <p:sp>
        <p:nvSpPr>
          <p:cNvPr id="41" name="!!chipv2"/>
          <p:cNvSpPr txBox="1"/>
          <p:nvPr/>
        </p:nvSpPr>
        <p:spPr>
          <a:xfrm>
            <a:off x="6967728" y="2816352"/>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68.2</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42" name="!!chip3"/>
          <p:cNvSpPr/>
          <p:nvPr/>
        </p:nvSpPr>
        <p:spPr>
          <a:xfrm>
            <a:off x="9299448" y="2505456"/>
            <a:ext cx="2331720" cy="749808"/>
          </a:xfrm>
          <a:prstGeom prst="roundRect">
            <a:avLst>
              <a:gd name="adj" fmla="val 7317"/>
            </a:avLst>
          </a:prstGeom>
          <a:solidFill>
            <a:srgbClr val="F4F5F7"/>
          </a:solidFill>
          <a:ln/>
        </p:spPr>
      </p:sp>
      <p:sp>
        <p:nvSpPr>
          <p:cNvPr id="43" name="!!chipk3"/>
          <p:cNvSpPr txBox="1"/>
          <p:nvPr/>
        </p:nvSpPr>
        <p:spPr>
          <a:xfrm>
            <a:off x="9409176" y="2578608"/>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I</a:t>
            </a:r>
            <a:pPr algn="l" indent="0" marL="0">
              <a:buNone/>
            </a:pPr>
            <a:r>
              <a:rPr lang="en-US" sz="1000" baseline="-40000" dirty="0">
                <a:solidFill>
                  <a:srgbClr val="5C5E62"/>
                </a:solidFill>
                <a:latin typeface="Segoe UI" pitchFamily="34" charset="0"/>
                <a:ea typeface="Segoe UI" pitchFamily="34" charset="-122"/>
                <a:cs typeface="Segoe UI" pitchFamily="34" charset="-120"/>
              </a:rPr>
              <a:t>off</a:t>
            </a:r>
            <a:pPr algn="l" indent="0" marL="0">
              <a:buNone/>
            </a:pPr>
            <a:r>
              <a:rPr lang="en-US" sz="1000" dirty="0">
                <a:solidFill>
                  <a:srgbClr val="5C5E62"/>
                </a:solidFill>
                <a:latin typeface="Segoe UI" pitchFamily="34" charset="0"/>
                <a:ea typeface="Segoe UI" pitchFamily="34" charset="-122"/>
                <a:cs typeface="Segoe UI" pitchFamily="34" charset="-120"/>
              </a:rPr>
              <a:t> → more power</a:t>
            </a:r>
            <a:endParaRPr lang="en-US" sz="1000" dirty="0"/>
          </a:p>
        </p:txBody>
      </p:sp>
      <p:sp>
        <p:nvSpPr>
          <p:cNvPr id="44" name="!!chipv3"/>
          <p:cNvSpPr txBox="1"/>
          <p:nvPr/>
        </p:nvSpPr>
        <p:spPr>
          <a:xfrm>
            <a:off x="9409176" y="2816352"/>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rises</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45" name="!!chip4"/>
          <p:cNvSpPr/>
          <p:nvPr/>
        </p:nvSpPr>
        <p:spPr>
          <a:xfrm>
            <a:off x="6858000" y="3364992"/>
            <a:ext cx="2331720" cy="749808"/>
          </a:xfrm>
          <a:prstGeom prst="roundRect">
            <a:avLst>
              <a:gd name="adj" fmla="val 7317"/>
            </a:avLst>
          </a:prstGeom>
          <a:solidFill>
            <a:srgbClr val="F4F5F7"/>
          </a:solidFill>
          <a:ln/>
        </p:spPr>
      </p:sp>
      <p:sp>
        <p:nvSpPr>
          <p:cNvPr id="46" name="!!chipk4"/>
          <p:cNvSpPr txBox="1"/>
          <p:nvPr/>
        </p:nvSpPr>
        <p:spPr>
          <a:xfrm>
            <a:off x="6967728" y="3438144"/>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a:t>
            </a:r>
            <a:pPr algn="l" indent="0" marL="0">
              <a:buNone/>
            </a:pPr>
            <a:r>
              <a:rPr lang="en-US" sz="1000" baseline="-40000" dirty="0">
                <a:solidFill>
                  <a:srgbClr val="5C5E62"/>
                </a:solidFill>
                <a:latin typeface="Segoe UI" pitchFamily="34" charset="0"/>
                <a:ea typeface="Segoe UI" pitchFamily="34" charset="-122"/>
                <a:cs typeface="Segoe UI" pitchFamily="34" charset="-120"/>
              </a:rPr>
              <a:t>T</a:t>
            </a:r>
            <a:pPr algn="l" indent="0" marL="0">
              <a:buNone/>
            </a:pPr>
            <a:r>
              <a:rPr lang="en-US" sz="1000" dirty="0">
                <a:solidFill>
                  <a:srgbClr val="5C5E62"/>
                </a:solidFill>
                <a:latin typeface="Segoe UI" pitchFamily="34" charset="0"/>
                <a:ea typeface="Segoe UI" pitchFamily="34" charset="-122"/>
                <a:cs typeface="Segoe UI" pitchFamily="34" charset="-120"/>
              </a:rPr>
              <a:t> (≈ −1.6 mV/K)</a:t>
            </a:r>
            <a:endParaRPr lang="en-US" sz="1000" dirty="0"/>
          </a:p>
        </p:txBody>
      </p:sp>
      <p:sp>
        <p:nvSpPr>
          <p:cNvPr id="47" name="!!chipv4"/>
          <p:cNvSpPr txBox="1"/>
          <p:nvPr/>
        </p:nvSpPr>
        <p:spPr>
          <a:xfrm>
            <a:off x="6967728" y="3675888"/>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−70 mV</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48" name="!!chip5"/>
          <p:cNvSpPr/>
          <p:nvPr/>
        </p:nvSpPr>
        <p:spPr>
          <a:xfrm>
            <a:off x="9299448" y="3364992"/>
            <a:ext cx="2331720" cy="749808"/>
          </a:xfrm>
          <a:prstGeom prst="roundRect">
            <a:avLst>
              <a:gd name="adj" fmla="val 7317"/>
            </a:avLst>
          </a:prstGeom>
          <a:solidFill>
            <a:srgbClr val="F4F5F7"/>
          </a:solidFill>
          <a:ln/>
        </p:spPr>
      </p:sp>
      <p:sp>
        <p:nvSpPr>
          <p:cNvPr id="49" name="!!chipk5"/>
          <p:cNvSpPr txBox="1"/>
          <p:nvPr/>
        </p:nvSpPr>
        <p:spPr>
          <a:xfrm>
            <a:off x="9409176" y="3438144"/>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ageing (HCD, BTI)</a:t>
            </a:r>
            <a:endParaRPr lang="en-US" sz="1000" dirty="0"/>
          </a:p>
        </p:txBody>
      </p:sp>
      <p:sp>
        <p:nvSpPr>
          <p:cNvPr id="50" name="!!chipv5"/>
          <p:cNvSpPr txBox="1"/>
          <p:nvPr/>
        </p:nvSpPr>
        <p:spPr>
          <a:xfrm>
            <a:off x="9409176" y="3675888"/>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faster</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51" name="!!knobLbl"/>
          <p:cNvSpPr txBox="1"/>
          <p:nvPr/>
        </p:nvSpPr>
        <p:spPr>
          <a:xfrm>
            <a:off x="7022592" y="452628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channel temperature T   </a:t>
            </a:r>
            <a:pPr algn="l" indent="0" marL="0">
              <a:buNone/>
            </a:pPr>
            <a:r>
              <a:rPr lang="en-US" sz="1200" dirty="0">
                <a:solidFill>
                  <a:srgbClr val="E07B00"/>
                </a:solidFill>
                <a:latin typeface="Segoe UI Semibold" pitchFamily="34" charset="0"/>
                <a:ea typeface="Segoe UI Semibold" pitchFamily="34" charset="-122"/>
                <a:cs typeface="Segoe UI Semibold" pitchFamily="34" charset="-120"/>
              </a:rPr>
              <a:t>343.6 K</a:t>
            </a:r>
            <a:endParaRPr lang="en-US" sz="1200" dirty="0"/>
          </a:p>
        </p:txBody>
      </p:sp>
      <p:sp>
        <p:nvSpPr>
          <p:cNvPr id="52" name="!!knobTrack"/>
          <p:cNvSpPr/>
          <p:nvPr/>
        </p:nvSpPr>
        <p:spPr>
          <a:xfrm>
            <a:off x="7040880" y="4910328"/>
            <a:ext cx="4480560" cy="54864"/>
          </a:xfrm>
          <a:prstGeom prst="roundRect">
            <a:avLst>
              <a:gd name="adj" fmla="val 50000"/>
            </a:avLst>
          </a:prstGeom>
          <a:solidFill>
            <a:srgbClr val="E2E3E3"/>
          </a:solidFill>
          <a:ln/>
        </p:spPr>
      </p:sp>
      <p:sp>
        <p:nvSpPr>
          <p:cNvPr id="53" name="!!knobFill"/>
          <p:cNvSpPr/>
          <p:nvPr/>
        </p:nvSpPr>
        <p:spPr>
          <a:xfrm>
            <a:off x="7040880" y="4910328"/>
            <a:ext cx="1953524" cy="54864"/>
          </a:xfrm>
          <a:prstGeom prst="roundRect">
            <a:avLst>
              <a:gd name="adj" fmla="val 50000"/>
            </a:avLst>
          </a:prstGeom>
          <a:solidFill>
            <a:srgbClr val="E07B00"/>
          </a:solidFill>
          <a:ln/>
        </p:spPr>
      </p:sp>
      <p:sp>
        <p:nvSpPr>
          <p:cNvPr id="54" name="!!knobT0"/>
          <p:cNvSpPr txBox="1"/>
          <p:nvPr/>
        </p:nvSpPr>
        <p:spPr>
          <a:xfrm>
            <a:off x="6675120"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300</a:t>
            </a:r>
            <a:endParaRPr lang="en-US" sz="900" dirty="0"/>
          </a:p>
        </p:txBody>
      </p:sp>
      <p:sp>
        <p:nvSpPr>
          <p:cNvPr id="55" name="!!knobT1"/>
          <p:cNvSpPr txBox="1"/>
          <p:nvPr/>
        </p:nvSpPr>
        <p:spPr>
          <a:xfrm>
            <a:off x="7795260"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325</a:t>
            </a:r>
            <a:endParaRPr lang="en-US" sz="900" dirty="0"/>
          </a:p>
        </p:txBody>
      </p:sp>
      <p:sp>
        <p:nvSpPr>
          <p:cNvPr id="56" name="!!knobT2"/>
          <p:cNvSpPr txBox="1"/>
          <p:nvPr/>
        </p:nvSpPr>
        <p:spPr>
          <a:xfrm>
            <a:off x="8915400"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350</a:t>
            </a:r>
            <a:endParaRPr lang="en-US" sz="900" dirty="0"/>
          </a:p>
        </p:txBody>
      </p:sp>
      <p:sp>
        <p:nvSpPr>
          <p:cNvPr id="57" name="!!knobT3"/>
          <p:cNvSpPr txBox="1"/>
          <p:nvPr/>
        </p:nvSpPr>
        <p:spPr>
          <a:xfrm>
            <a:off x="10035540"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375</a:t>
            </a:r>
            <a:endParaRPr lang="en-US" sz="900" dirty="0"/>
          </a:p>
        </p:txBody>
      </p:sp>
      <p:sp>
        <p:nvSpPr>
          <p:cNvPr id="58" name="!!knobT4"/>
          <p:cNvSpPr txBox="1"/>
          <p:nvPr/>
        </p:nvSpPr>
        <p:spPr>
          <a:xfrm>
            <a:off x="11155680"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400</a:t>
            </a:r>
            <a:endParaRPr lang="en-US" sz="900" dirty="0"/>
          </a:p>
        </p:txBody>
      </p:sp>
      <p:sp>
        <p:nvSpPr>
          <p:cNvPr id="59" name="!!knobThumb"/>
          <p:cNvSpPr/>
          <p:nvPr/>
        </p:nvSpPr>
        <p:spPr>
          <a:xfrm>
            <a:off x="8893820" y="4837176"/>
            <a:ext cx="201168" cy="201168"/>
          </a:xfrm>
          <a:prstGeom prst="ellipse">
            <a:avLst/>
          </a:prstGeom>
          <a:solidFill>
            <a:srgbClr val="FFFFFF"/>
          </a:solidFill>
          <a:ln w="28575">
            <a:solidFill>
              <a:srgbClr val="E07B00"/>
            </a:solidFill>
            <a:prstDash val="solid"/>
          </a:ln>
        </p:spPr>
      </p:sp>
      <p:sp>
        <p:nvSpPr>
          <p:cNvPr id="60"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At our reproduced peak, 343.6 K, mobility is already 24 % lower.</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95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Self-heating – Heat changes every metric</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Turn the temperature knob and watch the switch get worse</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171A20"/>
          </a:solidFill>
          <a:ln/>
        </p:spPr>
      </p:sp>
      <p:sp>
        <p:nvSpPr>
          <p:cNvPr id="6" name="!!sdot2"/>
          <p:cNvSpPr/>
          <p:nvPr/>
        </p:nvSpPr>
        <p:spPr>
          <a:xfrm>
            <a:off x="11599164" y="525780"/>
            <a:ext cx="82296" cy="82296"/>
          </a:xfrm>
          <a:prstGeom prst="ellipse">
            <a:avLst/>
          </a:prstGeom>
          <a:solidFill>
            <a:srgbClr val="171A20"/>
          </a:solidFill>
          <a:ln/>
        </p:spPr>
      </p:sp>
      <p:sp>
        <p:nvSpPr>
          <p:cNvPr id="7" name="!!axg0"/>
          <p:cNvSpPr/>
          <p:nvPr/>
        </p:nvSpPr>
        <p:spPr>
          <a:xfrm>
            <a:off x="1188720" y="4983480"/>
            <a:ext cx="5120640" cy="91"/>
          </a:xfrm>
          <a:prstGeom prst="line">
            <a:avLst/>
          </a:prstGeom>
          <a:noFill/>
          <a:ln w="9525">
            <a:solidFill>
              <a:srgbClr val="EDEEF0"/>
            </a:solidFill>
            <a:prstDash val="solid"/>
          </a:ln>
        </p:spPr>
      </p:sp>
      <p:sp>
        <p:nvSpPr>
          <p:cNvPr id="8" name="!!axg1"/>
          <p:cNvSpPr/>
          <p:nvPr/>
        </p:nvSpPr>
        <p:spPr>
          <a:xfrm>
            <a:off x="1188720" y="4325112"/>
            <a:ext cx="5120640" cy="91"/>
          </a:xfrm>
          <a:prstGeom prst="line">
            <a:avLst/>
          </a:prstGeom>
          <a:noFill/>
          <a:ln w="9525">
            <a:solidFill>
              <a:srgbClr val="EDEEF0"/>
            </a:solidFill>
            <a:prstDash val="solid"/>
          </a:ln>
        </p:spPr>
      </p:sp>
      <p:sp>
        <p:nvSpPr>
          <p:cNvPr id="9" name="!!axg2"/>
          <p:cNvSpPr/>
          <p:nvPr/>
        </p:nvSpPr>
        <p:spPr>
          <a:xfrm>
            <a:off x="1188720" y="3666744"/>
            <a:ext cx="5120640" cy="91"/>
          </a:xfrm>
          <a:prstGeom prst="line">
            <a:avLst/>
          </a:prstGeom>
          <a:noFill/>
          <a:ln w="9525">
            <a:solidFill>
              <a:srgbClr val="EDEEF0"/>
            </a:solidFill>
            <a:prstDash val="solid"/>
          </a:ln>
        </p:spPr>
      </p:sp>
      <p:sp>
        <p:nvSpPr>
          <p:cNvPr id="10" name="!!axg3"/>
          <p:cNvSpPr/>
          <p:nvPr/>
        </p:nvSpPr>
        <p:spPr>
          <a:xfrm>
            <a:off x="1188720" y="3008376"/>
            <a:ext cx="5120640" cy="91"/>
          </a:xfrm>
          <a:prstGeom prst="line">
            <a:avLst/>
          </a:prstGeom>
          <a:noFill/>
          <a:ln w="9525">
            <a:solidFill>
              <a:srgbClr val="EDEEF0"/>
            </a:solidFill>
            <a:prstDash val="solid"/>
          </a:ln>
        </p:spPr>
      </p:sp>
      <p:sp>
        <p:nvSpPr>
          <p:cNvPr id="11" name="!!axg4"/>
          <p:cNvSpPr/>
          <p:nvPr/>
        </p:nvSpPr>
        <p:spPr>
          <a:xfrm>
            <a:off x="1188720" y="2350008"/>
            <a:ext cx="5120640" cy="91"/>
          </a:xfrm>
          <a:prstGeom prst="line">
            <a:avLst/>
          </a:prstGeom>
          <a:noFill/>
          <a:ln w="9525">
            <a:solidFill>
              <a:srgbClr val="EDEEF0"/>
            </a:solidFill>
            <a:prstDash val="solid"/>
          </a:ln>
        </p:spPr>
      </p:sp>
      <p:sp>
        <p:nvSpPr>
          <p:cNvPr id="12" name="!!axg5"/>
          <p:cNvSpPr/>
          <p:nvPr/>
        </p:nvSpPr>
        <p:spPr>
          <a:xfrm>
            <a:off x="1188720" y="1691640"/>
            <a:ext cx="5120640" cy="91"/>
          </a:xfrm>
          <a:prstGeom prst="line">
            <a:avLst/>
          </a:prstGeom>
          <a:noFill/>
          <a:ln w="9525">
            <a:solidFill>
              <a:srgbClr val="EDEEF0"/>
            </a:solidFill>
            <a:prstDash val="solid"/>
          </a:ln>
        </p:spPr>
      </p:sp>
      <p:sp>
        <p:nvSpPr>
          <p:cNvPr id="13" name="!!axxa"/>
          <p:cNvSpPr/>
          <p:nvPr/>
        </p:nvSpPr>
        <p:spPr>
          <a:xfrm>
            <a:off x="1188720" y="4983480"/>
            <a:ext cx="5120640" cy="91"/>
          </a:xfrm>
          <a:prstGeom prst="line">
            <a:avLst/>
          </a:prstGeom>
          <a:noFill/>
          <a:ln w="12700">
            <a:solidFill>
              <a:srgbClr val="8A8D93"/>
            </a:solidFill>
            <a:prstDash val="solid"/>
          </a:ln>
        </p:spPr>
      </p:sp>
      <p:sp>
        <p:nvSpPr>
          <p:cNvPr id="14" name="!!axya"/>
          <p:cNvSpPr/>
          <p:nvPr/>
        </p:nvSpPr>
        <p:spPr>
          <a:xfrm>
            <a:off x="1188720" y="1691640"/>
            <a:ext cx="91" cy="3291840"/>
          </a:xfrm>
          <a:prstGeom prst="line">
            <a:avLst/>
          </a:prstGeom>
          <a:noFill/>
          <a:ln w="12700">
            <a:solidFill>
              <a:srgbClr val="8A8D93"/>
            </a:solidFill>
            <a:prstDash val="solid"/>
          </a:ln>
        </p:spPr>
      </p:sp>
      <p:sp>
        <p:nvSpPr>
          <p:cNvPr id="15" name="!!axxt0"/>
          <p:cNvSpPr txBox="1"/>
          <p:nvPr/>
        </p:nvSpPr>
        <p:spPr>
          <a:xfrm>
            <a:off x="86868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300</a:t>
            </a:r>
            <a:endParaRPr lang="en-US" sz="900" dirty="0"/>
          </a:p>
        </p:txBody>
      </p:sp>
      <p:sp>
        <p:nvSpPr>
          <p:cNvPr id="16" name="!!axxt1"/>
          <p:cNvSpPr txBox="1"/>
          <p:nvPr/>
        </p:nvSpPr>
        <p:spPr>
          <a:xfrm>
            <a:off x="214884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325</a:t>
            </a:r>
            <a:endParaRPr lang="en-US" sz="900" dirty="0"/>
          </a:p>
        </p:txBody>
      </p:sp>
      <p:sp>
        <p:nvSpPr>
          <p:cNvPr id="17" name="!!axxt2"/>
          <p:cNvSpPr txBox="1"/>
          <p:nvPr/>
        </p:nvSpPr>
        <p:spPr>
          <a:xfrm>
            <a:off x="342900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350</a:t>
            </a:r>
            <a:endParaRPr lang="en-US" sz="900" dirty="0"/>
          </a:p>
        </p:txBody>
      </p:sp>
      <p:sp>
        <p:nvSpPr>
          <p:cNvPr id="18" name="!!axxt3"/>
          <p:cNvSpPr txBox="1"/>
          <p:nvPr/>
        </p:nvSpPr>
        <p:spPr>
          <a:xfrm>
            <a:off x="470916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375</a:t>
            </a:r>
            <a:endParaRPr lang="en-US" sz="900" dirty="0"/>
          </a:p>
        </p:txBody>
      </p:sp>
      <p:sp>
        <p:nvSpPr>
          <p:cNvPr id="19" name="!!axxt4"/>
          <p:cNvSpPr txBox="1"/>
          <p:nvPr/>
        </p:nvSpPr>
        <p:spPr>
          <a:xfrm>
            <a:off x="5989320" y="50292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400</a:t>
            </a:r>
            <a:endParaRPr lang="en-US" sz="900" dirty="0"/>
          </a:p>
        </p:txBody>
      </p:sp>
      <p:sp>
        <p:nvSpPr>
          <p:cNvPr id="20" name="!!axyt0"/>
          <p:cNvSpPr txBox="1"/>
          <p:nvPr/>
        </p:nvSpPr>
        <p:spPr>
          <a:xfrm>
            <a:off x="502920" y="48828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50 %</a:t>
            </a:r>
            <a:endParaRPr lang="en-US" sz="900" dirty="0"/>
          </a:p>
        </p:txBody>
      </p:sp>
      <p:sp>
        <p:nvSpPr>
          <p:cNvPr id="21" name="!!axyt1"/>
          <p:cNvSpPr txBox="1"/>
          <p:nvPr/>
        </p:nvSpPr>
        <p:spPr>
          <a:xfrm>
            <a:off x="502920" y="4224528"/>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60 %</a:t>
            </a:r>
            <a:endParaRPr lang="en-US" sz="900" dirty="0"/>
          </a:p>
        </p:txBody>
      </p:sp>
      <p:sp>
        <p:nvSpPr>
          <p:cNvPr id="22" name="!!axyt2"/>
          <p:cNvSpPr txBox="1"/>
          <p:nvPr/>
        </p:nvSpPr>
        <p:spPr>
          <a:xfrm>
            <a:off x="502920" y="356616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70 %</a:t>
            </a:r>
            <a:endParaRPr lang="en-US" sz="900" dirty="0"/>
          </a:p>
        </p:txBody>
      </p:sp>
      <p:sp>
        <p:nvSpPr>
          <p:cNvPr id="23" name="!!axyt3"/>
          <p:cNvSpPr txBox="1"/>
          <p:nvPr/>
        </p:nvSpPr>
        <p:spPr>
          <a:xfrm>
            <a:off x="502920" y="290779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80 %</a:t>
            </a:r>
            <a:endParaRPr lang="en-US" sz="900" dirty="0"/>
          </a:p>
        </p:txBody>
      </p:sp>
      <p:sp>
        <p:nvSpPr>
          <p:cNvPr id="24" name="!!axyt4"/>
          <p:cNvSpPr txBox="1"/>
          <p:nvPr/>
        </p:nvSpPr>
        <p:spPr>
          <a:xfrm>
            <a:off x="502920" y="2249424"/>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90 %</a:t>
            </a:r>
            <a:endParaRPr lang="en-US" sz="900" dirty="0"/>
          </a:p>
        </p:txBody>
      </p:sp>
      <p:sp>
        <p:nvSpPr>
          <p:cNvPr id="25" name="!!axyt5"/>
          <p:cNvSpPr txBox="1"/>
          <p:nvPr/>
        </p:nvSpPr>
        <p:spPr>
          <a:xfrm>
            <a:off x="50292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a:t>
            </a:r>
            <a:endParaRPr lang="en-US" sz="900" dirty="0"/>
          </a:p>
        </p:txBody>
      </p:sp>
      <p:sp>
        <p:nvSpPr>
          <p:cNvPr id="26" name="!!axxl"/>
          <p:cNvSpPr txBox="1"/>
          <p:nvPr/>
        </p:nvSpPr>
        <p:spPr>
          <a:xfrm>
            <a:off x="1188720" y="5257800"/>
            <a:ext cx="51206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channel temperature T (K)</a:t>
            </a:r>
            <a:endParaRPr lang="en-US" sz="1100" dirty="0"/>
          </a:p>
        </p:txBody>
      </p:sp>
      <p:sp>
        <p:nvSpPr>
          <p:cNvPr id="27" name="!!axyl"/>
          <p:cNvSpPr txBox="1"/>
          <p:nvPr/>
        </p:nvSpPr>
        <p:spPr>
          <a:xfrm>
            <a:off x="100584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mobility μ(T) / μ(300 K)</a:t>
            </a:r>
            <a:endParaRPr lang="en-US" sz="1100" dirty="0"/>
          </a:p>
        </p:txBody>
      </p:sp>
      <p:sp>
        <p:nvSpPr>
          <p:cNvPr id="28" name="!!hmC"/>
          <p:cNvSpPr/>
          <p:nvPr/>
        </p:nvSpPr>
        <p:spPr>
          <a:xfrm>
            <a:off x="1188720" y="1691640"/>
            <a:ext cx="5120640" cy="2880360"/>
          </a:xfrm>
          <a:custGeom>
            <a:avLst/>
            <a:gdLst/>
            <a:ahLst/>
            <a:cxnLst/>
            <a:rect l="l" t="t" r="r" b="b"/>
            <a:pathLst>
              <a:path w="5120640" h="2880360">
                <a:moveTo>
                  <a:pt x="0" y="0"/>
                </a:moveTo>
                <a:lnTo>
                  <a:pt x="176574" y="148779"/>
                </a:lnTo>
                <a:lnTo>
                  <a:pt x="353148" y="292571"/>
                </a:lnTo>
                <a:lnTo>
                  <a:pt x="529721" y="431597"/>
                </a:lnTo>
                <a:lnTo>
                  <a:pt x="706295" y="566065"/>
                </a:lnTo>
                <a:lnTo>
                  <a:pt x="882869" y="696171"/>
                </a:lnTo>
                <a:lnTo>
                  <a:pt x="1059443" y="822104"/>
                </a:lnTo>
                <a:lnTo>
                  <a:pt x="1236017" y="944038"/>
                </a:lnTo>
                <a:lnTo>
                  <a:pt x="1412590" y="1062143"/>
                </a:lnTo>
                <a:lnTo>
                  <a:pt x="1589164" y="1176576"/>
                </a:lnTo>
                <a:lnTo>
                  <a:pt x="1765738" y="1287488"/>
                </a:lnTo>
                <a:lnTo>
                  <a:pt x="1942312" y="1395022"/>
                </a:lnTo>
                <a:lnTo>
                  <a:pt x="2118886" y="1499314"/>
                </a:lnTo>
                <a:lnTo>
                  <a:pt x="2295459" y="1600493"/>
                </a:lnTo>
                <a:lnTo>
                  <a:pt x="2472033" y="1698681"/>
                </a:lnTo>
                <a:lnTo>
                  <a:pt x="2648607" y="1793996"/>
                </a:lnTo>
                <a:lnTo>
                  <a:pt x="2825181" y="1886548"/>
                </a:lnTo>
                <a:lnTo>
                  <a:pt x="3001754" y="1976443"/>
                </a:lnTo>
                <a:lnTo>
                  <a:pt x="3178328" y="2063782"/>
                </a:lnTo>
                <a:lnTo>
                  <a:pt x="3354902" y="2148661"/>
                </a:lnTo>
                <a:lnTo>
                  <a:pt x="3531476" y="2231171"/>
                </a:lnTo>
                <a:lnTo>
                  <a:pt x="3708050" y="2311400"/>
                </a:lnTo>
                <a:lnTo>
                  <a:pt x="3884623" y="2389431"/>
                </a:lnTo>
                <a:lnTo>
                  <a:pt x="4061197" y="2465343"/>
                </a:lnTo>
                <a:lnTo>
                  <a:pt x="4237771" y="2539213"/>
                </a:lnTo>
                <a:lnTo>
                  <a:pt x="4414345" y="2611114"/>
                </a:lnTo>
                <a:lnTo>
                  <a:pt x="4590919" y="2681113"/>
                </a:lnTo>
                <a:lnTo>
                  <a:pt x="4767492" y="2749279"/>
                </a:lnTo>
                <a:lnTo>
                  <a:pt x="4944066" y="2815674"/>
                </a:lnTo>
                <a:lnTo>
                  <a:pt x="5120640" y="2880360"/>
                </a:lnTo>
              </a:path>
            </a:pathLst>
          </a:custGeom>
          <a:ln w="31750">
            <a:solidFill>
              <a:srgbClr val="3E6AE1"/>
            </a:solidFill>
            <a:prstDash val="solid"/>
          </a:ln>
        </p:spPr>
      </p:sp>
      <p:sp>
        <p:nvSpPr>
          <p:cNvPr id="29" name="!!hmV"/>
          <p:cNvSpPr/>
          <p:nvPr/>
        </p:nvSpPr>
        <p:spPr>
          <a:xfrm flipH="1">
            <a:off x="6309360" y="4572000"/>
            <a:ext cx="91" cy="411480"/>
          </a:xfrm>
          <a:prstGeom prst="line">
            <a:avLst/>
          </a:prstGeom>
          <a:noFill/>
          <a:ln w="9525">
            <a:solidFill>
              <a:srgbClr val="8A8D93"/>
            </a:solidFill>
            <a:prstDash val="dash"/>
          </a:ln>
        </p:spPr>
      </p:sp>
      <p:sp>
        <p:nvSpPr>
          <p:cNvPr id="30" name="!!hmP"/>
          <p:cNvSpPr/>
          <p:nvPr/>
        </p:nvSpPr>
        <p:spPr>
          <a:xfrm>
            <a:off x="6217920" y="4480560"/>
            <a:ext cx="182880" cy="182880"/>
          </a:xfrm>
          <a:prstGeom prst="ellipse">
            <a:avLst/>
          </a:prstGeom>
          <a:solidFill>
            <a:srgbClr val="D64545"/>
          </a:solidFill>
          <a:ln w="19050">
            <a:solidFill>
              <a:srgbClr val="FFFFFF"/>
            </a:solidFill>
            <a:prstDash val="solid"/>
          </a:ln>
        </p:spPr>
      </p:sp>
      <p:sp>
        <p:nvSpPr>
          <p:cNvPr id="31" name="!!hmPL"/>
          <p:cNvSpPr txBox="1"/>
          <p:nvPr/>
        </p:nvSpPr>
        <p:spPr>
          <a:xfrm>
            <a:off x="4983480" y="4279392"/>
            <a:ext cx="1188720" cy="237744"/>
          </a:xfrm>
          <a:prstGeom prst="rect">
            <a:avLst/>
          </a:prstGeom>
          <a:noFill/>
          <a:ln/>
        </p:spPr>
        <p:txBody>
          <a:bodyPr wrap="square" lIns="0" tIns="0" rIns="0" bIns="0" rtlCol="0" anchor="t"/>
          <a:lstStyle/>
          <a:p>
            <a:pPr algn="r" indent="0" marL="0">
              <a:buNone/>
            </a:pPr>
            <a:r>
              <a:rPr lang="en-US" sz="1200" dirty="0">
                <a:solidFill>
                  <a:srgbClr val="D64545"/>
                </a:solidFill>
                <a:latin typeface="Segoe UI Semibold" pitchFamily="34" charset="0"/>
                <a:ea typeface="Segoe UI Semibold" pitchFamily="34" charset="-122"/>
                <a:cs typeface="Segoe UI Semibold" pitchFamily="34" charset="-120"/>
              </a:rPr>
              <a:t>μ = 56 %</a:t>
            </a:r>
            <a:endParaRPr lang="en-US" sz="1200" dirty="0"/>
          </a:p>
        </p:txBody>
      </p:sp>
      <p:sp>
        <p:nvSpPr>
          <p:cNvPr id="32" name="!!chip0"/>
          <p:cNvSpPr/>
          <p:nvPr/>
        </p:nvSpPr>
        <p:spPr>
          <a:xfrm>
            <a:off x="6858000" y="1645920"/>
            <a:ext cx="2331720" cy="749808"/>
          </a:xfrm>
          <a:prstGeom prst="roundRect">
            <a:avLst>
              <a:gd name="adj" fmla="val 7317"/>
            </a:avLst>
          </a:prstGeom>
          <a:solidFill>
            <a:srgbClr val="F4F5F7"/>
          </a:solidFill>
          <a:ln/>
        </p:spPr>
      </p:sp>
      <p:sp>
        <p:nvSpPr>
          <p:cNvPr id="33" name="!!chipk0"/>
          <p:cNvSpPr txBox="1"/>
          <p:nvPr/>
        </p:nvSpPr>
        <p:spPr>
          <a:xfrm>
            <a:off x="6967728" y="1719072"/>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mobility μ  (μ ∝ T⁻²)</a:t>
            </a:r>
            <a:endParaRPr lang="en-US" sz="1000" dirty="0"/>
          </a:p>
        </p:txBody>
      </p:sp>
      <p:sp>
        <p:nvSpPr>
          <p:cNvPr id="34" name="!!chipv0"/>
          <p:cNvSpPr txBox="1"/>
          <p:nvPr/>
        </p:nvSpPr>
        <p:spPr>
          <a:xfrm>
            <a:off x="6967728" y="1956816"/>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56 %</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35" name="!!chip1"/>
          <p:cNvSpPr/>
          <p:nvPr/>
        </p:nvSpPr>
        <p:spPr>
          <a:xfrm>
            <a:off x="9299448" y="1645920"/>
            <a:ext cx="2331720" cy="749808"/>
          </a:xfrm>
          <a:prstGeom prst="roundRect">
            <a:avLst>
              <a:gd name="adj" fmla="val 7317"/>
            </a:avLst>
          </a:prstGeom>
          <a:solidFill>
            <a:srgbClr val="F4F5F7"/>
          </a:solidFill>
          <a:ln/>
        </p:spPr>
      </p:sp>
      <p:sp>
        <p:nvSpPr>
          <p:cNvPr id="36" name="!!chipk1"/>
          <p:cNvSpPr txBox="1"/>
          <p:nvPr/>
        </p:nvSpPr>
        <p:spPr>
          <a:xfrm>
            <a:off x="9409176" y="1719072"/>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I</a:t>
            </a:r>
            <a:pPr algn="l" indent="0" marL="0">
              <a:buNone/>
            </a:pPr>
            <a:r>
              <a:rPr lang="en-US" sz="1000" baseline="-40000" dirty="0">
                <a:solidFill>
                  <a:srgbClr val="5C5E62"/>
                </a:solidFill>
                <a:latin typeface="Segoe UI" pitchFamily="34" charset="0"/>
                <a:ea typeface="Segoe UI" pitchFamily="34" charset="-122"/>
                <a:cs typeface="Segoe UI" pitchFamily="34" charset="-120"/>
              </a:rPr>
              <a:t>on</a:t>
            </a:r>
            <a:pPr algn="l" indent="0" marL="0">
              <a:buNone/>
            </a:pPr>
            <a:r>
              <a:rPr lang="en-US" sz="1000" dirty="0">
                <a:solidFill>
                  <a:srgbClr val="5C5E62"/>
                </a:solidFill>
                <a:latin typeface="Segoe UI" pitchFamily="34" charset="0"/>
                <a:ea typeface="Segoe UI" pitchFamily="34" charset="-122"/>
                <a:cs typeface="Segoe UI" pitchFamily="34" charset="-120"/>
              </a:rPr>
              <a:t> → slower circuit</a:t>
            </a:r>
            <a:endParaRPr lang="en-US" sz="1000" dirty="0"/>
          </a:p>
        </p:txBody>
      </p:sp>
      <p:sp>
        <p:nvSpPr>
          <p:cNvPr id="37" name="!!chipv1"/>
          <p:cNvSpPr txBox="1"/>
          <p:nvPr/>
        </p:nvSpPr>
        <p:spPr>
          <a:xfrm>
            <a:off x="9409176" y="1956816"/>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falls</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38" name="!!chip2"/>
          <p:cNvSpPr/>
          <p:nvPr/>
        </p:nvSpPr>
        <p:spPr>
          <a:xfrm>
            <a:off x="6858000" y="2505456"/>
            <a:ext cx="2331720" cy="749808"/>
          </a:xfrm>
          <a:prstGeom prst="roundRect">
            <a:avLst>
              <a:gd name="adj" fmla="val 7317"/>
            </a:avLst>
          </a:prstGeom>
          <a:solidFill>
            <a:srgbClr val="F4F5F7"/>
          </a:solidFill>
          <a:ln/>
        </p:spPr>
      </p:sp>
      <p:sp>
        <p:nvSpPr>
          <p:cNvPr id="39" name="!!chipk2"/>
          <p:cNvSpPr txBox="1"/>
          <p:nvPr/>
        </p:nvSpPr>
        <p:spPr>
          <a:xfrm>
            <a:off x="6967728" y="2578608"/>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SS limit (kT/q)·ln10</a:t>
            </a:r>
            <a:endParaRPr lang="en-US" sz="1000" dirty="0"/>
          </a:p>
        </p:txBody>
      </p:sp>
      <p:sp>
        <p:nvSpPr>
          <p:cNvPr id="40" name="!!chipv2"/>
          <p:cNvSpPr txBox="1"/>
          <p:nvPr/>
        </p:nvSpPr>
        <p:spPr>
          <a:xfrm>
            <a:off x="6967728" y="2816352"/>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79.4</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41" name="!!chip3"/>
          <p:cNvSpPr/>
          <p:nvPr/>
        </p:nvSpPr>
        <p:spPr>
          <a:xfrm>
            <a:off x="9299448" y="2505456"/>
            <a:ext cx="2331720" cy="749808"/>
          </a:xfrm>
          <a:prstGeom prst="roundRect">
            <a:avLst>
              <a:gd name="adj" fmla="val 7317"/>
            </a:avLst>
          </a:prstGeom>
          <a:solidFill>
            <a:srgbClr val="F4F5F7"/>
          </a:solidFill>
          <a:ln/>
        </p:spPr>
      </p:sp>
      <p:sp>
        <p:nvSpPr>
          <p:cNvPr id="42" name="!!chipk3"/>
          <p:cNvSpPr txBox="1"/>
          <p:nvPr/>
        </p:nvSpPr>
        <p:spPr>
          <a:xfrm>
            <a:off x="9409176" y="2578608"/>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I</a:t>
            </a:r>
            <a:pPr algn="l" indent="0" marL="0">
              <a:buNone/>
            </a:pPr>
            <a:r>
              <a:rPr lang="en-US" sz="1000" baseline="-40000" dirty="0">
                <a:solidFill>
                  <a:srgbClr val="5C5E62"/>
                </a:solidFill>
                <a:latin typeface="Segoe UI" pitchFamily="34" charset="0"/>
                <a:ea typeface="Segoe UI" pitchFamily="34" charset="-122"/>
                <a:cs typeface="Segoe UI" pitchFamily="34" charset="-120"/>
              </a:rPr>
              <a:t>off</a:t>
            </a:r>
            <a:pPr algn="l" indent="0" marL="0">
              <a:buNone/>
            </a:pPr>
            <a:r>
              <a:rPr lang="en-US" sz="1000" dirty="0">
                <a:solidFill>
                  <a:srgbClr val="5C5E62"/>
                </a:solidFill>
                <a:latin typeface="Segoe UI" pitchFamily="34" charset="0"/>
                <a:ea typeface="Segoe UI" pitchFamily="34" charset="-122"/>
                <a:cs typeface="Segoe UI" pitchFamily="34" charset="-120"/>
              </a:rPr>
              <a:t> → more power</a:t>
            </a:r>
            <a:endParaRPr lang="en-US" sz="1000" dirty="0"/>
          </a:p>
        </p:txBody>
      </p:sp>
      <p:sp>
        <p:nvSpPr>
          <p:cNvPr id="43" name="!!chipv3"/>
          <p:cNvSpPr txBox="1"/>
          <p:nvPr/>
        </p:nvSpPr>
        <p:spPr>
          <a:xfrm>
            <a:off x="9409176" y="2816352"/>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rises</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44" name="!!chip4"/>
          <p:cNvSpPr/>
          <p:nvPr/>
        </p:nvSpPr>
        <p:spPr>
          <a:xfrm>
            <a:off x="6858000" y="3364992"/>
            <a:ext cx="2331720" cy="749808"/>
          </a:xfrm>
          <a:prstGeom prst="roundRect">
            <a:avLst>
              <a:gd name="adj" fmla="val 7317"/>
            </a:avLst>
          </a:prstGeom>
          <a:solidFill>
            <a:srgbClr val="F4F5F7"/>
          </a:solidFill>
          <a:ln/>
        </p:spPr>
      </p:sp>
      <p:sp>
        <p:nvSpPr>
          <p:cNvPr id="45" name="!!chipk4"/>
          <p:cNvSpPr txBox="1"/>
          <p:nvPr/>
        </p:nvSpPr>
        <p:spPr>
          <a:xfrm>
            <a:off x="6967728" y="3438144"/>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a:t>
            </a:r>
            <a:pPr algn="l" indent="0" marL="0">
              <a:buNone/>
            </a:pPr>
            <a:r>
              <a:rPr lang="en-US" sz="1000" baseline="-40000" dirty="0">
                <a:solidFill>
                  <a:srgbClr val="5C5E62"/>
                </a:solidFill>
                <a:latin typeface="Segoe UI" pitchFamily="34" charset="0"/>
                <a:ea typeface="Segoe UI" pitchFamily="34" charset="-122"/>
                <a:cs typeface="Segoe UI" pitchFamily="34" charset="-120"/>
              </a:rPr>
              <a:t>T</a:t>
            </a:r>
            <a:pPr algn="l" indent="0" marL="0">
              <a:buNone/>
            </a:pPr>
            <a:r>
              <a:rPr lang="en-US" sz="1000" dirty="0">
                <a:solidFill>
                  <a:srgbClr val="5C5E62"/>
                </a:solidFill>
                <a:latin typeface="Segoe UI" pitchFamily="34" charset="0"/>
                <a:ea typeface="Segoe UI" pitchFamily="34" charset="-122"/>
                <a:cs typeface="Segoe UI" pitchFamily="34" charset="-120"/>
              </a:rPr>
              <a:t> (≈ −1.6 mV/K)</a:t>
            </a:r>
            <a:endParaRPr lang="en-US" sz="1000" dirty="0"/>
          </a:p>
        </p:txBody>
      </p:sp>
      <p:sp>
        <p:nvSpPr>
          <p:cNvPr id="46" name="!!chipv4"/>
          <p:cNvSpPr txBox="1"/>
          <p:nvPr/>
        </p:nvSpPr>
        <p:spPr>
          <a:xfrm>
            <a:off x="6967728" y="3675888"/>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−160 mV</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47" name="!!chip5"/>
          <p:cNvSpPr/>
          <p:nvPr/>
        </p:nvSpPr>
        <p:spPr>
          <a:xfrm>
            <a:off x="9299448" y="3364992"/>
            <a:ext cx="2331720" cy="749808"/>
          </a:xfrm>
          <a:prstGeom prst="roundRect">
            <a:avLst>
              <a:gd name="adj" fmla="val 7317"/>
            </a:avLst>
          </a:prstGeom>
          <a:solidFill>
            <a:srgbClr val="F4F5F7"/>
          </a:solidFill>
          <a:ln/>
        </p:spPr>
      </p:sp>
      <p:sp>
        <p:nvSpPr>
          <p:cNvPr id="48" name="!!chipk5"/>
          <p:cNvSpPr txBox="1"/>
          <p:nvPr/>
        </p:nvSpPr>
        <p:spPr>
          <a:xfrm>
            <a:off x="9409176" y="3438144"/>
            <a:ext cx="211226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ageing (HCD, BTI)</a:t>
            </a:r>
            <a:endParaRPr lang="en-US" sz="1000" dirty="0"/>
          </a:p>
        </p:txBody>
      </p:sp>
      <p:sp>
        <p:nvSpPr>
          <p:cNvPr id="49" name="!!chipv5"/>
          <p:cNvSpPr txBox="1"/>
          <p:nvPr/>
        </p:nvSpPr>
        <p:spPr>
          <a:xfrm>
            <a:off x="9409176" y="3675888"/>
            <a:ext cx="214884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faster</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50" name="!!knobLbl"/>
          <p:cNvSpPr txBox="1"/>
          <p:nvPr/>
        </p:nvSpPr>
        <p:spPr>
          <a:xfrm>
            <a:off x="7022592" y="4526280"/>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channel temperature T   </a:t>
            </a:r>
            <a:pPr algn="l" indent="0" marL="0">
              <a:buNone/>
            </a:pPr>
            <a:r>
              <a:rPr lang="en-US" sz="1200" dirty="0">
                <a:solidFill>
                  <a:srgbClr val="E07B00"/>
                </a:solidFill>
                <a:latin typeface="Segoe UI Semibold" pitchFamily="34" charset="0"/>
                <a:ea typeface="Segoe UI Semibold" pitchFamily="34" charset="-122"/>
                <a:cs typeface="Segoe UI Semibold" pitchFamily="34" charset="-120"/>
              </a:rPr>
              <a:t>400 K</a:t>
            </a:r>
            <a:endParaRPr lang="en-US" sz="1200" dirty="0"/>
          </a:p>
        </p:txBody>
      </p:sp>
      <p:sp>
        <p:nvSpPr>
          <p:cNvPr id="51" name="!!knobTrack"/>
          <p:cNvSpPr/>
          <p:nvPr/>
        </p:nvSpPr>
        <p:spPr>
          <a:xfrm>
            <a:off x="7040880" y="4910328"/>
            <a:ext cx="4480560" cy="54864"/>
          </a:xfrm>
          <a:prstGeom prst="roundRect">
            <a:avLst>
              <a:gd name="adj" fmla="val 50000"/>
            </a:avLst>
          </a:prstGeom>
          <a:solidFill>
            <a:srgbClr val="E2E3E3"/>
          </a:solidFill>
          <a:ln/>
        </p:spPr>
      </p:sp>
      <p:sp>
        <p:nvSpPr>
          <p:cNvPr id="52" name="!!knobFill"/>
          <p:cNvSpPr/>
          <p:nvPr/>
        </p:nvSpPr>
        <p:spPr>
          <a:xfrm>
            <a:off x="7040880" y="4910328"/>
            <a:ext cx="4480560" cy="54864"/>
          </a:xfrm>
          <a:prstGeom prst="roundRect">
            <a:avLst>
              <a:gd name="adj" fmla="val 50000"/>
            </a:avLst>
          </a:prstGeom>
          <a:solidFill>
            <a:srgbClr val="E07B00"/>
          </a:solidFill>
          <a:ln/>
        </p:spPr>
      </p:sp>
      <p:sp>
        <p:nvSpPr>
          <p:cNvPr id="53" name="!!knobT0"/>
          <p:cNvSpPr txBox="1"/>
          <p:nvPr/>
        </p:nvSpPr>
        <p:spPr>
          <a:xfrm>
            <a:off x="6675120"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300</a:t>
            </a:r>
            <a:endParaRPr lang="en-US" sz="900" dirty="0"/>
          </a:p>
        </p:txBody>
      </p:sp>
      <p:sp>
        <p:nvSpPr>
          <p:cNvPr id="54" name="!!knobT1"/>
          <p:cNvSpPr txBox="1"/>
          <p:nvPr/>
        </p:nvSpPr>
        <p:spPr>
          <a:xfrm>
            <a:off x="7795260"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325</a:t>
            </a:r>
            <a:endParaRPr lang="en-US" sz="900" dirty="0"/>
          </a:p>
        </p:txBody>
      </p:sp>
      <p:sp>
        <p:nvSpPr>
          <p:cNvPr id="55" name="!!knobT2"/>
          <p:cNvSpPr txBox="1"/>
          <p:nvPr/>
        </p:nvSpPr>
        <p:spPr>
          <a:xfrm>
            <a:off x="8915400"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350</a:t>
            </a:r>
            <a:endParaRPr lang="en-US" sz="900" dirty="0"/>
          </a:p>
        </p:txBody>
      </p:sp>
      <p:sp>
        <p:nvSpPr>
          <p:cNvPr id="56" name="!!knobT3"/>
          <p:cNvSpPr txBox="1"/>
          <p:nvPr/>
        </p:nvSpPr>
        <p:spPr>
          <a:xfrm>
            <a:off x="10035540"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375</a:t>
            </a:r>
            <a:endParaRPr lang="en-US" sz="900" dirty="0"/>
          </a:p>
        </p:txBody>
      </p:sp>
      <p:sp>
        <p:nvSpPr>
          <p:cNvPr id="57" name="!!knobT4"/>
          <p:cNvSpPr txBox="1"/>
          <p:nvPr/>
        </p:nvSpPr>
        <p:spPr>
          <a:xfrm>
            <a:off x="11155680"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400</a:t>
            </a:r>
            <a:endParaRPr lang="en-US" sz="900" dirty="0"/>
          </a:p>
        </p:txBody>
      </p:sp>
      <p:sp>
        <p:nvSpPr>
          <p:cNvPr id="58" name="!!knobThumb"/>
          <p:cNvSpPr/>
          <p:nvPr/>
        </p:nvSpPr>
        <p:spPr>
          <a:xfrm>
            <a:off x="11420856" y="4837176"/>
            <a:ext cx="201168" cy="201168"/>
          </a:xfrm>
          <a:prstGeom prst="ellipse">
            <a:avLst/>
          </a:prstGeom>
          <a:solidFill>
            <a:srgbClr val="FFFFFF"/>
          </a:solidFill>
          <a:ln w="28575">
            <a:solidFill>
              <a:srgbClr val="E07B00"/>
            </a:solidFill>
            <a:prstDash val="solid"/>
          </a:ln>
        </p:spPr>
      </p:sp>
      <p:sp>
        <p:nvSpPr>
          <p:cNvPr id="5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At 400 K the switch is slower, leakier and ages faster.</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96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Self-heating – What heat does to the current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Heat helps a little below 0.57 V and hurts above it [4]</a:t>
            </a:r>
            <a:endParaRPr lang="en-US" sz="1600" dirty="0"/>
          </a:p>
        </p:txBody>
      </p:sp>
      <p:sp>
        <p:nvSpPr>
          <p:cNvPr id="4" name="!!axg0"/>
          <p:cNvSpPr/>
          <p:nvPr/>
        </p:nvSpPr>
        <p:spPr>
          <a:xfrm>
            <a:off x="1188720" y="5074920"/>
            <a:ext cx="5486400" cy="91"/>
          </a:xfrm>
          <a:prstGeom prst="line">
            <a:avLst/>
          </a:prstGeom>
          <a:noFill/>
          <a:ln w="9525">
            <a:solidFill>
              <a:srgbClr val="EDEEF0"/>
            </a:solidFill>
            <a:prstDash val="solid"/>
          </a:ln>
        </p:spPr>
      </p:sp>
      <p:sp>
        <p:nvSpPr>
          <p:cNvPr id="5" name="!!axg1"/>
          <p:cNvSpPr/>
          <p:nvPr/>
        </p:nvSpPr>
        <p:spPr>
          <a:xfrm>
            <a:off x="1188720" y="3947160"/>
            <a:ext cx="5486400" cy="91"/>
          </a:xfrm>
          <a:prstGeom prst="line">
            <a:avLst/>
          </a:prstGeom>
          <a:noFill/>
          <a:ln w="9525">
            <a:solidFill>
              <a:srgbClr val="EDEEF0"/>
            </a:solidFill>
            <a:prstDash val="solid"/>
          </a:ln>
        </p:spPr>
      </p:sp>
      <p:sp>
        <p:nvSpPr>
          <p:cNvPr id="6" name="!!axg2"/>
          <p:cNvSpPr/>
          <p:nvPr/>
        </p:nvSpPr>
        <p:spPr>
          <a:xfrm>
            <a:off x="1188720" y="2819400"/>
            <a:ext cx="5486400" cy="91"/>
          </a:xfrm>
          <a:prstGeom prst="line">
            <a:avLst/>
          </a:prstGeom>
          <a:noFill/>
          <a:ln w="9525">
            <a:solidFill>
              <a:srgbClr val="EDEEF0"/>
            </a:solidFill>
            <a:prstDash val="solid"/>
          </a:ln>
        </p:spPr>
      </p:sp>
      <p:sp>
        <p:nvSpPr>
          <p:cNvPr id="7" name="!!axg3"/>
          <p:cNvSpPr/>
          <p:nvPr/>
        </p:nvSpPr>
        <p:spPr>
          <a:xfrm>
            <a:off x="1188720" y="1691640"/>
            <a:ext cx="5486400" cy="91"/>
          </a:xfrm>
          <a:prstGeom prst="line">
            <a:avLst/>
          </a:prstGeom>
          <a:noFill/>
          <a:ln w="9525">
            <a:solidFill>
              <a:srgbClr val="EDEEF0"/>
            </a:solidFill>
            <a:prstDash val="solid"/>
          </a:ln>
        </p:spPr>
      </p:sp>
      <p:sp>
        <p:nvSpPr>
          <p:cNvPr id="8" name="!!axxa"/>
          <p:cNvSpPr/>
          <p:nvPr/>
        </p:nvSpPr>
        <p:spPr>
          <a:xfrm>
            <a:off x="1188720" y="5074920"/>
            <a:ext cx="5486400" cy="91"/>
          </a:xfrm>
          <a:prstGeom prst="line">
            <a:avLst/>
          </a:prstGeom>
          <a:noFill/>
          <a:ln w="12700">
            <a:solidFill>
              <a:srgbClr val="8A8D93"/>
            </a:solidFill>
            <a:prstDash val="solid"/>
          </a:ln>
        </p:spPr>
      </p:sp>
      <p:sp>
        <p:nvSpPr>
          <p:cNvPr id="9" name="!!axya"/>
          <p:cNvSpPr/>
          <p:nvPr/>
        </p:nvSpPr>
        <p:spPr>
          <a:xfrm>
            <a:off x="1188720" y="1691640"/>
            <a:ext cx="91" cy="3383280"/>
          </a:xfrm>
          <a:prstGeom prst="line">
            <a:avLst/>
          </a:prstGeom>
          <a:noFill/>
          <a:ln w="12700">
            <a:solidFill>
              <a:srgbClr val="8A8D93"/>
            </a:solidFill>
            <a:prstDash val="solid"/>
          </a:ln>
        </p:spPr>
      </p:sp>
      <p:sp>
        <p:nvSpPr>
          <p:cNvPr id="10" name="!!axxt0"/>
          <p:cNvSpPr txBox="1"/>
          <p:nvPr/>
        </p:nvSpPr>
        <p:spPr>
          <a:xfrm>
            <a:off x="86868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11" name="!!axxt1"/>
          <p:cNvSpPr txBox="1"/>
          <p:nvPr/>
        </p:nvSpPr>
        <p:spPr>
          <a:xfrm>
            <a:off x="224028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12" name="!!axxt2"/>
          <p:cNvSpPr txBox="1"/>
          <p:nvPr/>
        </p:nvSpPr>
        <p:spPr>
          <a:xfrm>
            <a:off x="361188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0.5</a:t>
            </a:r>
            <a:endParaRPr lang="en-US" sz="900" dirty="0"/>
          </a:p>
        </p:txBody>
      </p:sp>
      <p:sp>
        <p:nvSpPr>
          <p:cNvPr id="13" name="!!axxt3"/>
          <p:cNvSpPr txBox="1"/>
          <p:nvPr/>
        </p:nvSpPr>
        <p:spPr>
          <a:xfrm>
            <a:off x="498348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14" name="!!axxt4"/>
          <p:cNvSpPr txBox="1"/>
          <p:nvPr/>
        </p:nvSpPr>
        <p:spPr>
          <a:xfrm>
            <a:off x="635508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0.7</a:t>
            </a:r>
            <a:endParaRPr lang="en-US" sz="900" dirty="0"/>
          </a:p>
        </p:txBody>
      </p:sp>
      <p:sp>
        <p:nvSpPr>
          <p:cNvPr id="15" name="!!axyt0"/>
          <p:cNvSpPr txBox="1"/>
          <p:nvPr/>
        </p:nvSpPr>
        <p:spPr>
          <a:xfrm>
            <a:off x="502920" y="4974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 µA</a:t>
            </a:r>
            <a:endParaRPr lang="en-US" sz="900" dirty="0"/>
          </a:p>
        </p:txBody>
      </p:sp>
      <p:sp>
        <p:nvSpPr>
          <p:cNvPr id="16" name="!!axyt1"/>
          <p:cNvSpPr txBox="1"/>
          <p:nvPr/>
        </p:nvSpPr>
        <p:spPr>
          <a:xfrm>
            <a:off x="502920" y="38465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µA</a:t>
            </a:r>
            <a:endParaRPr lang="en-US" sz="900" dirty="0"/>
          </a:p>
        </p:txBody>
      </p:sp>
      <p:sp>
        <p:nvSpPr>
          <p:cNvPr id="17" name="!!axyt2"/>
          <p:cNvSpPr txBox="1"/>
          <p:nvPr/>
        </p:nvSpPr>
        <p:spPr>
          <a:xfrm>
            <a:off x="502920" y="27188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20 µA</a:t>
            </a:r>
            <a:endParaRPr lang="en-US" sz="900" dirty="0"/>
          </a:p>
        </p:txBody>
      </p:sp>
      <p:sp>
        <p:nvSpPr>
          <p:cNvPr id="18" name="!!axyt3"/>
          <p:cNvSpPr txBox="1"/>
          <p:nvPr/>
        </p:nvSpPr>
        <p:spPr>
          <a:xfrm>
            <a:off x="50292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30 µA</a:t>
            </a:r>
            <a:endParaRPr lang="en-US" sz="900" dirty="0"/>
          </a:p>
        </p:txBody>
      </p:sp>
      <p:sp>
        <p:nvSpPr>
          <p:cNvPr id="19" name="!!axxl"/>
          <p:cNvSpPr txBox="1"/>
          <p:nvPr/>
        </p:nvSpPr>
        <p:spPr>
          <a:xfrm>
            <a:off x="1188720" y="5349240"/>
            <a:ext cx="548640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GS</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20" name="!!axyl"/>
          <p:cNvSpPr txBox="1"/>
          <p:nvPr/>
        </p:nvSpPr>
        <p:spPr>
          <a:xfrm>
            <a:off x="100584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(schematic)</a:t>
            </a:r>
            <a:endParaRPr lang="en-US" sz="1100" dirty="0"/>
          </a:p>
        </p:txBody>
      </p:sp>
      <p:sp>
        <p:nvSpPr>
          <p:cNvPr id="21" name="Shape 19"/>
          <p:cNvSpPr/>
          <p:nvPr/>
        </p:nvSpPr>
        <p:spPr>
          <a:xfrm>
            <a:off x="1188720" y="1691640"/>
            <a:ext cx="5486400" cy="3282691"/>
          </a:xfrm>
          <a:custGeom>
            <a:avLst/>
            <a:gdLst/>
            <a:ahLst/>
            <a:cxnLst/>
            <a:rect l="l" t="t" r="r" b="b"/>
            <a:pathLst>
              <a:path w="5486400" h="3282691">
                <a:moveTo>
                  <a:pt x="0" y="3282691"/>
                </a:moveTo>
                <a:lnTo>
                  <a:pt x="189186" y="3234743"/>
                </a:lnTo>
                <a:lnTo>
                  <a:pt x="378372" y="3180113"/>
                </a:lnTo>
                <a:lnTo>
                  <a:pt x="567559" y="3119310"/>
                </a:lnTo>
                <a:lnTo>
                  <a:pt x="756745" y="3052727"/>
                </a:lnTo>
                <a:lnTo>
                  <a:pt x="945931" y="2980682"/>
                </a:lnTo>
                <a:lnTo>
                  <a:pt x="1135117" y="2903438"/>
                </a:lnTo>
                <a:lnTo>
                  <a:pt x="1324303" y="2821219"/>
                </a:lnTo>
                <a:lnTo>
                  <a:pt x="1513490" y="2734219"/>
                </a:lnTo>
                <a:lnTo>
                  <a:pt x="1702676" y="2642606"/>
                </a:lnTo>
                <a:lnTo>
                  <a:pt x="1891862" y="2546530"/>
                </a:lnTo>
                <a:lnTo>
                  <a:pt x="2081048" y="2446127"/>
                </a:lnTo>
                <a:lnTo>
                  <a:pt x="2270234" y="2341516"/>
                </a:lnTo>
                <a:lnTo>
                  <a:pt x="2459421" y="2232809"/>
                </a:lnTo>
                <a:lnTo>
                  <a:pt x="2648607" y="2120104"/>
                </a:lnTo>
                <a:lnTo>
                  <a:pt x="2837793" y="2003496"/>
                </a:lnTo>
                <a:lnTo>
                  <a:pt x="3026979" y="1883068"/>
                </a:lnTo>
                <a:lnTo>
                  <a:pt x="3216166" y="1758901"/>
                </a:lnTo>
                <a:lnTo>
                  <a:pt x="3405352" y="1631067"/>
                </a:lnTo>
                <a:lnTo>
                  <a:pt x="3594538" y="1499636"/>
                </a:lnTo>
                <a:lnTo>
                  <a:pt x="3783724" y="1364672"/>
                </a:lnTo>
                <a:lnTo>
                  <a:pt x="3972910" y="1226236"/>
                </a:lnTo>
                <a:lnTo>
                  <a:pt x="4162097" y="1084384"/>
                </a:lnTo>
                <a:lnTo>
                  <a:pt x="4351283" y="939171"/>
                </a:lnTo>
                <a:lnTo>
                  <a:pt x="4540469" y="790649"/>
                </a:lnTo>
                <a:lnTo>
                  <a:pt x="4729655" y="638864"/>
                </a:lnTo>
                <a:lnTo>
                  <a:pt x="4918841" y="483864"/>
                </a:lnTo>
                <a:lnTo>
                  <a:pt x="5108028" y="325693"/>
                </a:lnTo>
                <a:lnTo>
                  <a:pt x="5297214" y="164391"/>
                </a:lnTo>
                <a:lnTo>
                  <a:pt x="5486400" y="0"/>
                </a:lnTo>
              </a:path>
            </a:pathLst>
          </a:custGeom>
          <a:ln w="28575">
            <a:solidFill>
              <a:srgbClr val="5C5E62"/>
            </a:solidFill>
            <a:prstDash val="dash"/>
          </a:ln>
        </p:spPr>
      </p:sp>
      <p:sp>
        <p:nvSpPr>
          <p:cNvPr id="22" name="Shape 20"/>
          <p:cNvSpPr/>
          <p:nvPr/>
        </p:nvSpPr>
        <p:spPr>
          <a:xfrm>
            <a:off x="1188720" y="2343235"/>
            <a:ext cx="5486400" cy="2605949"/>
          </a:xfrm>
          <a:custGeom>
            <a:avLst/>
            <a:gdLst/>
            <a:ahLst/>
            <a:cxnLst/>
            <a:rect l="l" t="t" r="r" b="b"/>
            <a:pathLst>
              <a:path w="5486400" h="2605949">
                <a:moveTo>
                  <a:pt x="0" y="2605949"/>
                </a:moveTo>
                <a:lnTo>
                  <a:pt x="189186" y="2547911"/>
                </a:lnTo>
                <a:lnTo>
                  <a:pt x="378372" y="2482916"/>
                </a:lnTo>
                <a:lnTo>
                  <a:pt x="567559" y="2411837"/>
                </a:lnTo>
                <a:lnTo>
                  <a:pt x="756745" y="2335381"/>
                </a:lnTo>
                <a:lnTo>
                  <a:pt x="945931" y="2254146"/>
                </a:lnTo>
                <a:lnTo>
                  <a:pt x="1135117" y="2168652"/>
                </a:lnTo>
                <a:lnTo>
                  <a:pt x="1324303" y="2079357"/>
                </a:lnTo>
                <a:lnTo>
                  <a:pt x="1513490" y="1986674"/>
                </a:lnTo>
                <a:lnTo>
                  <a:pt x="1702676" y="1890977"/>
                </a:lnTo>
                <a:lnTo>
                  <a:pt x="1891862" y="1792613"/>
                </a:lnTo>
                <a:lnTo>
                  <a:pt x="2081048" y="1691900"/>
                </a:lnTo>
                <a:lnTo>
                  <a:pt x="2270234" y="1589138"/>
                </a:lnTo>
                <a:lnTo>
                  <a:pt x="2459421" y="1484607"/>
                </a:lnTo>
                <a:lnTo>
                  <a:pt x="2648607" y="1378571"/>
                </a:lnTo>
                <a:lnTo>
                  <a:pt x="2837793" y="1271282"/>
                </a:lnTo>
                <a:lnTo>
                  <a:pt x="3026979" y="1162977"/>
                </a:lnTo>
                <a:lnTo>
                  <a:pt x="3216166" y="1053886"/>
                </a:lnTo>
                <a:lnTo>
                  <a:pt x="3405352" y="944227"/>
                </a:lnTo>
                <a:lnTo>
                  <a:pt x="3594538" y="834209"/>
                </a:lnTo>
                <a:lnTo>
                  <a:pt x="3783724" y="730608"/>
                </a:lnTo>
                <a:lnTo>
                  <a:pt x="3972910" y="637451"/>
                </a:lnTo>
                <a:lnTo>
                  <a:pt x="4162097" y="546707"/>
                </a:lnTo>
                <a:lnTo>
                  <a:pt x="4351283" y="458633"/>
                </a:lnTo>
                <a:lnTo>
                  <a:pt x="4540469" y="373483"/>
                </a:lnTo>
                <a:lnTo>
                  <a:pt x="4729655" y="291504"/>
                </a:lnTo>
                <a:lnTo>
                  <a:pt x="4918841" y="212934"/>
                </a:lnTo>
                <a:lnTo>
                  <a:pt x="5108028" y="138008"/>
                </a:lnTo>
                <a:lnTo>
                  <a:pt x="5297214" y="66955"/>
                </a:lnTo>
                <a:lnTo>
                  <a:pt x="5486400" y="0"/>
                </a:lnTo>
              </a:path>
            </a:pathLst>
          </a:custGeom>
          <a:ln w="38100">
            <a:solidFill>
              <a:srgbClr val="D64545"/>
            </a:solidFill>
            <a:prstDash val="solid"/>
          </a:ln>
        </p:spPr>
      </p:sp>
      <p:sp>
        <p:nvSpPr>
          <p:cNvPr id="23" name="Shape 21"/>
          <p:cNvSpPr/>
          <p:nvPr/>
        </p:nvSpPr>
        <p:spPr>
          <a:xfrm>
            <a:off x="4809744" y="3031803"/>
            <a:ext cx="164592" cy="164592"/>
          </a:xfrm>
          <a:prstGeom prst="ellipse">
            <a:avLst/>
          </a:prstGeom>
          <a:solidFill>
            <a:srgbClr val="171A20"/>
          </a:solidFill>
          <a:ln/>
        </p:spPr>
      </p:sp>
      <p:sp>
        <p:nvSpPr>
          <p:cNvPr id="24" name="Text 22"/>
          <p:cNvSpPr txBox="1"/>
          <p:nvPr/>
        </p:nvSpPr>
        <p:spPr>
          <a:xfrm>
            <a:off x="3429000" y="3022659"/>
            <a:ext cx="1371600" cy="228600"/>
          </a:xfrm>
          <a:prstGeom prst="rect">
            <a:avLst/>
          </a:prstGeom>
          <a:noFill/>
          <a:ln/>
        </p:spPr>
        <p:txBody>
          <a:bodyPr wrap="square" lIns="0" tIns="0" rIns="0" bIns="0" rtlCol="0" anchor="t"/>
          <a:lstStyle/>
          <a:p>
            <a:pPr algn="r" indent="0" marL="0">
              <a:buNone/>
            </a:pPr>
            <a:r>
              <a:rPr lang="en-US" sz="1100" dirty="0">
                <a:solidFill>
                  <a:srgbClr val="171A20"/>
                </a:solidFill>
                <a:latin typeface="Segoe UI Semibold" pitchFamily="34" charset="0"/>
                <a:ea typeface="Segoe UI Semibold" pitchFamily="34" charset="-122"/>
                <a:cs typeface="Segoe UI Semibold" pitchFamily="34" charset="-120"/>
              </a:rPr>
              <a:t>cross at 0.57 V</a:t>
            </a:r>
            <a:endParaRPr lang="en-US" sz="1100" dirty="0"/>
          </a:p>
        </p:txBody>
      </p:sp>
      <p:sp>
        <p:nvSpPr>
          <p:cNvPr id="25" name="Text 23"/>
          <p:cNvSpPr txBox="1"/>
          <p:nvPr/>
        </p:nvSpPr>
        <p:spPr>
          <a:xfrm>
            <a:off x="2560320" y="3586791"/>
            <a:ext cx="1645920"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without self-heating</a:t>
            </a:r>
            <a:endParaRPr lang="en-US" sz="1000" dirty="0"/>
          </a:p>
        </p:txBody>
      </p:sp>
      <p:sp>
        <p:nvSpPr>
          <p:cNvPr id="26" name="Text 24"/>
          <p:cNvSpPr txBox="1"/>
          <p:nvPr/>
        </p:nvSpPr>
        <p:spPr>
          <a:xfrm>
            <a:off x="5577840" y="2845936"/>
            <a:ext cx="1645920" cy="219456"/>
          </a:xfrm>
          <a:prstGeom prst="rect">
            <a:avLst/>
          </a:prstGeom>
          <a:noFill/>
          <a:ln/>
        </p:spPr>
        <p:txBody>
          <a:bodyPr wrap="square" lIns="0" tIns="0" rIns="0" bIns="0" rtlCol="0" anchor="t"/>
          <a:lstStyle/>
          <a:p>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with self-heating</a:t>
            </a:r>
            <a:endParaRPr lang="en-US" sz="1000" dirty="0"/>
          </a:p>
        </p:txBody>
      </p:sp>
      <p:sp>
        <p:nvSpPr>
          <p:cNvPr id="27" name="!!card"/>
          <p:cNvSpPr/>
          <p:nvPr/>
        </p:nvSpPr>
        <p:spPr>
          <a:xfrm>
            <a:off x="7223760" y="1600200"/>
            <a:ext cx="4416552" cy="1600200"/>
          </a:xfrm>
          <a:prstGeom prst="roundRect">
            <a:avLst>
              <a:gd name="adj" fmla="val 4571"/>
            </a:avLst>
          </a:prstGeom>
          <a:solidFill>
            <a:srgbClr val="F4F5F7"/>
          </a:solidFill>
          <a:ln/>
        </p:spPr>
      </p:sp>
      <p:sp>
        <p:nvSpPr>
          <p:cNvPr id="28" name="!!cardh"/>
          <p:cNvSpPr txBox="1"/>
          <p:nvPr/>
        </p:nvSpPr>
        <p:spPr>
          <a:xfrm>
            <a:off x="7452360" y="1819656"/>
            <a:ext cx="4005072" cy="347472"/>
          </a:xfrm>
          <a:prstGeom prst="rect">
            <a:avLst/>
          </a:prstGeom>
          <a:noFill/>
          <a:ln/>
        </p:spPr>
        <p:txBody>
          <a:bodyPr wrap="square" lIns="0" tIns="0" rIns="0" bIns="0" rtlCol="0" anchor="ctr"/>
          <a:lstStyle/>
          <a:p>
            <a:pPr algn="l" indent="0" marL="0">
              <a:buNone/>
            </a:pPr>
            <a:r>
              <a:rPr lang="en-US" sz="1600" dirty="0">
                <a:solidFill>
                  <a:srgbClr val="E07B00"/>
                </a:solidFill>
                <a:latin typeface="Segoe UI Semibold" pitchFamily="34" charset="0"/>
                <a:ea typeface="Segoe UI Semibold" pitchFamily="34" charset="-122"/>
                <a:cs typeface="Segoe UI Semibold" pitchFamily="34" charset="-120"/>
              </a:rPr>
              <a:t>V</a:t>
            </a:r>
            <a:pPr algn="l" indent="0" marL="0">
              <a:buNone/>
            </a:pPr>
            <a:r>
              <a:rPr lang="en-US" sz="1600" baseline="-40000" dirty="0">
                <a:solidFill>
                  <a:srgbClr val="E07B00"/>
                </a:solidFill>
                <a:latin typeface="Segoe UI Semibold" pitchFamily="34" charset="0"/>
                <a:ea typeface="Segoe UI Semibold" pitchFamily="34" charset="-122"/>
                <a:cs typeface="Segoe UI Semibold" pitchFamily="34" charset="-120"/>
              </a:rPr>
              <a:t>GS</a:t>
            </a:r>
            <a:pPr algn="l" indent="0" marL="0">
              <a:buNone/>
            </a:pPr>
            <a:r>
              <a:rPr lang="en-US" sz="1600" dirty="0">
                <a:solidFill>
                  <a:srgbClr val="E07B00"/>
                </a:solidFill>
                <a:latin typeface="Segoe UI Semibold" pitchFamily="34" charset="0"/>
                <a:ea typeface="Segoe UI Semibold" pitchFamily="34" charset="-122"/>
                <a:cs typeface="Segoe UI Semibold" pitchFamily="34" charset="-120"/>
              </a:rPr>
              <a:t> &lt; 0.57 V: I</a:t>
            </a:r>
            <a:pPr algn="l" indent="0" marL="0">
              <a:buNone/>
            </a:pPr>
            <a:r>
              <a:rPr lang="en-US" sz="1600" baseline="-40000" dirty="0">
                <a:solidFill>
                  <a:srgbClr val="E07B00"/>
                </a:solidFill>
                <a:latin typeface="Segoe UI Semibold" pitchFamily="34" charset="0"/>
                <a:ea typeface="Segoe UI Semibold" pitchFamily="34" charset="-122"/>
                <a:cs typeface="Segoe UI Semibold" pitchFamily="34" charset="-120"/>
              </a:rPr>
              <a:t>D</a:t>
            </a:r>
            <a:pPr algn="l" indent="0" marL="0">
              <a:buNone/>
            </a:pPr>
            <a:r>
              <a:rPr lang="en-US" sz="1600" dirty="0">
                <a:solidFill>
                  <a:srgbClr val="E07B00"/>
                </a:solidFill>
                <a:latin typeface="Segoe UI Semibold" pitchFamily="34" charset="0"/>
                <a:ea typeface="Segoe UI Semibold" pitchFamily="34" charset="-122"/>
                <a:cs typeface="Segoe UI Semibold" pitchFamily="34" charset="-120"/>
              </a:rPr>
              <a:t> slightly up</a:t>
            </a:r>
            <a:endParaRPr lang="en-US" sz="1600" dirty="0"/>
          </a:p>
        </p:txBody>
      </p:sp>
      <p:sp>
        <p:nvSpPr>
          <p:cNvPr id="29" name="!!cardb"/>
          <p:cNvSpPr txBox="1"/>
          <p:nvPr/>
        </p:nvSpPr>
        <p:spPr>
          <a:xfrm>
            <a:off x="7452360" y="2313432"/>
            <a:ext cx="3959352" cy="73152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Heat creates extra electron–hole pairs (SRH generation), adding a little current.</a:t>
            </a:r>
            <a:endParaRPr lang="en-US" sz="1300" dirty="0"/>
          </a:p>
        </p:txBody>
      </p:sp>
      <p:sp>
        <p:nvSpPr>
          <p:cNvPr id="30" name="!!card"/>
          <p:cNvSpPr/>
          <p:nvPr/>
        </p:nvSpPr>
        <p:spPr>
          <a:xfrm>
            <a:off x="7223760" y="3383280"/>
            <a:ext cx="4416552" cy="1783080"/>
          </a:xfrm>
          <a:prstGeom prst="roundRect">
            <a:avLst>
              <a:gd name="adj" fmla="val 4103"/>
            </a:avLst>
          </a:prstGeom>
          <a:solidFill>
            <a:srgbClr val="F4F5F7"/>
          </a:solidFill>
          <a:ln/>
        </p:spPr>
      </p:sp>
      <p:sp>
        <p:nvSpPr>
          <p:cNvPr id="31" name="!!cardh"/>
          <p:cNvSpPr txBox="1"/>
          <p:nvPr/>
        </p:nvSpPr>
        <p:spPr>
          <a:xfrm>
            <a:off x="7452360" y="3602736"/>
            <a:ext cx="4005072" cy="347472"/>
          </a:xfrm>
          <a:prstGeom prst="rect">
            <a:avLst/>
          </a:prstGeom>
          <a:noFill/>
          <a:ln/>
        </p:spPr>
        <p:txBody>
          <a:bodyPr wrap="square" lIns="0" tIns="0" rIns="0" bIns="0" rtlCol="0" anchor="ctr"/>
          <a:lstStyle/>
          <a:p>
            <a:pPr algn="l" indent="0" marL="0">
              <a:buNone/>
            </a:pPr>
            <a:r>
              <a:rPr lang="en-US" sz="1600" dirty="0">
                <a:solidFill>
                  <a:srgbClr val="D64545"/>
                </a:solidFill>
                <a:latin typeface="Segoe UI Semibold" pitchFamily="34" charset="0"/>
                <a:ea typeface="Segoe UI Semibold" pitchFamily="34" charset="-122"/>
                <a:cs typeface="Segoe UI Semibold" pitchFamily="34" charset="-120"/>
              </a:rPr>
              <a:t>V</a:t>
            </a:r>
            <a:pPr algn="l" indent="0" marL="0">
              <a:buNone/>
            </a:pPr>
            <a:r>
              <a:rPr lang="en-US" sz="1600" baseline="-40000" dirty="0">
                <a:solidFill>
                  <a:srgbClr val="D64545"/>
                </a:solidFill>
                <a:latin typeface="Segoe UI Semibold" pitchFamily="34" charset="0"/>
                <a:ea typeface="Segoe UI Semibold" pitchFamily="34" charset="-122"/>
                <a:cs typeface="Segoe UI Semibold" pitchFamily="34" charset="-120"/>
              </a:rPr>
              <a:t>GS</a:t>
            </a:r>
            <a:pPr algn="l" indent="0" marL="0">
              <a:buNone/>
            </a:pPr>
            <a:r>
              <a:rPr lang="en-US" sz="1600" dirty="0">
                <a:solidFill>
                  <a:srgbClr val="D64545"/>
                </a:solidFill>
                <a:latin typeface="Segoe UI Semibold" pitchFamily="34" charset="0"/>
                <a:ea typeface="Segoe UI Semibold" pitchFamily="34" charset="-122"/>
                <a:cs typeface="Segoe UI Semibold" pitchFamily="34" charset="-120"/>
              </a:rPr>
              <a:t> &gt; 0.57 V: I</a:t>
            </a:r>
            <a:pPr algn="l" indent="0" marL="0">
              <a:buNone/>
            </a:pPr>
            <a:r>
              <a:rPr lang="en-US" sz="1600" baseline="-40000" dirty="0">
                <a:solidFill>
                  <a:srgbClr val="D64545"/>
                </a:solidFill>
                <a:latin typeface="Segoe UI Semibold" pitchFamily="34" charset="0"/>
                <a:ea typeface="Segoe UI Semibold" pitchFamily="34" charset="-122"/>
                <a:cs typeface="Segoe UI Semibold" pitchFamily="34" charset="-120"/>
              </a:rPr>
              <a:t>on</a:t>
            </a:r>
            <a:pPr algn="l" indent="0" marL="0">
              <a:buNone/>
            </a:pPr>
            <a:r>
              <a:rPr lang="en-US" sz="1600" dirty="0">
                <a:solidFill>
                  <a:srgbClr val="D64545"/>
                </a:solidFill>
                <a:latin typeface="Segoe UI Semibold" pitchFamily="34" charset="0"/>
                <a:ea typeface="Segoe UI Semibold" pitchFamily="34" charset="-122"/>
                <a:cs typeface="Segoe UI Semibold" pitchFamily="34" charset="-120"/>
              </a:rPr>
              <a:t> down</a:t>
            </a:r>
            <a:endParaRPr lang="en-US" sz="1600" dirty="0"/>
          </a:p>
        </p:txBody>
      </p:sp>
      <p:sp>
        <p:nvSpPr>
          <p:cNvPr id="32" name="!!cardb"/>
          <p:cNvSpPr txBox="1"/>
          <p:nvPr/>
        </p:nvSpPr>
        <p:spPr>
          <a:xfrm>
            <a:off x="7452360" y="4096512"/>
            <a:ext cx="3959352" cy="91440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Hot lattice → more phonon scattering → mobility μ falls, worst at the source end → less I</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on</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a:t>
            </a:r>
            <a:endParaRPr lang="en-US" sz="1300" dirty="0"/>
          </a:p>
        </p:txBody>
      </p:sp>
      <p:sp>
        <p:nvSpPr>
          <p:cNvPr id="33" name="Text 31"/>
          <p:cNvSpPr txBox="1"/>
          <p:nvPr/>
        </p:nvSpPr>
        <p:spPr>
          <a:xfrm>
            <a:off x="7223760" y="5257800"/>
            <a:ext cx="4416552" cy="228600"/>
          </a:xfrm>
          <a:prstGeom prst="rect">
            <a:avLst/>
          </a:prstGeom>
          <a:noFill/>
          <a:ln/>
        </p:spPr>
        <p:txBody>
          <a:bodyPr wrap="square" lIns="0" tIns="0" rIns="0" bIns="0" rtlCol="0" anchor="t"/>
          <a:lstStyle/>
          <a:p>
            <a:pPr algn="l" indent="0" marL="0">
              <a:buNone/>
            </a:pPr>
            <a:r>
              <a:rPr lang="en-US" sz="1000" dirty="0">
                <a:solidFill>
                  <a:srgbClr val="8A8D93"/>
                </a:solidFill>
                <a:latin typeface="Segoe UI" pitchFamily="34" charset="0"/>
                <a:ea typeface="Segoe UI" pitchFamily="34" charset="-122"/>
                <a:cs typeface="Segoe UI" pitchFamily="34" charset="-120"/>
              </a:rPr>
              <a:t>Schematic of the trend reported by Kang et al. [4] (exaggerated for clarity).</a:t>
            </a:r>
            <a:endParaRPr lang="en-US" sz="1000" dirty="0"/>
          </a:p>
        </p:txBody>
      </p:sp>
      <p:sp>
        <p:nvSpPr>
          <p:cNvPr id="34"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In the on-state heat lowers mobility and I</a:t>
            </a:r>
            <a:pPr algn="ctr" indent="0" marL="0">
              <a:buNone/>
            </a:pPr>
            <a:r>
              <a:rPr lang="en-US" sz="1600" baseline="-40000" dirty="0">
                <a:solidFill>
                  <a:srgbClr val="171A20"/>
                </a:solidFill>
                <a:latin typeface="Segoe UI" pitchFamily="34" charset="0"/>
                <a:ea typeface="Segoe UI" pitchFamily="34" charset="-122"/>
                <a:cs typeface="Segoe UI" pitchFamily="34" charset="-120"/>
              </a:rPr>
              <a:t>on</a:t>
            </a:r>
            <a:pPr algn="ctr" indent="0" marL="0">
              <a:buNone/>
            </a:pPr>
            <a:r>
              <a:rPr lang="en-US" sz="1600" dirty="0">
                <a:solidFill>
                  <a:srgbClr val="171A20"/>
                </a:solidFill>
                <a:latin typeface="Segoe UI" pitchFamily="34" charset="0"/>
                <a:ea typeface="Segoe UI" pitchFamily="34" charset="-122"/>
                <a:cs typeface="Segoe UI" pitchFamily="34" charset="-120"/>
              </a:rPr>
              <a:t>: that is the loss our project fights.</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97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Self-heating – Thermal crosstalk</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A hot transistor heats its neighbour through the shared gate metal and substrate</a:t>
            </a:r>
            <a:endParaRPr lang="en-US" sz="1600" dirty="0"/>
          </a:p>
        </p:txBody>
      </p:sp>
      <p:sp>
        <p:nvSpPr>
          <p:cNvPr id="4" name="Shape 2"/>
          <p:cNvSpPr/>
          <p:nvPr/>
        </p:nvSpPr>
        <p:spPr>
          <a:xfrm>
            <a:off x="914400" y="4206240"/>
            <a:ext cx="5486400" cy="640080"/>
          </a:xfrm>
          <a:prstGeom prst="roundRect">
            <a:avLst>
              <a:gd name="adj" fmla="val 5714"/>
            </a:avLst>
          </a:prstGeom>
          <a:solidFill>
            <a:srgbClr val="EDE3C8"/>
          </a:solidFill>
          <a:ln/>
        </p:spPr>
      </p:sp>
      <p:sp>
        <p:nvSpPr>
          <p:cNvPr id="5" name="Text 3"/>
          <p:cNvSpPr txBox="1"/>
          <p:nvPr/>
        </p:nvSpPr>
        <p:spPr>
          <a:xfrm>
            <a:off x="914400" y="4389120"/>
            <a:ext cx="5486400" cy="274320"/>
          </a:xfrm>
          <a:prstGeom prst="rect">
            <a:avLst/>
          </a:prstGeom>
          <a:noFill/>
          <a:ln/>
        </p:spPr>
        <p:txBody>
          <a:bodyPr wrap="square" lIns="0" tIns="0" rIns="0" bIns="0" rtlCol="0" anchor="t"/>
          <a:lstStyle/>
          <a:p>
            <a:pPr algn="ctr" indent="0" marL="0">
              <a:buNone/>
            </a:pPr>
            <a:r>
              <a:rPr lang="en-US" sz="1100" dirty="0">
                <a:solidFill>
                  <a:srgbClr val="8A6D1F"/>
                </a:solidFill>
                <a:latin typeface="Segoe UI" pitchFamily="34" charset="0"/>
                <a:ea typeface="Segoe UI" pitchFamily="34" charset="-122"/>
                <a:cs typeface="Segoe UI" pitchFamily="34" charset="-120"/>
              </a:rPr>
              <a:t>shared gate metal and substrate</a:t>
            </a:r>
            <a:endParaRPr lang="en-US" sz="1100" dirty="0"/>
          </a:p>
        </p:txBody>
      </p:sp>
      <p:sp>
        <p:nvSpPr>
          <p:cNvPr id="6" name="Shape 4"/>
          <p:cNvSpPr/>
          <p:nvPr/>
        </p:nvSpPr>
        <p:spPr>
          <a:xfrm>
            <a:off x="1280160" y="2011680"/>
            <a:ext cx="2011680" cy="2011680"/>
          </a:xfrm>
          <a:prstGeom prst="roundRect">
            <a:avLst>
              <a:gd name="adj" fmla="val 4545"/>
            </a:avLst>
          </a:prstGeom>
          <a:solidFill>
            <a:srgbClr val="F07A3A"/>
          </a:solidFill>
          <a:ln/>
        </p:spPr>
      </p:sp>
      <p:sp>
        <p:nvSpPr>
          <p:cNvPr id="7" name="Text 5"/>
          <p:cNvSpPr txBox="1"/>
          <p:nvPr/>
        </p:nvSpPr>
        <p:spPr>
          <a:xfrm>
            <a:off x="1280160" y="2011680"/>
            <a:ext cx="2011680" cy="201168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NMOS on</a:t>
            </a:r>
            <a:endParaRPr lang="en-US" sz="1500" dirty="0"/>
          </a:p>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ΔT</a:t>
            </a:r>
            <a:pPr algn="ctr" indent="0" marL="0">
              <a:buNone/>
            </a:pPr>
            <a:r>
              <a:rPr lang="en-US" sz="1500" baseline="-40000" dirty="0">
                <a:solidFill>
                  <a:srgbClr val="FFFFFF"/>
                </a:solidFill>
                <a:latin typeface="Segoe UI Semibold" pitchFamily="34" charset="0"/>
                <a:ea typeface="Segoe UI Semibold" pitchFamily="34" charset="-122"/>
                <a:cs typeface="Segoe UI Semibold" pitchFamily="34" charset="-120"/>
              </a:rPr>
              <a:t>SH</a:t>
            </a:r>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 = 64.8 K</a:t>
            </a:r>
            <a:endParaRPr lang="en-US" sz="1500" dirty="0"/>
          </a:p>
        </p:txBody>
      </p:sp>
      <p:sp>
        <p:nvSpPr>
          <p:cNvPr id="8" name="Shape 6"/>
          <p:cNvSpPr/>
          <p:nvPr/>
        </p:nvSpPr>
        <p:spPr>
          <a:xfrm>
            <a:off x="4023360" y="2011680"/>
            <a:ext cx="2011680" cy="2011680"/>
          </a:xfrm>
          <a:prstGeom prst="roundRect">
            <a:avLst>
              <a:gd name="adj" fmla="val 4545"/>
            </a:avLst>
          </a:prstGeom>
          <a:solidFill>
            <a:srgbClr val="FFE1B3"/>
          </a:solidFill>
          <a:ln/>
        </p:spPr>
      </p:sp>
      <p:sp>
        <p:nvSpPr>
          <p:cNvPr id="9" name="Text 7"/>
          <p:cNvSpPr txBox="1"/>
          <p:nvPr/>
        </p:nvSpPr>
        <p:spPr>
          <a:xfrm>
            <a:off x="4023360" y="2011680"/>
            <a:ext cx="2011680" cy="2011680"/>
          </a:xfrm>
          <a:prstGeom prst="rect">
            <a:avLst/>
          </a:prstGeom>
          <a:noFill/>
          <a:ln/>
        </p:spPr>
        <p:txBody>
          <a:bodyPr wrap="square" lIns="0" tIns="0" rIns="0" bIns="0" rtlCol="0" anchor="ctr"/>
          <a:lstStyle/>
          <a:p>
            <a:pPr algn="ctr" indent="0" marL="0">
              <a:buNone/>
            </a:pPr>
            <a:r>
              <a:rPr lang="en-US" sz="1500" dirty="0">
                <a:solidFill>
                  <a:srgbClr val="E07B00"/>
                </a:solidFill>
                <a:latin typeface="Segoe UI Semibold" pitchFamily="34" charset="0"/>
                <a:ea typeface="Segoe UI Semibold" pitchFamily="34" charset="-122"/>
                <a:cs typeface="Segoe UI Semibold" pitchFamily="34" charset="-120"/>
              </a:rPr>
              <a:t>PMOS off</a:t>
            </a:r>
            <a:endParaRPr lang="en-US" sz="1500" dirty="0"/>
          </a:p>
          <a:p>
            <a:pPr algn="ctr" indent="0" marL="0">
              <a:buNone/>
            </a:pPr>
            <a:r>
              <a:rPr lang="en-US" sz="1500" dirty="0">
                <a:solidFill>
                  <a:srgbClr val="E07B00"/>
                </a:solidFill>
                <a:latin typeface="Segoe UI Semibold" pitchFamily="34" charset="0"/>
                <a:ea typeface="Segoe UI Semibold" pitchFamily="34" charset="-122"/>
                <a:cs typeface="Segoe UI Semibold" pitchFamily="34" charset="-120"/>
              </a:rPr>
              <a:t>ΔT</a:t>
            </a:r>
            <a:pPr algn="ctr" indent="0" marL="0">
              <a:buNone/>
            </a:pPr>
            <a:r>
              <a:rPr lang="en-US" sz="1500" baseline="-40000" dirty="0">
                <a:solidFill>
                  <a:srgbClr val="E07B00"/>
                </a:solidFill>
                <a:latin typeface="Segoe UI Semibold" pitchFamily="34" charset="0"/>
                <a:ea typeface="Segoe UI Semibold" pitchFamily="34" charset="-122"/>
                <a:cs typeface="Segoe UI Semibold" pitchFamily="34" charset="-120"/>
              </a:rPr>
              <a:t>cross</a:t>
            </a:r>
            <a:pPr algn="ctr" indent="0" marL="0">
              <a:buNone/>
            </a:pPr>
            <a:r>
              <a:rPr lang="en-US" sz="1500" dirty="0">
                <a:solidFill>
                  <a:srgbClr val="E07B00"/>
                </a:solidFill>
                <a:latin typeface="Segoe UI Semibold" pitchFamily="34" charset="0"/>
                <a:ea typeface="Segoe UI Semibold" pitchFamily="34" charset="-122"/>
                <a:cs typeface="Segoe UI Semibold" pitchFamily="34" charset="-120"/>
              </a:rPr>
              <a:t> = 22.4 K</a:t>
            </a:r>
            <a:endParaRPr lang="en-US" sz="1500" dirty="0"/>
          </a:p>
        </p:txBody>
      </p:sp>
      <p:sp>
        <p:nvSpPr>
          <p:cNvPr id="10" name="Shape 8"/>
          <p:cNvSpPr/>
          <p:nvPr/>
        </p:nvSpPr>
        <p:spPr>
          <a:xfrm>
            <a:off x="3337560" y="3017520"/>
            <a:ext cx="640080" cy="91"/>
          </a:xfrm>
          <a:prstGeom prst="line">
            <a:avLst/>
          </a:prstGeom>
          <a:noFill/>
          <a:ln w="38100">
            <a:solidFill>
              <a:srgbClr val="D64545"/>
            </a:solidFill>
            <a:prstDash val="solid"/>
            <a:tailEnd type="triangle"/>
          </a:ln>
        </p:spPr>
      </p:sp>
      <p:sp>
        <p:nvSpPr>
          <p:cNvPr id="11" name="Text 9"/>
          <p:cNvSpPr txBox="1"/>
          <p:nvPr/>
        </p:nvSpPr>
        <p:spPr>
          <a:xfrm>
            <a:off x="3291840" y="2697480"/>
            <a:ext cx="731520" cy="228600"/>
          </a:xfrm>
          <a:prstGeom prst="rect">
            <a:avLst/>
          </a:prstGeom>
          <a:noFill/>
          <a:ln/>
        </p:spPr>
        <p:txBody>
          <a:bodyPr wrap="square" lIns="0" tIns="0" rIns="0" bIns="0" rtlCol="0" anchor="t"/>
          <a:lstStyle/>
          <a:p>
            <a:pPr algn="ctr" indent="0" marL="0">
              <a:buNone/>
            </a:pPr>
            <a:r>
              <a:rPr lang="en-US" sz="1100" dirty="0">
                <a:solidFill>
                  <a:srgbClr val="D64545"/>
                </a:solidFill>
                <a:latin typeface="Segoe UI Semibold" pitchFamily="34" charset="0"/>
                <a:ea typeface="Segoe UI Semibold" pitchFamily="34" charset="-122"/>
                <a:cs typeface="Segoe UI Semibold" pitchFamily="34" charset="-120"/>
              </a:rPr>
              <a:t>heat</a:t>
            </a:r>
            <a:endParaRPr lang="en-US" sz="1100" dirty="0"/>
          </a:p>
        </p:txBody>
      </p:sp>
      <p:sp>
        <p:nvSpPr>
          <p:cNvPr id="12" name="Shape 10"/>
          <p:cNvSpPr/>
          <p:nvPr/>
        </p:nvSpPr>
        <p:spPr>
          <a:xfrm>
            <a:off x="7132320" y="1600200"/>
            <a:ext cx="4507992" cy="2011680"/>
          </a:xfrm>
          <a:prstGeom prst="roundRect">
            <a:avLst>
              <a:gd name="adj" fmla="val 3636"/>
            </a:avLst>
          </a:prstGeom>
          <a:solidFill>
            <a:srgbClr val="F4F5F7"/>
          </a:solidFill>
          <a:ln/>
        </p:spPr>
      </p:sp>
      <p:sp>
        <p:nvSpPr>
          <p:cNvPr id="13" name="Text 11"/>
          <p:cNvSpPr txBox="1"/>
          <p:nvPr/>
        </p:nvSpPr>
        <p:spPr>
          <a:xfrm>
            <a:off x="7360920" y="1737360"/>
            <a:ext cx="4023360" cy="274320"/>
          </a:xfrm>
          <a:prstGeom prst="rect">
            <a:avLst/>
          </a:prstGeom>
          <a:noFill/>
          <a:ln/>
        </p:spPr>
        <p:txBody>
          <a:bodyPr wrap="square" lIns="0" tIns="0" rIns="0" bIns="0" rtlCol="0" anchor="t"/>
          <a:lstStyle/>
          <a:p>
            <a:pPr algn="l" indent="0" marL="0">
              <a:buNone/>
            </a:pPr>
            <a:r>
              <a:rPr lang="en-US" sz="1300" dirty="0">
                <a:solidFill>
                  <a:srgbClr val="5C5E62"/>
                </a:solidFill>
                <a:latin typeface="Segoe UI Semibold" pitchFamily="34" charset="0"/>
                <a:ea typeface="Segoe UI Semibold" pitchFamily="34" charset="-122"/>
                <a:cs typeface="Segoe UI Semibold" pitchFamily="34" charset="-120"/>
              </a:rPr>
              <a:t>Crosstalk coefficient</a:t>
            </a:r>
            <a:endParaRPr lang="en-US" sz="1300" dirty="0"/>
          </a:p>
        </p:txBody>
      </p:sp>
      <p:sp>
        <p:nvSpPr>
          <p:cNvPr id="14" name="Text 12"/>
          <p:cNvSpPr txBox="1"/>
          <p:nvPr/>
        </p:nvSpPr>
        <p:spPr>
          <a:xfrm>
            <a:off x="7360920" y="2103120"/>
            <a:ext cx="4023360" cy="365760"/>
          </a:xfrm>
          <a:prstGeom prst="rect">
            <a:avLst/>
          </a:prstGeom>
          <a:noFill/>
          <a:ln/>
        </p:spPr>
        <p:txBody>
          <a:bodyPr wrap="square" lIns="0" tIns="0" rIns="0" bIns="0" rtlCol="0" anchor="t"/>
          <a:lstStyle/>
          <a:p>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α = ΔT</a:t>
            </a:r>
            <a:pPr algn="l" indent="0" marL="0">
              <a:buNone/>
            </a:pPr>
            <a:r>
              <a:rPr lang="en-US" sz="1800" baseline="-40000" dirty="0">
                <a:solidFill>
                  <a:srgbClr val="171A20"/>
                </a:solidFill>
                <a:latin typeface="Segoe UI Semibold" pitchFamily="34" charset="0"/>
                <a:ea typeface="Segoe UI Semibold" pitchFamily="34" charset="-122"/>
                <a:cs typeface="Segoe UI Semibold" pitchFamily="34" charset="-120"/>
              </a:rPr>
              <a:t>cross</a:t>
            </a:r>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 / ΔT</a:t>
            </a:r>
            <a:pPr algn="l" indent="0" marL="0">
              <a:buNone/>
            </a:pPr>
            <a:r>
              <a:rPr lang="en-US" sz="1800" baseline="-40000" dirty="0">
                <a:solidFill>
                  <a:srgbClr val="171A20"/>
                </a:solidFill>
                <a:latin typeface="Segoe UI Semibold" pitchFamily="34" charset="0"/>
                <a:ea typeface="Segoe UI Semibold" pitchFamily="34" charset="-122"/>
                <a:cs typeface="Segoe UI Semibold" pitchFamily="34" charset="-120"/>
              </a:rPr>
              <a:t>SH</a:t>
            </a:r>
            <a:endParaRPr lang="en-US" sz="1800" dirty="0"/>
          </a:p>
        </p:txBody>
      </p:sp>
      <p:sp>
        <p:nvSpPr>
          <p:cNvPr id="15" name="Text 13"/>
          <p:cNvSpPr txBox="1"/>
          <p:nvPr/>
        </p:nvSpPr>
        <p:spPr>
          <a:xfrm>
            <a:off x="7360920" y="2560320"/>
            <a:ext cx="4023360" cy="548640"/>
          </a:xfrm>
          <a:prstGeom prst="rect">
            <a:avLst/>
          </a:prstGeom>
          <a:noFill/>
          <a:ln/>
        </p:spPr>
        <p:txBody>
          <a:bodyPr wrap="square" lIns="0" tIns="0" rIns="0" bIns="0" rtlCol="0" anchor="t"/>
          <a:lstStyle/>
          <a:p>
            <a:pPr algn="l" indent="0" marL="0">
              <a:buNone/>
            </a:pPr>
            <a:r>
              <a:rPr lang="en-US" sz="2800" dirty="0">
                <a:solidFill>
                  <a:srgbClr val="D64545"/>
                </a:solidFill>
                <a:latin typeface="Segoe UI Semibold" pitchFamily="34" charset="0"/>
                <a:ea typeface="Segoe UI Semibold" pitchFamily="34" charset="-122"/>
                <a:cs typeface="Segoe UI Semibold" pitchFamily="34" charset="-120"/>
              </a:rPr>
              <a:t>= 22.4 / 64.8 = 34.6 %</a:t>
            </a:r>
            <a:endParaRPr lang="en-US" sz="2800" dirty="0"/>
          </a:p>
        </p:txBody>
      </p:sp>
      <p:sp>
        <p:nvSpPr>
          <p:cNvPr id="16" name="Text 14"/>
          <p:cNvSpPr txBox="1"/>
          <p:nvPr/>
        </p:nvSpPr>
        <p:spPr>
          <a:xfrm>
            <a:off x="7360920" y="3154680"/>
            <a:ext cx="4023360" cy="27432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base paper [1]</a:t>
            </a:r>
            <a:endParaRPr lang="en-US" sz="1100" dirty="0"/>
          </a:p>
        </p:txBody>
      </p:sp>
      <p:sp>
        <p:nvSpPr>
          <p:cNvPr id="17" name="Text 15"/>
          <p:cNvSpPr txBox="1"/>
          <p:nvPr/>
        </p:nvSpPr>
        <p:spPr>
          <a:xfrm>
            <a:off x="7132320" y="3840480"/>
            <a:ext cx="4480560" cy="1097280"/>
          </a:xfrm>
          <a:prstGeom prst="rect">
            <a:avLst/>
          </a:prstGeom>
          <a:noFill/>
          <a:ln/>
        </p:spPr>
        <p:txBody>
          <a:bodyPr wrap="square" lIns="0" tIns="0" rIns="0" bIns="0" rtlCol="0" anchor="t"/>
          <a:lstStyle/>
          <a:p>
            <a:pPr algn="l" indent="0" marL="0">
              <a:buNone/>
            </a:pPr>
            <a:r>
              <a:rPr lang="en-US" sz="1400" dirty="0">
                <a:solidFill>
                  <a:srgbClr val="5C5E62"/>
                </a:solidFill>
                <a:latin typeface="Segoe UI" pitchFamily="34" charset="0"/>
                <a:ea typeface="Segoe UI" pitchFamily="34" charset="-122"/>
                <a:cs typeface="Segoe UI" pitchFamily="34" charset="-120"/>
              </a:rPr>
              <a:t>About a third of the hot device's rise reaches the device next to it. Lowering self-heating at the source lowers crosstalk with it.</a:t>
            </a:r>
            <a:endParaRPr lang="en-US" sz="1400" dirty="0"/>
          </a:p>
        </p:txBody>
      </p:sp>
      <p:sp>
        <p:nvSpPr>
          <p:cNvPr id="18"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Self-heating first, then crosstalk: our project builds on the first.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98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Contents</a:t>
            </a:r>
            <a:endParaRPr lang="en-US" sz="3000" dirty="0"/>
          </a:p>
        </p:txBody>
      </p:sp>
      <p:sp>
        <p:nvSpPr>
          <p:cNvPr id="3" name="!!tocLine"/>
          <p:cNvSpPr/>
          <p:nvPr/>
        </p:nvSpPr>
        <p:spPr>
          <a:xfrm>
            <a:off x="868680" y="1508760"/>
            <a:ext cx="91" cy="3840480"/>
          </a:xfrm>
          <a:prstGeom prst="line">
            <a:avLst/>
          </a:prstGeom>
          <a:noFill/>
          <a:ln w="38100">
            <a:solidFill>
              <a:srgbClr val="E2E3E3"/>
            </a:solidFill>
            <a:prstDash val="solid"/>
          </a:ln>
        </p:spPr>
      </p:sp>
      <p:sp>
        <p:nvSpPr>
          <p:cNvPr id="4" name="!!tocC0"/>
          <p:cNvSpPr/>
          <p:nvPr/>
        </p:nvSpPr>
        <p:spPr>
          <a:xfrm>
            <a:off x="685800" y="1325880"/>
            <a:ext cx="365760" cy="365760"/>
          </a:xfrm>
          <a:prstGeom prst="ellipse">
            <a:avLst/>
          </a:prstGeom>
          <a:solidFill>
            <a:srgbClr val="FFFFFF"/>
          </a:solidFill>
          <a:ln w="15875">
            <a:solidFill>
              <a:srgbClr val="2E9E4F"/>
            </a:solidFill>
            <a:prstDash val="solid"/>
          </a:ln>
        </p:spPr>
      </p:sp>
      <p:sp>
        <p:nvSpPr>
          <p:cNvPr id="5" name="!!tocN0"/>
          <p:cNvSpPr txBox="1"/>
          <p:nvPr/>
        </p:nvSpPr>
        <p:spPr>
          <a:xfrm>
            <a:off x="685800" y="135331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01</a:t>
            </a:r>
            <a:endParaRPr lang="en-US" sz="1000" dirty="0"/>
          </a:p>
        </p:txBody>
      </p:sp>
      <p:sp>
        <p:nvSpPr>
          <p:cNvPr id="6" name="!!tocH0"/>
          <p:cNvSpPr txBox="1"/>
          <p:nvPr/>
        </p:nvSpPr>
        <p:spPr>
          <a:xfrm>
            <a:off x="1325880" y="128016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The MOSFET switch</a:t>
            </a:r>
            <a:endParaRPr lang="en-US" sz="1800" dirty="0"/>
          </a:p>
        </p:txBody>
      </p:sp>
      <p:sp>
        <p:nvSpPr>
          <p:cNvPr id="7" name="!!tocS0"/>
          <p:cNvSpPr txBox="1"/>
          <p:nvPr/>
        </p:nvSpPr>
        <p:spPr>
          <a:xfrm>
            <a:off x="1325880" y="162763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Build it · turn the gate · turn the drain · V</a:t>
            </a:r>
            <a:pPr algn="l" indent="0" marL="0">
              <a:buNone/>
            </a:pPr>
            <a:r>
              <a:rPr lang="en-US" sz="1100" baseline="-40000" dirty="0">
                <a:solidFill>
                  <a:srgbClr val="A9ACB1"/>
                </a:solidFill>
                <a:latin typeface="Segoe UI" pitchFamily="34" charset="0"/>
                <a:ea typeface="Segoe UI" pitchFamily="34" charset="-122"/>
                <a:cs typeface="Segoe UI" pitchFamily="34" charset="-120"/>
              </a:rPr>
              <a:t>T</a:t>
            </a:r>
            <a:pPr algn="l" indent="0" marL="0">
              <a:buNone/>
            </a:pPr>
            <a:r>
              <a:rPr lang="en-US" sz="1100" dirty="0">
                <a:solidFill>
                  <a:srgbClr val="A9ACB1"/>
                </a:solidFill>
                <a:latin typeface="Segoe UI" pitchFamily="34" charset="0"/>
                <a:ea typeface="Segoe UI" pitchFamily="34" charset="-122"/>
                <a:cs typeface="Segoe UI" pitchFamily="34" charset="-120"/>
              </a:rPr>
              <a:t> and SS in depth</a:t>
            </a:r>
            <a:endParaRPr lang="en-US" sz="1100" dirty="0"/>
          </a:p>
        </p:txBody>
      </p:sp>
      <p:sp>
        <p:nvSpPr>
          <p:cNvPr id="8" name="!!tocC1"/>
          <p:cNvSpPr/>
          <p:nvPr/>
        </p:nvSpPr>
        <p:spPr>
          <a:xfrm>
            <a:off x="685800" y="1965960"/>
            <a:ext cx="365760" cy="365760"/>
          </a:xfrm>
          <a:prstGeom prst="ellipse">
            <a:avLst/>
          </a:prstGeom>
          <a:solidFill>
            <a:srgbClr val="FFFFFF"/>
          </a:solidFill>
          <a:ln w="15875">
            <a:solidFill>
              <a:srgbClr val="2E9E4F"/>
            </a:solidFill>
            <a:prstDash val="solid"/>
          </a:ln>
        </p:spPr>
      </p:sp>
      <p:sp>
        <p:nvSpPr>
          <p:cNvPr id="9" name="!!tocN1"/>
          <p:cNvSpPr txBox="1"/>
          <p:nvPr/>
        </p:nvSpPr>
        <p:spPr>
          <a:xfrm>
            <a:off x="685800" y="199339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02</a:t>
            </a:r>
            <a:endParaRPr lang="en-US" sz="1000" dirty="0"/>
          </a:p>
        </p:txBody>
      </p:sp>
      <p:sp>
        <p:nvSpPr>
          <p:cNvPr id="10" name="!!tocH1"/>
          <p:cNvSpPr txBox="1"/>
          <p:nvPr/>
        </p:nvSpPr>
        <p:spPr>
          <a:xfrm>
            <a:off x="1325880" y="192024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Shrinking the gate</a:t>
            </a:r>
            <a:endParaRPr lang="en-US" sz="1800" dirty="0"/>
          </a:p>
        </p:txBody>
      </p:sp>
      <p:sp>
        <p:nvSpPr>
          <p:cNvPr id="11" name="!!tocS1"/>
          <p:cNvSpPr txBox="1"/>
          <p:nvPr/>
        </p:nvSpPr>
        <p:spPr>
          <a:xfrm>
            <a:off x="1325880" y="226771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Shorter L</a:t>
            </a:r>
            <a:pPr algn="l" indent="0" marL="0">
              <a:buNone/>
            </a:pPr>
            <a:r>
              <a:rPr lang="en-US" sz="1100" baseline="-40000" dirty="0">
                <a:solidFill>
                  <a:srgbClr val="A9ACB1"/>
                </a:solidFill>
                <a:latin typeface="Segoe UI" pitchFamily="34" charset="0"/>
                <a:ea typeface="Segoe UI" pitchFamily="34" charset="-122"/>
                <a:cs typeface="Segoe UI" pitchFamily="34" charset="-120"/>
              </a:rPr>
              <a:t>g</a:t>
            </a:r>
            <a:pPr algn="l" indent="0" marL="0">
              <a:buNone/>
            </a:pPr>
            <a:r>
              <a:rPr lang="en-US" sz="1100" dirty="0">
                <a:solidFill>
                  <a:srgbClr val="A9ACB1"/>
                </a:solidFill>
                <a:latin typeface="Segoe UI" pitchFamily="34" charset="0"/>
                <a:ea typeface="Segoe UI" pitchFamily="34" charset="-122"/>
                <a:cs typeface="Segoe UI" pitchFamily="34" charset="-120"/>
              </a:rPr>
              <a:t> · DIBL and leakage · the scale length λ</a:t>
            </a:r>
            <a:endParaRPr lang="en-US" sz="1100" dirty="0"/>
          </a:p>
        </p:txBody>
      </p:sp>
      <p:sp>
        <p:nvSpPr>
          <p:cNvPr id="12" name="!!tocC2"/>
          <p:cNvSpPr/>
          <p:nvPr/>
        </p:nvSpPr>
        <p:spPr>
          <a:xfrm>
            <a:off x="685800" y="2606040"/>
            <a:ext cx="365760" cy="365760"/>
          </a:xfrm>
          <a:prstGeom prst="ellipse">
            <a:avLst/>
          </a:prstGeom>
          <a:solidFill>
            <a:srgbClr val="FFFFFF"/>
          </a:solidFill>
          <a:ln w="15875">
            <a:solidFill>
              <a:srgbClr val="2E9E4F"/>
            </a:solidFill>
            <a:prstDash val="solid"/>
          </a:ln>
        </p:spPr>
      </p:sp>
      <p:sp>
        <p:nvSpPr>
          <p:cNvPr id="13" name="!!tocN2"/>
          <p:cNvSpPr txBox="1"/>
          <p:nvPr/>
        </p:nvSpPr>
        <p:spPr>
          <a:xfrm>
            <a:off x="685800" y="263347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03</a:t>
            </a:r>
            <a:endParaRPr lang="en-US" sz="1000" dirty="0"/>
          </a:p>
        </p:txBody>
      </p:sp>
      <p:sp>
        <p:nvSpPr>
          <p:cNvPr id="14" name="!!tocH2"/>
          <p:cNvSpPr txBox="1"/>
          <p:nvPr/>
        </p:nvSpPr>
        <p:spPr>
          <a:xfrm>
            <a:off x="1325880" y="256032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FinFET → GAAFET</a:t>
            </a:r>
            <a:endParaRPr lang="en-US" sz="1800" dirty="0"/>
          </a:p>
        </p:txBody>
      </p:sp>
      <p:sp>
        <p:nvSpPr>
          <p:cNvPr id="15" name="!!tocS2"/>
          <p:cNvSpPr txBox="1"/>
          <p:nvPr/>
        </p:nvSpPr>
        <p:spPr>
          <a:xfrm>
            <a:off x="1325880" y="290779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More gate sides · fin width · wire, sheet, stack · our GAA in numbers</a:t>
            </a:r>
            <a:endParaRPr lang="en-US" sz="1100" dirty="0"/>
          </a:p>
        </p:txBody>
      </p:sp>
      <p:sp>
        <p:nvSpPr>
          <p:cNvPr id="16" name="!!tocC3"/>
          <p:cNvSpPr/>
          <p:nvPr/>
        </p:nvSpPr>
        <p:spPr>
          <a:xfrm>
            <a:off x="685800" y="3246120"/>
            <a:ext cx="365760" cy="365760"/>
          </a:xfrm>
          <a:prstGeom prst="ellipse">
            <a:avLst/>
          </a:prstGeom>
          <a:solidFill>
            <a:srgbClr val="FFFFFF"/>
          </a:solidFill>
          <a:ln w="15875">
            <a:solidFill>
              <a:srgbClr val="2E9E4F"/>
            </a:solidFill>
            <a:prstDash val="solid"/>
          </a:ln>
        </p:spPr>
      </p:sp>
      <p:sp>
        <p:nvSpPr>
          <p:cNvPr id="17" name="!!tocN3"/>
          <p:cNvSpPr txBox="1"/>
          <p:nvPr/>
        </p:nvSpPr>
        <p:spPr>
          <a:xfrm>
            <a:off x="685800" y="327355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04</a:t>
            </a:r>
            <a:endParaRPr lang="en-US" sz="1000" dirty="0"/>
          </a:p>
        </p:txBody>
      </p:sp>
      <p:sp>
        <p:nvSpPr>
          <p:cNvPr id="18" name="!!tocH3"/>
          <p:cNvSpPr txBox="1"/>
          <p:nvPr/>
        </p:nvSpPr>
        <p:spPr>
          <a:xfrm>
            <a:off x="1325880" y="320040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The new problem: heat</a:t>
            </a:r>
            <a:endParaRPr lang="en-US" sz="1800" dirty="0"/>
          </a:p>
        </p:txBody>
      </p:sp>
      <p:sp>
        <p:nvSpPr>
          <p:cNvPr id="19" name="!!tocS3"/>
          <p:cNvSpPr txBox="1"/>
          <p:nvPr/>
        </p:nvSpPr>
        <p:spPr>
          <a:xfrm>
            <a:off x="1325880" y="354787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Oxide traps heat · ΔT = R</a:t>
            </a:r>
            <a:pPr algn="l" indent="0" marL="0">
              <a:buNone/>
            </a:pPr>
            <a:r>
              <a:rPr lang="en-US" sz="1100" baseline="-40000" dirty="0">
                <a:solidFill>
                  <a:srgbClr val="A9ACB1"/>
                </a:solidFill>
                <a:latin typeface="Segoe UI" pitchFamily="34" charset="0"/>
                <a:ea typeface="Segoe UI" pitchFamily="34" charset="-122"/>
                <a:cs typeface="Segoe UI" pitchFamily="34" charset="-120"/>
              </a:rPr>
              <a:t>th</a:t>
            </a:r>
            <a:pPr algn="l" indent="0" marL="0">
              <a:buNone/>
            </a:pPr>
            <a:r>
              <a:rPr lang="en-US" sz="1100" dirty="0">
                <a:solidFill>
                  <a:srgbClr val="A9ACB1"/>
                </a:solidFill>
                <a:latin typeface="Segoe UI" pitchFamily="34" charset="0"/>
                <a:ea typeface="Segoe UI" pitchFamily="34" charset="-122"/>
                <a:cs typeface="Segoe UI" pitchFamily="34" charset="-120"/>
              </a:rPr>
              <a:t> · P · what heat does to every metric</a:t>
            </a:r>
            <a:endParaRPr lang="en-US" sz="1100" dirty="0"/>
          </a:p>
        </p:txBody>
      </p:sp>
      <p:sp>
        <p:nvSpPr>
          <p:cNvPr id="20" name="!!tocC4"/>
          <p:cNvSpPr/>
          <p:nvPr/>
        </p:nvSpPr>
        <p:spPr>
          <a:xfrm>
            <a:off x="685800" y="3886200"/>
            <a:ext cx="365760" cy="365760"/>
          </a:xfrm>
          <a:prstGeom prst="ellipse">
            <a:avLst/>
          </a:prstGeom>
          <a:solidFill>
            <a:srgbClr val="171A20"/>
          </a:solidFill>
          <a:ln w="15875">
            <a:solidFill>
              <a:srgbClr val="171A20"/>
            </a:solidFill>
            <a:prstDash val="solid"/>
          </a:ln>
        </p:spPr>
      </p:sp>
      <p:sp>
        <p:nvSpPr>
          <p:cNvPr id="21" name="!!tocN4"/>
          <p:cNvSpPr txBox="1"/>
          <p:nvPr/>
        </p:nvSpPr>
        <p:spPr>
          <a:xfrm>
            <a:off x="685800" y="3913632"/>
            <a:ext cx="365760" cy="310896"/>
          </a:xfrm>
          <a:prstGeom prst="rect">
            <a:avLst/>
          </a:prstGeom>
          <a:noFill/>
          <a:ln/>
        </p:spPr>
        <p:txBody>
          <a:bodyPr wrap="square" lIns="0" tIns="0" rIns="0" bIns="0" rtlCol="0" anchor="ctr"/>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05</a:t>
            </a:r>
            <a:endParaRPr lang="en-US" sz="1000" dirty="0"/>
          </a:p>
        </p:txBody>
      </p:sp>
      <p:sp>
        <p:nvSpPr>
          <p:cNvPr id="22" name="!!tocH4"/>
          <p:cNvSpPr txBox="1"/>
          <p:nvPr/>
        </p:nvSpPr>
        <p:spPr>
          <a:xfrm>
            <a:off x="1325880" y="3840480"/>
            <a:ext cx="6400800" cy="347472"/>
          </a:xfrm>
          <a:prstGeom prst="rect">
            <a:avLst/>
          </a:prstGeom>
          <a:noFill/>
          <a:ln/>
        </p:spPr>
        <p:txBody>
          <a:bodyPr wrap="square" lIns="0" tIns="0" rIns="0" bIns="0" rtlCol="0" anchor="ctr"/>
          <a:lstStyle/>
          <a:p>
            <a:pPr algn="l" indent="0" marL="0">
              <a:buNone/>
            </a:pPr>
            <a:r>
              <a:rPr lang="en-US" sz="2000" dirty="0">
                <a:solidFill>
                  <a:srgbClr val="171A20"/>
                </a:solidFill>
                <a:latin typeface="Segoe UI Semibold" pitchFamily="34" charset="0"/>
                <a:ea typeface="Segoe UI Semibold" pitchFamily="34" charset="-122"/>
                <a:cs typeface="Segoe UI Semibold" pitchFamily="34" charset="-120"/>
              </a:rPr>
              <a:t>Literature and method</a:t>
            </a:r>
            <a:endParaRPr lang="en-US" sz="2000" dirty="0"/>
          </a:p>
        </p:txBody>
      </p:sp>
      <p:sp>
        <p:nvSpPr>
          <p:cNvPr id="23" name="!!tocS4"/>
          <p:cNvSpPr txBox="1"/>
          <p:nvPr/>
        </p:nvSpPr>
        <p:spPr>
          <a:xfrm>
            <a:off x="1325880" y="4187952"/>
            <a:ext cx="8229600" cy="237744"/>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Five papers · base paper Chen et al. 2025 · Silvaco Atlas flow</a:t>
            </a:r>
            <a:endParaRPr lang="en-US" sz="1100" dirty="0"/>
          </a:p>
        </p:txBody>
      </p:sp>
      <p:sp>
        <p:nvSpPr>
          <p:cNvPr id="24" name="!!tocC5"/>
          <p:cNvSpPr/>
          <p:nvPr/>
        </p:nvSpPr>
        <p:spPr>
          <a:xfrm>
            <a:off x="685800" y="4526280"/>
            <a:ext cx="365760" cy="365760"/>
          </a:xfrm>
          <a:prstGeom prst="ellipse">
            <a:avLst/>
          </a:prstGeom>
          <a:solidFill>
            <a:srgbClr val="FFFFFF"/>
          </a:solidFill>
          <a:ln w="15875">
            <a:solidFill>
              <a:srgbClr val="9C7A3C"/>
            </a:solidFill>
            <a:prstDash val="solid"/>
          </a:ln>
        </p:spPr>
      </p:sp>
      <p:sp>
        <p:nvSpPr>
          <p:cNvPr id="25" name="!!tocN5"/>
          <p:cNvSpPr txBox="1"/>
          <p:nvPr/>
        </p:nvSpPr>
        <p:spPr>
          <a:xfrm>
            <a:off x="685800" y="455371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06</a:t>
            </a:r>
            <a:endParaRPr lang="en-US" sz="1000" dirty="0"/>
          </a:p>
        </p:txBody>
      </p:sp>
      <p:sp>
        <p:nvSpPr>
          <p:cNvPr id="26" name="!!tocH5"/>
          <p:cNvSpPr txBox="1"/>
          <p:nvPr/>
        </p:nvSpPr>
        <p:spPr>
          <a:xfrm>
            <a:off x="1325880" y="448056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Three stages in TCAD</a:t>
            </a:r>
            <a:endParaRPr lang="en-US" sz="1800" dirty="0"/>
          </a:p>
        </p:txBody>
      </p:sp>
      <p:sp>
        <p:nvSpPr>
          <p:cNvPr id="27" name="!!tocS5"/>
          <p:cNvSpPr txBox="1"/>
          <p:nvPr/>
        </p:nvSpPr>
        <p:spPr>
          <a:xfrm>
            <a:off x="1325880" y="482803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Standard GAAFET · reproduce the paper · optimal design D</a:t>
            </a:r>
            <a:endParaRPr lang="en-US" sz="1100" dirty="0"/>
          </a:p>
        </p:txBody>
      </p:sp>
      <p:sp>
        <p:nvSpPr>
          <p:cNvPr id="28" name="!!tocC6"/>
          <p:cNvSpPr/>
          <p:nvPr/>
        </p:nvSpPr>
        <p:spPr>
          <a:xfrm>
            <a:off x="685800" y="5166360"/>
            <a:ext cx="365760" cy="365760"/>
          </a:xfrm>
          <a:prstGeom prst="ellipse">
            <a:avLst/>
          </a:prstGeom>
          <a:solidFill>
            <a:srgbClr val="FFFFFF"/>
          </a:solidFill>
          <a:ln w="15875">
            <a:solidFill>
              <a:srgbClr val="9C7A3C"/>
            </a:solidFill>
            <a:prstDash val="solid"/>
          </a:ln>
        </p:spPr>
      </p:sp>
      <p:sp>
        <p:nvSpPr>
          <p:cNvPr id="29" name="!!tocN6"/>
          <p:cNvSpPr txBox="1"/>
          <p:nvPr/>
        </p:nvSpPr>
        <p:spPr>
          <a:xfrm>
            <a:off x="685800" y="519379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07</a:t>
            </a:r>
            <a:endParaRPr lang="en-US" sz="1000" dirty="0"/>
          </a:p>
        </p:txBody>
      </p:sp>
      <p:sp>
        <p:nvSpPr>
          <p:cNvPr id="30" name="!!tocH6"/>
          <p:cNvSpPr txBox="1"/>
          <p:nvPr/>
        </p:nvSpPr>
        <p:spPr>
          <a:xfrm>
            <a:off x="1325880" y="512064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Conclusion</a:t>
            </a:r>
            <a:endParaRPr lang="en-US" sz="1800" dirty="0"/>
          </a:p>
        </p:txBody>
      </p:sp>
      <p:sp>
        <p:nvSpPr>
          <p:cNvPr id="31" name="!!tocS6"/>
          <p:cNvSpPr txBox="1"/>
          <p:nvPr/>
        </p:nvSpPr>
        <p:spPr>
          <a:xfrm>
            <a:off x="1325880" y="546811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Gains and limits · the whole story · next steps</a:t>
            </a:r>
            <a:endParaRPr lang="en-US" sz="1100" dirty="0"/>
          </a:p>
        </p:txBody>
      </p:sp>
      <p:sp>
        <p:nvSpPr>
          <p:cNvPr id="32" name="!!tocCard"/>
          <p:cNvSpPr/>
          <p:nvPr/>
        </p:nvSpPr>
        <p:spPr>
          <a:xfrm>
            <a:off x="8503920" y="2011680"/>
            <a:ext cx="3136392" cy="2377440"/>
          </a:xfrm>
          <a:prstGeom prst="roundRect">
            <a:avLst>
              <a:gd name="adj" fmla="val 3077"/>
            </a:avLst>
          </a:prstGeom>
          <a:solidFill>
            <a:srgbClr val="F4F5F7"/>
          </a:solidFill>
          <a:ln/>
        </p:spPr>
      </p:sp>
      <p:sp>
        <p:nvSpPr>
          <p:cNvPr id="33" name="!!tocCk"/>
          <p:cNvSpPr txBox="1"/>
          <p:nvPr/>
        </p:nvSpPr>
        <p:spPr>
          <a:xfrm>
            <a:off x="8732520" y="2240280"/>
            <a:ext cx="27432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Chapter 05</a:t>
            </a:r>
            <a:endParaRPr lang="en-US" sz="1200" dirty="0"/>
          </a:p>
        </p:txBody>
      </p:sp>
      <p:sp>
        <p:nvSpPr>
          <p:cNvPr id="34" name="!!tocCh"/>
          <p:cNvSpPr txBox="1"/>
          <p:nvPr/>
        </p:nvSpPr>
        <p:spPr>
          <a:xfrm>
            <a:off x="8732520" y="2560320"/>
            <a:ext cx="2743200" cy="822960"/>
          </a:xfrm>
          <a:prstGeom prst="rect">
            <a:avLst/>
          </a:prstGeom>
          <a:noFill/>
          <a:ln/>
        </p:spPr>
        <p:txBody>
          <a:bodyPr wrap="square" lIns="0" tIns="0" rIns="0" bIns="0" rtlCol="0" anchor="t"/>
          <a:lstStyle/>
          <a:p>
            <a:pPr algn="l" indent="0" marL="0">
              <a:buNone/>
            </a:pPr>
            <a:r>
              <a:rPr lang="en-US" sz="2200" dirty="0">
                <a:solidFill>
                  <a:srgbClr val="171A20"/>
                </a:solidFill>
                <a:latin typeface="Segoe UI Semibold" pitchFamily="34" charset="0"/>
                <a:ea typeface="Segoe UI Semibold" pitchFamily="34" charset="-122"/>
                <a:cs typeface="Segoe UI Semibold" pitchFamily="34" charset="-120"/>
              </a:rPr>
              <a:t>Literature and method</a:t>
            </a:r>
            <a:endParaRPr lang="en-US" sz="2200" dirty="0"/>
          </a:p>
        </p:txBody>
      </p:sp>
      <p:sp>
        <p:nvSpPr>
          <p:cNvPr id="35" name="!!tocCs"/>
          <p:cNvSpPr txBox="1"/>
          <p:nvPr/>
        </p:nvSpPr>
        <p:spPr>
          <a:xfrm>
            <a:off x="8732520" y="3383280"/>
            <a:ext cx="2743200" cy="9144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Five papers</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base paper Chen et al. 2025</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Silvaco Atlas flow</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99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Literature review – Five papers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Where the heat goes in GAA devices, and how to lower it</a:t>
            </a:r>
            <a:endParaRPr lang="en-US" sz="1600" dirty="0"/>
          </a:p>
        </p:txBody>
      </p:sp>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548640"/>
                <a:gridCol w="3017520"/>
                <a:gridCol w="3017520"/>
                <a:gridCol w="4507992"/>
              </a:tblGrid>
              <a:tr h="566928">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Paper</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Method</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Key finding</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r>
              <a:tr h="566928">
                <a:tc>
                  <a:txBody>
                    <a:bodyPr/>
                    <a:lstStyle/>
                    <a:p>
                      <a:pPr indent="0" marL="0">
                        <a:buNone/>
                      </a:pPr>
                      <a:r>
                        <a:rPr lang="en-US" sz="1300" b="1" dirty="0">
                          <a:solidFill>
                            <a:srgbClr val="171A20"/>
                          </a:solidFill>
                          <a:latin typeface="Segoe UI" pitchFamily="34" charset="0"/>
                          <a:ea typeface="Segoe UI" pitchFamily="34" charset="-122"/>
                          <a:cs typeface="Segoe UI" pitchFamily="34" charset="-120"/>
                        </a:rPr>
                        <a:t>[1]</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B"/>
                    </a:solidFill>
                  </a:tcPr>
                </a:tc>
                <a:tc>
                  <a:txBody>
                    <a:bodyPr/>
                    <a:lstStyle/>
                    <a:p>
                      <a:pPr indent="0" marL="0">
                        <a:buNone/>
                      </a:pPr>
                      <a:r>
                        <a:rPr lang="en-US" sz="1300" b="1" dirty="0">
                          <a:solidFill>
                            <a:srgbClr val="171A20"/>
                          </a:solidFill>
                          <a:latin typeface="Segoe UI" pitchFamily="34" charset="0"/>
                          <a:ea typeface="Segoe UI" pitchFamily="34" charset="-122"/>
                          <a:cs typeface="Segoe UI" pitchFamily="34" charset="-120"/>
                        </a:rPr>
                        <a:t>Chen et al., IEEE EDTM 2025</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B"/>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Thermal TCAD, 3-nm GAA cells</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B"/>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NMOS self-heats 64.8 K at 30 µW; crosstalk 34.6 %</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B"/>
                    </a:solidFill>
                  </a:tcPr>
                </a:tc>
              </a:tr>
              <a:tr h="566928">
                <a:tc>
                  <a:txBody>
                    <a:bodyPr/>
                    <a:lstStyle/>
                    <a:p>
                      <a:pPr indent="0" marL="0">
                        <a:buNone/>
                      </a:pPr>
                      <a:r>
                        <a:rPr lang="en-US" sz="1300" b="1" dirty="0">
                          <a:solidFill>
                            <a:srgbClr val="171A20"/>
                          </a:solidFill>
                          <a:latin typeface="Segoe UI" pitchFamily="34" charset="0"/>
                          <a:ea typeface="Segoe UI" pitchFamily="34" charset="-122"/>
                          <a:cs typeface="Segoe UI" pitchFamily="34" charset="-120"/>
                        </a:rPr>
                        <a:t>[2]</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b="1" dirty="0">
                          <a:solidFill>
                            <a:srgbClr val="171A20"/>
                          </a:solidFill>
                          <a:latin typeface="Segoe UI" pitchFamily="34" charset="0"/>
                          <a:ea typeface="Segoe UI" pitchFamily="34" charset="-122"/>
                          <a:cs typeface="Segoe UI" pitchFamily="34" charset="-120"/>
                        </a:rPr>
                        <a:t>Rathore et al., IEEE TED 2023</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Calibrated TCAD, nanosheet FET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DLC buried oxide: peak 626 K → 442 K</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566928">
                <a:tc>
                  <a:txBody>
                    <a:bodyPr/>
                    <a:lstStyle/>
                    <a:p>
                      <a:pPr indent="0" marL="0">
                        <a:buNone/>
                      </a:pPr>
                      <a:r>
                        <a:rPr lang="en-US" sz="1300" b="1" dirty="0">
                          <a:solidFill>
                            <a:srgbClr val="171A20"/>
                          </a:solidFill>
                          <a:latin typeface="Segoe UI" pitchFamily="34" charset="0"/>
                          <a:ea typeface="Segoe UI" pitchFamily="34" charset="-122"/>
                          <a:cs typeface="Segoe UI" pitchFamily="34" charset="-120"/>
                        </a:rPr>
                        <a:t>[3]</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b="1" dirty="0">
                          <a:solidFill>
                            <a:srgbClr val="171A20"/>
                          </a:solidFill>
                          <a:latin typeface="Segoe UI" pitchFamily="34" charset="0"/>
                          <a:ea typeface="Segoe UI" pitchFamily="34" charset="-122"/>
                          <a:cs typeface="Segoe UI" pitchFamily="34" charset="-120"/>
                        </a:rPr>
                        <a:t>Cai et al., VLSI-TSA 2018</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3D simulation, stacked nanosheets</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Up to 128 K rise; ~40 % of heat leaves via the substrate</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566928">
                <a:tc>
                  <a:txBody>
                    <a:bodyPr/>
                    <a:lstStyle/>
                    <a:p>
                      <a:pPr indent="0" marL="0">
                        <a:buNone/>
                      </a:pPr>
                      <a:r>
                        <a:rPr lang="en-US" sz="1300" b="1" dirty="0">
                          <a:solidFill>
                            <a:srgbClr val="171A20"/>
                          </a:solidFill>
                          <a:latin typeface="Segoe UI" pitchFamily="34" charset="0"/>
                          <a:ea typeface="Segoe UI" pitchFamily="34" charset="-122"/>
                          <a:cs typeface="Segoe UI" pitchFamily="34" charset="-120"/>
                        </a:rPr>
                        <a:t>[4]</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b="1" dirty="0">
                          <a:solidFill>
                            <a:srgbClr val="171A20"/>
                          </a:solidFill>
                          <a:latin typeface="Segoe UI" pitchFamily="34" charset="0"/>
                          <a:ea typeface="Segoe UI" pitchFamily="34" charset="-122"/>
                          <a:cs typeface="Segoe UI" pitchFamily="34" charset="-120"/>
                        </a:rPr>
                        <a:t>Kang et al., IEEE TED 2022</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3D TCAD, 3 stacked GAA nanowires</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Wrap-around W contact: R</a:t>
                      </a:r>
                      <a:pPr indent="0" marL="0">
                        <a:buNone/>
                      </a:pPr>
                      <a:r>
                        <a:rPr lang="en-US" sz="1300" baseline="-40000" dirty="0">
                          <a:solidFill>
                            <a:srgbClr val="171A20"/>
                          </a:solidFill>
                          <a:latin typeface="Segoe UI" pitchFamily="34" charset="0"/>
                          <a:ea typeface="Segoe UI" pitchFamily="34" charset="-122"/>
                          <a:cs typeface="Segoe UI" pitchFamily="34" charset="-120"/>
                        </a:rPr>
                        <a:t>th</a:t>
                      </a:r>
                      <a:pPr indent="0" marL="0">
                        <a:buNone/>
                      </a:pPr>
                      <a:r>
                        <a:rPr lang="en-US" sz="1300" dirty="0">
                          <a:solidFill>
                            <a:srgbClr val="171A20"/>
                          </a:solidFill>
                          <a:latin typeface="Segoe UI" pitchFamily="34" charset="0"/>
                          <a:ea typeface="Segoe UI" pitchFamily="34" charset="-122"/>
                          <a:cs typeface="Segoe UI" pitchFamily="34" charset="-120"/>
                        </a:rPr>
                        <a:t> 5.27 → 4.83 K/µW, I</a:t>
                      </a:r>
                      <a:pPr indent="0" marL="0">
                        <a:buNone/>
                      </a:pPr>
                      <a:r>
                        <a:rPr lang="en-US" sz="1300" baseline="-40000" dirty="0">
                          <a:solidFill>
                            <a:srgbClr val="171A20"/>
                          </a:solidFill>
                          <a:latin typeface="Segoe UI" pitchFamily="34" charset="0"/>
                          <a:ea typeface="Segoe UI" pitchFamily="34" charset="-122"/>
                          <a:cs typeface="Segoe UI" pitchFamily="34" charset="-120"/>
                        </a:rPr>
                        <a:t>on</a:t>
                      </a:r>
                      <a:pPr indent="0" marL="0">
                        <a:buNone/>
                      </a:pPr>
                      <a:r>
                        <a:rPr lang="en-US" sz="1300" dirty="0">
                          <a:solidFill>
                            <a:srgbClr val="171A20"/>
                          </a:solidFill>
                          <a:latin typeface="Segoe UI" pitchFamily="34" charset="0"/>
                          <a:ea typeface="Segoe UI" pitchFamily="34" charset="-122"/>
                          <a:cs typeface="Segoe UI" pitchFamily="34" charset="-120"/>
                        </a:rPr>
                        <a:t> 1.74×</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566928">
                <a:tc>
                  <a:txBody>
                    <a:bodyPr/>
                    <a:lstStyle/>
                    <a:p>
                      <a:pPr indent="0" marL="0">
                        <a:buNone/>
                      </a:pPr>
                      <a:r>
                        <a:rPr lang="en-US" sz="1300" b="1" dirty="0">
                          <a:solidFill>
                            <a:srgbClr val="171A20"/>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b="1" dirty="0">
                          <a:solidFill>
                            <a:srgbClr val="171A20"/>
                          </a:solidFill>
                          <a:latin typeface="Segoe UI" pitchFamily="34" charset="0"/>
                          <a:ea typeface="Segoe UI" pitchFamily="34" charset="-122"/>
                          <a:cs typeface="Segoe UI" pitchFamily="34" charset="-120"/>
                        </a:rPr>
                        <a:t>Belkhiria et al., SSD 2021</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Heat model, linear doping</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Work function and doping set the temperature</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bl>
          </a:graphicData>
        </a:graphic>
      </p:graphicFrame>
      <p:sp>
        <p:nvSpPr>
          <p:cNvPr id="5" name="Shape 2"/>
          <p:cNvSpPr/>
          <p:nvPr/>
        </p:nvSpPr>
        <p:spPr>
          <a:xfrm>
            <a:off x="548640" y="5029200"/>
            <a:ext cx="5449824" cy="566928"/>
          </a:xfrm>
          <a:prstGeom prst="roundRect">
            <a:avLst>
              <a:gd name="adj" fmla="val 9677"/>
            </a:avLst>
          </a:prstGeom>
          <a:solidFill>
            <a:srgbClr val="F4F5F7"/>
          </a:solidFill>
          <a:ln/>
        </p:spPr>
      </p:sp>
      <p:sp>
        <p:nvSpPr>
          <p:cNvPr id="6" name="Text 3"/>
          <p:cNvSpPr txBox="1"/>
          <p:nvPr/>
        </p:nvSpPr>
        <p:spPr>
          <a:xfrm>
            <a:off x="731520" y="5029200"/>
            <a:ext cx="5120640" cy="566928"/>
          </a:xfrm>
          <a:prstGeom prst="rect">
            <a:avLst/>
          </a:prstGeom>
          <a:noFill/>
          <a:ln/>
        </p:spPr>
        <p:txBody>
          <a:bodyPr wrap="square" lIns="0" tIns="0" rIns="0" bIns="0" rtlCol="0" anchor="ctr"/>
          <a:lstStyle/>
          <a:p>
            <a:pPr algn="l" indent="0" marL="0">
              <a:buNone/>
            </a:pPr>
            <a:r>
              <a:rPr lang="en-US" sz="1300" b="1" dirty="0">
                <a:solidFill>
                  <a:srgbClr val="11998E"/>
                </a:solidFill>
                <a:latin typeface="Segoe UI" pitchFamily="34" charset="0"/>
                <a:ea typeface="Segoe UI" pitchFamily="34" charset="-122"/>
                <a:cs typeface="Segoe UI" pitchFamily="34" charset="-120"/>
              </a:rPr>
              <a:t>Lever 1 – a better heat path:  </a:t>
            </a:r>
            <a:pPr algn="l" indent="0" marL="0">
              <a:buNone/>
            </a:pPr>
            <a:r>
              <a:rPr lang="en-US" sz="1300" dirty="0">
                <a:solidFill>
                  <a:srgbClr val="5C5E62"/>
                </a:solidFill>
                <a:latin typeface="Segoe UI" pitchFamily="34" charset="0"/>
                <a:ea typeface="Segoe UI" pitchFamily="34" charset="-122"/>
                <a:cs typeface="Segoe UI" pitchFamily="34" charset="-120"/>
              </a:rPr>
              <a:t>[2], [3], [4]: put a high-κ material next to the hot spot.</a:t>
            </a:r>
            <a:endParaRPr lang="en-US" sz="1300" dirty="0"/>
          </a:p>
        </p:txBody>
      </p:sp>
      <p:sp>
        <p:nvSpPr>
          <p:cNvPr id="7" name="Shape 4"/>
          <p:cNvSpPr/>
          <p:nvPr/>
        </p:nvSpPr>
        <p:spPr>
          <a:xfrm>
            <a:off x="6190488" y="5029200"/>
            <a:ext cx="5449824" cy="566928"/>
          </a:xfrm>
          <a:prstGeom prst="roundRect">
            <a:avLst>
              <a:gd name="adj" fmla="val 9677"/>
            </a:avLst>
          </a:prstGeom>
          <a:solidFill>
            <a:srgbClr val="F4F5F7"/>
          </a:solidFill>
          <a:ln/>
        </p:spPr>
      </p:sp>
      <p:sp>
        <p:nvSpPr>
          <p:cNvPr id="8" name="Text 5"/>
          <p:cNvSpPr txBox="1"/>
          <p:nvPr/>
        </p:nvSpPr>
        <p:spPr>
          <a:xfrm>
            <a:off x="6373368" y="5029200"/>
            <a:ext cx="5120640" cy="566928"/>
          </a:xfrm>
          <a:prstGeom prst="rect">
            <a:avLst/>
          </a:prstGeom>
          <a:noFill/>
          <a:ln/>
        </p:spPr>
        <p:txBody>
          <a:bodyPr wrap="square" lIns="0" tIns="0" rIns="0" bIns="0" rtlCol="0" anchor="ctr"/>
          <a:lstStyle/>
          <a:p>
            <a:pPr algn="l" indent="0" marL="0">
              <a:buNone/>
            </a:pPr>
            <a:r>
              <a:rPr lang="en-US" sz="1300" b="1" dirty="0">
                <a:solidFill>
                  <a:srgbClr val="E07B00"/>
                </a:solidFill>
                <a:latin typeface="Segoe UI" pitchFamily="34" charset="0"/>
                <a:ea typeface="Segoe UI" pitchFamily="34" charset="-122"/>
                <a:cs typeface="Segoe UI" pitchFamily="34" charset="-120"/>
              </a:rPr>
              <a:t>Lever 2 – less power:  </a:t>
            </a:r>
            <a:pPr algn="l" indent="0" marL="0">
              <a:buNone/>
            </a:pPr>
            <a:r>
              <a:rPr lang="en-US" sz="1300" dirty="0">
                <a:solidFill>
                  <a:srgbClr val="5C5E62"/>
                </a:solidFill>
                <a:latin typeface="Segoe UI" pitchFamily="34" charset="0"/>
                <a:ea typeface="Segoe UI" pitchFamily="34" charset="-122"/>
                <a:cs typeface="Segoe UI" pitchFamily="34" charset="-120"/>
              </a:rPr>
              <a:t>[5]: a small work-function shift lowers P.</a:t>
            </a:r>
            <a:endParaRPr lang="en-US" sz="1300" dirty="0"/>
          </a:p>
        </p:txBody>
      </p:sp>
      <p:sp>
        <p:nvSpPr>
          <p:cNvPr id="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Two levers keep appearing: a better heat path, or less power.</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100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Literature review – Choosing the base paper</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One paper to reproduce: it must match our project and give a clear target</a:t>
            </a:r>
            <a:endParaRPr lang="en-US" sz="1600" dirty="0"/>
          </a:p>
        </p:txBody>
      </p:sp>
      <p:graphicFrame>
        <p:nvGraphicFramePr>
          <p:cNvPr id="10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3776472"/>
                <a:gridCol w="1463040"/>
                <a:gridCol w="1463040"/>
                <a:gridCol w="1463040"/>
                <a:gridCol w="1463040"/>
                <a:gridCol w="1463040"/>
              </a:tblGrid>
              <a:tr h="457200">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Question</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[1] Chen</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E6AE1"/>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[2] Rathore</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[3] Cai</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[4] Kang</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[5] Belkhiria</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r>
              <a:tr h="457200">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Published by IEEE</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B"/>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57200">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About thermal crosstalk (our title)</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B"/>
                    </a:solidFill>
                  </a:tcPr>
                </a:tc>
                <a:tc>
                  <a:txBody>
                    <a:bodyPr/>
                    <a:lstStyle/>
                    <a:p>
                      <a:pPr algn="ctr" indent="0" marL="0">
                        <a:buNone/>
                      </a:pPr>
                      <a:r>
                        <a:rPr lang="en-US" sz="1300" dirty="0">
                          <a:solidFill>
                            <a:srgbClr val="8A8D93"/>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8A8D93"/>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8A8D93"/>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8A8D93"/>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57200">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One clear number to match</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B"/>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8A8D93"/>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57200">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All sizes and κ values given</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B"/>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8A8D93"/>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8A8D93"/>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57200">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Single GAA device we can simulate</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B"/>
                    </a:solidFill>
                  </a:tcPr>
                </a:tc>
                <a:tc>
                  <a:txBody>
                    <a:bodyPr/>
                    <a:lstStyle/>
                    <a:p>
                      <a:pPr algn="ctr" indent="0" marL="0">
                        <a:buNone/>
                      </a:pPr>
                      <a:r>
                        <a:rPr lang="en-US" sz="1300" dirty="0">
                          <a:solidFill>
                            <a:srgbClr val="8A8D93"/>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8A8D93"/>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8A8D93"/>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57200">
                <a:tc>
                  <a:txBody>
                    <a:bodyPr/>
                    <a:lstStyle/>
                    <a:p>
                      <a:pPr indent="0" marL="0">
                        <a:buNone/>
                      </a:pPr>
                      <a:r>
                        <a:rPr lang="en-US" sz="1300" b="1" dirty="0">
                          <a:solidFill>
                            <a:srgbClr val="171A20"/>
                          </a:solidFill>
                          <a:latin typeface="Segoe UI" pitchFamily="34" charset="0"/>
                          <a:ea typeface="Segoe UI" pitchFamily="34" charset="-122"/>
                          <a:cs typeface="Segoe UI" pitchFamily="34" charset="-120"/>
                        </a:rPr>
                        <a:t>Score</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5/5</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E6AE1"/>
                    </a:solidFill>
                  </a:tcPr>
                </a:tc>
                <a:tc>
                  <a:txBody>
                    <a:bodyPr/>
                    <a:lstStyle/>
                    <a:p>
                      <a:pPr algn="ctr" indent="0" marL="0">
                        <a:buNone/>
                      </a:pPr>
                      <a:r>
                        <a:rPr lang="en-US" sz="1300" b="1" dirty="0">
                          <a:solidFill>
                            <a:srgbClr val="171A20"/>
                          </a:solidFill>
                          <a:latin typeface="Segoe UI" pitchFamily="34" charset="0"/>
                          <a:ea typeface="Segoe UI" pitchFamily="34" charset="-122"/>
                          <a:cs typeface="Segoe UI" pitchFamily="34" charset="-120"/>
                        </a:rPr>
                        <a:t>3/5</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171A20"/>
                          </a:solidFill>
                          <a:latin typeface="Segoe UI" pitchFamily="34" charset="0"/>
                          <a:ea typeface="Segoe UI" pitchFamily="34" charset="-122"/>
                          <a:cs typeface="Segoe UI" pitchFamily="34" charset="-120"/>
                        </a:rPr>
                        <a:t>2/5</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171A20"/>
                          </a:solidFill>
                          <a:latin typeface="Segoe UI" pitchFamily="34" charset="0"/>
                          <a:ea typeface="Segoe UI" pitchFamily="34" charset="-122"/>
                          <a:cs typeface="Segoe UI" pitchFamily="34" charset="-120"/>
                        </a:rPr>
                        <a:t>3/5</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171A20"/>
                          </a:solidFill>
                          <a:latin typeface="Segoe UI" pitchFamily="34" charset="0"/>
                          <a:ea typeface="Segoe UI" pitchFamily="34" charset="-122"/>
                          <a:cs typeface="Segoe UI" pitchFamily="34" charset="-120"/>
                        </a:rPr>
                        <a:t>2/5</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bl>
          </a:graphicData>
        </a:graphic>
      </p:graphicFrame>
      <p:sp>
        <p:nvSpPr>
          <p:cNvPr id="5" name="Shape 2"/>
          <p:cNvSpPr/>
          <p:nvPr/>
        </p:nvSpPr>
        <p:spPr>
          <a:xfrm>
            <a:off x="548640" y="4892040"/>
            <a:ext cx="11091672" cy="685800"/>
          </a:xfrm>
          <a:prstGeom prst="roundRect">
            <a:avLst>
              <a:gd name="adj" fmla="val 8000"/>
            </a:avLst>
          </a:prstGeom>
          <a:solidFill>
            <a:srgbClr val="F4F5F7"/>
          </a:solidFill>
          <a:ln/>
        </p:spPr>
      </p:sp>
      <p:sp>
        <p:nvSpPr>
          <p:cNvPr id="6" name="Text 3"/>
          <p:cNvSpPr txBox="1"/>
          <p:nvPr/>
        </p:nvSpPr>
        <p:spPr>
          <a:xfrm>
            <a:off x="777240" y="4892040"/>
            <a:ext cx="10698480" cy="685800"/>
          </a:xfrm>
          <a:prstGeom prst="rect">
            <a:avLst/>
          </a:prstGeom>
          <a:noFill/>
          <a:ln/>
        </p:spPr>
        <p:txBody>
          <a:bodyPr wrap="square" lIns="0" tIns="0" rIns="0" bIns="0" rtlCol="0" anchor="ctr"/>
          <a:lstStyle/>
          <a:p>
            <a:pPr algn="l" indent="0" marL="0">
              <a:buNone/>
            </a:pPr>
            <a:r>
              <a:rPr lang="en-US" sz="1300" b="1" dirty="0">
                <a:solidFill>
                  <a:srgbClr val="3E6AE1"/>
                </a:solidFill>
                <a:latin typeface="Segoe UI" pitchFamily="34" charset="0"/>
                <a:ea typeface="Segoe UI" pitchFamily="34" charset="-122"/>
                <a:cs typeface="Segoe UI" pitchFamily="34" charset="-120"/>
              </a:rPr>
              <a:t>Why Chen?  </a:t>
            </a:r>
            <a:pPr algn="l" indent="0" marL="0">
              <a:buNone/>
            </a:pPr>
            <a:r>
              <a:rPr lang="en-US" sz="1300" dirty="0">
                <a:solidFill>
                  <a:srgbClr val="171A20"/>
                </a:solidFill>
                <a:latin typeface="Segoe UI" pitchFamily="34" charset="0"/>
                <a:ea typeface="Segoe UI" pitchFamily="34" charset="-122"/>
                <a:cs typeface="Segoe UI" pitchFamily="34" charset="-120"/>
              </a:rPr>
              <a:t>It is the only paper that scores 5/5: it studies thermal crosstalk, our title, gives one clear number to match, and has a single GAA device we can simulate.</a:t>
            </a:r>
            <a:endParaRPr lang="en-US" sz="1300" dirty="0"/>
          </a:p>
        </p:txBody>
      </p:sp>
      <p:sp>
        <p:nvSpPr>
          <p:cNvPr id="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Base paper: Chen et al., IEEE EDTM 2025. The other four support it.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101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Literature review – Base paper [1]</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Chen et al.: in an inverter the active NMOS heats the PMOS next to it</a:t>
            </a:r>
            <a:endParaRPr lang="en-US" sz="1600" dirty="0"/>
          </a:p>
        </p:txBody>
      </p:sp>
      <p:sp>
        <p:nvSpPr>
          <p:cNvPr id="4" name="Shape 2"/>
          <p:cNvSpPr/>
          <p:nvPr/>
        </p:nvSpPr>
        <p:spPr>
          <a:xfrm>
            <a:off x="2377440" y="1554480"/>
            <a:ext cx="91" cy="411480"/>
          </a:xfrm>
          <a:prstGeom prst="line">
            <a:avLst/>
          </a:prstGeom>
          <a:noFill/>
          <a:ln w="25400">
            <a:solidFill>
              <a:srgbClr val="171A20"/>
            </a:solidFill>
            <a:prstDash val="solid"/>
          </a:ln>
        </p:spPr>
      </p:sp>
      <p:sp>
        <p:nvSpPr>
          <p:cNvPr id="5" name="Text 3"/>
          <p:cNvSpPr txBox="1"/>
          <p:nvPr/>
        </p:nvSpPr>
        <p:spPr>
          <a:xfrm>
            <a:off x="1920240" y="1325880"/>
            <a:ext cx="91440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V</a:t>
            </a:r>
            <a:pPr algn="ctr" indent="0" marL="0">
              <a:buNone/>
            </a:pPr>
            <a:r>
              <a:rPr lang="en-US" sz="1100" baseline="-40000" dirty="0">
                <a:solidFill>
                  <a:srgbClr val="171A20"/>
                </a:solidFill>
                <a:latin typeface="Segoe UI Semibold" pitchFamily="34" charset="0"/>
                <a:ea typeface="Segoe UI Semibold" pitchFamily="34" charset="-122"/>
                <a:cs typeface="Segoe UI Semibold" pitchFamily="34" charset="-120"/>
              </a:rPr>
              <a:t>DD</a:t>
            </a:r>
            <a:endParaRPr lang="en-US" sz="1100" dirty="0"/>
          </a:p>
        </p:txBody>
      </p:sp>
      <p:sp>
        <p:nvSpPr>
          <p:cNvPr id="6" name="Shape 4"/>
          <p:cNvSpPr/>
          <p:nvPr/>
        </p:nvSpPr>
        <p:spPr>
          <a:xfrm>
            <a:off x="1554480" y="1965960"/>
            <a:ext cx="1645920" cy="914400"/>
          </a:xfrm>
          <a:prstGeom prst="roundRect">
            <a:avLst>
              <a:gd name="adj" fmla="val 8000"/>
            </a:avLst>
          </a:prstGeom>
          <a:solidFill>
            <a:srgbClr val="FFE1B3"/>
          </a:solidFill>
          <a:ln/>
        </p:spPr>
      </p:sp>
      <p:sp>
        <p:nvSpPr>
          <p:cNvPr id="7" name="Text 5"/>
          <p:cNvSpPr txBox="1"/>
          <p:nvPr/>
        </p:nvSpPr>
        <p:spPr>
          <a:xfrm>
            <a:off x="1554480" y="1965960"/>
            <a:ext cx="1645920" cy="914400"/>
          </a:xfrm>
          <a:prstGeom prst="rect">
            <a:avLst/>
          </a:prstGeom>
          <a:noFill/>
          <a:ln/>
        </p:spPr>
        <p:txBody>
          <a:bodyPr wrap="square" lIns="0" tIns="0" rIns="0" bIns="0" rtlCol="0" anchor="ctr"/>
          <a:lstStyle/>
          <a:p>
            <a:pPr algn="ctr" indent="0" marL="0">
              <a:buNone/>
            </a:pPr>
            <a:r>
              <a:rPr lang="en-US" sz="1400" dirty="0">
                <a:solidFill>
                  <a:srgbClr val="E07B00"/>
                </a:solidFill>
                <a:latin typeface="Segoe UI Semibold" pitchFamily="34" charset="0"/>
                <a:ea typeface="Segoe UI Semibold" pitchFamily="34" charset="-122"/>
                <a:cs typeface="Segoe UI Semibold" pitchFamily="34" charset="-120"/>
              </a:rPr>
              <a:t>PMOS</a:t>
            </a:r>
            <a:endParaRPr lang="en-US" sz="1400" dirty="0"/>
          </a:p>
          <a:p>
            <a:pPr algn="ctr" indent="0" marL="0">
              <a:buNone/>
            </a:pPr>
            <a:r>
              <a:rPr lang="en-US" sz="1400" dirty="0">
                <a:solidFill>
                  <a:srgbClr val="E07B00"/>
                </a:solidFill>
                <a:latin typeface="Segoe UI Semibold" pitchFamily="34" charset="0"/>
                <a:ea typeface="Segoe UI Semibold" pitchFamily="34" charset="-122"/>
                <a:cs typeface="Segoe UI Semibold" pitchFamily="34" charset="-120"/>
              </a:rPr>
              <a:t>off</a:t>
            </a:r>
            <a:endParaRPr lang="en-US" sz="1400" dirty="0"/>
          </a:p>
        </p:txBody>
      </p:sp>
      <p:sp>
        <p:nvSpPr>
          <p:cNvPr id="8" name="Shape 6"/>
          <p:cNvSpPr/>
          <p:nvPr/>
        </p:nvSpPr>
        <p:spPr>
          <a:xfrm>
            <a:off x="2377440" y="2880360"/>
            <a:ext cx="91" cy="457200"/>
          </a:xfrm>
          <a:prstGeom prst="line">
            <a:avLst/>
          </a:prstGeom>
          <a:noFill/>
          <a:ln w="25400">
            <a:solidFill>
              <a:srgbClr val="171A20"/>
            </a:solidFill>
            <a:prstDash val="solid"/>
          </a:ln>
        </p:spPr>
      </p:sp>
      <p:sp>
        <p:nvSpPr>
          <p:cNvPr id="9" name="Shape 7"/>
          <p:cNvSpPr/>
          <p:nvPr/>
        </p:nvSpPr>
        <p:spPr>
          <a:xfrm>
            <a:off x="1554480" y="3337560"/>
            <a:ext cx="1645920" cy="914400"/>
          </a:xfrm>
          <a:prstGeom prst="roundRect">
            <a:avLst>
              <a:gd name="adj" fmla="val 8000"/>
            </a:avLst>
          </a:prstGeom>
          <a:solidFill>
            <a:srgbClr val="F07A3A"/>
          </a:solidFill>
          <a:ln/>
        </p:spPr>
      </p:sp>
      <p:sp>
        <p:nvSpPr>
          <p:cNvPr id="10" name="Text 8"/>
          <p:cNvSpPr txBox="1"/>
          <p:nvPr/>
        </p:nvSpPr>
        <p:spPr>
          <a:xfrm>
            <a:off x="1554480" y="3337560"/>
            <a:ext cx="1645920" cy="914400"/>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NMOS</a:t>
            </a:r>
            <a:endParaRPr lang="en-US" sz="1400" dirty="0"/>
          </a:p>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on · 30 µW</a:t>
            </a:r>
            <a:endParaRPr lang="en-US" sz="1400" dirty="0"/>
          </a:p>
        </p:txBody>
      </p:sp>
      <p:sp>
        <p:nvSpPr>
          <p:cNvPr id="11" name="Shape 9"/>
          <p:cNvSpPr/>
          <p:nvPr/>
        </p:nvSpPr>
        <p:spPr>
          <a:xfrm>
            <a:off x="2377440" y="4251960"/>
            <a:ext cx="91" cy="411480"/>
          </a:xfrm>
          <a:prstGeom prst="line">
            <a:avLst/>
          </a:prstGeom>
          <a:noFill/>
          <a:ln w="25400">
            <a:solidFill>
              <a:srgbClr val="171A20"/>
            </a:solidFill>
            <a:prstDash val="solid"/>
          </a:ln>
        </p:spPr>
      </p:sp>
      <p:sp>
        <p:nvSpPr>
          <p:cNvPr id="12" name="Text 10"/>
          <p:cNvSpPr txBox="1"/>
          <p:nvPr/>
        </p:nvSpPr>
        <p:spPr>
          <a:xfrm>
            <a:off x="1920240" y="4663440"/>
            <a:ext cx="91440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V</a:t>
            </a:r>
            <a:pPr algn="ctr" indent="0" marL="0">
              <a:buNone/>
            </a:pPr>
            <a:r>
              <a:rPr lang="en-US" sz="1100" baseline="-40000" dirty="0">
                <a:solidFill>
                  <a:srgbClr val="171A20"/>
                </a:solidFill>
                <a:latin typeface="Segoe UI Semibold" pitchFamily="34" charset="0"/>
                <a:ea typeface="Segoe UI Semibold" pitchFamily="34" charset="-122"/>
                <a:cs typeface="Segoe UI Semibold" pitchFamily="34" charset="-120"/>
              </a:rPr>
              <a:t>SS</a:t>
            </a:r>
            <a:endParaRPr lang="en-US" sz="1100" dirty="0"/>
          </a:p>
        </p:txBody>
      </p:sp>
      <p:sp>
        <p:nvSpPr>
          <p:cNvPr id="13" name="Shape 11"/>
          <p:cNvSpPr/>
          <p:nvPr/>
        </p:nvSpPr>
        <p:spPr>
          <a:xfrm>
            <a:off x="731520" y="3108960"/>
            <a:ext cx="822960" cy="91"/>
          </a:xfrm>
          <a:prstGeom prst="line">
            <a:avLst/>
          </a:prstGeom>
          <a:noFill/>
          <a:ln w="19050">
            <a:solidFill>
              <a:srgbClr val="171A20"/>
            </a:solidFill>
            <a:prstDash val="solid"/>
          </a:ln>
        </p:spPr>
      </p:sp>
      <p:sp>
        <p:nvSpPr>
          <p:cNvPr id="14" name="Text 12"/>
          <p:cNvSpPr txBox="1"/>
          <p:nvPr/>
        </p:nvSpPr>
        <p:spPr>
          <a:xfrm>
            <a:off x="548640" y="2834640"/>
            <a:ext cx="914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in = 1</a:t>
            </a:r>
            <a:endParaRPr lang="en-US" sz="1100" dirty="0"/>
          </a:p>
        </p:txBody>
      </p:sp>
      <p:sp>
        <p:nvSpPr>
          <p:cNvPr id="15" name="Shape 13"/>
          <p:cNvSpPr/>
          <p:nvPr/>
        </p:nvSpPr>
        <p:spPr>
          <a:xfrm>
            <a:off x="2377440" y="3108960"/>
            <a:ext cx="1463040" cy="91"/>
          </a:xfrm>
          <a:prstGeom prst="line">
            <a:avLst/>
          </a:prstGeom>
          <a:noFill/>
          <a:ln w="19050">
            <a:solidFill>
              <a:srgbClr val="171A20"/>
            </a:solidFill>
            <a:prstDash val="solid"/>
          </a:ln>
        </p:spPr>
      </p:sp>
      <p:sp>
        <p:nvSpPr>
          <p:cNvPr id="16" name="Text 14"/>
          <p:cNvSpPr txBox="1"/>
          <p:nvPr/>
        </p:nvSpPr>
        <p:spPr>
          <a:xfrm>
            <a:off x="3291840" y="2834640"/>
            <a:ext cx="914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out = 0</a:t>
            </a:r>
            <a:endParaRPr lang="en-US" sz="1100" dirty="0"/>
          </a:p>
        </p:txBody>
      </p:sp>
      <p:sp>
        <p:nvSpPr>
          <p:cNvPr id="17" name="Shape 15"/>
          <p:cNvSpPr/>
          <p:nvPr/>
        </p:nvSpPr>
        <p:spPr>
          <a:xfrm flipH="1">
            <a:off x="1188720" y="2377440"/>
            <a:ext cx="91" cy="1188720"/>
          </a:xfrm>
          <a:prstGeom prst="line">
            <a:avLst/>
          </a:prstGeom>
          <a:noFill/>
          <a:ln w="38100">
            <a:solidFill>
              <a:srgbClr val="D64545"/>
            </a:solidFill>
            <a:prstDash val="solid"/>
            <a:tailEnd type="triangle"/>
          </a:ln>
        </p:spPr>
      </p:sp>
      <p:sp>
        <p:nvSpPr>
          <p:cNvPr id="18" name="Text 16"/>
          <p:cNvSpPr txBox="1"/>
          <p:nvPr/>
        </p:nvSpPr>
        <p:spPr>
          <a:xfrm>
            <a:off x="685800" y="2514600"/>
            <a:ext cx="731520" cy="228600"/>
          </a:xfrm>
          <a:prstGeom prst="rect">
            <a:avLst/>
          </a:prstGeom>
          <a:noFill/>
          <a:ln/>
        </p:spPr>
        <p:txBody>
          <a:bodyPr wrap="square" lIns="0" tIns="0" rIns="0" bIns="0" rtlCol="0" anchor="t"/>
          <a:lstStyle/>
          <a:p>
            <a:pPr algn="l" indent="0" marL="0">
              <a:buNone/>
            </a:pPr>
            <a:r>
              <a:rPr lang="en-US" sz="1100" dirty="0">
                <a:solidFill>
                  <a:srgbClr val="D64545"/>
                </a:solidFill>
                <a:latin typeface="Segoe UI Semibold" pitchFamily="34" charset="0"/>
                <a:ea typeface="Segoe UI Semibold" pitchFamily="34" charset="-122"/>
                <a:cs typeface="Segoe UI Semibold" pitchFamily="34" charset="-120"/>
              </a:rPr>
              <a:t>heat</a:t>
            </a:r>
            <a:endParaRPr lang="en-US" sz="1100" dirty="0"/>
          </a:p>
        </p:txBody>
      </p:sp>
      <p:sp>
        <p:nvSpPr>
          <p:cNvPr id="19" name="Text 17"/>
          <p:cNvSpPr txBox="1"/>
          <p:nvPr/>
        </p:nvSpPr>
        <p:spPr>
          <a:xfrm>
            <a:off x="4937760" y="1554480"/>
            <a:ext cx="3108960" cy="640080"/>
          </a:xfrm>
          <a:prstGeom prst="rect">
            <a:avLst/>
          </a:prstGeom>
          <a:noFill/>
          <a:ln/>
        </p:spPr>
        <p:txBody>
          <a:bodyPr wrap="square" lIns="0" tIns="0" rIns="0" bIns="0" rtlCol="0" anchor="t"/>
          <a:lstStyle/>
          <a:p>
            <a:pPr algn="l" indent="0" marL="0">
              <a:buNone/>
            </a:pPr>
            <a:r>
              <a:rPr lang="en-US" sz="3600" dirty="0">
                <a:solidFill>
                  <a:srgbClr val="E07B00"/>
                </a:solidFill>
                <a:latin typeface="Segoe UI Semibold" pitchFamily="34" charset="0"/>
                <a:ea typeface="Segoe UI Semibold" pitchFamily="34" charset="-122"/>
                <a:cs typeface="Segoe UI Semibold" pitchFamily="34" charset="-120"/>
              </a:rPr>
              <a:t>64.8 K</a:t>
            </a:r>
            <a:endParaRPr lang="en-US" sz="3600" dirty="0"/>
          </a:p>
        </p:txBody>
      </p:sp>
      <p:sp>
        <p:nvSpPr>
          <p:cNvPr id="20" name="Text 18"/>
          <p:cNvSpPr txBox="1"/>
          <p:nvPr/>
        </p:nvSpPr>
        <p:spPr>
          <a:xfrm>
            <a:off x="4937760" y="2212848"/>
            <a:ext cx="3108960" cy="45720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NMOS self-heating at 30 µW</a:t>
            </a:r>
            <a:endParaRPr lang="en-US" sz="1200" dirty="0"/>
          </a:p>
        </p:txBody>
      </p:sp>
      <p:sp>
        <p:nvSpPr>
          <p:cNvPr id="21" name="Text 19"/>
          <p:cNvSpPr txBox="1"/>
          <p:nvPr/>
        </p:nvSpPr>
        <p:spPr>
          <a:xfrm>
            <a:off x="8321040" y="1554480"/>
            <a:ext cx="3108960" cy="640080"/>
          </a:xfrm>
          <a:prstGeom prst="rect">
            <a:avLst/>
          </a:prstGeom>
          <a:noFill/>
          <a:ln/>
        </p:spPr>
        <p:txBody>
          <a:bodyPr wrap="square" lIns="0" tIns="0" rIns="0" bIns="0" rtlCol="0" anchor="t"/>
          <a:lstStyle/>
          <a:p>
            <a:pPr algn="l" indent="0" marL="0">
              <a:buNone/>
            </a:pPr>
            <a:r>
              <a:rPr lang="en-US" sz="3600" dirty="0">
                <a:solidFill>
                  <a:srgbClr val="E07B00"/>
                </a:solidFill>
                <a:latin typeface="Segoe UI Semibold" pitchFamily="34" charset="0"/>
                <a:ea typeface="Segoe UI Semibold" pitchFamily="34" charset="-122"/>
                <a:cs typeface="Segoe UI Semibold" pitchFamily="34" charset="-120"/>
              </a:rPr>
              <a:t>22.4 K</a:t>
            </a:r>
            <a:endParaRPr lang="en-US" sz="3600" dirty="0"/>
          </a:p>
        </p:txBody>
      </p:sp>
      <p:sp>
        <p:nvSpPr>
          <p:cNvPr id="22" name="Text 20"/>
          <p:cNvSpPr txBox="1"/>
          <p:nvPr/>
        </p:nvSpPr>
        <p:spPr>
          <a:xfrm>
            <a:off x="8321040" y="2212848"/>
            <a:ext cx="3108960" cy="45720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PMOS rise from crosstalk</a:t>
            </a:r>
            <a:endParaRPr lang="en-US" sz="1200" dirty="0"/>
          </a:p>
        </p:txBody>
      </p:sp>
      <p:sp>
        <p:nvSpPr>
          <p:cNvPr id="23" name="Text 21"/>
          <p:cNvSpPr txBox="1"/>
          <p:nvPr/>
        </p:nvSpPr>
        <p:spPr>
          <a:xfrm>
            <a:off x="4937760" y="2926080"/>
            <a:ext cx="3108960" cy="640080"/>
          </a:xfrm>
          <a:prstGeom prst="rect">
            <a:avLst/>
          </a:prstGeom>
          <a:noFill/>
          <a:ln/>
        </p:spPr>
        <p:txBody>
          <a:bodyPr wrap="square" lIns="0" tIns="0" rIns="0" bIns="0" rtlCol="0" anchor="t"/>
          <a:lstStyle/>
          <a:p>
            <a:pPr algn="l" indent="0" marL="0">
              <a:buNone/>
            </a:pPr>
            <a:r>
              <a:rPr lang="en-US" sz="3600" dirty="0">
                <a:solidFill>
                  <a:srgbClr val="D64545"/>
                </a:solidFill>
                <a:latin typeface="Segoe UI Semibold" pitchFamily="34" charset="0"/>
                <a:ea typeface="Segoe UI Semibold" pitchFamily="34" charset="-122"/>
                <a:cs typeface="Segoe UI Semibold" pitchFamily="34" charset="-120"/>
              </a:rPr>
              <a:t>34.6 %</a:t>
            </a:r>
            <a:endParaRPr lang="en-US" sz="3600" dirty="0"/>
          </a:p>
        </p:txBody>
      </p:sp>
      <p:sp>
        <p:nvSpPr>
          <p:cNvPr id="24" name="Text 22"/>
          <p:cNvSpPr txBox="1"/>
          <p:nvPr/>
        </p:nvSpPr>
        <p:spPr>
          <a:xfrm>
            <a:off x="4937760" y="3584448"/>
            <a:ext cx="3108960" cy="45720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crosstalk coefficient α (31.7 % the other way)</a:t>
            </a:r>
            <a:endParaRPr lang="en-US" sz="1200" dirty="0"/>
          </a:p>
        </p:txBody>
      </p:sp>
      <p:sp>
        <p:nvSpPr>
          <p:cNvPr id="25" name="Shape 23"/>
          <p:cNvSpPr/>
          <p:nvPr/>
        </p:nvSpPr>
        <p:spPr>
          <a:xfrm>
            <a:off x="4937760" y="4343400"/>
            <a:ext cx="6702552" cy="1005840"/>
          </a:xfrm>
          <a:prstGeom prst="roundRect">
            <a:avLst>
              <a:gd name="adj" fmla="val 7273"/>
            </a:avLst>
          </a:prstGeom>
          <a:solidFill>
            <a:srgbClr val="F4F5F7"/>
          </a:solidFill>
          <a:ln/>
        </p:spPr>
      </p:sp>
      <p:sp>
        <p:nvSpPr>
          <p:cNvPr id="26" name="Text 24"/>
          <p:cNvSpPr txBox="1"/>
          <p:nvPr/>
        </p:nvSpPr>
        <p:spPr>
          <a:xfrm>
            <a:off x="5166360" y="4343400"/>
            <a:ext cx="6309360" cy="1005840"/>
          </a:xfrm>
          <a:prstGeom prst="rect">
            <a:avLst/>
          </a:prstGeom>
          <a:noFill/>
          <a:ln/>
        </p:spPr>
        <p:txBody>
          <a:bodyPr wrap="square" lIns="0" tIns="0" rIns="0" bIns="0" rtlCol="0" anchor="ctr"/>
          <a:lstStyle/>
          <a:p>
            <a:pPr algn="l" indent="0" marL="0">
              <a:buNone/>
            </a:pPr>
            <a:r>
              <a:rPr lang="en-US" sz="1300" dirty="0">
                <a:solidFill>
                  <a:srgbClr val="5C5E62"/>
                </a:solidFill>
                <a:latin typeface="Segoe UI" pitchFamily="34" charset="0"/>
                <a:ea typeface="Segoe UI" pitchFamily="34" charset="-122"/>
                <a:cs typeface="Segoe UI" pitchFamily="34" charset="-120"/>
              </a:rPr>
              <a:t>A single GAAFET with the same substrate runs about 6 K hotter than the NMOS inside the inverter, because the PMOS helps carry its heat away.</a:t>
            </a:r>
            <a:endParaRPr lang="en-US" sz="1300" dirty="0"/>
          </a:p>
        </p:txBody>
      </p:sp>
      <p:sp>
        <p:nvSpPr>
          <p:cNvPr id="2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One number to reproduce: 64.8 K at 30 µW.</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102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Literature review – Base paper [1]</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More active neighbours, more crosstalk heating</a:t>
            </a:r>
            <a:endParaRPr lang="en-US" sz="1600" dirty="0"/>
          </a:p>
        </p:txBody>
      </p:sp>
      <p:graphicFrame>
        <p:nvGraphicFramePr>
          <p:cNvPr id="4" name="Chart 0" descr=""/>
          <p:cNvGraphicFramePr/>
          <p:nvPr/>
        </p:nvGraphicFramePr>
        <p:xfrm>
          <a:off x="548640" y="1463040"/>
          <a:ext cx="676656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63840" y="1645920"/>
            <a:ext cx="3657600" cy="548640"/>
          </a:xfrm>
          <a:prstGeom prst="rect">
            <a:avLst/>
          </a:prstGeom>
          <a:noFill/>
          <a:ln/>
        </p:spPr>
        <p:txBody>
          <a:bodyPr wrap="square" lIns="0" tIns="0" rIns="0" bIns="0" rtlCol="0" anchor="t"/>
          <a:lstStyle/>
          <a:p>
            <a:pPr algn="l" indent="0" marL="0">
              <a:buNone/>
            </a:pPr>
            <a:r>
              <a:rPr lang="en-US" sz="3000" dirty="0">
                <a:solidFill>
                  <a:srgbClr val="E07B00"/>
                </a:solidFill>
                <a:latin typeface="Segoe UI Semibold" pitchFamily="34" charset="0"/>
                <a:ea typeface="Segoe UI Semibold" pitchFamily="34" charset="-122"/>
                <a:cs typeface="Segoe UI Semibold" pitchFamily="34" charset="-120"/>
              </a:rPr>
              <a:t>322.4 K</a:t>
            </a:r>
            <a:endParaRPr lang="en-US" sz="3000" dirty="0"/>
          </a:p>
        </p:txBody>
      </p:sp>
      <p:sp>
        <p:nvSpPr>
          <p:cNvPr id="6" name="Text 3"/>
          <p:cNvSpPr txBox="1"/>
          <p:nvPr/>
        </p:nvSpPr>
        <p:spPr>
          <a:xfrm>
            <a:off x="7863840" y="2194560"/>
            <a:ext cx="36576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inverter PMOS (+7.5 %)</a:t>
            </a:r>
            <a:endParaRPr lang="en-US" sz="1200" dirty="0"/>
          </a:p>
        </p:txBody>
      </p:sp>
      <p:sp>
        <p:nvSpPr>
          <p:cNvPr id="7" name="Text 4"/>
          <p:cNvSpPr txBox="1"/>
          <p:nvPr/>
        </p:nvSpPr>
        <p:spPr>
          <a:xfrm>
            <a:off x="7863840" y="2834640"/>
            <a:ext cx="3657600" cy="548640"/>
          </a:xfrm>
          <a:prstGeom prst="rect">
            <a:avLst/>
          </a:prstGeom>
          <a:noFill/>
          <a:ln/>
        </p:spPr>
        <p:txBody>
          <a:bodyPr wrap="square" lIns="0" tIns="0" rIns="0" bIns="0" rtlCol="0" anchor="t"/>
          <a:lstStyle/>
          <a:p>
            <a:pPr algn="l" indent="0" marL="0">
              <a:buNone/>
            </a:pPr>
            <a:r>
              <a:rPr lang="en-US" sz="3000" dirty="0">
                <a:solidFill>
                  <a:srgbClr val="E07B00"/>
                </a:solidFill>
                <a:latin typeface="Segoe UI Semibold" pitchFamily="34" charset="0"/>
                <a:ea typeface="Segoe UI Semibold" pitchFamily="34" charset="-122"/>
                <a:cs typeface="Segoe UI Semibold" pitchFamily="34" charset="-120"/>
              </a:rPr>
              <a:t>335.3 K</a:t>
            </a:r>
            <a:endParaRPr lang="en-US" sz="3000" dirty="0"/>
          </a:p>
        </p:txBody>
      </p:sp>
      <p:sp>
        <p:nvSpPr>
          <p:cNvPr id="8" name="Text 5"/>
          <p:cNvSpPr txBox="1"/>
          <p:nvPr/>
        </p:nvSpPr>
        <p:spPr>
          <a:xfrm>
            <a:off x="7863840" y="3383280"/>
            <a:ext cx="36576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three active devices (+11.8 %)</a:t>
            </a:r>
            <a:endParaRPr lang="en-US" sz="1200" dirty="0"/>
          </a:p>
        </p:txBody>
      </p:sp>
      <p:sp>
        <p:nvSpPr>
          <p:cNvPr id="9" name="Text 6"/>
          <p:cNvSpPr txBox="1"/>
          <p:nvPr/>
        </p:nvSpPr>
        <p:spPr>
          <a:xfrm>
            <a:off x="7863840" y="4023360"/>
            <a:ext cx="3657600" cy="548640"/>
          </a:xfrm>
          <a:prstGeom prst="rect">
            <a:avLst/>
          </a:prstGeom>
          <a:noFill/>
          <a:ln/>
        </p:spPr>
        <p:txBody>
          <a:bodyPr wrap="square" lIns="0" tIns="0" rIns="0" bIns="0" rtlCol="0" anchor="t"/>
          <a:lstStyle/>
          <a:p>
            <a:pPr algn="l" indent="0" marL="0">
              <a:buNone/>
            </a:pPr>
            <a:r>
              <a:rPr lang="en-US" sz="3000" dirty="0">
                <a:solidFill>
                  <a:srgbClr val="E07B00"/>
                </a:solidFill>
                <a:latin typeface="Segoe UI Semibold" pitchFamily="34" charset="0"/>
                <a:ea typeface="Segoe UI Semibold" pitchFamily="34" charset="-122"/>
                <a:cs typeface="Segoe UI Semibold" pitchFamily="34" charset="-120"/>
              </a:rPr>
              <a:t>344.6 K</a:t>
            </a:r>
            <a:endParaRPr lang="en-US" sz="3000" dirty="0"/>
          </a:p>
        </p:txBody>
      </p:sp>
      <p:sp>
        <p:nvSpPr>
          <p:cNvPr id="10" name="Text 7"/>
          <p:cNvSpPr txBox="1"/>
          <p:nvPr/>
        </p:nvSpPr>
        <p:spPr>
          <a:xfrm>
            <a:off x="7863840" y="4572000"/>
            <a:ext cx="36576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four active devices (+14.9 %)</a:t>
            </a:r>
            <a:endParaRPr lang="en-US" sz="1200" dirty="0"/>
          </a:p>
        </p:txBody>
      </p:sp>
      <p:sp>
        <p:nvSpPr>
          <p:cNvPr id="11"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Crosstalk grows with device density: a reason to cut self-heating at the source.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103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Literature review – Table I of the base paper</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The geometry and materials we copy into our deck</a:t>
            </a:r>
            <a:endParaRPr lang="en-US" sz="1600" dirty="0"/>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303520" cy="914400"/>
        </p:xfrm>
        <a:graphic>
          <a:graphicData uri="http://schemas.openxmlformats.org/drawingml/2006/table">
            <a:tbl>
              <a:tblPr/>
              <a:tblGrid>
                <a:gridCol w="3474720"/>
                <a:gridCol w="1828800"/>
              </a:tblGrid>
              <a:tr h="420624">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Dimension</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Value (nm)</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r>
              <a:tr h="420624">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Channel length L</a:t>
                      </a:r>
                      <a:pPr indent="0" marL="0">
                        <a:buNone/>
                      </a:pPr>
                      <a:r>
                        <a:rPr lang="en-US" sz="1300" baseline="-40000" dirty="0">
                          <a:solidFill>
                            <a:srgbClr val="171A20"/>
                          </a:solidFill>
                          <a:latin typeface="Segoe UI" pitchFamily="34" charset="0"/>
                          <a:ea typeface="Segoe UI" pitchFamily="34" charset="-122"/>
                          <a:cs typeface="Segoe UI" pitchFamily="34" charset="-120"/>
                        </a:rPr>
                        <a:t>g</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14</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20624">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Nanosheet width</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20</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20624">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Nanosheet thickness</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20624">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Gate oxide thickness</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1.1</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20624">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Sub-fin thickness</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40</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20624">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Metal-2 pitch (inverter)</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21</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bl>
          </a:graphicData>
        </a:graphic>
      </p:graphicFrame>
      <p:graphicFrame>
        <p:nvGraphicFramePr>
          <p:cNvPr id="209" name="Table 1"/>
          <p:cNvGraphicFramePr>
            <a:graphicFrameLocks noGrp="1"/>
          </p:cNvGraphicFramePr>
          <p:nvPr>
            <p:extLst>
              <p:ext uri="{D42A27DB-BD31-4B8C-83A1-F6EECF244321}">
                <p14:modId xmlns:p14="http://schemas.microsoft.com/office/powerpoint/2010/main" val="1579011935"/>
              </p:ext>
            </p:extLst>
          </p:nvPr>
        </p:nvGraphicFramePr>
        <p:xfrm>
          <a:off x="6336792" y="1508760"/>
          <a:ext cx="5303520" cy="914400"/>
        </p:xfrm>
        <a:graphic>
          <a:graphicData uri="http://schemas.openxmlformats.org/drawingml/2006/table">
            <a:tbl>
              <a:tblPr/>
              <a:tblGrid>
                <a:gridCol w="3474720"/>
                <a:gridCol w="1828800"/>
              </a:tblGrid>
              <a:tr h="420624">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Material</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κ (W/m·K)</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r>
              <a:tr h="420624">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N-channel Si</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[22, 22, 6]</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20624">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P-channel SiGe</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[18, 18, 4]</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20624">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Gate HfO2</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2.3</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20624">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Interface oxide</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1.4</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20624">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Copper</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385</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20624">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Si substrate</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148</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bl>
          </a:graphicData>
        </a:graphic>
      </p:graphicFrame>
      <p:sp>
        <p:nvSpPr>
          <p:cNvPr id="6" name="Shape 2"/>
          <p:cNvSpPr/>
          <p:nvPr/>
        </p:nvSpPr>
        <p:spPr>
          <a:xfrm>
            <a:off x="548640" y="4800600"/>
            <a:ext cx="1828800" cy="457200"/>
          </a:xfrm>
          <a:prstGeom prst="rect">
            <a:avLst/>
          </a:prstGeom>
          <a:solidFill>
            <a:srgbClr val="F6E7B8"/>
          </a:solidFill>
          <a:ln w="9525">
            <a:solidFill>
              <a:srgbClr val="C9A94A"/>
            </a:solidFill>
            <a:prstDash val="solid"/>
          </a:ln>
        </p:spPr>
      </p:sp>
      <p:sp>
        <p:nvSpPr>
          <p:cNvPr id="7" name="Text 3"/>
          <p:cNvSpPr txBox="1"/>
          <p:nvPr/>
        </p:nvSpPr>
        <p:spPr>
          <a:xfrm>
            <a:off x="2560320" y="4846320"/>
            <a:ext cx="3657600" cy="365760"/>
          </a:xfrm>
          <a:prstGeom prst="rect">
            <a:avLst/>
          </a:prstGeom>
          <a:noFill/>
          <a:ln/>
        </p:spPr>
        <p:txBody>
          <a:bodyPr wrap="square" lIns="0" tIns="0" rIns="0" bIns="0" rtlCol="0" anchor="ctr"/>
          <a:lstStyle/>
          <a:p>
            <a:pPr algn="l" indent="0" marL="0">
              <a:buNone/>
            </a:pPr>
            <a:r>
              <a:rPr lang="en-US" sz="1200" dirty="0">
                <a:solidFill>
                  <a:srgbClr val="5C5E62"/>
                </a:solidFill>
                <a:latin typeface="Segoe UI" pitchFamily="34" charset="0"/>
                <a:ea typeface="Segoe UI" pitchFamily="34" charset="-122"/>
                <a:cs typeface="Segoe UI" pitchFamily="34" charset="-120"/>
              </a:rPr>
              <a:t>20 × 5 nm nanosheet (to scale)</a:t>
            </a:r>
            <a:endParaRPr lang="en-US" sz="1200" dirty="0"/>
          </a:p>
        </p:txBody>
      </p:sp>
      <p:sp>
        <p:nvSpPr>
          <p:cNvPr id="8"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Same L</a:t>
            </a:r>
            <a:pPr algn="ctr" indent="0" marL="0">
              <a:buNone/>
            </a:pPr>
            <a:r>
              <a:rPr lang="en-US" sz="1600" baseline="-40000" dirty="0">
                <a:solidFill>
                  <a:srgbClr val="171A20"/>
                </a:solidFill>
                <a:latin typeface="Segoe UI" pitchFamily="34" charset="0"/>
                <a:ea typeface="Segoe UI" pitchFamily="34" charset="-122"/>
                <a:cs typeface="Segoe UI" pitchFamily="34" charset="-120"/>
              </a:rPr>
              <a:t>g</a:t>
            </a:r>
            <a:pPr algn="ctr" indent="0" marL="0">
              <a:buNone/>
            </a:pPr>
            <a:r>
              <a:rPr lang="en-US" sz="1600" dirty="0">
                <a:solidFill>
                  <a:srgbClr val="171A20"/>
                </a:solidFill>
                <a:latin typeface="Segoe UI" pitchFamily="34" charset="0"/>
                <a:ea typeface="Segoe UI" pitchFamily="34" charset="-122"/>
                <a:cs typeface="Segoe UI" pitchFamily="34" charset="-120"/>
              </a:rPr>
              <a:t>, oxide and κ values as the paper; only the channel shape differs.</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104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Literature review – A better heat exit [2], [3]</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Giving the heat a better way out lowers the peak temperature</a:t>
            </a:r>
            <a:endParaRPr lang="en-US" sz="1600" dirty="0"/>
          </a:p>
        </p:txBody>
      </p:sp>
      <p:sp>
        <p:nvSpPr>
          <p:cNvPr id="4" name="Text 2"/>
          <p:cNvSpPr txBox="1"/>
          <p:nvPr/>
        </p:nvSpPr>
        <p:spPr>
          <a:xfrm>
            <a:off x="548640" y="1463040"/>
            <a:ext cx="5486400" cy="292608"/>
          </a:xfrm>
          <a:prstGeom prst="rect">
            <a:avLst/>
          </a:prstGeom>
          <a:noFill/>
          <a:ln/>
        </p:spPr>
        <p:txBody>
          <a:bodyPr wrap="square" lIns="0" tIns="0" rIns="0" bIns="0" rtlCol="0" anchor="t"/>
          <a:lstStyle/>
          <a:p>
            <a:pPr algn="l" indent="0" marL="0">
              <a:buNone/>
            </a:pPr>
            <a:r>
              <a:rPr lang="en-US" sz="1500" dirty="0">
                <a:solidFill>
                  <a:srgbClr val="D64545"/>
                </a:solidFill>
                <a:latin typeface="Segoe UI Semibold" pitchFamily="34" charset="0"/>
                <a:ea typeface="Segoe UI Semibold" pitchFamily="34" charset="-122"/>
                <a:cs typeface="Segoe UI Semibold" pitchFamily="34" charset="-120"/>
              </a:rPr>
              <a:t>Rathore et al. [2]: DLC as buried oxide</a:t>
            </a:r>
            <a:endParaRPr lang="en-US" sz="1500" dirty="0"/>
          </a:p>
        </p:txBody>
      </p:sp>
      <p:graphicFrame>
        <p:nvGraphicFramePr>
          <p:cNvPr id="5" name="Chart 0" descr=""/>
          <p:cNvGraphicFramePr/>
          <p:nvPr/>
        </p:nvGraphicFramePr>
        <p:xfrm>
          <a:off x="548640" y="1828800"/>
          <a:ext cx="5120640" cy="3657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400800" y="1463040"/>
            <a:ext cx="5212080" cy="292608"/>
          </a:xfrm>
          <a:prstGeom prst="rect">
            <a:avLst/>
          </a:prstGeom>
          <a:noFill/>
          <a:ln/>
        </p:spPr>
        <p:txBody>
          <a:bodyPr wrap="square" lIns="0" tIns="0" rIns="0" bIns="0" rtlCol="0" anchor="t"/>
          <a:lstStyle/>
          <a:p>
            <a:pPr algn="l" indent="0" marL="0">
              <a:buNone/>
            </a:pPr>
            <a:r>
              <a:rPr lang="en-US" sz="1500" dirty="0">
                <a:solidFill>
                  <a:srgbClr val="3E6AE1"/>
                </a:solidFill>
                <a:latin typeface="Segoe UI Semibold" pitchFamily="34" charset="0"/>
                <a:ea typeface="Segoe UI Semibold" pitchFamily="34" charset="-122"/>
                <a:cs typeface="Segoe UI Semibold" pitchFamily="34" charset="-120"/>
              </a:rPr>
              <a:t>Cai et al. [3]: stacked nanosheets</a:t>
            </a:r>
            <a:endParaRPr lang="en-US" sz="1500" dirty="0"/>
          </a:p>
        </p:txBody>
      </p:sp>
      <p:sp>
        <p:nvSpPr>
          <p:cNvPr id="7" name="Shape 4"/>
          <p:cNvSpPr/>
          <p:nvPr/>
        </p:nvSpPr>
        <p:spPr>
          <a:xfrm>
            <a:off x="6400800" y="1874520"/>
            <a:ext cx="5239512" cy="1005840"/>
          </a:xfrm>
          <a:prstGeom prst="roundRect">
            <a:avLst>
              <a:gd name="adj" fmla="val 7273"/>
            </a:avLst>
          </a:prstGeom>
          <a:solidFill>
            <a:srgbClr val="F4F5F7"/>
          </a:solidFill>
          <a:ln/>
        </p:spPr>
      </p:sp>
      <p:sp>
        <p:nvSpPr>
          <p:cNvPr id="8" name="Text 5"/>
          <p:cNvSpPr txBox="1"/>
          <p:nvPr/>
        </p:nvSpPr>
        <p:spPr>
          <a:xfrm>
            <a:off x="6629400" y="1920240"/>
            <a:ext cx="2011680" cy="914400"/>
          </a:xfrm>
          <a:prstGeom prst="rect">
            <a:avLst/>
          </a:prstGeom>
          <a:noFill/>
          <a:ln/>
        </p:spPr>
        <p:txBody>
          <a:bodyPr wrap="square" lIns="0" tIns="0" rIns="0" bIns="0" rtlCol="0" anchor="ctr"/>
          <a:lstStyle/>
          <a:p>
            <a:pPr algn="l" indent="0" marL="0">
              <a:buNone/>
            </a:pPr>
            <a:r>
              <a:rPr lang="en-US" sz="2800" dirty="0">
                <a:solidFill>
                  <a:srgbClr val="3E6AE1"/>
                </a:solidFill>
                <a:latin typeface="Segoe UI Semibold" pitchFamily="34" charset="0"/>
                <a:ea typeface="Segoe UI Semibold" pitchFamily="34" charset="-122"/>
                <a:cs typeface="Segoe UI Semibold" pitchFamily="34" charset="-120"/>
              </a:rPr>
              <a:t>128 K</a:t>
            </a:r>
            <a:endParaRPr lang="en-US" sz="2800" dirty="0"/>
          </a:p>
        </p:txBody>
      </p:sp>
      <p:sp>
        <p:nvSpPr>
          <p:cNvPr id="9" name="Text 6"/>
          <p:cNvSpPr txBox="1"/>
          <p:nvPr/>
        </p:nvSpPr>
        <p:spPr>
          <a:xfrm>
            <a:off x="8595360" y="1920240"/>
            <a:ext cx="2926080" cy="914400"/>
          </a:xfrm>
          <a:prstGeom prst="rect">
            <a:avLst/>
          </a:prstGeom>
          <a:noFill/>
          <a:ln/>
        </p:spPr>
        <p:txBody>
          <a:bodyPr wrap="square" lIns="0" tIns="0" rIns="0" bIns="0" rtlCol="0" anchor="ctr"/>
          <a:lstStyle/>
          <a:p>
            <a:pPr algn="l" indent="0" marL="0">
              <a:buNone/>
            </a:pPr>
            <a:r>
              <a:rPr lang="en-US" sz="1300" dirty="0">
                <a:solidFill>
                  <a:srgbClr val="5C5E62"/>
                </a:solidFill>
                <a:latin typeface="Segoe UI" pitchFamily="34" charset="0"/>
                <a:ea typeface="Segoe UI" pitchFamily="34" charset="-122"/>
                <a:cs typeface="Segoe UI" pitchFamily="34" charset="-120"/>
              </a:rPr>
              <a:t>self-heating rise at V</a:t>
            </a:r>
            <a:pPr algn="l" indent="0" marL="0">
              <a:buNone/>
            </a:pPr>
            <a:r>
              <a:rPr lang="en-US" sz="1300" baseline="-40000" dirty="0">
                <a:solidFill>
                  <a:srgbClr val="5C5E62"/>
                </a:solidFill>
                <a:latin typeface="Segoe UI" pitchFamily="34" charset="0"/>
                <a:ea typeface="Segoe UI" pitchFamily="34" charset="-122"/>
                <a:cs typeface="Segoe UI" pitchFamily="34" charset="-120"/>
              </a:rPr>
              <a:t>G</a:t>
            </a:r>
            <a:pPr algn="l" indent="0" marL="0">
              <a:buNone/>
            </a:pPr>
            <a:r>
              <a:rPr lang="en-US" sz="1300" dirty="0">
                <a:solidFill>
                  <a:srgbClr val="5C5E62"/>
                </a:solidFill>
                <a:latin typeface="Segoe UI" pitchFamily="34" charset="0"/>
                <a:ea typeface="Segoe UI" pitchFamily="34" charset="-122"/>
                <a:cs typeface="Segoe UI" pitchFamily="34" charset="-120"/>
              </a:rPr>
              <a:t> = V</a:t>
            </a:r>
            <a:pPr algn="l" indent="0" marL="0">
              <a:buNone/>
            </a:pPr>
            <a:r>
              <a:rPr lang="en-US" sz="1300" baseline="-40000" dirty="0">
                <a:solidFill>
                  <a:srgbClr val="5C5E62"/>
                </a:solidFill>
                <a:latin typeface="Segoe UI" pitchFamily="34" charset="0"/>
                <a:ea typeface="Segoe UI" pitchFamily="34" charset="-122"/>
                <a:cs typeface="Segoe UI" pitchFamily="34" charset="-120"/>
              </a:rPr>
              <a:t>D</a:t>
            </a:r>
            <a:pPr algn="l" indent="0" marL="0">
              <a:buNone/>
            </a:pPr>
            <a:r>
              <a:rPr lang="en-US" sz="1300" dirty="0">
                <a:solidFill>
                  <a:srgbClr val="5C5E62"/>
                </a:solidFill>
                <a:latin typeface="Segoe UI" pitchFamily="34" charset="0"/>
                <a:ea typeface="Segoe UI" pitchFamily="34" charset="-122"/>
                <a:cs typeface="Segoe UI" pitchFamily="34" charset="-120"/>
              </a:rPr>
              <a:t> = 0.7 V</a:t>
            </a:r>
            <a:endParaRPr lang="en-US" sz="1300" dirty="0"/>
          </a:p>
        </p:txBody>
      </p:sp>
      <p:sp>
        <p:nvSpPr>
          <p:cNvPr id="10" name="Shape 7"/>
          <p:cNvSpPr/>
          <p:nvPr/>
        </p:nvSpPr>
        <p:spPr>
          <a:xfrm>
            <a:off x="6400800" y="3063240"/>
            <a:ext cx="5239512" cy="1005840"/>
          </a:xfrm>
          <a:prstGeom prst="roundRect">
            <a:avLst>
              <a:gd name="adj" fmla="val 7273"/>
            </a:avLst>
          </a:prstGeom>
          <a:solidFill>
            <a:srgbClr val="F4F5F7"/>
          </a:solidFill>
          <a:ln/>
        </p:spPr>
      </p:sp>
      <p:sp>
        <p:nvSpPr>
          <p:cNvPr id="11" name="Text 8"/>
          <p:cNvSpPr txBox="1"/>
          <p:nvPr/>
        </p:nvSpPr>
        <p:spPr>
          <a:xfrm>
            <a:off x="6629400" y="3108960"/>
            <a:ext cx="2011680" cy="914400"/>
          </a:xfrm>
          <a:prstGeom prst="rect">
            <a:avLst/>
          </a:prstGeom>
          <a:noFill/>
          <a:ln/>
        </p:spPr>
        <p:txBody>
          <a:bodyPr wrap="square" lIns="0" tIns="0" rIns="0" bIns="0" rtlCol="0" anchor="ctr"/>
          <a:lstStyle/>
          <a:p>
            <a:pPr algn="l" indent="0" marL="0">
              <a:buNone/>
            </a:pPr>
            <a:r>
              <a:rPr lang="en-US" sz="2800" dirty="0">
                <a:solidFill>
                  <a:srgbClr val="3E6AE1"/>
                </a:solidFill>
                <a:latin typeface="Segoe UI Semibold" pitchFamily="34" charset="0"/>
                <a:ea typeface="Segoe UI Semibold" pitchFamily="34" charset="-122"/>
                <a:cs typeface="Segoe UI Semibold" pitchFamily="34" charset="-120"/>
              </a:rPr>
              <a:t>~40 %</a:t>
            </a:r>
            <a:endParaRPr lang="en-US" sz="2800" dirty="0"/>
          </a:p>
        </p:txBody>
      </p:sp>
      <p:sp>
        <p:nvSpPr>
          <p:cNvPr id="12" name="Text 9"/>
          <p:cNvSpPr txBox="1"/>
          <p:nvPr/>
        </p:nvSpPr>
        <p:spPr>
          <a:xfrm>
            <a:off x="8595360" y="3108960"/>
            <a:ext cx="2926080" cy="914400"/>
          </a:xfrm>
          <a:prstGeom prst="rect">
            <a:avLst/>
          </a:prstGeom>
          <a:noFill/>
          <a:ln/>
        </p:spPr>
        <p:txBody>
          <a:bodyPr wrap="square" lIns="0" tIns="0" rIns="0" bIns="0" rtlCol="0" anchor="ctr"/>
          <a:lstStyle/>
          <a:p>
            <a:pPr algn="l" indent="0" marL="0">
              <a:buNone/>
            </a:pPr>
            <a:r>
              <a:rPr lang="en-US" sz="1300" dirty="0">
                <a:solidFill>
                  <a:srgbClr val="5C5E62"/>
                </a:solidFill>
                <a:latin typeface="Segoe UI" pitchFamily="34" charset="0"/>
                <a:ea typeface="Segoe UI" pitchFamily="34" charset="-122"/>
                <a:cs typeface="Segoe UI" pitchFamily="34" charset="-120"/>
              </a:rPr>
              <a:t>of the heat leaves through the substrate</a:t>
            </a:r>
            <a:endParaRPr lang="en-US" sz="1300" dirty="0"/>
          </a:p>
        </p:txBody>
      </p:sp>
      <p:sp>
        <p:nvSpPr>
          <p:cNvPr id="13" name="Shape 10"/>
          <p:cNvSpPr/>
          <p:nvPr/>
        </p:nvSpPr>
        <p:spPr>
          <a:xfrm>
            <a:off x="6400800" y="4251960"/>
            <a:ext cx="5239512" cy="1005840"/>
          </a:xfrm>
          <a:prstGeom prst="roundRect">
            <a:avLst>
              <a:gd name="adj" fmla="val 7273"/>
            </a:avLst>
          </a:prstGeom>
          <a:solidFill>
            <a:srgbClr val="F4F5F7"/>
          </a:solidFill>
          <a:ln/>
        </p:spPr>
      </p:sp>
      <p:sp>
        <p:nvSpPr>
          <p:cNvPr id="14" name="Text 11"/>
          <p:cNvSpPr txBox="1"/>
          <p:nvPr/>
        </p:nvSpPr>
        <p:spPr>
          <a:xfrm>
            <a:off x="6629400" y="4297680"/>
            <a:ext cx="2011680" cy="914400"/>
          </a:xfrm>
          <a:prstGeom prst="rect">
            <a:avLst/>
          </a:prstGeom>
          <a:noFill/>
          <a:ln/>
        </p:spPr>
        <p:txBody>
          <a:bodyPr wrap="square" lIns="0" tIns="0" rIns="0" bIns="0" rtlCol="0" anchor="ctr"/>
          <a:lstStyle/>
          <a:p>
            <a:pPr algn="l" indent="0" marL="0">
              <a:buNone/>
            </a:pPr>
            <a:r>
              <a:rPr lang="en-US" sz="2800" dirty="0">
                <a:solidFill>
                  <a:srgbClr val="3E6AE1"/>
                </a:solidFill>
                <a:latin typeface="Segoe UI Semibold" pitchFamily="34" charset="0"/>
                <a:ea typeface="Segoe UI Semibold" pitchFamily="34" charset="-122"/>
                <a:cs typeface="Segoe UI Semibold" pitchFamily="34" charset="-120"/>
              </a:rPr>
              <a:t>−40 K</a:t>
            </a:r>
            <a:endParaRPr lang="en-US" sz="2800" dirty="0"/>
          </a:p>
        </p:txBody>
      </p:sp>
      <p:sp>
        <p:nvSpPr>
          <p:cNvPr id="15" name="Text 12"/>
          <p:cNvSpPr txBox="1"/>
          <p:nvPr/>
        </p:nvSpPr>
        <p:spPr>
          <a:xfrm>
            <a:off x="8595360" y="4297680"/>
            <a:ext cx="2926080" cy="914400"/>
          </a:xfrm>
          <a:prstGeom prst="rect">
            <a:avLst/>
          </a:prstGeom>
          <a:noFill/>
          <a:ln/>
        </p:spPr>
        <p:txBody>
          <a:bodyPr wrap="square" lIns="0" tIns="0" rIns="0" bIns="0" rtlCol="0" anchor="ctr"/>
          <a:lstStyle/>
          <a:p>
            <a:pPr algn="l" indent="0" marL="0">
              <a:buNone/>
            </a:pPr>
            <a:r>
              <a:rPr lang="en-US" sz="1300" dirty="0">
                <a:solidFill>
                  <a:srgbClr val="5C5E62"/>
                </a:solidFill>
                <a:latin typeface="Segoe UI" pitchFamily="34" charset="0"/>
                <a:ea typeface="Segoe UI" pitchFamily="34" charset="-122"/>
                <a:cs typeface="Segoe UI" pitchFamily="34" charset="-120"/>
              </a:rPr>
              <a:t>with higher-κ substrate or interconnect materials</a:t>
            </a:r>
            <a:endParaRPr lang="en-US" sz="1300" dirty="0"/>
          </a:p>
        </p:txBody>
      </p:sp>
      <p:sp>
        <p:nvSpPr>
          <p:cNvPr id="16"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Lever 1: replace a low-κ layer next to the heat with a high-κ one.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105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Literature review – The contact as a heat path [4]</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Kang et al., TED 2022: 3 stacked GAA nanowires, top contact vs wrap-around contact</a:t>
            </a:r>
            <a:endParaRPr lang="en-US" sz="1600" dirty="0"/>
          </a:p>
        </p:txBody>
      </p:sp>
      <p:sp>
        <p:nvSpPr>
          <p:cNvPr id="4" name="!!sdot0"/>
          <p:cNvSpPr/>
          <p:nvPr/>
        </p:nvSpPr>
        <p:spPr>
          <a:xfrm>
            <a:off x="11443716" y="525780"/>
            <a:ext cx="82296" cy="82296"/>
          </a:xfrm>
          <a:prstGeom prst="ellipse">
            <a:avLst/>
          </a:prstGeom>
          <a:solidFill>
            <a:srgbClr val="171A20"/>
          </a:solidFill>
          <a:ln/>
        </p:spPr>
      </p:sp>
      <p:sp>
        <p:nvSpPr>
          <p:cNvPr id="5" name="!!sdot1"/>
          <p:cNvSpPr/>
          <p:nvPr/>
        </p:nvSpPr>
        <p:spPr>
          <a:xfrm>
            <a:off x="11599164" y="525780"/>
            <a:ext cx="82296" cy="82296"/>
          </a:xfrm>
          <a:prstGeom prst="ellipse">
            <a:avLst/>
          </a:prstGeom>
          <a:solidFill>
            <a:srgbClr val="E2E3E3"/>
          </a:solidFill>
          <a:ln/>
        </p:spPr>
      </p:sp>
      <p:sp>
        <p:nvSpPr>
          <p:cNvPr id="6" name="!!kgILD"/>
          <p:cNvSpPr/>
          <p:nvPr/>
        </p:nvSpPr>
        <p:spPr>
          <a:xfrm>
            <a:off x="640080" y="1554480"/>
            <a:ext cx="5303520" cy="548640"/>
          </a:xfrm>
          <a:prstGeom prst="rect">
            <a:avLst/>
          </a:prstGeom>
          <a:solidFill>
            <a:srgbClr val="CDEBF5"/>
          </a:solidFill>
          <a:ln/>
        </p:spPr>
      </p:sp>
      <p:sp>
        <p:nvSpPr>
          <p:cNvPr id="7" name="!!kgILDl"/>
          <p:cNvSpPr txBox="1"/>
          <p:nvPr/>
        </p:nvSpPr>
        <p:spPr>
          <a:xfrm>
            <a:off x="640080" y="1554480"/>
            <a:ext cx="5303520" cy="548640"/>
          </a:xfrm>
          <a:prstGeom prst="rect">
            <a:avLst/>
          </a:prstGeom>
          <a:noFill/>
          <a:ln/>
        </p:spPr>
        <p:txBody>
          <a:bodyPr wrap="square" lIns="0" tIns="0" rIns="0" bIns="0" rtlCol="0" anchor="ctr"/>
          <a:lstStyle/>
          <a:p>
            <a:pPr algn="ctr" indent="0" marL="0">
              <a:buNone/>
            </a:pPr>
            <a:r>
              <a:rPr lang="en-US" sz="1100" dirty="0">
                <a:solidFill>
                  <a:srgbClr val="5C5E62"/>
                </a:solidFill>
                <a:latin typeface="Segoe UI" pitchFamily="34" charset="0"/>
                <a:ea typeface="Segoe UI" pitchFamily="34" charset="-122"/>
                <a:cs typeface="Segoe UI" pitchFamily="34" charset="-120"/>
              </a:rPr>
              <a:t>ILD (SiO₂, 1.4 W/m·K)</a:t>
            </a:r>
            <a:endParaRPr lang="en-US" sz="1100" dirty="0"/>
          </a:p>
        </p:txBody>
      </p:sp>
      <p:sp>
        <p:nvSpPr>
          <p:cNvPr id="8" name="!!kgS"/>
          <p:cNvSpPr/>
          <p:nvPr/>
        </p:nvSpPr>
        <p:spPr>
          <a:xfrm>
            <a:off x="640080" y="2103120"/>
            <a:ext cx="1463040" cy="2926080"/>
          </a:xfrm>
          <a:prstGeom prst="rect">
            <a:avLst/>
          </a:prstGeom>
          <a:solidFill>
            <a:srgbClr val="7D9BE6"/>
          </a:solidFill>
          <a:ln/>
        </p:spPr>
      </p:sp>
      <p:sp>
        <p:nvSpPr>
          <p:cNvPr id="9" name="!!kgD"/>
          <p:cNvSpPr/>
          <p:nvPr/>
        </p:nvSpPr>
        <p:spPr>
          <a:xfrm>
            <a:off x="4480560" y="2103120"/>
            <a:ext cx="1463040" cy="2926080"/>
          </a:xfrm>
          <a:prstGeom prst="rect">
            <a:avLst/>
          </a:prstGeom>
          <a:solidFill>
            <a:srgbClr val="7D9BE6"/>
          </a:solidFill>
          <a:ln/>
        </p:spPr>
      </p:sp>
      <p:sp>
        <p:nvSpPr>
          <p:cNvPr id="10" name="!!kgSl"/>
          <p:cNvSpPr txBox="1"/>
          <p:nvPr/>
        </p:nvSpPr>
        <p:spPr>
          <a:xfrm>
            <a:off x="640080" y="3291840"/>
            <a:ext cx="1463040" cy="365760"/>
          </a:xfrm>
          <a:prstGeom prst="rect">
            <a:avLst/>
          </a:prstGeom>
          <a:noFill/>
          <a:ln/>
        </p:spPr>
        <p:txBody>
          <a:bodyPr wrap="square" lIns="0" tIns="0" rIns="0" bIns="0" rtlCol="0" anchor="t"/>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S</a:t>
            </a:r>
            <a:endParaRPr lang="en-US" sz="1600" dirty="0"/>
          </a:p>
        </p:txBody>
      </p:sp>
      <p:sp>
        <p:nvSpPr>
          <p:cNvPr id="11" name="!!kgDl"/>
          <p:cNvSpPr txBox="1"/>
          <p:nvPr/>
        </p:nvSpPr>
        <p:spPr>
          <a:xfrm>
            <a:off x="4480560" y="3291840"/>
            <a:ext cx="1463040" cy="365760"/>
          </a:xfrm>
          <a:prstGeom prst="rect">
            <a:avLst/>
          </a:prstGeom>
          <a:noFill/>
          <a:ln/>
        </p:spPr>
        <p:txBody>
          <a:bodyPr wrap="square" lIns="0" tIns="0" rIns="0" bIns="0" rtlCol="0" anchor="t"/>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D</a:t>
            </a:r>
            <a:endParaRPr lang="en-US" sz="1600" dirty="0"/>
          </a:p>
        </p:txBody>
      </p:sp>
      <p:sp>
        <p:nvSpPr>
          <p:cNvPr id="12" name="!!kgG"/>
          <p:cNvSpPr/>
          <p:nvPr/>
        </p:nvSpPr>
        <p:spPr>
          <a:xfrm>
            <a:off x="2103120" y="2103120"/>
            <a:ext cx="2377440" cy="2926080"/>
          </a:xfrm>
          <a:prstGeom prst="rect">
            <a:avLst/>
          </a:prstGeom>
          <a:solidFill>
            <a:srgbClr val="B3A6E6"/>
          </a:solidFill>
          <a:ln/>
        </p:spPr>
      </p:sp>
      <p:sp>
        <p:nvSpPr>
          <p:cNvPr id="13" name="!!kgGl"/>
          <p:cNvSpPr txBox="1"/>
          <p:nvPr/>
        </p:nvSpPr>
        <p:spPr>
          <a:xfrm>
            <a:off x="2103120" y="2194560"/>
            <a:ext cx="2377440" cy="274320"/>
          </a:xfrm>
          <a:prstGeom prst="rect">
            <a:avLst/>
          </a:prstGeom>
          <a:noFill/>
          <a:ln/>
        </p:spPr>
        <p:txBody>
          <a:bodyPr wrap="square" lIns="0" tIns="0" rIns="0" bIns="0" rtlCol="0" anchor="t"/>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 (TiN)</a:t>
            </a:r>
            <a:endParaRPr lang="en-US" sz="1100" dirty="0"/>
          </a:p>
        </p:txBody>
      </p:sp>
      <p:sp>
        <p:nvSpPr>
          <p:cNvPr id="14" name="!!kgW0"/>
          <p:cNvSpPr/>
          <p:nvPr/>
        </p:nvSpPr>
        <p:spPr>
          <a:xfrm>
            <a:off x="2103120" y="2743200"/>
            <a:ext cx="2377440" cy="274320"/>
          </a:xfrm>
          <a:prstGeom prst="rect">
            <a:avLst/>
          </a:prstGeom>
          <a:solidFill>
            <a:srgbClr val="F6E7B8"/>
          </a:solidFill>
          <a:ln/>
        </p:spPr>
      </p:sp>
      <p:sp>
        <p:nvSpPr>
          <p:cNvPr id="15" name="!!kgW1"/>
          <p:cNvSpPr/>
          <p:nvPr/>
        </p:nvSpPr>
        <p:spPr>
          <a:xfrm>
            <a:off x="2103120" y="3474720"/>
            <a:ext cx="2377440" cy="274320"/>
          </a:xfrm>
          <a:prstGeom prst="rect">
            <a:avLst/>
          </a:prstGeom>
          <a:solidFill>
            <a:srgbClr val="F6E7B8"/>
          </a:solidFill>
          <a:ln/>
        </p:spPr>
      </p:sp>
      <p:sp>
        <p:nvSpPr>
          <p:cNvPr id="16" name="!!kgW2"/>
          <p:cNvSpPr/>
          <p:nvPr/>
        </p:nvSpPr>
        <p:spPr>
          <a:xfrm>
            <a:off x="2103120" y="4206240"/>
            <a:ext cx="2377440" cy="274320"/>
          </a:xfrm>
          <a:prstGeom prst="rect">
            <a:avLst/>
          </a:prstGeom>
          <a:solidFill>
            <a:srgbClr val="F6E7B8"/>
          </a:solidFill>
          <a:ln/>
        </p:spPr>
      </p:sp>
      <p:sp>
        <p:nvSpPr>
          <p:cNvPr id="17" name="!!kgGP"/>
          <p:cNvSpPr/>
          <p:nvPr/>
        </p:nvSpPr>
        <p:spPr>
          <a:xfrm>
            <a:off x="640080" y="5029200"/>
            <a:ext cx="5303520" cy="320040"/>
          </a:xfrm>
          <a:prstGeom prst="rect">
            <a:avLst/>
          </a:prstGeom>
          <a:solidFill>
            <a:srgbClr val="3E6AE1"/>
          </a:solidFill>
          <a:ln/>
        </p:spPr>
      </p:sp>
      <p:sp>
        <p:nvSpPr>
          <p:cNvPr id="18" name="!!kgGPl"/>
          <p:cNvSpPr txBox="1"/>
          <p:nvPr/>
        </p:nvSpPr>
        <p:spPr>
          <a:xfrm>
            <a:off x="640080" y="5029200"/>
            <a:ext cx="5303520" cy="320040"/>
          </a:xfrm>
          <a:prstGeom prst="rect">
            <a:avLst/>
          </a:prstGeom>
          <a:noFill/>
          <a:ln/>
        </p:spPr>
        <p:txBody>
          <a:bodyPr wrap="square" lIns="0" tIns="0" rIns="0" bIns="0" rtlCol="0" anchor="ctr"/>
          <a:lstStyle/>
          <a:p>
            <a:pPr algn="ctr" indent="0" marL="0">
              <a:buNone/>
            </a:pPr>
            <a:r>
              <a:rPr lang="en-US" sz="1000" dirty="0">
                <a:solidFill>
                  <a:srgbClr val="FFFFFF"/>
                </a:solidFill>
                <a:latin typeface="Segoe UI" pitchFamily="34" charset="0"/>
                <a:ea typeface="Segoe UI" pitchFamily="34" charset="-122"/>
                <a:cs typeface="Segoe UI" pitchFamily="34" charset="-120"/>
              </a:rPr>
              <a:t>ground plane</a:t>
            </a:r>
            <a:endParaRPr lang="en-US" sz="1000" dirty="0"/>
          </a:p>
        </p:txBody>
      </p:sp>
      <p:sp>
        <p:nvSpPr>
          <p:cNvPr id="19" name="!!kgM1"/>
          <p:cNvSpPr/>
          <p:nvPr/>
        </p:nvSpPr>
        <p:spPr>
          <a:xfrm>
            <a:off x="1051560" y="1554480"/>
            <a:ext cx="640080" cy="548640"/>
          </a:xfrm>
          <a:prstGeom prst="rect">
            <a:avLst/>
          </a:prstGeom>
          <a:solidFill>
            <a:srgbClr val="9AA0AA"/>
          </a:solidFill>
          <a:ln/>
        </p:spPr>
      </p:sp>
      <p:sp>
        <p:nvSpPr>
          <p:cNvPr id="20" name="!!kgM2"/>
          <p:cNvSpPr/>
          <p:nvPr/>
        </p:nvSpPr>
        <p:spPr>
          <a:xfrm>
            <a:off x="4892040" y="1554480"/>
            <a:ext cx="640080" cy="548640"/>
          </a:xfrm>
          <a:prstGeom prst="rect">
            <a:avLst/>
          </a:prstGeom>
          <a:solidFill>
            <a:srgbClr val="9AA0AA"/>
          </a:solidFill>
          <a:ln/>
        </p:spPr>
      </p:sp>
      <p:sp>
        <p:nvSpPr>
          <p:cNvPr id="21" name="!!kgCap"/>
          <p:cNvSpPr txBox="1"/>
          <p:nvPr/>
        </p:nvSpPr>
        <p:spPr>
          <a:xfrm>
            <a:off x="640080" y="5486400"/>
            <a:ext cx="5303520" cy="256032"/>
          </a:xfrm>
          <a:prstGeom prst="rect">
            <a:avLst/>
          </a:prstGeom>
          <a:noFill/>
          <a:ln/>
        </p:spPr>
        <p:txBody>
          <a:bodyPr wrap="square" lIns="0" tIns="0" rIns="0" bIns="0" rtlCol="0" anchor="t"/>
          <a:lstStyle/>
          <a:p>
            <a:pPr algn="ctr" indent="0" marL="0">
              <a:buNone/>
            </a:pPr>
            <a:r>
              <a:rPr lang="en-US" sz="1100" dirty="0">
                <a:solidFill>
                  <a:srgbClr val="5C5E62"/>
                </a:solidFill>
                <a:latin typeface="Segoe UI Semibold" pitchFamily="34" charset="0"/>
                <a:ea typeface="Segoe UI Semibold" pitchFamily="34" charset="-122"/>
                <a:cs typeface="Segoe UI Semibold" pitchFamily="34" charset="-120"/>
              </a:rPr>
              <a:t>W metal (grey) on top only</a:t>
            </a:r>
            <a:endParaRPr lang="en-US" sz="1100" dirty="0"/>
          </a:p>
        </p:txBody>
      </p:sp>
      <p:sp>
        <p:nvSpPr>
          <p:cNvPr id="22" name="!!kgBa0"/>
          <p:cNvSpPr/>
          <p:nvPr/>
        </p:nvSpPr>
        <p:spPr>
          <a:xfrm>
            <a:off x="6766560" y="2323186"/>
            <a:ext cx="502920" cy="2248814"/>
          </a:xfrm>
          <a:prstGeom prst="rect">
            <a:avLst/>
          </a:prstGeom>
          <a:solidFill>
            <a:srgbClr val="5C5E62"/>
          </a:solidFill>
          <a:ln/>
        </p:spPr>
      </p:sp>
      <p:sp>
        <p:nvSpPr>
          <p:cNvPr id="23" name="!!kgBav0"/>
          <p:cNvSpPr txBox="1"/>
          <p:nvPr/>
        </p:nvSpPr>
        <p:spPr>
          <a:xfrm>
            <a:off x="6537960" y="2048866"/>
            <a:ext cx="96012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5.27</a:t>
            </a:r>
            <a:endParaRPr lang="en-US" sz="1100" dirty="0"/>
          </a:p>
        </p:txBody>
      </p:sp>
      <p:sp>
        <p:nvSpPr>
          <p:cNvPr id="24" name="!!kgBb0"/>
          <p:cNvSpPr/>
          <p:nvPr/>
        </p:nvSpPr>
        <p:spPr>
          <a:xfrm>
            <a:off x="7360920" y="4572000"/>
            <a:ext cx="502920" cy="9144"/>
          </a:xfrm>
          <a:prstGeom prst="rect">
            <a:avLst/>
          </a:prstGeom>
          <a:solidFill>
            <a:srgbClr val="2E9E4F"/>
          </a:solidFill>
          <a:ln/>
        </p:spPr>
      </p:sp>
      <p:sp>
        <p:nvSpPr>
          <p:cNvPr id="25" name="!!kgBbv0"/>
          <p:cNvSpPr txBox="1"/>
          <p:nvPr/>
        </p:nvSpPr>
        <p:spPr>
          <a:xfrm>
            <a:off x="7132320" y="2236622"/>
            <a:ext cx="960120" cy="228600"/>
          </a:xfrm>
          <a:prstGeom prst="rect">
            <a:avLst/>
          </a:prstGeom>
          <a:noFill/>
          <a:ln/>
        </p:spPr>
        <p:txBody>
          <a:bodyPr wrap="square" lIns="0" tIns="0" rIns="0" bIns="0" rtlCol="0" anchor="t"/>
          <a:lstStyle/>
          <a:p>
            <a:pPr algn="ctr" indent="0" marL="0">
              <a:buNone/>
            </a:pPr>
            <a:endParaRPr lang="en-US" sz="1100" dirty="0"/>
          </a:p>
        </p:txBody>
      </p:sp>
      <p:sp>
        <p:nvSpPr>
          <p:cNvPr id="26" name="!!kgBl0"/>
          <p:cNvSpPr txBox="1"/>
          <p:nvPr/>
        </p:nvSpPr>
        <p:spPr>
          <a:xfrm>
            <a:off x="6583680" y="4645152"/>
            <a:ext cx="1508760" cy="41148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R</a:t>
            </a:r>
            <a:pPr algn="ctr" indent="0" marL="0">
              <a:buNone/>
            </a:pPr>
            <a:r>
              <a:rPr lang="en-US" sz="1000" baseline="-40000" dirty="0">
                <a:solidFill>
                  <a:srgbClr val="5C5E62"/>
                </a:solidFill>
                <a:latin typeface="Segoe UI" pitchFamily="34" charset="0"/>
                <a:ea typeface="Segoe UI" pitchFamily="34" charset="-122"/>
                <a:cs typeface="Segoe UI" pitchFamily="34" charset="-120"/>
              </a:rPr>
              <a:t>th</a:t>
            </a:r>
            <a:pPr algn="ctr" indent="0" marL="0">
              <a:buNone/>
            </a:pPr>
            <a:r>
              <a:rPr lang="en-US" sz="1000" dirty="0">
                <a:solidFill>
                  <a:srgbClr val="5C5E62"/>
                </a:solidFill>
                <a:latin typeface="Segoe UI" pitchFamily="34" charset="0"/>
                <a:ea typeface="Segoe UI" pitchFamily="34" charset="-122"/>
                <a:cs typeface="Segoe UI" pitchFamily="34" charset="-120"/>
              </a:rPr>
              <a:t> (K/µW)</a:t>
            </a:r>
            <a:endParaRPr lang="en-US" sz="1000" dirty="0"/>
          </a:p>
        </p:txBody>
      </p:sp>
      <p:sp>
        <p:nvSpPr>
          <p:cNvPr id="27" name="!!kgBa1"/>
          <p:cNvSpPr/>
          <p:nvPr/>
        </p:nvSpPr>
        <p:spPr>
          <a:xfrm>
            <a:off x="8458200" y="3291840"/>
            <a:ext cx="502920" cy="1280160"/>
          </a:xfrm>
          <a:prstGeom prst="rect">
            <a:avLst/>
          </a:prstGeom>
          <a:solidFill>
            <a:srgbClr val="5C5E62"/>
          </a:solidFill>
          <a:ln/>
        </p:spPr>
      </p:sp>
      <p:sp>
        <p:nvSpPr>
          <p:cNvPr id="28" name="!!kgBav1"/>
          <p:cNvSpPr txBox="1"/>
          <p:nvPr/>
        </p:nvSpPr>
        <p:spPr>
          <a:xfrm>
            <a:off x="8229600" y="3017520"/>
            <a:ext cx="96012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1</a:t>
            </a:r>
            <a:endParaRPr lang="en-US" sz="1100" dirty="0"/>
          </a:p>
        </p:txBody>
      </p:sp>
      <p:sp>
        <p:nvSpPr>
          <p:cNvPr id="29" name="!!kgBb1"/>
          <p:cNvSpPr/>
          <p:nvPr/>
        </p:nvSpPr>
        <p:spPr>
          <a:xfrm>
            <a:off x="9052560" y="4572000"/>
            <a:ext cx="502920" cy="9144"/>
          </a:xfrm>
          <a:prstGeom prst="rect">
            <a:avLst/>
          </a:prstGeom>
          <a:solidFill>
            <a:srgbClr val="2E9E4F"/>
          </a:solidFill>
          <a:ln/>
        </p:spPr>
      </p:sp>
      <p:sp>
        <p:nvSpPr>
          <p:cNvPr id="30" name="!!kgBbv1"/>
          <p:cNvSpPr txBox="1"/>
          <p:nvPr/>
        </p:nvSpPr>
        <p:spPr>
          <a:xfrm>
            <a:off x="8823960" y="2070202"/>
            <a:ext cx="960120" cy="228600"/>
          </a:xfrm>
          <a:prstGeom prst="rect">
            <a:avLst/>
          </a:prstGeom>
          <a:noFill/>
          <a:ln/>
        </p:spPr>
        <p:txBody>
          <a:bodyPr wrap="square" lIns="0" tIns="0" rIns="0" bIns="0" rtlCol="0" anchor="t"/>
          <a:lstStyle/>
          <a:p>
            <a:pPr algn="ctr" indent="0" marL="0">
              <a:buNone/>
            </a:pPr>
            <a:endParaRPr lang="en-US" sz="1100" dirty="0"/>
          </a:p>
        </p:txBody>
      </p:sp>
      <p:sp>
        <p:nvSpPr>
          <p:cNvPr id="31" name="!!kgBl1"/>
          <p:cNvSpPr txBox="1"/>
          <p:nvPr/>
        </p:nvSpPr>
        <p:spPr>
          <a:xfrm>
            <a:off x="8275320" y="4645152"/>
            <a:ext cx="1508760" cy="41148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I</a:t>
            </a:r>
            <a:pPr algn="ctr" indent="0" marL="0">
              <a:buNone/>
            </a:pPr>
            <a:r>
              <a:rPr lang="en-US" sz="1000" baseline="-40000" dirty="0">
                <a:solidFill>
                  <a:srgbClr val="5C5E62"/>
                </a:solidFill>
                <a:latin typeface="Segoe UI" pitchFamily="34" charset="0"/>
                <a:ea typeface="Segoe UI" pitchFamily="34" charset="-122"/>
                <a:cs typeface="Segoe UI" pitchFamily="34" charset="-120"/>
              </a:rPr>
              <a:t>on</a:t>
            </a:r>
            <a:pPr algn="ctr" indent="0" marL="0">
              <a:buNone/>
            </a:pPr>
            <a:r>
              <a:rPr lang="en-US" sz="1000" dirty="0">
                <a:solidFill>
                  <a:srgbClr val="5C5E62"/>
                </a:solidFill>
                <a:latin typeface="Segoe UI" pitchFamily="34" charset="0"/>
                <a:ea typeface="Segoe UI" pitchFamily="34" charset="-122"/>
                <a:cs typeface="Segoe UI" pitchFamily="34" charset="-120"/>
              </a:rPr>
              <a:t> (× TC)</a:t>
            </a:r>
            <a:endParaRPr lang="en-US" sz="1000" dirty="0"/>
          </a:p>
        </p:txBody>
      </p:sp>
      <p:sp>
        <p:nvSpPr>
          <p:cNvPr id="32" name="!!kgBa2"/>
          <p:cNvSpPr/>
          <p:nvPr/>
        </p:nvSpPr>
        <p:spPr>
          <a:xfrm>
            <a:off x="10149840" y="4403320"/>
            <a:ext cx="502920" cy="168680"/>
          </a:xfrm>
          <a:prstGeom prst="rect">
            <a:avLst/>
          </a:prstGeom>
          <a:solidFill>
            <a:srgbClr val="5C5E62"/>
          </a:solidFill>
          <a:ln/>
        </p:spPr>
      </p:sp>
      <p:sp>
        <p:nvSpPr>
          <p:cNvPr id="33" name="!!kgBav2"/>
          <p:cNvSpPr txBox="1"/>
          <p:nvPr/>
        </p:nvSpPr>
        <p:spPr>
          <a:xfrm>
            <a:off x="9921240" y="4129000"/>
            <a:ext cx="96012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112</a:t>
            </a:r>
            <a:endParaRPr lang="en-US" sz="1100" dirty="0"/>
          </a:p>
        </p:txBody>
      </p:sp>
      <p:sp>
        <p:nvSpPr>
          <p:cNvPr id="34" name="!!kgBb2"/>
          <p:cNvSpPr/>
          <p:nvPr/>
        </p:nvSpPr>
        <p:spPr>
          <a:xfrm>
            <a:off x="10744200" y="4572000"/>
            <a:ext cx="502920" cy="9144"/>
          </a:xfrm>
          <a:prstGeom prst="rect">
            <a:avLst/>
          </a:prstGeom>
          <a:solidFill>
            <a:srgbClr val="2E9E4F"/>
          </a:solidFill>
          <a:ln/>
        </p:spPr>
      </p:sp>
      <p:sp>
        <p:nvSpPr>
          <p:cNvPr id="35" name="!!kgBbv2"/>
          <p:cNvSpPr txBox="1"/>
          <p:nvPr/>
        </p:nvSpPr>
        <p:spPr>
          <a:xfrm>
            <a:off x="10515600" y="1919595"/>
            <a:ext cx="960120" cy="228600"/>
          </a:xfrm>
          <a:prstGeom prst="rect">
            <a:avLst/>
          </a:prstGeom>
          <a:noFill/>
          <a:ln/>
        </p:spPr>
        <p:txBody>
          <a:bodyPr wrap="square" lIns="0" tIns="0" rIns="0" bIns="0" rtlCol="0" anchor="t"/>
          <a:lstStyle/>
          <a:p>
            <a:pPr algn="ctr" indent="0" marL="0">
              <a:buNone/>
            </a:pPr>
            <a:endParaRPr lang="en-US" sz="1100" dirty="0"/>
          </a:p>
        </p:txBody>
      </p:sp>
      <p:sp>
        <p:nvSpPr>
          <p:cNvPr id="36" name="!!kgBl2"/>
          <p:cNvSpPr txBox="1"/>
          <p:nvPr/>
        </p:nvSpPr>
        <p:spPr>
          <a:xfrm>
            <a:off x="9966960" y="4645152"/>
            <a:ext cx="1508760" cy="41148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contact area (nm²)</a:t>
            </a:r>
            <a:endParaRPr lang="en-US" sz="1000" dirty="0"/>
          </a:p>
        </p:txBody>
      </p:sp>
      <p:sp>
        <p:nvSpPr>
          <p:cNvPr id="37" name="!!kgLg1"/>
          <p:cNvSpPr/>
          <p:nvPr/>
        </p:nvSpPr>
        <p:spPr>
          <a:xfrm>
            <a:off x="6766560" y="1600200"/>
            <a:ext cx="182880" cy="182880"/>
          </a:xfrm>
          <a:prstGeom prst="rect">
            <a:avLst/>
          </a:prstGeom>
          <a:solidFill>
            <a:srgbClr val="5C5E62"/>
          </a:solidFill>
          <a:ln/>
        </p:spPr>
      </p:sp>
      <p:sp>
        <p:nvSpPr>
          <p:cNvPr id="38" name="!!kgLg1t"/>
          <p:cNvSpPr txBox="1"/>
          <p:nvPr/>
        </p:nvSpPr>
        <p:spPr>
          <a:xfrm>
            <a:off x="6995160" y="1554480"/>
            <a:ext cx="548640" cy="274320"/>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TC</a:t>
            </a:r>
            <a:endParaRPr lang="en-US" sz="1100" dirty="0"/>
          </a:p>
        </p:txBody>
      </p:sp>
      <p:sp>
        <p:nvSpPr>
          <p:cNvPr id="39" name="!!kgLg2"/>
          <p:cNvSpPr/>
          <p:nvPr/>
        </p:nvSpPr>
        <p:spPr>
          <a:xfrm>
            <a:off x="7680960" y="1600200"/>
            <a:ext cx="182880" cy="182880"/>
          </a:xfrm>
          <a:prstGeom prst="rect">
            <a:avLst/>
          </a:prstGeom>
          <a:solidFill>
            <a:srgbClr val="2E9E4F"/>
          </a:solidFill>
          <a:ln/>
        </p:spPr>
      </p:sp>
      <p:sp>
        <p:nvSpPr>
          <p:cNvPr id="40" name="!!kgLg2t"/>
          <p:cNvSpPr txBox="1"/>
          <p:nvPr/>
        </p:nvSpPr>
        <p:spPr>
          <a:xfrm>
            <a:off x="7909560" y="1554480"/>
            <a:ext cx="731520" cy="274320"/>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WAC</a:t>
            </a:r>
            <a:endParaRPr lang="en-US" sz="1100" dirty="0"/>
          </a:p>
        </p:txBody>
      </p:sp>
      <p:sp>
        <p:nvSpPr>
          <p:cNvPr id="41" name="!!kgNote"/>
          <p:cNvSpPr txBox="1"/>
          <p:nvPr/>
        </p:nvSpPr>
        <p:spPr>
          <a:xfrm>
            <a:off x="6766560" y="5166360"/>
            <a:ext cx="4846320" cy="4572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R</a:t>
            </a:r>
            <a:pPr algn="l" indent="0" marL="0">
              <a:buNone/>
            </a:pPr>
            <a:r>
              <a:rPr lang="en-US" sz="1100" baseline="-40000" dirty="0">
                <a:solidFill>
                  <a:srgbClr val="5C5E62"/>
                </a:solidFill>
                <a:latin typeface="Segoe UI" pitchFamily="34" charset="0"/>
                <a:ea typeface="Segoe UI" pitchFamily="34" charset="-122"/>
                <a:cs typeface="Segoe UI" pitchFamily="34" charset="-120"/>
              </a:rPr>
              <a:t>th</a:t>
            </a:r>
            <a:pPr algn="l" indent="0" marL="0">
              <a:buNone/>
            </a:pPr>
            <a:r>
              <a:rPr lang="en-US" sz="1100" dirty="0">
                <a:solidFill>
                  <a:srgbClr val="5C5E62"/>
                </a:solidFill>
                <a:latin typeface="Segoe UI" pitchFamily="34" charset="0"/>
                <a:ea typeface="Segoe UI" pitchFamily="34" charset="-122"/>
                <a:cs typeface="Segoe UI" pitchFamily="34" charset="-120"/>
              </a:rPr>
              <a:t> = (T</a:t>
            </a:r>
            <a:pPr algn="l" indent="0" marL="0">
              <a:buNone/>
            </a:pPr>
            <a:r>
              <a:rPr lang="en-US" sz="1100" baseline="-40000" dirty="0">
                <a:solidFill>
                  <a:srgbClr val="5C5E62"/>
                </a:solidFill>
                <a:latin typeface="Segoe UI" pitchFamily="34" charset="0"/>
                <a:ea typeface="Segoe UI" pitchFamily="34" charset="-122"/>
                <a:cs typeface="Segoe UI" pitchFamily="34" charset="-120"/>
              </a:rPr>
              <a:t>max</a:t>
            </a:r>
            <a:pPr algn="l" indent="0" marL="0">
              <a:buNone/>
            </a:pPr>
            <a:r>
              <a:rPr lang="en-US" sz="1100" dirty="0">
                <a:solidFill>
                  <a:srgbClr val="5C5E62"/>
                </a:solidFill>
                <a:latin typeface="Segoe UI" pitchFamily="34" charset="0"/>
                <a:ea typeface="Segoe UI" pitchFamily="34" charset="-122"/>
                <a:cs typeface="Segoe UI" pitchFamily="34" charset="-120"/>
              </a:rPr>
              <a:t> − T</a:t>
            </a:r>
            <a:pPr algn="l" indent="0" marL="0">
              <a:buNone/>
            </a:pPr>
            <a:r>
              <a:rPr lang="en-US" sz="1100" baseline="-40000" dirty="0">
                <a:solidFill>
                  <a:srgbClr val="5C5E62"/>
                </a:solidFill>
                <a:latin typeface="Segoe UI" pitchFamily="34" charset="0"/>
                <a:ea typeface="Segoe UI" pitchFamily="34" charset="-122"/>
                <a:cs typeface="Segoe UI" pitchFamily="34" charset="-120"/>
              </a:rPr>
              <a:t>min</a:t>
            </a:r>
            <a:pPr algn="l" indent="0" marL="0">
              <a:buNone/>
            </a:pPr>
            <a:r>
              <a:rPr lang="en-US" sz="1100" dirty="0">
                <a:solidFill>
                  <a:srgbClr val="5C5E62"/>
                </a:solidFill>
                <a:latin typeface="Segoe UI" pitchFamily="34" charset="0"/>
                <a:ea typeface="Segoe UI" pitchFamily="34" charset="-122"/>
                <a:cs typeface="Segoe UI" pitchFamily="34" charset="-120"/>
              </a:rPr>
              <a:t>) / total heat: the same slope method as our ΔT–P line</a:t>
            </a:r>
            <a:endParaRPr lang="en-US" sz="1100" dirty="0"/>
          </a:p>
        </p:txBody>
      </p:sp>
      <p:sp>
        <p:nvSpPr>
          <p:cNvPr id="42"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Top contact: heat and current must travel up the source and drain to a small metal pad.</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106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Literature review – The contact as a heat path [4]</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Kang et al., TED 2022: 3 stacked GAA nanowires, top contact vs wrap-around contact</a:t>
            </a:r>
            <a:endParaRPr lang="en-US" sz="1600" dirty="0"/>
          </a:p>
        </p:txBody>
      </p:sp>
      <p:sp>
        <p:nvSpPr>
          <p:cNvPr id="4" name="!!sdot0"/>
          <p:cNvSpPr/>
          <p:nvPr/>
        </p:nvSpPr>
        <p:spPr>
          <a:xfrm>
            <a:off x="11443716" y="525780"/>
            <a:ext cx="82296" cy="82296"/>
          </a:xfrm>
          <a:prstGeom prst="ellipse">
            <a:avLst/>
          </a:prstGeom>
          <a:solidFill>
            <a:srgbClr val="171A20"/>
          </a:solidFill>
          <a:ln/>
        </p:spPr>
      </p:sp>
      <p:sp>
        <p:nvSpPr>
          <p:cNvPr id="5" name="!!sdot1"/>
          <p:cNvSpPr/>
          <p:nvPr/>
        </p:nvSpPr>
        <p:spPr>
          <a:xfrm>
            <a:off x="11599164" y="525780"/>
            <a:ext cx="82296" cy="82296"/>
          </a:xfrm>
          <a:prstGeom prst="ellipse">
            <a:avLst/>
          </a:prstGeom>
          <a:solidFill>
            <a:srgbClr val="171A20"/>
          </a:solidFill>
          <a:ln/>
        </p:spPr>
      </p:sp>
      <p:sp>
        <p:nvSpPr>
          <p:cNvPr id="6" name="!!kgILD"/>
          <p:cNvSpPr/>
          <p:nvPr/>
        </p:nvSpPr>
        <p:spPr>
          <a:xfrm>
            <a:off x="640080" y="1554480"/>
            <a:ext cx="5303520" cy="548640"/>
          </a:xfrm>
          <a:prstGeom prst="rect">
            <a:avLst/>
          </a:prstGeom>
          <a:solidFill>
            <a:srgbClr val="CDEBF5"/>
          </a:solidFill>
          <a:ln/>
        </p:spPr>
      </p:sp>
      <p:sp>
        <p:nvSpPr>
          <p:cNvPr id="7" name="!!kgILDl"/>
          <p:cNvSpPr txBox="1"/>
          <p:nvPr/>
        </p:nvSpPr>
        <p:spPr>
          <a:xfrm>
            <a:off x="640080" y="1554480"/>
            <a:ext cx="5303520" cy="548640"/>
          </a:xfrm>
          <a:prstGeom prst="rect">
            <a:avLst/>
          </a:prstGeom>
          <a:noFill/>
          <a:ln/>
        </p:spPr>
        <p:txBody>
          <a:bodyPr wrap="square" lIns="0" tIns="0" rIns="0" bIns="0" rtlCol="0" anchor="ctr"/>
          <a:lstStyle/>
          <a:p>
            <a:pPr algn="ctr" indent="0" marL="0">
              <a:buNone/>
            </a:pPr>
            <a:r>
              <a:rPr lang="en-US" sz="1100" dirty="0">
                <a:solidFill>
                  <a:srgbClr val="5C5E62"/>
                </a:solidFill>
                <a:latin typeface="Segoe UI" pitchFamily="34" charset="0"/>
                <a:ea typeface="Segoe UI" pitchFamily="34" charset="-122"/>
                <a:cs typeface="Segoe UI" pitchFamily="34" charset="-120"/>
              </a:rPr>
              <a:t>ILD (SiO₂, 1.4 W/m·K)</a:t>
            </a:r>
            <a:endParaRPr lang="en-US" sz="1100" dirty="0"/>
          </a:p>
        </p:txBody>
      </p:sp>
      <p:sp>
        <p:nvSpPr>
          <p:cNvPr id="8" name="!!kgS"/>
          <p:cNvSpPr/>
          <p:nvPr/>
        </p:nvSpPr>
        <p:spPr>
          <a:xfrm>
            <a:off x="640080" y="2103120"/>
            <a:ext cx="1463040" cy="2926080"/>
          </a:xfrm>
          <a:prstGeom prst="rect">
            <a:avLst/>
          </a:prstGeom>
          <a:solidFill>
            <a:srgbClr val="7D9BE6"/>
          </a:solidFill>
          <a:ln/>
        </p:spPr>
      </p:sp>
      <p:sp>
        <p:nvSpPr>
          <p:cNvPr id="9" name="!!kgD"/>
          <p:cNvSpPr/>
          <p:nvPr/>
        </p:nvSpPr>
        <p:spPr>
          <a:xfrm>
            <a:off x="4480560" y="2103120"/>
            <a:ext cx="1463040" cy="2926080"/>
          </a:xfrm>
          <a:prstGeom prst="rect">
            <a:avLst/>
          </a:prstGeom>
          <a:solidFill>
            <a:srgbClr val="7D9BE6"/>
          </a:solidFill>
          <a:ln/>
        </p:spPr>
      </p:sp>
      <p:sp>
        <p:nvSpPr>
          <p:cNvPr id="10" name="!!kgSl"/>
          <p:cNvSpPr txBox="1"/>
          <p:nvPr/>
        </p:nvSpPr>
        <p:spPr>
          <a:xfrm>
            <a:off x="640080" y="3291840"/>
            <a:ext cx="1463040" cy="365760"/>
          </a:xfrm>
          <a:prstGeom prst="rect">
            <a:avLst/>
          </a:prstGeom>
          <a:noFill/>
          <a:ln/>
        </p:spPr>
        <p:txBody>
          <a:bodyPr wrap="square" lIns="0" tIns="0" rIns="0" bIns="0" rtlCol="0" anchor="t"/>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S</a:t>
            </a:r>
            <a:endParaRPr lang="en-US" sz="1600" dirty="0"/>
          </a:p>
        </p:txBody>
      </p:sp>
      <p:sp>
        <p:nvSpPr>
          <p:cNvPr id="11" name="!!kgDl"/>
          <p:cNvSpPr txBox="1"/>
          <p:nvPr/>
        </p:nvSpPr>
        <p:spPr>
          <a:xfrm>
            <a:off x="4480560" y="3291840"/>
            <a:ext cx="1463040" cy="365760"/>
          </a:xfrm>
          <a:prstGeom prst="rect">
            <a:avLst/>
          </a:prstGeom>
          <a:noFill/>
          <a:ln/>
        </p:spPr>
        <p:txBody>
          <a:bodyPr wrap="square" lIns="0" tIns="0" rIns="0" bIns="0" rtlCol="0" anchor="t"/>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D</a:t>
            </a:r>
            <a:endParaRPr lang="en-US" sz="1600" dirty="0"/>
          </a:p>
        </p:txBody>
      </p:sp>
      <p:sp>
        <p:nvSpPr>
          <p:cNvPr id="12" name="!!kgG"/>
          <p:cNvSpPr/>
          <p:nvPr/>
        </p:nvSpPr>
        <p:spPr>
          <a:xfrm>
            <a:off x="2103120" y="2103120"/>
            <a:ext cx="2377440" cy="2926080"/>
          </a:xfrm>
          <a:prstGeom prst="rect">
            <a:avLst/>
          </a:prstGeom>
          <a:solidFill>
            <a:srgbClr val="B3A6E6"/>
          </a:solidFill>
          <a:ln/>
        </p:spPr>
      </p:sp>
      <p:sp>
        <p:nvSpPr>
          <p:cNvPr id="13" name="!!kgGl"/>
          <p:cNvSpPr txBox="1"/>
          <p:nvPr/>
        </p:nvSpPr>
        <p:spPr>
          <a:xfrm>
            <a:off x="2103120" y="2194560"/>
            <a:ext cx="2377440" cy="274320"/>
          </a:xfrm>
          <a:prstGeom prst="rect">
            <a:avLst/>
          </a:prstGeom>
          <a:noFill/>
          <a:ln/>
        </p:spPr>
        <p:txBody>
          <a:bodyPr wrap="square" lIns="0" tIns="0" rIns="0" bIns="0" rtlCol="0" anchor="t"/>
          <a:lstStyle/>
          <a:p>
            <a:pPr algn="ctr" indent="0" marL="0">
              <a:buNone/>
            </a:pPr>
            <a:r>
              <a:rPr lang="en-US" sz="1100" dirty="0">
                <a:solidFill>
                  <a:srgbClr val="3D2F7A"/>
                </a:solidFill>
                <a:latin typeface="Segoe UI Semibold" pitchFamily="34" charset="0"/>
                <a:ea typeface="Segoe UI Semibold" pitchFamily="34" charset="-122"/>
                <a:cs typeface="Segoe UI Semibold" pitchFamily="34" charset="-120"/>
              </a:rPr>
              <a:t>gate (TiN)</a:t>
            </a:r>
            <a:endParaRPr lang="en-US" sz="1100" dirty="0"/>
          </a:p>
        </p:txBody>
      </p:sp>
      <p:sp>
        <p:nvSpPr>
          <p:cNvPr id="14" name="!!kgW0"/>
          <p:cNvSpPr/>
          <p:nvPr/>
        </p:nvSpPr>
        <p:spPr>
          <a:xfrm>
            <a:off x="2103120" y="2743200"/>
            <a:ext cx="2377440" cy="274320"/>
          </a:xfrm>
          <a:prstGeom prst="rect">
            <a:avLst/>
          </a:prstGeom>
          <a:solidFill>
            <a:srgbClr val="F6E7B8"/>
          </a:solidFill>
          <a:ln/>
        </p:spPr>
      </p:sp>
      <p:sp>
        <p:nvSpPr>
          <p:cNvPr id="15" name="!!kgW1"/>
          <p:cNvSpPr/>
          <p:nvPr/>
        </p:nvSpPr>
        <p:spPr>
          <a:xfrm>
            <a:off x="2103120" y="3474720"/>
            <a:ext cx="2377440" cy="274320"/>
          </a:xfrm>
          <a:prstGeom prst="rect">
            <a:avLst/>
          </a:prstGeom>
          <a:solidFill>
            <a:srgbClr val="F6E7B8"/>
          </a:solidFill>
          <a:ln/>
        </p:spPr>
      </p:sp>
      <p:sp>
        <p:nvSpPr>
          <p:cNvPr id="16" name="!!kgW2"/>
          <p:cNvSpPr/>
          <p:nvPr/>
        </p:nvSpPr>
        <p:spPr>
          <a:xfrm>
            <a:off x="2103120" y="4206240"/>
            <a:ext cx="2377440" cy="274320"/>
          </a:xfrm>
          <a:prstGeom prst="rect">
            <a:avLst/>
          </a:prstGeom>
          <a:solidFill>
            <a:srgbClr val="F6E7B8"/>
          </a:solidFill>
          <a:ln/>
        </p:spPr>
      </p:sp>
      <p:sp>
        <p:nvSpPr>
          <p:cNvPr id="17" name="!!kgGP"/>
          <p:cNvSpPr/>
          <p:nvPr/>
        </p:nvSpPr>
        <p:spPr>
          <a:xfrm>
            <a:off x="640080" y="5029200"/>
            <a:ext cx="5303520" cy="320040"/>
          </a:xfrm>
          <a:prstGeom prst="rect">
            <a:avLst/>
          </a:prstGeom>
          <a:solidFill>
            <a:srgbClr val="3E6AE1"/>
          </a:solidFill>
          <a:ln/>
        </p:spPr>
      </p:sp>
      <p:sp>
        <p:nvSpPr>
          <p:cNvPr id="18" name="!!kgGPl"/>
          <p:cNvSpPr txBox="1"/>
          <p:nvPr/>
        </p:nvSpPr>
        <p:spPr>
          <a:xfrm>
            <a:off x="640080" y="5029200"/>
            <a:ext cx="5303520" cy="320040"/>
          </a:xfrm>
          <a:prstGeom prst="rect">
            <a:avLst/>
          </a:prstGeom>
          <a:noFill/>
          <a:ln/>
        </p:spPr>
        <p:txBody>
          <a:bodyPr wrap="square" lIns="0" tIns="0" rIns="0" bIns="0" rtlCol="0" anchor="ctr"/>
          <a:lstStyle/>
          <a:p>
            <a:pPr algn="ctr" indent="0" marL="0">
              <a:buNone/>
            </a:pPr>
            <a:r>
              <a:rPr lang="en-US" sz="1000" dirty="0">
                <a:solidFill>
                  <a:srgbClr val="FFFFFF"/>
                </a:solidFill>
                <a:latin typeface="Segoe UI" pitchFamily="34" charset="0"/>
                <a:ea typeface="Segoe UI" pitchFamily="34" charset="-122"/>
                <a:cs typeface="Segoe UI" pitchFamily="34" charset="-120"/>
              </a:rPr>
              <a:t>ground plane</a:t>
            </a:r>
            <a:endParaRPr lang="en-US" sz="1000" dirty="0"/>
          </a:p>
        </p:txBody>
      </p:sp>
      <p:sp>
        <p:nvSpPr>
          <p:cNvPr id="19" name="!!kgM1"/>
          <p:cNvSpPr/>
          <p:nvPr/>
        </p:nvSpPr>
        <p:spPr>
          <a:xfrm>
            <a:off x="640080" y="1554480"/>
            <a:ext cx="1463040" cy="3474720"/>
          </a:xfrm>
          <a:prstGeom prst="rect">
            <a:avLst/>
          </a:prstGeom>
          <a:solidFill>
            <a:srgbClr val="9AA0AA">
              <a:alpha val="65000"/>
            </a:srgbClr>
          </a:solidFill>
          <a:ln/>
        </p:spPr>
      </p:sp>
      <p:sp>
        <p:nvSpPr>
          <p:cNvPr id="20" name="!!kgM2"/>
          <p:cNvSpPr/>
          <p:nvPr/>
        </p:nvSpPr>
        <p:spPr>
          <a:xfrm>
            <a:off x="4480560" y="1554480"/>
            <a:ext cx="1463040" cy="3474720"/>
          </a:xfrm>
          <a:prstGeom prst="rect">
            <a:avLst/>
          </a:prstGeom>
          <a:solidFill>
            <a:srgbClr val="9AA0AA">
              <a:alpha val="65000"/>
            </a:srgbClr>
          </a:solidFill>
          <a:ln/>
        </p:spPr>
      </p:sp>
      <p:sp>
        <p:nvSpPr>
          <p:cNvPr id="21" name="!!kgCap"/>
          <p:cNvSpPr txBox="1"/>
          <p:nvPr/>
        </p:nvSpPr>
        <p:spPr>
          <a:xfrm>
            <a:off x="640080" y="5486400"/>
            <a:ext cx="5303520" cy="256032"/>
          </a:xfrm>
          <a:prstGeom prst="rect">
            <a:avLst/>
          </a:prstGeom>
          <a:noFill/>
          <a:ln/>
        </p:spPr>
        <p:txBody>
          <a:bodyPr wrap="square" lIns="0" tIns="0" rIns="0" bIns="0" rtlCol="0" anchor="t"/>
          <a:lstStyle/>
          <a:p>
            <a:pPr algn="ctr" indent="0" marL="0">
              <a:buNone/>
            </a:pPr>
            <a:r>
              <a:rPr lang="en-US" sz="1100" dirty="0">
                <a:solidFill>
                  <a:srgbClr val="5C5E62"/>
                </a:solidFill>
                <a:latin typeface="Segoe UI Semibold" pitchFamily="34" charset="0"/>
                <a:ea typeface="Segoe UI Semibold" pitchFamily="34" charset="-122"/>
                <a:cs typeface="Segoe UI Semibold" pitchFamily="34" charset="-120"/>
              </a:rPr>
              <a:t>W metal (grey) wraps S and D</a:t>
            </a:r>
            <a:endParaRPr lang="en-US" sz="1100" dirty="0"/>
          </a:p>
        </p:txBody>
      </p:sp>
      <p:sp>
        <p:nvSpPr>
          <p:cNvPr id="22" name="!!kgBa0"/>
          <p:cNvSpPr/>
          <p:nvPr/>
        </p:nvSpPr>
        <p:spPr>
          <a:xfrm>
            <a:off x="6766560" y="2323186"/>
            <a:ext cx="502920" cy="2248814"/>
          </a:xfrm>
          <a:prstGeom prst="rect">
            <a:avLst/>
          </a:prstGeom>
          <a:solidFill>
            <a:srgbClr val="5C5E62"/>
          </a:solidFill>
          <a:ln/>
        </p:spPr>
      </p:sp>
      <p:sp>
        <p:nvSpPr>
          <p:cNvPr id="23" name="!!kgBav0"/>
          <p:cNvSpPr txBox="1"/>
          <p:nvPr/>
        </p:nvSpPr>
        <p:spPr>
          <a:xfrm>
            <a:off x="6537960" y="2048866"/>
            <a:ext cx="96012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5.27</a:t>
            </a:r>
            <a:endParaRPr lang="en-US" sz="1100" dirty="0"/>
          </a:p>
        </p:txBody>
      </p:sp>
      <p:sp>
        <p:nvSpPr>
          <p:cNvPr id="24" name="!!kgBb0"/>
          <p:cNvSpPr/>
          <p:nvPr/>
        </p:nvSpPr>
        <p:spPr>
          <a:xfrm>
            <a:off x="7360920" y="2510942"/>
            <a:ext cx="502920" cy="2061058"/>
          </a:xfrm>
          <a:prstGeom prst="rect">
            <a:avLst/>
          </a:prstGeom>
          <a:solidFill>
            <a:srgbClr val="2E9E4F"/>
          </a:solidFill>
          <a:ln/>
        </p:spPr>
      </p:sp>
      <p:sp>
        <p:nvSpPr>
          <p:cNvPr id="25" name="!!kgBbv0"/>
          <p:cNvSpPr txBox="1"/>
          <p:nvPr/>
        </p:nvSpPr>
        <p:spPr>
          <a:xfrm>
            <a:off x="7132320" y="2236622"/>
            <a:ext cx="960120" cy="228600"/>
          </a:xfrm>
          <a:prstGeom prst="rect">
            <a:avLst/>
          </a:prstGeom>
          <a:noFill/>
          <a:ln/>
        </p:spPr>
        <p:txBody>
          <a:bodyPr wrap="square" lIns="0" tIns="0" rIns="0" bIns="0" rtlCol="0" anchor="t"/>
          <a:lstStyle/>
          <a:p>
            <a:pPr algn="ctr" indent="0" marL="0">
              <a:buNone/>
            </a:pPr>
            <a:r>
              <a:rPr lang="en-US" sz="1100" dirty="0">
                <a:solidFill>
                  <a:srgbClr val="2E9E4F"/>
                </a:solidFill>
                <a:latin typeface="Segoe UI Semibold" pitchFamily="34" charset="0"/>
                <a:ea typeface="Segoe UI Semibold" pitchFamily="34" charset="-122"/>
                <a:cs typeface="Segoe UI Semibold" pitchFamily="34" charset="-120"/>
              </a:rPr>
              <a:t>4.83</a:t>
            </a:r>
            <a:endParaRPr lang="en-US" sz="1100" dirty="0"/>
          </a:p>
        </p:txBody>
      </p:sp>
      <p:sp>
        <p:nvSpPr>
          <p:cNvPr id="26" name="!!kgBl0"/>
          <p:cNvSpPr txBox="1"/>
          <p:nvPr/>
        </p:nvSpPr>
        <p:spPr>
          <a:xfrm>
            <a:off x="6583680" y="4645152"/>
            <a:ext cx="1508760" cy="41148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R</a:t>
            </a:r>
            <a:pPr algn="ctr" indent="0" marL="0">
              <a:buNone/>
            </a:pPr>
            <a:r>
              <a:rPr lang="en-US" sz="1000" baseline="-40000" dirty="0">
                <a:solidFill>
                  <a:srgbClr val="5C5E62"/>
                </a:solidFill>
                <a:latin typeface="Segoe UI" pitchFamily="34" charset="0"/>
                <a:ea typeface="Segoe UI" pitchFamily="34" charset="-122"/>
                <a:cs typeface="Segoe UI" pitchFamily="34" charset="-120"/>
              </a:rPr>
              <a:t>th</a:t>
            </a:r>
            <a:pPr algn="ctr" indent="0" marL="0">
              <a:buNone/>
            </a:pPr>
            <a:r>
              <a:rPr lang="en-US" sz="1000" dirty="0">
                <a:solidFill>
                  <a:srgbClr val="5C5E62"/>
                </a:solidFill>
                <a:latin typeface="Segoe UI" pitchFamily="34" charset="0"/>
                <a:ea typeface="Segoe UI" pitchFamily="34" charset="-122"/>
                <a:cs typeface="Segoe UI" pitchFamily="34" charset="-120"/>
              </a:rPr>
              <a:t> (K/µW)</a:t>
            </a:r>
            <a:endParaRPr lang="en-US" sz="1000" dirty="0"/>
          </a:p>
        </p:txBody>
      </p:sp>
      <p:sp>
        <p:nvSpPr>
          <p:cNvPr id="27" name="!!kgBa1"/>
          <p:cNvSpPr/>
          <p:nvPr/>
        </p:nvSpPr>
        <p:spPr>
          <a:xfrm>
            <a:off x="8458200" y="3291840"/>
            <a:ext cx="502920" cy="1280160"/>
          </a:xfrm>
          <a:prstGeom prst="rect">
            <a:avLst/>
          </a:prstGeom>
          <a:solidFill>
            <a:srgbClr val="5C5E62"/>
          </a:solidFill>
          <a:ln/>
        </p:spPr>
      </p:sp>
      <p:sp>
        <p:nvSpPr>
          <p:cNvPr id="28" name="!!kgBav1"/>
          <p:cNvSpPr txBox="1"/>
          <p:nvPr/>
        </p:nvSpPr>
        <p:spPr>
          <a:xfrm>
            <a:off x="8229600" y="3017520"/>
            <a:ext cx="96012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1</a:t>
            </a:r>
            <a:endParaRPr lang="en-US" sz="1100" dirty="0"/>
          </a:p>
        </p:txBody>
      </p:sp>
      <p:sp>
        <p:nvSpPr>
          <p:cNvPr id="29" name="!!kgBb1"/>
          <p:cNvSpPr/>
          <p:nvPr/>
        </p:nvSpPr>
        <p:spPr>
          <a:xfrm>
            <a:off x="9052560" y="2344522"/>
            <a:ext cx="502920" cy="2227478"/>
          </a:xfrm>
          <a:prstGeom prst="rect">
            <a:avLst/>
          </a:prstGeom>
          <a:solidFill>
            <a:srgbClr val="2E9E4F"/>
          </a:solidFill>
          <a:ln/>
        </p:spPr>
      </p:sp>
      <p:sp>
        <p:nvSpPr>
          <p:cNvPr id="30" name="!!kgBbv1"/>
          <p:cNvSpPr txBox="1"/>
          <p:nvPr/>
        </p:nvSpPr>
        <p:spPr>
          <a:xfrm>
            <a:off x="8823960" y="2070202"/>
            <a:ext cx="960120" cy="228600"/>
          </a:xfrm>
          <a:prstGeom prst="rect">
            <a:avLst/>
          </a:prstGeom>
          <a:noFill/>
          <a:ln/>
        </p:spPr>
        <p:txBody>
          <a:bodyPr wrap="square" lIns="0" tIns="0" rIns="0" bIns="0" rtlCol="0" anchor="t"/>
          <a:lstStyle/>
          <a:p>
            <a:pPr algn="ctr" indent="0" marL="0">
              <a:buNone/>
            </a:pPr>
            <a:r>
              <a:rPr lang="en-US" sz="1100" dirty="0">
                <a:solidFill>
                  <a:srgbClr val="2E9E4F"/>
                </a:solidFill>
                <a:latin typeface="Segoe UI Semibold" pitchFamily="34" charset="0"/>
                <a:ea typeface="Segoe UI Semibold" pitchFamily="34" charset="-122"/>
                <a:cs typeface="Segoe UI Semibold" pitchFamily="34" charset="-120"/>
              </a:rPr>
              <a:t>1.74</a:t>
            </a:r>
            <a:endParaRPr lang="en-US" sz="1100" dirty="0"/>
          </a:p>
        </p:txBody>
      </p:sp>
      <p:sp>
        <p:nvSpPr>
          <p:cNvPr id="31" name="!!kgBl1"/>
          <p:cNvSpPr txBox="1"/>
          <p:nvPr/>
        </p:nvSpPr>
        <p:spPr>
          <a:xfrm>
            <a:off x="8275320" y="4645152"/>
            <a:ext cx="1508760" cy="41148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I</a:t>
            </a:r>
            <a:pPr algn="ctr" indent="0" marL="0">
              <a:buNone/>
            </a:pPr>
            <a:r>
              <a:rPr lang="en-US" sz="1000" baseline="-40000" dirty="0">
                <a:solidFill>
                  <a:srgbClr val="5C5E62"/>
                </a:solidFill>
                <a:latin typeface="Segoe UI" pitchFamily="34" charset="0"/>
                <a:ea typeface="Segoe UI" pitchFamily="34" charset="-122"/>
                <a:cs typeface="Segoe UI" pitchFamily="34" charset="-120"/>
              </a:rPr>
              <a:t>on</a:t>
            </a:r>
            <a:pPr algn="ctr" indent="0" marL="0">
              <a:buNone/>
            </a:pPr>
            <a:r>
              <a:rPr lang="en-US" sz="1000" dirty="0">
                <a:solidFill>
                  <a:srgbClr val="5C5E62"/>
                </a:solidFill>
                <a:latin typeface="Segoe UI" pitchFamily="34" charset="0"/>
                <a:ea typeface="Segoe UI" pitchFamily="34" charset="-122"/>
                <a:cs typeface="Segoe UI" pitchFamily="34" charset="-120"/>
              </a:rPr>
              <a:t> (× TC)</a:t>
            </a:r>
            <a:endParaRPr lang="en-US" sz="1000" dirty="0"/>
          </a:p>
        </p:txBody>
      </p:sp>
      <p:sp>
        <p:nvSpPr>
          <p:cNvPr id="32" name="!!kgBa2"/>
          <p:cNvSpPr/>
          <p:nvPr/>
        </p:nvSpPr>
        <p:spPr>
          <a:xfrm>
            <a:off x="10149840" y="4403320"/>
            <a:ext cx="502920" cy="168680"/>
          </a:xfrm>
          <a:prstGeom prst="rect">
            <a:avLst/>
          </a:prstGeom>
          <a:solidFill>
            <a:srgbClr val="5C5E62"/>
          </a:solidFill>
          <a:ln/>
        </p:spPr>
      </p:sp>
      <p:sp>
        <p:nvSpPr>
          <p:cNvPr id="33" name="!!kgBav2"/>
          <p:cNvSpPr txBox="1"/>
          <p:nvPr/>
        </p:nvSpPr>
        <p:spPr>
          <a:xfrm>
            <a:off x="9921240" y="4129000"/>
            <a:ext cx="960120" cy="228600"/>
          </a:xfrm>
          <a:prstGeom prst="rect">
            <a:avLst/>
          </a:prstGeom>
          <a:noFill/>
          <a:ln/>
        </p:spPr>
        <p:txBody>
          <a:bodyPr wrap="square" lIns="0" tIns="0" rIns="0" bIns="0" rtlCol="0" anchor="t"/>
          <a:lstStyle/>
          <a:p>
            <a:pPr algn="ctr" indent="0" marL="0">
              <a:buNone/>
            </a:pPr>
            <a:r>
              <a:rPr lang="en-US" sz="1100" dirty="0">
                <a:solidFill>
                  <a:srgbClr val="171A20"/>
                </a:solidFill>
                <a:latin typeface="Segoe UI Semibold" pitchFamily="34" charset="0"/>
                <a:ea typeface="Segoe UI Semibold" pitchFamily="34" charset="-122"/>
                <a:cs typeface="Segoe UI Semibold" pitchFamily="34" charset="-120"/>
              </a:rPr>
              <a:t>112</a:t>
            </a:r>
            <a:endParaRPr lang="en-US" sz="1100" dirty="0"/>
          </a:p>
        </p:txBody>
      </p:sp>
      <p:sp>
        <p:nvSpPr>
          <p:cNvPr id="34" name="!!kgBb2"/>
          <p:cNvSpPr/>
          <p:nvPr/>
        </p:nvSpPr>
        <p:spPr>
          <a:xfrm>
            <a:off x="10744200" y="2193915"/>
            <a:ext cx="502920" cy="2378085"/>
          </a:xfrm>
          <a:prstGeom prst="rect">
            <a:avLst/>
          </a:prstGeom>
          <a:solidFill>
            <a:srgbClr val="2E9E4F"/>
          </a:solidFill>
          <a:ln/>
        </p:spPr>
      </p:sp>
      <p:sp>
        <p:nvSpPr>
          <p:cNvPr id="35" name="!!kgBbv2"/>
          <p:cNvSpPr txBox="1"/>
          <p:nvPr/>
        </p:nvSpPr>
        <p:spPr>
          <a:xfrm>
            <a:off x="10515600" y="1919595"/>
            <a:ext cx="960120" cy="228600"/>
          </a:xfrm>
          <a:prstGeom prst="rect">
            <a:avLst/>
          </a:prstGeom>
          <a:noFill/>
          <a:ln/>
        </p:spPr>
        <p:txBody>
          <a:bodyPr wrap="square" lIns="0" tIns="0" rIns="0" bIns="0" rtlCol="0" anchor="t"/>
          <a:lstStyle/>
          <a:p>
            <a:pPr algn="ctr" indent="0" marL="0">
              <a:buNone/>
            </a:pPr>
            <a:r>
              <a:rPr lang="en-US" sz="1100" dirty="0">
                <a:solidFill>
                  <a:srgbClr val="2E9E4F"/>
                </a:solidFill>
                <a:latin typeface="Segoe UI Semibold" pitchFamily="34" charset="0"/>
                <a:ea typeface="Segoe UI Semibold" pitchFamily="34" charset="-122"/>
                <a:cs typeface="Segoe UI Semibold" pitchFamily="34" charset="-120"/>
              </a:rPr>
              <a:t>1579</a:t>
            </a:r>
            <a:endParaRPr lang="en-US" sz="1100" dirty="0"/>
          </a:p>
        </p:txBody>
      </p:sp>
      <p:sp>
        <p:nvSpPr>
          <p:cNvPr id="36" name="!!kgBl2"/>
          <p:cNvSpPr txBox="1"/>
          <p:nvPr/>
        </p:nvSpPr>
        <p:spPr>
          <a:xfrm>
            <a:off x="9966960" y="4645152"/>
            <a:ext cx="1508760" cy="411480"/>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contact area (nm²)</a:t>
            </a:r>
            <a:endParaRPr lang="en-US" sz="1000" dirty="0"/>
          </a:p>
        </p:txBody>
      </p:sp>
      <p:sp>
        <p:nvSpPr>
          <p:cNvPr id="37" name="!!kgLg1"/>
          <p:cNvSpPr/>
          <p:nvPr/>
        </p:nvSpPr>
        <p:spPr>
          <a:xfrm>
            <a:off x="6766560" y="1600200"/>
            <a:ext cx="182880" cy="182880"/>
          </a:xfrm>
          <a:prstGeom prst="rect">
            <a:avLst/>
          </a:prstGeom>
          <a:solidFill>
            <a:srgbClr val="5C5E62"/>
          </a:solidFill>
          <a:ln/>
        </p:spPr>
      </p:sp>
      <p:sp>
        <p:nvSpPr>
          <p:cNvPr id="38" name="!!kgLg1t"/>
          <p:cNvSpPr txBox="1"/>
          <p:nvPr/>
        </p:nvSpPr>
        <p:spPr>
          <a:xfrm>
            <a:off x="6995160" y="1554480"/>
            <a:ext cx="548640" cy="274320"/>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TC</a:t>
            </a:r>
            <a:endParaRPr lang="en-US" sz="1100" dirty="0"/>
          </a:p>
        </p:txBody>
      </p:sp>
      <p:sp>
        <p:nvSpPr>
          <p:cNvPr id="39" name="!!kgLg2"/>
          <p:cNvSpPr/>
          <p:nvPr/>
        </p:nvSpPr>
        <p:spPr>
          <a:xfrm>
            <a:off x="7680960" y="1600200"/>
            <a:ext cx="182880" cy="182880"/>
          </a:xfrm>
          <a:prstGeom prst="rect">
            <a:avLst/>
          </a:prstGeom>
          <a:solidFill>
            <a:srgbClr val="2E9E4F"/>
          </a:solidFill>
          <a:ln/>
        </p:spPr>
      </p:sp>
      <p:sp>
        <p:nvSpPr>
          <p:cNvPr id="40" name="!!kgLg2t"/>
          <p:cNvSpPr txBox="1"/>
          <p:nvPr/>
        </p:nvSpPr>
        <p:spPr>
          <a:xfrm>
            <a:off x="7909560" y="1554480"/>
            <a:ext cx="731520" cy="274320"/>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WAC</a:t>
            </a:r>
            <a:endParaRPr lang="en-US" sz="1100" dirty="0"/>
          </a:p>
        </p:txBody>
      </p:sp>
      <p:sp>
        <p:nvSpPr>
          <p:cNvPr id="41" name="!!kgNote"/>
          <p:cNvSpPr txBox="1"/>
          <p:nvPr/>
        </p:nvSpPr>
        <p:spPr>
          <a:xfrm>
            <a:off x="6766560" y="5166360"/>
            <a:ext cx="4846320" cy="4572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R</a:t>
            </a:r>
            <a:pPr algn="l" indent="0" marL="0">
              <a:buNone/>
            </a:pPr>
            <a:r>
              <a:rPr lang="en-US" sz="1100" baseline="-40000" dirty="0">
                <a:solidFill>
                  <a:srgbClr val="5C5E62"/>
                </a:solidFill>
                <a:latin typeface="Segoe UI" pitchFamily="34" charset="0"/>
                <a:ea typeface="Segoe UI" pitchFamily="34" charset="-122"/>
                <a:cs typeface="Segoe UI" pitchFamily="34" charset="-120"/>
              </a:rPr>
              <a:t>th</a:t>
            </a:r>
            <a:pPr algn="l" indent="0" marL="0">
              <a:buNone/>
            </a:pPr>
            <a:r>
              <a:rPr lang="en-US" sz="1100" dirty="0">
                <a:solidFill>
                  <a:srgbClr val="5C5E62"/>
                </a:solidFill>
                <a:latin typeface="Segoe UI" pitchFamily="34" charset="0"/>
                <a:ea typeface="Segoe UI" pitchFamily="34" charset="-122"/>
                <a:cs typeface="Segoe UI" pitchFamily="34" charset="-120"/>
              </a:rPr>
              <a:t> = (T</a:t>
            </a:r>
            <a:pPr algn="l" indent="0" marL="0">
              <a:buNone/>
            </a:pPr>
            <a:r>
              <a:rPr lang="en-US" sz="1100" baseline="-40000" dirty="0">
                <a:solidFill>
                  <a:srgbClr val="5C5E62"/>
                </a:solidFill>
                <a:latin typeface="Segoe UI" pitchFamily="34" charset="0"/>
                <a:ea typeface="Segoe UI" pitchFamily="34" charset="-122"/>
                <a:cs typeface="Segoe UI" pitchFamily="34" charset="-120"/>
              </a:rPr>
              <a:t>max</a:t>
            </a:r>
            <a:pPr algn="l" indent="0" marL="0">
              <a:buNone/>
            </a:pPr>
            <a:r>
              <a:rPr lang="en-US" sz="1100" dirty="0">
                <a:solidFill>
                  <a:srgbClr val="5C5E62"/>
                </a:solidFill>
                <a:latin typeface="Segoe UI" pitchFamily="34" charset="0"/>
                <a:ea typeface="Segoe UI" pitchFamily="34" charset="-122"/>
                <a:cs typeface="Segoe UI" pitchFamily="34" charset="-120"/>
              </a:rPr>
              <a:t> − T</a:t>
            </a:r>
            <a:pPr algn="l" indent="0" marL="0">
              <a:buNone/>
            </a:pPr>
            <a:r>
              <a:rPr lang="en-US" sz="1100" baseline="-40000" dirty="0">
                <a:solidFill>
                  <a:srgbClr val="5C5E62"/>
                </a:solidFill>
                <a:latin typeface="Segoe UI" pitchFamily="34" charset="0"/>
                <a:ea typeface="Segoe UI" pitchFamily="34" charset="-122"/>
                <a:cs typeface="Segoe UI" pitchFamily="34" charset="-120"/>
              </a:rPr>
              <a:t>min</a:t>
            </a:r>
            <a:pPr algn="l" indent="0" marL="0">
              <a:buNone/>
            </a:pPr>
            <a:r>
              <a:rPr lang="en-US" sz="1100" dirty="0">
                <a:solidFill>
                  <a:srgbClr val="5C5E62"/>
                </a:solidFill>
                <a:latin typeface="Segoe UI" pitchFamily="34" charset="0"/>
                <a:ea typeface="Segoe UI" pitchFamily="34" charset="-122"/>
                <a:cs typeface="Segoe UI" pitchFamily="34" charset="-120"/>
              </a:rPr>
              <a:t>) / total heat: the same slope method as our ΔT–P line</a:t>
            </a:r>
            <a:endParaRPr lang="en-US" sz="1100" dirty="0"/>
          </a:p>
        </p:txBody>
      </p:sp>
      <p:sp>
        <p:nvSpPr>
          <p:cNvPr id="42"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Wrap-around contact: tungsten (174 W/m·K) touches the hot drain directly: R</a:t>
            </a:r>
            <a:pPr algn="ctr" indent="0" marL="0">
              <a:buNone/>
            </a:pPr>
            <a:r>
              <a:rPr lang="en-US" sz="1600" baseline="-40000" dirty="0">
                <a:solidFill>
                  <a:srgbClr val="171A20"/>
                </a:solidFill>
                <a:latin typeface="Segoe UI" pitchFamily="34" charset="0"/>
                <a:ea typeface="Segoe UI" pitchFamily="34" charset="-122"/>
                <a:cs typeface="Segoe UI" pitchFamily="34" charset="-120"/>
              </a:rPr>
              <a:t>th</a:t>
            </a:r>
            <a:pPr algn="ctr" indent="0" marL="0">
              <a:buNone/>
            </a:pPr>
            <a:r>
              <a:rPr lang="en-US" sz="1600" dirty="0">
                <a:solidFill>
                  <a:srgbClr val="171A20"/>
                </a:solidFill>
                <a:latin typeface="Segoe UI" pitchFamily="34" charset="0"/>
                <a:ea typeface="Segoe UI" pitchFamily="34" charset="-122"/>
                <a:cs typeface="Segoe UI" pitchFamily="34" charset="-120"/>
              </a:rPr>
              <a:t> −9.7 %, I</a:t>
            </a:r>
            <a:pPr algn="ctr" indent="0" marL="0">
              <a:buNone/>
            </a:pPr>
            <a:r>
              <a:rPr lang="en-US" sz="1600" baseline="-40000" dirty="0">
                <a:solidFill>
                  <a:srgbClr val="171A20"/>
                </a:solidFill>
                <a:latin typeface="Segoe UI" pitchFamily="34" charset="0"/>
                <a:ea typeface="Segoe UI" pitchFamily="34" charset="-122"/>
                <a:cs typeface="Segoe UI" pitchFamily="34" charset="-120"/>
              </a:rPr>
              <a:t>on</a:t>
            </a:r>
            <a:pPr algn="ctr" indent="0" marL="0">
              <a:buNone/>
            </a:pPr>
            <a:r>
              <a:rPr lang="en-US" sz="1600" dirty="0">
                <a:solidFill>
                  <a:srgbClr val="171A20"/>
                </a:solidFill>
                <a:latin typeface="Segoe UI" pitchFamily="34" charset="0"/>
                <a:ea typeface="Segoe UI" pitchFamily="34" charset="-122"/>
                <a:cs typeface="Segoe UI" pitchFamily="34" charset="-120"/>
              </a:rPr>
              <a:t> 1.74×.</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107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Literature review – Our plan</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Three stages on one Atlas deck, each building on the last</a:t>
            </a:r>
            <a:endParaRPr lang="en-US" sz="1600" dirty="0"/>
          </a:p>
        </p:txBody>
      </p:sp>
      <p:sp>
        <p:nvSpPr>
          <p:cNvPr id="4" name="Shape 2"/>
          <p:cNvSpPr/>
          <p:nvPr/>
        </p:nvSpPr>
        <p:spPr>
          <a:xfrm>
            <a:off x="548640" y="1737360"/>
            <a:ext cx="3429000" cy="3291840"/>
          </a:xfrm>
          <a:prstGeom prst="roundRect">
            <a:avLst>
              <a:gd name="adj" fmla="val 2222"/>
            </a:avLst>
          </a:prstGeom>
          <a:solidFill>
            <a:srgbClr val="F4F5F7"/>
          </a:solidFill>
          <a:ln/>
        </p:spPr>
      </p:sp>
      <p:sp>
        <p:nvSpPr>
          <p:cNvPr id="5" name="Shape 3"/>
          <p:cNvSpPr/>
          <p:nvPr/>
        </p:nvSpPr>
        <p:spPr>
          <a:xfrm>
            <a:off x="777240" y="2011680"/>
            <a:ext cx="548640" cy="548640"/>
          </a:xfrm>
          <a:prstGeom prst="ellipse">
            <a:avLst/>
          </a:prstGeom>
          <a:solidFill>
            <a:srgbClr val="5C5E62"/>
          </a:solidFill>
          <a:ln/>
        </p:spPr>
      </p:sp>
      <p:sp>
        <p:nvSpPr>
          <p:cNvPr id="6" name="Text 4"/>
          <p:cNvSpPr txBox="1"/>
          <p:nvPr/>
        </p:nvSpPr>
        <p:spPr>
          <a:xfrm>
            <a:off x="777240" y="201168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1</a:t>
            </a:r>
            <a:endParaRPr lang="en-US" sz="1800" dirty="0"/>
          </a:p>
        </p:txBody>
      </p:sp>
      <p:sp>
        <p:nvSpPr>
          <p:cNvPr id="7" name="Text 5"/>
          <p:cNvSpPr txBox="1"/>
          <p:nvPr/>
        </p:nvSpPr>
        <p:spPr>
          <a:xfrm>
            <a:off x="822960" y="2788920"/>
            <a:ext cx="2926080" cy="365760"/>
          </a:xfrm>
          <a:prstGeom prst="rect">
            <a:avLst/>
          </a:prstGeom>
          <a:noFill/>
          <a:ln/>
        </p:spPr>
        <p:txBody>
          <a:bodyPr wrap="square" lIns="0" tIns="0" rIns="0" bIns="0" rtlCol="0" anchor="t"/>
          <a:lstStyle/>
          <a:p>
            <a:pPr algn="l" indent="0" marL="0">
              <a:buNone/>
            </a:pPr>
            <a:r>
              <a:rPr lang="en-US" sz="1800" dirty="0">
                <a:solidFill>
                  <a:srgbClr val="5C5E62"/>
                </a:solidFill>
                <a:latin typeface="Segoe UI Semibold" pitchFamily="34" charset="0"/>
                <a:ea typeface="Segoe UI Semibold" pitchFamily="34" charset="-122"/>
                <a:cs typeface="Segoe UI Semibold" pitchFamily="34" charset="-120"/>
              </a:rPr>
              <a:t>Standard GAAFET</a:t>
            </a:r>
            <a:endParaRPr lang="en-US" sz="1800" dirty="0"/>
          </a:p>
        </p:txBody>
      </p:sp>
      <p:sp>
        <p:nvSpPr>
          <p:cNvPr id="8" name="Text 6"/>
          <p:cNvSpPr txBox="1"/>
          <p:nvPr/>
        </p:nvSpPr>
        <p:spPr>
          <a:xfrm>
            <a:off x="822960" y="3200400"/>
            <a:ext cx="2926080" cy="320040"/>
          </a:xfrm>
          <a:prstGeom prst="rect">
            <a:avLst/>
          </a:prstGeom>
          <a:noFill/>
          <a:ln/>
        </p:spPr>
        <p:txBody>
          <a:bodyPr wrap="square" lIns="0" tIns="0" rIns="0" bIns="0" rtlCol="0" anchor="t"/>
          <a:lstStyle/>
          <a:p>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r = 4 nm wire, α = 5000</a:t>
            </a:r>
            <a:endParaRPr lang="en-US" sz="1300" dirty="0"/>
          </a:p>
        </p:txBody>
      </p:sp>
      <p:sp>
        <p:nvSpPr>
          <p:cNvPr id="9" name="Text 7"/>
          <p:cNvSpPr txBox="1"/>
          <p:nvPr/>
        </p:nvSpPr>
        <p:spPr>
          <a:xfrm>
            <a:off x="822960" y="3657600"/>
            <a:ext cx="2926080" cy="109728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Check that the deck runs and the electrostatics are sound.</a:t>
            </a:r>
            <a:endParaRPr lang="en-US" sz="1300" dirty="0"/>
          </a:p>
        </p:txBody>
      </p:sp>
      <p:sp>
        <p:nvSpPr>
          <p:cNvPr id="10" name="Text 8"/>
          <p:cNvSpPr txBox="1"/>
          <p:nvPr/>
        </p:nvSpPr>
        <p:spPr>
          <a:xfrm>
            <a:off x="3977640" y="3017520"/>
            <a:ext cx="365760" cy="457200"/>
          </a:xfrm>
          <a:prstGeom prst="rect">
            <a:avLst/>
          </a:prstGeom>
          <a:noFill/>
          <a:ln/>
        </p:spPr>
        <p:txBody>
          <a:bodyPr wrap="square" lIns="0" tIns="0" rIns="0" bIns="0" rtlCol="0" anchor="t"/>
          <a:lstStyle/>
          <a:p>
            <a:pPr algn="ctr" indent="0" marL="0">
              <a:buNone/>
            </a:pPr>
            <a:r>
              <a:rPr lang="en-US" sz="2200" dirty="0">
                <a:solidFill>
                  <a:srgbClr val="8A8D93"/>
                </a:solidFill>
                <a:latin typeface="Segoe UI" pitchFamily="34" charset="0"/>
                <a:ea typeface="Segoe UI" pitchFamily="34" charset="-122"/>
                <a:cs typeface="Segoe UI" pitchFamily="34" charset="-120"/>
              </a:rPr>
              <a:t>→</a:t>
            </a:r>
            <a:endParaRPr lang="en-US" sz="2200" dirty="0"/>
          </a:p>
        </p:txBody>
      </p:sp>
      <p:sp>
        <p:nvSpPr>
          <p:cNvPr id="11" name="Shape 9"/>
          <p:cNvSpPr/>
          <p:nvPr/>
        </p:nvSpPr>
        <p:spPr>
          <a:xfrm>
            <a:off x="4343400" y="1737360"/>
            <a:ext cx="3429000" cy="3291840"/>
          </a:xfrm>
          <a:prstGeom prst="roundRect">
            <a:avLst>
              <a:gd name="adj" fmla="val 2222"/>
            </a:avLst>
          </a:prstGeom>
          <a:solidFill>
            <a:srgbClr val="F4F5F7"/>
          </a:solidFill>
          <a:ln/>
        </p:spPr>
      </p:sp>
      <p:sp>
        <p:nvSpPr>
          <p:cNvPr id="12" name="Shape 10"/>
          <p:cNvSpPr/>
          <p:nvPr/>
        </p:nvSpPr>
        <p:spPr>
          <a:xfrm>
            <a:off x="4572000" y="2011680"/>
            <a:ext cx="548640" cy="548640"/>
          </a:xfrm>
          <a:prstGeom prst="ellipse">
            <a:avLst/>
          </a:prstGeom>
          <a:solidFill>
            <a:srgbClr val="3E6AE1"/>
          </a:solidFill>
          <a:ln/>
        </p:spPr>
      </p:sp>
      <p:sp>
        <p:nvSpPr>
          <p:cNvPr id="13" name="Text 11"/>
          <p:cNvSpPr txBox="1"/>
          <p:nvPr/>
        </p:nvSpPr>
        <p:spPr>
          <a:xfrm>
            <a:off x="4572000" y="201168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2</a:t>
            </a:r>
            <a:endParaRPr lang="en-US" sz="1800" dirty="0"/>
          </a:p>
        </p:txBody>
      </p:sp>
      <p:sp>
        <p:nvSpPr>
          <p:cNvPr id="14" name="Text 12"/>
          <p:cNvSpPr txBox="1"/>
          <p:nvPr/>
        </p:nvSpPr>
        <p:spPr>
          <a:xfrm>
            <a:off x="4617720" y="2788920"/>
            <a:ext cx="2926080" cy="365760"/>
          </a:xfrm>
          <a:prstGeom prst="rect">
            <a:avLst/>
          </a:prstGeom>
          <a:noFill/>
          <a:ln/>
        </p:spPr>
        <p:txBody>
          <a:bodyPr wrap="square" lIns="0" tIns="0" rIns="0" bIns="0" rtlCol="0" anchor="t"/>
          <a:lstStyle/>
          <a:p>
            <a:pPr algn="l" indent="0" marL="0">
              <a:buNone/>
            </a:pPr>
            <a:r>
              <a:rPr lang="en-US" sz="1800" dirty="0">
                <a:solidFill>
                  <a:srgbClr val="3E6AE1"/>
                </a:solidFill>
                <a:latin typeface="Segoe UI Semibold" pitchFamily="34" charset="0"/>
                <a:ea typeface="Segoe UI Semibold" pitchFamily="34" charset="-122"/>
                <a:cs typeface="Segoe UI Semibold" pitchFamily="34" charset="-120"/>
              </a:rPr>
              <a:t>Reproduce base paper</a:t>
            </a:r>
            <a:endParaRPr lang="en-US" sz="1800" dirty="0"/>
          </a:p>
        </p:txBody>
      </p:sp>
      <p:sp>
        <p:nvSpPr>
          <p:cNvPr id="15" name="Text 13"/>
          <p:cNvSpPr txBox="1"/>
          <p:nvPr/>
        </p:nvSpPr>
        <p:spPr>
          <a:xfrm>
            <a:off x="4617720" y="3200400"/>
            <a:ext cx="2926080" cy="320040"/>
          </a:xfrm>
          <a:prstGeom prst="rect">
            <a:avLst/>
          </a:prstGeom>
          <a:noFill/>
          <a:ln/>
        </p:spPr>
        <p:txBody>
          <a:bodyPr wrap="square" lIns="0" tIns="0" rIns="0" bIns="0" rtlCol="0" anchor="t"/>
          <a:lstStyle/>
          <a:p>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r = 5.64 nm, α = 59 000</a:t>
            </a:r>
            <a:endParaRPr lang="en-US" sz="1300" dirty="0"/>
          </a:p>
        </p:txBody>
      </p:sp>
      <p:sp>
        <p:nvSpPr>
          <p:cNvPr id="16" name="Text 14"/>
          <p:cNvSpPr txBox="1"/>
          <p:nvPr/>
        </p:nvSpPr>
        <p:spPr>
          <a:xfrm>
            <a:off x="4617720" y="3657600"/>
            <a:ext cx="2926080" cy="109728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Match the paper's R</a:t>
            </a:r>
            <a:pPr algn="l" indent="0" marL="0">
              <a:buNone/>
            </a:pPr>
            <a:r>
              <a:rPr lang="en-US" sz="1300" baseline="-40000" dirty="0">
                <a:solidFill>
                  <a:srgbClr val="5C5E62"/>
                </a:solidFill>
                <a:latin typeface="Segoe UI" pitchFamily="34" charset="0"/>
                <a:ea typeface="Segoe UI" pitchFamily="34" charset="-122"/>
                <a:cs typeface="Segoe UI" pitchFamily="34" charset="-120"/>
              </a:rPr>
              <a:t>th</a:t>
            </a:r>
            <a:pPr algn="l" indent="0" marL="0">
              <a:buNone/>
            </a:pPr>
            <a:r>
              <a:rPr lang="en-US" sz="1300" dirty="0">
                <a:solidFill>
                  <a:srgbClr val="5C5E62"/>
                </a:solidFill>
                <a:latin typeface="Segoe UI" pitchFamily="34" charset="0"/>
                <a:ea typeface="Segoe UI" pitchFamily="34" charset="-122"/>
                <a:cs typeface="Segoe UI" pitchFamily="34" charset="-120"/>
              </a:rPr>
              <a:t>: 64.8 K at 30 µW.</a:t>
            </a:r>
            <a:endParaRPr lang="en-US" sz="1300" dirty="0"/>
          </a:p>
        </p:txBody>
      </p:sp>
      <p:sp>
        <p:nvSpPr>
          <p:cNvPr id="17" name="Text 15"/>
          <p:cNvSpPr txBox="1"/>
          <p:nvPr/>
        </p:nvSpPr>
        <p:spPr>
          <a:xfrm>
            <a:off x="7772400" y="3017520"/>
            <a:ext cx="365760" cy="457200"/>
          </a:xfrm>
          <a:prstGeom prst="rect">
            <a:avLst/>
          </a:prstGeom>
          <a:noFill/>
          <a:ln/>
        </p:spPr>
        <p:txBody>
          <a:bodyPr wrap="square" lIns="0" tIns="0" rIns="0" bIns="0" rtlCol="0" anchor="t"/>
          <a:lstStyle/>
          <a:p>
            <a:pPr algn="ctr" indent="0" marL="0">
              <a:buNone/>
            </a:pPr>
            <a:r>
              <a:rPr lang="en-US" sz="2200" dirty="0">
                <a:solidFill>
                  <a:srgbClr val="8A8D93"/>
                </a:solidFill>
                <a:latin typeface="Segoe UI" pitchFamily="34" charset="0"/>
                <a:ea typeface="Segoe UI" pitchFamily="34" charset="-122"/>
                <a:cs typeface="Segoe UI" pitchFamily="34" charset="-120"/>
              </a:rPr>
              <a:t>→</a:t>
            </a:r>
            <a:endParaRPr lang="en-US" sz="2200" dirty="0"/>
          </a:p>
        </p:txBody>
      </p:sp>
      <p:sp>
        <p:nvSpPr>
          <p:cNvPr id="18" name="Shape 16"/>
          <p:cNvSpPr/>
          <p:nvPr/>
        </p:nvSpPr>
        <p:spPr>
          <a:xfrm>
            <a:off x="8138160" y="1737360"/>
            <a:ext cx="3429000" cy="3291840"/>
          </a:xfrm>
          <a:prstGeom prst="roundRect">
            <a:avLst>
              <a:gd name="adj" fmla="val 2222"/>
            </a:avLst>
          </a:prstGeom>
          <a:solidFill>
            <a:srgbClr val="F4F5F7"/>
          </a:solidFill>
          <a:ln/>
        </p:spPr>
      </p:sp>
      <p:sp>
        <p:nvSpPr>
          <p:cNvPr id="19" name="Shape 17"/>
          <p:cNvSpPr/>
          <p:nvPr/>
        </p:nvSpPr>
        <p:spPr>
          <a:xfrm>
            <a:off x="8366760" y="2011680"/>
            <a:ext cx="548640" cy="548640"/>
          </a:xfrm>
          <a:prstGeom prst="ellipse">
            <a:avLst/>
          </a:prstGeom>
          <a:solidFill>
            <a:srgbClr val="2E9E4F"/>
          </a:solidFill>
          <a:ln/>
        </p:spPr>
      </p:sp>
      <p:sp>
        <p:nvSpPr>
          <p:cNvPr id="20" name="Text 18"/>
          <p:cNvSpPr txBox="1"/>
          <p:nvPr/>
        </p:nvSpPr>
        <p:spPr>
          <a:xfrm>
            <a:off x="8366760" y="201168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3</a:t>
            </a:r>
            <a:endParaRPr lang="en-US" sz="1800" dirty="0"/>
          </a:p>
        </p:txBody>
      </p:sp>
      <p:sp>
        <p:nvSpPr>
          <p:cNvPr id="21" name="Text 19"/>
          <p:cNvSpPr txBox="1"/>
          <p:nvPr/>
        </p:nvSpPr>
        <p:spPr>
          <a:xfrm>
            <a:off x="8412480" y="2788920"/>
            <a:ext cx="2926080" cy="365760"/>
          </a:xfrm>
          <a:prstGeom prst="rect">
            <a:avLst/>
          </a:prstGeom>
          <a:noFill/>
          <a:ln/>
        </p:spPr>
        <p:txBody>
          <a:bodyPr wrap="square" lIns="0" tIns="0" rIns="0" bIns="0" rtlCol="0" anchor="t"/>
          <a:lstStyle/>
          <a:p>
            <a:pPr algn="l" indent="0" marL="0">
              <a:buNone/>
            </a:pPr>
            <a:r>
              <a:rPr lang="en-US" sz="1800" dirty="0">
                <a:solidFill>
                  <a:srgbClr val="2E9E4F"/>
                </a:solidFill>
                <a:latin typeface="Segoe UI Semibold" pitchFamily="34" charset="0"/>
                <a:ea typeface="Segoe UI Semibold" pitchFamily="34" charset="-122"/>
                <a:cs typeface="Segoe UI Semibold" pitchFamily="34" charset="-120"/>
              </a:rPr>
              <a:t>Optimal GAAFET</a:t>
            </a:r>
            <a:endParaRPr lang="en-US" sz="1800" dirty="0"/>
          </a:p>
        </p:txBody>
      </p:sp>
      <p:sp>
        <p:nvSpPr>
          <p:cNvPr id="22" name="Text 20"/>
          <p:cNvSpPr txBox="1"/>
          <p:nvPr/>
        </p:nvSpPr>
        <p:spPr>
          <a:xfrm>
            <a:off x="8412480" y="3200400"/>
            <a:ext cx="2926080" cy="320040"/>
          </a:xfrm>
          <a:prstGeom prst="rect">
            <a:avLst/>
          </a:prstGeom>
          <a:noFill/>
          <a:ln/>
        </p:spPr>
        <p:txBody>
          <a:bodyPr wrap="square" lIns="0" tIns="0" rIns="0" bIns="0" rtlCol="0" anchor="t"/>
          <a:lstStyle/>
          <a:p>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spacer κ 60, WF 4.53 eV</a:t>
            </a:r>
            <a:endParaRPr lang="en-US" sz="1300" dirty="0"/>
          </a:p>
        </p:txBody>
      </p:sp>
      <p:sp>
        <p:nvSpPr>
          <p:cNvPr id="23" name="Text 21"/>
          <p:cNvSpPr txBox="1"/>
          <p:nvPr/>
        </p:nvSpPr>
        <p:spPr>
          <a:xfrm>
            <a:off x="8412480" y="3657600"/>
            <a:ext cx="2926080" cy="109728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Lower ΔT with I</a:t>
            </a:r>
            <a:pPr algn="l" indent="0" marL="0">
              <a:buNone/>
            </a:pPr>
            <a:r>
              <a:rPr lang="en-US" sz="1300" baseline="-40000" dirty="0">
                <a:solidFill>
                  <a:srgbClr val="5C5E62"/>
                </a:solidFill>
                <a:latin typeface="Segoe UI" pitchFamily="34" charset="0"/>
                <a:ea typeface="Segoe UI" pitchFamily="34" charset="-122"/>
                <a:cs typeface="Segoe UI" pitchFamily="34" charset="-120"/>
              </a:rPr>
              <a:t>on</a:t>
            </a:r>
            <a:pPr algn="l" indent="0" marL="0">
              <a:buNone/>
            </a:pPr>
            <a:r>
              <a:rPr lang="en-US" sz="1300" dirty="0">
                <a:solidFill>
                  <a:srgbClr val="5C5E62"/>
                </a:solidFill>
                <a:latin typeface="Segoe UI" pitchFamily="34" charset="0"/>
                <a:ea typeface="Segoe UI" pitchFamily="34" charset="-122"/>
                <a:cs typeface="Segoe UI" pitchFamily="34" charset="-120"/>
              </a:rPr>
              <a:t> within 10 % and I</a:t>
            </a:r>
            <a:pPr algn="l" indent="0" marL="0">
              <a:buNone/>
            </a:pPr>
            <a:r>
              <a:rPr lang="en-US" sz="1300" baseline="-40000" dirty="0">
                <a:solidFill>
                  <a:srgbClr val="5C5E62"/>
                </a:solidFill>
                <a:latin typeface="Segoe UI" pitchFamily="34" charset="0"/>
                <a:ea typeface="Segoe UI" pitchFamily="34" charset="-122"/>
                <a:cs typeface="Segoe UI" pitchFamily="34" charset="-120"/>
              </a:rPr>
              <a:t>off</a:t>
            </a:r>
            <a:pPr algn="l" indent="0" marL="0">
              <a:buNone/>
            </a:pPr>
            <a:r>
              <a:rPr lang="en-US" sz="1300" dirty="0">
                <a:solidFill>
                  <a:srgbClr val="5C5E62"/>
                </a:solidFill>
                <a:latin typeface="Segoe UI" pitchFamily="34" charset="0"/>
                <a:ea typeface="Segoe UI" pitchFamily="34" charset="-122"/>
                <a:cs typeface="Segoe UI" pitchFamily="34" charset="-120"/>
              </a:rPr>
              <a:t> no worse.</a:t>
            </a:r>
            <a:endParaRPr lang="en-US" sz="1300" dirty="0"/>
          </a:p>
        </p:txBody>
      </p:sp>
      <p:sp>
        <p:nvSpPr>
          <p:cNvPr id="24"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Standard → reproduced → optimal, all on one Atlas deck.</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108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Methodology – TCAD flow</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Every result comes from the same five steps in Silvaco Atlas</a:t>
            </a:r>
            <a:endParaRPr lang="en-US" sz="1600" dirty="0"/>
          </a:p>
        </p:txBody>
      </p:sp>
      <p:sp>
        <p:nvSpPr>
          <p:cNvPr id="4" name="Shape 2"/>
          <p:cNvSpPr/>
          <p:nvPr/>
        </p:nvSpPr>
        <p:spPr>
          <a:xfrm>
            <a:off x="548640" y="2011680"/>
            <a:ext cx="2011680" cy="1828800"/>
          </a:xfrm>
          <a:prstGeom prst="roundRect">
            <a:avLst>
              <a:gd name="adj" fmla="val 4000"/>
            </a:avLst>
          </a:prstGeom>
          <a:solidFill>
            <a:srgbClr val="F4F5F7"/>
          </a:solidFill>
          <a:ln/>
        </p:spPr>
      </p:sp>
      <p:sp>
        <p:nvSpPr>
          <p:cNvPr id="5" name="Text 3"/>
          <p:cNvSpPr txBox="1"/>
          <p:nvPr/>
        </p:nvSpPr>
        <p:spPr>
          <a:xfrm>
            <a:off x="731520" y="2148840"/>
            <a:ext cx="914400" cy="274320"/>
          </a:xfrm>
          <a:prstGeom prst="rect">
            <a:avLst/>
          </a:prstGeom>
          <a:noFill/>
          <a:ln/>
        </p:spPr>
        <p:txBody>
          <a:bodyPr wrap="square" lIns="0" tIns="0" rIns="0" bIns="0" rtlCol="0" anchor="t"/>
          <a:lstStyle/>
          <a:p>
            <a:pPr algn="l" indent="0" marL="0">
              <a:buNone/>
            </a:pPr>
            <a:r>
              <a:rPr lang="en-US" sz="1100" dirty="0">
                <a:solidFill>
                  <a:srgbClr val="8A8D93"/>
                </a:solidFill>
                <a:latin typeface="Segoe UI Semibold" pitchFamily="34" charset="0"/>
                <a:ea typeface="Segoe UI Semibold" pitchFamily="34" charset="-122"/>
                <a:cs typeface="Segoe UI Semibold" pitchFamily="34" charset="-120"/>
              </a:rPr>
              <a:t>01</a:t>
            </a:r>
            <a:endParaRPr lang="en-US" sz="1100" dirty="0"/>
          </a:p>
        </p:txBody>
      </p:sp>
      <p:sp>
        <p:nvSpPr>
          <p:cNvPr id="6" name="Text 4"/>
          <p:cNvSpPr txBox="1"/>
          <p:nvPr/>
        </p:nvSpPr>
        <p:spPr>
          <a:xfrm>
            <a:off x="731520" y="2468880"/>
            <a:ext cx="1737360" cy="365760"/>
          </a:xfrm>
          <a:prstGeom prst="rect">
            <a:avLst/>
          </a:prstGeom>
          <a:noFill/>
          <a:ln/>
        </p:spPr>
        <p:txBody>
          <a:bodyPr wrap="square" lIns="0" tIns="0" rIns="0" bIns="0" rtlCol="0" anchor="t"/>
          <a:lstStyle/>
          <a:p>
            <a:pPr algn="l" indent="0" marL="0">
              <a:buNone/>
            </a:pPr>
            <a:r>
              <a:rPr lang="en-US" sz="1600" dirty="0">
                <a:solidFill>
                  <a:srgbClr val="171A20"/>
                </a:solidFill>
                <a:latin typeface="Segoe UI Semibold" pitchFamily="34" charset="0"/>
                <a:ea typeface="Segoe UI Semibold" pitchFamily="34" charset="-122"/>
                <a:cs typeface="Segoe UI Semibold" pitchFamily="34" charset="-120"/>
              </a:rPr>
              <a:t>Mesh</a:t>
            </a:r>
            <a:endParaRPr lang="en-US" sz="1600" dirty="0"/>
          </a:p>
        </p:txBody>
      </p:sp>
      <p:sp>
        <p:nvSpPr>
          <p:cNvPr id="7" name="Text 5"/>
          <p:cNvSpPr txBox="1"/>
          <p:nvPr/>
        </p:nvSpPr>
        <p:spPr>
          <a:xfrm>
            <a:off x="731520" y="2880360"/>
            <a:ext cx="1691640" cy="82296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cylindrical 3D grid in r, angle, z</a:t>
            </a:r>
            <a:endParaRPr lang="en-US" sz="1200" dirty="0"/>
          </a:p>
        </p:txBody>
      </p:sp>
      <p:sp>
        <p:nvSpPr>
          <p:cNvPr id="8" name="Text 6"/>
          <p:cNvSpPr txBox="1"/>
          <p:nvPr/>
        </p:nvSpPr>
        <p:spPr>
          <a:xfrm>
            <a:off x="2560320" y="2697480"/>
            <a:ext cx="256032" cy="457200"/>
          </a:xfrm>
          <a:prstGeom prst="rect">
            <a:avLst/>
          </a:prstGeom>
          <a:noFill/>
          <a:ln/>
        </p:spPr>
        <p:txBody>
          <a:bodyPr wrap="square" lIns="0" tIns="0" rIns="0" bIns="0" rtlCol="0" anchor="t"/>
          <a:lstStyle/>
          <a:p>
            <a:pPr algn="ctr" indent="0" marL="0">
              <a:buNone/>
            </a:pPr>
            <a:r>
              <a:rPr lang="en-US" sz="1800" dirty="0">
                <a:solidFill>
                  <a:srgbClr val="8A8D93"/>
                </a:solidFill>
                <a:latin typeface="Segoe UI" pitchFamily="34" charset="0"/>
                <a:ea typeface="Segoe UI" pitchFamily="34" charset="-122"/>
                <a:cs typeface="Segoe UI" pitchFamily="34" charset="-120"/>
              </a:rPr>
              <a:t>→</a:t>
            </a:r>
            <a:endParaRPr lang="en-US" sz="1800" dirty="0"/>
          </a:p>
        </p:txBody>
      </p:sp>
      <p:sp>
        <p:nvSpPr>
          <p:cNvPr id="9" name="Shape 7"/>
          <p:cNvSpPr/>
          <p:nvPr/>
        </p:nvSpPr>
        <p:spPr>
          <a:xfrm>
            <a:off x="2816352" y="2011680"/>
            <a:ext cx="2011680" cy="1828800"/>
          </a:xfrm>
          <a:prstGeom prst="roundRect">
            <a:avLst>
              <a:gd name="adj" fmla="val 4000"/>
            </a:avLst>
          </a:prstGeom>
          <a:solidFill>
            <a:srgbClr val="F4F5F7"/>
          </a:solidFill>
          <a:ln/>
        </p:spPr>
      </p:sp>
      <p:sp>
        <p:nvSpPr>
          <p:cNvPr id="10" name="Text 8"/>
          <p:cNvSpPr txBox="1"/>
          <p:nvPr/>
        </p:nvSpPr>
        <p:spPr>
          <a:xfrm>
            <a:off x="2999232" y="2148840"/>
            <a:ext cx="914400" cy="274320"/>
          </a:xfrm>
          <a:prstGeom prst="rect">
            <a:avLst/>
          </a:prstGeom>
          <a:noFill/>
          <a:ln/>
        </p:spPr>
        <p:txBody>
          <a:bodyPr wrap="square" lIns="0" tIns="0" rIns="0" bIns="0" rtlCol="0" anchor="t"/>
          <a:lstStyle/>
          <a:p>
            <a:pPr algn="l" indent="0" marL="0">
              <a:buNone/>
            </a:pPr>
            <a:r>
              <a:rPr lang="en-US" sz="1100" dirty="0">
                <a:solidFill>
                  <a:srgbClr val="8A8D93"/>
                </a:solidFill>
                <a:latin typeface="Segoe UI Semibold" pitchFamily="34" charset="0"/>
                <a:ea typeface="Segoe UI Semibold" pitchFamily="34" charset="-122"/>
                <a:cs typeface="Segoe UI Semibold" pitchFamily="34" charset="-120"/>
              </a:rPr>
              <a:t>02</a:t>
            </a:r>
            <a:endParaRPr lang="en-US" sz="1100" dirty="0"/>
          </a:p>
        </p:txBody>
      </p:sp>
      <p:sp>
        <p:nvSpPr>
          <p:cNvPr id="11" name="Text 9"/>
          <p:cNvSpPr txBox="1"/>
          <p:nvPr/>
        </p:nvSpPr>
        <p:spPr>
          <a:xfrm>
            <a:off x="2999232" y="2468880"/>
            <a:ext cx="1737360" cy="365760"/>
          </a:xfrm>
          <a:prstGeom prst="rect">
            <a:avLst/>
          </a:prstGeom>
          <a:noFill/>
          <a:ln/>
        </p:spPr>
        <p:txBody>
          <a:bodyPr wrap="square" lIns="0" tIns="0" rIns="0" bIns="0" rtlCol="0" anchor="t"/>
          <a:lstStyle/>
          <a:p>
            <a:pPr algn="l" indent="0" marL="0">
              <a:buNone/>
            </a:pPr>
            <a:r>
              <a:rPr lang="en-US" sz="1600" dirty="0">
                <a:solidFill>
                  <a:srgbClr val="171A20"/>
                </a:solidFill>
                <a:latin typeface="Segoe UI Semibold" pitchFamily="34" charset="0"/>
                <a:ea typeface="Segoe UI Semibold" pitchFamily="34" charset="-122"/>
                <a:cs typeface="Segoe UI Semibold" pitchFamily="34" charset="-120"/>
              </a:rPr>
              <a:t>Regions</a:t>
            </a:r>
            <a:endParaRPr lang="en-US" sz="1600" dirty="0"/>
          </a:p>
        </p:txBody>
      </p:sp>
      <p:sp>
        <p:nvSpPr>
          <p:cNvPr id="12" name="Text 10"/>
          <p:cNvSpPr txBox="1"/>
          <p:nvPr/>
        </p:nvSpPr>
        <p:spPr>
          <a:xfrm>
            <a:off x="2999232" y="2880360"/>
            <a:ext cx="1691640" cy="82296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Si, SiO2, HfO2, W, Si3N4, contacts</a:t>
            </a:r>
            <a:endParaRPr lang="en-US" sz="1200" dirty="0"/>
          </a:p>
        </p:txBody>
      </p:sp>
      <p:sp>
        <p:nvSpPr>
          <p:cNvPr id="13" name="Text 11"/>
          <p:cNvSpPr txBox="1"/>
          <p:nvPr/>
        </p:nvSpPr>
        <p:spPr>
          <a:xfrm>
            <a:off x="4828032" y="2697480"/>
            <a:ext cx="256032" cy="457200"/>
          </a:xfrm>
          <a:prstGeom prst="rect">
            <a:avLst/>
          </a:prstGeom>
          <a:noFill/>
          <a:ln/>
        </p:spPr>
        <p:txBody>
          <a:bodyPr wrap="square" lIns="0" tIns="0" rIns="0" bIns="0" rtlCol="0" anchor="t"/>
          <a:lstStyle/>
          <a:p>
            <a:pPr algn="ctr" indent="0" marL="0">
              <a:buNone/>
            </a:pPr>
            <a:r>
              <a:rPr lang="en-US" sz="1800" dirty="0">
                <a:solidFill>
                  <a:srgbClr val="8A8D93"/>
                </a:solidFill>
                <a:latin typeface="Segoe UI" pitchFamily="34" charset="0"/>
                <a:ea typeface="Segoe UI" pitchFamily="34" charset="-122"/>
                <a:cs typeface="Segoe UI" pitchFamily="34" charset="-120"/>
              </a:rPr>
              <a:t>→</a:t>
            </a:r>
            <a:endParaRPr lang="en-US" sz="1800" dirty="0"/>
          </a:p>
        </p:txBody>
      </p:sp>
      <p:sp>
        <p:nvSpPr>
          <p:cNvPr id="14" name="Shape 12"/>
          <p:cNvSpPr/>
          <p:nvPr/>
        </p:nvSpPr>
        <p:spPr>
          <a:xfrm>
            <a:off x="5084064" y="2011680"/>
            <a:ext cx="2011680" cy="1828800"/>
          </a:xfrm>
          <a:prstGeom prst="roundRect">
            <a:avLst>
              <a:gd name="adj" fmla="val 4000"/>
            </a:avLst>
          </a:prstGeom>
          <a:solidFill>
            <a:srgbClr val="F4F5F7"/>
          </a:solidFill>
          <a:ln/>
        </p:spPr>
      </p:sp>
      <p:sp>
        <p:nvSpPr>
          <p:cNvPr id="15" name="Text 13"/>
          <p:cNvSpPr txBox="1"/>
          <p:nvPr/>
        </p:nvSpPr>
        <p:spPr>
          <a:xfrm>
            <a:off x="5266944" y="2148840"/>
            <a:ext cx="914400" cy="274320"/>
          </a:xfrm>
          <a:prstGeom prst="rect">
            <a:avLst/>
          </a:prstGeom>
          <a:noFill/>
          <a:ln/>
        </p:spPr>
        <p:txBody>
          <a:bodyPr wrap="square" lIns="0" tIns="0" rIns="0" bIns="0" rtlCol="0" anchor="t"/>
          <a:lstStyle/>
          <a:p>
            <a:pPr algn="l" indent="0" marL="0">
              <a:buNone/>
            </a:pPr>
            <a:r>
              <a:rPr lang="en-US" sz="1100" dirty="0">
                <a:solidFill>
                  <a:srgbClr val="8A8D93"/>
                </a:solidFill>
                <a:latin typeface="Segoe UI Semibold" pitchFamily="34" charset="0"/>
                <a:ea typeface="Segoe UI Semibold" pitchFamily="34" charset="-122"/>
                <a:cs typeface="Segoe UI Semibold" pitchFamily="34" charset="-120"/>
              </a:rPr>
              <a:t>03</a:t>
            </a:r>
            <a:endParaRPr lang="en-US" sz="1100" dirty="0"/>
          </a:p>
        </p:txBody>
      </p:sp>
      <p:sp>
        <p:nvSpPr>
          <p:cNvPr id="16" name="Text 14"/>
          <p:cNvSpPr txBox="1"/>
          <p:nvPr/>
        </p:nvSpPr>
        <p:spPr>
          <a:xfrm>
            <a:off x="5266944" y="2468880"/>
            <a:ext cx="1737360" cy="365760"/>
          </a:xfrm>
          <a:prstGeom prst="rect">
            <a:avLst/>
          </a:prstGeom>
          <a:noFill/>
          <a:ln/>
        </p:spPr>
        <p:txBody>
          <a:bodyPr wrap="square" lIns="0" tIns="0" rIns="0" bIns="0" rtlCol="0" anchor="t"/>
          <a:lstStyle/>
          <a:p>
            <a:pPr algn="l" indent="0" marL="0">
              <a:buNone/>
            </a:pPr>
            <a:r>
              <a:rPr lang="en-US" sz="1600" dirty="0">
                <a:solidFill>
                  <a:srgbClr val="171A20"/>
                </a:solidFill>
                <a:latin typeface="Segoe UI Semibold" pitchFamily="34" charset="0"/>
                <a:ea typeface="Segoe UI Semibold" pitchFamily="34" charset="-122"/>
                <a:cs typeface="Segoe UI Semibold" pitchFamily="34" charset="-120"/>
              </a:rPr>
              <a:t>Doping</a:t>
            </a:r>
            <a:endParaRPr lang="en-US" sz="1600" dirty="0"/>
          </a:p>
        </p:txBody>
      </p:sp>
      <p:sp>
        <p:nvSpPr>
          <p:cNvPr id="17" name="Text 15"/>
          <p:cNvSpPr txBox="1"/>
          <p:nvPr/>
        </p:nvSpPr>
        <p:spPr>
          <a:xfrm>
            <a:off x="5266944" y="2880360"/>
            <a:ext cx="1691640" cy="82296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n+ S/D 10²⁰, ext 10¹⁹, channel p 10¹⁶</a:t>
            </a:r>
            <a:endParaRPr lang="en-US" sz="1200" dirty="0"/>
          </a:p>
        </p:txBody>
      </p:sp>
      <p:sp>
        <p:nvSpPr>
          <p:cNvPr id="18" name="Text 16"/>
          <p:cNvSpPr txBox="1"/>
          <p:nvPr/>
        </p:nvSpPr>
        <p:spPr>
          <a:xfrm>
            <a:off x="7095744" y="2697480"/>
            <a:ext cx="256032" cy="457200"/>
          </a:xfrm>
          <a:prstGeom prst="rect">
            <a:avLst/>
          </a:prstGeom>
          <a:noFill/>
          <a:ln/>
        </p:spPr>
        <p:txBody>
          <a:bodyPr wrap="square" lIns="0" tIns="0" rIns="0" bIns="0" rtlCol="0" anchor="t"/>
          <a:lstStyle/>
          <a:p>
            <a:pPr algn="ctr" indent="0" marL="0">
              <a:buNone/>
            </a:pPr>
            <a:r>
              <a:rPr lang="en-US" sz="1800" dirty="0">
                <a:solidFill>
                  <a:srgbClr val="8A8D93"/>
                </a:solidFill>
                <a:latin typeface="Segoe UI" pitchFamily="34" charset="0"/>
                <a:ea typeface="Segoe UI" pitchFamily="34" charset="-122"/>
                <a:cs typeface="Segoe UI" pitchFamily="34" charset="-120"/>
              </a:rPr>
              <a:t>→</a:t>
            </a:r>
            <a:endParaRPr lang="en-US" sz="1800" dirty="0"/>
          </a:p>
        </p:txBody>
      </p:sp>
      <p:sp>
        <p:nvSpPr>
          <p:cNvPr id="19" name="Shape 17"/>
          <p:cNvSpPr/>
          <p:nvPr/>
        </p:nvSpPr>
        <p:spPr>
          <a:xfrm>
            <a:off x="7351776" y="2011680"/>
            <a:ext cx="2011680" cy="1828800"/>
          </a:xfrm>
          <a:prstGeom prst="roundRect">
            <a:avLst>
              <a:gd name="adj" fmla="val 4000"/>
            </a:avLst>
          </a:prstGeom>
          <a:solidFill>
            <a:srgbClr val="1F2F6B"/>
          </a:solidFill>
          <a:ln/>
        </p:spPr>
      </p:sp>
      <p:sp>
        <p:nvSpPr>
          <p:cNvPr id="20" name="Text 18"/>
          <p:cNvSpPr txBox="1"/>
          <p:nvPr/>
        </p:nvSpPr>
        <p:spPr>
          <a:xfrm>
            <a:off x="7534656" y="2148840"/>
            <a:ext cx="914400" cy="274320"/>
          </a:xfrm>
          <a:prstGeom prst="rect">
            <a:avLst/>
          </a:prstGeom>
          <a:noFill/>
          <a:ln/>
        </p:spPr>
        <p:txBody>
          <a:bodyPr wrap="square" lIns="0" tIns="0" rIns="0" bIns="0" rtlCol="0" anchor="t"/>
          <a:lstStyle/>
          <a:p>
            <a:pPr algn="l" indent="0" marL="0">
              <a:buNone/>
            </a:pPr>
            <a:r>
              <a:rPr lang="en-US" sz="1100" dirty="0">
                <a:solidFill>
                  <a:srgbClr val="AFC0F5"/>
                </a:solidFill>
                <a:latin typeface="Segoe UI Semibold" pitchFamily="34" charset="0"/>
                <a:ea typeface="Segoe UI Semibold" pitchFamily="34" charset="-122"/>
                <a:cs typeface="Segoe UI Semibold" pitchFamily="34" charset="-120"/>
              </a:rPr>
              <a:t>04</a:t>
            </a:r>
            <a:endParaRPr lang="en-US" sz="1100" dirty="0"/>
          </a:p>
        </p:txBody>
      </p:sp>
      <p:sp>
        <p:nvSpPr>
          <p:cNvPr id="21" name="Text 19"/>
          <p:cNvSpPr txBox="1"/>
          <p:nvPr/>
        </p:nvSpPr>
        <p:spPr>
          <a:xfrm>
            <a:off x="7534656" y="2468880"/>
            <a:ext cx="1737360" cy="365760"/>
          </a:xfrm>
          <a:prstGeom prst="rect">
            <a:avLst/>
          </a:prstGeom>
          <a:noFill/>
          <a:ln/>
        </p:spPr>
        <p:txBody>
          <a:bodyPr wrap="square" lIns="0" tIns="0" rIns="0" bIns="0" rtlCol="0" anchor="t"/>
          <a:lstStyle/>
          <a:p>
            <a:pPr algn="l" indent="0" marL="0">
              <a:buNone/>
            </a:pPr>
            <a:r>
              <a:rPr lang="en-US" sz="1600" dirty="0">
                <a:solidFill>
                  <a:srgbClr val="FFFFFF"/>
                </a:solidFill>
                <a:latin typeface="Segoe UI Semibold" pitchFamily="34" charset="0"/>
                <a:ea typeface="Segoe UI Semibold" pitchFamily="34" charset="-122"/>
                <a:cs typeface="Segoe UI Semibold" pitchFamily="34" charset="-120"/>
              </a:rPr>
              <a:t>Models + solve</a:t>
            </a:r>
            <a:endParaRPr lang="en-US" sz="1600" dirty="0"/>
          </a:p>
        </p:txBody>
      </p:sp>
      <p:sp>
        <p:nvSpPr>
          <p:cNvPr id="22" name="Text 20"/>
          <p:cNvSpPr txBox="1"/>
          <p:nvPr/>
        </p:nvSpPr>
        <p:spPr>
          <a:xfrm>
            <a:off x="7534656" y="2880360"/>
            <a:ext cx="1691640" cy="822960"/>
          </a:xfrm>
          <a:prstGeom prst="rect">
            <a:avLst/>
          </a:prstGeom>
          <a:noFill/>
          <a:ln/>
        </p:spPr>
        <p:txBody>
          <a:bodyPr wrap="square" lIns="0" tIns="0" rIns="0" bIns="0" rtlCol="0" anchor="t"/>
          <a:lstStyle/>
          <a:p>
            <a:pPr algn="l" indent="0" marL="0">
              <a:buNone/>
            </a:pPr>
            <a:r>
              <a:rPr lang="en-US" sz="1200" dirty="0">
                <a:solidFill>
                  <a:srgbClr val="D9DFF5"/>
                </a:solidFill>
                <a:latin typeface="Segoe UI" pitchFamily="34" charset="0"/>
                <a:ea typeface="Segoe UI" pitchFamily="34" charset="-122"/>
                <a:cs typeface="Segoe UI" pitchFamily="34" charset="-120"/>
              </a:rPr>
              <a:t>drift-diffusion + heat, V</a:t>
            </a:r>
            <a:pPr algn="l" indent="0" marL="0">
              <a:buNone/>
            </a:pPr>
            <a:r>
              <a:rPr lang="en-US" sz="1200" baseline="-40000" dirty="0">
                <a:solidFill>
                  <a:srgbClr val="D9DFF5"/>
                </a:solidFill>
                <a:latin typeface="Segoe UI" pitchFamily="34" charset="0"/>
                <a:ea typeface="Segoe UI" pitchFamily="34" charset="-122"/>
                <a:cs typeface="Segoe UI" pitchFamily="34" charset="-120"/>
              </a:rPr>
              <a:t>G</a:t>
            </a:r>
            <a:pPr algn="l" indent="0" marL="0">
              <a:buNone/>
            </a:pPr>
            <a:r>
              <a:rPr lang="en-US" sz="1200" dirty="0">
                <a:solidFill>
                  <a:srgbClr val="D9DFF5"/>
                </a:solidFill>
                <a:latin typeface="Segoe UI" pitchFamily="34" charset="0"/>
                <a:ea typeface="Segoe UI" pitchFamily="34" charset="-122"/>
                <a:cs typeface="Segoe UI" pitchFamily="34" charset="-120"/>
              </a:rPr>
              <a:t> sweep</a:t>
            </a:r>
            <a:endParaRPr lang="en-US" sz="1200" dirty="0"/>
          </a:p>
        </p:txBody>
      </p:sp>
      <p:sp>
        <p:nvSpPr>
          <p:cNvPr id="23" name="Text 21"/>
          <p:cNvSpPr txBox="1"/>
          <p:nvPr/>
        </p:nvSpPr>
        <p:spPr>
          <a:xfrm>
            <a:off x="9363456" y="2697480"/>
            <a:ext cx="256032" cy="457200"/>
          </a:xfrm>
          <a:prstGeom prst="rect">
            <a:avLst/>
          </a:prstGeom>
          <a:noFill/>
          <a:ln/>
        </p:spPr>
        <p:txBody>
          <a:bodyPr wrap="square" lIns="0" tIns="0" rIns="0" bIns="0" rtlCol="0" anchor="t"/>
          <a:lstStyle/>
          <a:p>
            <a:pPr algn="ctr" indent="0" marL="0">
              <a:buNone/>
            </a:pPr>
            <a:r>
              <a:rPr lang="en-US" sz="1800" dirty="0">
                <a:solidFill>
                  <a:srgbClr val="8A8D93"/>
                </a:solidFill>
                <a:latin typeface="Segoe UI" pitchFamily="34" charset="0"/>
                <a:ea typeface="Segoe UI" pitchFamily="34" charset="-122"/>
                <a:cs typeface="Segoe UI" pitchFamily="34" charset="-120"/>
              </a:rPr>
              <a:t>→</a:t>
            </a:r>
            <a:endParaRPr lang="en-US" sz="1800" dirty="0"/>
          </a:p>
        </p:txBody>
      </p:sp>
      <p:sp>
        <p:nvSpPr>
          <p:cNvPr id="24" name="Shape 22"/>
          <p:cNvSpPr/>
          <p:nvPr/>
        </p:nvSpPr>
        <p:spPr>
          <a:xfrm>
            <a:off x="9619488" y="2011680"/>
            <a:ext cx="2011680" cy="1828800"/>
          </a:xfrm>
          <a:prstGeom prst="roundRect">
            <a:avLst>
              <a:gd name="adj" fmla="val 4000"/>
            </a:avLst>
          </a:prstGeom>
          <a:solidFill>
            <a:srgbClr val="F4F5F7"/>
          </a:solidFill>
          <a:ln/>
        </p:spPr>
      </p:sp>
      <p:sp>
        <p:nvSpPr>
          <p:cNvPr id="25" name="Text 23"/>
          <p:cNvSpPr txBox="1"/>
          <p:nvPr/>
        </p:nvSpPr>
        <p:spPr>
          <a:xfrm>
            <a:off x="9802368" y="2148840"/>
            <a:ext cx="914400" cy="274320"/>
          </a:xfrm>
          <a:prstGeom prst="rect">
            <a:avLst/>
          </a:prstGeom>
          <a:noFill/>
          <a:ln/>
        </p:spPr>
        <p:txBody>
          <a:bodyPr wrap="square" lIns="0" tIns="0" rIns="0" bIns="0" rtlCol="0" anchor="t"/>
          <a:lstStyle/>
          <a:p>
            <a:pPr algn="l" indent="0" marL="0">
              <a:buNone/>
            </a:pPr>
            <a:r>
              <a:rPr lang="en-US" sz="1100" dirty="0">
                <a:solidFill>
                  <a:srgbClr val="8A8D93"/>
                </a:solidFill>
                <a:latin typeface="Segoe UI Semibold" pitchFamily="34" charset="0"/>
                <a:ea typeface="Segoe UI Semibold" pitchFamily="34" charset="-122"/>
                <a:cs typeface="Segoe UI Semibold" pitchFamily="34" charset="-120"/>
              </a:rPr>
              <a:t>05</a:t>
            </a:r>
            <a:endParaRPr lang="en-US" sz="1100" dirty="0"/>
          </a:p>
        </p:txBody>
      </p:sp>
      <p:sp>
        <p:nvSpPr>
          <p:cNvPr id="26" name="Text 24"/>
          <p:cNvSpPr txBox="1"/>
          <p:nvPr/>
        </p:nvSpPr>
        <p:spPr>
          <a:xfrm>
            <a:off x="9802368" y="2468880"/>
            <a:ext cx="1737360" cy="365760"/>
          </a:xfrm>
          <a:prstGeom prst="rect">
            <a:avLst/>
          </a:prstGeom>
          <a:noFill/>
          <a:ln/>
        </p:spPr>
        <p:txBody>
          <a:bodyPr wrap="square" lIns="0" tIns="0" rIns="0" bIns="0" rtlCol="0" anchor="t"/>
          <a:lstStyle/>
          <a:p>
            <a:pPr algn="l" indent="0" marL="0">
              <a:buNone/>
            </a:pPr>
            <a:r>
              <a:rPr lang="en-US" sz="1600" dirty="0">
                <a:solidFill>
                  <a:srgbClr val="171A20"/>
                </a:solidFill>
                <a:latin typeface="Segoe UI Semibold" pitchFamily="34" charset="0"/>
                <a:ea typeface="Segoe UI Semibold" pitchFamily="34" charset="-122"/>
                <a:cs typeface="Segoe UI Semibold" pitchFamily="34" charset="-120"/>
              </a:rPr>
              <a:t>Extract</a:t>
            </a:r>
            <a:endParaRPr lang="en-US" sz="1600" dirty="0"/>
          </a:p>
        </p:txBody>
      </p:sp>
      <p:sp>
        <p:nvSpPr>
          <p:cNvPr id="27" name="Text 25"/>
          <p:cNvSpPr txBox="1"/>
          <p:nvPr/>
        </p:nvSpPr>
        <p:spPr>
          <a:xfrm>
            <a:off x="9802368" y="2880360"/>
            <a:ext cx="1691640" cy="82296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V</a:t>
            </a:r>
            <a:pPr algn="l" indent="0" marL="0">
              <a:buNone/>
            </a:pPr>
            <a:r>
              <a:rPr lang="en-US" sz="1200" baseline="-40000" dirty="0">
                <a:solidFill>
                  <a:srgbClr val="5C5E62"/>
                </a:solidFill>
                <a:latin typeface="Segoe UI" pitchFamily="34" charset="0"/>
                <a:ea typeface="Segoe UI" pitchFamily="34" charset="-122"/>
                <a:cs typeface="Segoe UI" pitchFamily="34" charset="-120"/>
              </a:rPr>
              <a:t>T</a:t>
            </a:r>
            <a:pPr algn="l" indent="0" marL="0">
              <a:buNone/>
            </a:pPr>
            <a:r>
              <a:rPr lang="en-US" sz="1200" dirty="0">
                <a:solidFill>
                  <a:srgbClr val="5C5E62"/>
                </a:solidFill>
                <a:latin typeface="Segoe UI" pitchFamily="34" charset="0"/>
                <a:ea typeface="Segoe UI" pitchFamily="34" charset="-122"/>
                <a:cs typeface="Segoe UI" pitchFamily="34" charset="-120"/>
              </a:rPr>
              <a:t>, SS, DIBL, I</a:t>
            </a:r>
            <a:pPr algn="l" indent="0" marL="0">
              <a:buNone/>
            </a:pPr>
            <a:r>
              <a:rPr lang="en-US" sz="1200" baseline="-40000" dirty="0">
                <a:solidFill>
                  <a:srgbClr val="5C5E62"/>
                </a:solidFill>
                <a:latin typeface="Segoe UI" pitchFamily="34" charset="0"/>
                <a:ea typeface="Segoe UI" pitchFamily="34" charset="-122"/>
                <a:cs typeface="Segoe UI" pitchFamily="34" charset="-120"/>
              </a:rPr>
              <a:t>on</a:t>
            </a:r>
            <a:pPr algn="l" indent="0" marL="0">
              <a:buNone/>
            </a:pPr>
            <a:r>
              <a:rPr lang="en-US" sz="1200" dirty="0">
                <a:solidFill>
                  <a:srgbClr val="5C5E62"/>
                </a:solidFill>
                <a:latin typeface="Segoe UI" pitchFamily="34" charset="0"/>
                <a:ea typeface="Segoe UI" pitchFamily="34" charset="-122"/>
                <a:cs typeface="Segoe UI" pitchFamily="34" charset="-120"/>
              </a:rPr>
              <a:t>, I</a:t>
            </a:r>
            <a:pPr algn="l" indent="0" marL="0">
              <a:buNone/>
            </a:pPr>
            <a:r>
              <a:rPr lang="en-US" sz="1200" baseline="-40000" dirty="0">
                <a:solidFill>
                  <a:srgbClr val="5C5E62"/>
                </a:solidFill>
                <a:latin typeface="Segoe UI" pitchFamily="34" charset="0"/>
                <a:ea typeface="Segoe UI" pitchFamily="34" charset="-122"/>
                <a:cs typeface="Segoe UI" pitchFamily="34" charset="-120"/>
              </a:rPr>
              <a:t>off</a:t>
            </a:r>
            <a:pPr algn="l" indent="0" marL="0">
              <a:buNone/>
            </a:pPr>
            <a:r>
              <a:rPr lang="en-US" sz="1200" dirty="0">
                <a:solidFill>
                  <a:srgbClr val="5C5E62"/>
                </a:solidFill>
                <a:latin typeface="Segoe UI" pitchFamily="34" charset="0"/>
                <a:ea typeface="Segoe UI" pitchFamily="34" charset="-122"/>
                <a:cs typeface="Segoe UI" pitchFamily="34" charset="-120"/>
              </a:rPr>
              <a:t>, T</a:t>
            </a:r>
            <a:pPr algn="l" indent="0" marL="0">
              <a:buNone/>
            </a:pPr>
            <a:r>
              <a:rPr lang="en-US" sz="1200" baseline="-40000" dirty="0">
                <a:solidFill>
                  <a:srgbClr val="5C5E62"/>
                </a:solidFill>
                <a:latin typeface="Segoe UI" pitchFamily="34" charset="0"/>
                <a:ea typeface="Segoe UI" pitchFamily="34" charset="-122"/>
                <a:cs typeface="Segoe UI" pitchFamily="34" charset="-120"/>
              </a:rPr>
              <a:t>max</a:t>
            </a:r>
            <a:endParaRPr lang="en-US" sz="1200" dirty="0"/>
          </a:p>
        </p:txBody>
      </p:sp>
      <p:sp>
        <p:nvSpPr>
          <p:cNvPr id="28" name="Text 26"/>
          <p:cNvSpPr txBox="1"/>
          <p:nvPr/>
        </p:nvSpPr>
        <p:spPr>
          <a:xfrm>
            <a:off x="548640" y="4206240"/>
            <a:ext cx="11064240" cy="27432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Tools: Atlas 5.28.1.R (device + lattice heat) · DeckBuild (deck + extract) · TonyPlot (plots)</a:t>
            </a:r>
            <a:endParaRPr lang="en-US" sz="1300" dirty="0"/>
          </a:p>
        </p:txBody>
      </p:sp>
      <p:sp>
        <p:nvSpPr>
          <p:cNvPr id="2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One deck, five steps; only a few lines change between stages.</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109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Methodology – What Atlas solves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Electricity and heat are solved together, because each changes the other</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E2E3E3"/>
          </a:solidFill>
          <a:ln/>
        </p:spPr>
      </p:sp>
      <p:sp>
        <p:nvSpPr>
          <p:cNvPr id="6" name="!!sdot2"/>
          <p:cNvSpPr/>
          <p:nvPr/>
        </p:nvSpPr>
        <p:spPr>
          <a:xfrm>
            <a:off x="11132820" y="525780"/>
            <a:ext cx="82296" cy="82296"/>
          </a:xfrm>
          <a:prstGeom prst="ellipse">
            <a:avLst/>
          </a:prstGeom>
          <a:solidFill>
            <a:srgbClr val="E2E3E3"/>
          </a:solidFill>
          <a:ln/>
        </p:spPr>
      </p:sp>
      <p:sp>
        <p:nvSpPr>
          <p:cNvPr id="7" name="!!sdot3"/>
          <p:cNvSpPr/>
          <p:nvPr/>
        </p:nvSpPr>
        <p:spPr>
          <a:xfrm>
            <a:off x="11288268" y="525780"/>
            <a:ext cx="82296" cy="82296"/>
          </a:xfrm>
          <a:prstGeom prst="ellipse">
            <a:avLst/>
          </a:prstGeom>
          <a:solidFill>
            <a:srgbClr val="E2E3E3"/>
          </a:solidFill>
          <a:ln/>
        </p:spPr>
      </p:sp>
      <p:sp>
        <p:nvSpPr>
          <p:cNvPr id="8" name="!!sdot4"/>
          <p:cNvSpPr/>
          <p:nvPr/>
        </p:nvSpPr>
        <p:spPr>
          <a:xfrm>
            <a:off x="11443716" y="525780"/>
            <a:ext cx="82296" cy="82296"/>
          </a:xfrm>
          <a:prstGeom prst="ellipse">
            <a:avLst/>
          </a:prstGeom>
          <a:solidFill>
            <a:srgbClr val="E2E3E3"/>
          </a:solidFill>
          <a:ln/>
        </p:spPr>
      </p:sp>
      <p:sp>
        <p:nvSpPr>
          <p:cNvPr id="9" name="!!sdot5"/>
          <p:cNvSpPr/>
          <p:nvPr/>
        </p:nvSpPr>
        <p:spPr>
          <a:xfrm>
            <a:off x="11599164" y="525780"/>
            <a:ext cx="82296" cy="82296"/>
          </a:xfrm>
          <a:prstGeom prst="ellipse">
            <a:avLst/>
          </a:prstGeom>
          <a:solidFill>
            <a:srgbClr val="E2E3E3"/>
          </a:solidFill>
          <a:ln/>
        </p:spPr>
      </p:sp>
      <p:sp>
        <p:nvSpPr>
          <p:cNvPr id="10" name="!!asL0"/>
          <p:cNvSpPr/>
          <p:nvPr/>
        </p:nvSpPr>
        <p:spPr>
          <a:xfrm>
            <a:off x="2560320" y="1920240"/>
            <a:ext cx="2286000" cy="1005840"/>
          </a:xfrm>
          <a:prstGeom prst="line">
            <a:avLst/>
          </a:prstGeom>
          <a:noFill/>
          <a:ln w="15875">
            <a:solidFill>
              <a:srgbClr val="E4E6EA"/>
            </a:solidFill>
            <a:prstDash val="solid"/>
          </a:ln>
        </p:spPr>
      </p:sp>
      <p:sp>
        <p:nvSpPr>
          <p:cNvPr id="11" name="!!asL1"/>
          <p:cNvSpPr/>
          <p:nvPr/>
        </p:nvSpPr>
        <p:spPr>
          <a:xfrm>
            <a:off x="4846320" y="2926080"/>
            <a:ext cx="91" cy="1325880"/>
          </a:xfrm>
          <a:prstGeom prst="line">
            <a:avLst/>
          </a:prstGeom>
          <a:noFill/>
          <a:ln w="15875">
            <a:solidFill>
              <a:srgbClr val="E4E6EA"/>
            </a:solidFill>
            <a:prstDash val="solid"/>
          </a:ln>
        </p:spPr>
      </p:sp>
      <p:sp>
        <p:nvSpPr>
          <p:cNvPr id="12" name="!!asL2"/>
          <p:cNvSpPr/>
          <p:nvPr/>
        </p:nvSpPr>
        <p:spPr>
          <a:xfrm flipH="1">
            <a:off x="2560320" y="4251960"/>
            <a:ext cx="2286000" cy="1005840"/>
          </a:xfrm>
          <a:prstGeom prst="line">
            <a:avLst/>
          </a:prstGeom>
          <a:noFill/>
          <a:ln w="15875">
            <a:solidFill>
              <a:srgbClr val="E4E6EA"/>
            </a:solidFill>
            <a:prstDash val="solid"/>
          </a:ln>
        </p:spPr>
      </p:sp>
      <p:sp>
        <p:nvSpPr>
          <p:cNvPr id="13" name="!!asL3"/>
          <p:cNvSpPr/>
          <p:nvPr/>
        </p:nvSpPr>
        <p:spPr>
          <a:xfrm>
            <a:off x="1554480" y="3566160"/>
            <a:ext cx="1005840" cy="1691640"/>
          </a:xfrm>
          <a:prstGeom prst="line">
            <a:avLst/>
          </a:prstGeom>
          <a:noFill/>
          <a:ln w="15875">
            <a:solidFill>
              <a:srgbClr val="E4E6EA"/>
            </a:solidFill>
            <a:prstDash val="solid"/>
          </a:ln>
        </p:spPr>
      </p:sp>
      <p:sp>
        <p:nvSpPr>
          <p:cNvPr id="14" name="!!asL4"/>
          <p:cNvSpPr/>
          <p:nvPr/>
        </p:nvSpPr>
        <p:spPr>
          <a:xfrm flipH="1">
            <a:off x="1554480" y="2926080"/>
            <a:ext cx="3291840" cy="640080"/>
          </a:xfrm>
          <a:prstGeom prst="line">
            <a:avLst/>
          </a:prstGeom>
          <a:noFill/>
          <a:ln w="15875">
            <a:solidFill>
              <a:srgbClr val="E4E6EA"/>
            </a:solidFill>
            <a:prstDash val="solid"/>
          </a:ln>
        </p:spPr>
      </p:sp>
      <p:sp>
        <p:nvSpPr>
          <p:cNvPr id="15" name="!!asN0"/>
          <p:cNvSpPr/>
          <p:nvPr/>
        </p:nvSpPr>
        <p:spPr>
          <a:xfrm>
            <a:off x="1554480" y="1600200"/>
            <a:ext cx="2011680" cy="640080"/>
          </a:xfrm>
          <a:prstGeom prst="roundRect">
            <a:avLst>
              <a:gd name="adj" fmla="val 14286"/>
            </a:avLst>
          </a:prstGeom>
          <a:solidFill>
            <a:srgbClr val="1F2F6B"/>
          </a:solidFill>
          <a:ln/>
        </p:spPr>
      </p:sp>
      <p:sp>
        <p:nvSpPr>
          <p:cNvPr id="16" name="!!asNt0"/>
          <p:cNvSpPr txBox="1"/>
          <p:nvPr/>
        </p:nvSpPr>
        <p:spPr>
          <a:xfrm>
            <a:off x="1554480" y="165506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Poisson</a:t>
            </a:r>
            <a:endParaRPr lang="en-US" sz="1300" dirty="0"/>
          </a:p>
        </p:txBody>
      </p:sp>
      <p:sp>
        <p:nvSpPr>
          <p:cNvPr id="17" name="!!asNd0"/>
          <p:cNvSpPr txBox="1"/>
          <p:nvPr/>
        </p:nvSpPr>
        <p:spPr>
          <a:xfrm>
            <a:off x="1554480" y="192938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potential ψ</a:t>
            </a:r>
            <a:endParaRPr lang="en-US" sz="1000" dirty="0"/>
          </a:p>
        </p:txBody>
      </p:sp>
      <p:sp>
        <p:nvSpPr>
          <p:cNvPr id="18" name="!!asN1"/>
          <p:cNvSpPr/>
          <p:nvPr/>
        </p:nvSpPr>
        <p:spPr>
          <a:xfrm>
            <a:off x="3840480" y="2606040"/>
            <a:ext cx="2011680" cy="640080"/>
          </a:xfrm>
          <a:prstGeom prst="roundRect">
            <a:avLst>
              <a:gd name="adj" fmla="val 14286"/>
            </a:avLst>
          </a:prstGeom>
          <a:solidFill>
            <a:srgbClr val="F4F5F7"/>
          </a:solidFill>
          <a:ln/>
        </p:spPr>
      </p:sp>
      <p:sp>
        <p:nvSpPr>
          <p:cNvPr id="19" name="!!asNt1"/>
          <p:cNvSpPr txBox="1"/>
          <p:nvPr/>
        </p:nvSpPr>
        <p:spPr>
          <a:xfrm>
            <a:off x="3840480" y="2660904"/>
            <a:ext cx="2011680" cy="292608"/>
          </a:xfrm>
          <a:prstGeom prst="rect">
            <a:avLst/>
          </a:prstGeom>
          <a:noFill/>
          <a:ln/>
        </p:spPr>
        <p:txBody>
          <a:bodyPr wrap="square" lIns="0" tIns="0" rIns="0" bIns="0" rtlCol="0" anchor="t"/>
          <a:lstStyle/>
          <a:p>
            <a:pPr algn="ctr" indent="0" marL="0">
              <a:buNone/>
            </a:pPr>
            <a:r>
              <a:rPr lang="en-US" sz="1300" dirty="0">
                <a:solidFill>
                  <a:srgbClr val="B7BAC0"/>
                </a:solidFill>
                <a:latin typeface="Segoe UI Semibold" pitchFamily="34" charset="0"/>
                <a:ea typeface="Segoe UI Semibold" pitchFamily="34" charset="-122"/>
                <a:cs typeface="Segoe UI Semibold" pitchFamily="34" charset="-120"/>
              </a:rPr>
              <a:t>Electron continuity</a:t>
            </a:r>
            <a:endParaRPr lang="en-US" sz="1300" dirty="0"/>
          </a:p>
        </p:txBody>
      </p:sp>
      <p:sp>
        <p:nvSpPr>
          <p:cNvPr id="20" name="!!asNd1"/>
          <p:cNvSpPr txBox="1"/>
          <p:nvPr/>
        </p:nvSpPr>
        <p:spPr>
          <a:xfrm>
            <a:off x="3840480" y="2935224"/>
            <a:ext cx="2011680" cy="256032"/>
          </a:xfrm>
          <a:prstGeom prst="rect">
            <a:avLst/>
          </a:prstGeom>
          <a:noFill/>
          <a:ln/>
        </p:spPr>
        <p:txBody>
          <a:bodyPr wrap="square" lIns="0" tIns="0" rIns="0" bIns="0" rtlCol="0" anchor="t"/>
          <a:lstStyle/>
          <a:p>
            <a:pPr algn="ctr" indent="0" marL="0">
              <a:buNone/>
            </a:pPr>
            <a:r>
              <a:rPr lang="en-US" sz="1000" dirty="0">
                <a:solidFill>
                  <a:srgbClr val="C9CCD3"/>
                </a:solidFill>
                <a:latin typeface="Segoe UI" pitchFamily="34" charset="0"/>
                <a:ea typeface="Segoe UI" pitchFamily="34" charset="-122"/>
                <a:cs typeface="Segoe UI" pitchFamily="34" charset="-120"/>
              </a:rPr>
              <a:t>current J</a:t>
            </a:r>
            <a:pPr algn="ctr" indent="0" marL="0">
              <a:buNone/>
            </a:pPr>
            <a:r>
              <a:rPr lang="en-US" sz="1000" baseline="-40000" dirty="0">
                <a:solidFill>
                  <a:srgbClr val="C9CCD3"/>
                </a:solidFill>
                <a:latin typeface="Segoe UI" pitchFamily="34" charset="0"/>
                <a:ea typeface="Segoe UI" pitchFamily="34" charset="-122"/>
                <a:cs typeface="Segoe UI" pitchFamily="34" charset="-120"/>
              </a:rPr>
              <a:t>n</a:t>
            </a:r>
            <a:endParaRPr lang="en-US" sz="1000" dirty="0"/>
          </a:p>
        </p:txBody>
      </p:sp>
      <p:sp>
        <p:nvSpPr>
          <p:cNvPr id="21" name="!!asN2"/>
          <p:cNvSpPr/>
          <p:nvPr/>
        </p:nvSpPr>
        <p:spPr>
          <a:xfrm>
            <a:off x="3840480" y="3931920"/>
            <a:ext cx="2011680" cy="640080"/>
          </a:xfrm>
          <a:prstGeom prst="roundRect">
            <a:avLst>
              <a:gd name="adj" fmla="val 14286"/>
            </a:avLst>
          </a:prstGeom>
          <a:solidFill>
            <a:srgbClr val="F4F5F7"/>
          </a:solidFill>
          <a:ln/>
        </p:spPr>
      </p:sp>
      <p:sp>
        <p:nvSpPr>
          <p:cNvPr id="22" name="!!asNt2"/>
          <p:cNvSpPr txBox="1"/>
          <p:nvPr/>
        </p:nvSpPr>
        <p:spPr>
          <a:xfrm>
            <a:off x="3840480" y="3986784"/>
            <a:ext cx="2011680" cy="292608"/>
          </a:xfrm>
          <a:prstGeom prst="rect">
            <a:avLst/>
          </a:prstGeom>
          <a:noFill/>
          <a:ln/>
        </p:spPr>
        <p:txBody>
          <a:bodyPr wrap="square" lIns="0" tIns="0" rIns="0" bIns="0" rtlCol="0" anchor="t"/>
          <a:lstStyle/>
          <a:p>
            <a:pPr algn="ctr" indent="0" marL="0">
              <a:buNone/>
            </a:pPr>
            <a:r>
              <a:rPr lang="en-US" sz="1300" dirty="0">
                <a:solidFill>
                  <a:srgbClr val="B7BAC0"/>
                </a:solidFill>
                <a:latin typeface="Segoe UI Semibold" pitchFamily="34" charset="0"/>
                <a:ea typeface="Segoe UI Semibold" pitchFamily="34" charset="-122"/>
                <a:cs typeface="Segoe UI Semibold" pitchFamily="34" charset="-120"/>
              </a:rPr>
              <a:t>Joule heat</a:t>
            </a:r>
            <a:endParaRPr lang="en-US" sz="1300" dirty="0"/>
          </a:p>
        </p:txBody>
      </p:sp>
      <p:sp>
        <p:nvSpPr>
          <p:cNvPr id="23" name="!!asNd2"/>
          <p:cNvSpPr txBox="1"/>
          <p:nvPr/>
        </p:nvSpPr>
        <p:spPr>
          <a:xfrm>
            <a:off x="3840480" y="4261104"/>
            <a:ext cx="2011680" cy="256032"/>
          </a:xfrm>
          <a:prstGeom prst="rect">
            <a:avLst/>
          </a:prstGeom>
          <a:noFill/>
          <a:ln/>
        </p:spPr>
        <p:txBody>
          <a:bodyPr wrap="square" lIns="0" tIns="0" rIns="0" bIns="0" rtlCol="0" anchor="t"/>
          <a:lstStyle/>
          <a:p>
            <a:pPr algn="ctr" indent="0" marL="0">
              <a:buNone/>
            </a:pPr>
            <a:r>
              <a:rPr lang="en-US" sz="1000" dirty="0">
                <a:solidFill>
                  <a:srgbClr val="C9CCD3"/>
                </a:solidFill>
                <a:latin typeface="Segoe UI" pitchFamily="34" charset="0"/>
                <a:ea typeface="Segoe UI" pitchFamily="34" charset="-122"/>
                <a:cs typeface="Segoe UI" pitchFamily="34" charset="-120"/>
              </a:rPr>
              <a:t>H = J · E</a:t>
            </a:r>
            <a:endParaRPr lang="en-US" sz="1000" dirty="0"/>
          </a:p>
        </p:txBody>
      </p:sp>
      <p:sp>
        <p:nvSpPr>
          <p:cNvPr id="24" name="!!asN3"/>
          <p:cNvSpPr/>
          <p:nvPr/>
        </p:nvSpPr>
        <p:spPr>
          <a:xfrm>
            <a:off x="1554480" y="4937760"/>
            <a:ext cx="2011680" cy="640080"/>
          </a:xfrm>
          <a:prstGeom prst="roundRect">
            <a:avLst>
              <a:gd name="adj" fmla="val 14286"/>
            </a:avLst>
          </a:prstGeom>
          <a:solidFill>
            <a:srgbClr val="F4F5F7"/>
          </a:solidFill>
          <a:ln/>
        </p:spPr>
      </p:sp>
      <p:sp>
        <p:nvSpPr>
          <p:cNvPr id="25" name="!!asNt3"/>
          <p:cNvSpPr txBox="1"/>
          <p:nvPr/>
        </p:nvSpPr>
        <p:spPr>
          <a:xfrm>
            <a:off x="1554480" y="4992624"/>
            <a:ext cx="2011680" cy="292608"/>
          </a:xfrm>
          <a:prstGeom prst="rect">
            <a:avLst/>
          </a:prstGeom>
          <a:noFill/>
          <a:ln/>
        </p:spPr>
        <p:txBody>
          <a:bodyPr wrap="square" lIns="0" tIns="0" rIns="0" bIns="0" rtlCol="0" anchor="t"/>
          <a:lstStyle/>
          <a:p>
            <a:pPr algn="ctr" indent="0" marL="0">
              <a:buNone/>
            </a:pPr>
            <a:r>
              <a:rPr lang="en-US" sz="1300" dirty="0">
                <a:solidFill>
                  <a:srgbClr val="B7BAC0"/>
                </a:solidFill>
                <a:latin typeface="Segoe UI Semibold" pitchFamily="34" charset="0"/>
                <a:ea typeface="Segoe UI Semibold" pitchFamily="34" charset="-122"/>
                <a:cs typeface="Segoe UI Semibold" pitchFamily="34" charset="-120"/>
              </a:rPr>
              <a:t>Heat equation</a:t>
            </a:r>
            <a:endParaRPr lang="en-US" sz="1300" dirty="0"/>
          </a:p>
        </p:txBody>
      </p:sp>
      <p:sp>
        <p:nvSpPr>
          <p:cNvPr id="26" name="!!asNd3"/>
          <p:cNvSpPr txBox="1"/>
          <p:nvPr/>
        </p:nvSpPr>
        <p:spPr>
          <a:xfrm>
            <a:off x="1554480" y="5266944"/>
            <a:ext cx="2011680" cy="256032"/>
          </a:xfrm>
          <a:prstGeom prst="rect">
            <a:avLst/>
          </a:prstGeom>
          <a:noFill/>
          <a:ln/>
        </p:spPr>
        <p:txBody>
          <a:bodyPr wrap="square" lIns="0" tIns="0" rIns="0" bIns="0" rtlCol="0" anchor="t"/>
          <a:lstStyle/>
          <a:p>
            <a:pPr algn="ctr" indent="0" marL="0">
              <a:buNone/>
            </a:pPr>
            <a:r>
              <a:rPr lang="en-US" sz="1000" dirty="0">
                <a:solidFill>
                  <a:srgbClr val="C9CCD3"/>
                </a:solidFill>
                <a:latin typeface="Segoe UI" pitchFamily="34" charset="0"/>
                <a:ea typeface="Segoe UI" pitchFamily="34" charset="-122"/>
                <a:cs typeface="Segoe UI" pitchFamily="34" charset="-120"/>
              </a:rPr>
              <a:t>lattice temp. T</a:t>
            </a:r>
            <a:pPr algn="ctr" indent="0" marL="0">
              <a:buNone/>
            </a:pPr>
            <a:r>
              <a:rPr lang="en-US" sz="1000" baseline="-40000" dirty="0">
                <a:solidFill>
                  <a:srgbClr val="C9CCD3"/>
                </a:solidFill>
                <a:latin typeface="Segoe UI" pitchFamily="34" charset="0"/>
                <a:ea typeface="Segoe UI" pitchFamily="34" charset="-122"/>
                <a:cs typeface="Segoe UI" pitchFamily="34" charset="-120"/>
              </a:rPr>
              <a:t>L</a:t>
            </a:r>
            <a:endParaRPr lang="en-US" sz="1000" dirty="0"/>
          </a:p>
        </p:txBody>
      </p:sp>
      <p:sp>
        <p:nvSpPr>
          <p:cNvPr id="27" name="!!asN4"/>
          <p:cNvSpPr/>
          <p:nvPr/>
        </p:nvSpPr>
        <p:spPr>
          <a:xfrm>
            <a:off x="548640" y="3246120"/>
            <a:ext cx="2011680" cy="640080"/>
          </a:xfrm>
          <a:prstGeom prst="roundRect">
            <a:avLst>
              <a:gd name="adj" fmla="val 14286"/>
            </a:avLst>
          </a:prstGeom>
          <a:solidFill>
            <a:srgbClr val="F4F5F7"/>
          </a:solidFill>
          <a:ln/>
        </p:spPr>
      </p:sp>
      <p:sp>
        <p:nvSpPr>
          <p:cNvPr id="28" name="!!asNt4"/>
          <p:cNvSpPr txBox="1"/>
          <p:nvPr/>
        </p:nvSpPr>
        <p:spPr>
          <a:xfrm>
            <a:off x="548640" y="3300984"/>
            <a:ext cx="2011680" cy="292608"/>
          </a:xfrm>
          <a:prstGeom prst="rect">
            <a:avLst/>
          </a:prstGeom>
          <a:noFill/>
          <a:ln/>
        </p:spPr>
        <p:txBody>
          <a:bodyPr wrap="square" lIns="0" tIns="0" rIns="0" bIns="0" rtlCol="0" anchor="t"/>
          <a:lstStyle/>
          <a:p>
            <a:pPr algn="ctr" indent="0" marL="0">
              <a:buNone/>
            </a:pPr>
            <a:r>
              <a:rPr lang="en-US" sz="1300" dirty="0">
                <a:solidFill>
                  <a:srgbClr val="B7BAC0"/>
                </a:solidFill>
                <a:latin typeface="Segoe UI Semibold" pitchFamily="34" charset="0"/>
                <a:ea typeface="Segoe UI Semibold" pitchFamily="34" charset="-122"/>
                <a:cs typeface="Segoe UI Semibold" pitchFamily="34" charset="-120"/>
              </a:rPr>
              <a:t>Mobility μ(T)</a:t>
            </a:r>
            <a:endParaRPr lang="en-US" sz="1300" dirty="0"/>
          </a:p>
        </p:txBody>
      </p:sp>
      <p:sp>
        <p:nvSpPr>
          <p:cNvPr id="29" name="!!asNd4"/>
          <p:cNvSpPr txBox="1"/>
          <p:nvPr/>
        </p:nvSpPr>
        <p:spPr>
          <a:xfrm>
            <a:off x="548640" y="3575304"/>
            <a:ext cx="2011680" cy="256032"/>
          </a:xfrm>
          <a:prstGeom prst="rect">
            <a:avLst/>
          </a:prstGeom>
          <a:noFill/>
          <a:ln/>
        </p:spPr>
        <p:txBody>
          <a:bodyPr wrap="square" lIns="0" tIns="0" rIns="0" bIns="0" rtlCol="0" anchor="t"/>
          <a:lstStyle/>
          <a:p>
            <a:pPr algn="ctr" indent="0" marL="0">
              <a:buNone/>
            </a:pPr>
            <a:r>
              <a:rPr lang="en-US" sz="1000" dirty="0">
                <a:solidFill>
                  <a:srgbClr val="C9CCD3"/>
                </a:solidFill>
                <a:latin typeface="Segoe UI" pitchFamily="34" charset="0"/>
                <a:ea typeface="Segoe UI" pitchFamily="34" charset="-122"/>
                <a:cs typeface="Segoe UI" pitchFamily="34" charset="-120"/>
              </a:rPr>
              <a:t>fldmob, cvt</a:t>
            </a:r>
            <a:endParaRPr lang="en-US" sz="1000" dirty="0"/>
          </a:p>
        </p:txBody>
      </p:sp>
      <p:sp>
        <p:nvSpPr>
          <p:cNvPr id="30" name="!!card"/>
          <p:cNvSpPr/>
          <p:nvPr/>
        </p:nvSpPr>
        <p:spPr>
          <a:xfrm>
            <a:off x="6949440" y="1600200"/>
            <a:ext cx="4690872" cy="2194560"/>
          </a:xfrm>
          <a:prstGeom prst="roundRect">
            <a:avLst>
              <a:gd name="adj" fmla="val 3333"/>
            </a:avLst>
          </a:prstGeom>
          <a:solidFill>
            <a:srgbClr val="F4F5F7"/>
          </a:solidFill>
          <a:ln/>
        </p:spPr>
      </p:sp>
      <p:sp>
        <p:nvSpPr>
          <p:cNvPr id="31" name="!!cardn"/>
          <p:cNvSpPr/>
          <p:nvPr/>
        </p:nvSpPr>
        <p:spPr>
          <a:xfrm>
            <a:off x="7159752" y="1810512"/>
            <a:ext cx="347472" cy="347472"/>
          </a:xfrm>
          <a:prstGeom prst="ellipse">
            <a:avLst/>
          </a:prstGeom>
          <a:solidFill>
            <a:srgbClr val="1F2F6B"/>
          </a:solidFill>
          <a:ln/>
        </p:spPr>
      </p:sp>
      <p:sp>
        <p:nvSpPr>
          <p:cNvPr id="32" name="!!cardnt"/>
          <p:cNvSpPr txBox="1"/>
          <p:nvPr/>
        </p:nvSpPr>
        <p:spPr>
          <a:xfrm>
            <a:off x="7159752" y="181051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33" name="!!cardh"/>
          <p:cNvSpPr txBox="1"/>
          <p:nvPr/>
        </p:nvSpPr>
        <p:spPr>
          <a:xfrm>
            <a:off x="7635240" y="1819656"/>
            <a:ext cx="3822192" cy="347472"/>
          </a:xfrm>
          <a:prstGeom prst="rect">
            <a:avLst/>
          </a:prstGeom>
          <a:noFill/>
          <a:ln/>
        </p:spPr>
        <p:txBody>
          <a:bodyPr wrap="square" lIns="0" tIns="0" rIns="0" bIns="0" rtlCol="0" anchor="ctr"/>
          <a:lstStyle/>
          <a:p>
            <a:pPr algn="l" indent="0" marL="0">
              <a:buNone/>
            </a:pPr>
            <a:r>
              <a:rPr lang="en-US" sz="1600" dirty="0">
                <a:solidFill>
                  <a:srgbClr val="1F2F6B"/>
                </a:solidFill>
                <a:latin typeface="Segoe UI Semibold" pitchFamily="34" charset="0"/>
                <a:ea typeface="Segoe UI Semibold" pitchFamily="34" charset="-122"/>
                <a:cs typeface="Segoe UI Semibold" pitchFamily="34" charset="-120"/>
              </a:rPr>
              <a:t>Poisson: the gate sets the potential</a:t>
            </a:r>
            <a:endParaRPr lang="en-US" sz="1600" dirty="0"/>
          </a:p>
        </p:txBody>
      </p:sp>
      <p:sp>
        <p:nvSpPr>
          <p:cNvPr id="34" name="!!cardb"/>
          <p:cNvSpPr txBox="1"/>
          <p:nvPr/>
        </p:nvSpPr>
        <p:spPr>
          <a:xfrm>
            <a:off x="7178040" y="2313432"/>
            <a:ext cx="4233672" cy="132588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Solves for ψ everywhere: the energy hill under the gate.</a:t>
            </a:r>
            <a:endParaRPr lang="en-US" sz="1300" dirty="0"/>
          </a:p>
        </p:txBody>
      </p:sp>
      <p:sp>
        <p:nvSpPr>
          <p:cNvPr id="35"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Atlas first finds the potential.</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110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Methodology – What Atlas solves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Electricity and heat are solved together, because each changes the other</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171A20"/>
          </a:solidFill>
          <a:ln/>
        </p:spPr>
      </p:sp>
      <p:sp>
        <p:nvSpPr>
          <p:cNvPr id="6" name="!!sdot2"/>
          <p:cNvSpPr/>
          <p:nvPr/>
        </p:nvSpPr>
        <p:spPr>
          <a:xfrm>
            <a:off x="11132820" y="525780"/>
            <a:ext cx="82296" cy="82296"/>
          </a:xfrm>
          <a:prstGeom prst="ellipse">
            <a:avLst/>
          </a:prstGeom>
          <a:solidFill>
            <a:srgbClr val="E2E3E3"/>
          </a:solidFill>
          <a:ln/>
        </p:spPr>
      </p:sp>
      <p:sp>
        <p:nvSpPr>
          <p:cNvPr id="7" name="!!sdot3"/>
          <p:cNvSpPr/>
          <p:nvPr/>
        </p:nvSpPr>
        <p:spPr>
          <a:xfrm>
            <a:off x="11288268" y="525780"/>
            <a:ext cx="82296" cy="82296"/>
          </a:xfrm>
          <a:prstGeom prst="ellipse">
            <a:avLst/>
          </a:prstGeom>
          <a:solidFill>
            <a:srgbClr val="E2E3E3"/>
          </a:solidFill>
          <a:ln/>
        </p:spPr>
      </p:sp>
      <p:sp>
        <p:nvSpPr>
          <p:cNvPr id="8" name="!!sdot4"/>
          <p:cNvSpPr/>
          <p:nvPr/>
        </p:nvSpPr>
        <p:spPr>
          <a:xfrm>
            <a:off x="11443716" y="525780"/>
            <a:ext cx="82296" cy="82296"/>
          </a:xfrm>
          <a:prstGeom prst="ellipse">
            <a:avLst/>
          </a:prstGeom>
          <a:solidFill>
            <a:srgbClr val="E2E3E3"/>
          </a:solidFill>
          <a:ln/>
        </p:spPr>
      </p:sp>
      <p:sp>
        <p:nvSpPr>
          <p:cNvPr id="9" name="!!sdot5"/>
          <p:cNvSpPr/>
          <p:nvPr/>
        </p:nvSpPr>
        <p:spPr>
          <a:xfrm>
            <a:off x="11599164" y="525780"/>
            <a:ext cx="82296" cy="82296"/>
          </a:xfrm>
          <a:prstGeom prst="ellipse">
            <a:avLst/>
          </a:prstGeom>
          <a:solidFill>
            <a:srgbClr val="E2E3E3"/>
          </a:solidFill>
          <a:ln/>
        </p:spPr>
      </p:sp>
      <p:sp>
        <p:nvSpPr>
          <p:cNvPr id="10" name="!!asL0"/>
          <p:cNvSpPr/>
          <p:nvPr/>
        </p:nvSpPr>
        <p:spPr>
          <a:xfrm>
            <a:off x="2560320" y="1920240"/>
            <a:ext cx="2286000" cy="1005840"/>
          </a:xfrm>
          <a:prstGeom prst="line">
            <a:avLst/>
          </a:prstGeom>
          <a:noFill/>
          <a:ln w="31750">
            <a:solidFill>
              <a:srgbClr val="3E6AE1"/>
            </a:solidFill>
            <a:prstDash val="solid"/>
            <a:tailEnd type="triangle"/>
          </a:ln>
        </p:spPr>
      </p:sp>
      <p:sp>
        <p:nvSpPr>
          <p:cNvPr id="11" name="!!asL1"/>
          <p:cNvSpPr/>
          <p:nvPr/>
        </p:nvSpPr>
        <p:spPr>
          <a:xfrm>
            <a:off x="4846320" y="2926080"/>
            <a:ext cx="91" cy="1325880"/>
          </a:xfrm>
          <a:prstGeom prst="line">
            <a:avLst/>
          </a:prstGeom>
          <a:noFill/>
          <a:ln w="15875">
            <a:solidFill>
              <a:srgbClr val="E4E6EA"/>
            </a:solidFill>
            <a:prstDash val="solid"/>
          </a:ln>
        </p:spPr>
      </p:sp>
      <p:sp>
        <p:nvSpPr>
          <p:cNvPr id="12" name="!!asL2"/>
          <p:cNvSpPr/>
          <p:nvPr/>
        </p:nvSpPr>
        <p:spPr>
          <a:xfrm flipH="1">
            <a:off x="2560320" y="4251960"/>
            <a:ext cx="2286000" cy="1005840"/>
          </a:xfrm>
          <a:prstGeom prst="line">
            <a:avLst/>
          </a:prstGeom>
          <a:noFill/>
          <a:ln w="15875">
            <a:solidFill>
              <a:srgbClr val="E4E6EA"/>
            </a:solidFill>
            <a:prstDash val="solid"/>
          </a:ln>
        </p:spPr>
      </p:sp>
      <p:sp>
        <p:nvSpPr>
          <p:cNvPr id="13" name="!!asL3"/>
          <p:cNvSpPr/>
          <p:nvPr/>
        </p:nvSpPr>
        <p:spPr>
          <a:xfrm>
            <a:off x="1554480" y="3566160"/>
            <a:ext cx="1005840" cy="1691640"/>
          </a:xfrm>
          <a:prstGeom prst="line">
            <a:avLst/>
          </a:prstGeom>
          <a:noFill/>
          <a:ln w="15875">
            <a:solidFill>
              <a:srgbClr val="E4E6EA"/>
            </a:solidFill>
            <a:prstDash val="solid"/>
          </a:ln>
        </p:spPr>
      </p:sp>
      <p:sp>
        <p:nvSpPr>
          <p:cNvPr id="14" name="!!asL4"/>
          <p:cNvSpPr/>
          <p:nvPr/>
        </p:nvSpPr>
        <p:spPr>
          <a:xfrm flipH="1">
            <a:off x="1554480" y="2926080"/>
            <a:ext cx="3291840" cy="640080"/>
          </a:xfrm>
          <a:prstGeom prst="line">
            <a:avLst/>
          </a:prstGeom>
          <a:noFill/>
          <a:ln w="15875">
            <a:solidFill>
              <a:srgbClr val="E4E6EA"/>
            </a:solidFill>
            <a:prstDash val="solid"/>
          </a:ln>
        </p:spPr>
      </p:sp>
      <p:sp>
        <p:nvSpPr>
          <p:cNvPr id="15" name="!!asN0"/>
          <p:cNvSpPr/>
          <p:nvPr/>
        </p:nvSpPr>
        <p:spPr>
          <a:xfrm>
            <a:off x="1554480" y="1600200"/>
            <a:ext cx="2011680" cy="640080"/>
          </a:xfrm>
          <a:prstGeom prst="roundRect">
            <a:avLst>
              <a:gd name="adj" fmla="val 14286"/>
            </a:avLst>
          </a:prstGeom>
          <a:solidFill>
            <a:srgbClr val="1F2F6B"/>
          </a:solidFill>
          <a:ln/>
        </p:spPr>
      </p:sp>
      <p:sp>
        <p:nvSpPr>
          <p:cNvPr id="16" name="!!asNt0"/>
          <p:cNvSpPr txBox="1"/>
          <p:nvPr/>
        </p:nvSpPr>
        <p:spPr>
          <a:xfrm>
            <a:off x="1554480" y="165506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Poisson</a:t>
            </a:r>
            <a:endParaRPr lang="en-US" sz="1300" dirty="0"/>
          </a:p>
        </p:txBody>
      </p:sp>
      <p:sp>
        <p:nvSpPr>
          <p:cNvPr id="17" name="!!asNd0"/>
          <p:cNvSpPr txBox="1"/>
          <p:nvPr/>
        </p:nvSpPr>
        <p:spPr>
          <a:xfrm>
            <a:off x="1554480" y="192938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potential ψ</a:t>
            </a:r>
            <a:endParaRPr lang="en-US" sz="1000" dirty="0"/>
          </a:p>
        </p:txBody>
      </p:sp>
      <p:sp>
        <p:nvSpPr>
          <p:cNvPr id="18" name="!!asN1"/>
          <p:cNvSpPr/>
          <p:nvPr/>
        </p:nvSpPr>
        <p:spPr>
          <a:xfrm>
            <a:off x="3840480" y="2606040"/>
            <a:ext cx="2011680" cy="640080"/>
          </a:xfrm>
          <a:prstGeom prst="roundRect">
            <a:avLst>
              <a:gd name="adj" fmla="val 14286"/>
            </a:avLst>
          </a:prstGeom>
          <a:solidFill>
            <a:srgbClr val="3E6AE1"/>
          </a:solidFill>
          <a:ln/>
        </p:spPr>
      </p:sp>
      <p:sp>
        <p:nvSpPr>
          <p:cNvPr id="19" name="!!asNt1"/>
          <p:cNvSpPr txBox="1"/>
          <p:nvPr/>
        </p:nvSpPr>
        <p:spPr>
          <a:xfrm>
            <a:off x="3840480" y="266090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Electron continuity</a:t>
            </a:r>
            <a:endParaRPr lang="en-US" sz="1300" dirty="0"/>
          </a:p>
        </p:txBody>
      </p:sp>
      <p:sp>
        <p:nvSpPr>
          <p:cNvPr id="20" name="!!asNd1"/>
          <p:cNvSpPr txBox="1"/>
          <p:nvPr/>
        </p:nvSpPr>
        <p:spPr>
          <a:xfrm>
            <a:off x="3840480" y="293522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current J</a:t>
            </a:r>
            <a:pPr algn="ctr" indent="0" marL="0">
              <a:buNone/>
            </a:pPr>
            <a:r>
              <a:rPr lang="en-US" sz="1000" baseline="-40000" dirty="0">
                <a:solidFill>
                  <a:srgbClr val="E8ECF5"/>
                </a:solidFill>
                <a:latin typeface="Segoe UI" pitchFamily="34" charset="0"/>
                <a:ea typeface="Segoe UI" pitchFamily="34" charset="-122"/>
                <a:cs typeface="Segoe UI" pitchFamily="34" charset="-120"/>
              </a:rPr>
              <a:t>n</a:t>
            </a:r>
            <a:endParaRPr lang="en-US" sz="1000" dirty="0"/>
          </a:p>
        </p:txBody>
      </p:sp>
      <p:sp>
        <p:nvSpPr>
          <p:cNvPr id="21" name="!!asN2"/>
          <p:cNvSpPr/>
          <p:nvPr/>
        </p:nvSpPr>
        <p:spPr>
          <a:xfrm>
            <a:off x="3840480" y="3931920"/>
            <a:ext cx="2011680" cy="640080"/>
          </a:xfrm>
          <a:prstGeom prst="roundRect">
            <a:avLst>
              <a:gd name="adj" fmla="val 14286"/>
            </a:avLst>
          </a:prstGeom>
          <a:solidFill>
            <a:srgbClr val="F4F5F7"/>
          </a:solidFill>
          <a:ln/>
        </p:spPr>
      </p:sp>
      <p:sp>
        <p:nvSpPr>
          <p:cNvPr id="22" name="!!asNt2"/>
          <p:cNvSpPr txBox="1"/>
          <p:nvPr/>
        </p:nvSpPr>
        <p:spPr>
          <a:xfrm>
            <a:off x="3840480" y="3986784"/>
            <a:ext cx="2011680" cy="292608"/>
          </a:xfrm>
          <a:prstGeom prst="rect">
            <a:avLst/>
          </a:prstGeom>
          <a:noFill/>
          <a:ln/>
        </p:spPr>
        <p:txBody>
          <a:bodyPr wrap="square" lIns="0" tIns="0" rIns="0" bIns="0" rtlCol="0" anchor="t"/>
          <a:lstStyle/>
          <a:p>
            <a:pPr algn="ctr" indent="0" marL="0">
              <a:buNone/>
            </a:pPr>
            <a:r>
              <a:rPr lang="en-US" sz="1300" dirty="0">
                <a:solidFill>
                  <a:srgbClr val="B7BAC0"/>
                </a:solidFill>
                <a:latin typeface="Segoe UI Semibold" pitchFamily="34" charset="0"/>
                <a:ea typeface="Segoe UI Semibold" pitchFamily="34" charset="-122"/>
                <a:cs typeface="Segoe UI Semibold" pitchFamily="34" charset="-120"/>
              </a:rPr>
              <a:t>Joule heat</a:t>
            </a:r>
            <a:endParaRPr lang="en-US" sz="1300" dirty="0"/>
          </a:p>
        </p:txBody>
      </p:sp>
      <p:sp>
        <p:nvSpPr>
          <p:cNvPr id="23" name="!!asNd2"/>
          <p:cNvSpPr txBox="1"/>
          <p:nvPr/>
        </p:nvSpPr>
        <p:spPr>
          <a:xfrm>
            <a:off x="3840480" y="4261104"/>
            <a:ext cx="2011680" cy="256032"/>
          </a:xfrm>
          <a:prstGeom prst="rect">
            <a:avLst/>
          </a:prstGeom>
          <a:noFill/>
          <a:ln/>
        </p:spPr>
        <p:txBody>
          <a:bodyPr wrap="square" lIns="0" tIns="0" rIns="0" bIns="0" rtlCol="0" anchor="t"/>
          <a:lstStyle/>
          <a:p>
            <a:pPr algn="ctr" indent="0" marL="0">
              <a:buNone/>
            </a:pPr>
            <a:r>
              <a:rPr lang="en-US" sz="1000" dirty="0">
                <a:solidFill>
                  <a:srgbClr val="C9CCD3"/>
                </a:solidFill>
                <a:latin typeface="Segoe UI" pitchFamily="34" charset="0"/>
                <a:ea typeface="Segoe UI" pitchFamily="34" charset="-122"/>
                <a:cs typeface="Segoe UI" pitchFamily="34" charset="-120"/>
              </a:rPr>
              <a:t>H = J · E</a:t>
            </a:r>
            <a:endParaRPr lang="en-US" sz="1000" dirty="0"/>
          </a:p>
        </p:txBody>
      </p:sp>
      <p:sp>
        <p:nvSpPr>
          <p:cNvPr id="24" name="!!asN3"/>
          <p:cNvSpPr/>
          <p:nvPr/>
        </p:nvSpPr>
        <p:spPr>
          <a:xfrm>
            <a:off x="1554480" y="4937760"/>
            <a:ext cx="2011680" cy="640080"/>
          </a:xfrm>
          <a:prstGeom prst="roundRect">
            <a:avLst>
              <a:gd name="adj" fmla="val 14286"/>
            </a:avLst>
          </a:prstGeom>
          <a:solidFill>
            <a:srgbClr val="F4F5F7"/>
          </a:solidFill>
          <a:ln/>
        </p:spPr>
      </p:sp>
      <p:sp>
        <p:nvSpPr>
          <p:cNvPr id="25" name="!!asNt3"/>
          <p:cNvSpPr txBox="1"/>
          <p:nvPr/>
        </p:nvSpPr>
        <p:spPr>
          <a:xfrm>
            <a:off x="1554480" y="4992624"/>
            <a:ext cx="2011680" cy="292608"/>
          </a:xfrm>
          <a:prstGeom prst="rect">
            <a:avLst/>
          </a:prstGeom>
          <a:noFill/>
          <a:ln/>
        </p:spPr>
        <p:txBody>
          <a:bodyPr wrap="square" lIns="0" tIns="0" rIns="0" bIns="0" rtlCol="0" anchor="t"/>
          <a:lstStyle/>
          <a:p>
            <a:pPr algn="ctr" indent="0" marL="0">
              <a:buNone/>
            </a:pPr>
            <a:r>
              <a:rPr lang="en-US" sz="1300" dirty="0">
                <a:solidFill>
                  <a:srgbClr val="B7BAC0"/>
                </a:solidFill>
                <a:latin typeface="Segoe UI Semibold" pitchFamily="34" charset="0"/>
                <a:ea typeface="Segoe UI Semibold" pitchFamily="34" charset="-122"/>
                <a:cs typeface="Segoe UI Semibold" pitchFamily="34" charset="-120"/>
              </a:rPr>
              <a:t>Heat equation</a:t>
            </a:r>
            <a:endParaRPr lang="en-US" sz="1300" dirty="0"/>
          </a:p>
        </p:txBody>
      </p:sp>
      <p:sp>
        <p:nvSpPr>
          <p:cNvPr id="26" name="!!asNd3"/>
          <p:cNvSpPr txBox="1"/>
          <p:nvPr/>
        </p:nvSpPr>
        <p:spPr>
          <a:xfrm>
            <a:off x="1554480" y="5266944"/>
            <a:ext cx="2011680" cy="256032"/>
          </a:xfrm>
          <a:prstGeom prst="rect">
            <a:avLst/>
          </a:prstGeom>
          <a:noFill/>
          <a:ln/>
        </p:spPr>
        <p:txBody>
          <a:bodyPr wrap="square" lIns="0" tIns="0" rIns="0" bIns="0" rtlCol="0" anchor="t"/>
          <a:lstStyle/>
          <a:p>
            <a:pPr algn="ctr" indent="0" marL="0">
              <a:buNone/>
            </a:pPr>
            <a:r>
              <a:rPr lang="en-US" sz="1000" dirty="0">
                <a:solidFill>
                  <a:srgbClr val="C9CCD3"/>
                </a:solidFill>
                <a:latin typeface="Segoe UI" pitchFamily="34" charset="0"/>
                <a:ea typeface="Segoe UI" pitchFamily="34" charset="-122"/>
                <a:cs typeface="Segoe UI" pitchFamily="34" charset="-120"/>
              </a:rPr>
              <a:t>lattice temp. T</a:t>
            </a:r>
            <a:pPr algn="ctr" indent="0" marL="0">
              <a:buNone/>
            </a:pPr>
            <a:r>
              <a:rPr lang="en-US" sz="1000" baseline="-40000" dirty="0">
                <a:solidFill>
                  <a:srgbClr val="C9CCD3"/>
                </a:solidFill>
                <a:latin typeface="Segoe UI" pitchFamily="34" charset="0"/>
                <a:ea typeface="Segoe UI" pitchFamily="34" charset="-122"/>
                <a:cs typeface="Segoe UI" pitchFamily="34" charset="-120"/>
              </a:rPr>
              <a:t>L</a:t>
            </a:r>
            <a:endParaRPr lang="en-US" sz="1000" dirty="0"/>
          </a:p>
        </p:txBody>
      </p:sp>
      <p:sp>
        <p:nvSpPr>
          <p:cNvPr id="27" name="!!asN4"/>
          <p:cNvSpPr/>
          <p:nvPr/>
        </p:nvSpPr>
        <p:spPr>
          <a:xfrm>
            <a:off x="548640" y="3246120"/>
            <a:ext cx="2011680" cy="640080"/>
          </a:xfrm>
          <a:prstGeom prst="roundRect">
            <a:avLst>
              <a:gd name="adj" fmla="val 14286"/>
            </a:avLst>
          </a:prstGeom>
          <a:solidFill>
            <a:srgbClr val="F4F5F7"/>
          </a:solidFill>
          <a:ln/>
        </p:spPr>
      </p:sp>
      <p:sp>
        <p:nvSpPr>
          <p:cNvPr id="28" name="!!asNt4"/>
          <p:cNvSpPr txBox="1"/>
          <p:nvPr/>
        </p:nvSpPr>
        <p:spPr>
          <a:xfrm>
            <a:off x="548640" y="3300984"/>
            <a:ext cx="2011680" cy="292608"/>
          </a:xfrm>
          <a:prstGeom prst="rect">
            <a:avLst/>
          </a:prstGeom>
          <a:noFill/>
          <a:ln/>
        </p:spPr>
        <p:txBody>
          <a:bodyPr wrap="square" lIns="0" tIns="0" rIns="0" bIns="0" rtlCol="0" anchor="t"/>
          <a:lstStyle/>
          <a:p>
            <a:pPr algn="ctr" indent="0" marL="0">
              <a:buNone/>
            </a:pPr>
            <a:r>
              <a:rPr lang="en-US" sz="1300" dirty="0">
                <a:solidFill>
                  <a:srgbClr val="B7BAC0"/>
                </a:solidFill>
                <a:latin typeface="Segoe UI Semibold" pitchFamily="34" charset="0"/>
                <a:ea typeface="Segoe UI Semibold" pitchFamily="34" charset="-122"/>
                <a:cs typeface="Segoe UI Semibold" pitchFamily="34" charset="-120"/>
              </a:rPr>
              <a:t>Mobility μ(T)</a:t>
            </a:r>
            <a:endParaRPr lang="en-US" sz="1300" dirty="0"/>
          </a:p>
        </p:txBody>
      </p:sp>
      <p:sp>
        <p:nvSpPr>
          <p:cNvPr id="29" name="!!asNd4"/>
          <p:cNvSpPr txBox="1"/>
          <p:nvPr/>
        </p:nvSpPr>
        <p:spPr>
          <a:xfrm>
            <a:off x="548640" y="3575304"/>
            <a:ext cx="2011680" cy="256032"/>
          </a:xfrm>
          <a:prstGeom prst="rect">
            <a:avLst/>
          </a:prstGeom>
          <a:noFill/>
          <a:ln/>
        </p:spPr>
        <p:txBody>
          <a:bodyPr wrap="square" lIns="0" tIns="0" rIns="0" bIns="0" rtlCol="0" anchor="t"/>
          <a:lstStyle/>
          <a:p>
            <a:pPr algn="ctr" indent="0" marL="0">
              <a:buNone/>
            </a:pPr>
            <a:r>
              <a:rPr lang="en-US" sz="1000" dirty="0">
                <a:solidFill>
                  <a:srgbClr val="C9CCD3"/>
                </a:solidFill>
                <a:latin typeface="Segoe UI" pitchFamily="34" charset="0"/>
                <a:ea typeface="Segoe UI" pitchFamily="34" charset="-122"/>
                <a:cs typeface="Segoe UI" pitchFamily="34" charset="-120"/>
              </a:rPr>
              <a:t>fldmob, cvt</a:t>
            </a:r>
            <a:endParaRPr lang="en-US" sz="1000" dirty="0"/>
          </a:p>
        </p:txBody>
      </p:sp>
      <p:sp>
        <p:nvSpPr>
          <p:cNvPr id="30" name="!!card"/>
          <p:cNvSpPr/>
          <p:nvPr/>
        </p:nvSpPr>
        <p:spPr>
          <a:xfrm>
            <a:off x="6949440" y="1600200"/>
            <a:ext cx="4690872" cy="2194560"/>
          </a:xfrm>
          <a:prstGeom prst="roundRect">
            <a:avLst>
              <a:gd name="adj" fmla="val 3333"/>
            </a:avLst>
          </a:prstGeom>
          <a:solidFill>
            <a:srgbClr val="F4F5F7"/>
          </a:solidFill>
          <a:ln/>
        </p:spPr>
      </p:sp>
      <p:sp>
        <p:nvSpPr>
          <p:cNvPr id="31" name="!!cardn"/>
          <p:cNvSpPr/>
          <p:nvPr/>
        </p:nvSpPr>
        <p:spPr>
          <a:xfrm>
            <a:off x="7159752" y="1810512"/>
            <a:ext cx="347472" cy="347472"/>
          </a:xfrm>
          <a:prstGeom prst="ellipse">
            <a:avLst/>
          </a:prstGeom>
          <a:solidFill>
            <a:srgbClr val="3E6AE1"/>
          </a:solidFill>
          <a:ln/>
        </p:spPr>
      </p:sp>
      <p:sp>
        <p:nvSpPr>
          <p:cNvPr id="32" name="!!cardnt"/>
          <p:cNvSpPr txBox="1"/>
          <p:nvPr/>
        </p:nvSpPr>
        <p:spPr>
          <a:xfrm>
            <a:off x="7159752" y="181051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33" name="!!cardh"/>
          <p:cNvSpPr txBox="1"/>
          <p:nvPr/>
        </p:nvSpPr>
        <p:spPr>
          <a:xfrm>
            <a:off x="7635240" y="1819656"/>
            <a:ext cx="3822192" cy="347472"/>
          </a:xfrm>
          <a:prstGeom prst="rect">
            <a:avLst/>
          </a:prstGeom>
          <a:noFill/>
          <a:ln/>
        </p:spPr>
        <p:txBody>
          <a:bodyPr wrap="square" lIns="0" tIns="0" rIns="0" bIns="0" rtlCol="0" anchor="ctr"/>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Current from the potential</a:t>
            </a:r>
            <a:endParaRPr lang="en-US" sz="1600" dirty="0"/>
          </a:p>
        </p:txBody>
      </p:sp>
      <p:sp>
        <p:nvSpPr>
          <p:cNvPr id="34" name="!!cardb"/>
          <p:cNvSpPr txBox="1"/>
          <p:nvPr/>
        </p:nvSpPr>
        <p:spPr>
          <a:xfrm>
            <a:off x="7178040" y="2313432"/>
            <a:ext cx="4233672" cy="132588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Electrons drift and diffuse: current J</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n</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Same physics as the I</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D</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–V</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G</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curves.</a:t>
            </a:r>
            <a:endParaRPr lang="en-US" sz="1300" dirty="0"/>
          </a:p>
        </p:txBody>
      </p:sp>
      <p:sp>
        <p:nvSpPr>
          <p:cNvPr id="35"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 potential drives the current.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111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Methodology – What Atlas solves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Electricity and heat are solved together, because each changes the other</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171A20"/>
          </a:solidFill>
          <a:ln/>
        </p:spPr>
      </p:sp>
      <p:sp>
        <p:nvSpPr>
          <p:cNvPr id="6" name="!!sdot2"/>
          <p:cNvSpPr/>
          <p:nvPr/>
        </p:nvSpPr>
        <p:spPr>
          <a:xfrm>
            <a:off x="11132820" y="525780"/>
            <a:ext cx="82296" cy="82296"/>
          </a:xfrm>
          <a:prstGeom prst="ellipse">
            <a:avLst/>
          </a:prstGeom>
          <a:solidFill>
            <a:srgbClr val="171A20"/>
          </a:solidFill>
          <a:ln/>
        </p:spPr>
      </p:sp>
      <p:sp>
        <p:nvSpPr>
          <p:cNvPr id="7" name="!!sdot3"/>
          <p:cNvSpPr/>
          <p:nvPr/>
        </p:nvSpPr>
        <p:spPr>
          <a:xfrm>
            <a:off x="11288268" y="525780"/>
            <a:ext cx="82296" cy="82296"/>
          </a:xfrm>
          <a:prstGeom prst="ellipse">
            <a:avLst/>
          </a:prstGeom>
          <a:solidFill>
            <a:srgbClr val="E2E3E3"/>
          </a:solidFill>
          <a:ln/>
        </p:spPr>
      </p:sp>
      <p:sp>
        <p:nvSpPr>
          <p:cNvPr id="8" name="!!sdot4"/>
          <p:cNvSpPr/>
          <p:nvPr/>
        </p:nvSpPr>
        <p:spPr>
          <a:xfrm>
            <a:off x="11443716" y="525780"/>
            <a:ext cx="82296" cy="82296"/>
          </a:xfrm>
          <a:prstGeom prst="ellipse">
            <a:avLst/>
          </a:prstGeom>
          <a:solidFill>
            <a:srgbClr val="E2E3E3"/>
          </a:solidFill>
          <a:ln/>
        </p:spPr>
      </p:sp>
      <p:sp>
        <p:nvSpPr>
          <p:cNvPr id="9" name="!!sdot5"/>
          <p:cNvSpPr/>
          <p:nvPr/>
        </p:nvSpPr>
        <p:spPr>
          <a:xfrm>
            <a:off x="11599164" y="525780"/>
            <a:ext cx="82296" cy="82296"/>
          </a:xfrm>
          <a:prstGeom prst="ellipse">
            <a:avLst/>
          </a:prstGeom>
          <a:solidFill>
            <a:srgbClr val="E2E3E3"/>
          </a:solidFill>
          <a:ln/>
        </p:spPr>
      </p:sp>
      <p:sp>
        <p:nvSpPr>
          <p:cNvPr id="10" name="!!asL0"/>
          <p:cNvSpPr/>
          <p:nvPr/>
        </p:nvSpPr>
        <p:spPr>
          <a:xfrm>
            <a:off x="2560320" y="1920240"/>
            <a:ext cx="2286000" cy="1005840"/>
          </a:xfrm>
          <a:prstGeom prst="line">
            <a:avLst/>
          </a:prstGeom>
          <a:noFill/>
          <a:ln w="31750">
            <a:solidFill>
              <a:srgbClr val="3E6AE1"/>
            </a:solidFill>
            <a:prstDash val="solid"/>
            <a:tailEnd type="triangle"/>
          </a:ln>
        </p:spPr>
      </p:sp>
      <p:sp>
        <p:nvSpPr>
          <p:cNvPr id="11" name="!!asL1"/>
          <p:cNvSpPr/>
          <p:nvPr/>
        </p:nvSpPr>
        <p:spPr>
          <a:xfrm>
            <a:off x="4846320" y="2926080"/>
            <a:ext cx="91" cy="1325880"/>
          </a:xfrm>
          <a:prstGeom prst="line">
            <a:avLst/>
          </a:prstGeom>
          <a:noFill/>
          <a:ln w="31750">
            <a:solidFill>
              <a:srgbClr val="E07B00"/>
            </a:solidFill>
            <a:prstDash val="solid"/>
            <a:tailEnd type="triangle"/>
          </a:ln>
        </p:spPr>
      </p:sp>
      <p:sp>
        <p:nvSpPr>
          <p:cNvPr id="12" name="!!asL2"/>
          <p:cNvSpPr/>
          <p:nvPr/>
        </p:nvSpPr>
        <p:spPr>
          <a:xfrm flipH="1">
            <a:off x="2560320" y="4251960"/>
            <a:ext cx="2286000" cy="1005840"/>
          </a:xfrm>
          <a:prstGeom prst="line">
            <a:avLst/>
          </a:prstGeom>
          <a:noFill/>
          <a:ln w="15875">
            <a:solidFill>
              <a:srgbClr val="E4E6EA"/>
            </a:solidFill>
            <a:prstDash val="solid"/>
          </a:ln>
        </p:spPr>
      </p:sp>
      <p:sp>
        <p:nvSpPr>
          <p:cNvPr id="13" name="!!asL3"/>
          <p:cNvSpPr/>
          <p:nvPr/>
        </p:nvSpPr>
        <p:spPr>
          <a:xfrm>
            <a:off x="1554480" y="3566160"/>
            <a:ext cx="1005840" cy="1691640"/>
          </a:xfrm>
          <a:prstGeom prst="line">
            <a:avLst/>
          </a:prstGeom>
          <a:noFill/>
          <a:ln w="15875">
            <a:solidFill>
              <a:srgbClr val="E4E6EA"/>
            </a:solidFill>
            <a:prstDash val="solid"/>
          </a:ln>
        </p:spPr>
      </p:sp>
      <p:sp>
        <p:nvSpPr>
          <p:cNvPr id="14" name="!!asL4"/>
          <p:cNvSpPr/>
          <p:nvPr/>
        </p:nvSpPr>
        <p:spPr>
          <a:xfrm flipH="1">
            <a:off x="1554480" y="2926080"/>
            <a:ext cx="3291840" cy="640080"/>
          </a:xfrm>
          <a:prstGeom prst="line">
            <a:avLst/>
          </a:prstGeom>
          <a:noFill/>
          <a:ln w="15875">
            <a:solidFill>
              <a:srgbClr val="E4E6EA"/>
            </a:solidFill>
            <a:prstDash val="solid"/>
          </a:ln>
        </p:spPr>
      </p:sp>
      <p:sp>
        <p:nvSpPr>
          <p:cNvPr id="15" name="!!asN0"/>
          <p:cNvSpPr/>
          <p:nvPr/>
        </p:nvSpPr>
        <p:spPr>
          <a:xfrm>
            <a:off x="1554480" y="1600200"/>
            <a:ext cx="2011680" cy="640080"/>
          </a:xfrm>
          <a:prstGeom prst="roundRect">
            <a:avLst>
              <a:gd name="adj" fmla="val 14286"/>
            </a:avLst>
          </a:prstGeom>
          <a:solidFill>
            <a:srgbClr val="1F2F6B"/>
          </a:solidFill>
          <a:ln/>
        </p:spPr>
      </p:sp>
      <p:sp>
        <p:nvSpPr>
          <p:cNvPr id="16" name="!!asNt0"/>
          <p:cNvSpPr txBox="1"/>
          <p:nvPr/>
        </p:nvSpPr>
        <p:spPr>
          <a:xfrm>
            <a:off x="1554480" y="165506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Poisson</a:t>
            </a:r>
            <a:endParaRPr lang="en-US" sz="1300" dirty="0"/>
          </a:p>
        </p:txBody>
      </p:sp>
      <p:sp>
        <p:nvSpPr>
          <p:cNvPr id="17" name="!!asNd0"/>
          <p:cNvSpPr txBox="1"/>
          <p:nvPr/>
        </p:nvSpPr>
        <p:spPr>
          <a:xfrm>
            <a:off x="1554480" y="192938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potential ψ</a:t>
            </a:r>
            <a:endParaRPr lang="en-US" sz="1000" dirty="0"/>
          </a:p>
        </p:txBody>
      </p:sp>
      <p:sp>
        <p:nvSpPr>
          <p:cNvPr id="18" name="!!asN1"/>
          <p:cNvSpPr/>
          <p:nvPr/>
        </p:nvSpPr>
        <p:spPr>
          <a:xfrm>
            <a:off x="3840480" y="2606040"/>
            <a:ext cx="2011680" cy="640080"/>
          </a:xfrm>
          <a:prstGeom prst="roundRect">
            <a:avLst>
              <a:gd name="adj" fmla="val 14286"/>
            </a:avLst>
          </a:prstGeom>
          <a:solidFill>
            <a:srgbClr val="3E6AE1"/>
          </a:solidFill>
          <a:ln/>
        </p:spPr>
      </p:sp>
      <p:sp>
        <p:nvSpPr>
          <p:cNvPr id="19" name="!!asNt1"/>
          <p:cNvSpPr txBox="1"/>
          <p:nvPr/>
        </p:nvSpPr>
        <p:spPr>
          <a:xfrm>
            <a:off x="3840480" y="266090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Electron continuity</a:t>
            </a:r>
            <a:endParaRPr lang="en-US" sz="1300" dirty="0"/>
          </a:p>
        </p:txBody>
      </p:sp>
      <p:sp>
        <p:nvSpPr>
          <p:cNvPr id="20" name="!!asNd1"/>
          <p:cNvSpPr txBox="1"/>
          <p:nvPr/>
        </p:nvSpPr>
        <p:spPr>
          <a:xfrm>
            <a:off x="3840480" y="293522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current J</a:t>
            </a:r>
            <a:pPr algn="ctr" indent="0" marL="0">
              <a:buNone/>
            </a:pPr>
            <a:r>
              <a:rPr lang="en-US" sz="1000" baseline="-40000" dirty="0">
                <a:solidFill>
                  <a:srgbClr val="E8ECF5"/>
                </a:solidFill>
                <a:latin typeface="Segoe UI" pitchFamily="34" charset="0"/>
                <a:ea typeface="Segoe UI" pitchFamily="34" charset="-122"/>
                <a:cs typeface="Segoe UI" pitchFamily="34" charset="-120"/>
              </a:rPr>
              <a:t>n</a:t>
            </a:r>
            <a:endParaRPr lang="en-US" sz="1000" dirty="0"/>
          </a:p>
        </p:txBody>
      </p:sp>
      <p:sp>
        <p:nvSpPr>
          <p:cNvPr id="21" name="!!asN2"/>
          <p:cNvSpPr/>
          <p:nvPr/>
        </p:nvSpPr>
        <p:spPr>
          <a:xfrm>
            <a:off x="3840480" y="3931920"/>
            <a:ext cx="2011680" cy="640080"/>
          </a:xfrm>
          <a:prstGeom prst="roundRect">
            <a:avLst>
              <a:gd name="adj" fmla="val 14286"/>
            </a:avLst>
          </a:prstGeom>
          <a:solidFill>
            <a:srgbClr val="E07B00"/>
          </a:solidFill>
          <a:ln/>
        </p:spPr>
      </p:sp>
      <p:sp>
        <p:nvSpPr>
          <p:cNvPr id="22" name="!!asNt2"/>
          <p:cNvSpPr txBox="1"/>
          <p:nvPr/>
        </p:nvSpPr>
        <p:spPr>
          <a:xfrm>
            <a:off x="3840480" y="398678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Joule heat</a:t>
            </a:r>
            <a:endParaRPr lang="en-US" sz="1300" dirty="0"/>
          </a:p>
        </p:txBody>
      </p:sp>
      <p:sp>
        <p:nvSpPr>
          <p:cNvPr id="23" name="!!asNd2"/>
          <p:cNvSpPr txBox="1"/>
          <p:nvPr/>
        </p:nvSpPr>
        <p:spPr>
          <a:xfrm>
            <a:off x="3840480" y="426110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H = J · E</a:t>
            </a:r>
            <a:endParaRPr lang="en-US" sz="1000" dirty="0"/>
          </a:p>
        </p:txBody>
      </p:sp>
      <p:sp>
        <p:nvSpPr>
          <p:cNvPr id="24" name="!!asN3"/>
          <p:cNvSpPr/>
          <p:nvPr/>
        </p:nvSpPr>
        <p:spPr>
          <a:xfrm>
            <a:off x="1554480" y="4937760"/>
            <a:ext cx="2011680" cy="640080"/>
          </a:xfrm>
          <a:prstGeom prst="roundRect">
            <a:avLst>
              <a:gd name="adj" fmla="val 14286"/>
            </a:avLst>
          </a:prstGeom>
          <a:solidFill>
            <a:srgbClr val="F4F5F7"/>
          </a:solidFill>
          <a:ln/>
        </p:spPr>
      </p:sp>
      <p:sp>
        <p:nvSpPr>
          <p:cNvPr id="25" name="!!asNt3"/>
          <p:cNvSpPr txBox="1"/>
          <p:nvPr/>
        </p:nvSpPr>
        <p:spPr>
          <a:xfrm>
            <a:off x="1554480" y="4992624"/>
            <a:ext cx="2011680" cy="292608"/>
          </a:xfrm>
          <a:prstGeom prst="rect">
            <a:avLst/>
          </a:prstGeom>
          <a:noFill/>
          <a:ln/>
        </p:spPr>
        <p:txBody>
          <a:bodyPr wrap="square" lIns="0" tIns="0" rIns="0" bIns="0" rtlCol="0" anchor="t"/>
          <a:lstStyle/>
          <a:p>
            <a:pPr algn="ctr" indent="0" marL="0">
              <a:buNone/>
            </a:pPr>
            <a:r>
              <a:rPr lang="en-US" sz="1300" dirty="0">
                <a:solidFill>
                  <a:srgbClr val="B7BAC0"/>
                </a:solidFill>
                <a:latin typeface="Segoe UI Semibold" pitchFamily="34" charset="0"/>
                <a:ea typeface="Segoe UI Semibold" pitchFamily="34" charset="-122"/>
                <a:cs typeface="Segoe UI Semibold" pitchFamily="34" charset="-120"/>
              </a:rPr>
              <a:t>Heat equation</a:t>
            </a:r>
            <a:endParaRPr lang="en-US" sz="1300" dirty="0"/>
          </a:p>
        </p:txBody>
      </p:sp>
      <p:sp>
        <p:nvSpPr>
          <p:cNvPr id="26" name="!!asNd3"/>
          <p:cNvSpPr txBox="1"/>
          <p:nvPr/>
        </p:nvSpPr>
        <p:spPr>
          <a:xfrm>
            <a:off x="1554480" y="5266944"/>
            <a:ext cx="2011680" cy="256032"/>
          </a:xfrm>
          <a:prstGeom prst="rect">
            <a:avLst/>
          </a:prstGeom>
          <a:noFill/>
          <a:ln/>
        </p:spPr>
        <p:txBody>
          <a:bodyPr wrap="square" lIns="0" tIns="0" rIns="0" bIns="0" rtlCol="0" anchor="t"/>
          <a:lstStyle/>
          <a:p>
            <a:pPr algn="ctr" indent="0" marL="0">
              <a:buNone/>
            </a:pPr>
            <a:r>
              <a:rPr lang="en-US" sz="1000" dirty="0">
                <a:solidFill>
                  <a:srgbClr val="C9CCD3"/>
                </a:solidFill>
                <a:latin typeface="Segoe UI" pitchFamily="34" charset="0"/>
                <a:ea typeface="Segoe UI" pitchFamily="34" charset="-122"/>
                <a:cs typeface="Segoe UI" pitchFamily="34" charset="-120"/>
              </a:rPr>
              <a:t>lattice temp. T</a:t>
            </a:r>
            <a:pPr algn="ctr" indent="0" marL="0">
              <a:buNone/>
            </a:pPr>
            <a:r>
              <a:rPr lang="en-US" sz="1000" baseline="-40000" dirty="0">
                <a:solidFill>
                  <a:srgbClr val="C9CCD3"/>
                </a:solidFill>
                <a:latin typeface="Segoe UI" pitchFamily="34" charset="0"/>
                <a:ea typeface="Segoe UI" pitchFamily="34" charset="-122"/>
                <a:cs typeface="Segoe UI" pitchFamily="34" charset="-120"/>
              </a:rPr>
              <a:t>L</a:t>
            </a:r>
            <a:endParaRPr lang="en-US" sz="1000" dirty="0"/>
          </a:p>
        </p:txBody>
      </p:sp>
      <p:sp>
        <p:nvSpPr>
          <p:cNvPr id="27" name="!!asN4"/>
          <p:cNvSpPr/>
          <p:nvPr/>
        </p:nvSpPr>
        <p:spPr>
          <a:xfrm>
            <a:off x="548640" y="3246120"/>
            <a:ext cx="2011680" cy="640080"/>
          </a:xfrm>
          <a:prstGeom prst="roundRect">
            <a:avLst>
              <a:gd name="adj" fmla="val 14286"/>
            </a:avLst>
          </a:prstGeom>
          <a:solidFill>
            <a:srgbClr val="F4F5F7"/>
          </a:solidFill>
          <a:ln/>
        </p:spPr>
      </p:sp>
      <p:sp>
        <p:nvSpPr>
          <p:cNvPr id="28" name="!!asNt4"/>
          <p:cNvSpPr txBox="1"/>
          <p:nvPr/>
        </p:nvSpPr>
        <p:spPr>
          <a:xfrm>
            <a:off x="548640" y="3300984"/>
            <a:ext cx="2011680" cy="292608"/>
          </a:xfrm>
          <a:prstGeom prst="rect">
            <a:avLst/>
          </a:prstGeom>
          <a:noFill/>
          <a:ln/>
        </p:spPr>
        <p:txBody>
          <a:bodyPr wrap="square" lIns="0" tIns="0" rIns="0" bIns="0" rtlCol="0" anchor="t"/>
          <a:lstStyle/>
          <a:p>
            <a:pPr algn="ctr" indent="0" marL="0">
              <a:buNone/>
            </a:pPr>
            <a:r>
              <a:rPr lang="en-US" sz="1300" dirty="0">
                <a:solidFill>
                  <a:srgbClr val="B7BAC0"/>
                </a:solidFill>
                <a:latin typeface="Segoe UI Semibold" pitchFamily="34" charset="0"/>
                <a:ea typeface="Segoe UI Semibold" pitchFamily="34" charset="-122"/>
                <a:cs typeface="Segoe UI Semibold" pitchFamily="34" charset="-120"/>
              </a:rPr>
              <a:t>Mobility μ(T)</a:t>
            </a:r>
            <a:endParaRPr lang="en-US" sz="1300" dirty="0"/>
          </a:p>
        </p:txBody>
      </p:sp>
      <p:sp>
        <p:nvSpPr>
          <p:cNvPr id="29" name="!!asNd4"/>
          <p:cNvSpPr txBox="1"/>
          <p:nvPr/>
        </p:nvSpPr>
        <p:spPr>
          <a:xfrm>
            <a:off x="548640" y="3575304"/>
            <a:ext cx="2011680" cy="256032"/>
          </a:xfrm>
          <a:prstGeom prst="rect">
            <a:avLst/>
          </a:prstGeom>
          <a:noFill/>
          <a:ln/>
        </p:spPr>
        <p:txBody>
          <a:bodyPr wrap="square" lIns="0" tIns="0" rIns="0" bIns="0" rtlCol="0" anchor="t"/>
          <a:lstStyle/>
          <a:p>
            <a:pPr algn="ctr" indent="0" marL="0">
              <a:buNone/>
            </a:pPr>
            <a:r>
              <a:rPr lang="en-US" sz="1000" dirty="0">
                <a:solidFill>
                  <a:srgbClr val="C9CCD3"/>
                </a:solidFill>
                <a:latin typeface="Segoe UI" pitchFamily="34" charset="0"/>
                <a:ea typeface="Segoe UI" pitchFamily="34" charset="-122"/>
                <a:cs typeface="Segoe UI" pitchFamily="34" charset="-120"/>
              </a:rPr>
              <a:t>fldmob, cvt</a:t>
            </a:r>
            <a:endParaRPr lang="en-US" sz="1000" dirty="0"/>
          </a:p>
        </p:txBody>
      </p:sp>
      <p:sp>
        <p:nvSpPr>
          <p:cNvPr id="30" name="!!card"/>
          <p:cNvSpPr/>
          <p:nvPr/>
        </p:nvSpPr>
        <p:spPr>
          <a:xfrm>
            <a:off x="6949440" y="1600200"/>
            <a:ext cx="4690872" cy="2194560"/>
          </a:xfrm>
          <a:prstGeom prst="roundRect">
            <a:avLst>
              <a:gd name="adj" fmla="val 3333"/>
            </a:avLst>
          </a:prstGeom>
          <a:solidFill>
            <a:srgbClr val="F4F5F7"/>
          </a:solidFill>
          <a:ln/>
        </p:spPr>
      </p:sp>
      <p:sp>
        <p:nvSpPr>
          <p:cNvPr id="31" name="!!cardn"/>
          <p:cNvSpPr/>
          <p:nvPr/>
        </p:nvSpPr>
        <p:spPr>
          <a:xfrm>
            <a:off x="7159752" y="1810512"/>
            <a:ext cx="347472" cy="347472"/>
          </a:xfrm>
          <a:prstGeom prst="ellipse">
            <a:avLst/>
          </a:prstGeom>
          <a:solidFill>
            <a:srgbClr val="E07B00"/>
          </a:solidFill>
          <a:ln/>
        </p:spPr>
      </p:sp>
      <p:sp>
        <p:nvSpPr>
          <p:cNvPr id="32" name="!!cardnt"/>
          <p:cNvSpPr txBox="1"/>
          <p:nvPr/>
        </p:nvSpPr>
        <p:spPr>
          <a:xfrm>
            <a:off x="7159752" y="181051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3" name="!!cardh"/>
          <p:cNvSpPr txBox="1"/>
          <p:nvPr/>
        </p:nvSpPr>
        <p:spPr>
          <a:xfrm>
            <a:off x="7635240" y="1819656"/>
            <a:ext cx="3822192" cy="347472"/>
          </a:xfrm>
          <a:prstGeom prst="rect">
            <a:avLst/>
          </a:prstGeom>
          <a:noFill/>
          <a:ln/>
        </p:spPr>
        <p:txBody>
          <a:bodyPr wrap="square" lIns="0" tIns="0" rIns="0" bIns="0" rtlCol="0" anchor="ctr"/>
          <a:lstStyle/>
          <a:p>
            <a:pPr algn="l" indent="0" marL="0">
              <a:buNone/>
            </a:pPr>
            <a:r>
              <a:rPr lang="en-US" sz="1600" dirty="0">
                <a:solidFill>
                  <a:srgbClr val="E07B00"/>
                </a:solidFill>
                <a:latin typeface="Segoe UI Semibold" pitchFamily="34" charset="0"/>
                <a:ea typeface="Segoe UI Semibold" pitchFamily="34" charset="-122"/>
                <a:cs typeface="Segoe UI Semibold" pitchFamily="34" charset="-120"/>
              </a:rPr>
              <a:t>Current makes heat</a:t>
            </a:r>
            <a:endParaRPr lang="en-US" sz="1600" dirty="0"/>
          </a:p>
        </p:txBody>
      </p:sp>
      <p:sp>
        <p:nvSpPr>
          <p:cNvPr id="34" name="!!cardb"/>
          <p:cNvSpPr txBox="1"/>
          <p:nvPr/>
        </p:nvSpPr>
        <p:spPr>
          <a:xfrm>
            <a:off x="7178040" y="2313432"/>
            <a:ext cx="4233672" cy="132588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Every bit of current loses energy, H = J · E, most of it near the drain.</a:t>
            </a:r>
            <a:endParaRPr lang="en-US" sz="1300" dirty="0"/>
          </a:p>
        </p:txBody>
      </p:sp>
      <p:sp>
        <p:nvSpPr>
          <p:cNvPr id="35"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Current turns into heat.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112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Methodology – What Atlas solves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Electricity and heat are solved together, because each changes the other</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171A20"/>
          </a:solidFill>
          <a:ln/>
        </p:spPr>
      </p:sp>
      <p:sp>
        <p:nvSpPr>
          <p:cNvPr id="6" name="!!sdot2"/>
          <p:cNvSpPr/>
          <p:nvPr/>
        </p:nvSpPr>
        <p:spPr>
          <a:xfrm>
            <a:off x="11132820" y="525780"/>
            <a:ext cx="82296" cy="82296"/>
          </a:xfrm>
          <a:prstGeom prst="ellipse">
            <a:avLst/>
          </a:prstGeom>
          <a:solidFill>
            <a:srgbClr val="171A20"/>
          </a:solidFill>
          <a:ln/>
        </p:spPr>
      </p:sp>
      <p:sp>
        <p:nvSpPr>
          <p:cNvPr id="7" name="!!sdot3"/>
          <p:cNvSpPr/>
          <p:nvPr/>
        </p:nvSpPr>
        <p:spPr>
          <a:xfrm>
            <a:off x="11288268" y="525780"/>
            <a:ext cx="82296" cy="82296"/>
          </a:xfrm>
          <a:prstGeom prst="ellipse">
            <a:avLst/>
          </a:prstGeom>
          <a:solidFill>
            <a:srgbClr val="171A20"/>
          </a:solidFill>
          <a:ln/>
        </p:spPr>
      </p:sp>
      <p:sp>
        <p:nvSpPr>
          <p:cNvPr id="8" name="!!sdot4"/>
          <p:cNvSpPr/>
          <p:nvPr/>
        </p:nvSpPr>
        <p:spPr>
          <a:xfrm>
            <a:off x="11443716" y="525780"/>
            <a:ext cx="82296" cy="82296"/>
          </a:xfrm>
          <a:prstGeom prst="ellipse">
            <a:avLst/>
          </a:prstGeom>
          <a:solidFill>
            <a:srgbClr val="E2E3E3"/>
          </a:solidFill>
          <a:ln/>
        </p:spPr>
      </p:sp>
      <p:sp>
        <p:nvSpPr>
          <p:cNvPr id="9" name="!!sdot5"/>
          <p:cNvSpPr/>
          <p:nvPr/>
        </p:nvSpPr>
        <p:spPr>
          <a:xfrm>
            <a:off x="11599164" y="525780"/>
            <a:ext cx="82296" cy="82296"/>
          </a:xfrm>
          <a:prstGeom prst="ellipse">
            <a:avLst/>
          </a:prstGeom>
          <a:solidFill>
            <a:srgbClr val="E2E3E3"/>
          </a:solidFill>
          <a:ln/>
        </p:spPr>
      </p:sp>
      <p:sp>
        <p:nvSpPr>
          <p:cNvPr id="10" name="!!asL0"/>
          <p:cNvSpPr/>
          <p:nvPr/>
        </p:nvSpPr>
        <p:spPr>
          <a:xfrm>
            <a:off x="2560320" y="1920240"/>
            <a:ext cx="2286000" cy="1005840"/>
          </a:xfrm>
          <a:prstGeom prst="line">
            <a:avLst/>
          </a:prstGeom>
          <a:noFill/>
          <a:ln w="31750">
            <a:solidFill>
              <a:srgbClr val="3E6AE1"/>
            </a:solidFill>
            <a:prstDash val="solid"/>
            <a:tailEnd type="triangle"/>
          </a:ln>
        </p:spPr>
      </p:sp>
      <p:sp>
        <p:nvSpPr>
          <p:cNvPr id="11" name="!!asL1"/>
          <p:cNvSpPr/>
          <p:nvPr/>
        </p:nvSpPr>
        <p:spPr>
          <a:xfrm>
            <a:off x="4846320" y="2926080"/>
            <a:ext cx="91" cy="1325880"/>
          </a:xfrm>
          <a:prstGeom prst="line">
            <a:avLst/>
          </a:prstGeom>
          <a:noFill/>
          <a:ln w="31750">
            <a:solidFill>
              <a:srgbClr val="E07B00"/>
            </a:solidFill>
            <a:prstDash val="solid"/>
            <a:tailEnd type="triangle"/>
          </a:ln>
        </p:spPr>
      </p:sp>
      <p:sp>
        <p:nvSpPr>
          <p:cNvPr id="12" name="!!asL2"/>
          <p:cNvSpPr/>
          <p:nvPr/>
        </p:nvSpPr>
        <p:spPr>
          <a:xfrm flipH="1">
            <a:off x="2560320" y="4251960"/>
            <a:ext cx="2286000" cy="1005840"/>
          </a:xfrm>
          <a:prstGeom prst="line">
            <a:avLst/>
          </a:prstGeom>
          <a:noFill/>
          <a:ln w="31750">
            <a:solidFill>
              <a:srgbClr val="D64545"/>
            </a:solidFill>
            <a:prstDash val="solid"/>
            <a:tailEnd type="triangle"/>
          </a:ln>
        </p:spPr>
      </p:sp>
      <p:sp>
        <p:nvSpPr>
          <p:cNvPr id="13" name="!!asL3"/>
          <p:cNvSpPr/>
          <p:nvPr/>
        </p:nvSpPr>
        <p:spPr>
          <a:xfrm>
            <a:off x="1554480" y="3566160"/>
            <a:ext cx="1005840" cy="1691640"/>
          </a:xfrm>
          <a:prstGeom prst="line">
            <a:avLst/>
          </a:prstGeom>
          <a:noFill/>
          <a:ln w="15875">
            <a:solidFill>
              <a:srgbClr val="E4E6EA"/>
            </a:solidFill>
            <a:prstDash val="solid"/>
          </a:ln>
        </p:spPr>
      </p:sp>
      <p:sp>
        <p:nvSpPr>
          <p:cNvPr id="14" name="!!asL4"/>
          <p:cNvSpPr/>
          <p:nvPr/>
        </p:nvSpPr>
        <p:spPr>
          <a:xfrm flipH="1">
            <a:off x="1554480" y="2926080"/>
            <a:ext cx="3291840" cy="640080"/>
          </a:xfrm>
          <a:prstGeom prst="line">
            <a:avLst/>
          </a:prstGeom>
          <a:noFill/>
          <a:ln w="15875">
            <a:solidFill>
              <a:srgbClr val="E4E6EA"/>
            </a:solidFill>
            <a:prstDash val="solid"/>
          </a:ln>
        </p:spPr>
      </p:sp>
      <p:sp>
        <p:nvSpPr>
          <p:cNvPr id="15" name="!!asN0"/>
          <p:cNvSpPr/>
          <p:nvPr/>
        </p:nvSpPr>
        <p:spPr>
          <a:xfrm>
            <a:off x="1554480" y="1600200"/>
            <a:ext cx="2011680" cy="640080"/>
          </a:xfrm>
          <a:prstGeom prst="roundRect">
            <a:avLst>
              <a:gd name="adj" fmla="val 14286"/>
            </a:avLst>
          </a:prstGeom>
          <a:solidFill>
            <a:srgbClr val="1F2F6B"/>
          </a:solidFill>
          <a:ln/>
        </p:spPr>
      </p:sp>
      <p:sp>
        <p:nvSpPr>
          <p:cNvPr id="16" name="!!asNt0"/>
          <p:cNvSpPr txBox="1"/>
          <p:nvPr/>
        </p:nvSpPr>
        <p:spPr>
          <a:xfrm>
            <a:off x="1554480" y="165506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Poisson</a:t>
            </a:r>
            <a:endParaRPr lang="en-US" sz="1300" dirty="0"/>
          </a:p>
        </p:txBody>
      </p:sp>
      <p:sp>
        <p:nvSpPr>
          <p:cNvPr id="17" name="!!asNd0"/>
          <p:cNvSpPr txBox="1"/>
          <p:nvPr/>
        </p:nvSpPr>
        <p:spPr>
          <a:xfrm>
            <a:off x="1554480" y="192938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potential ψ</a:t>
            </a:r>
            <a:endParaRPr lang="en-US" sz="1000" dirty="0"/>
          </a:p>
        </p:txBody>
      </p:sp>
      <p:sp>
        <p:nvSpPr>
          <p:cNvPr id="18" name="!!asN1"/>
          <p:cNvSpPr/>
          <p:nvPr/>
        </p:nvSpPr>
        <p:spPr>
          <a:xfrm>
            <a:off x="3840480" y="2606040"/>
            <a:ext cx="2011680" cy="640080"/>
          </a:xfrm>
          <a:prstGeom prst="roundRect">
            <a:avLst>
              <a:gd name="adj" fmla="val 14286"/>
            </a:avLst>
          </a:prstGeom>
          <a:solidFill>
            <a:srgbClr val="3E6AE1"/>
          </a:solidFill>
          <a:ln/>
        </p:spPr>
      </p:sp>
      <p:sp>
        <p:nvSpPr>
          <p:cNvPr id="19" name="!!asNt1"/>
          <p:cNvSpPr txBox="1"/>
          <p:nvPr/>
        </p:nvSpPr>
        <p:spPr>
          <a:xfrm>
            <a:off x="3840480" y="266090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Electron continuity</a:t>
            </a:r>
            <a:endParaRPr lang="en-US" sz="1300" dirty="0"/>
          </a:p>
        </p:txBody>
      </p:sp>
      <p:sp>
        <p:nvSpPr>
          <p:cNvPr id="20" name="!!asNd1"/>
          <p:cNvSpPr txBox="1"/>
          <p:nvPr/>
        </p:nvSpPr>
        <p:spPr>
          <a:xfrm>
            <a:off x="3840480" y="293522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current J</a:t>
            </a:r>
            <a:pPr algn="ctr" indent="0" marL="0">
              <a:buNone/>
            </a:pPr>
            <a:r>
              <a:rPr lang="en-US" sz="1000" baseline="-40000" dirty="0">
                <a:solidFill>
                  <a:srgbClr val="E8ECF5"/>
                </a:solidFill>
                <a:latin typeface="Segoe UI" pitchFamily="34" charset="0"/>
                <a:ea typeface="Segoe UI" pitchFamily="34" charset="-122"/>
                <a:cs typeface="Segoe UI" pitchFamily="34" charset="-120"/>
              </a:rPr>
              <a:t>n</a:t>
            </a:r>
            <a:endParaRPr lang="en-US" sz="1000" dirty="0"/>
          </a:p>
        </p:txBody>
      </p:sp>
      <p:sp>
        <p:nvSpPr>
          <p:cNvPr id="21" name="!!asN2"/>
          <p:cNvSpPr/>
          <p:nvPr/>
        </p:nvSpPr>
        <p:spPr>
          <a:xfrm>
            <a:off x="3840480" y="3931920"/>
            <a:ext cx="2011680" cy="640080"/>
          </a:xfrm>
          <a:prstGeom prst="roundRect">
            <a:avLst>
              <a:gd name="adj" fmla="val 14286"/>
            </a:avLst>
          </a:prstGeom>
          <a:solidFill>
            <a:srgbClr val="E07B00"/>
          </a:solidFill>
          <a:ln/>
        </p:spPr>
      </p:sp>
      <p:sp>
        <p:nvSpPr>
          <p:cNvPr id="22" name="!!asNt2"/>
          <p:cNvSpPr txBox="1"/>
          <p:nvPr/>
        </p:nvSpPr>
        <p:spPr>
          <a:xfrm>
            <a:off x="3840480" y="398678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Joule heat</a:t>
            </a:r>
            <a:endParaRPr lang="en-US" sz="1300" dirty="0"/>
          </a:p>
        </p:txBody>
      </p:sp>
      <p:sp>
        <p:nvSpPr>
          <p:cNvPr id="23" name="!!asNd2"/>
          <p:cNvSpPr txBox="1"/>
          <p:nvPr/>
        </p:nvSpPr>
        <p:spPr>
          <a:xfrm>
            <a:off x="3840480" y="426110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H = J · E</a:t>
            </a:r>
            <a:endParaRPr lang="en-US" sz="1000" dirty="0"/>
          </a:p>
        </p:txBody>
      </p:sp>
      <p:sp>
        <p:nvSpPr>
          <p:cNvPr id="24" name="!!asN3"/>
          <p:cNvSpPr/>
          <p:nvPr/>
        </p:nvSpPr>
        <p:spPr>
          <a:xfrm>
            <a:off x="1554480" y="4937760"/>
            <a:ext cx="2011680" cy="640080"/>
          </a:xfrm>
          <a:prstGeom prst="roundRect">
            <a:avLst>
              <a:gd name="adj" fmla="val 14286"/>
            </a:avLst>
          </a:prstGeom>
          <a:solidFill>
            <a:srgbClr val="D64545"/>
          </a:solidFill>
          <a:ln/>
        </p:spPr>
      </p:sp>
      <p:sp>
        <p:nvSpPr>
          <p:cNvPr id="25" name="!!asNt3"/>
          <p:cNvSpPr txBox="1"/>
          <p:nvPr/>
        </p:nvSpPr>
        <p:spPr>
          <a:xfrm>
            <a:off x="1554480" y="499262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Heat equation</a:t>
            </a:r>
            <a:endParaRPr lang="en-US" sz="1300" dirty="0"/>
          </a:p>
        </p:txBody>
      </p:sp>
      <p:sp>
        <p:nvSpPr>
          <p:cNvPr id="26" name="!!asNd3"/>
          <p:cNvSpPr txBox="1"/>
          <p:nvPr/>
        </p:nvSpPr>
        <p:spPr>
          <a:xfrm>
            <a:off x="1554480" y="526694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lattice temp. T</a:t>
            </a:r>
            <a:pPr algn="ctr" indent="0" marL="0">
              <a:buNone/>
            </a:pPr>
            <a:r>
              <a:rPr lang="en-US" sz="1000" baseline="-40000" dirty="0">
                <a:solidFill>
                  <a:srgbClr val="E8ECF5"/>
                </a:solidFill>
                <a:latin typeface="Segoe UI" pitchFamily="34" charset="0"/>
                <a:ea typeface="Segoe UI" pitchFamily="34" charset="-122"/>
                <a:cs typeface="Segoe UI" pitchFamily="34" charset="-120"/>
              </a:rPr>
              <a:t>L</a:t>
            </a:r>
            <a:endParaRPr lang="en-US" sz="1000" dirty="0"/>
          </a:p>
        </p:txBody>
      </p:sp>
      <p:sp>
        <p:nvSpPr>
          <p:cNvPr id="27" name="!!asN4"/>
          <p:cNvSpPr/>
          <p:nvPr/>
        </p:nvSpPr>
        <p:spPr>
          <a:xfrm>
            <a:off x="548640" y="3246120"/>
            <a:ext cx="2011680" cy="640080"/>
          </a:xfrm>
          <a:prstGeom prst="roundRect">
            <a:avLst>
              <a:gd name="adj" fmla="val 14286"/>
            </a:avLst>
          </a:prstGeom>
          <a:solidFill>
            <a:srgbClr val="F4F5F7"/>
          </a:solidFill>
          <a:ln/>
        </p:spPr>
      </p:sp>
      <p:sp>
        <p:nvSpPr>
          <p:cNvPr id="28" name="!!asNt4"/>
          <p:cNvSpPr txBox="1"/>
          <p:nvPr/>
        </p:nvSpPr>
        <p:spPr>
          <a:xfrm>
            <a:off x="548640" y="3300984"/>
            <a:ext cx="2011680" cy="292608"/>
          </a:xfrm>
          <a:prstGeom prst="rect">
            <a:avLst/>
          </a:prstGeom>
          <a:noFill/>
          <a:ln/>
        </p:spPr>
        <p:txBody>
          <a:bodyPr wrap="square" lIns="0" tIns="0" rIns="0" bIns="0" rtlCol="0" anchor="t"/>
          <a:lstStyle/>
          <a:p>
            <a:pPr algn="ctr" indent="0" marL="0">
              <a:buNone/>
            </a:pPr>
            <a:r>
              <a:rPr lang="en-US" sz="1300" dirty="0">
                <a:solidFill>
                  <a:srgbClr val="B7BAC0"/>
                </a:solidFill>
                <a:latin typeface="Segoe UI Semibold" pitchFamily="34" charset="0"/>
                <a:ea typeface="Segoe UI Semibold" pitchFamily="34" charset="-122"/>
                <a:cs typeface="Segoe UI Semibold" pitchFamily="34" charset="-120"/>
              </a:rPr>
              <a:t>Mobility μ(T)</a:t>
            </a:r>
            <a:endParaRPr lang="en-US" sz="1300" dirty="0"/>
          </a:p>
        </p:txBody>
      </p:sp>
      <p:sp>
        <p:nvSpPr>
          <p:cNvPr id="29" name="!!asNd4"/>
          <p:cNvSpPr txBox="1"/>
          <p:nvPr/>
        </p:nvSpPr>
        <p:spPr>
          <a:xfrm>
            <a:off x="548640" y="3575304"/>
            <a:ext cx="2011680" cy="256032"/>
          </a:xfrm>
          <a:prstGeom prst="rect">
            <a:avLst/>
          </a:prstGeom>
          <a:noFill/>
          <a:ln/>
        </p:spPr>
        <p:txBody>
          <a:bodyPr wrap="square" lIns="0" tIns="0" rIns="0" bIns="0" rtlCol="0" anchor="t"/>
          <a:lstStyle/>
          <a:p>
            <a:pPr algn="ctr" indent="0" marL="0">
              <a:buNone/>
            </a:pPr>
            <a:r>
              <a:rPr lang="en-US" sz="1000" dirty="0">
                <a:solidFill>
                  <a:srgbClr val="C9CCD3"/>
                </a:solidFill>
                <a:latin typeface="Segoe UI" pitchFamily="34" charset="0"/>
                <a:ea typeface="Segoe UI" pitchFamily="34" charset="-122"/>
                <a:cs typeface="Segoe UI" pitchFamily="34" charset="-120"/>
              </a:rPr>
              <a:t>fldmob, cvt</a:t>
            </a:r>
            <a:endParaRPr lang="en-US" sz="1000" dirty="0"/>
          </a:p>
        </p:txBody>
      </p:sp>
      <p:sp>
        <p:nvSpPr>
          <p:cNvPr id="30" name="!!card"/>
          <p:cNvSpPr/>
          <p:nvPr/>
        </p:nvSpPr>
        <p:spPr>
          <a:xfrm>
            <a:off x="6949440" y="1600200"/>
            <a:ext cx="4690872" cy="2194560"/>
          </a:xfrm>
          <a:prstGeom prst="roundRect">
            <a:avLst>
              <a:gd name="adj" fmla="val 3333"/>
            </a:avLst>
          </a:prstGeom>
          <a:solidFill>
            <a:srgbClr val="F4F5F7"/>
          </a:solidFill>
          <a:ln/>
        </p:spPr>
      </p:sp>
      <p:sp>
        <p:nvSpPr>
          <p:cNvPr id="31" name="!!cardn"/>
          <p:cNvSpPr/>
          <p:nvPr/>
        </p:nvSpPr>
        <p:spPr>
          <a:xfrm>
            <a:off x="7159752" y="1810512"/>
            <a:ext cx="347472" cy="347472"/>
          </a:xfrm>
          <a:prstGeom prst="ellipse">
            <a:avLst/>
          </a:prstGeom>
          <a:solidFill>
            <a:srgbClr val="D64545"/>
          </a:solidFill>
          <a:ln/>
        </p:spPr>
      </p:sp>
      <p:sp>
        <p:nvSpPr>
          <p:cNvPr id="32" name="!!cardnt"/>
          <p:cNvSpPr txBox="1"/>
          <p:nvPr/>
        </p:nvSpPr>
        <p:spPr>
          <a:xfrm>
            <a:off x="7159752" y="181051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3" name="!!cardh"/>
          <p:cNvSpPr txBox="1"/>
          <p:nvPr/>
        </p:nvSpPr>
        <p:spPr>
          <a:xfrm>
            <a:off x="7635240" y="1819656"/>
            <a:ext cx="3822192" cy="347472"/>
          </a:xfrm>
          <a:prstGeom prst="rect">
            <a:avLst/>
          </a:prstGeom>
          <a:noFill/>
          <a:ln/>
        </p:spPr>
        <p:txBody>
          <a:bodyPr wrap="square" lIns="0" tIns="0" rIns="0" bIns="0" rtlCol="0" anchor="ctr"/>
          <a:lstStyle/>
          <a:p>
            <a:pPr algn="l" indent="0" marL="0">
              <a:buNone/>
            </a:pPr>
            <a:r>
              <a:rPr lang="en-US" sz="1600" dirty="0">
                <a:solidFill>
                  <a:srgbClr val="D64545"/>
                </a:solidFill>
                <a:latin typeface="Segoe UI Semibold" pitchFamily="34" charset="0"/>
                <a:ea typeface="Segoe UI Semibold" pitchFamily="34" charset="-122"/>
                <a:cs typeface="Segoe UI Semibold" pitchFamily="34" charset="-120"/>
              </a:rPr>
              <a:t>Heat raises the temperature</a:t>
            </a:r>
            <a:endParaRPr lang="en-US" sz="1600" dirty="0"/>
          </a:p>
        </p:txBody>
      </p:sp>
      <p:sp>
        <p:nvSpPr>
          <p:cNvPr id="34" name="!!cardb"/>
          <p:cNvSpPr txBox="1"/>
          <p:nvPr/>
        </p:nvSpPr>
        <p:spPr>
          <a:xfrm>
            <a:off x="7178040" y="2313432"/>
            <a:ext cx="4233672" cy="132588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The heat equation spreads H through all regions; each material has its own κ.</a:t>
            </a:r>
            <a:endParaRPr lang="en-US" sz="1300" dirty="0"/>
          </a:p>
        </p:txBody>
      </p:sp>
      <p:sp>
        <p:nvSpPr>
          <p:cNvPr id="35"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Heat raises the lattice temperature.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113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Methodology – What Atlas solves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Electricity and heat are solved together, because each changes the other</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171A20"/>
          </a:solidFill>
          <a:ln/>
        </p:spPr>
      </p:sp>
      <p:sp>
        <p:nvSpPr>
          <p:cNvPr id="6" name="!!sdot2"/>
          <p:cNvSpPr/>
          <p:nvPr/>
        </p:nvSpPr>
        <p:spPr>
          <a:xfrm>
            <a:off x="11132820" y="525780"/>
            <a:ext cx="82296" cy="82296"/>
          </a:xfrm>
          <a:prstGeom prst="ellipse">
            <a:avLst/>
          </a:prstGeom>
          <a:solidFill>
            <a:srgbClr val="171A20"/>
          </a:solidFill>
          <a:ln/>
        </p:spPr>
      </p:sp>
      <p:sp>
        <p:nvSpPr>
          <p:cNvPr id="7" name="!!sdot3"/>
          <p:cNvSpPr/>
          <p:nvPr/>
        </p:nvSpPr>
        <p:spPr>
          <a:xfrm>
            <a:off x="11288268" y="525780"/>
            <a:ext cx="82296" cy="82296"/>
          </a:xfrm>
          <a:prstGeom prst="ellipse">
            <a:avLst/>
          </a:prstGeom>
          <a:solidFill>
            <a:srgbClr val="171A20"/>
          </a:solidFill>
          <a:ln/>
        </p:spPr>
      </p:sp>
      <p:sp>
        <p:nvSpPr>
          <p:cNvPr id="8" name="!!sdot4"/>
          <p:cNvSpPr/>
          <p:nvPr/>
        </p:nvSpPr>
        <p:spPr>
          <a:xfrm>
            <a:off x="11443716" y="525780"/>
            <a:ext cx="82296" cy="82296"/>
          </a:xfrm>
          <a:prstGeom prst="ellipse">
            <a:avLst/>
          </a:prstGeom>
          <a:solidFill>
            <a:srgbClr val="171A20"/>
          </a:solidFill>
          <a:ln/>
        </p:spPr>
      </p:sp>
      <p:sp>
        <p:nvSpPr>
          <p:cNvPr id="9" name="!!sdot5"/>
          <p:cNvSpPr/>
          <p:nvPr/>
        </p:nvSpPr>
        <p:spPr>
          <a:xfrm>
            <a:off x="11599164" y="525780"/>
            <a:ext cx="82296" cy="82296"/>
          </a:xfrm>
          <a:prstGeom prst="ellipse">
            <a:avLst/>
          </a:prstGeom>
          <a:solidFill>
            <a:srgbClr val="E2E3E3"/>
          </a:solidFill>
          <a:ln/>
        </p:spPr>
      </p:sp>
      <p:sp>
        <p:nvSpPr>
          <p:cNvPr id="10" name="!!asL0"/>
          <p:cNvSpPr/>
          <p:nvPr/>
        </p:nvSpPr>
        <p:spPr>
          <a:xfrm>
            <a:off x="2560320" y="1920240"/>
            <a:ext cx="2286000" cy="1005840"/>
          </a:xfrm>
          <a:prstGeom prst="line">
            <a:avLst/>
          </a:prstGeom>
          <a:noFill/>
          <a:ln w="31750">
            <a:solidFill>
              <a:srgbClr val="3E6AE1"/>
            </a:solidFill>
            <a:prstDash val="solid"/>
            <a:tailEnd type="triangle"/>
          </a:ln>
        </p:spPr>
      </p:sp>
      <p:sp>
        <p:nvSpPr>
          <p:cNvPr id="11" name="!!asL1"/>
          <p:cNvSpPr/>
          <p:nvPr/>
        </p:nvSpPr>
        <p:spPr>
          <a:xfrm>
            <a:off x="4846320" y="2926080"/>
            <a:ext cx="91" cy="1325880"/>
          </a:xfrm>
          <a:prstGeom prst="line">
            <a:avLst/>
          </a:prstGeom>
          <a:noFill/>
          <a:ln w="31750">
            <a:solidFill>
              <a:srgbClr val="E07B00"/>
            </a:solidFill>
            <a:prstDash val="solid"/>
            <a:tailEnd type="triangle"/>
          </a:ln>
        </p:spPr>
      </p:sp>
      <p:sp>
        <p:nvSpPr>
          <p:cNvPr id="12" name="!!asL2"/>
          <p:cNvSpPr/>
          <p:nvPr/>
        </p:nvSpPr>
        <p:spPr>
          <a:xfrm flipH="1">
            <a:off x="2560320" y="4251960"/>
            <a:ext cx="2286000" cy="1005840"/>
          </a:xfrm>
          <a:prstGeom prst="line">
            <a:avLst/>
          </a:prstGeom>
          <a:noFill/>
          <a:ln w="31750">
            <a:solidFill>
              <a:srgbClr val="D64545"/>
            </a:solidFill>
            <a:prstDash val="solid"/>
            <a:tailEnd type="triangle"/>
          </a:ln>
        </p:spPr>
      </p:sp>
      <p:sp>
        <p:nvSpPr>
          <p:cNvPr id="13" name="!!asL3"/>
          <p:cNvSpPr/>
          <p:nvPr/>
        </p:nvSpPr>
        <p:spPr>
          <a:xfrm>
            <a:off x="1554480" y="3566160"/>
            <a:ext cx="1005840" cy="1691640"/>
          </a:xfrm>
          <a:prstGeom prst="line">
            <a:avLst/>
          </a:prstGeom>
          <a:noFill/>
          <a:ln w="31750">
            <a:solidFill>
              <a:srgbClr val="11998E"/>
            </a:solidFill>
            <a:prstDash val="solid"/>
            <a:tailEnd type="triangle"/>
          </a:ln>
        </p:spPr>
      </p:sp>
      <p:sp>
        <p:nvSpPr>
          <p:cNvPr id="14" name="!!asL4"/>
          <p:cNvSpPr/>
          <p:nvPr/>
        </p:nvSpPr>
        <p:spPr>
          <a:xfrm flipH="1">
            <a:off x="1554480" y="2926080"/>
            <a:ext cx="3291840" cy="640080"/>
          </a:xfrm>
          <a:prstGeom prst="line">
            <a:avLst/>
          </a:prstGeom>
          <a:noFill/>
          <a:ln w="15875">
            <a:solidFill>
              <a:srgbClr val="E4E6EA"/>
            </a:solidFill>
            <a:prstDash val="solid"/>
          </a:ln>
        </p:spPr>
      </p:sp>
      <p:sp>
        <p:nvSpPr>
          <p:cNvPr id="15" name="!!asN0"/>
          <p:cNvSpPr/>
          <p:nvPr/>
        </p:nvSpPr>
        <p:spPr>
          <a:xfrm>
            <a:off x="1554480" y="1600200"/>
            <a:ext cx="2011680" cy="640080"/>
          </a:xfrm>
          <a:prstGeom prst="roundRect">
            <a:avLst>
              <a:gd name="adj" fmla="val 14286"/>
            </a:avLst>
          </a:prstGeom>
          <a:solidFill>
            <a:srgbClr val="1F2F6B"/>
          </a:solidFill>
          <a:ln/>
        </p:spPr>
      </p:sp>
      <p:sp>
        <p:nvSpPr>
          <p:cNvPr id="16" name="!!asNt0"/>
          <p:cNvSpPr txBox="1"/>
          <p:nvPr/>
        </p:nvSpPr>
        <p:spPr>
          <a:xfrm>
            <a:off x="1554480" y="165506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Poisson</a:t>
            </a:r>
            <a:endParaRPr lang="en-US" sz="1300" dirty="0"/>
          </a:p>
        </p:txBody>
      </p:sp>
      <p:sp>
        <p:nvSpPr>
          <p:cNvPr id="17" name="!!asNd0"/>
          <p:cNvSpPr txBox="1"/>
          <p:nvPr/>
        </p:nvSpPr>
        <p:spPr>
          <a:xfrm>
            <a:off x="1554480" y="192938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potential ψ</a:t>
            </a:r>
            <a:endParaRPr lang="en-US" sz="1000" dirty="0"/>
          </a:p>
        </p:txBody>
      </p:sp>
      <p:sp>
        <p:nvSpPr>
          <p:cNvPr id="18" name="!!asN1"/>
          <p:cNvSpPr/>
          <p:nvPr/>
        </p:nvSpPr>
        <p:spPr>
          <a:xfrm>
            <a:off x="3840480" y="2606040"/>
            <a:ext cx="2011680" cy="640080"/>
          </a:xfrm>
          <a:prstGeom prst="roundRect">
            <a:avLst>
              <a:gd name="adj" fmla="val 14286"/>
            </a:avLst>
          </a:prstGeom>
          <a:solidFill>
            <a:srgbClr val="3E6AE1"/>
          </a:solidFill>
          <a:ln/>
        </p:spPr>
      </p:sp>
      <p:sp>
        <p:nvSpPr>
          <p:cNvPr id="19" name="!!asNt1"/>
          <p:cNvSpPr txBox="1"/>
          <p:nvPr/>
        </p:nvSpPr>
        <p:spPr>
          <a:xfrm>
            <a:off x="3840480" y="266090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Electron continuity</a:t>
            </a:r>
            <a:endParaRPr lang="en-US" sz="1300" dirty="0"/>
          </a:p>
        </p:txBody>
      </p:sp>
      <p:sp>
        <p:nvSpPr>
          <p:cNvPr id="20" name="!!asNd1"/>
          <p:cNvSpPr txBox="1"/>
          <p:nvPr/>
        </p:nvSpPr>
        <p:spPr>
          <a:xfrm>
            <a:off x="3840480" y="293522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current J</a:t>
            </a:r>
            <a:pPr algn="ctr" indent="0" marL="0">
              <a:buNone/>
            </a:pPr>
            <a:r>
              <a:rPr lang="en-US" sz="1000" baseline="-40000" dirty="0">
                <a:solidFill>
                  <a:srgbClr val="E8ECF5"/>
                </a:solidFill>
                <a:latin typeface="Segoe UI" pitchFamily="34" charset="0"/>
                <a:ea typeface="Segoe UI" pitchFamily="34" charset="-122"/>
                <a:cs typeface="Segoe UI" pitchFamily="34" charset="-120"/>
              </a:rPr>
              <a:t>n</a:t>
            </a:r>
            <a:endParaRPr lang="en-US" sz="1000" dirty="0"/>
          </a:p>
        </p:txBody>
      </p:sp>
      <p:sp>
        <p:nvSpPr>
          <p:cNvPr id="21" name="!!asN2"/>
          <p:cNvSpPr/>
          <p:nvPr/>
        </p:nvSpPr>
        <p:spPr>
          <a:xfrm>
            <a:off x="3840480" y="3931920"/>
            <a:ext cx="2011680" cy="640080"/>
          </a:xfrm>
          <a:prstGeom prst="roundRect">
            <a:avLst>
              <a:gd name="adj" fmla="val 14286"/>
            </a:avLst>
          </a:prstGeom>
          <a:solidFill>
            <a:srgbClr val="E07B00"/>
          </a:solidFill>
          <a:ln/>
        </p:spPr>
      </p:sp>
      <p:sp>
        <p:nvSpPr>
          <p:cNvPr id="22" name="!!asNt2"/>
          <p:cNvSpPr txBox="1"/>
          <p:nvPr/>
        </p:nvSpPr>
        <p:spPr>
          <a:xfrm>
            <a:off x="3840480" y="398678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Joule heat</a:t>
            </a:r>
            <a:endParaRPr lang="en-US" sz="1300" dirty="0"/>
          </a:p>
        </p:txBody>
      </p:sp>
      <p:sp>
        <p:nvSpPr>
          <p:cNvPr id="23" name="!!asNd2"/>
          <p:cNvSpPr txBox="1"/>
          <p:nvPr/>
        </p:nvSpPr>
        <p:spPr>
          <a:xfrm>
            <a:off x="3840480" y="426110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H = J · E</a:t>
            </a:r>
            <a:endParaRPr lang="en-US" sz="1000" dirty="0"/>
          </a:p>
        </p:txBody>
      </p:sp>
      <p:sp>
        <p:nvSpPr>
          <p:cNvPr id="24" name="!!asN3"/>
          <p:cNvSpPr/>
          <p:nvPr/>
        </p:nvSpPr>
        <p:spPr>
          <a:xfrm>
            <a:off x="1554480" y="4937760"/>
            <a:ext cx="2011680" cy="640080"/>
          </a:xfrm>
          <a:prstGeom prst="roundRect">
            <a:avLst>
              <a:gd name="adj" fmla="val 14286"/>
            </a:avLst>
          </a:prstGeom>
          <a:solidFill>
            <a:srgbClr val="D64545"/>
          </a:solidFill>
          <a:ln/>
        </p:spPr>
      </p:sp>
      <p:sp>
        <p:nvSpPr>
          <p:cNvPr id="25" name="!!asNt3"/>
          <p:cNvSpPr txBox="1"/>
          <p:nvPr/>
        </p:nvSpPr>
        <p:spPr>
          <a:xfrm>
            <a:off x="1554480" y="499262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Heat equation</a:t>
            </a:r>
            <a:endParaRPr lang="en-US" sz="1300" dirty="0"/>
          </a:p>
        </p:txBody>
      </p:sp>
      <p:sp>
        <p:nvSpPr>
          <p:cNvPr id="26" name="!!asNd3"/>
          <p:cNvSpPr txBox="1"/>
          <p:nvPr/>
        </p:nvSpPr>
        <p:spPr>
          <a:xfrm>
            <a:off x="1554480" y="526694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lattice temp. T</a:t>
            </a:r>
            <a:pPr algn="ctr" indent="0" marL="0">
              <a:buNone/>
            </a:pPr>
            <a:r>
              <a:rPr lang="en-US" sz="1000" baseline="-40000" dirty="0">
                <a:solidFill>
                  <a:srgbClr val="E8ECF5"/>
                </a:solidFill>
                <a:latin typeface="Segoe UI" pitchFamily="34" charset="0"/>
                <a:ea typeface="Segoe UI" pitchFamily="34" charset="-122"/>
                <a:cs typeface="Segoe UI" pitchFamily="34" charset="-120"/>
              </a:rPr>
              <a:t>L</a:t>
            </a:r>
            <a:endParaRPr lang="en-US" sz="1000" dirty="0"/>
          </a:p>
        </p:txBody>
      </p:sp>
      <p:sp>
        <p:nvSpPr>
          <p:cNvPr id="27" name="!!asN4"/>
          <p:cNvSpPr/>
          <p:nvPr/>
        </p:nvSpPr>
        <p:spPr>
          <a:xfrm>
            <a:off x="548640" y="3246120"/>
            <a:ext cx="2011680" cy="640080"/>
          </a:xfrm>
          <a:prstGeom prst="roundRect">
            <a:avLst>
              <a:gd name="adj" fmla="val 14286"/>
            </a:avLst>
          </a:prstGeom>
          <a:solidFill>
            <a:srgbClr val="11998E"/>
          </a:solidFill>
          <a:ln/>
        </p:spPr>
      </p:sp>
      <p:sp>
        <p:nvSpPr>
          <p:cNvPr id="28" name="!!asNt4"/>
          <p:cNvSpPr txBox="1"/>
          <p:nvPr/>
        </p:nvSpPr>
        <p:spPr>
          <a:xfrm>
            <a:off x="548640" y="330098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Mobility μ(T)</a:t>
            </a:r>
            <a:endParaRPr lang="en-US" sz="1300" dirty="0"/>
          </a:p>
        </p:txBody>
      </p:sp>
      <p:sp>
        <p:nvSpPr>
          <p:cNvPr id="29" name="!!asNd4"/>
          <p:cNvSpPr txBox="1"/>
          <p:nvPr/>
        </p:nvSpPr>
        <p:spPr>
          <a:xfrm>
            <a:off x="548640" y="357530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fldmob, cvt</a:t>
            </a:r>
            <a:endParaRPr lang="en-US" sz="1000" dirty="0"/>
          </a:p>
        </p:txBody>
      </p:sp>
      <p:sp>
        <p:nvSpPr>
          <p:cNvPr id="30" name="!!card"/>
          <p:cNvSpPr/>
          <p:nvPr/>
        </p:nvSpPr>
        <p:spPr>
          <a:xfrm>
            <a:off x="6949440" y="1600200"/>
            <a:ext cx="4690872" cy="2194560"/>
          </a:xfrm>
          <a:prstGeom prst="roundRect">
            <a:avLst>
              <a:gd name="adj" fmla="val 3333"/>
            </a:avLst>
          </a:prstGeom>
          <a:solidFill>
            <a:srgbClr val="F4F5F7"/>
          </a:solidFill>
          <a:ln/>
        </p:spPr>
      </p:sp>
      <p:sp>
        <p:nvSpPr>
          <p:cNvPr id="31" name="!!cardn"/>
          <p:cNvSpPr/>
          <p:nvPr/>
        </p:nvSpPr>
        <p:spPr>
          <a:xfrm>
            <a:off x="7159752" y="1810512"/>
            <a:ext cx="347472" cy="347472"/>
          </a:xfrm>
          <a:prstGeom prst="ellipse">
            <a:avLst/>
          </a:prstGeom>
          <a:solidFill>
            <a:srgbClr val="11998E"/>
          </a:solidFill>
          <a:ln/>
        </p:spPr>
      </p:sp>
      <p:sp>
        <p:nvSpPr>
          <p:cNvPr id="32" name="!!cardnt"/>
          <p:cNvSpPr txBox="1"/>
          <p:nvPr/>
        </p:nvSpPr>
        <p:spPr>
          <a:xfrm>
            <a:off x="7159752" y="181051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33" name="!!cardh"/>
          <p:cNvSpPr txBox="1"/>
          <p:nvPr/>
        </p:nvSpPr>
        <p:spPr>
          <a:xfrm>
            <a:off x="7635240" y="1819656"/>
            <a:ext cx="3822192" cy="347472"/>
          </a:xfrm>
          <a:prstGeom prst="rect">
            <a:avLst/>
          </a:prstGeom>
          <a:noFill/>
          <a:ln/>
        </p:spPr>
        <p:txBody>
          <a:bodyPr wrap="square" lIns="0" tIns="0" rIns="0" bIns="0" rtlCol="0" anchor="ctr"/>
          <a:lstStyle/>
          <a:p>
            <a:pPr algn="l" indent="0" marL="0">
              <a:buNone/>
            </a:pPr>
            <a:r>
              <a:rPr lang="en-US" sz="1600" dirty="0">
                <a:solidFill>
                  <a:srgbClr val="11998E"/>
                </a:solidFill>
                <a:latin typeface="Segoe UI Semibold" pitchFamily="34" charset="0"/>
                <a:ea typeface="Segoe UI Semibold" pitchFamily="34" charset="-122"/>
                <a:cs typeface="Segoe UI Semibold" pitchFamily="34" charset="-120"/>
              </a:rPr>
              <a:t>Hot lattice slows electrons</a:t>
            </a:r>
            <a:endParaRPr lang="en-US" sz="1600" dirty="0"/>
          </a:p>
        </p:txBody>
      </p:sp>
      <p:sp>
        <p:nvSpPr>
          <p:cNvPr id="34" name="!!cardb"/>
          <p:cNvSpPr txBox="1"/>
          <p:nvPr/>
        </p:nvSpPr>
        <p:spPr>
          <a:xfrm>
            <a:off x="7178040" y="2313432"/>
            <a:ext cx="4233672" cy="132588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Mobility falls as T rises → less current. The loop closes: Atlas repeats until it settles.</a:t>
            </a:r>
            <a:endParaRPr lang="en-US" sz="1300" dirty="0"/>
          </a:p>
        </p:txBody>
      </p:sp>
      <p:sp>
        <p:nvSpPr>
          <p:cNvPr id="35"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Temperature changes the current again: a loop.</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114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Methodology – What Atlas solves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Electricity and heat are solved together, because each changes the other</a:t>
            </a:r>
            <a:endParaRPr lang="en-US" sz="1600" dirty="0"/>
          </a:p>
        </p:txBody>
      </p:sp>
      <p:sp>
        <p:nvSpPr>
          <p:cNvPr id="4" name="!!sdot0"/>
          <p:cNvSpPr/>
          <p:nvPr/>
        </p:nvSpPr>
        <p:spPr>
          <a:xfrm>
            <a:off x="10821924" y="525780"/>
            <a:ext cx="82296" cy="82296"/>
          </a:xfrm>
          <a:prstGeom prst="ellipse">
            <a:avLst/>
          </a:prstGeom>
          <a:solidFill>
            <a:srgbClr val="171A20"/>
          </a:solidFill>
          <a:ln/>
        </p:spPr>
      </p:sp>
      <p:sp>
        <p:nvSpPr>
          <p:cNvPr id="5" name="!!sdot1"/>
          <p:cNvSpPr/>
          <p:nvPr/>
        </p:nvSpPr>
        <p:spPr>
          <a:xfrm>
            <a:off x="10977372" y="525780"/>
            <a:ext cx="82296" cy="82296"/>
          </a:xfrm>
          <a:prstGeom prst="ellipse">
            <a:avLst/>
          </a:prstGeom>
          <a:solidFill>
            <a:srgbClr val="171A20"/>
          </a:solidFill>
          <a:ln/>
        </p:spPr>
      </p:sp>
      <p:sp>
        <p:nvSpPr>
          <p:cNvPr id="6" name="!!sdot2"/>
          <p:cNvSpPr/>
          <p:nvPr/>
        </p:nvSpPr>
        <p:spPr>
          <a:xfrm>
            <a:off x="11132820" y="525780"/>
            <a:ext cx="82296" cy="82296"/>
          </a:xfrm>
          <a:prstGeom prst="ellipse">
            <a:avLst/>
          </a:prstGeom>
          <a:solidFill>
            <a:srgbClr val="171A20"/>
          </a:solidFill>
          <a:ln/>
        </p:spPr>
      </p:sp>
      <p:sp>
        <p:nvSpPr>
          <p:cNvPr id="7" name="!!sdot3"/>
          <p:cNvSpPr/>
          <p:nvPr/>
        </p:nvSpPr>
        <p:spPr>
          <a:xfrm>
            <a:off x="11288268" y="525780"/>
            <a:ext cx="82296" cy="82296"/>
          </a:xfrm>
          <a:prstGeom prst="ellipse">
            <a:avLst/>
          </a:prstGeom>
          <a:solidFill>
            <a:srgbClr val="171A20"/>
          </a:solidFill>
          <a:ln/>
        </p:spPr>
      </p:sp>
      <p:sp>
        <p:nvSpPr>
          <p:cNvPr id="8" name="!!sdot4"/>
          <p:cNvSpPr/>
          <p:nvPr/>
        </p:nvSpPr>
        <p:spPr>
          <a:xfrm>
            <a:off x="11443716" y="525780"/>
            <a:ext cx="82296" cy="82296"/>
          </a:xfrm>
          <a:prstGeom prst="ellipse">
            <a:avLst/>
          </a:prstGeom>
          <a:solidFill>
            <a:srgbClr val="171A20"/>
          </a:solidFill>
          <a:ln/>
        </p:spPr>
      </p:sp>
      <p:sp>
        <p:nvSpPr>
          <p:cNvPr id="9" name="!!sdot5"/>
          <p:cNvSpPr/>
          <p:nvPr/>
        </p:nvSpPr>
        <p:spPr>
          <a:xfrm>
            <a:off x="11599164" y="525780"/>
            <a:ext cx="82296" cy="82296"/>
          </a:xfrm>
          <a:prstGeom prst="ellipse">
            <a:avLst/>
          </a:prstGeom>
          <a:solidFill>
            <a:srgbClr val="171A20"/>
          </a:solidFill>
          <a:ln/>
        </p:spPr>
      </p:sp>
      <p:sp>
        <p:nvSpPr>
          <p:cNvPr id="10" name="!!asL0"/>
          <p:cNvSpPr/>
          <p:nvPr/>
        </p:nvSpPr>
        <p:spPr>
          <a:xfrm>
            <a:off x="2560320" y="1920240"/>
            <a:ext cx="2286000" cy="1005840"/>
          </a:xfrm>
          <a:prstGeom prst="line">
            <a:avLst/>
          </a:prstGeom>
          <a:noFill/>
          <a:ln w="31750">
            <a:solidFill>
              <a:srgbClr val="3E6AE1"/>
            </a:solidFill>
            <a:prstDash val="solid"/>
            <a:tailEnd type="triangle"/>
          </a:ln>
        </p:spPr>
      </p:sp>
      <p:sp>
        <p:nvSpPr>
          <p:cNvPr id="11" name="!!asL1"/>
          <p:cNvSpPr/>
          <p:nvPr/>
        </p:nvSpPr>
        <p:spPr>
          <a:xfrm>
            <a:off x="4846320" y="2926080"/>
            <a:ext cx="91" cy="1325880"/>
          </a:xfrm>
          <a:prstGeom prst="line">
            <a:avLst/>
          </a:prstGeom>
          <a:noFill/>
          <a:ln w="31750">
            <a:solidFill>
              <a:srgbClr val="E07B00"/>
            </a:solidFill>
            <a:prstDash val="solid"/>
            <a:tailEnd type="triangle"/>
          </a:ln>
        </p:spPr>
      </p:sp>
      <p:sp>
        <p:nvSpPr>
          <p:cNvPr id="12" name="!!asL2"/>
          <p:cNvSpPr/>
          <p:nvPr/>
        </p:nvSpPr>
        <p:spPr>
          <a:xfrm flipH="1">
            <a:off x="2560320" y="4251960"/>
            <a:ext cx="2286000" cy="1005840"/>
          </a:xfrm>
          <a:prstGeom prst="line">
            <a:avLst/>
          </a:prstGeom>
          <a:noFill/>
          <a:ln w="31750">
            <a:solidFill>
              <a:srgbClr val="D64545"/>
            </a:solidFill>
            <a:prstDash val="solid"/>
            <a:tailEnd type="triangle"/>
          </a:ln>
        </p:spPr>
      </p:sp>
      <p:sp>
        <p:nvSpPr>
          <p:cNvPr id="13" name="!!asL3"/>
          <p:cNvSpPr/>
          <p:nvPr/>
        </p:nvSpPr>
        <p:spPr>
          <a:xfrm>
            <a:off x="1554480" y="3566160"/>
            <a:ext cx="1005840" cy="1691640"/>
          </a:xfrm>
          <a:prstGeom prst="line">
            <a:avLst/>
          </a:prstGeom>
          <a:noFill/>
          <a:ln w="31750">
            <a:solidFill>
              <a:srgbClr val="11998E"/>
            </a:solidFill>
            <a:prstDash val="solid"/>
            <a:tailEnd type="triangle"/>
          </a:ln>
        </p:spPr>
      </p:sp>
      <p:sp>
        <p:nvSpPr>
          <p:cNvPr id="14" name="!!asL4"/>
          <p:cNvSpPr/>
          <p:nvPr/>
        </p:nvSpPr>
        <p:spPr>
          <a:xfrm flipH="1">
            <a:off x="1554480" y="2926080"/>
            <a:ext cx="3291840" cy="640080"/>
          </a:xfrm>
          <a:prstGeom prst="line">
            <a:avLst/>
          </a:prstGeom>
          <a:noFill/>
          <a:ln w="31750">
            <a:solidFill>
              <a:srgbClr val="3E6AE1"/>
            </a:solidFill>
            <a:prstDash val="solid"/>
            <a:tailEnd type="triangle"/>
          </a:ln>
        </p:spPr>
      </p:sp>
      <p:sp>
        <p:nvSpPr>
          <p:cNvPr id="15" name="!!asN0"/>
          <p:cNvSpPr/>
          <p:nvPr/>
        </p:nvSpPr>
        <p:spPr>
          <a:xfrm>
            <a:off x="1554480" y="1600200"/>
            <a:ext cx="2011680" cy="640080"/>
          </a:xfrm>
          <a:prstGeom prst="roundRect">
            <a:avLst>
              <a:gd name="adj" fmla="val 14286"/>
            </a:avLst>
          </a:prstGeom>
          <a:solidFill>
            <a:srgbClr val="1F2F6B"/>
          </a:solidFill>
          <a:ln/>
        </p:spPr>
      </p:sp>
      <p:sp>
        <p:nvSpPr>
          <p:cNvPr id="16" name="!!asNt0"/>
          <p:cNvSpPr txBox="1"/>
          <p:nvPr/>
        </p:nvSpPr>
        <p:spPr>
          <a:xfrm>
            <a:off x="1554480" y="165506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Poisson</a:t>
            </a:r>
            <a:endParaRPr lang="en-US" sz="1300" dirty="0"/>
          </a:p>
        </p:txBody>
      </p:sp>
      <p:sp>
        <p:nvSpPr>
          <p:cNvPr id="17" name="!!asNd0"/>
          <p:cNvSpPr txBox="1"/>
          <p:nvPr/>
        </p:nvSpPr>
        <p:spPr>
          <a:xfrm>
            <a:off x="1554480" y="192938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potential ψ</a:t>
            </a:r>
            <a:endParaRPr lang="en-US" sz="1000" dirty="0"/>
          </a:p>
        </p:txBody>
      </p:sp>
      <p:sp>
        <p:nvSpPr>
          <p:cNvPr id="18" name="!!asN1"/>
          <p:cNvSpPr/>
          <p:nvPr/>
        </p:nvSpPr>
        <p:spPr>
          <a:xfrm>
            <a:off x="3840480" y="2606040"/>
            <a:ext cx="2011680" cy="640080"/>
          </a:xfrm>
          <a:prstGeom prst="roundRect">
            <a:avLst>
              <a:gd name="adj" fmla="val 14286"/>
            </a:avLst>
          </a:prstGeom>
          <a:solidFill>
            <a:srgbClr val="3E6AE1"/>
          </a:solidFill>
          <a:ln/>
        </p:spPr>
      </p:sp>
      <p:sp>
        <p:nvSpPr>
          <p:cNvPr id="19" name="!!asNt1"/>
          <p:cNvSpPr txBox="1"/>
          <p:nvPr/>
        </p:nvSpPr>
        <p:spPr>
          <a:xfrm>
            <a:off x="3840480" y="266090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Electron continuity</a:t>
            </a:r>
            <a:endParaRPr lang="en-US" sz="1300" dirty="0"/>
          </a:p>
        </p:txBody>
      </p:sp>
      <p:sp>
        <p:nvSpPr>
          <p:cNvPr id="20" name="!!asNd1"/>
          <p:cNvSpPr txBox="1"/>
          <p:nvPr/>
        </p:nvSpPr>
        <p:spPr>
          <a:xfrm>
            <a:off x="3840480" y="293522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current J</a:t>
            </a:r>
            <a:pPr algn="ctr" indent="0" marL="0">
              <a:buNone/>
            </a:pPr>
            <a:r>
              <a:rPr lang="en-US" sz="1000" baseline="-40000" dirty="0">
                <a:solidFill>
                  <a:srgbClr val="E8ECF5"/>
                </a:solidFill>
                <a:latin typeface="Segoe UI" pitchFamily="34" charset="0"/>
                <a:ea typeface="Segoe UI" pitchFamily="34" charset="-122"/>
                <a:cs typeface="Segoe UI" pitchFamily="34" charset="-120"/>
              </a:rPr>
              <a:t>n</a:t>
            </a:r>
            <a:endParaRPr lang="en-US" sz="1000" dirty="0"/>
          </a:p>
        </p:txBody>
      </p:sp>
      <p:sp>
        <p:nvSpPr>
          <p:cNvPr id="21" name="!!asN2"/>
          <p:cNvSpPr/>
          <p:nvPr/>
        </p:nvSpPr>
        <p:spPr>
          <a:xfrm>
            <a:off x="3840480" y="3931920"/>
            <a:ext cx="2011680" cy="640080"/>
          </a:xfrm>
          <a:prstGeom prst="roundRect">
            <a:avLst>
              <a:gd name="adj" fmla="val 14286"/>
            </a:avLst>
          </a:prstGeom>
          <a:solidFill>
            <a:srgbClr val="E07B00"/>
          </a:solidFill>
          <a:ln/>
        </p:spPr>
      </p:sp>
      <p:sp>
        <p:nvSpPr>
          <p:cNvPr id="22" name="!!asNt2"/>
          <p:cNvSpPr txBox="1"/>
          <p:nvPr/>
        </p:nvSpPr>
        <p:spPr>
          <a:xfrm>
            <a:off x="3840480" y="398678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Joule heat</a:t>
            </a:r>
            <a:endParaRPr lang="en-US" sz="1300" dirty="0"/>
          </a:p>
        </p:txBody>
      </p:sp>
      <p:sp>
        <p:nvSpPr>
          <p:cNvPr id="23" name="!!asNd2"/>
          <p:cNvSpPr txBox="1"/>
          <p:nvPr/>
        </p:nvSpPr>
        <p:spPr>
          <a:xfrm>
            <a:off x="3840480" y="426110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H = J · E</a:t>
            </a:r>
            <a:endParaRPr lang="en-US" sz="1000" dirty="0"/>
          </a:p>
        </p:txBody>
      </p:sp>
      <p:sp>
        <p:nvSpPr>
          <p:cNvPr id="24" name="!!asN3"/>
          <p:cNvSpPr/>
          <p:nvPr/>
        </p:nvSpPr>
        <p:spPr>
          <a:xfrm>
            <a:off x="1554480" y="4937760"/>
            <a:ext cx="2011680" cy="640080"/>
          </a:xfrm>
          <a:prstGeom prst="roundRect">
            <a:avLst>
              <a:gd name="adj" fmla="val 14286"/>
            </a:avLst>
          </a:prstGeom>
          <a:solidFill>
            <a:srgbClr val="D64545"/>
          </a:solidFill>
          <a:ln/>
        </p:spPr>
      </p:sp>
      <p:sp>
        <p:nvSpPr>
          <p:cNvPr id="25" name="!!asNt3"/>
          <p:cNvSpPr txBox="1"/>
          <p:nvPr/>
        </p:nvSpPr>
        <p:spPr>
          <a:xfrm>
            <a:off x="1554480" y="499262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Heat equation</a:t>
            </a:r>
            <a:endParaRPr lang="en-US" sz="1300" dirty="0"/>
          </a:p>
        </p:txBody>
      </p:sp>
      <p:sp>
        <p:nvSpPr>
          <p:cNvPr id="26" name="!!asNd3"/>
          <p:cNvSpPr txBox="1"/>
          <p:nvPr/>
        </p:nvSpPr>
        <p:spPr>
          <a:xfrm>
            <a:off x="1554480" y="526694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lattice temp. T</a:t>
            </a:r>
            <a:pPr algn="ctr" indent="0" marL="0">
              <a:buNone/>
            </a:pPr>
            <a:r>
              <a:rPr lang="en-US" sz="1000" baseline="-40000" dirty="0">
                <a:solidFill>
                  <a:srgbClr val="E8ECF5"/>
                </a:solidFill>
                <a:latin typeface="Segoe UI" pitchFamily="34" charset="0"/>
                <a:ea typeface="Segoe UI" pitchFamily="34" charset="-122"/>
                <a:cs typeface="Segoe UI" pitchFamily="34" charset="-120"/>
              </a:rPr>
              <a:t>L</a:t>
            </a:r>
            <a:endParaRPr lang="en-US" sz="1000" dirty="0"/>
          </a:p>
        </p:txBody>
      </p:sp>
      <p:sp>
        <p:nvSpPr>
          <p:cNvPr id="27" name="!!asN4"/>
          <p:cNvSpPr/>
          <p:nvPr/>
        </p:nvSpPr>
        <p:spPr>
          <a:xfrm>
            <a:off x="548640" y="3246120"/>
            <a:ext cx="2011680" cy="640080"/>
          </a:xfrm>
          <a:prstGeom prst="roundRect">
            <a:avLst>
              <a:gd name="adj" fmla="val 14286"/>
            </a:avLst>
          </a:prstGeom>
          <a:solidFill>
            <a:srgbClr val="11998E"/>
          </a:solidFill>
          <a:ln/>
        </p:spPr>
      </p:sp>
      <p:sp>
        <p:nvSpPr>
          <p:cNvPr id="28" name="!!asNt4"/>
          <p:cNvSpPr txBox="1"/>
          <p:nvPr/>
        </p:nvSpPr>
        <p:spPr>
          <a:xfrm>
            <a:off x="548640" y="3300984"/>
            <a:ext cx="2011680" cy="292608"/>
          </a:xfrm>
          <a:prstGeom prst="rect">
            <a:avLst/>
          </a:prstGeom>
          <a:noFill/>
          <a:ln/>
        </p:spPr>
        <p:txBody>
          <a:bodyPr wrap="square" lIns="0" tIns="0" rIns="0" bIns="0" rtlCol="0" anchor="t"/>
          <a:lstStyle/>
          <a:p>
            <a:pPr algn="ctr" indent="0" marL="0">
              <a:buNone/>
            </a:pPr>
            <a:r>
              <a:rPr lang="en-US" sz="1300" dirty="0">
                <a:solidFill>
                  <a:srgbClr val="FFFFFF"/>
                </a:solidFill>
                <a:latin typeface="Segoe UI Semibold" pitchFamily="34" charset="0"/>
                <a:ea typeface="Segoe UI Semibold" pitchFamily="34" charset="-122"/>
                <a:cs typeface="Segoe UI Semibold" pitchFamily="34" charset="-120"/>
              </a:rPr>
              <a:t>Mobility μ(T)</a:t>
            </a:r>
            <a:endParaRPr lang="en-US" sz="1300" dirty="0"/>
          </a:p>
        </p:txBody>
      </p:sp>
      <p:sp>
        <p:nvSpPr>
          <p:cNvPr id="29" name="!!asNd4"/>
          <p:cNvSpPr txBox="1"/>
          <p:nvPr/>
        </p:nvSpPr>
        <p:spPr>
          <a:xfrm>
            <a:off x="548640" y="3575304"/>
            <a:ext cx="2011680" cy="256032"/>
          </a:xfrm>
          <a:prstGeom prst="rect">
            <a:avLst/>
          </a:prstGeom>
          <a:noFill/>
          <a:ln/>
        </p:spPr>
        <p:txBody>
          <a:bodyPr wrap="square" lIns="0" tIns="0" rIns="0" bIns="0" rtlCol="0" anchor="t"/>
          <a:lstStyle/>
          <a:p>
            <a:pPr algn="ctr" indent="0" marL="0">
              <a:buNone/>
            </a:pPr>
            <a:r>
              <a:rPr lang="en-US" sz="1000" dirty="0">
                <a:solidFill>
                  <a:srgbClr val="E8ECF5"/>
                </a:solidFill>
                <a:latin typeface="Segoe UI" pitchFamily="34" charset="0"/>
                <a:ea typeface="Segoe UI" pitchFamily="34" charset="-122"/>
                <a:cs typeface="Segoe UI" pitchFamily="34" charset="-120"/>
              </a:rPr>
              <a:t>fldmob, cvt</a:t>
            </a:r>
            <a:endParaRPr lang="en-US" sz="1000" dirty="0"/>
          </a:p>
        </p:txBody>
      </p:sp>
      <p:sp>
        <p:nvSpPr>
          <p:cNvPr id="30" name="!!asOut"/>
          <p:cNvSpPr/>
          <p:nvPr/>
        </p:nvSpPr>
        <p:spPr>
          <a:xfrm>
            <a:off x="3657600" y="5257800"/>
            <a:ext cx="1645920" cy="91"/>
          </a:xfrm>
          <a:prstGeom prst="line">
            <a:avLst/>
          </a:prstGeom>
          <a:noFill/>
          <a:ln w="38100">
            <a:solidFill>
              <a:srgbClr val="E07B00"/>
            </a:solidFill>
            <a:prstDash val="solid"/>
            <a:tailEnd type="triangle"/>
          </a:ln>
        </p:spPr>
      </p:sp>
      <p:sp>
        <p:nvSpPr>
          <p:cNvPr id="31" name="!!asOutL"/>
          <p:cNvSpPr txBox="1"/>
          <p:nvPr/>
        </p:nvSpPr>
        <p:spPr>
          <a:xfrm>
            <a:off x="3657600" y="4937760"/>
            <a:ext cx="2011680" cy="274320"/>
          </a:xfrm>
          <a:prstGeom prst="rect">
            <a:avLst/>
          </a:prstGeom>
          <a:noFill/>
          <a:ln/>
        </p:spPr>
        <p:txBody>
          <a:bodyPr wrap="square" lIns="0" tIns="0" rIns="0" bIns="0" rtlCol="0" anchor="t"/>
          <a:lstStyle/>
          <a:p>
            <a:pPr algn="l" indent="0" marL="0">
              <a:buNone/>
            </a:pPr>
            <a:r>
              <a:rPr lang="en-US" sz="1200" dirty="0">
                <a:solidFill>
                  <a:srgbClr val="E07B00"/>
                </a:solidFill>
                <a:latin typeface="Segoe UI Semibold" pitchFamily="34" charset="0"/>
                <a:ea typeface="Segoe UI Semibold" pitchFamily="34" charset="-122"/>
                <a:cs typeface="Segoe UI Semibold" pitchFamily="34" charset="-120"/>
              </a:rPr>
              <a:t>heat exit α → 300 K</a:t>
            </a:r>
            <a:endParaRPr lang="en-US" sz="1200" dirty="0"/>
          </a:p>
        </p:txBody>
      </p:sp>
      <p:sp>
        <p:nvSpPr>
          <p:cNvPr id="32" name="!!card"/>
          <p:cNvSpPr/>
          <p:nvPr/>
        </p:nvSpPr>
        <p:spPr>
          <a:xfrm>
            <a:off x="6949440" y="1600200"/>
            <a:ext cx="4690872" cy="2194560"/>
          </a:xfrm>
          <a:prstGeom prst="roundRect">
            <a:avLst>
              <a:gd name="adj" fmla="val 3333"/>
            </a:avLst>
          </a:prstGeom>
          <a:solidFill>
            <a:srgbClr val="F4F5F7"/>
          </a:solidFill>
          <a:ln/>
        </p:spPr>
      </p:sp>
      <p:sp>
        <p:nvSpPr>
          <p:cNvPr id="33" name="!!cardn"/>
          <p:cNvSpPr/>
          <p:nvPr/>
        </p:nvSpPr>
        <p:spPr>
          <a:xfrm>
            <a:off x="7159752" y="1810512"/>
            <a:ext cx="347472" cy="347472"/>
          </a:xfrm>
          <a:prstGeom prst="ellipse">
            <a:avLst/>
          </a:prstGeom>
          <a:solidFill>
            <a:srgbClr val="E07B00"/>
          </a:solidFill>
          <a:ln/>
        </p:spPr>
      </p:sp>
      <p:sp>
        <p:nvSpPr>
          <p:cNvPr id="34" name="!!cardnt"/>
          <p:cNvSpPr txBox="1"/>
          <p:nvPr/>
        </p:nvSpPr>
        <p:spPr>
          <a:xfrm>
            <a:off x="7159752" y="181051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6</a:t>
            </a:r>
            <a:endParaRPr lang="en-US" sz="1200" dirty="0"/>
          </a:p>
        </p:txBody>
      </p:sp>
      <p:sp>
        <p:nvSpPr>
          <p:cNvPr id="35" name="!!cardh"/>
          <p:cNvSpPr txBox="1"/>
          <p:nvPr/>
        </p:nvSpPr>
        <p:spPr>
          <a:xfrm>
            <a:off x="7635240" y="1819656"/>
            <a:ext cx="3822192" cy="347472"/>
          </a:xfrm>
          <a:prstGeom prst="rect">
            <a:avLst/>
          </a:prstGeom>
          <a:noFill/>
          <a:ln/>
        </p:spPr>
        <p:txBody>
          <a:bodyPr wrap="square" lIns="0" tIns="0" rIns="0" bIns="0" rtlCol="0" anchor="ctr"/>
          <a:lstStyle/>
          <a:p>
            <a:pPr algn="l" indent="0" marL="0">
              <a:buNone/>
            </a:pPr>
            <a:r>
              <a:rPr lang="en-US" sz="1600" dirty="0">
                <a:solidFill>
                  <a:srgbClr val="E07B00"/>
                </a:solidFill>
                <a:latin typeface="Segoe UI Semibold" pitchFamily="34" charset="0"/>
                <a:ea typeface="Segoe UI Semibold" pitchFamily="34" charset="-122"/>
                <a:cs typeface="Segoe UI Semibold" pitchFamily="34" charset="-120"/>
              </a:rPr>
              <a:t>Heat must leave somewhere</a:t>
            </a:r>
            <a:endParaRPr lang="en-US" sz="1600" dirty="0"/>
          </a:p>
        </p:txBody>
      </p:sp>
      <p:sp>
        <p:nvSpPr>
          <p:cNvPr id="36" name="!!cardb"/>
          <p:cNvSpPr txBox="1"/>
          <p:nvPr/>
        </p:nvSpPr>
        <p:spPr>
          <a:xfrm>
            <a:off x="7178040" y="2313432"/>
            <a:ext cx="4233672" cy="132588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thermcontact on S, D, G at 300 K. α (W/cm²·K): larger α = easier exit = cooler.</a:t>
            </a:r>
            <a:endParaRPr lang="en-US" sz="1300" dirty="0"/>
          </a:p>
        </p:txBody>
      </p:sp>
      <p:sp>
        <p:nvSpPr>
          <p:cNvPr id="3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Heat leaves through the contacts: the heat-exit α we calibrate.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115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Methodology – Choosing the solver</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How we made a 3D electro-thermal run fit on a laptop</a:t>
            </a:r>
            <a:endParaRPr lang="en-US" sz="1600" dirty="0"/>
          </a:p>
        </p:txBody>
      </p:sp>
      <p:sp>
        <p:nvSpPr>
          <p:cNvPr id="4" name="Shape 2"/>
          <p:cNvSpPr/>
          <p:nvPr/>
        </p:nvSpPr>
        <p:spPr>
          <a:xfrm>
            <a:off x="548640" y="1554480"/>
            <a:ext cx="5669280" cy="1005840"/>
          </a:xfrm>
          <a:prstGeom prst="roundRect">
            <a:avLst>
              <a:gd name="adj" fmla="val 7273"/>
            </a:avLst>
          </a:prstGeom>
          <a:solidFill>
            <a:srgbClr val="F4F5F7"/>
          </a:solidFill>
          <a:ln/>
        </p:spPr>
      </p:sp>
      <p:sp>
        <p:nvSpPr>
          <p:cNvPr id="5" name="Shape 3"/>
          <p:cNvSpPr/>
          <p:nvPr/>
        </p:nvSpPr>
        <p:spPr>
          <a:xfrm>
            <a:off x="768096" y="1819656"/>
            <a:ext cx="475488" cy="475488"/>
          </a:xfrm>
          <a:prstGeom prst="ellipse">
            <a:avLst/>
          </a:prstGeom>
          <a:solidFill>
            <a:srgbClr val="D64545"/>
          </a:solidFill>
          <a:ln/>
        </p:spPr>
      </p:sp>
      <p:sp>
        <p:nvSpPr>
          <p:cNvPr id="6" name="Text 4"/>
          <p:cNvSpPr txBox="1"/>
          <p:nvPr/>
        </p:nvSpPr>
        <p:spPr>
          <a:xfrm>
            <a:off x="768096" y="1819656"/>
            <a:ext cx="475488" cy="475488"/>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a:t>
            </a:r>
            <a:endParaRPr lang="en-US" sz="1600" dirty="0"/>
          </a:p>
        </p:txBody>
      </p:sp>
      <p:sp>
        <p:nvSpPr>
          <p:cNvPr id="7" name="Text 5"/>
          <p:cNvSpPr txBox="1"/>
          <p:nvPr/>
        </p:nvSpPr>
        <p:spPr>
          <a:xfrm>
            <a:off x="1463040" y="1664208"/>
            <a:ext cx="4572000" cy="347472"/>
          </a:xfrm>
          <a:prstGeom prst="rect">
            <a:avLst/>
          </a:prstGeom>
          <a:noFill/>
          <a:ln/>
        </p:spPr>
        <p:txBody>
          <a:bodyPr wrap="square" lIns="0" tIns="0" rIns="0" bIns="0" rtlCol="0" anchor="t"/>
          <a:lstStyle/>
          <a:p>
            <a:pPr algn="l" indent="0" marL="0">
              <a:buNone/>
            </a:pPr>
            <a:r>
              <a:rPr lang="en-US" sz="1600" dirty="0">
                <a:solidFill>
                  <a:srgbClr val="D64545"/>
                </a:solidFill>
                <a:latin typeface="Segoe UI Semibold" pitchFamily="34" charset="0"/>
                <a:ea typeface="Segoe UI Semibold" pitchFamily="34" charset="-122"/>
                <a:cs typeface="Segoe UI Semibold" pitchFamily="34" charset="-120"/>
              </a:rPr>
              <a:t>Gummel</a:t>
            </a:r>
            <a:endParaRPr lang="en-US" sz="1600" dirty="0"/>
          </a:p>
        </p:txBody>
      </p:sp>
      <p:sp>
        <p:nvSpPr>
          <p:cNvPr id="8" name="Text 6"/>
          <p:cNvSpPr txBox="1"/>
          <p:nvPr/>
        </p:nvSpPr>
        <p:spPr>
          <a:xfrm>
            <a:off x="1463040" y="2029968"/>
            <a:ext cx="4663440" cy="45720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heat residual stuck at 10¹⁹: no I–V data</a:t>
            </a:r>
            <a:endParaRPr lang="en-US" sz="1200" dirty="0"/>
          </a:p>
        </p:txBody>
      </p:sp>
      <p:sp>
        <p:nvSpPr>
          <p:cNvPr id="9" name="Shape 7"/>
          <p:cNvSpPr/>
          <p:nvPr/>
        </p:nvSpPr>
        <p:spPr>
          <a:xfrm>
            <a:off x="548640" y="2743200"/>
            <a:ext cx="5669280" cy="1005840"/>
          </a:xfrm>
          <a:prstGeom prst="roundRect">
            <a:avLst>
              <a:gd name="adj" fmla="val 7273"/>
            </a:avLst>
          </a:prstGeom>
          <a:solidFill>
            <a:srgbClr val="F4F5F7"/>
          </a:solidFill>
          <a:ln/>
        </p:spPr>
      </p:sp>
      <p:sp>
        <p:nvSpPr>
          <p:cNvPr id="10" name="Shape 8"/>
          <p:cNvSpPr/>
          <p:nvPr/>
        </p:nvSpPr>
        <p:spPr>
          <a:xfrm>
            <a:off x="768096" y="3008376"/>
            <a:ext cx="475488" cy="475488"/>
          </a:xfrm>
          <a:prstGeom prst="ellipse">
            <a:avLst/>
          </a:prstGeom>
          <a:solidFill>
            <a:srgbClr val="D64545"/>
          </a:solidFill>
          <a:ln/>
        </p:spPr>
      </p:sp>
      <p:sp>
        <p:nvSpPr>
          <p:cNvPr id="11" name="Text 9"/>
          <p:cNvSpPr txBox="1"/>
          <p:nvPr/>
        </p:nvSpPr>
        <p:spPr>
          <a:xfrm>
            <a:off x="768096" y="3008376"/>
            <a:ext cx="475488" cy="475488"/>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a:t>
            </a:r>
            <a:endParaRPr lang="en-US" sz="1600" dirty="0"/>
          </a:p>
        </p:txBody>
      </p:sp>
      <p:sp>
        <p:nvSpPr>
          <p:cNvPr id="12" name="Text 10"/>
          <p:cNvSpPr txBox="1"/>
          <p:nvPr/>
        </p:nvSpPr>
        <p:spPr>
          <a:xfrm>
            <a:off x="1463040" y="2852928"/>
            <a:ext cx="4572000" cy="347472"/>
          </a:xfrm>
          <a:prstGeom prst="rect">
            <a:avLst/>
          </a:prstGeom>
          <a:noFill/>
          <a:ln/>
        </p:spPr>
        <p:txBody>
          <a:bodyPr wrap="square" lIns="0" tIns="0" rIns="0" bIns="0" rtlCol="0" anchor="t"/>
          <a:lstStyle/>
          <a:p>
            <a:pPr algn="l" indent="0" marL="0">
              <a:buNone/>
            </a:pPr>
            <a:r>
              <a:rPr lang="en-US" sz="1600" dirty="0">
                <a:solidFill>
                  <a:srgbClr val="D64545"/>
                </a:solidFill>
                <a:latin typeface="Segoe UI Semibold" pitchFamily="34" charset="0"/>
                <a:ea typeface="Segoe UI Semibold" pitchFamily="34" charset="-122"/>
                <a:cs typeface="Segoe UI Semibold" pitchFamily="34" charset="-120"/>
              </a:rPr>
              <a:t>Full Newton</a:t>
            </a:r>
            <a:endParaRPr lang="en-US" sz="1600" dirty="0"/>
          </a:p>
        </p:txBody>
      </p:sp>
      <p:sp>
        <p:nvSpPr>
          <p:cNvPr id="13" name="Text 11"/>
          <p:cNvSpPr txBox="1"/>
          <p:nvPr/>
        </p:nvSpPr>
        <p:spPr>
          <a:xfrm>
            <a:off x="1463040" y="3218688"/>
            <a:ext cx="4663440" cy="45720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4 coupled equations, 174k nodes: memory allocation failure</a:t>
            </a:r>
            <a:endParaRPr lang="en-US" sz="1200" dirty="0"/>
          </a:p>
        </p:txBody>
      </p:sp>
      <p:sp>
        <p:nvSpPr>
          <p:cNvPr id="14" name="Shape 12"/>
          <p:cNvSpPr/>
          <p:nvPr/>
        </p:nvSpPr>
        <p:spPr>
          <a:xfrm>
            <a:off x="548640" y="3931920"/>
            <a:ext cx="5669280" cy="1005840"/>
          </a:xfrm>
          <a:prstGeom prst="roundRect">
            <a:avLst>
              <a:gd name="adj" fmla="val 7273"/>
            </a:avLst>
          </a:prstGeom>
          <a:solidFill>
            <a:srgbClr val="E8F5EC"/>
          </a:solidFill>
          <a:ln/>
        </p:spPr>
      </p:sp>
      <p:sp>
        <p:nvSpPr>
          <p:cNvPr id="15" name="Shape 13"/>
          <p:cNvSpPr/>
          <p:nvPr/>
        </p:nvSpPr>
        <p:spPr>
          <a:xfrm>
            <a:off x="768096" y="4197096"/>
            <a:ext cx="475488" cy="475488"/>
          </a:xfrm>
          <a:prstGeom prst="ellipse">
            <a:avLst/>
          </a:prstGeom>
          <a:solidFill>
            <a:srgbClr val="2E9E4F"/>
          </a:solidFill>
          <a:ln/>
        </p:spPr>
      </p:sp>
      <p:sp>
        <p:nvSpPr>
          <p:cNvPr id="16" name="Text 14"/>
          <p:cNvSpPr txBox="1"/>
          <p:nvPr/>
        </p:nvSpPr>
        <p:spPr>
          <a:xfrm>
            <a:off x="768096" y="4197096"/>
            <a:ext cx="475488" cy="475488"/>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a:t>
            </a:r>
            <a:endParaRPr lang="en-US" sz="1600" dirty="0"/>
          </a:p>
        </p:txBody>
      </p:sp>
      <p:sp>
        <p:nvSpPr>
          <p:cNvPr id="17" name="Text 15"/>
          <p:cNvSpPr txBox="1"/>
          <p:nvPr/>
        </p:nvSpPr>
        <p:spPr>
          <a:xfrm>
            <a:off x="1463040" y="4041648"/>
            <a:ext cx="4572000" cy="347472"/>
          </a:xfrm>
          <a:prstGeom prst="rect">
            <a:avLst/>
          </a:prstGeom>
          <a:noFill/>
          <a:ln/>
        </p:spPr>
        <p:txBody>
          <a:bodyPr wrap="square" lIns="0" tIns="0" rIns="0" bIns="0" rtlCol="0" anchor="t"/>
          <a:lstStyle/>
          <a:p>
            <a:pPr algn="l" indent="0" marL="0">
              <a:buNone/>
            </a:pPr>
            <a:r>
              <a:rPr lang="en-US" sz="1600" dirty="0">
                <a:solidFill>
                  <a:srgbClr val="2E9E4F"/>
                </a:solidFill>
                <a:latin typeface="Segoe UI Semibold" pitchFamily="34" charset="0"/>
                <a:ea typeface="Segoe UI Semibold" pitchFamily="34" charset="-122"/>
                <a:cs typeface="Segoe UI Semibold" pitchFamily="34" charset="-120"/>
              </a:rPr>
              <a:t>Block Newton, 1 carrier</a:t>
            </a:r>
            <a:endParaRPr lang="en-US" sz="1600" dirty="0"/>
          </a:p>
        </p:txBody>
      </p:sp>
      <p:sp>
        <p:nvSpPr>
          <p:cNvPr id="18" name="Text 16"/>
          <p:cNvSpPr txBox="1"/>
          <p:nvPr/>
        </p:nvSpPr>
        <p:spPr>
          <a:xfrm>
            <a:off x="1463040" y="4407408"/>
            <a:ext cx="4663440" cy="45720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heat solved in its own block, 24k nodes: 15–35 min per run</a:t>
            </a:r>
            <a:endParaRPr lang="en-US" sz="1200" dirty="0"/>
          </a:p>
        </p:txBody>
      </p:sp>
      <p:sp>
        <p:nvSpPr>
          <p:cNvPr id="19" name="Shape 17"/>
          <p:cNvSpPr/>
          <p:nvPr/>
        </p:nvSpPr>
        <p:spPr>
          <a:xfrm>
            <a:off x="6675120" y="1554480"/>
            <a:ext cx="4965192" cy="3383280"/>
          </a:xfrm>
          <a:prstGeom prst="roundRect">
            <a:avLst>
              <a:gd name="adj" fmla="val 2162"/>
            </a:avLst>
          </a:prstGeom>
          <a:solidFill>
            <a:srgbClr val="171A20"/>
          </a:solidFill>
          <a:ln/>
        </p:spPr>
      </p:sp>
      <p:sp>
        <p:nvSpPr>
          <p:cNvPr id="20" name="Text 18"/>
          <p:cNvSpPr txBox="1"/>
          <p:nvPr/>
        </p:nvSpPr>
        <p:spPr>
          <a:xfrm>
            <a:off x="6903720" y="1783080"/>
            <a:ext cx="4572000" cy="2926080"/>
          </a:xfrm>
          <a:prstGeom prst="rect">
            <a:avLst/>
          </a:prstGeom>
          <a:noFill/>
          <a:ln/>
        </p:spPr>
        <p:txBody>
          <a:bodyPr wrap="square" lIns="0" tIns="0" rIns="0" bIns="0" rtlCol="0" anchor="t"/>
          <a:lstStyle/>
          <a:p>
            <a:pPr algn="l" indent="0" marL="0">
              <a:spcAft>
                <a:spcPts val="600"/>
              </a:spcAft>
              <a:buNone/>
            </a:pPr>
            <a:r>
              <a:rPr lang="en-US" sz="1200" dirty="0">
                <a:solidFill>
                  <a:srgbClr val="D9F2E3"/>
                </a:solidFill>
                <a:latin typeface="Courier New" pitchFamily="34" charset="0"/>
                <a:ea typeface="Courier New" pitchFamily="34" charset="-122"/>
                <a:cs typeface="Courier New" pitchFamily="34" charset="-120"/>
              </a:rPr>
              <a:t>models cvt srh auger bgn fldmob lat.temp</a:t>
            </a:r>
            <a:endParaRPr lang="en-US" sz="1200" dirty="0"/>
          </a:p>
          <a:p>
            <a:pPr algn="l" indent="0" marL="0">
              <a:spcAft>
                <a:spcPts val="600"/>
              </a:spcAft>
              <a:buNone/>
            </a:pPr>
            <a:r>
              <a:rPr lang="en-US" sz="1200" dirty="0">
                <a:solidFill>
                  <a:srgbClr val="D9F2E3"/>
                </a:solidFill>
                <a:latin typeface="Courier New" pitchFamily="34" charset="0"/>
                <a:ea typeface="Courier New" pitchFamily="34" charset="-122"/>
                <a:cs typeface="Courier New" pitchFamily="34" charset="-120"/>
              </a:rPr>
              <a:t>thermcontact num=1 elec.num=1 \</a:t>
            </a:r>
            <a:endParaRPr lang="en-US" sz="1200" dirty="0"/>
          </a:p>
          <a:p>
            <a:pPr algn="l" indent="0" marL="0">
              <a:spcAft>
                <a:spcPts val="600"/>
              </a:spcAft>
              <a:buNone/>
            </a:pPr>
            <a:r>
              <a:rPr lang="en-US" sz="1200" dirty="0">
                <a:solidFill>
                  <a:srgbClr val="D9F2E3"/>
                </a:solidFill>
                <a:latin typeface="Courier New" pitchFamily="34" charset="0"/>
                <a:ea typeface="Courier New" pitchFamily="34" charset="-122"/>
                <a:cs typeface="Courier New" pitchFamily="34" charset="-120"/>
              </a:rPr>
              <a:t>   ext.temp=300 alpha=5000</a:t>
            </a:r>
            <a:endParaRPr lang="en-US" sz="1200" dirty="0"/>
          </a:p>
          <a:p>
            <a:pPr algn="l" indent="0" marL="0">
              <a:spcAft>
                <a:spcPts val="600"/>
              </a:spcAft>
              <a:buNone/>
            </a:pPr>
            <a:r>
              <a:rPr lang="en-US" sz="1200" dirty="0">
                <a:solidFill>
                  <a:srgbClr val="D9F2E3"/>
                </a:solidFill>
                <a:latin typeface="Courier New" pitchFamily="34" charset="0"/>
                <a:ea typeface="Courier New" pitchFamily="34" charset="-122"/>
                <a:cs typeface="Courier New" pitchFamily="34" charset="-120"/>
              </a:rPr>
              <a:t>method block newton carriers=1 electrons</a:t>
            </a:r>
            <a:endParaRPr lang="en-US" sz="1200" dirty="0"/>
          </a:p>
          <a:p>
            <a:pPr algn="l" indent="0" marL="0">
              <a:spcAft>
                <a:spcPts val="600"/>
              </a:spcAft>
              <a:buNone/>
            </a:pPr>
            <a:r>
              <a:rPr lang="en-US" sz="1200" dirty="0">
                <a:solidFill>
                  <a:srgbClr val="D9F2E3"/>
                </a:solidFill>
                <a:latin typeface="Courier New" pitchFamily="34" charset="0"/>
                <a:ea typeface="Courier New" pitchFamily="34" charset="-122"/>
                <a:cs typeface="Courier New" pitchFamily="34" charset="-120"/>
              </a:rPr>
              <a:t>probe name=Tmax lat.temp max</a:t>
            </a:r>
            <a:endParaRPr lang="en-US" sz="1200" dirty="0"/>
          </a:p>
        </p:txBody>
      </p:sp>
      <p:sp>
        <p:nvSpPr>
          <p:cNvPr id="21"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Block Newton with one carrier makes 3D self-heating practical.</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116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Methodology – Every number from two curves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The transfer curve gives the electrical metrics; the heat curve gives R</a:t>
            </a:r>
            <a:pPr algn="l" indent="0" marL="0">
              <a:buNone/>
            </a:pPr>
            <a:r>
              <a:rPr lang="en-US" sz="1600" baseline="-40000" dirty="0">
                <a:solidFill>
                  <a:srgbClr val="5C5E62"/>
                </a:solidFill>
                <a:latin typeface="Segoe UI" pitchFamily="34" charset="0"/>
                <a:ea typeface="Segoe UI" pitchFamily="34" charset="-122"/>
                <a:cs typeface="Segoe UI" pitchFamily="34" charset="-120"/>
              </a:rPr>
              <a:t>th</a:t>
            </a:r>
            <a:endParaRPr lang="en-US" sz="1600" dirty="0"/>
          </a:p>
        </p:txBody>
      </p:sp>
      <p:sp>
        <p:nvSpPr>
          <p:cNvPr id="4" name="!!sdot0"/>
          <p:cNvSpPr/>
          <p:nvPr/>
        </p:nvSpPr>
        <p:spPr>
          <a:xfrm>
            <a:off x="11443716" y="525780"/>
            <a:ext cx="82296" cy="82296"/>
          </a:xfrm>
          <a:prstGeom prst="ellipse">
            <a:avLst/>
          </a:prstGeom>
          <a:solidFill>
            <a:srgbClr val="171A20"/>
          </a:solidFill>
          <a:ln/>
        </p:spPr>
      </p:sp>
      <p:sp>
        <p:nvSpPr>
          <p:cNvPr id="5" name="!!sdot1"/>
          <p:cNvSpPr/>
          <p:nvPr/>
        </p:nvSpPr>
        <p:spPr>
          <a:xfrm>
            <a:off x="11599164" y="525780"/>
            <a:ext cx="82296" cy="82296"/>
          </a:xfrm>
          <a:prstGeom prst="ellipse">
            <a:avLst/>
          </a:prstGeom>
          <a:solidFill>
            <a:srgbClr val="E2E3E3"/>
          </a:solidFill>
          <a:ln/>
        </p:spPr>
      </p:sp>
      <p:sp>
        <p:nvSpPr>
          <p:cNvPr id="6" name="!!mAg0"/>
          <p:cNvSpPr/>
          <p:nvPr/>
        </p:nvSpPr>
        <p:spPr>
          <a:xfrm>
            <a:off x="1188720" y="4892040"/>
            <a:ext cx="4572000" cy="91"/>
          </a:xfrm>
          <a:prstGeom prst="line">
            <a:avLst/>
          </a:prstGeom>
          <a:noFill/>
          <a:ln w="9525">
            <a:solidFill>
              <a:srgbClr val="EDEEF0"/>
            </a:solidFill>
            <a:prstDash val="solid"/>
          </a:ln>
        </p:spPr>
      </p:sp>
      <p:sp>
        <p:nvSpPr>
          <p:cNvPr id="7" name="!!mAg1"/>
          <p:cNvSpPr/>
          <p:nvPr/>
        </p:nvSpPr>
        <p:spPr>
          <a:xfrm>
            <a:off x="1188720" y="3825240"/>
            <a:ext cx="4572000" cy="91"/>
          </a:xfrm>
          <a:prstGeom prst="line">
            <a:avLst/>
          </a:prstGeom>
          <a:noFill/>
          <a:ln w="9525">
            <a:solidFill>
              <a:srgbClr val="EDEEF0"/>
            </a:solidFill>
            <a:prstDash val="solid"/>
          </a:ln>
        </p:spPr>
      </p:sp>
      <p:sp>
        <p:nvSpPr>
          <p:cNvPr id="8" name="!!mAg2"/>
          <p:cNvSpPr/>
          <p:nvPr/>
        </p:nvSpPr>
        <p:spPr>
          <a:xfrm>
            <a:off x="1188720" y="2758440"/>
            <a:ext cx="4572000" cy="91"/>
          </a:xfrm>
          <a:prstGeom prst="line">
            <a:avLst/>
          </a:prstGeom>
          <a:noFill/>
          <a:ln w="9525">
            <a:solidFill>
              <a:srgbClr val="EDEEF0"/>
            </a:solidFill>
            <a:prstDash val="solid"/>
          </a:ln>
        </p:spPr>
      </p:sp>
      <p:sp>
        <p:nvSpPr>
          <p:cNvPr id="9" name="!!mAg3"/>
          <p:cNvSpPr/>
          <p:nvPr/>
        </p:nvSpPr>
        <p:spPr>
          <a:xfrm>
            <a:off x="1188720" y="1691640"/>
            <a:ext cx="4572000" cy="91"/>
          </a:xfrm>
          <a:prstGeom prst="line">
            <a:avLst/>
          </a:prstGeom>
          <a:noFill/>
          <a:ln w="9525">
            <a:solidFill>
              <a:srgbClr val="EDEEF0"/>
            </a:solidFill>
            <a:prstDash val="solid"/>
          </a:ln>
        </p:spPr>
      </p:sp>
      <p:sp>
        <p:nvSpPr>
          <p:cNvPr id="10" name="!!mAxa"/>
          <p:cNvSpPr/>
          <p:nvPr/>
        </p:nvSpPr>
        <p:spPr>
          <a:xfrm>
            <a:off x="1188720" y="4892040"/>
            <a:ext cx="4572000" cy="91"/>
          </a:xfrm>
          <a:prstGeom prst="line">
            <a:avLst/>
          </a:prstGeom>
          <a:noFill/>
          <a:ln w="12700">
            <a:solidFill>
              <a:srgbClr val="8A8D93"/>
            </a:solidFill>
            <a:prstDash val="solid"/>
          </a:ln>
        </p:spPr>
      </p:sp>
      <p:sp>
        <p:nvSpPr>
          <p:cNvPr id="11" name="!!mAya"/>
          <p:cNvSpPr/>
          <p:nvPr/>
        </p:nvSpPr>
        <p:spPr>
          <a:xfrm>
            <a:off x="1188720" y="1691640"/>
            <a:ext cx="91" cy="3200400"/>
          </a:xfrm>
          <a:prstGeom prst="line">
            <a:avLst/>
          </a:prstGeom>
          <a:noFill/>
          <a:ln w="12700">
            <a:solidFill>
              <a:srgbClr val="8A8D93"/>
            </a:solidFill>
            <a:prstDash val="solid"/>
          </a:ln>
        </p:spPr>
      </p:sp>
      <p:sp>
        <p:nvSpPr>
          <p:cNvPr id="12" name="!!mAxt0"/>
          <p:cNvSpPr txBox="1"/>
          <p:nvPr/>
        </p:nvSpPr>
        <p:spPr>
          <a:xfrm>
            <a:off x="868680" y="493776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13" name="!!mAxt1"/>
          <p:cNvSpPr txBox="1"/>
          <p:nvPr/>
        </p:nvSpPr>
        <p:spPr>
          <a:xfrm>
            <a:off x="2174966" y="493776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14" name="!!mAxt2"/>
          <p:cNvSpPr txBox="1"/>
          <p:nvPr/>
        </p:nvSpPr>
        <p:spPr>
          <a:xfrm>
            <a:off x="3481251" y="493776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15" name="!!mAxt3"/>
          <p:cNvSpPr txBox="1"/>
          <p:nvPr/>
        </p:nvSpPr>
        <p:spPr>
          <a:xfrm>
            <a:off x="4787537" y="493776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16" name="!!mAyt0"/>
          <p:cNvSpPr txBox="1"/>
          <p:nvPr/>
        </p:nvSpPr>
        <p:spPr>
          <a:xfrm>
            <a:off x="502920" y="47914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17" name="!!mAyt1"/>
          <p:cNvSpPr txBox="1"/>
          <p:nvPr/>
        </p:nvSpPr>
        <p:spPr>
          <a:xfrm>
            <a:off x="502920" y="37246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18" name="!!mAyt2"/>
          <p:cNvSpPr txBox="1"/>
          <p:nvPr/>
        </p:nvSpPr>
        <p:spPr>
          <a:xfrm>
            <a:off x="502920" y="26578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19" name="!!mAyt3"/>
          <p:cNvSpPr txBox="1"/>
          <p:nvPr/>
        </p:nvSpPr>
        <p:spPr>
          <a:xfrm>
            <a:off x="50292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20" name="!!mAxl"/>
          <p:cNvSpPr txBox="1"/>
          <p:nvPr/>
        </p:nvSpPr>
        <p:spPr>
          <a:xfrm>
            <a:off x="1188720" y="5166360"/>
            <a:ext cx="457200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21" name="!!mAyl"/>
          <p:cNvSpPr txBox="1"/>
          <p:nvPr/>
        </p:nvSpPr>
        <p:spPr>
          <a:xfrm>
            <a:off x="100584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a:t>
            </a:r>
            <a:endParaRPr lang="en-US" sz="1100" dirty="0"/>
          </a:p>
        </p:txBody>
      </p:sp>
      <p:sp>
        <p:nvSpPr>
          <p:cNvPr id="22" name="!!mtLo"/>
          <p:cNvSpPr/>
          <p:nvPr/>
        </p:nvSpPr>
        <p:spPr>
          <a:xfrm>
            <a:off x="1188720" y="2299951"/>
            <a:ext cx="4572000" cy="2391126"/>
          </a:xfrm>
          <a:custGeom>
            <a:avLst/>
            <a:gdLst/>
            <a:ahLst/>
            <a:cxnLst/>
            <a:rect l="l" t="t" r="r" b="b"/>
            <a:pathLst>
              <a:path w="4572000" h="2391126">
                <a:moveTo>
                  <a:pt x="0" y="2391126"/>
                </a:moveTo>
                <a:lnTo>
                  <a:pt x="163286" y="2187092"/>
                </a:lnTo>
                <a:lnTo>
                  <a:pt x="326571" y="1983823"/>
                </a:lnTo>
                <a:lnTo>
                  <a:pt x="489857" y="1781463"/>
                </a:lnTo>
                <a:lnTo>
                  <a:pt x="653143" y="1580204"/>
                </a:lnTo>
                <a:lnTo>
                  <a:pt x="816429" y="1380332"/>
                </a:lnTo>
                <a:lnTo>
                  <a:pt x="979714" y="1182408"/>
                </a:lnTo>
                <a:lnTo>
                  <a:pt x="1143000" y="987613"/>
                </a:lnTo>
                <a:lnTo>
                  <a:pt x="1306286" y="798339"/>
                </a:lnTo>
                <a:lnTo>
                  <a:pt x="1469571" y="618472"/>
                </a:lnTo>
                <a:lnTo>
                  <a:pt x="1632857" y="454874"/>
                </a:lnTo>
                <a:lnTo>
                  <a:pt x="1796143" y="323275"/>
                </a:lnTo>
                <a:lnTo>
                  <a:pt x="1959429" y="222314"/>
                </a:lnTo>
                <a:lnTo>
                  <a:pt x="2122714" y="155983"/>
                </a:lnTo>
                <a:lnTo>
                  <a:pt x="2286000" y="121708"/>
                </a:lnTo>
                <a:lnTo>
                  <a:pt x="2449286" y="103831"/>
                </a:lnTo>
                <a:lnTo>
                  <a:pt x="2612571" y="90306"/>
                </a:lnTo>
                <a:lnTo>
                  <a:pt x="2775857" y="78455"/>
                </a:lnTo>
                <a:lnTo>
                  <a:pt x="2939143" y="67749"/>
                </a:lnTo>
                <a:lnTo>
                  <a:pt x="3102429" y="58018"/>
                </a:lnTo>
                <a:lnTo>
                  <a:pt x="3265714" y="49152"/>
                </a:lnTo>
                <a:lnTo>
                  <a:pt x="3429000" y="41067"/>
                </a:lnTo>
                <a:lnTo>
                  <a:pt x="3592286" y="33674"/>
                </a:lnTo>
                <a:lnTo>
                  <a:pt x="3755571" y="26895"/>
                </a:lnTo>
                <a:lnTo>
                  <a:pt x="3918857" y="20658"/>
                </a:lnTo>
                <a:lnTo>
                  <a:pt x="4082143" y="14902"/>
                </a:lnTo>
                <a:lnTo>
                  <a:pt x="4245429" y="9568"/>
                </a:lnTo>
                <a:lnTo>
                  <a:pt x="4408714" y="4617"/>
                </a:lnTo>
                <a:lnTo>
                  <a:pt x="4572000" y="0"/>
                </a:lnTo>
              </a:path>
            </a:pathLst>
          </a:custGeom>
          <a:ln w="28575">
            <a:solidFill>
              <a:srgbClr val="11998E"/>
            </a:solidFill>
            <a:prstDash val="solid"/>
          </a:ln>
        </p:spPr>
      </p:sp>
      <p:sp>
        <p:nvSpPr>
          <p:cNvPr id="23" name="!!mtHi"/>
          <p:cNvSpPr/>
          <p:nvPr/>
        </p:nvSpPr>
        <p:spPr>
          <a:xfrm>
            <a:off x="1188720" y="1990955"/>
            <a:ext cx="4572000" cy="2477028"/>
          </a:xfrm>
          <a:custGeom>
            <a:avLst/>
            <a:gdLst/>
            <a:ahLst/>
            <a:cxnLst/>
            <a:rect l="l" t="t" r="r" b="b"/>
            <a:pathLst>
              <a:path w="4572000" h="2477028">
                <a:moveTo>
                  <a:pt x="0" y="2477028"/>
                </a:moveTo>
                <a:lnTo>
                  <a:pt x="163286" y="2285557"/>
                </a:lnTo>
                <a:lnTo>
                  <a:pt x="326571" y="2089842"/>
                </a:lnTo>
                <a:lnTo>
                  <a:pt x="489857" y="1892897"/>
                </a:lnTo>
                <a:lnTo>
                  <a:pt x="653143" y="1696223"/>
                </a:lnTo>
                <a:lnTo>
                  <a:pt x="816429" y="1500959"/>
                </a:lnTo>
                <a:lnTo>
                  <a:pt x="979714" y="1308685"/>
                </a:lnTo>
                <a:lnTo>
                  <a:pt x="1143000" y="1123647"/>
                </a:lnTo>
                <a:lnTo>
                  <a:pt x="1306286" y="951133"/>
                </a:lnTo>
                <a:lnTo>
                  <a:pt x="1469571" y="795376"/>
                </a:lnTo>
                <a:lnTo>
                  <a:pt x="1632857" y="659704"/>
                </a:lnTo>
                <a:lnTo>
                  <a:pt x="1796143" y="551281"/>
                </a:lnTo>
                <a:lnTo>
                  <a:pt x="1959429" y="470417"/>
                </a:lnTo>
                <a:lnTo>
                  <a:pt x="2122714" y="410406"/>
                </a:lnTo>
                <a:lnTo>
                  <a:pt x="2286000" y="361254"/>
                </a:lnTo>
                <a:lnTo>
                  <a:pt x="2449286" y="318264"/>
                </a:lnTo>
                <a:lnTo>
                  <a:pt x="2612571" y="279735"/>
                </a:lnTo>
                <a:lnTo>
                  <a:pt x="2775857" y="244840"/>
                </a:lnTo>
                <a:lnTo>
                  <a:pt x="2939143" y="213021"/>
                </a:lnTo>
                <a:lnTo>
                  <a:pt x="3102429" y="183865"/>
                </a:lnTo>
                <a:lnTo>
                  <a:pt x="3265714" y="157035"/>
                </a:lnTo>
                <a:lnTo>
                  <a:pt x="3429000" y="132254"/>
                </a:lnTo>
                <a:lnTo>
                  <a:pt x="3592286" y="109284"/>
                </a:lnTo>
                <a:lnTo>
                  <a:pt x="3755571" y="87923"/>
                </a:lnTo>
                <a:lnTo>
                  <a:pt x="3918857" y="68001"/>
                </a:lnTo>
                <a:lnTo>
                  <a:pt x="4082143" y="49368"/>
                </a:lnTo>
                <a:lnTo>
                  <a:pt x="4245429" y="31896"/>
                </a:lnTo>
                <a:lnTo>
                  <a:pt x="4408714" y="15472"/>
                </a:lnTo>
                <a:lnTo>
                  <a:pt x="4572000" y="0"/>
                </a:lnTo>
              </a:path>
            </a:pathLst>
          </a:custGeom>
          <a:ln w="31750">
            <a:solidFill>
              <a:srgbClr val="3E6AE1"/>
            </a:solidFill>
            <a:prstDash val="solid"/>
          </a:ln>
        </p:spPr>
      </p:sp>
      <p:sp>
        <p:nvSpPr>
          <p:cNvPr id="24" name="!!mtA0"/>
          <p:cNvSpPr txBox="1"/>
          <p:nvPr/>
        </p:nvSpPr>
        <p:spPr>
          <a:xfrm>
            <a:off x="1319349" y="4527816"/>
            <a:ext cx="2194560" cy="219456"/>
          </a:xfrm>
          <a:prstGeom prst="rect">
            <a:avLst/>
          </a:prstGeom>
          <a:noFill/>
          <a:ln/>
        </p:spPr>
        <p:txBody>
          <a:bodyPr wrap="square" lIns="0" tIns="0" rIns="0" bIns="0" rtlCol="0" anchor="t"/>
          <a:lstStyle/>
          <a:p>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I</a:t>
            </a:r>
            <a:pPr algn="l" indent="0" marL="0">
              <a:buNone/>
            </a:pPr>
            <a:r>
              <a:rPr lang="en-US" sz="1000" baseline="-40000" dirty="0">
                <a:solidFill>
                  <a:srgbClr val="D64545"/>
                </a:solidFill>
                <a:latin typeface="Segoe UI Semibold" pitchFamily="34" charset="0"/>
                <a:ea typeface="Segoe UI Semibold" pitchFamily="34" charset="-122"/>
                <a:cs typeface="Segoe UI Semibold" pitchFamily="34" charset="-120"/>
              </a:rPr>
              <a:t>off</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V</a:t>
            </a:r>
            <a:pPr algn="l" indent="0" marL="0">
              <a:buNone/>
            </a:pPr>
            <a:r>
              <a:rPr lang="en-US" sz="1000" baseline="-40000" dirty="0">
                <a:solidFill>
                  <a:srgbClr val="D64545"/>
                </a:solidFill>
                <a:latin typeface="Segoe UI Semibold" pitchFamily="34" charset="0"/>
                <a:ea typeface="Segoe UI Semibold" pitchFamily="34" charset="-122"/>
                <a:cs typeface="Segoe UI Semibold" pitchFamily="34" charset="-120"/>
              </a:rPr>
              <a:t>G</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 0</a:t>
            </a:r>
            <a:endParaRPr lang="en-US" sz="1000" dirty="0"/>
          </a:p>
        </p:txBody>
      </p:sp>
      <p:sp>
        <p:nvSpPr>
          <p:cNvPr id="25" name="!!mtA1"/>
          <p:cNvSpPr txBox="1"/>
          <p:nvPr/>
        </p:nvSpPr>
        <p:spPr>
          <a:xfrm>
            <a:off x="2821577" y="2927616"/>
            <a:ext cx="2194560" cy="219456"/>
          </a:xfrm>
          <a:prstGeom prst="rect">
            <a:avLst/>
          </a:prstGeom>
          <a:noFill/>
          <a:ln/>
        </p:spPr>
        <p:txBody>
          <a:bodyPr wrap="square" lIns="0" tIns="0" rIns="0" bIns="0" rtlCol="0" anchor="t"/>
          <a:lstStyle/>
          <a:p>
            <a:pPr algn="l" indent="0" marL="0">
              <a:buNone/>
            </a:pPr>
            <a:r>
              <a:rPr lang="en-US" sz="1000" dirty="0">
                <a:solidFill>
                  <a:srgbClr val="3E6AE1"/>
                </a:solidFill>
                <a:latin typeface="Segoe UI Semibold" pitchFamily="34" charset="0"/>
                <a:ea typeface="Segoe UI Semibold" pitchFamily="34" charset="-122"/>
                <a:cs typeface="Segoe UI Semibold" pitchFamily="34" charset="-120"/>
              </a:rPr>
              <a:t>V</a:t>
            </a:r>
            <a:pPr algn="l" indent="0" marL="0">
              <a:buNone/>
            </a:pPr>
            <a:r>
              <a:rPr lang="en-US" sz="1000" baseline="-40000" dirty="0">
                <a:solidFill>
                  <a:srgbClr val="3E6AE1"/>
                </a:solidFill>
                <a:latin typeface="Segoe UI Semibold" pitchFamily="34" charset="0"/>
                <a:ea typeface="Segoe UI Semibold" pitchFamily="34" charset="-122"/>
                <a:cs typeface="Segoe UI Semibold" pitchFamily="34" charset="-120"/>
              </a:rPr>
              <a:t>T</a:t>
            </a:r>
            <a:pPr algn="l" indent="0" marL="0">
              <a:buNone/>
            </a:pPr>
            <a:r>
              <a:rPr lang="en-US" sz="1000" dirty="0">
                <a:solidFill>
                  <a:srgbClr val="3E6AE1"/>
                </a:solidFill>
                <a:latin typeface="Segoe UI Semibold" pitchFamily="34" charset="0"/>
                <a:ea typeface="Segoe UI Semibold" pitchFamily="34" charset="-122"/>
                <a:cs typeface="Segoe UI Semibold" pitchFamily="34" charset="-120"/>
              </a:rPr>
              <a:t>: max-g</a:t>
            </a:r>
            <a:pPr algn="l" indent="0" marL="0">
              <a:buNone/>
            </a:pPr>
            <a:r>
              <a:rPr lang="en-US" sz="1000" baseline="-40000" dirty="0">
                <a:solidFill>
                  <a:srgbClr val="3E6AE1"/>
                </a:solidFill>
                <a:latin typeface="Segoe UI Semibold" pitchFamily="34" charset="0"/>
                <a:ea typeface="Segoe UI Semibold" pitchFamily="34" charset="-122"/>
                <a:cs typeface="Segoe UI Semibold" pitchFamily="34" charset="-120"/>
              </a:rPr>
              <a:t>m</a:t>
            </a:r>
            <a:pPr algn="l" indent="0" marL="0">
              <a:buNone/>
            </a:pPr>
            <a:r>
              <a:rPr lang="en-US" sz="1000" dirty="0">
                <a:solidFill>
                  <a:srgbClr val="3E6AE1"/>
                </a:solidFill>
                <a:latin typeface="Segoe UI Semibold" pitchFamily="34" charset="0"/>
                <a:ea typeface="Segoe UI Semibold" pitchFamily="34" charset="-122"/>
                <a:cs typeface="Segoe UI Semibold" pitchFamily="34" charset="-120"/>
              </a:rPr>
              <a:t> extrapolation</a:t>
            </a:r>
            <a:endParaRPr lang="en-US" sz="1000" dirty="0"/>
          </a:p>
        </p:txBody>
      </p:sp>
      <p:sp>
        <p:nvSpPr>
          <p:cNvPr id="26" name="!!mtA2"/>
          <p:cNvSpPr txBox="1"/>
          <p:nvPr/>
        </p:nvSpPr>
        <p:spPr>
          <a:xfrm>
            <a:off x="1972491" y="3715512"/>
            <a:ext cx="2194560" cy="219456"/>
          </a:xfrm>
          <a:prstGeom prst="rect">
            <a:avLst/>
          </a:prstGeom>
          <a:noFill/>
          <a:ln/>
        </p:spPr>
        <p:txBody>
          <a:bodyPr wrap="square" lIns="0" tIns="0" rIns="0" bIns="0" rtlCol="0" anchor="t"/>
          <a:lstStyle/>
          <a:p>
            <a:pPr algn="l" indent="0" marL="0">
              <a:buNone/>
            </a:pPr>
            <a:r>
              <a:rPr lang="en-US" sz="1000" dirty="0">
                <a:solidFill>
                  <a:srgbClr val="E07B00"/>
                </a:solidFill>
                <a:latin typeface="Segoe UI Semibold" pitchFamily="34" charset="0"/>
                <a:ea typeface="Segoe UI Semibold" pitchFamily="34" charset="-122"/>
                <a:cs typeface="Segoe UI Semibold" pitchFamily="34" charset="-120"/>
              </a:rPr>
              <a:t>SS: mV per ×10</a:t>
            </a:r>
            <a:endParaRPr lang="en-US" sz="1000" dirty="0"/>
          </a:p>
        </p:txBody>
      </p:sp>
      <p:sp>
        <p:nvSpPr>
          <p:cNvPr id="27" name="!!mtA3"/>
          <p:cNvSpPr txBox="1"/>
          <p:nvPr/>
        </p:nvSpPr>
        <p:spPr>
          <a:xfrm>
            <a:off x="1972491" y="4154985"/>
            <a:ext cx="2194560" cy="219456"/>
          </a:xfrm>
          <a:prstGeom prst="rect">
            <a:avLst/>
          </a:prstGeom>
          <a:noFill/>
          <a:ln/>
        </p:spPr>
        <p:txBody>
          <a:bodyPr wrap="square" lIns="0" tIns="0" rIns="0" bIns="0" rtlCol="0" anchor="t"/>
          <a:lstStyle/>
          <a:p>
            <a:pPr algn="l" indent="0" marL="0">
              <a:buNone/>
            </a:pPr>
            <a:r>
              <a:rPr lang="en-US" sz="1000" dirty="0">
                <a:solidFill>
                  <a:srgbClr val="6B5BC4"/>
                </a:solidFill>
                <a:latin typeface="Segoe UI Semibold" pitchFamily="34" charset="0"/>
                <a:ea typeface="Segoe UI Semibold" pitchFamily="34" charset="-122"/>
                <a:cs typeface="Segoe UI Semibold" pitchFamily="34" charset="-120"/>
              </a:rPr>
              <a:t>DIBL: shift ÷ 0.65 V</a:t>
            </a:r>
            <a:endParaRPr lang="en-US" sz="1000" dirty="0"/>
          </a:p>
        </p:txBody>
      </p:sp>
      <p:sp>
        <p:nvSpPr>
          <p:cNvPr id="28" name="!!mtA4"/>
          <p:cNvSpPr txBox="1"/>
          <p:nvPr/>
        </p:nvSpPr>
        <p:spPr>
          <a:xfrm>
            <a:off x="3670663" y="1700246"/>
            <a:ext cx="2194560" cy="219456"/>
          </a:xfrm>
          <a:prstGeom prst="rect">
            <a:avLst/>
          </a:prstGeom>
          <a:noFill/>
          <a:ln/>
        </p:spPr>
        <p:txBody>
          <a:bodyPr wrap="square" lIns="0" tIns="0" rIns="0" bIns="0" rtlCol="0" anchor="t"/>
          <a:lstStyle/>
          <a:p>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I</a:t>
            </a:r>
            <a:pPr algn="l" indent="0" marL="0">
              <a:buNone/>
            </a:pPr>
            <a:r>
              <a:rPr lang="en-US" sz="1000" baseline="-40000" dirty="0">
                <a:solidFill>
                  <a:srgbClr val="2E9E4F"/>
                </a:solidFill>
                <a:latin typeface="Segoe UI Semibold" pitchFamily="34" charset="0"/>
                <a:ea typeface="Segoe UI Semibold" pitchFamily="34" charset="-122"/>
                <a:cs typeface="Segoe UI Semibold" pitchFamily="34" charset="-120"/>
              </a:rPr>
              <a:t>on</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V</a:t>
            </a:r>
            <a:pPr algn="l" indent="0" marL="0">
              <a:buNone/>
            </a:pPr>
            <a:r>
              <a:rPr lang="en-US" sz="1000" baseline="-40000" dirty="0">
                <a:solidFill>
                  <a:srgbClr val="2E9E4F"/>
                </a:solidFill>
                <a:latin typeface="Segoe UI Semibold" pitchFamily="34" charset="0"/>
                <a:ea typeface="Segoe UI Semibold" pitchFamily="34" charset="-122"/>
                <a:cs typeface="Segoe UI Semibold" pitchFamily="34" charset="-120"/>
              </a:rPr>
              <a:t>G</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 V</a:t>
            </a:r>
            <a:pPr algn="l" indent="0" marL="0">
              <a:buNone/>
            </a:pPr>
            <a:r>
              <a:rPr lang="en-US" sz="1000" baseline="-40000" dirty="0">
                <a:solidFill>
                  <a:srgbClr val="2E9E4F"/>
                </a:solidFill>
                <a:latin typeface="Segoe UI Semibold" pitchFamily="34" charset="0"/>
                <a:ea typeface="Segoe UI Semibold" pitchFamily="34" charset="-122"/>
                <a:cs typeface="Segoe UI Semibold" pitchFamily="34" charset="-120"/>
              </a:rPr>
              <a:t>D</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 0.7 V</a:t>
            </a:r>
            <a:endParaRPr lang="en-US" sz="1000" dirty="0"/>
          </a:p>
        </p:txBody>
      </p:sp>
      <p:sp>
        <p:nvSpPr>
          <p:cNvPr id="29" name="!!mtCard"/>
          <p:cNvSpPr/>
          <p:nvPr/>
        </p:nvSpPr>
        <p:spPr>
          <a:xfrm>
            <a:off x="7223760" y="1691640"/>
            <a:ext cx="4416552" cy="2743200"/>
          </a:xfrm>
          <a:prstGeom prst="roundRect">
            <a:avLst>
              <a:gd name="adj" fmla="val 2667"/>
            </a:avLst>
          </a:prstGeom>
          <a:solidFill>
            <a:srgbClr val="F4F5F7"/>
          </a:solidFill>
          <a:ln/>
        </p:spPr>
      </p:sp>
      <p:sp>
        <p:nvSpPr>
          <p:cNvPr id="30" name="!!mtCardh"/>
          <p:cNvSpPr txBox="1"/>
          <p:nvPr/>
        </p:nvSpPr>
        <p:spPr>
          <a:xfrm>
            <a:off x="7452360" y="1911096"/>
            <a:ext cx="4005072" cy="347472"/>
          </a:xfrm>
          <a:prstGeom prst="rect">
            <a:avLst/>
          </a:prstGeom>
          <a:noFill/>
          <a:ln/>
        </p:spPr>
        <p:txBody>
          <a:bodyPr wrap="square" lIns="0" tIns="0" rIns="0" bIns="0" rtlCol="0" anchor="ctr"/>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Two transfer curves</a:t>
            </a:r>
            <a:endParaRPr lang="en-US" sz="1600" dirty="0"/>
          </a:p>
        </p:txBody>
      </p:sp>
      <p:sp>
        <p:nvSpPr>
          <p:cNvPr id="31" name="!!mtCardb"/>
          <p:cNvSpPr txBox="1"/>
          <p:nvPr/>
        </p:nvSpPr>
        <p:spPr>
          <a:xfrm>
            <a:off x="7452360" y="2404872"/>
            <a:ext cx="3959352" cy="187452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V</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D</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 0.05 V (teal) and 0.7 V (blue), V</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G</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swept 0 → 0.7 V.</a:t>
            </a:r>
            <a:endParaRPr lang="en-US" sz="1300" dirty="0"/>
          </a:p>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From them: V</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T</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SS, DIBL, I</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on</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 and I</a:t>
            </a:r>
            <a:pPr algn="l" indent="0" marL="0">
              <a:spcAft>
                <a:spcPts val="600"/>
              </a:spcAft>
              <a:buNone/>
            </a:pPr>
            <a:r>
              <a:rPr lang="en-US" sz="1300" baseline="-40000" dirty="0">
                <a:solidFill>
                  <a:srgbClr val="5C5E62"/>
                </a:solidFill>
                <a:latin typeface="Segoe UI" pitchFamily="34" charset="0"/>
                <a:ea typeface="Segoe UI" pitchFamily="34" charset="-122"/>
                <a:cs typeface="Segoe UI" pitchFamily="34" charset="-120"/>
              </a:rPr>
              <a:t>off</a:t>
            </a:r>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a:t>
            </a:r>
            <a:endParaRPr lang="en-US" sz="1300" dirty="0"/>
          </a:p>
        </p:txBody>
      </p:sp>
      <p:sp>
        <p:nvSpPr>
          <p:cNvPr id="32"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Transfer curves: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T</a:t>
            </a:r>
            <a:pPr algn="ctr" indent="0" marL="0">
              <a:buNone/>
            </a:pPr>
            <a:r>
              <a:rPr lang="en-US" sz="1600" dirty="0">
                <a:solidFill>
                  <a:srgbClr val="171A20"/>
                </a:solidFill>
                <a:latin typeface="Segoe UI" pitchFamily="34" charset="0"/>
                <a:ea typeface="Segoe UI" pitchFamily="34" charset="-122"/>
                <a:cs typeface="Segoe UI" pitchFamily="34" charset="-120"/>
              </a:rPr>
              <a:t>, SS, DIBL, I</a:t>
            </a:r>
            <a:pPr algn="ctr" indent="0" marL="0">
              <a:buNone/>
            </a:pPr>
            <a:r>
              <a:rPr lang="en-US" sz="1600" baseline="-40000" dirty="0">
                <a:solidFill>
                  <a:srgbClr val="171A20"/>
                </a:solidFill>
                <a:latin typeface="Segoe UI" pitchFamily="34" charset="0"/>
                <a:ea typeface="Segoe UI" pitchFamily="34" charset="-122"/>
                <a:cs typeface="Segoe UI" pitchFamily="34" charset="-120"/>
              </a:rPr>
              <a:t>on</a:t>
            </a:r>
            <a:pPr algn="ctr" indent="0" marL="0">
              <a:buNone/>
            </a:pPr>
            <a:r>
              <a:rPr lang="en-US" sz="1600" dirty="0">
                <a:solidFill>
                  <a:srgbClr val="171A20"/>
                </a:solidFill>
                <a:latin typeface="Segoe UI" pitchFamily="34" charset="0"/>
                <a:ea typeface="Segoe UI" pitchFamily="34" charset="-122"/>
                <a:cs typeface="Segoe UI" pitchFamily="34" charset="-120"/>
              </a:rPr>
              <a:t> and I</a:t>
            </a:r>
            <a:pPr algn="ctr" indent="0" marL="0">
              <a:buNone/>
            </a:pPr>
            <a:r>
              <a:rPr lang="en-US" sz="1600" baseline="-40000" dirty="0">
                <a:solidFill>
                  <a:srgbClr val="171A20"/>
                </a:solidFill>
                <a:latin typeface="Segoe UI" pitchFamily="34" charset="0"/>
                <a:ea typeface="Segoe UI" pitchFamily="34" charset="-122"/>
                <a:cs typeface="Segoe UI" pitchFamily="34" charset="-120"/>
              </a:rPr>
              <a:t>off</a:t>
            </a:r>
            <a:pPr algn="ctr" indent="0" marL="0">
              <a:buNone/>
            </a:pPr>
            <a:r>
              <a:rPr lang="en-US" sz="1600" dirty="0">
                <a:solidFill>
                  <a:srgbClr val="171A20"/>
                </a:solidFill>
                <a:latin typeface="Segoe UI" pitchFamily="34" charset="0"/>
                <a:ea typeface="Segoe UI" pitchFamily="34" charset="-122"/>
                <a:cs typeface="Segoe UI" pitchFamily="34" charset="-120"/>
              </a:rPr>
              <a: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117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Methodology – Every number from two curves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The transfer curve gives the electrical metrics; the heat curve gives R</a:t>
            </a:r>
            <a:pPr algn="l" indent="0" marL="0">
              <a:buNone/>
            </a:pPr>
            <a:r>
              <a:rPr lang="en-US" sz="1600" baseline="-40000" dirty="0">
                <a:solidFill>
                  <a:srgbClr val="5C5E62"/>
                </a:solidFill>
                <a:latin typeface="Segoe UI" pitchFamily="34" charset="0"/>
                <a:ea typeface="Segoe UI" pitchFamily="34" charset="-122"/>
                <a:cs typeface="Segoe UI" pitchFamily="34" charset="-120"/>
              </a:rPr>
              <a:t>th</a:t>
            </a:r>
            <a:endParaRPr lang="en-US" sz="1600" dirty="0"/>
          </a:p>
        </p:txBody>
      </p:sp>
      <p:sp>
        <p:nvSpPr>
          <p:cNvPr id="4" name="!!sdot0"/>
          <p:cNvSpPr/>
          <p:nvPr/>
        </p:nvSpPr>
        <p:spPr>
          <a:xfrm>
            <a:off x="11443716" y="525780"/>
            <a:ext cx="82296" cy="82296"/>
          </a:xfrm>
          <a:prstGeom prst="ellipse">
            <a:avLst/>
          </a:prstGeom>
          <a:solidFill>
            <a:srgbClr val="171A20"/>
          </a:solidFill>
          <a:ln/>
        </p:spPr>
      </p:sp>
      <p:sp>
        <p:nvSpPr>
          <p:cNvPr id="5" name="!!sdot1"/>
          <p:cNvSpPr/>
          <p:nvPr/>
        </p:nvSpPr>
        <p:spPr>
          <a:xfrm>
            <a:off x="11599164" y="525780"/>
            <a:ext cx="82296" cy="82296"/>
          </a:xfrm>
          <a:prstGeom prst="ellipse">
            <a:avLst/>
          </a:prstGeom>
          <a:solidFill>
            <a:srgbClr val="171A20"/>
          </a:solidFill>
          <a:ln/>
        </p:spPr>
      </p:sp>
      <p:sp>
        <p:nvSpPr>
          <p:cNvPr id="6" name="!!mAg0"/>
          <p:cNvSpPr/>
          <p:nvPr/>
        </p:nvSpPr>
        <p:spPr>
          <a:xfrm>
            <a:off x="1188720" y="4892040"/>
            <a:ext cx="4572000" cy="91"/>
          </a:xfrm>
          <a:prstGeom prst="line">
            <a:avLst/>
          </a:prstGeom>
          <a:noFill/>
          <a:ln w="9525">
            <a:solidFill>
              <a:srgbClr val="EDEEF0"/>
            </a:solidFill>
            <a:prstDash val="solid"/>
          </a:ln>
        </p:spPr>
      </p:sp>
      <p:sp>
        <p:nvSpPr>
          <p:cNvPr id="7" name="!!mAg1"/>
          <p:cNvSpPr/>
          <p:nvPr/>
        </p:nvSpPr>
        <p:spPr>
          <a:xfrm>
            <a:off x="1188720" y="3825240"/>
            <a:ext cx="4572000" cy="91"/>
          </a:xfrm>
          <a:prstGeom prst="line">
            <a:avLst/>
          </a:prstGeom>
          <a:noFill/>
          <a:ln w="9525">
            <a:solidFill>
              <a:srgbClr val="EDEEF0"/>
            </a:solidFill>
            <a:prstDash val="solid"/>
          </a:ln>
        </p:spPr>
      </p:sp>
      <p:sp>
        <p:nvSpPr>
          <p:cNvPr id="8" name="!!mAg2"/>
          <p:cNvSpPr/>
          <p:nvPr/>
        </p:nvSpPr>
        <p:spPr>
          <a:xfrm>
            <a:off x="1188720" y="2758440"/>
            <a:ext cx="4572000" cy="91"/>
          </a:xfrm>
          <a:prstGeom prst="line">
            <a:avLst/>
          </a:prstGeom>
          <a:noFill/>
          <a:ln w="9525">
            <a:solidFill>
              <a:srgbClr val="EDEEF0"/>
            </a:solidFill>
            <a:prstDash val="solid"/>
          </a:ln>
        </p:spPr>
      </p:sp>
      <p:sp>
        <p:nvSpPr>
          <p:cNvPr id="9" name="!!mAg3"/>
          <p:cNvSpPr/>
          <p:nvPr/>
        </p:nvSpPr>
        <p:spPr>
          <a:xfrm>
            <a:off x="1188720" y="1691640"/>
            <a:ext cx="4572000" cy="91"/>
          </a:xfrm>
          <a:prstGeom prst="line">
            <a:avLst/>
          </a:prstGeom>
          <a:noFill/>
          <a:ln w="9525">
            <a:solidFill>
              <a:srgbClr val="EDEEF0"/>
            </a:solidFill>
            <a:prstDash val="solid"/>
          </a:ln>
        </p:spPr>
      </p:sp>
      <p:sp>
        <p:nvSpPr>
          <p:cNvPr id="10" name="!!mAxa"/>
          <p:cNvSpPr/>
          <p:nvPr/>
        </p:nvSpPr>
        <p:spPr>
          <a:xfrm>
            <a:off x="1188720" y="4892040"/>
            <a:ext cx="4572000" cy="91"/>
          </a:xfrm>
          <a:prstGeom prst="line">
            <a:avLst/>
          </a:prstGeom>
          <a:noFill/>
          <a:ln w="12700">
            <a:solidFill>
              <a:srgbClr val="8A8D93"/>
            </a:solidFill>
            <a:prstDash val="solid"/>
          </a:ln>
        </p:spPr>
      </p:sp>
      <p:sp>
        <p:nvSpPr>
          <p:cNvPr id="11" name="!!mAya"/>
          <p:cNvSpPr/>
          <p:nvPr/>
        </p:nvSpPr>
        <p:spPr>
          <a:xfrm>
            <a:off x="1188720" y="1691640"/>
            <a:ext cx="91" cy="3200400"/>
          </a:xfrm>
          <a:prstGeom prst="line">
            <a:avLst/>
          </a:prstGeom>
          <a:noFill/>
          <a:ln w="12700">
            <a:solidFill>
              <a:srgbClr val="8A8D93"/>
            </a:solidFill>
            <a:prstDash val="solid"/>
          </a:ln>
        </p:spPr>
      </p:sp>
      <p:sp>
        <p:nvSpPr>
          <p:cNvPr id="12" name="!!mAxt0"/>
          <p:cNvSpPr txBox="1"/>
          <p:nvPr/>
        </p:nvSpPr>
        <p:spPr>
          <a:xfrm>
            <a:off x="868680" y="493776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13" name="!!mAxt1"/>
          <p:cNvSpPr txBox="1"/>
          <p:nvPr/>
        </p:nvSpPr>
        <p:spPr>
          <a:xfrm>
            <a:off x="2174966" y="493776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14" name="!!mAxt2"/>
          <p:cNvSpPr txBox="1"/>
          <p:nvPr/>
        </p:nvSpPr>
        <p:spPr>
          <a:xfrm>
            <a:off x="3481251" y="493776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15" name="!!mAxt3"/>
          <p:cNvSpPr txBox="1"/>
          <p:nvPr/>
        </p:nvSpPr>
        <p:spPr>
          <a:xfrm>
            <a:off x="4787537" y="493776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16" name="!!mAyt0"/>
          <p:cNvSpPr txBox="1"/>
          <p:nvPr/>
        </p:nvSpPr>
        <p:spPr>
          <a:xfrm>
            <a:off x="502920" y="47914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17" name="!!mAyt1"/>
          <p:cNvSpPr txBox="1"/>
          <p:nvPr/>
        </p:nvSpPr>
        <p:spPr>
          <a:xfrm>
            <a:off x="502920" y="37246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18" name="!!mAyt2"/>
          <p:cNvSpPr txBox="1"/>
          <p:nvPr/>
        </p:nvSpPr>
        <p:spPr>
          <a:xfrm>
            <a:off x="502920" y="26578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19" name="!!mAyt3"/>
          <p:cNvSpPr txBox="1"/>
          <p:nvPr/>
        </p:nvSpPr>
        <p:spPr>
          <a:xfrm>
            <a:off x="50292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20" name="!!mAxl"/>
          <p:cNvSpPr txBox="1"/>
          <p:nvPr/>
        </p:nvSpPr>
        <p:spPr>
          <a:xfrm>
            <a:off x="1188720" y="5166360"/>
            <a:ext cx="457200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21" name="!!mAyl"/>
          <p:cNvSpPr txBox="1"/>
          <p:nvPr/>
        </p:nvSpPr>
        <p:spPr>
          <a:xfrm>
            <a:off x="100584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a:t>
            </a:r>
            <a:endParaRPr lang="en-US" sz="1100" dirty="0"/>
          </a:p>
        </p:txBody>
      </p:sp>
      <p:sp>
        <p:nvSpPr>
          <p:cNvPr id="22" name="!!mtLo"/>
          <p:cNvSpPr/>
          <p:nvPr/>
        </p:nvSpPr>
        <p:spPr>
          <a:xfrm>
            <a:off x="1188720" y="2299951"/>
            <a:ext cx="4572000" cy="2391126"/>
          </a:xfrm>
          <a:custGeom>
            <a:avLst/>
            <a:gdLst/>
            <a:ahLst/>
            <a:cxnLst/>
            <a:rect l="l" t="t" r="r" b="b"/>
            <a:pathLst>
              <a:path w="4572000" h="2391126">
                <a:moveTo>
                  <a:pt x="0" y="2391126"/>
                </a:moveTo>
                <a:lnTo>
                  <a:pt x="163286" y="2187092"/>
                </a:lnTo>
                <a:lnTo>
                  <a:pt x="326571" y="1983823"/>
                </a:lnTo>
                <a:lnTo>
                  <a:pt x="489857" y="1781463"/>
                </a:lnTo>
                <a:lnTo>
                  <a:pt x="653143" y="1580204"/>
                </a:lnTo>
                <a:lnTo>
                  <a:pt x="816429" y="1380332"/>
                </a:lnTo>
                <a:lnTo>
                  <a:pt x="979714" y="1182408"/>
                </a:lnTo>
                <a:lnTo>
                  <a:pt x="1143000" y="987613"/>
                </a:lnTo>
                <a:lnTo>
                  <a:pt x="1306286" y="798339"/>
                </a:lnTo>
                <a:lnTo>
                  <a:pt x="1469571" y="618472"/>
                </a:lnTo>
                <a:lnTo>
                  <a:pt x="1632857" y="454874"/>
                </a:lnTo>
                <a:lnTo>
                  <a:pt x="1796143" y="323275"/>
                </a:lnTo>
                <a:lnTo>
                  <a:pt x="1959429" y="222314"/>
                </a:lnTo>
                <a:lnTo>
                  <a:pt x="2122714" y="155983"/>
                </a:lnTo>
                <a:lnTo>
                  <a:pt x="2286000" y="121708"/>
                </a:lnTo>
                <a:lnTo>
                  <a:pt x="2449286" y="103831"/>
                </a:lnTo>
                <a:lnTo>
                  <a:pt x="2612571" y="90306"/>
                </a:lnTo>
                <a:lnTo>
                  <a:pt x="2775857" y="78455"/>
                </a:lnTo>
                <a:lnTo>
                  <a:pt x="2939143" y="67749"/>
                </a:lnTo>
                <a:lnTo>
                  <a:pt x="3102429" y="58018"/>
                </a:lnTo>
                <a:lnTo>
                  <a:pt x="3265714" y="49152"/>
                </a:lnTo>
                <a:lnTo>
                  <a:pt x="3429000" y="41067"/>
                </a:lnTo>
                <a:lnTo>
                  <a:pt x="3592286" y="33674"/>
                </a:lnTo>
                <a:lnTo>
                  <a:pt x="3755571" y="26895"/>
                </a:lnTo>
                <a:lnTo>
                  <a:pt x="3918857" y="20658"/>
                </a:lnTo>
                <a:lnTo>
                  <a:pt x="4082143" y="14902"/>
                </a:lnTo>
                <a:lnTo>
                  <a:pt x="4245429" y="9568"/>
                </a:lnTo>
                <a:lnTo>
                  <a:pt x="4408714" y="4617"/>
                </a:lnTo>
                <a:lnTo>
                  <a:pt x="4572000" y="0"/>
                </a:lnTo>
              </a:path>
            </a:pathLst>
          </a:custGeom>
          <a:ln w="28575">
            <a:solidFill>
              <a:srgbClr val="11998E"/>
            </a:solidFill>
            <a:prstDash val="solid"/>
          </a:ln>
        </p:spPr>
      </p:sp>
      <p:sp>
        <p:nvSpPr>
          <p:cNvPr id="23" name="!!mtHi"/>
          <p:cNvSpPr/>
          <p:nvPr/>
        </p:nvSpPr>
        <p:spPr>
          <a:xfrm>
            <a:off x="1188720" y="1990955"/>
            <a:ext cx="4572000" cy="2477028"/>
          </a:xfrm>
          <a:custGeom>
            <a:avLst/>
            <a:gdLst/>
            <a:ahLst/>
            <a:cxnLst/>
            <a:rect l="l" t="t" r="r" b="b"/>
            <a:pathLst>
              <a:path w="4572000" h="2477028">
                <a:moveTo>
                  <a:pt x="0" y="2477028"/>
                </a:moveTo>
                <a:lnTo>
                  <a:pt x="163286" y="2285557"/>
                </a:lnTo>
                <a:lnTo>
                  <a:pt x="326571" y="2089842"/>
                </a:lnTo>
                <a:lnTo>
                  <a:pt x="489857" y="1892897"/>
                </a:lnTo>
                <a:lnTo>
                  <a:pt x="653143" y="1696223"/>
                </a:lnTo>
                <a:lnTo>
                  <a:pt x="816429" y="1500959"/>
                </a:lnTo>
                <a:lnTo>
                  <a:pt x="979714" y="1308685"/>
                </a:lnTo>
                <a:lnTo>
                  <a:pt x="1143000" y="1123647"/>
                </a:lnTo>
                <a:lnTo>
                  <a:pt x="1306286" y="951133"/>
                </a:lnTo>
                <a:lnTo>
                  <a:pt x="1469571" y="795376"/>
                </a:lnTo>
                <a:lnTo>
                  <a:pt x="1632857" y="659704"/>
                </a:lnTo>
                <a:lnTo>
                  <a:pt x="1796143" y="551281"/>
                </a:lnTo>
                <a:lnTo>
                  <a:pt x="1959429" y="470417"/>
                </a:lnTo>
                <a:lnTo>
                  <a:pt x="2122714" y="410406"/>
                </a:lnTo>
                <a:lnTo>
                  <a:pt x="2286000" y="361254"/>
                </a:lnTo>
                <a:lnTo>
                  <a:pt x="2449286" y="318264"/>
                </a:lnTo>
                <a:lnTo>
                  <a:pt x="2612571" y="279735"/>
                </a:lnTo>
                <a:lnTo>
                  <a:pt x="2775857" y="244840"/>
                </a:lnTo>
                <a:lnTo>
                  <a:pt x="2939143" y="213021"/>
                </a:lnTo>
                <a:lnTo>
                  <a:pt x="3102429" y="183865"/>
                </a:lnTo>
                <a:lnTo>
                  <a:pt x="3265714" y="157035"/>
                </a:lnTo>
                <a:lnTo>
                  <a:pt x="3429000" y="132254"/>
                </a:lnTo>
                <a:lnTo>
                  <a:pt x="3592286" y="109284"/>
                </a:lnTo>
                <a:lnTo>
                  <a:pt x="3755571" y="87923"/>
                </a:lnTo>
                <a:lnTo>
                  <a:pt x="3918857" y="68001"/>
                </a:lnTo>
                <a:lnTo>
                  <a:pt x="4082143" y="49368"/>
                </a:lnTo>
                <a:lnTo>
                  <a:pt x="4245429" y="31896"/>
                </a:lnTo>
                <a:lnTo>
                  <a:pt x="4408714" y="15472"/>
                </a:lnTo>
                <a:lnTo>
                  <a:pt x="4572000" y="0"/>
                </a:lnTo>
              </a:path>
            </a:pathLst>
          </a:custGeom>
          <a:ln w="31750">
            <a:solidFill>
              <a:srgbClr val="3E6AE1"/>
            </a:solidFill>
            <a:prstDash val="solid"/>
          </a:ln>
        </p:spPr>
      </p:sp>
      <p:sp>
        <p:nvSpPr>
          <p:cNvPr id="24" name="!!mtA0"/>
          <p:cNvSpPr txBox="1"/>
          <p:nvPr/>
        </p:nvSpPr>
        <p:spPr>
          <a:xfrm>
            <a:off x="1319349" y="4527816"/>
            <a:ext cx="2194560" cy="219456"/>
          </a:xfrm>
          <a:prstGeom prst="rect">
            <a:avLst/>
          </a:prstGeom>
          <a:noFill/>
          <a:ln/>
        </p:spPr>
        <p:txBody>
          <a:bodyPr wrap="square" lIns="0" tIns="0" rIns="0" bIns="0" rtlCol="0" anchor="t"/>
          <a:lstStyle/>
          <a:p>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I</a:t>
            </a:r>
            <a:pPr algn="l" indent="0" marL="0">
              <a:buNone/>
            </a:pPr>
            <a:r>
              <a:rPr lang="en-US" sz="1000" baseline="-40000" dirty="0">
                <a:solidFill>
                  <a:srgbClr val="D64545"/>
                </a:solidFill>
                <a:latin typeface="Segoe UI Semibold" pitchFamily="34" charset="0"/>
                <a:ea typeface="Segoe UI Semibold" pitchFamily="34" charset="-122"/>
                <a:cs typeface="Segoe UI Semibold" pitchFamily="34" charset="-120"/>
              </a:rPr>
              <a:t>off</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V</a:t>
            </a:r>
            <a:pPr algn="l" indent="0" marL="0">
              <a:buNone/>
            </a:pPr>
            <a:r>
              <a:rPr lang="en-US" sz="1000" baseline="-40000" dirty="0">
                <a:solidFill>
                  <a:srgbClr val="D64545"/>
                </a:solidFill>
                <a:latin typeface="Segoe UI Semibold" pitchFamily="34" charset="0"/>
                <a:ea typeface="Segoe UI Semibold" pitchFamily="34" charset="-122"/>
                <a:cs typeface="Segoe UI Semibold" pitchFamily="34" charset="-120"/>
              </a:rPr>
              <a:t>G</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 0</a:t>
            </a:r>
            <a:endParaRPr lang="en-US" sz="1000" dirty="0"/>
          </a:p>
        </p:txBody>
      </p:sp>
      <p:sp>
        <p:nvSpPr>
          <p:cNvPr id="25" name="!!mtA1"/>
          <p:cNvSpPr txBox="1"/>
          <p:nvPr/>
        </p:nvSpPr>
        <p:spPr>
          <a:xfrm>
            <a:off x="2821577" y="2927616"/>
            <a:ext cx="2194560" cy="219456"/>
          </a:xfrm>
          <a:prstGeom prst="rect">
            <a:avLst/>
          </a:prstGeom>
          <a:noFill/>
          <a:ln/>
        </p:spPr>
        <p:txBody>
          <a:bodyPr wrap="square" lIns="0" tIns="0" rIns="0" bIns="0" rtlCol="0" anchor="t"/>
          <a:lstStyle/>
          <a:p>
            <a:pPr algn="l" indent="0" marL="0">
              <a:buNone/>
            </a:pPr>
            <a:r>
              <a:rPr lang="en-US" sz="1000" dirty="0">
                <a:solidFill>
                  <a:srgbClr val="3E6AE1"/>
                </a:solidFill>
                <a:latin typeface="Segoe UI Semibold" pitchFamily="34" charset="0"/>
                <a:ea typeface="Segoe UI Semibold" pitchFamily="34" charset="-122"/>
                <a:cs typeface="Segoe UI Semibold" pitchFamily="34" charset="-120"/>
              </a:rPr>
              <a:t>V</a:t>
            </a:r>
            <a:pPr algn="l" indent="0" marL="0">
              <a:buNone/>
            </a:pPr>
            <a:r>
              <a:rPr lang="en-US" sz="1000" baseline="-40000" dirty="0">
                <a:solidFill>
                  <a:srgbClr val="3E6AE1"/>
                </a:solidFill>
                <a:latin typeface="Segoe UI Semibold" pitchFamily="34" charset="0"/>
                <a:ea typeface="Segoe UI Semibold" pitchFamily="34" charset="-122"/>
                <a:cs typeface="Segoe UI Semibold" pitchFamily="34" charset="-120"/>
              </a:rPr>
              <a:t>T</a:t>
            </a:r>
            <a:pPr algn="l" indent="0" marL="0">
              <a:buNone/>
            </a:pPr>
            <a:r>
              <a:rPr lang="en-US" sz="1000" dirty="0">
                <a:solidFill>
                  <a:srgbClr val="3E6AE1"/>
                </a:solidFill>
                <a:latin typeface="Segoe UI Semibold" pitchFamily="34" charset="0"/>
                <a:ea typeface="Segoe UI Semibold" pitchFamily="34" charset="-122"/>
                <a:cs typeface="Segoe UI Semibold" pitchFamily="34" charset="-120"/>
              </a:rPr>
              <a:t>: max-g</a:t>
            </a:r>
            <a:pPr algn="l" indent="0" marL="0">
              <a:buNone/>
            </a:pPr>
            <a:r>
              <a:rPr lang="en-US" sz="1000" baseline="-40000" dirty="0">
                <a:solidFill>
                  <a:srgbClr val="3E6AE1"/>
                </a:solidFill>
                <a:latin typeface="Segoe UI Semibold" pitchFamily="34" charset="0"/>
                <a:ea typeface="Segoe UI Semibold" pitchFamily="34" charset="-122"/>
                <a:cs typeface="Segoe UI Semibold" pitchFamily="34" charset="-120"/>
              </a:rPr>
              <a:t>m</a:t>
            </a:r>
            <a:pPr algn="l" indent="0" marL="0">
              <a:buNone/>
            </a:pPr>
            <a:r>
              <a:rPr lang="en-US" sz="1000" dirty="0">
                <a:solidFill>
                  <a:srgbClr val="3E6AE1"/>
                </a:solidFill>
                <a:latin typeface="Segoe UI Semibold" pitchFamily="34" charset="0"/>
                <a:ea typeface="Segoe UI Semibold" pitchFamily="34" charset="-122"/>
                <a:cs typeface="Segoe UI Semibold" pitchFamily="34" charset="-120"/>
              </a:rPr>
              <a:t> extrapolation</a:t>
            </a:r>
            <a:endParaRPr lang="en-US" sz="1000" dirty="0"/>
          </a:p>
        </p:txBody>
      </p:sp>
      <p:sp>
        <p:nvSpPr>
          <p:cNvPr id="26" name="!!mtA2"/>
          <p:cNvSpPr txBox="1"/>
          <p:nvPr/>
        </p:nvSpPr>
        <p:spPr>
          <a:xfrm>
            <a:off x="1972491" y="3715512"/>
            <a:ext cx="2194560" cy="219456"/>
          </a:xfrm>
          <a:prstGeom prst="rect">
            <a:avLst/>
          </a:prstGeom>
          <a:noFill/>
          <a:ln/>
        </p:spPr>
        <p:txBody>
          <a:bodyPr wrap="square" lIns="0" tIns="0" rIns="0" bIns="0" rtlCol="0" anchor="t"/>
          <a:lstStyle/>
          <a:p>
            <a:pPr algn="l" indent="0" marL="0">
              <a:buNone/>
            </a:pPr>
            <a:r>
              <a:rPr lang="en-US" sz="1000" dirty="0">
                <a:solidFill>
                  <a:srgbClr val="E07B00"/>
                </a:solidFill>
                <a:latin typeface="Segoe UI Semibold" pitchFamily="34" charset="0"/>
                <a:ea typeface="Segoe UI Semibold" pitchFamily="34" charset="-122"/>
                <a:cs typeface="Segoe UI Semibold" pitchFamily="34" charset="-120"/>
              </a:rPr>
              <a:t>SS: mV per ×10</a:t>
            </a:r>
            <a:endParaRPr lang="en-US" sz="1000" dirty="0"/>
          </a:p>
        </p:txBody>
      </p:sp>
      <p:sp>
        <p:nvSpPr>
          <p:cNvPr id="27" name="!!mtA3"/>
          <p:cNvSpPr txBox="1"/>
          <p:nvPr/>
        </p:nvSpPr>
        <p:spPr>
          <a:xfrm>
            <a:off x="1972491" y="4154985"/>
            <a:ext cx="2194560" cy="219456"/>
          </a:xfrm>
          <a:prstGeom prst="rect">
            <a:avLst/>
          </a:prstGeom>
          <a:noFill/>
          <a:ln/>
        </p:spPr>
        <p:txBody>
          <a:bodyPr wrap="square" lIns="0" tIns="0" rIns="0" bIns="0" rtlCol="0" anchor="t"/>
          <a:lstStyle/>
          <a:p>
            <a:pPr algn="l" indent="0" marL="0">
              <a:buNone/>
            </a:pPr>
            <a:r>
              <a:rPr lang="en-US" sz="1000" dirty="0">
                <a:solidFill>
                  <a:srgbClr val="6B5BC4"/>
                </a:solidFill>
                <a:latin typeface="Segoe UI Semibold" pitchFamily="34" charset="0"/>
                <a:ea typeface="Segoe UI Semibold" pitchFamily="34" charset="-122"/>
                <a:cs typeface="Segoe UI Semibold" pitchFamily="34" charset="-120"/>
              </a:rPr>
              <a:t>DIBL: shift ÷ 0.65 V</a:t>
            </a:r>
            <a:endParaRPr lang="en-US" sz="1000" dirty="0"/>
          </a:p>
        </p:txBody>
      </p:sp>
      <p:sp>
        <p:nvSpPr>
          <p:cNvPr id="28" name="!!mtA4"/>
          <p:cNvSpPr txBox="1"/>
          <p:nvPr/>
        </p:nvSpPr>
        <p:spPr>
          <a:xfrm>
            <a:off x="3670663" y="1700246"/>
            <a:ext cx="2194560" cy="219456"/>
          </a:xfrm>
          <a:prstGeom prst="rect">
            <a:avLst/>
          </a:prstGeom>
          <a:noFill/>
          <a:ln/>
        </p:spPr>
        <p:txBody>
          <a:bodyPr wrap="square" lIns="0" tIns="0" rIns="0" bIns="0" rtlCol="0" anchor="t"/>
          <a:lstStyle/>
          <a:p>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I</a:t>
            </a:r>
            <a:pPr algn="l" indent="0" marL="0">
              <a:buNone/>
            </a:pPr>
            <a:r>
              <a:rPr lang="en-US" sz="1000" baseline="-40000" dirty="0">
                <a:solidFill>
                  <a:srgbClr val="2E9E4F"/>
                </a:solidFill>
                <a:latin typeface="Segoe UI Semibold" pitchFamily="34" charset="0"/>
                <a:ea typeface="Segoe UI Semibold" pitchFamily="34" charset="-122"/>
                <a:cs typeface="Segoe UI Semibold" pitchFamily="34" charset="-120"/>
              </a:rPr>
              <a:t>on</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V</a:t>
            </a:r>
            <a:pPr algn="l" indent="0" marL="0">
              <a:buNone/>
            </a:pPr>
            <a:r>
              <a:rPr lang="en-US" sz="1000" baseline="-40000" dirty="0">
                <a:solidFill>
                  <a:srgbClr val="2E9E4F"/>
                </a:solidFill>
                <a:latin typeface="Segoe UI Semibold" pitchFamily="34" charset="0"/>
                <a:ea typeface="Segoe UI Semibold" pitchFamily="34" charset="-122"/>
                <a:cs typeface="Segoe UI Semibold" pitchFamily="34" charset="-120"/>
              </a:rPr>
              <a:t>G</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 V</a:t>
            </a:r>
            <a:pPr algn="l" indent="0" marL="0">
              <a:buNone/>
            </a:pPr>
            <a:r>
              <a:rPr lang="en-US" sz="1000" baseline="-40000" dirty="0">
                <a:solidFill>
                  <a:srgbClr val="2E9E4F"/>
                </a:solidFill>
                <a:latin typeface="Segoe UI Semibold" pitchFamily="34" charset="0"/>
                <a:ea typeface="Segoe UI Semibold" pitchFamily="34" charset="-122"/>
                <a:cs typeface="Segoe UI Semibold" pitchFamily="34" charset="-120"/>
              </a:rPr>
              <a:t>D</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 0.7 V</a:t>
            </a:r>
            <a:endParaRPr lang="en-US" sz="1000" dirty="0"/>
          </a:p>
        </p:txBody>
      </p:sp>
      <p:sp>
        <p:nvSpPr>
          <p:cNvPr id="29" name="!!mBg0"/>
          <p:cNvSpPr/>
          <p:nvPr/>
        </p:nvSpPr>
        <p:spPr>
          <a:xfrm>
            <a:off x="7223760" y="4892040"/>
            <a:ext cx="4206240" cy="91"/>
          </a:xfrm>
          <a:prstGeom prst="line">
            <a:avLst/>
          </a:prstGeom>
          <a:noFill/>
          <a:ln w="9525">
            <a:solidFill>
              <a:srgbClr val="EDEEF0"/>
            </a:solidFill>
            <a:prstDash val="solid"/>
          </a:ln>
        </p:spPr>
      </p:sp>
      <p:sp>
        <p:nvSpPr>
          <p:cNvPr id="30" name="!!mBg1"/>
          <p:cNvSpPr/>
          <p:nvPr/>
        </p:nvSpPr>
        <p:spPr>
          <a:xfrm>
            <a:off x="7223760" y="3291840"/>
            <a:ext cx="4206240" cy="91"/>
          </a:xfrm>
          <a:prstGeom prst="line">
            <a:avLst/>
          </a:prstGeom>
          <a:noFill/>
          <a:ln w="9525">
            <a:solidFill>
              <a:srgbClr val="EDEEF0"/>
            </a:solidFill>
            <a:prstDash val="solid"/>
          </a:ln>
        </p:spPr>
      </p:sp>
      <p:sp>
        <p:nvSpPr>
          <p:cNvPr id="31" name="!!mBg2"/>
          <p:cNvSpPr/>
          <p:nvPr/>
        </p:nvSpPr>
        <p:spPr>
          <a:xfrm>
            <a:off x="7223760" y="1691640"/>
            <a:ext cx="4206240" cy="91"/>
          </a:xfrm>
          <a:prstGeom prst="line">
            <a:avLst/>
          </a:prstGeom>
          <a:noFill/>
          <a:ln w="9525">
            <a:solidFill>
              <a:srgbClr val="EDEEF0"/>
            </a:solidFill>
            <a:prstDash val="solid"/>
          </a:ln>
        </p:spPr>
      </p:sp>
      <p:sp>
        <p:nvSpPr>
          <p:cNvPr id="32" name="!!mBxa"/>
          <p:cNvSpPr/>
          <p:nvPr/>
        </p:nvSpPr>
        <p:spPr>
          <a:xfrm>
            <a:off x="7223760" y="4892040"/>
            <a:ext cx="4206240" cy="91"/>
          </a:xfrm>
          <a:prstGeom prst="line">
            <a:avLst/>
          </a:prstGeom>
          <a:noFill/>
          <a:ln w="12700">
            <a:solidFill>
              <a:srgbClr val="8A8D93"/>
            </a:solidFill>
            <a:prstDash val="solid"/>
          </a:ln>
        </p:spPr>
      </p:sp>
      <p:sp>
        <p:nvSpPr>
          <p:cNvPr id="33" name="!!mBya"/>
          <p:cNvSpPr/>
          <p:nvPr/>
        </p:nvSpPr>
        <p:spPr>
          <a:xfrm>
            <a:off x="7223760" y="1691640"/>
            <a:ext cx="91" cy="3200400"/>
          </a:xfrm>
          <a:prstGeom prst="line">
            <a:avLst/>
          </a:prstGeom>
          <a:noFill/>
          <a:ln w="12700">
            <a:solidFill>
              <a:srgbClr val="8A8D93"/>
            </a:solidFill>
            <a:prstDash val="solid"/>
          </a:ln>
        </p:spPr>
      </p:sp>
      <p:sp>
        <p:nvSpPr>
          <p:cNvPr id="34" name="!!mBxt0"/>
          <p:cNvSpPr txBox="1"/>
          <p:nvPr/>
        </p:nvSpPr>
        <p:spPr>
          <a:xfrm>
            <a:off x="6903720" y="493776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35" name="!!mBxt1"/>
          <p:cNvSpPr txBox="1"/>
          <p:nvPr/>
        </p:nvSpPr>
        <p:spPr>
          <a:xfrm>
            <a:off x="7955280" y="493776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5</a:t>
            </a:r>
            <a:endParaRPr lang="en-US" sz="900" dirty="0"/>
          </a:p>
        </p:txBody>
      </p:sp>
      <p:sp>
        <p:nvSpPr>
          <p:cNvPr id="36" name="!!mBxt2"/>
          <p:cNvSpPr txBox="1"/>
          <p:nvPr/>
        </p:nvSpPr>
        <p:spPr>
          <a:xfrm>
            <a:off x="9006840" y="493776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10</a:t>
            </a:r>
            <a:endParaRPr lang="en-US" sz="900" dirty="0"/>
          </a:p>
        </p:txBody>
      </p:sp>
      <p:sp>
        <p:nvSpPr>
          <p:cNvPr id="37" name="!!mBxt3"/>
          <p:cNvSpPr txBox="1"/>
          <p:nvPr/>
        </p:nvSpPr>
        <p:spPr>
          <a:xfrm>
            <a:off x="10058400" y="493776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15</a:t>
            </a:r>
            <a:endParaRPr lang="en-US" sz="900" dirty="0"/>
          </a:p>
        </p:txBody>
      </p:sp>
      <p:sp>
        <p:nvSpPr>
          <p:cNvPr id="38" name="!!mBxt4"/>
          <p:cNvSpPr txBox="1"/>
          <p:nvPr/>
        </p:nvSpPr>
        <p:spPr>
          <a:xfrm>
            <a:off x="11109960" y="493776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20</a:t>
            </a:r>
            <a:endParaRPr lang="en-US" sz="900" dirty="0"/>
          </a:p>
        </p:txBody>
      </p:sp>
      <p:sp>
        <p:nvSpPr>
          <p:cNvPr id="39" name="!!mByt0"/>
          <p:cNvSpPr txBox="1"/>
          <p:nvPr/>
        </p:nvSpPr>
        <p:spPr>
          <a:xfrm>
            <a:off x="6537960" y="47914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40" name="!!mByt1"/>
          <p:cNvSpPr txBox="1"/>
          <p:nvPr/>
        </p:nvSpPr>
        <p:spPr>
          <a:xfrm>
            <a:off x="6537960" y="31912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25</a:t>
            </a:r>
            <a:endParaRPr lang="en-US" sz="900" dirty="0"/>
          </a:p>
        </p:txBody>
      </p:sp>
      <p:sp>
        <p:nvSpPr>
          <p:cNvPr id="41" name="!!mByt2"/>
          <p:cNvSpPr txBox="1"/>
          <p:nvPr/>
        </p:nvSpPr>
        <p:spPr>
          <a:xfrm>
            <a:off x="653796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50</a:t>
            </a:r>
            <a:endParaRPr lang="en-US" sz="900" dirty="0"/>
          </a:p>
        </p:txBody>
      </p:sp>
      <p:sp>
        <p:nvSpPr>
          <p:cNvPr id="42" name="!!mBxl"/>
          <p:cNvSpPr txBox="1"/>
          <p:nvPr/>
        </p:nvSpPr>
        <p:spPr>
          <a:xfrm>
            <a:off x="7223760" y="516636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P = I</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 ·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D</a:t>
            </a:r>
            <a:pPr algn="ctr" indent="0" marL="0">
              <a:buNone/>
            </a:pPr>
            <a:r>
              <a:rPr lang="en-US" sz="1100" dirty="0">
                <a:solidFill>
                  <a:srgbClr val="5C5E62"/>
                </a:solidFill>
                <a:latin typeface="Segoe UI" pitchFamily="34" charset="0"/>
                <a:ea typeface="Segoe UI" pitchFamily="34" charset="-122"/>
                <a:cs typeface="Segoe UI" pitchFamily="34" charset="-120"/>
              </a:rPr>
              <a:t> (µW)</a:t>
            </a:r>
            <a:endParaRPr lang="en-US" sz="1100" dirty="0"/>
          </a:p>
        </p:txBody>
      </p:sp>
      <p:sp>
        <p:nvSpPr>
          <p:cNvPr id="43" name="!!mByl"/>
          <p:cNvSpPr txBox="1"/>
          <p:nvPr/>
        </p:nvSpPr>
        <p:spPr>
          <a:xfrm>
            <a:off x="704088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ΔT (K)</a:t>
            </a:r>
            <a:endParaRPr lang="en-US" sz="1100" dirty="0"/>
          </a:p>
        </p:txBody>
      </p:sp>
      <p:sp>
        <p:nvSpPr>
          <p:cNvPr id="44" name="!!mtH"/>
          <p:cNvSpPr/>
          <p:nvPr/>
        </p:nvSpPr>
        <p:spPr>
          <a:xfrm>
            <a:off x="7223852" y="2100395"/>
            <a:ext cx="4043953" cy="2791581"/>
          </a:xfrm>
          <a:custGeom>
            <a:avLst/>
            <a:gdLst/>
            <a:ahLst/>
            <a:cxnLst/>
            <a:rect l="l" t="t" r="r" b="b"/>
            <a:pathLst>
              <a:path w="4043953" h="2791581">
                <a:moveTo>
                  <a:pt x="0" y="2791581"/>
                </a:moveTo>
                <a:lnTo>
                  <a:pt x="118" y="2791517"/>
                </a:lnTo>
                <a:lnTo>
                  <a:pt x="397" y="2791389"/>
                </a:lnTo>
                <a:lnTo>
                  <a:pt x="1051" y="2790429"/>
                </a:lnTo>
                <a:lnTo>
                  <a:pt x="2580" y="2788829"/>
                </a:lnTo>
                <a:lnTo>
                  <a:pt x="6115" y="2785244"/>
                </a:lnTo>
                <a:lnTo>
                  <a:pt x="14143" y="2777243"/>
                </a:lnTo>
                <a:lnTo>
                  <a:pt x="31548" y="2760217"/>
                </a:lnTo>
                <a:lnTo>
                  <a:pt x="66537" y="2726933"/>
                </a:lnTo>
                <a:lnTo>
                  <a:pt x="130427" y="2667725"/>
                </a:lnTo>
                <a:lnTo>
                  <a:pt x="234345" y="2573442"/>
                </a:lnTo>
                <a:lnTo>
                  <a:pt x="374271" y="2451314"/>
                </a:lnTo>
                <a:lnTo>
                  <a:pt x="530663" y="2319906"/>
                </a:lnTo>
                <a:lnTo>
                  <a:pt x="687612" y="2193234"/>
                </a:lnTo>
                <a:lnTo>
                  <a:pt x="850162" y="2066626"/>
                </a:lnTo>
                <a:lnTo>
                  <a:pt x="1023544" y="1935666"/>
                </a:lnTo>
                <a:lnTo>
                  <a:pt x="1208773" y="1798497"/>
                </a:lnTo>
                <a:lnTo>
                  <a:pt x="1405305" y="1656655"/>
                </a:lnTo>
                <a:lnTo>
                  <a:pt x="1612229" y="1510845"/>
                </a:lnTo>
                <a:lnTo>
                  <a:pt x="1828478" y="1362090"/>
                </a:lnTo>
                <a:lnTo>
                  <a:pt x="2053016" y="1211159"/>
                </a:lnTo>
                <a:lnTo>
                  <a:pt x="2284826" y="1058884"/>
                </a:lnTo>
                <a:lnTo>
                  <a:pt x="2523011" y="905777"/>
                </a:lnTo>
                <a:lnTo>
                  <a:pt x="2766731" y="752734"/>
                </a:lnTo>
                <a:lnTo>
                  <a:pt x="3015206" y="600139"/>
                </a:lnTo>
                <a:lnTo>
                  <a:pt x="3267759" y="448248"/>
                </a:lnTo>
                <a:lnTo>
                  <a:pt x="3523772" y="297445"/>
                </a:lnTo>
                <a:lnTo>
                  <a:pt x="3782670" y="147922"/>
                </a:lnTo>
                <a:lnTo>
                  <a:pt x="4043953" y="0"/>
                </a:lnTo>
              </a:path>
            </a:pathLst>
          </a:custGeom>
          <a:ln w="31750">
            <a:solidFill>
              <a:srgbClr val="E07B00"/>
            </a:solidFill>
            <a:prstDash val="solid"/>
          </a:ln>
        </p:spPr>
      </p:sp>
      <p:sp>
        <p:nvSpPr>
          <p:cNvPr id="45" name="!!mtHL"/>
          <p:cNvSpPr txBox="1"/>
          <p:nvPr/>
        </p:nvSpPr>
        <p:spPr>
          <a:xfrm>
            <a:off x="7434072" y="2011680"/>
            <a:ext cx="2286000" cy="457200"/>
          </a:xfrm>
          <a:prstGeom prst="rect">
            <a:avLst/>
          </a:prstGeom>
          <a:noFill/>
          <a:ln/>
        </p:spPr>
        <p:txBody>
          <a:bodyPr wrap="square" lIns="0" tIns="0" rIns="0" bIns="0" rtlCol="0" anchor="t"/>
          <a:lstStyle/>
          <a:p>
            <a:pPr algn="l" indent="0" marL="0">
              <a:buNone/>
            </a:pPr>
            <a:r>
              <a:rPr lang="en-US" sz="1200" dirty="0">
                <a:solidFill>
                  <a:srgbClr val="E07B00"/>
                </a:solidFill>
                <a:latin typeface="Segoe UI Semibold" pitchFamily="34" charset="0"/>
                <a:ea typeface="Segoe UI Semibold" pitchFamily="34" charset="-122"/>
                <a:cs typeface="Segoe UI Semibold" pitchFamily="34" charset="-120"/>
              </a:rPr>
              <a:t>R</a:t>
            </a:r>
            <a:pPr algn="l" indent="0" marL="0">
              <a:buNone/>
            </a:pPr>
            <a:r>
              <a:rPr lang="en-US" sz="1200" baseline="-40000" dirty="0">
                <a:solidFill>
                  <a:srgbClr val="E07B00"/>
                </a:solidFill>
                <a:latin typeface="Segoe UI Semibold" pitchFamily="34" charset="0"/>
                <a:ea typeface="Segoe UI Semibold" pitchFamily="34" charset="-122"/>
                <a:cs typeface="Segoe UI Semibold" pitchFamily="34" charset="-120"/>
              </a:rPr>
              <a:t>th</a:t>
            </a:r>
            <a:pPr algn="l" indent="0" marL="0">
              <a:buNone/>
            </a:pPr>
            <a:r>
              <a:rPr lang="en-US" sz="1200" dirty="0">
                <a:solidFill>
                  <a:srgbClr val="E07B00"/>
                </a:solidFill>
                <a:latin typeface="Segoe UI Semibold" pitchFamily="34" charset="0"/>
                <a:ea typeface="Segoe UI Semibold" pitchFamily="34" charset="-122"/>
                <a:cs typeface="Segoe UI Semibold" pitchFamily="34" charset="-120"/>
              </a:rPr>
              <a:t> = ΔT / P = slope</a:t>
            </a:r>
            <a:endParaRPr lang="en-US" sz="1200" dirty="0"/>
          </a:p>
          <a:p>
            <a:pPr algn="l" indent="0" marL="0">
              <a:buNone/>
            </a:pPr>
            <a:r>
              <a:rPr lang="en-US" sz="1200" dirty="0">
                <a:solidFill>
                  <a:srgbClr val="E07B00"/>
                </a:solidFill>
                <a:latin typeface="Segoe UI Semibold" pitchFamily="34" charset="0"/>
                <a:ea typeface="Segoe UI Semibold" pitchFamily="34" charset="-122"/>
                <a:cs typeface="Segoe UI Semibold" pitchFamily="34" charset="-120"/>
              </a:rPr>
              <a:t>= 2.27 × 10⁶ K/W</a:t>
            </a:r>
            <a:endParaRPr lang="en-US" sz="1200" dirty="0"/>
          </a:p>
        </p:txBody>
      </p:sp>
      <p:sp>
        <p:nvSpPr>
          <p:cNvPr id="46" name="!!mtHN"/>
          <p:cNvSpPr txBox="1"/>
          <p:nvPr/>
        </p:nvSpPr>
        <p:spPr>
          <a:xfrm>
            <a:off x="7223760" y="5440680"/>
            <a:ext cx="4206240" cy="228600"/>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T</a:t>
            </a:r>
            <a:pPr algn="l" indent="0" marL="0">
              <a:buNone/>
            </a:pPr>
            <a:r>
              <a:rPr lang="en-US" sz="1000" baseline="-40000" dirty="0">
                <a:solidFill>
                  <a:srgbClr val="5C5E62"/>
                </a:solidFill>
                <a:latin typeface="Segoe UI" pitchFamily="34" charset="0"/>
                <a:ea typeface="Segoe UI" pitchFamily="34" charset="-122"/>
                <a:cs typeface="Segoe UI" pitchFamily="34" charset="-120"/>
              </a:rPr>
              <a:t>max</a:t>
            </a:r>
            <a:pPr algn="l" indent="0" marL="0">
              <a:buNone/>
            </a:pPr>
            <a:r>
              <a:rPr lang="en-US" sz="1000" dirty="0">
                <a:solidFill>
                  <a:srgbClr val="5C5E62"/>
                </a:solidFill>
                <a:latin typeface="Segoe UI" pitchFamily="34" charset="0"/>
                <a:ea typeface="Segoe UI" pitchFamily="34" charset="-122"/>
                <a:cs typeface="Segoe UI" pitchFamily="34" charset="-120"/>
              </a:rPr>
              <a:t>: probe lat.temp max;  ΔT = T</a:t>
            </a:r>
            <a:pPr algn="l" indent="0" marL="0">
              <a:buNone/>
            </a:pPr>
            <a:r>
              <a:rPr lang="en-US" sz="1000" baseline="-40000" dirty="0">
                <a:solidFill>
                  <a:srgbClr val="5C5E62"/>
                </a:solidFill>
                <a:latin typeface="Segoe UI" pitchFamily="34" charset="0"/>
                <a:ea typeface="Segoe UI" pitchFamily="34" charset="-122"/>
                <a:cs typeface="Segoe UI" pitchFamily="34" charset="-120"/>
              </a:rPr>
              <a:t>max</a:t>
            </a:r>
            <a:pPr algn="l" indent="0" marL="0">
              <a:buNone/>
            </a:pPr>
            <a:r>
              <a:rPr lang="en-US" sz="1000" dirty="0">
                <a:solidFill>
                  <a:srgbClr val="5C5E62"/>
                </a:solidFill>
                <a:latin typeface="Segoe UI" pitchFamily="34" charset="0"/>
                <a:ea typeface="Segoe UI" pitchFamily="34" charset="-122"/>
                <a:cs typeface="Segoe UI" pitchFamily="34" charset="-120"/>
              </a:rPr>
              <a:t> − 300 K</a:t>
            </a:r>
            <a:endParaRPr lang="en-US" sz="1000" dirty="0"/>
          </a:p>
        </p:txBody>
      </p:sp>
      <p:sp>
        <p:nvSpPr>
          <p:cNvPr id="4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Heat curve: R</a:t>
            </a:r>
            <a:pPr algn="ctr" indent="0" marL="0">
              <a:buNone/>
            </a:pPr>
            <a:r>
              <a:rPr lang="en-US" sz="1600" baseline="-40000" dirty="0">
                <a:solidFill>
                  <a:srgbClr val="171A20"/>
                </a:solidFill>
                <a:latin typeface="Segoe UI" pitchFamily="34" charset="0"/>
                <a:ea typeface="Segoe UI" pitchFamily="34" charset="-122"/>
                <a:cs typeface="Segoe UI" pitchFamily="34" charset="-120"/>
              </a:rPr>
              <a:t>th</a:t>
            </a:r>
            <a:pPr algn="ctr" indent="0" marL="0">
              <a:buNone/>
            </a:pPr>
            <a:r>
              <a:rPr lang="en-US" sz="1600" dirty="0">
                <a:solidFill>
                  <a:srgbClr val="171A20"/>
                </a:solidFill>
                <a:latin typeface="Segoe UI" pitchFamily="34" charset="0"/>
                <a:ea typeface="Segoe UI" pitchFamily="34" charset="-122"/>
                <a:cs typeface="Segoe UI" pitchFamily="34" charset="-120"/>
              </a:rPr>
              <a:t> is the slope of ΔT against power.</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118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Contents</a:t>
            </a:r>
            <a:endParaRPr lang="en-US" sz="3000" dirty="0"/>
          </a:p>
        </p:txBody>
      </p:sp>
      <p:sp>
        <p:nvSpPr>
          <p:cNvPr id="3" name="!!tocLine"/>
          <p:cNvSpPr/>
          <p:nvPr/>
        </p:nvSpPr>
        <p:spPr>
          <a:xfrm>
            <a:off x="868680" y="1508760"/>
            <a:ext cx="91" cy="3840480"/>
          </a:xfrm>
          <a:prstGeom prst="line">
            <a:avLst/>
          </a:prstGeom>
          <a:noFill/>
          <a:ln w="38100">
            <a:solidFill>
              <a:srgbClr val="E2E3E3"/>
            </a:solidFill>
            <a:prstDash val="solid"/>
          </a:ln>
        </p:spPr>
      </p:sp>
      <p:sp>
        <p:nvSpPr>
          <p:cNvPr id="4" name="!!tocC0"/>
          <p:cNvSpPr/>
          <p:nvPr/>
        </p:nvSpPr>
        <p:spPr>
          <a:xfrm>
            <a:off x="685800" y="1325880"/>
            <a:ext cx="365760" cy="365760"/>
          </a:xfrm>
          <a:prstGeom prst="ellipse">
            <a:avLst/>
          </a:prstGeom>
          <a:solidFill>
            <a:srgbClr val="FFFFFF"/>
          </a:solidFill>
          <a:ln w="15875">
            <a:solidFill>
              <a:srgbClr val="2E9E4F"/>
            </a:solidFill>
            <a:prstDash val="solid"/>
          </a:ln>
        </p:spPr>
      </p:sp>
      <p:sp>
        <p:nvSpPr>
          <p:cNvPr id="5" name="!!tocN0"/>
          <p:cNvSpPr txBox="1"/>
          <p:nvPr/>
        </p:nvSpPr>
        <p:spPr>
          <a:xfrm>
            <a:off x="685800" y="135331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01</a:t>
            </a:r>
            <a:endParaRPr lang="en-US" sz="1000" dirty="0"/>
          </a:p>
        </p:txBody>
      </p:sp>
      <p:sp>
        <p:nvSpPr>
          <p:cNvPr id="6" name="!!tocH0"/>
          <p:cNvSpPr txBox="1"/>
          <p:nvPr/>
        </p:nvSpPr>
        <p:spPr>
          <a:xfrm>
            <a:off x="1325880" y="128016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The MOSFET switch</a:t>
            </a:r>
            <a:endParaRPr lang="en-US" sz="1800" dirty="0"/>
          </a:p>
        </p:txBody>
      </p:sp>
      <p:sp>
        <p:nvSpPr>
          <p:cNvPr id="7" name="!!tocS0"/>
          <p:cNvSpPr txBox="1"/>
          <p:nvPr/>
        </p:nvSpPr>
        <p:spPr>
          <a:xfrm>
            <a:off x="1325880" y="162763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Build it · turn the gate · turn the drain · V</a:t>
            </a:r>
            <a:pPr algn="l" indent="0" marL="0">
              <a:buNone/>
            </a:pPr>
            <a:r>
              <a:rPr lang="en-US" sz="1100" baseline="-40000" dirty="0">
                <a:solidFill>
                  <a:srgbClr val="A9ACB1"/>
                </a:solidFill>
                <a:latin typeface="Segoe UI" pitchFamily="34" charset="0"/>
                <a:ea typeface="Segoe UI" pitchFamily="34" charset="-122"/>
                <a:cs typeface="Segoe UI" pitchFamily="34" charset="-120"/>
              </a:rPr>
              <a:t>T</a:t>
            </a:r>
            <a:pPr algn="l" indent="0" marL="0">
              <a:buNone/>
            </a:pPr>
            <a:r>
              <a:rPr lang="en-US" sz="1100" dirty="0">
                <a:solidFill>
                  <a:srgbClr val="A9ACB1"/>
                </a:solidFill>
                <a:latin typeface="Segoe UI" pitchFamily="34" charset="0"/>
                <a:ea typeface="Segoe UI" pitchFamily="34" charset="-122"/>
                <a:cs typeface="Segoe UI" pitchFamily="34" charset="-120"/>
              </a:rPr>
              <a:t> and SS in depth</a:t>
            </a:r>
            <a:endParaRPr lang="en-US" sz="1100" dirty="0"/>
          </a:p>
        </p:txBody>
      </p:sp>
      <p:sp>
        <p:nvSpPr>
          <p:cNvPr id="8" name="!!tocC1"/>
          <p:cNvSpPr/>
          <p:nvPr/>
        </p:nvSpPr>
        <p:spPr>
          <a:xfrm>
            <a:off x="685800" y="1965960"/>
            <a:ext cx="365760" cy="365760"/>
          </a:xfrm>
          <a:prstGeom prst="ellipse">
            <a:avLst/>
          </a:prstGeom>
          <a:solidFill>
            <a:srgbClr val="FFFFFF"/>
          </a:solidFill>
          <a:ln w="15875">
            <a:solidFill>
              <a:srgbClr val="2E9E4F"/>
            </a:solidFill>
            <a:prstDash val="solid"/>
          </a:ln>
        </p:spPr>
      </p:sp>
      <p:sp>
        <p:nvSpPr>
          <p:cNvPr id="9" name="!!tocN1"/>
          <p:cNvSpPr txBox="1"/>
          <p:nvPr/>
        </p:nvSpPr>
        <p:spPr>
          <a:xfrm>
            <a:off x="685800" y="199339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02</a:t>
            </a:r>
            <a:endParaRPr lang="en-US" sz="1000" dirty="0"/>
          </a:p>
        </p:txBody>
      </p:sp>
      <p:sp>
        <p:nvSpPr>
          <p:cNvPr id="10" name="!!tocH1"/>
          <p:cNvSpPr txBox="1"/>
          <p:nvPr/>
        </p:nvSpPr>
        <p:spPr>
          <a:xfrm>
            <a:off x="1325880" y="192024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Shrinking the gate</a:t>
            </a:r>
            <a:endParaRPr lang="en-US" sz="1800" dirty="0"/>
          </a:p>
        </p:txBody>
      </p:sp>
      <p:sp>
        <p:nvSpPr>
          <p:cNvPr id="11" name="!!tocS1"/>
          <p:cNvSpPr txBox="1"/>
          <p:nvPr/>
        </p:nvSpPr>
        <p:spPr>
          <a:xfrm>
            <a:off x="1325880" y="226771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Shorter L</a:t>
            </a:r>
            <a:pPr algn="l" indent="0" marL="0">
              <a:buNone/>
            </a:pPr>
            <a:r>
              <a:rPr lang="en-US" sz="1100" baseline="-40000" dirty="0">
                <a:solidFill>
                  <a:srgbClr val="A9ACB1"/>
                </a:solidFill>
                <a:latin typeface="Segoe UI" pitchFamily="34" charset="0"/>
                <a:ea typeface="Segoe UI" pitchFamily="34" charset="-122"/>
                <a:cs typeface="Segoe UI" pitchFamily="34" charset="-120"/>
              </a:rPr>
              <a:t>g</a:t>
            </a:r>
            <a:pPr algn="l" indent="0" marL="0">
              <a:buNone/>
            </a:pPr>
            <a:r>
              <a:rPr lang="en-US" sz="1100" dirty="0">
                <a:solidFill>
                  <a:srgbClr val="A9ACB1"/>
                </a:solidFill>
                <a:latin typeface="Segoe UI" pitchFamily="34" charset="0"/>
                <a:ea typeface="Segoe UI" pitchFamily="34" charset="-122"/>
                <a:cs typeface="Segoe UI" pitchFamily="34" charset="-120"/>
              </a:rPr>
              <a:t> · DIBL and leakage · the scale length λ</a:t>
            </a:r>
            <a:endParaRPr lang="en-US" sz="1100" dirty="0"/>
          </a:p>
        </p:txBody>
      </p:sp>
      <p:sp>
        <p:nvSpPr>
          <p:cNvPr id="12" name="!!tocC2"/>
          <p:cNvSpPr/>
          <p:nvPr/>
        </p:nvSpPr>
        <p:spPr>
          <a:xfrm>
            <a:off x="685800" y="2606040"/>
            <a:ext cx="365760" cy="365760"/>
          </a:xfrm>
          <a:prstGeom prst="ellipse">
            <a:avLst/>
          </a:prstGeom>
          <a:solidFill>
            <a:srgbClr val="FFFFFF"/>
          </a:solidFill>
          <a:ln w="15875">
            <a:solidFill>
              <a:srgbClr val="2E9E4F"/>
            </a:solidFill>
            <a:prstDash val="solid"/>
          </a:ln>
        </p:spPr>
      </p:sp>
      <p:sp>
        <p:nvSpPr>
          <p:cNvPr id="13" name="!!tocN2"/>
          <p:cNvSpPr txBox="1"/>
          <p:nvPr/>
        </p:nvSpPr>
        <p:spPr>
          <a:xfrm>
            <a:off x="685800" y="263347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03</a:t>
            </a:r>
            <a:endParaRPr lang="en-US" sz="1000" dirty="0"/>
          </a:p>
        </p:txBody>
      </p:sp>
      <p:sp>
        <p:nvSpPr>
          <p:cNvPr id="14" name="!!tocH2"/>
          <p:cNvSpPr txBox="1"/>
          <p:nvPr/>
        </p:nvSpPr>
        <p:spPr>
          <a:xfrm>
            <a:off x="1325880" y="256032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FinFET → GAAFET</a:t>
            </a:r>
            <a:endParaRPr lang="en-US" sz="1800" dirty="0"/>
          </a:p>
        </p:txBody>
      </p:sp>
      <p:sp>
        <p:nvSpPr>
          <p:cNvPr id="15" name="!!tocS2"/>
          <p:cNvSpPr txBox="1"/>
          <p:nvPr/>
        </p:nvSpPr>
        <p:spPr>
          <a:xfrm>
            <a:off x="1325880" y="290779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More gate sides · fin width · wire, sheet, stack · our GAA in numbers</a:t>
            </a:r>
            <a:endParaRPr lang="en-US" sz="1100" dirty="0"/>
          </a:p>
        </p:txBody>
      </p:sp>
      <p:sp>
        <p:nvSpPr>
          <p:cNvPr id="16" name="!!tocC3"/>
          <p:cNvSpPr/>
          <p:nvPr/>
        </p:nvSpPr>
        <p:spPr>
          <a:xfrm>
            <a:off x="685800" y="3246120"/>
            <a:ext cx="365760" cy="365760"/>
          </a:xfrm>
          <a:prstGeom prst="ellipse">
            <a:avLst/>
          </a:prstGeom>
          <a:solidFill>
            <a:srgbClr val="FFFFFF"/>
          </a:solidFill>
          <a:ln w="15875">
            <a:solidFill>
              <a:srgbClr val="2E9E4F"/>
            </a:solidFill>
            <a:prstDash val="solid"/>
          </a:ln>
        </p:spPr>
      </p:sp>
      <p:sp>
        <p:nvSpPr>
          <p:cNvPr id="17" name="!!tocN3"/>
          <p:cNvSpPr txBox="1"/>
          <p:nvPr/>
        </p:nvSpPr>
        <p:spPr>
          <a:xfrm>
            <a:off x="685800" y="327355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04</a:t>
            </a:r>
            <a:endParaRPr lang="en-US" sz="1000" dirty="0"/>
          </a:p>
        </p:txBody>
      </p:sp>
      <p:sp>
        <p:nvSpPr>
          <p:cNvPr id="18" name="!!tocH3"/>
          <p:cNvSpPr txBox="1"/>
          <p:nvPr/>
        </p:nvSpPr>
        <p:spPr>
          <a:xfrm>
            <a:off x="1325880" y="320040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The new problem: heat</a:t>
            </a:r>
            <a:endParaRPr lang="en-US" sz="1800" dirty="0"/>
          </a:p>
        </p:txBody>
      </p:sp>
      <p:sp>
        <p:nvSpPr>
          <p:cNvPr id="19" name="!!tocS3"/>
          <p:cNvSpPr txBox="1"/>
          <p:nvPr/>
        </p:nvSpPr>
        <p:spPr>
          <a:xfrm>
            <a:off x="1325880" y="354787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Oxide traps heat · ΔT = R</a:t>
            </a:r>
            <a:pPr algn="l" indent="0" marL="0">
              <a:buNone/>
            </a:pPr>
            <a:r>
              <a:rPr lang="en-US" sz="1100" baseline="-40000" dirty="0">
                <a:solidFill>
                  <a:srgbClr val="A9ACB1"/>
                </a:solidFill>
                <a:latin typeface="Segoe UI" pitchFamily="34" charset="0"/>
                <a:ea typeface="Segoe UI" pitchFamily="34" charset="-122"/>
                <a:cs typeface="Segoe UI" pitchFamily="34" charset="-120"/>
              </a:rPr>
              <a:t>th</a:t>
            </a:r>
            <a:pPr algn="l" indent="0" marL="0">
              <a:buNone/>
            </a:pPr>
            <a:r>
              <a:rPr lang="en-US" sz="1100" dirty="0">
                <a:solidFill>
                  <a:srgbClr val="A9ACB1"/>
                </a:solidFill>
                <a:latin typeface="Segoe UI" pitchFamily="34" charset="0"/>
                <a:ea typeface="Segoe UI" pitchFamily="34" charset="-122"/>
                <a:cs typeface="Segoe UI" pitchFamily="34" charset="-120"/>
              </a:rPr>
              <a:t> · P · what heat does to every metric</a:t>
            </a:r>
            <a:endParaRPr lang="en-US" sz="1100" dirty="0"/>
          </a:p>
        </p:txBody>
      </p:sp>
      <p:sp>
        <p:nvSpPr>
          <p:cNvPr id="20" name="!!tocC4"/>
          <p:cNvSpPr/>
          <p:nvPr/>
        </p:nvSpPr>
        <p:spPr>
          <a:xfrm>
            <a:off x="685800" y="3886200"/>
            <a:ext cx="365760" cy="365760"/>
          </a:xfrm>
          <a:prstGeom prst="ellipse">
            <a:avLst/>
          </a:prstGeom>
          <a:solidFill>
            <a:srgbClr val="FFFFFF"/>
          </a:solidFill>
          <a:ln w="15875">
            <a:solidFill>
              <a:srgbClr val="2E9E4F"/>
            </a:solidFill>
            <a:prstDash val="solid"/>
          </a:ln>
        </p:spPr>
      </p:sp>
      <p:sp>
        <p:nvSpPr>
          <p:cNvPr id="21" name="!!tocN4"/>
          <p:cNvSpPr txBox="1"/>
          <p:nvPr/>
        </p:nvSpPr>
        <p:spPr>
          <a:xfrm>
            <a:off x="685800" y="391363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05</a:t>
            </a:r>
            <a:endParaRPr lang="en-US" sz="1000" dirty="0"/>
          </a:p>
        </p:txBody>
      </p:sp>
      <p:sp>
        <p:nvSpPr>
          <p:cNvPr id="22" name="!!tocH4"/>
          <p:cNvSpPr txBox="1"/>
          <p:nvPr/>
        </p:nvSpPr>
        <p:spPr>
          <a:xfrm>
            <a:off x="1325880" y="384048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Literature and method</a:t>
            </a:r>
            <a:endParaRPr lang="en-US" sz="1800" dirty="0"/>
          </a:p>
        </p:txBody>
      </p:sp>
      <p:sp>
        <p:nvSpPr>
          <p:cNvPr id="23" name="!!tocS4"/>
          <p:cNvSpPr txBox="1"/>
          <p:nvPr/>
        </p:nvSpPr>
        <p:spPr>
          <a:xfrm>
            <a:off x="1325880" y="418795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Five papers · base paper Chen et al. 2025 · Silvaco Atlas flow</a:t>
            </a:r>
            <a:endParaRPr lang="en-US" sz="1100" dirty="0"/>
          </a:p>
        </p:txBody>
      </p:sp>
      <p:sp>
        <p:nvSpPr>
          <p:cNvPr id="24" name="!!tocC5"/>
          <p:cNvSpPr/>
          <p:nvPr/>
        </p:nvSpPr>
        <p:spPr>
          <a:xfrm>
            <a:off x="685800" y="4526280"/>
            <a:ext cx="365760" cy="365760"/>
          </a:xfrm>
          <a:prstGeom prst="ellipse">
            <a:avLst/>
          </a:prstGeom>
          <a:solidFill>
            <a:srgbClr val="171A20"/>
          </a:solidFill>
          <a:ln w="15875">
            <a:solidFill>
              <a:srgbClr val="171A20"/>
            </a:solidFill>
            <a:prstDash val="solid"/>
          </a:ln>
        </p:spPr>
      </p:sp>
      <p:sp>
        <p:nvSpPr>
          <p:cNvPr id="25" name="!!tocN5"/>
          <p:cNvSpPr txBox="1"/>
          <p:nvPr/>
        </p:nvSpPr>
        <p:spPr>
          <a:xfrm>
            <a:off x="685800" y="4553712"/>
            <a:ext cx="365760" cy="310896"/>
          </a:xfrm>
          <a:prstGeom prst="rect">
            <a:avLst/>
          </a:prstGeom>
          <a:noFill/>
          <a:ln/>
        </p:spPr>
        <p:txBody>
          <a:bodyPr wrap="square" lIns="0" tIns="0" rIns="0" bIns="0" rtlCol="0" anchor="ctr"/>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06</a:t>
            </a:r>
            <a:endParaRPr lang="en-US" sz="1000" dirty="0"/>
          </a:p>
        </p:txBody>
      </p:sp>
      <p:sp>
        <p:nvSpPr>
          <p:cNvPr id="26" name="!!tocH5"/>
          <p:cNvSpPr txBox="1"/>
          <p:nvPr/>
        </p:nvSpPr>
        <p:spPr>
          <a:xfrm>
            <a:off x="1325880" y="4480560"/>
            <a:ext cx="6400800" cy="347472"/>
          </a:xfrm>
          <a:prstGeom prst="rect">
            <a:avLst/>
          </a:prstGeom>
          <a:noFill/>
          <a:ln/>
        </p:spPr>
        <p:txBody>
          <a:bodyPr wrap="square" lIns="0" tIns="0" rIns="0" bIns="0" rtlCol="0" anchor="ctr"/>
          <a:lstStyle/>
          <a:p>
            <a:pPr algn="l" indent="0" marL="0">
              <a:buNone/>
            </a:pPr>
            <a:r>
              <a:rPr lang="en-US" sz="2000" dirty="0">
                <a:solidFill>
                  <a:srgbClr val="171A20"/>
                </a:solidFill>
                <a:latin typeface="Segoe UI Semibold" pitchFamily="34" charset="0"/>
                <a:ea typeface="Segoe UI Semibold" pitchFamily="34" charset="-122"/>
                <a:cs typeface="Segoe UI Semibold" pitchFamily="34" charset="-120"/>
              </a:rPr>
              <a:t>Three stages in TCAD</a:t>
            </a:r>
            <a:endParaRPr lang="en-US" sz="2000" dirty="0"/>
          </a:p>
        </p:txBody>
      </p:sp>
      <p:sp>
        <p:nvSpPr>
          <p:cNvPr id="27" name="!!tocS5"/>
          <p:cNvSpPr txBox="1"/>
          <p:nvPr/>
        </p:nvSpPr>
        <p:spPr>
          <a:xfrm>
            <a:off x="1325880" y="4828032"/>
            <a:ext cx="8229600" cy="237744"/>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Standard GAAFET · reproduce the paper · optimal design D</a:t>
            </a:r>
            <a:endParaRPr lang="en-US" sz="1100" dirty="0"/>
          </a:p>
        </p:txBody>
      </p:sp>
      <p:sp>
        <p:nvSpPr>
          <p:cNvPr id="28" name="!!tocC6"/>
          <p:cNvSpPr/>
          <p:nvPr/>
        </p:nvSpPr>
        <p:spPr>
          <a:xfrm>
            <a:off x="685800" y="5166360"/>
            <a:ext cx="365760" cy="365760"/>
          </a:xfrm>
          <a:prstGeom prst="ellipse">
            <a:avLst/>
          </a:prstGeom>
          <a:solidFill>
            <a:srgbClr val="FFFFFF"/>
          </a:solidFill>
          <a:ln w="15875">
            <a:solidFill>
              <a:srgbClr val="9C7A3C"/>
            </a:solidFill>
            <a:prstDash val="solid"/>
          </a:ln>
        </p:spPr>
      </p:sp>
      <p:sp>
        <p:nvSpPr>
          <p:cNvPr id="29" name="!!tocN6"/>
          <p:cNvSpPr txBox="1"/>
          <p:nvPr/>
        </p:nvSpPr>
        <p:spPr>
          <a:xfrm>
            <a:off x="685800" y="519379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07</a:t>
            </a:r>
            <a:endParaRPr lang="en-US" sz="1000" dirty="0"/>
          </a:p>
        </p:txBody>
      </p:sp>
      <p:sp>
        <p:nvSpPr>
          <p:cNvPr id="30" name="!!tocH6"/>
          <p:cNvSpPr txBox="1"/>
          <p:nvPr/>
        </p:nvSpPr>
        <p:spPr>
          <a:xfrm>
            <a:off x="1325880" y="512064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Conclusion</a:t>
            </a:r>
            <a:endParaRPr lang="en-US" sz="1800" dirty="0"/>
          </a:p>
        </p:txBody>
      </p:sp>
      <p:sp>
        <p:nvSpPr>
          <p:cNvPr id="31" name="!!tocS6"/>
          <p:cNvSpPr txBox="1"/>
          <p:nvPr/>
        </p:nvSpPr>
        <p:spPr>
          <a:xfrm>
            <a:off x="1325880" y="546811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Gains and limits · the whole story · next steps</a:t>
            </a:r>
            <a:endParaRPr lang="en-US" sz="1100" dirty="0"/>
          </a:p>
        </p:txBody>
      </p:sp>
      <p:sp>
        <p:nvSpPr>
          <p:cNvPr id="32" name="!!tocCard"/>
          <p:cNvSpPr/>
          <p:nvPr/>
        </p:nvSpPr>
        <p:spPr>
          <a:xfrm>
            <a:off x="8503920" y="2011680"/>
            <a:ext cx="3136392" cy="2377440"/>
          </a:xfrm>
          <a:prstGeom prst="roundRect">
            <a:avLst>
              <a:gd name="adj" fmla="val 3077"/>
            </a:avLst>
          </a:prstGeom>
          <a:solidFill>
            <a:srgbClr val="F4F5F7"/>
          </a:solidFill>
          <a:ln/>
        </p:spPr>
      </p:sp>
      <p:sp>
        <p:nvSpPr>
          <p:cNvPr id="33" name="!!tocCk"/>
          <p:cNvSpPr txBox="1"/>
          <p:nvPr/>
        </p:nvSpPr>
        <p:spPr>
          <a:xfrm>
            <a:off x="8732520" y="2240280"/>
            <a:ext cx="27432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Chapter 06</a:t>
            </a:r>
            <a:endParaRPr lang="en-US" sz="1200" dirty="0"/>
          </a:p>
        </p:txBody>
      </p:sp>
      <p:sp>
        <p:nvSpPr>
          <p:cNvPr id="34" name="!!tocCh"/>
          <p:cNvSpPr txBox="1"/>
          <p:nvPr/>
        </p:nvSpPr>
        <p:spPr>
          <a:xfrm>
            <a:off x="8732520" y="2560320"/>
            <a:ext cx="2743200" cy="822960"/>
          </a:xfrm>
          <a:prstGeom prst="rect">
            <a:avLst/>
          </a:prstGeom>
          <a:noFill/>
          <a:ln/>
        </p:spPr>
        <p:txBody>
          <a:bodyPr wrap="square" lIns="0" tIns="0" rIns="0" bIns="0" rtlCol="0" anchor="t"/>
          <a:lstStyle/>
          <a:p>
            <a:pPr algn="l" indent="0" marL="0">
              <a:buNone/>
            </a:pPr>
            <a:r>
              <a:rPr lang="en-US" sz="2200" dirty="0">
                <a:solidFill>
                  <a:srgbClr val="171A20"/>
                </a:solidFill>
                <a:latin typeface="Segoe UI Semibold" pitchFamily="34" charset="0"/>
                <a:ea typeface="Segoe UI Semibold" pitchFamily="34" charset="-122"/>
                <a:cs typeface="Segoe UI Semibold" pitchFamily="34" charset="-120"/>
              </a:rPr>
              <a:t>Three stages in TCAD</a:t>
            </a:r>
            <a:endParaRPr lang="en-US" sz="2200" dirty="0"/>
          </a:p>
        </p:txBody>
      </p:sp>
      <p:sp>
        <p:nvSpPr>
          <p:cNvPr id="35" name="!!tocCs"/>
          <p:cNvSpPr txBox="1"/>
          <p:nvPr/>
        </p:nvSpPr>
        <p:spPr>
          <a:xfrm>
            <a:off x="8732520" y="3383280"/>
            <a:ext cx="2743200" cy="9144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Standard GAAFET</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reproduce the paper</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optimal design D</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119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1 – Standard GAAFET, layer by layer</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Step 1: the silicon wire · A silicon cylinder, radius 4 nm, 58 nm long</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E2E3E3"/>
          </a:solidFill>
          <a:ln/>
        </p:spPr>
      </p:sp>
      <p:sp>
        <p:nvSpPr>
          <p:cNvPr id="6" name="!!sdot2"/>
          <p:cNvSpPr/>
          <p:nvPr/>
        </p:nvSpPr>
        <p:spPr>
          <a:xfrm>
            <a:off x="11288268" y="525780"/>
            <a:ext cx="82296" cy="82296"/>
          </a:xfrm>
          <a:prstGeom prst="ellipse">
            <a:avLst/>
          </a:prstGeom>
          <a:solidFill>
            <a:srgbClr val="E2E3E3"/>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s1xl"/>
          <p:cNvSpPr txBox="1"/>
          <p:nvPr/>
        </p:nvSpPr>
        <p:spPr>
          <a:xfrm>
            <a:off x="548640" y="1417320"/>
            <a:ext cx="274320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cross-section at the gate</a:t>
            </a:r>
            <a:endParaRPr lang="en-US" sz="1100" dirty="0"/>
          </a:p>
        </p:txBody>
      </p:sp>
      <p:sp>
        <p:nvSpPr>
          <p:cNvPr id="10" name="!!s1xW"/>
          <p:cNvSpPr/>
          <p:nvPr/>
        </p:nvSpPr>
        <p:spPr>
          <a:xfrm>
            <a:off x="1444752" y="2496312"/>
            <a:ext cx="950976" cy="950976"/>
          </a:xfrm>
          <a:prstGeom prst="ellipse">
            <a:avLst/>
          </a:prstGeom>
          <a:solidFill>
            <a:srgbClr val="FFFFFF"/>
          </a:solidFill>
          <a:ln/>
        </p:spPr>
      </p:sp>
      <p:sp>
        <p:nvSpPr>
          <p:cNvPr id="11" name="!!s1xH"/>
          <p:cNvSpPr/>
          <p:nvPr/>
        </p:nvSpPr>
        <p:spPr>
          <a:xfrm>
            <a:off x="1444752" y="2496312"/>
            <a:ext cx="950976" cy="950976"/>
          </a:xfrm>
          <a:prstGeom prst="ellipse">
            <a:avLst/>
          </a:prstGeom>
          <a:solidFill>
            <a:srgbClr val="FFFFFF"/>
          </a:solidFill>
          <a:ln/>
        </p:spPr>
      </p:sp>
      <p:sp>
        <p:nvSpPr>
          <p:cNvPr id="12" name="!!s1xO"/>
          <p:cNvSpPr/>
          <p:nvPr/>
        </p:nvSpPr>
        <p:spPr>
          <a:xfrm>
            <a:off x="1444752" y="2496312"/>
            <a:ext cx="950976" cy="950976"/>
          </a:xfrm>
          <a:prstGeom prst="ellipse">
            <a:avLst/>
          </a:prstGeom>
          <a:solidFill>
            <a:srgbClr val="FFFFFF"/>
          </a:solidFill>
          <a:ln/>
        </p:spPr>
      </p:sp>
      <p:sp>
        <p:nvSpPr>
          <p:cNvPr id="13" name="!!s1xS"/>
          <p:cNvSpPr/>
          <p:nvPr/>
        </p:nvSpPr>
        <p:spPr>
          <a:xfrm>
            <a:off x="1444752" y="2496312"/>
            <a:ext cx="950976" cy="950976"/>
          </a:xfrm>
          <a:prstGeom prst="ellipse">
            <a:avLst/>
          </a:prstGeom>
          <a:solidFill>
            <a:srgbClr val="F6E7B8"/>
          </a:solidFill>
          <a:ln/>
        </p:spPr>
      </p:sp>
      <p:sp>
        <p:nvSpPr>
          <p:cNvPr id="14" name="!!s1xr"/>
          <p:cNvSpPr txBox="1"/>
          <p:nvPr/>
        </p:nvSpPr>
        <p:spPr>
          <a:xfrm>
            <a:off x="1371600" y="2862072"/>
            <a:ext cx="1097280" cy="219456"/>
          </a:xfrm>
          <a:prstGeom prst="rect">
            <a:avLst/>
          </a:prstGeom>
          <a:noFill/>
          <a:ln/>
        </p:spPr>
        <p:txBody>
          <a:bodyPr wrap="square" lIns="0" tIns="0" rIns="0" bIns="0" rtlCol="0" anchor="t"/>
          <a:lstStyle/>
          <a:p>
            <a:pPr algn="ctr" indent="0" marL="0">
              <a:buNone/>
            </a:pPr>
            <a:r>
              <a:rPr lang="en-US" sz="1000" dirty="0">
                <a:solidFill>
                  <a:srgbClr val="8A6D1F"/>
                </a:solidFill>
                <a:latin typeface="Segoe UI Semibold" pitchFamily="34" charset="0"/>
                <a:ea typeface="Segoe UI Semibold" pitchFamily="34" charset="-122"/>
                <a:cs typeface="Segoe UI Semibold" pitchFamily="34" charset="-120"/>
              </a:rPr>
              <a:t>r = 4 nm</a:t>
            </a:r>
            <a:endParaRPr lang="en-US" sz="1000" dirty="0"/>
          </a:p>
        </p:txBody>
      </p:sp>
      <p:sp>
        <p:nvSpPr>
          <p:cNvPr id="15" name="!!s1zl"/>
          <p:cNvSpPr txBox="1"/>
          <p:nvPr/>
        </p:nvSpPr>
        <p:spPr>
          <a:xfrm>
            <a:off x="3931920" y="1417320"/>
            <a:ext cx="6894576"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side view along the current (z)</a:t>
            </a:r>
            <a:endParaRPr lang="en-US" sz="1100" dirty="0"/>
          </a:p>
        </p:txBody>
      </p:sp>
      <p:sp>
        <p:nvSpPr>
          <p:cNvPr id="16" name="!!s1zS"/>
          <p:cNvSpPr/>
          <p:nvPr/>
        </p:nvSpPr>
        <p:spPr>
          <a:xfrm>
            <a:off x="3931920" y="2496312"/>
            <a:ext cx="6894576" cy="950976"/>
          </a:xfrm>
          <a:prstGeom prst="rect">
            <a:avLst/>
          </a:prstGeom>
          <a:solidFill>
            <a:srgbClr val="F6E7B8"/>
          </a:solidFill>
          <a:ln/>
        </p:spPr>
      </p:sp>
      <p:sp>
        <p:nvSpPr>
          <p:cNvPr id="17" name="!!s1d0"/>
          <p:cNvSpPr txBox="1"/>
          <p:nvPr/>
        </p:nvSpPr>
        <p:spPr>
          <a:xfrm>
            <a:off x="3931920" y="4160520"/>
            <a:ext cx="2020824"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17 nm</a:t>
            </a:r>
            <a:endParaRPr lang="en-US" sz="1000" dirty="0"/>
          </a:p>
        </p:txBody>
      </p:sp>
      <p:sp>
        <p:nvSpPr>
          <p:cNvPr id="18" name="!!s1d1"/>
          <p:cNvSpPr txBox="1"/>
          <p:nvPr/>
        </p:nvSpPr>
        <p:spPr>
          <a:xfrm>
            <a:off x="5952744" y="4160520"/>
            <a:ext cx="5943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5 nm</a:t>
            </a:r>
            <a:endParaRPr lang="en-US" sz="1000" dirty="0"/>
          </a:p>
        </p:txBody>
      </p:sp>
      <p:sp>
        <p:nvSpPr>
          <p:cNvPr id="19" name="!!s1d2"/>
          <p:cNvSpPr txBox="1"/>
          <p:nvPr/>
        </p:nvSpPr>
        <p:spPr>
          <a:xfrm>
            <a:off x="6547104" y="4160520"/>
            <a:ext cx="1664208"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14 nm</a:t>
            </a:r>
            <a:endParaRPr lang="en-US" sz="1000" dirty="0"/>
          </a:p>
        </p:txBody>
      </p:sp>
      <p:sp>
        <p:nvSpPr>
          <p:cNvPr id="20" name="!!s1d3"/>
          <p:cNvSpPr txBox="1"/>
          <p:nvPr/>
        </p:nvSpPr>
        <p:spPr>
          <a:xfrm>
            <a:off x="8211312" y="4160520"/>
            <a:ext cx="5943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5 nm</a:t>
            </a:r>
            <a:endParaRPr lang="en-US" sz="1000" dirty="0"/>
          </a:p>
        </p:txBody>
      </p:sp>
      <p:sp>
        <p:nvSpPr>
          <p:cNvPr id="21" name="!!s1d4"/>
          <p:cNvSpPr txBox="1"/>
          <p:nvPr/>
        </p:nvSpPr>
        <p:spPr>
          <a:xfrm>
            <a:off x="8805672" y="4160520"/>
            <a:ext cx="2020824"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17 nm</a:t>
            </a:r>
            <a:endParaRPr lang="en-US" sz="1000" dirty="0"/>
          </a:p>
        </p:txBody>
      </p:sp>
      <p:sp>
        <p:nvSpPr>
          <p:cNvPr id="22" name="!!s1g0"/>
          <p:cNvSpPr/>
          <p:nvPr/>
        </p:nvSpPr>
        <p:spPr>
          <a:xfrm>
            <a:off x="640080" y="4526280"/>
            <a:ext cx="201168" cy="201168"/>
          </a:xfrm>
          <a:prstGeom prst="rect">
            <a:avLst/>
          </a:prstGeom>
          <a:solidFill>
            <a:srgbClr val="F6E7B8"/>
          </a:solidFill>
          <a:ln/>
        </p:spPr>
      </p:sp>
      <p:sp>
        <p:nvSpPr>
          <p:cNvPr id="23" name="!!s1gt0"/>
          <p:cNvSpPr txBox="1"/>
          <p:nvPr/>
        </p:nvSpPr>
        <p:spPr>
          <a:xfrm>
            <a:off x="914400" y="4498848"/>
            <a:ext cx="1463040" cy="256032"/>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Si channel</a:t>
            </a:r>
            <a:endParaRPr lang="en-US" sz="1100" dirty="0"/>
          </a:p>
        </p:txBody>
      </p:sp>
      <p:sp>
        <p:nvSpPr>
          <p:cNvPr id="24" name="!!s1g1"/>
          <p:cNvSpPr/>
          <p:nvPr/>
        </p:nvSpPr>
        <p:spPr>
          <a:xfrm>
            <a:off x="2468880" y="4526280"/>
            <a:ext cx="201168" cy="201168"/>
          </a:xfrm>
          <a:prstGeom prst="rect">
            <a:avLst/>
          </a:prstGeom>
          <a:solidFill>
            <a:srgbClr val="FFFFFF"/>
          </a:solidFill>
          <a:ln w="9525">
            <a:solidFill>
              <a:srgbClr val="E2E3E3"/>
            </a:solidFill>
            <a:prstDash val="solid"/>
          </a:ln>
        </p:spPr>
      </p:sp>
      <p:sp>
        <p:nvSpPr>
          <p:cNvPr id="25" name="!!s1gt1"/>
          <p:cNvSpPr txBox="1"/>
          <p:nvPr/>
        </p:nvSpPr>
        <p:spPr>
          <a:xfrm>
            <a:off x="2743200" y="4498848"/>
            <a:ext cx="1463040" cy="256032"/>
          </a:xfrm>
          <a:prstGeom prst="rect">
            <a:avLst/>
          </a:prstGeom>
          <a:noFill/>
          <a:ln/>
        </p:spPr>
        <p:txBody>
          <a:bodyPr wrap="square" lIns="0" tIns="0" rIns="0" bIns="0" rtlCol="0" anchor="t"/>
          <a:lstStyle/>
          <a:p>
            <a:pPr algn="l" indent="0" marL="0">
              <a:buNone/>
            </a:pPr>
            <a:r>
              <a:rPr lang="en-US" sz="1100" dirty="0">
                <a:solidFill>
                  <a:srgbClr val="C9CCD3"/>
                </a:solidFill>
                <a:latin typeface="Segoe UI" pitchFamily="34" charset="0"/>
                <a:ea typeface="Segoe UI" pitchFamily="34" charset="-122"/>
                <a:cs typeface="Segoe UI" pitchFamily="34" charset="-120"/>
              </a:rPr>
              <a:t>SiO2</a:t>
            </a:r>
            <a:endParaRPr lang="en-US" sz="1100" dirty="0"/>
          </a:p>
        </p:txBody>
      </p:sp>
      <p:sp>
        <p:nvSpPr>
          <p:cNvPr id="26" name="!!s1g2"/>
          <p:cNvSpPr/>
          <p:nvPr/>
        </p:nvSpPr>
        <p:spPr>
          <a:xfrm>
            <a:off x="4297680" y="4526280"/>
            <a:ext cx="201168" cy="201168"/>
          </a:xfrm>
          <a:prstGeom prst="rect">
            <a:avLst/>
          </a:prstGeom>
          <a:solidFill>
            <a:srgbClr val="FFFFFF"/>
          </a:solidFill>
          <a:ln w="9525">
            <a:solidFill>
              <a:srgbClr val="E2E3E3"/>
            </a:solidFill>
            <a:prstDash val="solid"/>
          </a:ln>
        </p:spPr>
      </p:sp>
      <p:sp>
        <p:nvSpPr>
          <p:cNvPr id="27" name="!!s1gt2"/>
          <p:cNvSpPr txBox="1"/>
          <p:nvPr/>
        </p:nvSpPr>
        <p:spPr>
          <a:xfrm>
            <a:off x="4572000" y="4498848"/>
            <a:ext cx="1463040" cy="256032"/>
          </a:xfrm>
          <a:prstGeom prst="rect">
            <a:avLst/>
          </a:prstGeom>
          <a:noFill/>
          <a:ln/>
        </p:spPr>
        <p:txBody>
          <a:bodyPr wrap="square" lIns="0" tIns="0" rIns="0" bIns="0" rtlCol="0" anchor="t"/>
          <a:lstStyle/>
          <a:p>
            <a:pPr algn="l" indent="0" marL="0">
              <a:buNone/>
            </a:pPr>
            <a:r>
              <a:rPr lang="en-US" sz="1100" dirty="0">
                <a:solidFill>
                  <a:srgbClr val="C9CCD3"/>
                </a:solidFill>
                <a:latin typeface="Segoe UI" pitchFamily="34" charset="0"/>
                <a:ea typeface="Segoe UI" pitchFamily="34" charset="-122"/>
                <a:cs typeface="Segoe UI" pitchFamily="34" charset="-120"/>
              </a:rPr>
              <a:t>HfO2</a:t>
            </a:r>
            <a:endParaRPr lang="en-US" sz="1100" dirty="0"/>
          </a:p>
        </p:txBody>
      </p:sp>
      <p:sp>
        <p:nvSpPr>
          <p:cNvPr id="28" name="!!s1g3"/>
          <p:cNvSpPr/>
          <p:nvPr/>
        </p:nvSpPr>
        <p:spPr>
          <a:xfrm>
            <a:off x="6126480" y="4526280"/>
            <a:ext cx="201168" cy="201168"/>
          </a:xfrm>
          <a:prstGeom prst="rect">
            <a:avLst/>
          </a:prstGeom>
          <a:solidFill>
            <a:srgbClr val="FFFFFF"/>
          </a:solidFill>
          <a:ln w="9525">
            <a:solidFill>
              <a:srgbClr val="E2E3E3"/>
            </a:solidFill>
            <a:prstDash val="solid"/>
          </a:ln>
        </p:spPr>
      </p:sp>
      <p:sp>
        <p:nvSpPr>
          <p:cNvPr id="29" name="!!s1gt3"/>
          <p:cNvSpPr txBox="1"/>
          <p:nvPr/>
        </p:nvSpPr>
        <p:spPr>
          <a:xfrm>
            <a:off x="6400800" y="4498848"/>
            <a:ext cx="1463040" cy="256032"/>
          </a:xfrm>
          <a:prstGeom prst="rect">
            <a:avLst/>
          </a:prstGeom>
          <a:noFill/>
          <a:ln/>
        </p:spPr>
        <p:txBody>
          <a:bodyPr wrap="square" lIns="0" tIns="0" rIns="0" bIns="0" rtlCol="0" anchor="t"/>
          <a:lstStyle/>
          <a:p>
            <a:pPr algn="l" indent="0" marL="0">
              <a:buNone/>
            </a:pPr>
            <a:r>
              <a:rPr lang="en-US" sz="1100" dirty="0">
                <a:solidFill>
                  <a:srgbClr val="C9CCD3"/>
                </a:solidFill>
                <a:latin typeface="Segoe UI" pitchFamily="34" charset="0"/>
                <a:ea typeface="Segoe UI" pitchFamily="34" charset="-122"/>
                <a:cs typeface="Segoe UI" pitchFamily="34" charset="-120"/>
              </a:rPr>
              <a:t>W gate</a:t>
            </a:r>
            <a:endParaRPr lang="en-US" sz="1100" dirty="0"/>
          </a:p>
        </p:txBody>
      </p:sp>
      <p:sp>
        <p:nvSpPr>
          <p:cNvPr id="30" name="!!s1g4"/>
          <p:cNvSpPr/>
          <p:nvPr/>
        </p:nvSpPr>
        <p:spPr>
          <a:xfrm>
            <a:off x="7955280" y="4526280"/>
            <a:ext cx="201168" cy="201168"/>
          </a:xfrm>
          <a:prstGeom prst="rect">
            <a:avLst/>
          </a:prstGeom>
          <a:solidFill>
            <a:srgbClr val="FFFFFF"/>
          </a:solidFill>
          <a:ln w="9525">
            <a:solidFill>
              <a:srgbClr val="E2E3E3"/>
            </a:solidFill>
            <a:prstDash val="solid"/>
          </a:ln>
        </p:spPr>
      </p:sp>
      <p:sp>
        <p:nvSpPr>
          <p:cNvPr id="31" name="!!s1gt4"/>
          <p:cNvSpPr txBox="1"/>
          <p:nvPr/>
        </p:nvSpPr>
        <p:spPr>
          <a:xfrm>
            <a:off x="8229600" y="4498848"/>
            <a:ext cx="1463040" cy="256032"/>
          </a:xfrm>
          <a:prstGeom prst="rect">
            <a:avLst/>
          </a:prstGeom>
          <a:noFill/>
          <a:ln/>
        </p:spPr>
        <p:txBody>
          <a:bodyPr wrap="square" lIns="0" tIns="0" rIns="0" bIns="0" rtlCol="0" anchor="t"/>
          <a:lstStyle/>
          <a:p>
            <a:pPr algn="l" indent="0" marL="0">
              <a:buNone/>
            </a:pPr>
            <a:r>
              <a:rPr lang="en-US" sz="1100" dirty="0">
                <a:solidFill>
                  <a:srgbClr val="C9CCD3"/>
                </a:solidFill>
                <a:latin typeface="Segoe UI" pitchFamily="34" charset="0"/>
                <a:ea typeface="Segoe UI" pitchFamily="34" charset="-122"/>
                <a:cs typeface="Segoe UI" pitchFamily="34" charset="-120"/>
              </a:rPr>
              <a:t>Si3N4</a:t>
            </a:r>
            <a:endParaRPr lang="en-US" sz="1100" dirty="0"/>
          </a:p>
        </p:txBody>
      </p:sp>
      <p:sp>
        <p:nvSpPr>
          <p:cNvPr id="32" name="!!s1g5"/>
          <p:cNvSpPr/>
          <p:nvPr/>
        </p:nvSpPr>
        <p:spPr>
          <a:xfrm>
            <a:off x="9784080" y="4526280"/>
            <a:ext cx="201168" cy="201168"/>
          </a:xfrm>
          <a:prstGeom prst="rect">
            <a:avLst/>
          </a:prstGeom>
          <a:solidFill>
            <a:srgbClr val="FFFFFF"/>
          </a:solidFill>
          <a:ln w="9525">
            <a:solidFill>
              <a:srgbClr val="E2E3E3"/>
            </a:solidFill>
            <a:prstDash val="solid"/>
          </a:ln>
        </p:spPr>
      </p:sp>
      <p:sp>
        <p:nvSpPr>
          <p:cNvPr id="33" name="!!s1gt5"/>
          <p:cNvSpPr txBox="1"/>
          <p:nvPr/>
        </p:nvSpPr>
        <p:spPr>
          <a:xfrm>
            <a:off x="10058400" y="4498848"/>
            <a:ext cx="1463040" cy="256032"/>
          </a:xfrm>
          <a:prstGeom prst="rect">
            <a:avLst/>
          </a:prstGeom>
          <a:noFill/>
          <a:ln/>
        </p:spPr>
        <p:txBody>
          <a:bodyPr wrap="square" lIns="0" tIns="0" rIns="0" bIns="0" rtlCol="0" anchor="t"/>
          <a:lstStyle/>
          <a:p>
            <a:pPr algn="l" indent="0" marL="0">
              <a:buNone/>
            </a:pPr>
            <a:r>
              <a:rPr lang="en-US" sz="1100" dirty="0">
                <a:solidFill>
                  <a:srgbClr val="C9CCD3"/>
                </a:solidFill>
                <a:latin typeface="Segoe UI" pitchFamily="34" charset="0"/>
                <a:ea typeface="Segoe UI" pitchFamily="34" charset="-122"/>
                <a:cs typeface="Segoe UI" pitchFamily="34" charset="-120"/>
              </a:rPr>
              <a:t>n+ Si</a:t>
            </a:r>
            <a:endParaRPr lang="en-US" sz="1100" dirty="0"/>
          </a:p>
        </p:txBody>
      </p:sp>
      <p:sp>
        <p:nvSpPr>
          <p:cNvPr id="34" name="!!code"/>
          <p:cNvSpPr/>
          <p:nvPr/>
        </p:nvSpPr>
        <p:spPr>
          <a:xfrm>
            <a:off x="548640" y="4892040"/>
            <a:ext cx="11091672" cy="685800"/>
          </a:xfrm>
          <a:prstGeom prst="roundRect">
            <a:avLst>
              <a:gd name="adj" fmla="val 8000"/>
            </a:avLst>
          </a:prstGeom>
          <a:solidFill>
            <a:srgbClr val="171A20"/>
          </a:solidFill>
          <a:ln/>
        </p:spPr>
      </p:sp>
      <p:sp>
        <p:nvSpPr>
          <p:cNvPr id="35" name="!!codet"/>
          <p:cNvSpPr txBox="1"/>
          <p:nvPr/>
        </p:nvSpPr>
        <p:spPr>
          <a:xfrm>
            <a:off x="777240" y="4892040"/>
            <a:ext cx="10698480" cy="685800"/>
          </a:xfrm>
          <a:prstGeom prst="rect">
            <a:avLst/>
          </a:prstGeom>
          <a:noFill/>
          <a:ln/>
        </p:spPr>
        <p:txBody>
          <a:bodyPr wrap="square" lIns="0" tIns="0" rIns="0" bIns="0" rtlCol="0" anchor="ctr"/>
          <a:lstStyle/>
          <a:p>
            <a:pPr algn="l" indent="0" marL="0">
              <a:buNone/>
            </a:pPr>
            <a:r>
              <a:rPr lang="en-US" sz="1200" dirty="0">
                <a:solidFill>
                  <a:srgbClr val="D9F2E3"/>
                </a:solidFill>
                <a:latin typeface="Courier New" pitchFamily="34" charset="0"/>
                <a:ea typeface="Courier New" pitchFamily="34" charset="-122"/>
                <a:cs typeface="Courier New" pitchFamily="34" charset="-120"/>
              </a:rPr>
              <a:t>REGION NUM=1 MATERIAL=silicon R.MAX=0.004 Z.MIN=-0.029 Z.MAX=0.029</a:t>
            </a:r>
            <a:endParaRPr lang="en-US" sz="1200" dirty="0"/>
          </a:p>
        </p:txBody>
      </p:sp>
      <p:sp>
        <p:nvSpPr>
          <p:cNvPr id="36"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Everything starts from one silicon wire.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120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1 – Standard GAAFET, layer by layer</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Step 2: interfacial oxide · A 0.6 nm SiO2 shell around the channel only</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E2E3E3"/>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s1xl"/>
          <p:cNvSpPr txBox="1"/>
          <p:nvPr/>
        </p:nvSpPr>
        <p:spPr>
          <a:xfrm>
            <a:off x="548640" y="1417320"/>
            <a:ext cx="274320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cross-section at the gate</a:t>
            </a:r>
            <a:endParaRPr lang="en-US" sz="1100" dirty="0"/>
          </a:p>
        </p:txBody>
      </p:sp>
      <p:sp>
        <p:nvSpPr>
          <p:cNvPr id="10" name="!!s1xW"/>
          <p:cNvSpPr/>
          <p:nvPr/>
        </p:nvSpPr>
        <p:spPr>
          <a:xfrm>
            <a:off x="1444752" y="2496312"/>
            <a:ext cx="950976" cy="950976"/>
          </a:xfrm>
          <a:prstGeom prst="ellipse">
            <a:avLst/>
          </a:prstGeom>
          <a:solidFill>
            <a:srgbClr val="FFFFFF"/>
          </a:solidFill>
          <a:ln/>
        </p:spPr>
      </p:sp>
      <p:sp>
        <p:nvSpPr>
          <p:cNvPr id="11" name="!!s1xH"/>
          <p:cNvSpPr/>
          <p:nvPr/>
        </p:nvSpPr>
        <p:spPr>
          <a:xfrm>
            <a:off x="1444752" y="2496312"/>
            <a:ext cx="950976" cy="950976"/>
          </a:xfrm>
          <a:prstGeom prst="ellipse">
            <a:avLst/>
          </a:prstGeom>
          <a:solidFill>
            <a:srgbClr val="FFFFFF"/>
          </a:solidFill>
          <a:ln/>
        </p:spPr>
      </p:sp>
      <p:sp>
        <p:nvSpPr>
          <p:cNvPr id="12" name="!!s1xO"/>
          <p:cNvSpPr/>
          <p:nvPr/>
        </p:nvSpPr>
        <p:spPr>
          <a:xfrm>
            <a:off x="1373429" y="2424989"/>
            <a:ext cx="1093622" cy="1093622"/>
          </a:xfrm>
          <a:prstGeom prst="ellipse">
            <a:avLst/>
          </a:prstGeom>
          <a:solidFill>
            <a:srgbClr val="CDEBF5"/>
          </a:solidFill>
          <a:ln/>
        </p:spPr>
      </p:sp>
      <p:sp>
        <p:nvSpPr>
          <p:cNvPr id="13" name="!!s1xS"/>
          <p:cNvSpPr/>
          <p:nvPr/>
        </p:nvSpPr>
        <p:spPr>
          <a:xfrm>
            <a:off x="1444752" y="2496312"/>
            <a:ext cx="950976" cy="950976"/>
          </a:xfrm>
          <a:prstGeom prst="ellipse">
            <a:avLst/>
          </a:prstGeom>
          <a:solidFill>
            <a:srgbClr val="F6E7B8"/>
          </a:solidFill>
          <a:ln/>
        </p:spPr>
      </p:sp>
      <p:sp>
        <p:nvSpPr>
          <p:cNvPr id="14" name="!!s1xr"/>
          <p:cNvSpPr txBox="1"/>
          <p:nvPr/>
        </p:nvSpPr>
        <p:spPr>
          <a:xfrm>
            <a:off x="1371600" y="2862072"/>
            <a:ext cx="1097280" cy="219456"/>
          </a:xfrm>
          <a:prstGeom prst="rect">
            <a:avLst/>
          </a:prstGeom>
          <a:noFill/>
          <a:ln/>
        </p:spPr>
        <p:txBody>
          <a:bodyPr wrap="square" lIns="0" tIns="0" rIns="0" bIns="0" rtlCol="0" anchor="t"/>
          <a:lstStyle/>
          <a:p>
            <a:pPr algn="ctr" indent="0" marL="0">
              <a:buNone/>
            </a:pPr>
            <a:r>
              <a:rPr lang="en-US" sz="1000" dirty="0">
                <a:solidFill>
                  <a:srgbClr val="8A6D1F"/>
                </a:solidFill>
                <a:latin typeface="Segoe UI Semibold" pitchFamily="34" charset="0"/>
                <a:ea typeface="Segoe UI Semibold" pitchFamily="34" charset="-122"/>
                <a:cs typeface="Segoe UI Semibold" pitchFamily="34" charset="-120"/>
              </a:rPr>
              <a:t>r = 4 nm</a:t>
            </a:r>
            <a:endParaRPr lang="en-US" sz="1000" dirty="0"/>
          </a:p>
        </p:txBody>
      </p:sp>
      <p:sp>
        <p:nvSpPr>
          <p:cNvPr id="15" name="!!s1zl"/>
          <p:cNvSpPr txBox="1"/>
          <p:nvPr/>
        </p:nvSpPr>
        <p:spPr>
          <a:xfrm>
            <a:off x="3931920" y="1417320"/>
            <a:ext cx="6894576"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side view along the current (z)</a:t>
            </a:r>
            <a:endParaRPr lang="en-US" sz="1100" dirty="0"/>
          </a:p>
        </p:txBody>
      </p:sp>
      <p:sp>
        <p:nvSpPr>
          <p:cNvPr id="16" name="!!s1zO"/>
          <p:cNvSpPr/>
          <p:nvPr/>
        </p:nvSpPr>
        <p:spPr>
          <a:xfrm>
            <a:off x="6547104" y="2424989"/>
            <a:ext cx="1664208" cy="1093622"/>
          </a:xfrm>
          <a:prstGeom prst="rect">
            <a:avLst/>
          </a:prstGeom>
          <a:solidFill>
            <a:srgbClr val="CDEBF5"/>
          </a:solidFill>
          <a:ln/>
        </p:spPr>
      </p:sp>
      <p:sp>
        <p:nvSpPr>
          <p:cNvPr id="17" name="!!s1zS"/>
          <p:cNvSpPr/>
          <p:nvPr/>
        </p:nvSpPr>
        <p:spPr>
          <a:xfrm>
            <a:off x="3931920" y="2496312"/>
            <a:ext cx="6894576" cy="950976"/>
          </a:xfrm>
          <a:prstGeom prst="rect">
            <a:avLst/>
          </a:prstGeom>
          <a:solidFill>
            <a:srgbClr val="F6E7B8"/>
          </a:solidFill>
          <a:ln/>
        </p:spPr>
      </p:sp>
      <p:sp>
        <p:nvSpPr>
          <p:cNvPr id="18" name="!!s1d0"/>
          <p:cNvSpPr txBox="1"/>
          <p:nvPr/>
        </p:nvSpPr>
        <p:spPr>
          <a:xfrm>
            <a:off x="3931920" y="4160520"/>
            <a:ext cx="2020824"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17 nm</a:t>
            </a:r>
            <a:endParaRPr lang="en-US" sz="1000" dirty="0"/>
          </a:p>
        </p:txBody>
      </p:sp>
      <p:sp>
        <p:nvSpPr>
          <p:cNvPr id="19" name="!!s1d1"/>
          <p:cNvSpPr txBox="1"/>
          <p:nvPr/>
        </p:nvSpPr>
        <p:spPr>
          <a:xfrm>
            <a:off x="5952744" y="4160520"/>
            <a:ext cx="5943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5 nm</a:t>
            </a:r>
            <a:endParaRPr lang="en-US" sz="1000" dirty="0"/>
          </a:p>
        </p:txBody>
      </p:sp>
      <p:sp>
        <p:nvSpPr>
          <p:cNvPr id="20" name="!!s1d2"/>
          <p:cNvSpPr txBox="1"/>
          <p:nvPr/>
        </p:nvSpPr>
        <p:spPr>
          <a:xfrm>
            <a:off x="6547104" y="4160520"/>
            <a:ext cx="1664208"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14 nm</a:t>
            </a:r>
            <a:endParaRPr lang="en-US" sz="1000" dirty="0"/>
          </a:p>
        </p:txBody>
      </p:sp>
      <p:sp>
        <p:nvSpPr>
          <p:cNvPr id="21" name="!!s1d3"/>
          <p:cNvSpPr txBox="1"/>
          <p:nvPr/>
        </p:nvSpPr>
        <p:spPr>
          <a:xfrm>
            <a:off x="8211312" y="4160520"/>
            <a:ext cx="5943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5 nm</a:t>
            </a:r>
            <a:endParaRPr lang="en-US" sz="1000" dirty="0"/>
          </a:p>
        </p:txBody>
      </p:sp>
      <p:sp>
        <p:nvSpPr>
          <p:cNvPr id="22" name="!!s1d4"/>
          <p:cNvSpPr txBox="1"/>
          <p:nvPr/>
        </p:nvSpPr>
        <p:spPr>
          <a:xfrm>
            <a:off x="8805672" y="4160520"/>
            <a:ext cx="2020824"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17 nm</a:t>
            </a:r>
            <a:endParaRPr lang="en-US" sz="1000" dirty="0"/>
          </a:p>
        </p:txBody>
      </p:sp>
      <p:sp>
        <p:nvSpPr>
          <p:cNvPr id="23" name="!!s1g0"/>
          <p:cNvSpPr/>
          <p:nvPr/>
        </p:nvSpPr>
        <p:spPr>
          <a:xfrm>
            <a:off x="640080" y="4526280"/>
            <a:ext cx="201168" cy="201168"/>
          </a:xfrm>
          <a:prstGeom prst="rect">
            <a:avLst/>
          </a:prstGeom>
          <a:solidFill>
            <a:srgbClr val="F6E7B8"/>
          </a:solidFill>
          <a:ln/>
        </p:spPr>
      </p:sp>
      <p:sp>
        <p:nvSpPr>
          <p:cNvPr id="24" name="!!s1gt0"/>
          <p:cNvSpPr txBox="1"/>
          <p:nvPr/>
        </p:nvSpPr>
        <p:spPr>
          <a:xfrm>
            <a:off x="914400" y="4498848"/>
            <a:ext cx="1463040" cy="256032"/>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Si channel</a:t>
            </a:r>
            <a:endParaRPr lang="en-US" sz="1100" dirty="0"/>
          </a:p>
        </p:txBody>
      </p:sp>
      <p:sp>
        <p:nvSpPr>
          <p:cNvPr id="25" name="!!s1g1"/>
          <p:cNvSpPr/>
          <p:nvPr/>
        </p:nvSpPr>
        <p:spPr>
          <a:xfrm>
            <a:off x="2468880" y="4526280"/>
            <a:ext cx="201168" cy="201168"/>
          </a:xfrm>
          <a:prstGeom prst="rect">
            <a:avLst/>
          </a:prstGeom>
          <a:solidFill>
            <a:srgbClr val="CDEBF5"/>
          </a:solidFill>
          <a:ln/>
        </p:spPr>
      </p:sp>
      <p:sp>
        <p:nvSpPr>
          <p:cNvPr id="26" name="!!s1gt1"/>
          <p:cNvSpPr txBox="1"/>
          <p:nvPr/>
        </p:nvSpPr>
        <p:spPr>
          <a:xfrm>
            <a:off x="2743200" y="4498848"/>
            <a:ext cx="1463040" cy="256032"/>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SiO2</a:t>
            </a:r>
            <a:endParaRPr lang="en-US" sz="1100" dirty="0"/>
          </a:p>
        </p:txBody>
      </p:sp>
      <p:sp>
        <p:nvSpPr>
          <p:cNvPr id="27" name="!!s1g2"/>
          <p:cNvSpPr/>
          <p:nvPr/>
        </p:nvSpPr>
        <p:spPr>
          <a:xfrm>
            <a:off x="4297680" y="4526280"/>
            <a:ext cx="201168" cy="201168"/>
          </a:xfrm>
          <a:prstGeom prst="rect">
            <a:avLst/>
          </a:prstGeom>
          <a:solidFill>
            <a:srgbClr val="FFFFFF"/>
          </a:solidFill>
          <a:ln w="9525">
            <a:solidFill>
              <a:srgbClr val="E2E3E3"/>
            </a:solidFill>
            <a:prstDash val="solid"/>
          </a:ln>
        </p:spPr>
      </p:sp>
      <p:sp>
        <p:nvSpPr>
          <p:cNvPr id="28" name="!!s1gt2"/>
          <p:cNvSpPr txBox="1"/>
          <p:nvPr/>
        </p:nvSpPr>
        <p:spPr>
          <a:xfrm>
            <a:off x="4572000" y="4498848"/>
            <a:ext cx="1463040" cy="256032"/>
          </a:xfrm>
          <a:prstGeom prst="rect">
            <a:avLst/>
          </a:prstGeom>
          <a:noFill/>
          <a:ln/>
        </p:spPr>
        <p:txBody>
          <a:bodyPr wrap="square" lIns="0" tIns="0" rIns="0" bIns="0" rtlCol="0" anchor="t"/>
          <a:lstStyle/>
          <a:p>
            <a:pPr algn="l" indent="0" marL="0">
              <a:buNone/>
            </a:pPr>
            <a:r>
              <a:rPr lang="en-US" sz="1100" dirty="0">
                <a:solidFill>
                  <a:srgbClr val="C9CCD3"/>
                </a:solidFill>
                <a:latin typeface="Segoe UI" pitchFamily="34" charset="0"/>
                <a:ea typeface="Segoe UI" pitchFamily="34" charset="-122"/>
                <a:cs typeface="Segoe UI" pitchFamily="34" charset="-120"/>
              </a:rPr>
              <a:t>HfO2</a:t>
            </a:r>
            <a:endParaRPr lang="en-US" sz="1100" dirty="0"/>
          </a:p>
        </p:txBody>
      </p:sp>
      <p:sp>
        <p:nvSpPr>
          <p:cNvPr id="29" name="!!s1g3"/>
          <p:cNvSpPr/>
          <p:nvPr/>
        </p:nvSpPr>
        <p:spPr>
          <a:xfrm>
            <a:off x="6126480" y="4526280"/>
            <a:ext cx="201168" cy="201168"/>
          </a:xfrm>
          <a:prstGeom prst="rect">
            <a:avLst/>
          </a:prstGeom>
          <a:solidFill>
            <a:srgbClr val="FFFFFF"/>
          </a:solidFill>
          <a:ln w="9525">
            <a:solidFill>
              <a:srgbClr val="E2E3E3"/>
            </a:solidFill>
            <a:prstDash val="solid"/>
          </a:ln>
        </p:spPr>
      </p:sp>
      <p:sp>
        <p:nvSpPr>
          <p:cNvPr id="30" name="!!s1gt3"/>
          <p:cNvSpPr txBox="1"/>
          <p:nvPr/>
        </p:nvSpPr>
        <p:spPr>
          <a:xfrm>
            <a:off x="6400800" y="4498848"/>
            <a:ext cx="1463040" cy="256032"/>
          </a:xfrm>
          <a:prstGeom prst="rect">
            <a:avLst/>
          </a:prstGeom>
          <a:noFill/>
          <a:ln/>
        </p:spPr>
        <p:txBody>
          <a:bodyPr wrap="square" lIns="0" tIns="0" rIns="0" bIns="0" rtlCol="0" anchor="t"/>
          <a:lstStyle/>
          <a:p>
            <a:pPr algn="l" indent="0" marL="0">
              <a:buNone/>
            </a:pPr>
            <a:r>
              <a:rPr lang="en-US" sz="1100" dirty="0">
                <a:solidFill>
                  <a:srgbClr val="C9CCD3"/>
                </a:solidFill>
                <a:latin typeface="Segoe UI" pitchFamily="34" charset="0"/>
                <a:ea typeface="Segoe UI" pitchFamily="34" charset="-122"/>
                <a:cs typeface="Segoe UI" pitchFamily="34" charset="-120"/>
              </a:rPr>
              <a:t>W gate</a:t>
            </a:r>
            <a:endParaRPr lang="en-US" sz="1100" dirty="0"/>
          </a:p>
        </p:txBody>
      </p:sp>
      <p:sp>
        <p:nvSpPr>
          <p:cNvPr id="31" name="!!s1g4"/>
          <p:cNvSpPr/>
          <p:nvPr/>
        </p:nvSpPr>
        <p:spPr>
          <a:xfrm>
            <a:off x="7955280" y="4526280"/>
            <a:ext cx="201168" cy="201168"/>
          </a:xfrm>
          <a:prstGeom prst="rect">
            <a:avLst/>
          </a:prstGeom>
          <a:solidFill>
            <a:srgbClr val="FFFFFF"/>
          </a:solidFill>
          <a:ln w="9525">
            <a:solidFill>
              <a:srgbClr val="E2E3E3"/>
            </a:solidFill>
            <a:prstDash val="solid"/>
          </a:ln>
        </p:spPr>
      </p:sp>
      <p:sp>
        <p:nvSpPr>
          <p:cNvPr id="32" name="!!s1gt4"/>
          <p:cNvSpPr txBox="1"/>
          <p:nvPr/>
        </p:nvSpPr>
        <p:spPr>
          <a:xfrm>
            <a:off x="8229600" y="4498848"/>
            <a:ext cx="1463040" cy="256032"/>
          </a:xfrm>
          <a:prstGeom prst="rect">
            <a:avLst/>
          </a:prstGeom>
          <a:noFill/>
          <a:ln/>
        </p:spPr>
        <p:txBody>
          <a:bodyPr wrap="square" lIns="0" tIns="0" rIns="0" bIns="0" rtlCol="0" anchor="t"/>
          <a:lstStyle/>
          <a:p>
            <a:pPr algn="l" indent="0" marL="0">
              <a:buNone/>
            </a:pPr>
            <a:r>
              <a:rPr lang="en-US" sz="1100" dirty="0">
                <a:solidFill>
                  <a:srgbClr val="C9CCD3"/>
                </a:solidFill>
                <a:latin typeface="Segoe UI" pitchFamily="34" charset="0"/>
                <a:ea typeface="Segoe UI" pitchFamily="34" charset="-122"/>
                <a:cs typeface="Segoe UI" pitchFamily="34" charset="-120"/>
              </a:rPr>
              <a:t>Si3N4</a:t>
            </a:r>
            <a:endParaRPr lang="en-US" sz="1100" dirty="0"/>
          </a:p>
        </p:txBody>
      </p:sp>
      <p:sp>
        <p:nvSpPr>
          <p:cNvPr id="33" name="!!s1g5"/>
          <p:cNvSpPr/>
          <p:nvPr/>
        </p:nvSpPr>
        <p:spPr>
          <a:xfrm>
            <a:off x="9784080" y="4526280"/>
            <a:ext cx="201168" cy="201168"/>
          </a:xfrm>
          <a:prstGeom prst="rect">
            <a:avLst/>
          </a:prstGeom>
          <a:solidFill>
            <a:srgbClr val="FFFFFF"/>
          </a:solidFill>
          <a:ln w="9525">
            <a:solidFill>
              <a:srgbClr val="E2E3E3"/>
            </a:solidFill>
            <a:prstDash val="solid"/>
          </a:ln>
        </p:spPr>
      </p:sp>
      <p:sp>
        <p:nvSpPr>
          <p:cNvPr id="34" name="!!s1gt5"/>
          <p:cNvSpPr txBox="1"/>
          <p:nvPr/>
        </p:nvSpPr>
        <p:spPr>
          <a:xfrm>
            <a:off x="10058400" y="4498848"/>
            <a:ext cx="1463040" cy="256032"/>
          </a:xfrm>
          <a:prstGeom prst="rect">
            <a:avLst/>
          </a:prstGeom>
          <a:noFill/>
          <a:ln/>
        </p:spPr>
        <p:txBody>
          <a:bodyPr wrap="square" lIns="0" tIns="0" rIns="0" bIns="0" rtlCol="0" anchor="t"/>
          <a:lstStyle/>
          <a:p>
            <a:pPr algn="l" indent="0" marL="0">
              <a:buNone/>
            </a:pPr>
            <a:r>
              <a:rPr lang="en-US" sz="1100" dirty="0">
                <a:solidFill>
                  <a:srgbClr val="C9CCD3"/>
                </a:solidFill>
                <a:latin typeface="Segoe UI" pitchFamily="34" charset="0"/>
                <a:ea typeface="Segoe UI" pitchFamily="34" charset="-122"/>
                <a:cs typeface="Segoe UI" pitchFamily="34" charset="-120"/>
              </a:rPr>
              <a:t>n+ Si</a:t>
            </a:r>
            <a:endParaRPr lang="en-US" sz="1100" dirty="0"/>
          </a:p>
        </p:txBody>
      </p:sp>
      <p:sp>
        <p:nvSpPr>
          <p:cNvPr id="35" name="!!code"/>
          <p:cNvSpPr/>
          <p:nvPr/>
        </p:nvSpPr>
        <p:spPr>
          <a:xfrm>
            <a:off x="548640" y="4892040"/>
            <a:ext cx="11091672" cy="685800"/>
          </a:xfrm>
          <a:prstGeom prst="roundRect">
            <a:avLst>
              <a:gd name="adj" fmla="val 8000"/>
            </a:avLst>
          </a:prstGeom>
          <a:solidFill>
            <a:srgbClr val="171A20"/>
          </a:solidFill>
          <a:ln/>
        </p:spPr>
      </p:sp>
      <p:sp>
        <p:nvSpPr>
          <p:cNvPr id="36" name="!!codet"/>
          <p:cNvSpPr txBox="1"/>
          <p:nvPr/>
        </p:nvSpPr>
        <p:spPr>
          <a:xfrm>
            <a:off x="777240" y="4892040"/>
            <a:ext cx="10698480" cy="685800"/>
          </a:xfrm>
          <a:prstGeom prst="rect">
            <a:avLst/>
          </a:prstGeom>
          <a:noFill/>
          <a:ln/>
        </p:spPr>
        <p:txBody>
          <a:bodyPr wrap="square" lIns="0" tIns="0" rIns="0" bIns="0" rtlCol="0" anchor="ctr"/>
          <a:lstStyle/>
          <a:p>
            <a:pPr algn="l" indent="0" marL="0">
              <a:buNone/>
            </a:pPr>
            <a:r>
              <a:rPr lang="en-US" sz="1200" dirty="0">
                <a:solidFill>
                  <a:srgbClr val="D9F2E3"/>
                </a:solidFill>
                <a:latin typeface="Courier New" pitchFamily="34" charset="0"/>
                <a:ea typeface="Courier New" pitchFamily="34" charset="-122"/>
                <a:cs typeface="Courier New" pitchFamily="34" charset="-120"/>
              </a:rPr>
              <a:t>REGION NUM=2 MATERIAL=oxide R.MIN=0.004 R.MAX=0.0046 Z.MIN=-0.007 Z.MAX=0.007</a:t>
            </a:r>
            <a:endParaRPr lang="en-US" sz="1200" dirty="0"/>
          </a:p>
        </p:txBody>
      </p:sp>
      <p:sp>
        <p:nvSpPr>
          <p:cNvPr id="3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 oxide sits only under the gate.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121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1 – Standard GAAFET, layer by layer</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Step 3: high-κ dielectric · A 1.1 nm HfO2 shell, as in Table I</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s1xl"/>
          <p:cNvSpPr txBox="1"/>
          <p:nvPr/>
        </p:nvSpPr>
        <p:spPr>
          <a:xfrm>
            <a:off x="548640" y="1417320"/>
            <a:ext cx="274320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cross-section at the gate</a:t>
            </a:r>
            <a:endParaRPr lang="en-US" sz="1100" dirty="0"/>
          </a:p>
        </p:txBody>
      </p:sp>
      <p:sp>
        <p:nvSpPr>
          <p:cNvPr id="10" name="!!s1xW"/>
          <p:cNvSpPr/>
          <p:nvPr/>
        </p:nvSpPr>
        <p:spPr>
          <a:xfrm>
            <a:off x="1444752" y="2496312"/>
            <a:ext cx="950976" cy="950976"/>
          </a:xfrm>
          <a:prstGeom prst="ellipse">
            <a:avLst/>
          </a:prstGeom>
          <a:solidFill>
            <a:srgbClr val="FFFFFF"/>
          </a:solidFill>
          <a:ln/>
        </p:spPr>
      </p:sp>
      <p:sp>
        <p:nvSpPr>
          <p:cNvPr id="11" name="!!s1xH"/>
          <p:cNvSpPr/>
          <p:nvPr/>
        </p:nvSpPr>
        <p:spPr>
          <a:xfrm>
            <a:off x="1242670" y="2294230"/>
            <a:ext cx="1355141" cy="1355141"/>
          </a:xfrm>
          <a:prstGeom prst="ellipse">
            <a:avLst/>
          </a:prstGeom>
          <a:solidFill>
            <a:srgbClr val="8FCBE0"/>
          </a:solidFill>
          <a:ln/>
        </p:spPr>
      </p:sp>
      <p:sp>
        <p:nvSpPr>
          <p:cNvPr id="12" name="!!s1xO"/>
          <p:cNvSpPr/>
          <p:nvPr/>
        </p:nvSpPr>
        <p:spPr>
          <a:xfrm>
            <a:off x="1373429" y="2424989"/>
            <a:ext cx="1093622" cy="1093622"/>
          </a:xfrm>
          <a:prstGeom prst="ellipse">
            <a:avLst/>
          </a:prstGeom>
          <a:solidFill>
            <a:srgbClr val="CDEBF5"/>
          </a:solidFill>
          <a:ln/>
        </p:spPr>
      </p:sp>
      <p:sp>
        <p:nvSpPr>
          <p:cNvPr id="13" name="!!s1xS"/>
          <p:cNvSpPr/>
          <p:nvPr/>
        </p:nvSpPr>
        <p:spPr>
          <a:xfrm>
            <a:off x="1444752" y="2496312"/>
            <a:ext cx="950976" cy="950976"/>
          </a:xfrm>
          <a:prstGeom prst="ellipse">
            <a:avLst/>
          </a:prstGeom>
          <a:solidFill>
            <a:srgbClr val="F6E7B8"/>
          </a:solidFill>
          <a:ln/>
        </p:spPr>
      </p:sp>
      <p:sp>
        <p:nvSpPr>
          <p:cNvPr id="14" name="!!s1xr"/>
          <p:cNvSpPr txBox="1"/>
          <p:nvPr/>
        </p:nvSpPr>
        <p:spPr>
          <a:xfrm>
            <a:off x="1371600" y="2862072"/>
            <a:ext cx="1097280" cy="219456"/>
          </a:xfrm>
          <a:prstGeom prst="rect">
            <a:avLst/>
          </a:prstGeom>
          <a:noFill/>
          <a:ln/>
        </p:spPr>
        <p:txBody>
          <a:bodyPr wrap="square" lIns="0" tIns="0" rIns="0" bIns="0" rtlCol="0" anchor="t"/>
          <a:lstStyle/>
          <a:p>
            <a:pPr algn="ctr" indent="0" marL="0">
              <a:buNone/>
            </a:pPr>
            <a:r>
              <a:rPr lang="en-US" sz="1000" dirty="0">
                <a:solidFill>
                  <a:srgbClr val="8A6D1F"/>
                </a:solidFill>
                <a:latin typeface="Segoe UI Semibold" pitchFamily="34" charset="0"/>
                <a:ea typeface="Segoe UI Semibold" pitchFamily="34" charset="-122"/>
                <a:cs typeface="Segoe UI Semibold" pitchFamily="34" charset="-120"/>
              </a:rPr>
              <a:t>r = 4 nm</a:t>
            </a:r>
            <a:endParaRPr lang="en-US" sz="1000" dirty="0"/>
          </a:p>
        </p:txBody>
      </p:sp>
      <p:sp>
        <p:nvSpPr>
          <p:cNvPr id="15" name="!!s1zl"/>
          <p:cNvSpPr txBox="1"/>
          <p:nvPr/>
        </p:nvSpPr>
        <p:spPr>
          <a:xfrm>
            <a:off x="3931920" y="1417320"/>
            <a:ext cx="6894576"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side view along the current (z)</a:t>
            </a:r>
            <a:endParaRPr lang="en-US" sz="1100" dirty="0"/>
          </a:p>
        </p:txBody>
      </p:sp>
      <p:sp>
        <p:nvSpPr>
          <p:cNvPr id="16" name="!!s1zH"/>
          <p:cNvSpPr/>
          <p:nvPr/>
        </p:nvSpPr>
        <p:spPr>
          <a:xfrm>
            <a:off x="6547104" y="2294230"/>
            <a:ext cx="1664208" cy="1355141"/>
          </a:xfrm>
          <a:prstGeom prst="rect">
            <a:avLst/>
          </a:prstGeom>
          <a:solidFill>
            <a:srgbClr val="8FCBE0"/>
          </a:solidFill>
          <a:ln/>
        </p:spPr>
      </p:sp>
      <p:sp>
        <p:nvSpPr>
          <p:cNvPr id="17" name="!!s1zO"/>
          <p:cNvSpPr/>
          <p:nvPr/>
        </p:nvSpPr>
        <p:spPr>
          <a:xfrm>
            <a:off x="6547104" y="2424989"/>
            <a:ext cx="1664208" cy="1093622"/>
          </a:xfrm>
          <a:prstGeom prst="rect">
            <a:avLst/>
          </a:prstGeom>
          <a:solidFill>
            <a:srgbClr val="CDEBF5"/>
          </a:solidFill>
          <a:ln/>
        </p:spPr>
      </p:sp>
      <p:sp>
        <p:nvSpPr>
          <p:cNvPr id="18" name="!!s1zS"/>
          <p:cNvSpPr/>
          <p:nvPr/>
        </p:nvSpPr>
        <p:spPr>
          <a:xfrm>
            <a:off x="3931920" y="2496312"/>
            <a:ext cx="6894576" cy="950976"/>
          </a:xfrm>
          <a:prstGeom prst="rect">
            <a:avLst/>
          </a:prstGeom>
          <a:solidFill>
            <a:srgbClr val="F6E7B8"/>
          </a:solidFill>
          <a:ln/>
        </p:spPr>
      </p:sp>
      <p:sp>
        <p:nvSpPr>
          <p:cNvPr id="19" name="!!s1d0"/>
          <p:cNvSpPr txBox="1"/>
          <p:nvPr/>
        </p:nvSpPr>
        <p:spPr>
          <a:xfrm>
            <a:off x="3931920" y="4160520"/>
            <a:ext cx="2020824"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17 nm</a:t>
            </a:r>
            <a:endParaRPr lang="en-US" sz="1000" dirty="0"/>
          </a:p>
        </p:txBody>
      </p:sp>
      <p:sp>
        <p:nvSpPr>
          <p:cNvPr id="20" name="!!s1d1"/>
          <p:cNvSpPr txBox="1"/>
          <p:nvPr/>
        </p:nvSpPr>
        <p:spPr>
          <a:xfrm>
            <a:off x="5952744" y="4160520"/>
            <a:ext cx="5943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5 nm</a:t>
            </a:r>
            <a:endParaRPr lang="en-US" sz="1000" dirty="0"/>
          </a:p>
        </p:txBody>
      </p:sp>
      <p:sp>
        <p:nvSpPr>
          <p:cNvPr id="21" name="!!s1d2"/>
          <p:cNvSpPr txBox="1"/>
          <p:nvPr/>
        </p:nvSpPr>
        <p:spPr>
          <a:xfrm>
            <a:off x="6547104" y="4160520"/>
            <a:ext cx="1664208"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14 nm</a:t>
            </a:r>
            <a:endParaRPr lang="en-US" sz="1000" dirty="0"/>
          </a:p>
        </p:txBody>
      </p:sp>
      <p:sp>
        <p:nvSpPr>
          <p:cNvPr id="22" name="!!s1d3"/>
          <p:cNvSpPr txBox="1"/>
          <p:nvPr/>
        </p:nvSpPr>
        <p:spPr>
          <a:xfrm>
            <a:off x="8211312" y="4160520"/>
            <a:ext cx="5943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5 nm</a:t>
            </a:r>
            <a:endParaRPr lang="en-US" sz="1000" dirty="0"/>
          </a:p>
        </p:txBody>
      </p:sp>
      <p:sp>
        <p:nvSpPr>
          <p:cNvPr id="23" name="!!s1d4"/>
          <p:cNvSpPr txBox="1"/>
          <p:nvPr/>
        </p:nvSpPr>
        <p:spPr>
          <a:xfrm>
            <a:off x="8805672" y="4160520"/>
            <a:ext cx="2020824"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17 nm</a:t>
            </a:r>
            <a:endParaRPr lang="en-US" sz="1000" dirty="0"/>
          </a:p>
        </p:txBody>
      </p:sp>
      <p:sp>
        <p:nvSpPr>
          <p:cNvPr id="24" name="!!s1g0"/>
          <p:cNvSpPr/>
          <p:nvPr/>
        </p:nvSpPr>
        <p:spPr>
          <a:xfrm>
            <a:off x="640080" y="4526280"/>
            <a:ext cx="201168" cy="201168"/>
          </a:xfrm>
          <a:prstGeom prst="rect">
            <a:avLst/>
          </a:prstGeom>
          <a:solidFill>
            <a:srgbClr val="F6E7B8"/>
          </a:solidFill>
          <a:ln/>
        </p:spPr>
      </p:sp>
      <p:sp>
        <p:nvSpPr>
          <p:cNvPr id="25" name="!!s1gt0"/>
          <p:cNvSpPr txBox="1"/>
          <p:nvPr/>
        </p:nvSpPr>
        <p:spPr>
          <a:xfrm>
            <a:off x="914400" y="4498848"/>
            <a:ext cx="1463040" cy="256032"/>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Si channel</a:t>
            </a:r>
            <a:endParaRPr lang="en-US" sz="1100" dirty="0"/>
          </a:p>
        </p:txBody>
      </p:sp>
      <p:sp>
        <p:nvSpPr>
          <p:cNvPr id="26" name="!!s1g1"/>
          <p:cNvSpPr/>
          <p:nvPr/>
        </p:nvSpPr>
        <p:spPr>
          <a:xfrm>
            <a:off x="2468880" y="4526280"/>
            <a:ext cx="201168" cy="201168"/>
          </a:xfrm>
          <a:prstGeom prst="rect">
            <a:avLst/>
          </a:prstGeom>
          <a:solidFill>
            <a:srgbClr val="CDEBF5"/>
          </a:solidFill>
          <a:ln/>
        </p:spPr>
      </p:sp>
      <p:sp>
        <p:nvSpPr>
          <p:cNvPr id="27" name="!!s1gt1"/>
          <p:cNvSpPr txBox="1"/>
          <p:nvPr/>
        </p:nvSpPr>
        <p:spPr>
          <a:xfrm>
            <a:off x="2743200" y="4498848"/>
            <a:ext cx="1463040" cy="256032"/>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SiO2</a:t>
            </a:r>
            <a:endParaRPr lang="en-US" sz="1100" dirty="0"/>
          </a:p>
        </p:txBody>
      </p:sp>
      <p:sp>
        <p:nvSpPr>
          <p:cNvPr id="28" name="!!s1g2"/>
          <p:cNvSpPr/>
          <p:nvPr/>
        </p:nvSpPr>
        <p:spPr>
          <a:xfrm>
            <a:off x="4297680" y="4526280"/>
            <a:ext cx="201168" cy="201168"/>
          </a:xfrm>
          <a:prstGeom prst="rect">
            <a:avLst/>
          </a:prstGeom>
          <a:solidFill>
            <a:srgbClr val="8FCBE0"/>
          </a:solidFill>
          <a:ln/>
        </p:spPr>
      </p:sp>
      <p:sp>
        <p:nvSpPr>
          <p:cNvPr id="29" name="!!s1gt2"/>
          <p:cNvSpPr txBox="1"/>
          <p:nvPr/>
        </p:nvSpPr>
        <p:spPr>
          <a:xfrm>
            <a:off x="4572000" y="4498848"/>
            <a:ext cx="1463040" cy="256032"/>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HfO2</a:t>
            </a:r>
            <a:endParaRPr lang="en-US" sz="1100" dirty="0"/>
          </a:p>
        </p:txBody>
      </p:sp>
      <p:sp>
        <p:nvSpPr>
          <p:cNvPr id="30" name="!!s1g3"/>
          <p:cNvSpPr/>
          <p:nvPr/>
        </p:nvSpPr>
        <p:spPr>
          <a:xfrm>
            <a:off x="6126480" y="4526280"/>
            <a:ext cx="201168" cy="201168"/>
          </a:xfrm>
          <a:prstGeom prst="rect">
            <a:avLst/>
          </a:prstGeom>
          <a:solidFill>
            <a:srgbClr val="FFFFFF"/>
          </a:solidFill>
          <a:ln w="9525">
            <a:solidFill>
              <a:srgbClr val="E2E3E3"/>
            </a:solidFill>
            <a:prstDash val="solid"/>
          </a:ln>
        </p:spPr>
      </p:sp>
      <p:sp>
        <p:nvSpPr>
          <p:cNvPr id="31" name="!!s1gt3"/>
          <p:cNvSpPr txBox="1"/>
          <p:nvPr/>
        </p:nvSpPr>
        <p:spPr>
          <a:xfrm>
            <a:off x="6400800" y="4498848"/>
            <a:ext cx="1463040" cy="256032"/>
          </a:xfrm>
          <a:prstGeom prst="rect">
            <a:avLst/>
          </a:prstGeom>
          <a:noFill/>
          <a:ln/>
        </p:spPr>
        <p:txBody>
          <a:bodyPr wrap="square" lIns="0" tIns="0" rIns="0" bIns="0" rtlCol="0" anchor="t"/>
          <a:lstStyle/>
          <a:p>
            <a:pPr algn="l" indent="0" marL="0">
              <a:buNone/>
            </a:pPr>
            <a:r>
              <a:rPr lang="en-US" sz="1100" dirty="0">
                <a:solidFill>
                  <a:srgbClr val="C9CCD3"/>
                </a:solidFill>
                <a:latin typeface="Segoe UI" pitchFamily="34" charset="0"/>
                <a:ea typeface="Segoe UI" pitchFamily="34" charset="-122"/>
                <a:cs typeface="Segoe UI" pitchFamily="34" charset="-120"/>
              </a:rPr>
              <a:t>W gate</a:t>
            </a:r>
            <a:endParaRPr lang="en-US" sz="1100" dirty="0"/>
          </a:p>
        </p:txBody>
      </p:sp>
      <p:sp>
        <p:nvSpPr>
          <p:cNvPr id="32" name="!!s1g4"/>
          <p:cNvSpPr/>
          <p:nvPr/>
        </p:nvSpPr>
        <p:spPr>
          <a:xfrm>
            <a:off x="7955280" y="4526280"/>
            <a:ext cx="201168" cy="201168"/>
          </a:xfrm>
          <a:prstGeom prst="rect">
            <a:avLst/>
          </a:prstGeom>
          <a:solidFill>
            <a:srgbClr val="FFFFFF"/>
          </a:solidFill>
          <a:ln w="9525">
            <a:solidFill>
              <a:srgbClr val="E2E3E3"/>
            </a:solidFill>
            <a:prstDash val="solid"/>
          </a:ln>
        </p:spPr>
      </p:sp>
      <p:sp>
        <p:nvSpPr>
          <p:cNvPr id="33" name="!!s1gt4"/>
          <p:cNvSpPr txBox="1"/>
          <p:nvPr/>
        </p:nvSpPr>
        <p:spPr>
          <a:xfrm>
            <a:off x="8229600" y="4498848"/>
            <a:ext cx="1463040" cy="256032"/>
          </a:xfrm>
          <a:prstGeom prst="rect">
            <a:avLst/>
          </a:prstGeom>
          <a:noFill/>
          <a:ln/>
        </p:spPr>
        <p:txBody>
          <a:bodyPr wrap="square" lIns="0" tIns="0" rIns="0" bIns="0" rtlCol="0" anchor="t"/>
          <a:lstStyle/>
          <a:p>
            <a:pPr algn="l" indent="0" marL="0">
              <a:buNone/>
            </a:pPr>
            <a:r>
              <a:rPr lang="en-US" sz="1100" dirty="0">
                <a:solidFill>
                  <a:srgbClr val="C9CCD3"/>
                </a:solidFill>
                <a:latin typeface="Segoe UI" pitchFamily="34" charset="0"/>
                <a:ea typeface="Segoe UI" pitchFamily="34" charset="-122"/>
                <a:cs typeface="Segoe UI" pitchFamily="34" charset="-120"/>
              </a:rPr>
              <a:t>Si3N4</a:t>
            </a:r>
            <a:endParaRPr lang="en-US" sz="1100" dirty="0"/>
          </a:p>
        </p:txBody>
      </p:sp>
      <p:sp>
        <p:nvSpPr>
          <p:cNvPr id="34" name="!!s1g5"/>
          <p:cNvSpPr/>
          <p:nvPr/>
        </p:nvSpPr>
        <p:spPr>
          <a:xfrm>
            <a:off x="9784080" y="4526280"/>
            <a:ext cx="201168" cy="201168"/>
          </a:xfrm>
          <a:prstGeom prst="rect">
            <a:avLst/>
          </a:prstGeom>
          <a:solidFill>
            <a:srgbClr val="FFFFFF"/>
          </a:solidFill>
          <a:ln w="9525">
            <a:solidFill>
              <a:srgbClr val="E2E3E3"/>
            </a:solidFill>
            <a:prstDash val="solid"/>
          </a:ln>
        </p:spPr>
      </p:sp>
      <p:sp>
        <p:nvSpPr>
          <p:cNvPr id="35" name="!!s1gt5"/>
          <p:cNvSpPr txBox="1"/>
          <p:nvPr/>
        </p:nvSpPr>
        <p:spPr>
          <a:xfrm>
            <a:off x="10058400" y="4498848"/>
            <a:ext cx="1463040" cy="256032"/>
          </a:xfrm>
          <a:prstGeom prst="rect">
            <a:avLst/>
          </a:prstGeom>
          <a:noFill/>
          <a:ln/>
        </p:spPr>
        <p:txBody>
          <a:bodyPr wrap="square" lIns="0" tIns="0" rIns="0" bIns="0" rtlCol="0" anchor="t"/>
          <a:lstStyle/>
          <a:p>
            <a:pPr algn="l" indent="0" marL="0">
              <a:buNone/>
            </a:pPr>
            <a:r>
              <a:rPr lang="en-US" sz="1100" dirty="0">
                <a:solidFill>
                  <a:srgbClr val="C9CCD3"/>
                </a:solidFill>
                <a:latin typeface="Segoe UI" pitchFamily="34" charset="0"/>
                <a:ea typeface="Segoe UI" pitchFamily="34" charset="-122"/>
                <a:cs typeface="Segoe UI" pitchFamily="34" charset="-120"/>
              </a:rPr>
              <a:t>n+ Si</a:t>
            </a:r>
            <a:endParaRPr lang="en-US" sz="1100" dirty="0"/>
          </a:p>
        </p:txBody>
      </p:sp>
      <p:sp>
        <p:nvSpPr>
          <p:cNvPr id="36" name="!!code"/>
          <p:cNvSpPr/>
          <p:nvPr/>
        </p:nvSpPr>
        <p:spPr>
          <a:xfrm>
            <a:off x="548640" y="4892040"/>
            <a:ext cx="11091672" cy="685800"/>
          </a:xfrm>
          <a:prstGeom prst="roundRect">
            <a:avLst>
              <a:gd name="adj" fmla="val 8000"/>
            </a:avLst>
          </a:prstGeom>
          <a:solidFill>
            <a:srgbClr val="171A20"/>
          </a:solidFill>
          <a:ln/>
        </p:spPr>
      </p:sp>
      <p:sp>
        <p:nvSpPr>
          <p:cNvPr id="37" name="!!codet"/>
          <p:cNvSpPr txBox="1"/>
          <p:nvPr/>
        </p:nvSpPr>
        <p:spPr>
          <a:xfrm>
            <a:off x="777240" y="4892040"/>
            <a:ext cx="10698480" cy="685800"/>
          </a:xfrm>
          <a:prstGeom prst="rect">
            <a:avLst/>
          </a:prstGeom>
          <a:noFill/>
          <a:ln/>
        </p:spPr>
        <p:txBody>
          <a:bodyPr wrap="square" lIns="0" tIns="0" rIns="0" bIns="0" rtlCol="0" anchor="ctr"/>
          <a:lstStyle/>
          <a:p>
            <a:pPr algn="l" indent="0" marL="0">
              <a:buNone/>
            </a:pPr>
            <a:r>
              <a:rPr lang="en-US" sz="1200" dirty="0">
                <a:solidFill>
                  <a:srgbClr val="D9F2E3"/>
                </a:solidFill>
                <a:latin typeface="Courier New" pitchFamily="34" charset="0"/>
                <a:ea typeface="Courier New" pitchFamily="34" charset="-122"/>
                <a:cs typeface="Courier New" pitchFamily="34" charset="-120"/>
              </a:rPr>
              <a:t>REGION NUM=3 MATERIAL=HfO2 R.MIN=0.0046 R.MAX=0.0057 Z.MIN=-0.007 Z.MAX=0.007</a:t>
            </a:r>
            <a:endParaRPr lang="en-US" sz="1200" dirty="0"/>
          </a:p>
        </p:txBody>
      </p:sp>
      <p:sp>
        <p:nvSpPr>
          <p:cNvPr id="38"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High-κ for gate control; low κ for heat.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122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1 – Standard GAAFET, layer by layer</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Step 4: gate and spacers · A 3 nm tungsten gate, Si3N4 spacers, oxide over S/D</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171A20"/>
          </a:solidFill>
          <a:ln/>
        </p:spPr>
      </p:sp>
      <p:sp>
        <p:nvSpPr>
          <p:cNvPr id="8" name="!!sdot4"/>
          <p:cNvSpPr/>
          <p:nvPr/>
        </p:nvSpPr>
        <p:spPr>
          <a:xfrm>
            <a:off x="11599164" y="525780"/>
            <a:ext cx="82296" cy="82296"/>
          </a:xfrm>
          <a:prstGeom prst="ellipse">
            <a:avLst/>
          </a:prstGeom>
          <a:solidFill>
            <a:srgbClr val="E2E3E3"/>
          </a:solidFill>
          <a:ln/>
        </p:spPr>
      </p:sp>
      <p:sp>
        <p:nvSpPr>
          <p:cNvPr id="9" name="!!s1xl"/>
          <p:cNvSpPr txBox="1"/>
          <p:nvPr/>
        </p:nvSpPr>
        <p:spPr>
          <a:xfrm>
            <a:off x="548640" y="1417320"/>
            <a:ext cx="274320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cross-section at the gate</a:t>
            </a:r>
            <a:endParaRPr lang="en-US" sz="1100" dirty="0"/>
          </a:p>
        </p:txBody>
      </p:sp>
      <p:sp>
        <p:nvSpPr>
          <p:cNvPr id="10" name="!!s1xW"/>
          <p:cNvSpPr/>
          <p:nvPr/>
        </p:nvSpPr>
        <p:spPr>
          <a:xfrm>
            <a:off x="886054" y="1937614"/>
            <a:ext cx="2068373" cy="2068373"/>
          </a:xfrm>
          <a:prstGeom prst="ellipse">
            <a:avLst/>
          </a:prstGeom>
          <a:solidFill>
            <a:srgbClr val="9AA0AA"/>
          </a:solidFill>
          <a:ln/>
        </p:spPr>
      </p:sp>
      <p:sp>
        <p:nvSpPr>
          <p:cNvPr id="11" name="!!s1xH"/>
          <p:cNvSpPr/>
          <p:nvPr/>
        </p:nvSpPr>
        <p:spPr>
          <a:xfrm>
            <a:off x="1242670" y="2294230"/>
            <a:ext cx="1355141" cy="1355141"/>
          </a:xfrm>
          <a:prstGeom prst="ellipse">
            <a:avLst/>
          </a:prstGeom>
          <a:solidFill>
            <a:srgbClr val="8FCBE0"/>
          </a:solidFill>
          <a:ln/>
        </p:spPr>
      </p:sp>
      <p:sp>
        <p:nvSpPr>
          <p:cNvPr id="12" name="!!s1xO"/>
          <p:cNvSpPr/>
          <p:nvPr/>
        </p:nvSpPr>
        <p:spPr>
          <a:xfrm>
            <a:off x="1373429" y="2424989"/>
            <a:ext cx="1093622" cy="1093622"/>
          </a:xfrm>
          <a:prstGeom prst="ellipse">
            <a:avLst/>
          </a:prstGeom>
          <a:solidFill>
            <a:srgbClr val="CDEBF5"/>
          </a:solidFill>
          <a:ln/>
        </p:spPr>
      </p:sp>
      <p:sp>
        <p:nvSpPr>
          <p:cNvPr id="13" name="!!s1xS"/>
          <p:cNvSpPr/>
          <p:nvPr/>
        </p:nvSpPr>
        <p:spPr>
          <a:xfrm>
            <a:off x="1444752" y="2496312"/>
            <a:ext cx="950976" cy="950976"/>
          </a:xfrm>
          <a:prstGeom prst="ellipse">
            <a:avLst/>
          </a:prstGeom>
          <a:solidFill>
            <a:srgbClr val="F6E7B8"/>
          </a:solidFill>
          <a:ln/>
        </p:spPr>
      </p:sp>
      <p:sp>
        <p:nvSpPr>
          <p:cNvPr id="14" name="!!s1xr"/>
          <p:cNvSpPr txBox="1"/>
          <p:nvPr/>
        </p:nvSpPr>
        <p:spPr>
          <a:xfrm>
            <a:off x="1371600" y="2862072"/>
            <a:ext cx="1097280" cy="219456"/>
          </a:xfrm>
          <a:prstGeom prst="rect">
            <a:avLst/>
          </a:prstGeom>
          <a:noFill/>
          <a:ln/>
        </p:spPr>
        <p:txBody>
          <a:bodyPr wrap="square" lIns="0" tIns="0" rIns="0" bIns="0" rtlCol="0" anchor="t"/>
          <a:lstStyle/>
          <a:p>
            <a:pPr algn="ctr" indent="0" marL="0">
              <a:buNone/>
            </a:pPr>
            <a:r>
              <a:rPr lang="en-US" sz="1000" dirty="0">
                <a:solidFill>
                  <a:srgbClr val="8A6D1F"/>
                </a:solidFill>
                <a:latin typeface="Segoe UI Semibold" pitchFamily="34" charset="0"/>
                <a:ea typeface="Segoe UI Semibold" pitchFamily="34" charset="-122"/>
                <a:cs typeface="Segoe UI Semibold" pitchFamily="34" charset="-120"/>
              </a:rPr>
              <a:t>r = 4 nm</a:t>
            </a:r>
            <a:endParaRPr lang="en-US" sz="1000" dirty="0"/>
          </a:p>
        </p:txBody>
      </p:sp>
      <p:sp>
        <p:nvSpPr>
          <p:cNvPr id="15" name="!!s1zl"/>
          <p:cNvSpPr txBox="1"/>
          <p:nvPr/>
        </p:nvSpPr>
        <p:spPr>
          <a:xfrm>
            <a:off x="3931920" y="1417320"/>
            <a:ext cx="6894576"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side view along the current (z)</a:t>
            </a:r>
            <a:endParaRPr lang="en-US" sz="1100" dirty="0"/>
          </a:p>
        </p:txBody>
      </p:sp>
      <p:sp>
        <p:nvSpPr>
          <p:cNvPr id="16" name="!!s1zW"/>
          <p:cNvSpPr/>
          <p:nvPr/>
        </p:nvSpPr>
        <p:spPr>
          <a:xfrm>
            <a:off x="6547104" y="1937614"/>
            <a:ext cx="1664208" cy="2068373"/>
          </a:xfrm>
          <a:prstGeom prst="rect">
            <a:avLst/>
          </a:prstGeom>
          <a:solidFill>
            <a:srgbClr val="9AA0AA"/>
          </a:solidFill>
          <a:ln/>
        </p:spPr>
      </p:sp>
      <p:sp>
        <p:nvSpPr>
          <p:cNvPr id="17" name="!!s1zN1"/>
          <p:cNvSpPr/>
          <p:nvPr/>
        </p:nvSpPr>
        <p:spPr>
          <a:xfrm>
            <a:off x="5952744" y="1937614"/>
            <a:ext cx="594360" cy="2068373"/>
          </a:xfrm>
          <a:prstGeom prst="rect">
            <a:avLst/>
          </a:prstGeom>
          <a:solidFill>
            <a:srgbClr val="D9DCE3"/>
          </a:solidFill>
          <a:ln/>
        </p:spPr>
      </p:sp>
      <p:sp>
        <p:nvSpPr>
          <p:cNvPr id="18" name="!!s1zN2"/>
          <p:cNvSpPr/>
          <p:nvPr/>
        </p:nvSpPr>
        <p:spPr>
          <a:xfrm>
            <a:off x="8211312" y="1937614"/>
            <a:ext cx="594360" cy="2068373"/>
          </a:xfrm>
          <a:prstGeom prst="rect">
            <a:avLst/>
          </a:prstGeom>
          <a:solidFill>
            <a:srgbClr val="D9DCE3"/>
          </a:solidFill>
          <a:ln/>
        </p:spPr>
      </p:sp>
      <p:sp>
        <p:nvSpPr>
          <p:cNvPr id="19" name="!!s1zH"/>
          <p:cNvSpPr/>
          <p:nvPr/>
        </p:nvSpPr>
        <p:spPr>
          <a:xfrm>
            <a:off x="6547104" y="2294230"/>
            <a:ext cx="1664208" cy="1355141"/>
          </a:xfrm>
          <a:prstGeom prst="rect">
            <a:avLst/>
          </a:prstGeom>
          <a:solidFill>
            <a:srgbClr val="8FCBE0"/>
          </a:solidFill>
          <a:ln/>
        </p:spPr>
      </p:sp>
      <p:sp>
        <p:nvSpPr>
          <p:cNvPr id="20" name="!!s1zO"/>
          <p:cNvSpPr/>
          <p:nvPr/>
        </p:nvSpPr>
        <p:spPr>
          <a:xfrm>
            <a:off x="6547104" y="2424989"/>
            <a:ext cx="1664208" cy="1093622"/>
          </a:xfrm>
          <a:prstGeom prst="rect">
            <a:avLst/>
          </a:prstGeom>
          <a:solidFill>
            <a:srgbClr val="CDEBF5"/>
          </a:solidFill>
          <a:ln/>
        </p:spPr>
      </p:sp>
      <p:sp>
        <p:nvSpPr>
          <p:cNvPr id="21" name="!!s1zS"/>
          <p:cNvSpPr/>
          <p:nvPr/>
        </p:nvSpPr>
        <p:spPr>
          <a:xfrm>
            <a:off x="3931920" y="2496312"/>
            <a:ext cx="6894576" cy="950976"/>
          </a:xfrm>
          <a:prstGeom prst="rect">
            <a:avLst/>
          </a:prstGeom>
          <a:solidFill>
            <a:srgbClr val="F6E7B8"/>
          </a:solidFill>
          <a:ln/>
        </p:spPr>
      </p:sp>
      <p:sp>
        <p:nvSpPr>
          <p:cNvPr id="22" name="!!s1d0"/>
          <p:cNvSpPr txBox="1"/>
          <p:nvPr/>
        </p:nvSpPr>
        <p:spPr>
          <a:xfrm>
            <a:off x="3931920" y="4160520"/>
            <a:ext cx="2020824"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17 nm</a:t>
            </a:r>
            <a:endParaRPr lang="en-US" sz="1000" dirty="0"/>
          </a:p>
        </p:txBody>
      </p:sp>
      <p:sp>
        <p:nvSpPr>
          <p:cNvPr id="23" name="!!s1d1"/>
          <p:cNvSpPr txBox="1"/>
          <p:nvPr/>
        </p:nvSpPr>
        <p:spPr>
          <a:xfrm>
            <a:off x="5952744" y="4160520"/>
            <a:ext cx="5943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5 nm</a:t>
            </a:r>
            <a:endParaRPr lang="en-US" sz="1000" dirty="0"/>
          </a:p>
        </p:txBody>
      </p:sp>
      <p:sp>
        <p:nvSpPr>
          <p:cNvPr id="24" name="!!s1d2"/>
          <p:cNvSpPr txBox="1"/>
          <p:nvPr/>
        </p:nvSpPr>
        <p:spPr>
          <a:xfrm>
            <a:off x="6547104" y="4160520"/>
            <a:ext cx="1664208"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14 nm</a:t>
            </a:r>
            <a:endParaRPr lang="en-US" sz="1000" dirty="0"/>
          </a:p>
        </p:txBody>
      </p:sp>
      <p:sp>
        <p:nvSpPr>
          <p:cNvPr id="25" name="!!s1d3"/>
          <p:cNvSpPr txBox="1"/>
          <p:nvPr/>
        </p:nvSpPr>
        <p:spPr>
          <a:xfrm>
            <a:off x="8211312" y="4160520"/>
            <a:ext cx="5943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5 nm</a:t>
            </a:r>
            <a:endParaRPr lang="en-US" sz="1000" dirty="0"/>
          </a:p>
        </p:txBody>
      </p:sp>
      <p:sp>
        <p:nvSpPr>
          <p:cNvPr id="26" name="!!s1d4"/>
          <p:cNvSpPr txBox="1"/>
          <p:nvPr/>
        </p:nvSpPr>
        <p:spPr>
          <a:xfrm>
            <a:off x="8805672" y="4160520"/>
            <a:ext cx="2020824"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17 nm</a:t>
            </a:r>
            <a:endParaRPr lang="en-US" sz="1000" dirty="0"/>
          </a:p>
        </p:txBody>
      </p:sp>
      <p:sp>
        <p:nvSpPr>
          <p:cNvPr id="27" name="!!s1g0"/>
          <p:cNvSpPr/>
          <p:nvPr/>
        </p:nvSpPr>
        <p:spPr>
          <a:xfrm>
            <a:off x="640080" y="4526280"/>
            <a:ext cx="201168" cy="201168"/>
          </a:xfrm>
          <a:prstGeom prst="rect">
            <a:avLst/>
          </a:prstGeom>
          <a:solidFill>
            <a:srgbClr val="F6E7B8"/>
          </a:solidFill>
          <a:ln/>
        </p:spPr>
      </p:sp>
      <p:sp>
        <p:nvSpPr>
          <p:cNvPr id="28" name="!!s1gt0"/>
          <p:cNvSpPr txBox="1"/>
          <p:nvPr/>
        </p:nvSpPr>
        <p:spPr>
          <a:xfrm>
            <a:off x="914400" y="4498848"/>
            <a:ext cx="1463040" cy="256032"/>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Si channel</a:t>
            </a:r>
            <a:endParaRPr lang="en-US" sz="1100" dirty="0"/>
          </a:p>
        </p:txBody>
      </p:sp>
      <p:sp>
        <p:nvSpPr>
          <p:cNvPr id="29" name="!!s1g1"/>
          <p:cNvSpPr/>
          <p:nvPr/>
        </p:nvSpPr>
        <p:spPr>
          <a:xfrm>
            <a:off x="2468880" y="4526280"/>
            <a:ext cx="201168" cy="201168"/>
          </a:xfrm>
          <a:prstGeom prst="rect">
            <a:avLst/>
          </a:prstGeom>
          <a:solidFill>
            <a:srgbClr val="CDEBF5"/>
          </a:solidFill>
          <a:ln/>
        </p:spPr>
      </p:sp>
      <p:sp>
        <p:nvSpPr>
          <p:cNvPr id="30" name="!!s1gt1"/>
          <p:cNvSpPr txBox="1"/>
          <p:nvPr/>
        </p:nvSpPr>
        <p:spPr>
          <a:xfrm>
            <a:off x="2743200" y="4498848"/>
            <a:ext cx="1463040" cy="256032"/>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SiO2</a:t>
            </a:r>
            <a:endParaRPr lang="en-US" sz="1100" dirty="0"/>
          </a:p>
        </p:txBody>
      </p:sp>
      <p:sp>
        <p:nvSpPr>
          <p:cNvPr id="31" name="!!s1g2"/>
          <p:cNvSpPr/>
          <p:nvPr/>
        </p:nvSpPr>
        <p:spPr>
          <a:xfrm>
            <a:off x="4297680" y="4526280"/>
            <a:ext cx="201168" cy="201168"/>
          </a:xfrm>
          <a:prstGeom prst="rect">
            <a:avLst/>
          </a:prstGeom>
          <a:solidFill>
            <a:srgbClr val="8FCBE0"/>
          </a:solidFill>
          <a:ln/>
        </p:spPr>
      </p:sp>
      <p:sp>
        <p:nvSpPr>
          <p:cNvPr id="32" name="!!s1gt2"/>
          <p:cNvSpPr txBox="1"/>
          <p:nvPr/>
        </p:nvSpPr>
        <p:spPr>
          <a:xfrm>
            <a:off x="4572000" y="4498848"/>
            <a:ext cx="1463040" cy="256032"/>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HfO2</a:t>
            </a:r>
            <a:endParaRPr lang="en-US" sz="1100" dirty="0"/>
          </a:p>
        </p:txBody>
      </p:sp>
      <p:sp>
        <p:nvSpPr>
          <p:cNvPr id="33" name="!!s1g3"/>
          <p:cNvSpPr/>
          <p:nvPr/>
        </p:nvSpPr>
        <p:spPr>
          <a:xfrm>
            <a:off x="6126480" y="4526280"/>
            <a:ext cx="201168" cy="201168"/>
          </a:xfrm>
          <a:prstGeom prst="rect">
            <a:avLst/>
          </a:prstGeom>
          <a:solidFill>
            <a:srgbClr val="9AA0AA"/>
          </a:solidFill>
          <a:ln/>
        </p:spPr>
      </p:sp>
      <p:sp>
        <p:nvSpPr>
          <p:cNvPr id="34" name="!!s1gt3"/>
          <p:cNvSpPr txBox="1"/>
          <p:nvPr/>
        </p:nvSpPr>
        <p:spPr>
          <a:xfrm>
            <a:off x="6400800" y="4498848"/>
            <a:ext cx="1463040" cy="256032"/>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W gate</a:t>
            </a:r>
            <a:endParaRPr lang="en-US" sz="1100" dirty="0"/>
          </a:p>
        </p:txBody>
      </p:sp>
      <p:sp>
        <p:nvSpPr>
          <p:cNvPr id="35" name="!!s1g4"/>
          <p:cNvSpPr/>
          <p:nvPr/>
        </p:nvSpPr>
        <p:spPr>
          <a:xfrm>
            <a:off x="7955280" y="4526280"/>
            <a:ext cx="201168" cy="201168"/>
          </a:xfrm>
          <a:prstGeom prst="rect">
            <a:avLst/>
          </a:prstGeom>
          <a:solidFill>
            <a:srgbClr val="D9DCE3"/>
          </a:solidFill>
          <a:ln/>
        </p:spPr>
      </p:sp>
      <p:sp>
        <p:nvSpPr>
          <p:cNvPr id="36" name="!!s1gt4"/>
          <p:cNvSpPr txBox="1"/>
          <p:nvPr/>
        </p:nvSpPr>
        <p:spPr>
          <a:xfrm>
            <a:off x="8229600" y="4498848"/>
            <a:ext cx="1463040" cy="256032"/>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Si3N4</a:t>
            </a:r>
            <a:endParaRPr lang="en-US" sz="1100" dirty="0"/>
          </a:p>
        </p:txBody>
      </p:sp>
      <p:sp>
        <p:nvSpPr>
          <p:cNvPr id="37" name="!!s1g5"/>
          <p:cNvSpPr/>
          <p:nvPr/>
        </p:nvSpPr>
        <p:spPr>
          <a:xfrm>
            <a:off x="9784080" y="4526280"/>
            <a:ext cx="201168" cy="201168"/>
          </a:xfrm>
          <a:prstGeom prst="rect">
            <a:avLst/>
          </a:prstGeom>
          <a:solidFill>
            <a:srgbClr val="FFFFFF"/>
          </a:solidFill>
          <a:ln w="9525">
            <a:solidFill>
              <a:srgbClr val="E2E3E3"/>
            </a:solidFill>
            <a:prstDash val="solid"/>
          </a:ln>
        </p:spPr>
      </p:sp>
      <p:sp>
        <p:nvSpPr>
          <p:cNvPr id="38" name="!!s1gt5"/>
          <p:cNvSpPr txBox="1"/>
          <p:nvPr/>
        </p:nvSpPr>
        <p:spPr>
          <a:xfrm>
            <a:off x="10058400" y="4498848"/>
            <a:ext cx="1463040" cy="256032"/>
          </a:xfrm>
          <a:prstGeom prst="rect">
            <a:avLst/>
          </a:prstGeom>
          <a:noFill/>
          <a:ln/>
        </p:spPr>
        <p:txBody>
          <a:bodyPr wrap="square" lIns="0" tIns="0" rIns="0" bIns="0" rtlCol="0" anchor="t"/>
          <a:lstStyle/>
          <a:p>
            <a:pPr algn="l" indent="0" marL="0">
              <a:buNone/>
            </a:pPr>
            <a:r>
              <a:rPr lang="en-US" sz="1100" dirty="0">
                <a:solidFill>
                  <a:srgbClr val="C9CCD3"/>
                </a:solidFill>
                <a:latin typeface="Segoe UI" pitchFamily="34" charset="0"/>
                <a:ea typeface="Segoe UI" pitchFamily="34" charset="-122"/>
                <a:cs typeface="Segoe UI" pitchFamily="34" charset="-120"/>
              </a:rPr>
              <a:t>n+ Si</a:t>
            </a:r>
            <a:endParaRPr lang="en-US" sz="1100" dirty="0"/>
          </a:p>
        </p:txBody>
      </p:sp>
      <p:sp>
        <p:nvSpPr>
          <p:cNvPr id="39" name="!!code"/>
          <p:cNvSpPr/>
          <p:nvPr/>
        </p:nvSpPr>
        <p:spPr>
          <a:xfrm>
            <a:off x="548640" y="4892040"/>
            <a:ext cx="11091672" cy="685800"/>
          </a:xfrm>
          <a:prstGeom prst="roundRect">
            <a:avLst>
              <a:gd name="adj" fmla="val 8000"/>
            </a:avLst>
          </a:prstGeom>
          <a:solidFill>
            <a:srgbClr val="171A20"/>
          </a:solidFill>
          <a:ln/>
        </p:spPr>
      </p:sp>
      <p:sp>
        <p:nvSpPr>
          <p:cNvPr id="40" name="!!codet"/>
          <p:cNvSpPr txBox="1"/>
          <p:nvPr/>
        </p:nvSpPr>
        <p:spPr>
          <a:xfrm>
            <a:off x="777240" y="4892040"/>
            <a:ext cx="10698480" cy="685800"/>
          </a:xfrm>
          <a:prstGeom prst="rect">
            <a:avLst/>
          </a:prstGeom>
          <a:noFill/>
          <a:ln/>
        </p:spPr>
        <p:txBody>
          <a:bodyPr wrap="square" lIns="0" tIns="0" rIns="0" bIns="0" rtlCol="0" anchor="ctr"/>
          <a:lstStyle/>
          <a:p>
            <a:pPr algn="l" indent="0" marL="0">
              <a:buNone/>
            </a:pPr>
            <a:r>
              <a:rPr lang="en-US" sz="1200" dirty="0">
                <a:solidFill>
                  <a:srgbClr val="D9F2E3"/>
                </a:solidFill>
                <a:latin typeface="Courier New" pitchFamily="34" charset="0"/>
                <a:ea typeface="Courier New" pitchFamily="34" charset="-122"/>
                <a:cs typeface="Courier New" pitchFamily="34" charset="-120"/>
              </a:rPr>
              <a:t>REGION NUM=8 MATERIAL=tungsten R.MIN=0.0057 R.MAX=0.0087   ·   REGION NUM=4/5 MATERIAL=nitride Z=±(0.007–0.012)</a:t>
            </a:r>
            <a:endParaRPr lang="en-US" sz="1200" dirty="0"/>
          </a:p>
        </p:txBody>
      </p:sp>
      <p:sp>
        <p:nvSpPr>
          <p:cNvPr id="41"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 gate now wraps the channel on all sides.</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123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1 – Standard GAAFET, layer by layer</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Step 5: doping, contacts, heat exits · n+ source/drain, p channel; three electrodes at 300 K</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171A20"/>
          </a:solidFill>
          <a:ln/>
        </p:spPr>
      </p:sp>
      <p:sp>
        <p:nvSpPr>
          <p:cNvPr id="8" name="!!sdot4"/>
          <p:cNvSpPr/>
          <p:nvPr/>
        </p:nvSpPr>
        <p:spPr>
          <a:xfrm>
            <a:off x="11599164" y="525780"/>
            <a:ext cx="82296" cy="82296"/>
          </a:xfrm>
          <a:prstGeom prst="ellipse">
            <a:avLst/>
          </a:prstGeom>
          <a:solidFill>
            <a:srgbClr val="171A20"/>
          </a:solidFill>
          <a:ln/>
        </p:spPr>
      </p:sp>
      <p:sp>
        <p:nvSpPr>
          <p:cNvPr id="9" name="!!s1xl"/>
          <p:cNvSpPr txBox="1"/>
          <p:nvPr/>
        </p:nvSpPr>
        <p:spPr>
          <a:xfrm>
            <a:off x="548640" y="1417320"/>
            <a:ext cx="274320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cross-section at the gate</a:t>
            </a:r>
            <a:endParaRPr lang="en-US" sz="1100" dirty="0"/>
          </a:p>
        </p:txBody>
      </p:sp>
      <p:sp>
        <p:nvSpPr>
          <p:cNvPr id="10" name="!!s1xW"/>
          <p:cNvSpPr/>
          <p:nvPr/>
        </p:nvSpPr>
        <p:spPr>
          <a:xfrm>
            <a:off x="886054" y="1937614"/>
            <a:ext cx="2068373" cy="2068373"/>
          </a:xfrm>
          <a:prstGeom prst="ellipse">
            <a:avLst/>
          </a:prstGeom>
          <a:solidFill>
            <a:srgbClr val="9AA0AA"/>
          </a:solidFill>
          <a:ln/>
        </p:spPr>
      </p:sp>
      <p:sp>
        <p:nvSpPr>
          <p:cNvPr id="11" name="!!s1xH"/>
          <p:cNvSpPr/>
          <p:nvPr/>
        </p:nvSpPr>
        <p:spPr>
          <a:xfrm>
            <a:off x="1242670" y="2294230"/>
            <a:ext cx="1355141" cy="1355141"/>
          </a:xfrm>
          <a:prstGeom prst="ellipse">
            <a:avLst/>
          </a:prstGeom>
          <a:solidFill>
            <a:srgbClr val="8FCBE0"/>
          </a:solidFill>
          <a:ln/>
        </p:spPr>
      </p:sp>
      <p:sp>
        <p:nvSpPr>
          <p:cNvPr id="12" name="!!s1xO"/>
          <p:cNvSpPr/>
          <p:nvPr/>
        </p:nvSpPr>
        <p:spPr>
          <a:xfrm>
            <a:off x="1373429" y="2424989"/>
            <a:ext cx="1093622" cy="1093622"/>
          </a:xfrm>
          <a:prstGeom prst="ellipse">
            <a:avLst/>
          </a:prstGeom>
          <a:solidFill>
            <a:srgbClr val="CDEBF5"/>
          </a:solidFill>
          <a:ln/>
        </p:spPr>
      </p:sp>
      <p:sp>
        <p:nvSpPr>
          <p:cNvPr id="13" name="!!s1xS"/>
          <p:cNvSpPr/>
          <p:nvPr/>
        </p:nvSpPr>
        <p:spPr>
          <a:xfrm>
            <a:off x="1444752" y="2496312"/>
            <a:ext cx="950976" cy="950976"/>
          </a:xfrm>
          <a:prstGeom prst="ellipse">
            <a:avLst/>
          </a:prstGeom>
          <a:solidFill>
            <a:srgbClr val="F6E7B8"/>
          </a:solidFill>
          <a:ln/>
        </p:spPr>
      </p:sp>
      <p:sp>
        <p:nvSpPr>
          <p:cNvPr id="14" name="!!s1xr"/>
          <p:cNvSpPr txBox="1"/>
          <p:nvPr/>
        </p:nvSpPr>
        <p:spPr>
          <a:xfrm>
            <a:off x="1371600" y="2862072"/>
            <a:ext cx="1097280" cy="219456"/>
          </a:xfrm>
          <a:prstGeom prst="rect">
            <a:avLst/>
          </a:prstGeom>
          <a:noFill/>
          <a:ln/>
        </p:spPr>
        <p:txBody>
          <a:bodyPr wrap="square" lIns="0" tIns="0" rIns="0" bIns="0" rtlCol="0" anchor="t"/>
          <a:lstStyle/>
          <a:p>
            <a:pPr algn="ctr" indent="0" marL="0">
              <a:buNone/>
            </a:pPr>
            <a:r>
              <a:rPr lang="en-US" sz="1000" dirty="0">
                <a:solidFill>
                  <a:srgbClr val="8A6D1F"/>
                </a:solidFill>
                <a:latin typeface="Segoe UI Semibold" pitchFamily="34" charset="0"/>
                <a:ea typeface="Segoe UI Semibold" pitchFamily="34" charset="-122"/>
                <a:cs typeface="Segoe UI Semibold" pitchFamily="34" charset="-120"/>
              </a:rPr>
              <a:t>r = 4 nm</a:t>
            </a:r>
            <a:endParaRPr lang="en-US" sz="1000" dirty="0"/>
          </a:p>
        </p:txBody>
      </p:sp>
      <p:sp>
        <p:nvSpPr>
          <p:cNvPr id="15" name="!!s1zl"/>
          <p:cNvSpPr txBox="1"/>
          <p:nvPr/>
        </p:nvSpPr>
        <p:spPr>
          <a:xfrm>
            <a:off x="3931920" y="1417320"/>
            <a:ext cx="6894576"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side view along the current (z)</a:t>
            </a:r>
            <a:endParaRPr lang="en-US" sz="1100" dirty="0"/>
          </a:p>
        </p:txBody>
      </p:sp>
      <p:sp>
        <p:nvSpPr>
          <p:cNvPr id="16" name="!!s1zW"/>
          <p:cNvSpPr/>
          <p:nvPr/>
        </p:nvSpPr>
        <p:spPr>
          <a:xfrm>
            <a:off x="6547104" y="1937614"/>
            <a:ext cx="1664208" cy="2068373"/>
          </a:xfrm>
          <a:prstGeom prst="rect">
            <a:avLst/>
          </a:prstGeom>
          <a:solidFill>
            <a:srgbClr val="9AA0AA"/>
          </a:solidFill>
          <a:ln/>
        </p:spPr>
      </p:sp>
      <p:sp>
        <p:nvSpPr>
          <p:cNvPr id="17" name="!!s1zN1"/>
          <p:cNvSpPr/>
          <p:nvPr/>
        </p:nvSpPr>
        <p:spPr>
          <a:xfrm>
            <a:off x="5952744" y="1937614"/>
            <a:ext cx="594360" cy="2068373"/>
          </a:xfrm>
          <a:prstGeom prst="rect">
            <a:avLst/>
          </a:prstGeom>
          <a:solidFill>
            <a:srgbClr val="D9DCE3"/>
          </a:solidFill>
          <a:ln/>
        </p:spPr>
      </p:sp>
      <p:sp>
        <p:nvSpPr>
          <p:cNvPr id="18" name="!!s1zN2"/>
          <p:cNvSpPr/>
          <p:nvPr/>
        </p:nvSpPr>
        <p:spPr>
          <a:xfrm>
            <a:off x="8211312" y="1937614"/>
            <a:ext cx="594360" cy="2068373"/>
          </a:xfrm>
          <a:prstGeom prst="rect">
            <a:avLst/>
          </a:prstGeom>
          <a:solidFill>
            <a:srgbClr val="D9DCE3"/>
          </a:solidFill>
          <a:ln/>
        </p:spPr>
      </p:sp>
      <p:sp>
        <p:nvSpPr>
          <p:cNvPr id="19" name="!!s1zH"/>
          <p:cNvSpPr/>
          <p:nvPr/>
        </p:nvSpPr>
        <p:spPr>
          <a:xfrm>
            <a:off x="6547104" y="2294230"/>
            <a:ext cx="1664208" cy="1355141"/>
          </a:xfrm>
          <a:prstGeom prst="rect">
            <a:avLst/>
          </a:prstGeom>
          <a:solidFill>
            <a:srgbClr val="8FCBE0"/>
          </a:solidFill>
          <a:ln/>
        </p:spPr>
      </p:sp>
      <p:sp>
        <p:nvSpPr>
          <p:cNvPr id="20" name="!!s1zO"/>
          <p:cNvSpPr/>
          <p:nvPr/>
        </p:nvSpPr>
        <p:spPr>
          <a:xfrm>
            <a:off x="6547104" y="2424989"/>
            <a:ext cx="1664208" cy="1093622"/>
          </a:xfrm>
          <a:prstGeom prst="rect">
            <a:avLst/>
          </a:prstGeom>
          <a:solidFill>
            <a:srgbClr val="CDEBF5"/>
          </a:solidFill>
          <a:ln/>
        </p:spPr>
      </p:sp>
      <p:sp>
        <p:nvSpPr>
          <p:cNvPr id="21" name="!!s1zS"/>
          <p:cNvSpPr/>
          <p:nvPr/>
        </p:nvSpPr>
        <p:spPr>
          <a:xfrm>
            <a:off x="3931920" y="2496312"/>
            <a:ext cx="6894576" cy="950976"/>
          </a:xfrm>
          <a:prstGeom prst="rect">
            <a:avLst/>
          </a:prstGeom>
          <a:solidFill>
            <a:srgbClr val="F6E7B8"/>
          </a:solidFill>
          <a:ln/>
        </p:spPr>
      </p:sp>
      <p:sp>
        <p:nvSpPr>
          <p:cNvPr id="22" name="!!s1zSD1"/>
          <p:cNvSpPr/>
          <p:nvPr/>
        </p:nvSpPr>
        <p:spPr>
          <a:xfrm>
            <a:off x="3931920" y="2496312"/>
            <a:ext cx="2020824" cy="950976"/>
          </a:xfrm>
          <a:prstGeom prst="rect">
            <a:avLst/>
          </a:prstGeom>
          <a:solidFill>
            <a:srgbClr val="7D9BE6"/>
          </a:solidFill>
          <a:ln/>
        </p:spPr>
      </p:sp>
      <p:sp>
        <p:nvSpPr>
          <p:cNvPr id="23" name="!!s1zSD2"/>
          <p:cNvSpPr/>
          <p:nvPr/>
        </p:nvSpPr>
        <p:spPr>
          <a:xfrm>
            <a:off x="8805672" y="2496312"/>
            <a:ext cx="2020824" cy="950976"/>
          </a:xfrm>
          <a:prstGeom prst="rect">
            <a:avLst/>
          </a:prstGeom>
          <a:solidFill>
            <a:srgbClr val="7D9BE6"/>
          </a:solidFill>
          <a:ln/>
        </p:spPr>
      </p:sp>
      <p:sp>
        <p:nvSpPr>
          <p:cNvPr id="24" name="!!s1zE1"/>
          <p:cNvSpPr/>
          <p:nvPr/>
        </p:nvSpPr>
        <p:spPr>
          <a:xfrm>
            <a:off x="5952744" y="2496312"/>
            <a:ext cx="594360" cy="950976"/>
          </a:xfrm>
          <a:prstGeom prst="rect">
            <a:avLst/>
          </a:prstGeom>
          <a:solidFill>
            <a:srgbClr val="A9BDF0"/>
          </a:solidFill>
          <a:ln/>
        </p:spPr>
      </p:sp>
      <p:sp>
        <p:nvSpPr>
          <p:cNvPr id="25" name="!!s1zE2"/>
          <p:cNvSpPr/>
          <p:nvPr/>
        </p:nvSpPr>
        <p:spPr>
          <a:xfrm>
            <a:off x="8211312" y="2496312"/>
            <a:ext cx="594360" cy="950976"/>
          </a:xfrm>
          <a:prstGeom prst="rect">
            <a:avLst/>
          </a:prstGeom>
          <a:solidFill>
            <a:srgbClr val="A9BDF0"/>
          </a:solidFill>
          <a:ln/>
        </p:spPr>
      </p:sp>
      <p:sp>
        <p:nvSpPr>
          <p:cNvPr id="26" name="!!s1c0"/>
          <p:cNvSpPr/>
          <p:nvPr/>
        </p:nvSpPr>
        <p:spPr>
          <a:xfrm>
            <a:off x="3931920" y="1783080"/>
            <a:ext cx="2020824" cy="201168"/>
          </a:xfrm>
          <a:prstGeom prst="roundRect">
            <a:avLst>
              <a:gd name="adj" fmla="val 13636"/>
            </a:avLst>
          </a:prstGeom>
          <a:solidFill>
            <a:srgbClr val="171A20"/>
          </a:solidFill>
          <a:ln/>
        </p:spPr>
      </p:sp>
      <p:sp>
        <p:nvSpPr>
          <p:cNvPr id="27" name="!!s1ct0"/>
          <p:cNvSpPr txBox="1"/>
          <p:nvPr/>
        </p:nvSpPr>
        <p:spPr>
          <a:xfrm>
            <a:off x="3749040" y="1783080"/>
            <a:ext cx="2386584" cy="201168"/>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source · 300 K</a:t>
            </a:r>
            <a:endParaRPr lang="en-US" sz="900" dirty="0"/>
          </a:p>
        </p:txBody>
      </p:sp>
      <p:sp>
        <p:nvSpPr>
          <p:cNvPr id="28" name="!!s1c1"/>
          <p:cNvSpPr/>
          <p:nvPr/>
        </p:nvSpPr>
        <p:spPr>
          <a:xfrm>
            <a:off x="6547104" y="1783080"/>
            <a:ext cx="1664208" cy="201168"/>
          </a:xfrm>
          <a:prstGeom prst="roundRect">
            <a:avLst>
              <a:gd name="adj" fmla="val 13636"/>
            </a:avLst>
          </a:prstGeom>
          <a:solidFill>
            <a:srgbClr val="171A20"/>
          </a:solidFill>
          <a:ln/>
        </p:spPr>
      </p:sp>
      <p:sp>
        <p:nvSpPr>
          <p:cNvPr id="29" name="!!s1ct1"/>
          <p:cNvSpPr txBox="1"/>
          <p:nvPr/>
        </p:nvSpPr>
        <p:spPr>
          <a:xfrm>
            <a:off x="6364224" y="1783080"/>
            <a:ext cx="2029968" cy="201168"/>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gate · 300 K</a:t>
            </a:r>
            <a:endParaRPr lang="en-US" sz="900" dirty="0"/>
          </a:p>
        </p:txBody>
      </p:sp>
      <p:sp>
        <p:nvSpPr>
          <p:cNvPr id="30" name="!!s1c2"/>
          <p:cNvSpPr/>
          <p:nvPr/>
        </p:nvSpPr>
        <p:spPr>
          <a:xfrm>
            <a:off x="8805672" y="1783080"/>
            <a:ext cx="2020824" cy="201168"/>
          </a:xfrm>
          <a:prstGeom prst="roundRect">
            <a:avLst>
              <a:gd name="adj" fmla="val 13636"/>
            </a:avLst>
          </a:prstGeom>
          <a:solidFill>
            <a:srgbClr val="171A20"/>
          </a:solidFill>
          <a:ln/>
        </p:spPr>
      </p:sp>
      <p:sp>
        <p:nvSpPr>
          <p:cNvPr id="31" name="!!s1ct2"/>
          <p:cNvSpPr txBox="1"/>
          <p:nvPr/>
        </p:nvSpPr>
        <p:spPr>
          <a:xfrm>
            <a:off x="8622792" y="1783080"/>
            <a:ext cx="2386584" cy="201168"/>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drain · 300 K</a:t>
            </a:r>
            <a:endParaRPr lang="en-US" sz="900" dirty="0"/>
          </a:p>
        </p:txBody>
      </p:sp>
      <p:sp>
        <p:nvSpPr>
          <p:cNvPr id="32" name="!!s1d0"/>
          <p:cNvSpPr txBox="1"/>
          <p:nvPr/>
        </p:nvSpPr>
        <p:spPr>
          <a:xfrm>
            <a:off x="3931920" y="4160520"/>
            <a:ext cx="2020824"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17 nm</a:t>
            </a:r>
            <a:endParaRPr lang="en-US" sz="1000" dirty="0"/>
          </a:p>
        </p:txBody>
      </p:sp>
      <p:sp>
        <p:nvSpPr>
          <p:cNvPr id="33" name="!!s1d1"/>
          <p:cNvSpPr txBox="1"/>
          <p:nvPr/>
        </p:nvSpPr>
        <p:spPr>
          <a:xfrm>
            <a:off x="5952744" y="4160520"/>
            <a:ext cx="5943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5 nm</a:t>
            </a:r>
            <a:endParaRPr lang="en-US" sz="1000" dirty="0"/>
          </a:p>
        </p:txBody>
      </p:sp>
      <p:sp>
        <p:nvSpPr>
          <p:cNvPr id="34" name="!!s1d2"/>
          <p:cNvSpPr txBox="1"/>
          <p:nvPr/>
        </p:nvSpPr>
        <p:spPr>
          <a:xfrm>
            <a:off x="6547104" y="4160520"/>
            <a:ext cx="1664208"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14 nm</a:t>
            </a:r>
            <a:endParaRPr lang="en-US" sz="1000" dirty="0"/>
          </a:p>
        </p:txBody>
      </p:sp>
      <p:sp>
        <p:nvSpPr>
          <p:cNvPr id="35" name="!!s1d3"/>
          <p:cNvSpPr txBox="1"/>
          <p:nvPr/>
        </p:nvSpPr>
        <p:spPr>
          <a:xfrm>
            <a:off x="8211312" y="4160520"/>
            <a:ext cx="5943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5 nm</a:t>
            </a:r>
            <a:endParaRPr lang="en-US" sz="1000" dirty="0"/>
          </a:p>
        </p:txBody>
      </p:sp>
      <p:sp>
        <p:nvSpPr>
          <p:cNvPr id="36" name="!!s1d4"/>
          <p:cNvSpPr txBox="1"/>
          <p:nvPr/>
        </p:nvSpPr>
        <p:spPr>
          <a:xfrm>
            <a:off x="8805672" y="4160520"/>
            <a:ext cx="2020824"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17 nm</a:t>
            </a:r>
            <a:endParaRPr lang="en-US" sz="1000" dirty="0"/>
          </a:p>
        </p:txBody>
      </p:sp>
      <p:sp>
        <p:nvSpPr>
          <p:cNvPr id="37" name="!!s1g0"/>
          <p:cNvSpPr/>
          <p:nvPr/>
        </p:nvSpPr>
        <p:spPr>
          <a:xfrm>
            <a:off x="640080" y="4526280"/>
            <a:ext cx="201168" cy="201168"/>
          </a:xfrm>
          <a:prstGeom prst="rect">
            <a:avLst/>
          </a:prstGeom>
          <a:solidFill>
            <a:srgbClr val="F6E7B8"/>
          </a:solidFill>
          <a:ln/>
        </p:spPr>
      </p:sp>
      <p:sp>
        <p:nvSpPr>
          <p:cNvPr id="38" name="!!s1gt0"/>
          <p:cNvSpPr txBox="1"/>
          <p:nvPr/>
        </p:nvSpPr>
        <p:spPr>
          <a:xfrm>
            <a:off x="914400" y="4498848"/>
            <a:ext cx="1463040" cy="256032"/>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Si channel</a:t>
            </a:r>
            <a:endParaRPr lang="en-US" sz="1100" dirty="0"/>
          </a:p>
        </p:txBody>
      </p:sp>
      <p:sp>
        <p:nvSpPr>
          <p:cNvPr id="39" name="!!s1g1"/>
          <p:cNvSpPr/>
          <p:nvPr/>
        </p:nvSpPr>
        <p:spPr>
          <a:xfrm>
            <a:off x="2468880" y="4526280"/>
            <a:ext cx="201168" cy="201168"/>
          </a:xfrm>
          <a:prstGeom prst="rect">
            <a:avLst/>
          </a:prstGeom>
          <a:solidFill>
            <a:srgbClr val="CDEBF5"/>
          </a:solidFill>
          <a:ln/>
        </p:spPr>
      </p:sp>
      <p:sp>
        <p:nvSpPr>
          <p:cNvPr id="40" name="!!s1gt1"/>
          <p:cNvSpPr txBox="1"/>
          <p:nvPr/>
        </p:nvSpPr>
        <p:spPr>
          <a:xfrm>
            <a:off x="2743200" y="4498848"/>
            <a:ext cx="1463040" cy="256032"/>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SiO2</a:t>
            </a:r>
            <a:endParaRPr lang="en-US" sz="1100" dirty="0"/>
          </a:p>
        </p:txBody>
      </p:sp>
      <p:sp>
        <p:nvSpPr>
          <p:cNvPr id="41" name="!!s1g2"/>
          <p:cNvSpPr/>
          <p:nvPr/>
        </p:nvSpPr>
        <p:spPr>
          <a:xfrm>
            <a:off x="4297680" y="4526280"/>
            <a:ext cx="201168" cy="201168"/>
          </a:xfrm>
          <a:prstGeom prst="rect">
            <a:avLst/>
          </a:prstGeom>
          <a:solidFill>
            <a:srgbClr val="8FCBE0"/>
          </a:solidFill>
          <a:ln/>
        </p:spPr>
      </p:sp>
      <p:sp>
        <p:nvSpPr>
          <p:cNvPr id="42" name="!!s1gt2"/>
          <p:cNvSpPr txBox="1"/>
          <p:nvPr/>
        </p:nvSpPr>
        <p:spPr>
          <a:xfrm>
            <a:off x="4572000" y="4498848"/>
            <a:ext cx="1463040" cy="256032"/>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HfO2</a:t>
            </a:r>
            <a:endParaRPr lang="en-US" sz="1100" dirty="0"/>
          </a:p>
        </p:txBody>
      </p:sp>
      <p:sp>
        <p:nvSpPr>
          <p:cNvPr id="43" name="!!s1g3"/>
          <p:cNvSpPr/>
          <p:nvPr/>
        </p:nvSpPr>
        <p:spPr>
          <a:xfrm>
            <a:off x="6126480" y="4526280"/>
            <a:ext cx="201168" cy="201168"/>
          </a:xfrm>
          <a:prstGeom prst="rect">
            <a:avLst/>
          </a:prstGeom>
          <a:solidFill>
            <a:srgbClr val="9AA0AA"/>
          </a:solidFill>
          <a:ln/>
        </p:spPr>
      </p:sp>
      <p:sp>
        <p:nvSpPr>
          <p:cNvPr id="44" name="!!s1gt3"/>
          <p:cNvSpPr txBox="1"/>
          <p:nvPr/>
        </p:nvSpPr>
        <p:spPr>
          <a:xfrm>
            <a:off x="6400800" y="4498848"/>
            <a:ext cx="1463040" cy="256032"/>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W gate</a:t>
            </a:r>
            <a:endParaRPr lang="en-US" sz="1100" dirty="0"/>
          </a:p>
        </p:txBody>
      </p:sp>
      <p:sp>
        <p:nvSpPr>
          <p:cNvPr id="45" name="!!s1g4"/>
          <p:cNvSpPr/>
          <p:nvPr/>
        </p:nvSpPr>
        <p:spPr>
          <a:xfrm>
            <a:off x="7955280" y="4526280"/>
            <a:ext cx="201168" cy="201168"/>
          </a:xfrm>
          <a:prstGeom prst="rect">
            <a:avLst/>
          </a:prstGeom>
          <a:solidFill>
            <a:srgbClr val="D9DCE3"/>
          </a:solidFill>
          <a:ln/>
        </p:spPr>
      </p:sp>
      <p:sp>
        <p:nvSpPr>
          <p:cNvPr id="46" name="!!s1gt4"/>
          <p:cNvSpPr txBox="1"/>
          <p:nvPr/>
        </p:nvSpPr>
        <p:spPr>
          <a:xfrm>
            <a:off x="8229600" y="4498848"/>
            <a:ext cx="1463040" cy="256032"/>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Si3N4</a:t>
            </a:r>
            <a:endParaRPr lang="en-US" sz="1100" dirty="0"/>
          </a:p>
        </p:txBody>
      </p:sp>
      <p:sp>
        <p:nvSpPr>
          <p:cNvPr id="47" name="!!s1g5"/>
          <p:cNvSpPr/>
          <p:nvPr/>
        </p:nvSpPr>
        <p:spPr>
          <a:xfrm>
            <a:off x="9784080" y="4526280"/>
            <a:ext cx="201168" cy="201168"/>
          </a:xfrm>
          <a:prstGeom prst="rect">
            <a:avLst/>
          </a:prstGeom>
          <a:solidFill>
            <a:srgbClr val="7D9BE6"/>
          </a:solidFill>
          <a:ln/>
        </p:spPr>
      </p:sp>
      <p:sp>
        <p:nvSpPr>
          <p:cNvPr id="48" name="!!s1gt5"/>
          <p:cNvSpPr txBox="1"/>
          <p:nvPr/>
        </p:nvSpPr>
        <p:spPr>
          <a:xfrm>
            <a:off x="10058400" y="4498848"/>
            <a:ext cx="1463040" cy="256032"/>
          </a:xfrm>
          <a:prstGeom prst="rect">
            <a:avLst/>
          </a:prstGeom>
          <a:noFill/>
          <a:ln/>
        </p:spPr>
        <p:txBody>
          <a:bodyPr wrap="square" lIns="0" tIns="0" rIns="0" bIns="0" rtlCol="0" anchor="t"/>
          <a:lstStyle/>
          <a:p>
            <a:pPr algn="l" indent="0" marL="0">
              <a:buNone/>
            </a:pPr>
            <a:r>
              <a:rPr lang="en-US" sz="1100" dirty="0">
                <a:solidFill>
                  <a:srgbClr val="171A20"/>
                </a:solidFill>
                <a:latin typeface="Segoe UI" pitchFamily="34" charset="0"/>
                <a:ea typeface="Segoe UI" pitchFamily="34" charset="-122"/>
                <a:cs typeface="Segoe UI" pitchFamily="34" charset="-120"/>
              </a:rPr>
              <a:t>n+ Si</a:t>
            </a:r>
            <a:endParaRPr lang="en-US" sz="1100" dirty="0"/>
          </a:p>
        </p:txBody>
      </p:sp>
      <p:sp>
        <p:nvSpPr>
          <p:cNvPr id="49" name="!!code"/>
          <p:cNvSpPr/>
          <p:nvPr/>
        </p:nvSpPr>
        <p:spPr>
          <a:xfrm>
            <a:off x="548640" y="4892040"/>
            <a:ext cx="11091672" cy="685800"/>
          </a:xfrm>
          <a:prstGeom prst="roundRect">
            <a:avLst>
              <a:gd name="adj" fmla="val 8000"/>
            </a:avLst>
          </a:prstGeom>
          <a:solidFill>
            <a:srgbClr val="171A20"/>
          </a:solidFill>
          <a:ln/>
        </p:spPr>
      </p:sp>
      <p:sp>
        <p:nvSpPr>
          <p:cNvPr id="50" name="!!codet"/>
          <p:cNvSpPr txBox="1"/>
          <p:nvPr/>
        </p:nvSpPr>
        <p:spPr>
          <a:xfrm>
            <a:off x="777240" y="4892040"/>
            <a:ext cx="10698480" cy="685800"/>
          </a:xfrm>
          <a:prstGeom prst="rect">
            <a:avLst/>
          </a:prstGeom>
          <a:noFill/>
          <a:ln/>
        </p:spPr>
        <p:txBody>
          <a:bodyPr wrap="square" lIns="0" tIns="0" rIns="0" bIns="0" rtlCol="0" anchor="ctr"/>
          <a:lstStyle/>
          <a:p>
            <a:pPr algn="l" indent="0" marL="0">
              <a:buNone/>
            </a:pPr>
            <a:r>
              <a:rPr lang="en-US" sz="1200" dirty="0">
                <a:solidFill>
                  <a:srgbClr val="D9F2E3"/>
                </a:solidFill>
                <a:latin typeface="Courier New" pitchFamily="34" charset="0"/>
                <a:ea typeface="Courier New" pitchFamily="34" charset="-122"/>
                <a:cs typeface="Courier New" pitchFamily="34" charset="-120"/>
              </a:rPr>
              <a:t>doping n.type 1e20 (S/D), 1e19 (ext), p.type 1e16   ·   thermcontact elec.num=1..3 ext.temp=300 alpha=5000</a:t>
            </a:r>
            <a:endParaRPr lang="en-US" sz="1200" dirty="0"/>
          </a:p>
        </p:txBody>
      </p:sp>
      <p:sp>
        <p:nvSpPr>
          <p:cNvPr id="51"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 standard device is complete.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124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1 – Electrical result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Standard GAAFET: a near-ideal switch</a:t>
            </a:r>
            <a:endParaRPr lang="en-US" sz="1600" dirty="0"/>
          </a:p>
        </p:txBody>
      </p:sp>
      <p:sp>
        <p:nvSpPr>
          <p:cNvPr id="4" name="Shape 2"/>
          <p:cNvSpPr/>
          <p:nvPr/>
        </p:nvSpPr>
        <p:spPr>
          <a:xfrm>
            <a:off x="548640" y="1600200"/>
            <a:ext cx="3520440" cy="1554480"/>
          </a:xfrm>
          <a:prstGeom prst="roundRect">
            <a:avLst>
              <a:gd name="adj" fmla="val 4706"/>
            </a:avLst>
          </a:prstGeom>
          <a:solidFill>
            <a:srgbClr val="F4F5F7"/>
          </a:solidFill>
          <a:ln/>
        </p:spPr>
      </p:sp>
      <p:sp>
        <p:nvSpPr>
          <p:cNvPr id="5" name="Text 3"/>
          <p:cNvSpPr txBox="1"/>
          <p:nvPr/>
        </p:nvSpPr>
        <p:spPr>
          <a:xfrm>
            <a:off x="777240" y="1783080"/>
            <a:ext cx="3108960" cy="731520"/>
          </a:xfrm>
          <a:prstGeom prst="rect">
            <a:avLst/>
          </a:prstGeom>
          <a:noFill/>
          <a:ln/>
        </p:spPr>
        <p:txBody>
          <a:bodyPr wrap="square" lIns="0" tIns="0" rIns="0" bIns="0" rtlCol="0" anchor="t"/>
          <a:lstStyle/>
          <a:p>
            <a:pPr algn="l" indent="0" marL="0">
              <a:buNone/>
            </a:pPr>
            <a:r>
              <a:rPr lang="en-US" sz="3400" dirty="0">
                <a:solidFill>
                  <a:srgbClr val="171A20"/>
                </a:solidFill>
                <a:latin typeface="Segoe UI Semibold" pitchFamily="34" charset="0"/>
                <a:ea typeface="Segoe UI Semibold" pitchFamily="34" charset="-122"/>
                <a:cs typeface="Segoe UI Semibold" pitchFamily="34" charset="-120"/>
              </a:rPr>
              <a:t>0.209 V</a:t>
            </a:r>
            <a:endParaRPr lang="en-US" sz="3400" dirty="0"/>
          </a:p>
        </p:txBody>
      </p:sp>
      <p:sp>
        <p:nvSpPr>
          <p:cNvPr id="6" name="Text 4"/>
          <p:cNvSpPr txBox="1"/>
          <p:nvPr/>
        </p:nvSpPr>
        <p:spPr>
          <a:xfrm>
            <a:off x="777240" y="2514600"/>
            <a:ext cx="3108960" cy="45720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V</a:t>
            </a:r>
            <a:pPr algn="l" indent="0" marL="0">
              <a:buNone/>
            </a:pPr>
            <a:r>
              <a:rPr lang="en-US" sz="1300" baseline="-40000" dirty="0">
                <a:solidFill>
                  <a:srgbClr val="5C5E62"/>
                </a:solidFill>
                <a:latin typeface="Segoe UI" pitchFamily="34" charset="0"/>
                <a:ea typeface="Segoe UI" pitchFamily="34" charset="-122"/>
                <a:cs typeface="Segoe UI" pitchFamily="34" charset="-120"/>
              </a:rPr>
              <a:t>T</a:t>
            </a:r>
            <a:pPr algn="l" indent="0" marL="0">
              <a:buNone/>
            </a:pPr>
            <a:r>
              <a:rPr lang="en-US" sz="1300" dirty="0">
                <a:solidFill>
                  <a:srgbClr val="5C5E62"/>
                </a:solidFill>
                <a:latin typeface="Segoe UI" pitchFamily="34" charset="0"/>
                <a:ea typeface="Segoe UI" pitchFamily="34" charset="-122"/>
                <a:cs typeface="Segoe UI" pitchFamily="34" charset="-120"/>
              </a:rPr>
              <a:t> (linear)</a:t>
            </a:r>
            <a:endParaRPr lang="en-US" sz="1300" dirty="0"/>
          </a:p>
        </p:txBody>
      </p:sp>
      <p:sp>
        <p:nvSpPr>
          <p:cNvPr id="7" name="Shape 5"/>
          <p:cNvSpPr/>
          <p:nvPr/>
        </p:nvSpPr>
        <p:spPr>
          <a:xfrm>
            <a:off x="4297680" y="1600200"/>
            <a:ext cx="3520440" cy="1554480"/>
          </a:xfrm>
          <a:prstGeom prst="roundRect">
            <a:avLst>
              <a:gd name="adj" fmla="val 4706"/>
            </a:avLst>
          </a:prstGeom>
          <a:solidFill>
            <a:srgbClr val="F4F5F7"/>
          </a:solidFill>
          <a:ln/>
        </p:spPr>
      </p:sp>
      <p:sp>
        <p:nvSpPr>
          <p:cNvPr id="8" name="Text 6"/>
          <p:cNvSpPr txBox="1"/>
          <p:nvPr/>
        </p:nvSpPr>
        <p:spPr>
          <a:xfrm>
            <a:off x="4526280" y="1783080"/>
            <a:ext cx="3108960" cy="731520"/>
          </a:xfrm>
          <a:prstGeom prst="rect">
            <a:avLst/>
          </a:prstGeom>
          <a:noFill/>
          <a:ln/>
        </p:spPr>
        <p:txBody>
          <a:bodyPr wrap="square" lIns="0" tIns="0" rIns="0" bIns="0" rtlCol="0" anchor="t"/>
          <a:lstStyle/>
          <a:p>
            <a:pPr algn="l" indent="0" marL="0">
              <a:buNone/>
            </a:pPr>
            <a:r>
              <a:rPr lang="en-US" sz="3400" dirty="0">
                <a:solidFill>
                  <a:srgbClr val="2E9E4F"/>
                </a:solidFill>
                <a:latin typeface="Segoe UI Semibold" pitchFamily="34" charset="0"/>
                <a:ea typeface="Segoe UI Semibold" pitchFamily="34" charset="-122"/>
                <a:cs typeface="Segoe UI Semibold" pitchFamily="34" charset="-120"/>
              </a:rPr>
              <a:t>61.3 mV/dec</a:t>
            </a:r>
            <a:endParaRPr lang="en-US" sz="3400" dirty="0"/>
          </a:p>
        </p:txBody>
      </p:sp>
      <p:sp>
        <p:nvSpPr>
          <p:cNvPr id="9" name="Text 7"/>
          <p:cNvSpPr txBox="1"/>
          <p:nvPr/>
        </p:nvSpPr>
        <p:spPr>
          <a:xfrm>
            <a:off x="4526280" y="2514600"/>
            <a:ext cx="3108960" cy="45720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subthreshold swing</a:t>
            </a:r>
            <a:endParaRPr lang="en-US" sz="1300" dirty="0"/>
          </a:p>
        </p:txBody>
      </p:sp>
      <p:sp>
        <p:nvSpPr>
          <p:cNvPr id="10" name="Shape 8"/>
          <p:cNvSpPr/>
          <p:nvPr/>
        </p:nvSpPr>
        <p:spPr>
          <a:xfrm>
            <a:off x="8046720" y="1600200"/>
            <a:ext cx="3520440" cy="1554480"/>
          </a:xfrm>
          <a:prstGeom prst="roundRect">
            <a:avLst>
              <a:gd name="adj" fmla="val 4706"/>
            </a:avLst>
          </a:prstGeom>
          <a:solidFill>
            <a:srgbClr val="F4F5F7"/>
          </a:solidFill>
          <a:ln/>
        </p:spPr>
      </p:sp>
      <p:sp>
        <p:nvSpPr>
          <p:cNvPr id="11" name="Text 9"/>
          <p:cNvSpPr txBox="1"/>
          <p:nvPr/>
        </p:nvSpPr>
        <p:spPr>
          <a:xfrm>
            <a:off x="8275320" y="1783080"/>
            <a:ext cx="3108960" cy="731520"/>
          </a:xfrm>
          <a:prstGeom prst="rect">
            <a:avLst/>
          </a:prstGeom>
          <a:noFill/>
          <a:ln/>
        </p:spPr>
        <p:txBody>
          <a:bodyPr wrap="square" lIns="0" tIns="0" rIns="0" bIns="0" rtlCol="0" anchor="t"/>
          <a:lstStyle/>
          <a:p>
            <a:pPr algn="l" indent="0" marL="0">
              <a:buNone/>
            </a:pPr>
            <a:r>
              <a:rPr lang="en-US" sz="3400" dirty="0">
                <a:solidFill>
                  <a:srgbClr val="2E9E4F"/>
                </a:solidFill>
                <a:latin typeface="Segoe UI Semibold" pitchFamily="34" charset="0"/>
                <a:ea typeface="Segoe UI Semibold" pitchFamily="34" charset="-122"/>
                <a:cs typeface="Segoe UI Semibold" pitchFamily="34" charset="-120"/>
              </a:rPr>
              <a:t>17.3 mV/V</a:t>
            </a:r>
            <a:endParaRPr lang="en-US" sz="3400" dirty="0"/>
          </a:p>
        </p:txBody>
      </p:sp>
      <p:sp>
        <p:nvSpPr>
          <p:cNvPr id="12" name="Text 10"/>
          <p:cNvSpPr txBox="1"/>
          <p:nvPr/>
        </p:nvSpPr>
        <p:spPr>
          <a:xfrm>
            <a:off x="8275320" y="2514600"/>
            <a:ext cx="3108960" cy="45720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DIBL</a:t>
            </a:r>
            <a:endParaRPr lang="en-US" sz="1300" dirty="0"/>
          </a:p>
        </p:txBody>
      </p:sp>
      <p:sp>
        <p:nvSpPr>
          <p:cNvPr id="13" name="Shape 11"/>
          <p:cNvSpPr/>
          <p:nvPr/>
        </p:nvSpPr>
        <p:spPr>
          <a:xfrm>
            <a:off x="548640" y="3383280"/>
            <a:ext cx="3520440" cy="1554480"/>
          </a:xfrm>
          <a:prstGeom prst="roundRect">
            <a:avLst>
              <a:gd name="adj" fmla="val 4706"/>
            </a:avLst>
          </a:prstGeom>
          <a:solidFill>
            <a:srgbClr val="F4F5F7"/>
          </a:solidFill>
          <a:ln/>
        </p:spPr>
      </p:sp>
      <p:sp>
        <p:nvSpPr>
          <p:cNvPr id="14" name="Text 12"/>
          <p:cNvSpPr txBox="1"/>
          <p:nvPr/>
        </p:nvSpPr>
        <p:spPr>
          <a:xfrm>
            <a:off x="777240" y="3566160"/>
            <a:ext cx="3108960" cy="731520"/>
          </a:xfrm>
          <a:prstGeom prst="rect">
            <a:avLst/>
          </a:prstGeom>
          <a:noFill/>
          <a:ln/>
        </p:spPr>
        <p:txBody>
          <a:bodyPr wrap="square" lIns="0" tIns="0" rIns="0" bIns="0" rtlCol="0" anchor="t"/>
          <a:lstStyle/>
          <a:p>
            <a:pPr algn="l" indent="0" marL="0">
              <a:buNone/>
            </a:pPr>
            <a:r>
              <a:rPr lang="en-US" sz="3400" dirty="0">
                <a:solidFill>
                  <a:srgbClr val="171A20"/>
                </a:solidFill>
                <a:latin typeface="Segoe UI Semibold" pitchFamily="34" charset="0"/>
                <a:ea typeface="Segoe UI Semibold" pitchFamily="34" charset="-122"/>
                <a:cs typeface="Segoe UI Semibold" pitchFamily="34" charset="-120"/>
              </a:rPr>
              <a:t>17.9 µA</a:t>
            </a:r>
            <a:endParaRPr lang="en-US" sz="3400" dirty="0"/>
          </a:p>
        </p:txBody>
      </p:sp>
      <p:sp>
        <p:nvSpPr>
          <p:cNvPr id="15" name="Text 13"/>
          <p:cNvSpPr txBox="1"/>
          <p:nvPr/>
        </p:nvSpPr>
        <p:spPr>
          <a:xfrm>
            <a:off x="777240" y="4297680"/>
            <a:ext cx="3108960" cy="45720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I</a:t>
            </a:r>
            <a:pPr algn="l" indent="0" marL="0">
              <a:buNone/>
            </a:pPr>
            <a:r>
              <a:rPr lang="en-US" sz="1300" baseline="-40000" dirty="0">
                <a:solidFill>
                  <a:srgbClr val="5C5E62"/>
                </a:solidFill>
                <a:latin typeface="Segoe UI" pitchFamily="34" charset="0"/>
                <a:ea typeface="Segoe UI" pitchFamily="34" charset="-122"/>
                <a:cs typeface="Segoe UI" pitchFamily="34" charset="-120"/>
              </a:rPr>
              <a:t>on</a:t>
            </a:r>
            <a:pPr algn="l" indent="0" marL="0">
              <a:buNone/>
            </a:pPr>
            <a:r>
              <a:rPr lang="en-US" sz="1300" dirty="0">
                <a:solidFill>
                  <a:srgbClr val="5C5E62"/>
                </a:solidFill>
                <a:latin typeface="Segoe UI" pitchFamily="34" charset="0"/>
                <a:ea typeface="Segoe UI" pitchFamily="34" charset="-122"/>
                <a:cs typeface="Segoe UI" pitchFamily="34" charset="-120"/>
              </a:rPr>
              <a:t> at V</a:t>
            </a:r>
            <a:pPr algn="l" indent="0" marL="0">
              <a:buNone/>
            </a:pPr>
            <a:r>
              <a:rPr lang="en-US" sz="1300" baseline="-40000" dirty="0">
                <a:solidFill>
                  <a:srgbClr val="5C5E62"/>
                </a:solidFill>
                <a:latin typeface="Segoe UI" pitchFamily="34" charset="0"/>
                <a:ea typeface="Segoe UI" pitchFamily="34" charset="-122"/>
                <a:cs typeface="Segoe UI" pitchFamily="34" charset="-120"/>
              </a:rPr>
              <a:t>G</a:t>
            </a:r>
            <a:pPr algn="l" indent="0" marL="0">
              <a:buNone/>
            </a:pPr>
            <a:r>
              <a:rPr lang="en-US" sz="1300" dirty="0">
                <a:solidFill>
                  <a:srgbClr val="5C5E62"/>
                </a:solidFill>
                <a:latin typeface="Segoe UI" pitchFamily="34" charset="0"/>
                <a:ea typeface="Segoe UI" pitchFamily="34" charset="-122"/>
                <a:cs typeface="Segoe UI" pitchFamily="34" charset="-120"/>
              </a:rPr>
              <a:t> = V</a:t>
            </a:r>
            <a:pPr algn="l" indent="0" marL="0">
              <a:buNone/>
            </a:pPr>
            <a:r>
              <a:rPr lang="en-US" sz="1300" baseline="-40000" dirty="0">
                <a:solidFill>
                  <a:srgbClr val="5C5E62"/>
                </a:solidFill>
                <a:latin typeface="Segoe UI" pitchFamily="34" charset="0"/>
                <a:ea typeface="Segoe UI" pitchFamily="34" charset="-122"/>
                <a:cs typeface="Segoe UI" pitchFamily="34" charset="-120"/>
              </a:rPr>
              <a:t>D</a:t>
            </a:r>
            <a:pPr algn="l" indent="0" marL="0">
              <a:buNone/>
            </a:pPr>
            <a:r>
              <a:rPr lang="en-US" sz="1300" dirty="0">
                <a:solidFill>
                  <a:srgbClr val="5C5E62"/>
                </a:solidFill>
                <a:latin typeface="Segoe UI" pitchFamily="34" charset="0"/>
                <a:ea typeface="Segoe UI" pitchFamily="34" charset="-122"/>
                <a:cs typeface="Segoe UI" pitchFamily="34" charset="-120"/>
              </a:rPr>
              <a:t> = 0.7 V</a:t>
            </a:r>
            <a:endParaRPr lang="en-US" sz="1300" dirty="0"/>
          </a:p>
        </p:txBody>
      </p:sp>
      <p:sp>
        <p:nvSpPr>
          <p:cNvPr id="16" name="Shape 14"/>
          <p:cNvSpPr/>
          <p:nvPr/>
        </p:nvSpPr>
        <p:spPr>
          <a:xfrm>
            <a:off x="4297680" y="3383280"/>
            <a:ext cx="3520440" cy="1554480"/>
          </a:xfrm>
          <a:prstGeom prst="roundRect">
            <a:avLst>
              <a:gd name="adj" fmla="val 4706"/>
            </a:avLst>
          </a:prstGeom>
          <a:solidFill>
            <a:srgbClr val="F4F5F7"/>
          </a:solidFill>
          <a:ln/>
        </p:spPr>
      </p:sp>
      <p:sp>
        <p:nvSpPr>
          <p:cNvPr id="17" name="Text 15"/>
          <p:cNvSpPr txBox="1"/>
          <p:nvPr/>
        </p:nvSpPr>
        <p:spPr>
          <a:xfrm>
            <a:off x="4526280" y="3566160"/>
            <a:ext cx="3108960" cy="731520"/>
          </a:xfrm>
          <a:prstGeom prst="rect">
            <a:avLst/>
          </a:prstGeom>
          <a:noFill/>
          <a:ln/>
        </p:spPr>
        <p:txBody>
          <a:bodyPr wrap="square" lIns="0" tIns="0" rIns="0" bIns="0" rtlCol="0" anchor="t"/>
          <a:lstStyle/>
          <a:p>
            <a:pPr algn="l" indent="0" marL="0">
              <a:buNone/>
            </a:pPr>
            <a:r>
              <a:rPr lang="en-US" sz="3400" dirty="0">
                <a:solidFill>
                  <a:srgbClr val="2E9E4F"/>
                </a:solidFill>
                <a:latin typeface="Segoe UI Semibold" pitchFamily="34" charset="0"/>
                <a:ea typeface="Segoe UI Semibold" pitchFamily="34" charset="-122"/>
                <a:cs typeface="Segoe UI Semibold" pitchFamily="34" charset="-120"/>
              </a:rPr>
              <a:t>99 pA</a:t>
            </a:r>
            <a:endParaRPr lang="en-US" sz="3400" dirty="0"/>
          </a:p>
        </p:txBody>
      </p:sp>
      <p:sp>
        <p:nvSpPr>
          <p:cNvPr id="18" name="Text 16"/>
          <p:cNvSpPr txBox="1"/>
          <p:nvPr/>
        </p:nvSpPr>
        <p:spPr>
          <a:xfrm>
            <a:off x="4526280" y="4297680"/>
            <a:ext cx="3108960" cy="45720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I</a:t>
            </a:r>
            <a:pPr algn="l" indent="0" marL="0">
              <a:buNone/>
            </a:pPr>
            <a:r>
              <a:rPr lang="en-US" sz="1300" baseline="-40000" dirty="0">
                <a:solidFill>
                  <a:srgbClr val="5C5E62"/>
                </a:solidFill>
                <a:latin typeface="Segoe UI" pitchFamily="34" charset="0"/>
                <a:ea typeface="Segoe UI" pitchFamily="34" charset="-122"/>
                <a:cs typeface="Segoe UI" pitchFamily="34" charset="-120"/>
              </a:rPr>
              <a:t>off</a:t>
            </a:r>
            <a:endParaRPr lang="en-US" sz="1300" dirty="0"/>
          </a:p>
        </p:txBody>
      </p:sp>
      <p:sp>
        <p:nvSpPr>
          <p:cNvPr id="19" name="Shape 17"/>
          <p:cNvSpPr/>
          <p:nvPr/>
        </p:nvSpPr>
        <p:spPr>
          <a:xfrm>
            <a:off x="8046720" y="3383280"/>
            <a:ext cx="3520440" cy="1554480"/>
          </a:xfrm>
          <a:prstGeom prst="roundRect">
            <a:avLst>
              <a:gd name="adj" fmla="val 4706"/>
            </a:avLst>
          </a:prstGeom>
          <a:solidFill>
            <a:srgbClr val="F4F5F7"/>
          </a:solidFill>
          <a:ln/>
        </p:spPr>
      </p:sp>
      <p:sp>
        <p:nvSpPr>
          <p:cNvPr id="20" name="Text 18"/>
          <p:cNvSpPr txBox="1"/>
          <p:nvPr/>
        </p:nvSpPr>
        <p:spPr>
          <a:xfrm>
            <a:off x="8275320" y="3566160"/>
            <a:ext cx="3108960" cy="731520"/>
          </a:xfrm>
          <a:prstGeom prst="rect">
            <a:avLst/>
          </a:prstGeom>
          <a:noFill/>
          <a:ln/>
        </p:spPr>
        <p:txBody>
          <a:bodyPr wrap="square" lIns="0" tIns="0" rIns="0" bIns="0" rtlCol="0" anchor="t"/>
          <a:lstStyle/>
          <a:p>
            <a:pPr algn="l" indent="0" marL="0">
              <a:buNone/>
            </a:pPr>
            <a:r>
              <a:rPr lang="en-US" sz="3400" dirty="0">
                <a:solidFill>
                  <a:srgbClr val="E07B00"/>
                </a:solidFill>
                <a:latin typeface="Segoe UI Semibold" pitchFamily="34" charset="0"/>
                <a:ea typeface="Segoe UI Semibold" pitchFamily="34" charset="-122"/>
                <a:cs typeface="Segoe UI Semibold" pitchFamily="34" charset="-120"/>
              </a:rPr>
              <a:t>12.5 µW</a:t>
            </a:r>
            <a:endParaRPr lang="en-US" sz="3400" dirty="0"/>
          </a:p>
        </p:txBody>
      </p:sp>
      <p:sp>
        <p:nvSpPr>
          <p:cNvPr id="21" name="Text 19"/>
          <p:cNvSpPr txBox="1"/>
          <p:nvPr/>
        </p:nvSpPr>
        <p:spPr>
          <a:xfrm>
            <a:off x="8275320" y="4297680"/>
            <a:ext cx="3108960" cy="45720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P</a:t>
            </a:r>
            <a:pPr algn="l" indent="0" marL="0">
              <a:buNone/>
            </a:pPr>
            <a:r>
              <a:rPr lang="en-US" sz="1300" baseline="-40000" dirty="0">
                <a:solidFill>
                  <a:srgbClr val="5C5E62"/>
                </a:solidFill>
                <a:latin typeface="Segoe UI" pitchFamily="34" charset="0"/>
                <a:ea typeface="Segoe UI" pitchFamily="34" charset="-122"/>
                <a:cs typeface="Segoe UI" pitchFamily="34" charset="-120"/>
              </a:rPr>
              <a:t>on</a:t>
            </a:r>
            <a:pPr algn="l" indent="0" marL="0">
              <a:buNone/>
            </a:pPr>
            <a:r>
              <a:rPr lang="en-US" sz="1300" dirty="0">
                <a:solidFill>
                  <a:srgbClr val="5C5E62"/>
                </a:solidFill>
                <a:latin typeface="Segoe UI" pitchFamily="34" charset="0"/>
                <a:ea typeface="Segoe UI" pitchFamily="34" charset="-122"/>
                <a:cs typeface="Segoe UI" pitchFamily="34" charset="-120"/>
              </a:rPr>
              <a:t> = I</a:t>
            </a:r>
            <a:pPr algn="l" indent="0" marL="0">
              <a:buNone/>
            </a:pPr>
            <a:r>
              <a:rPr lang="en-US" sz="1300" baseline="-40000" dirty="0">
                <a:solidFill>
                  <a:srgbClr val="5C5E62"/>
                </a:solidFill>
                <a:latin typeface="Segoe UI" pitchFamily="34" charset="0"/>
                <a:ea typeface="Segoe UI" pitchFamily="34" charset="-122"/>
                <a:cs typeface="Segoe UI" pitchFamily="34" charset="-120"/>
              </a:rPr>
              <a:t>on</a:t>
            </a:r>
            <a:pPr algn="l" indent="0" marL="0">
              <a:buNone/>
            </a:pPr>
            <a:r>
              <a:rPr lang="en-US" sz="1300" dirty="0">
                <a:solidFill>
                  <a:srgbClr val="5C5E62"/>
                </a:solidFill>
                <a:latin typeface="Segoe UI" pitchFamily="34" charset="0"/>
                <a:ea typeface="Segoe UI" pitchFamily="34" charset="-122"/>
                <a:cs typeface="Segoe UI" pitchFamily="34" charset="-120"/>
              </a:rPr>
              <a:t> × 0.7 V</a:t>
            </a:r>
            <a:endParaRPr lang="en-US" sz="1300" dirty="0"/>
          </a:p>
        </p:txBody>
      </p:sp>
      <p:sp>
        <p:nvSpPr>
          <p:cNvPr id="22"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Electrically, the standard device is sound.</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125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1 – Thermal result</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Far too hot compared with the paper</a:t>
            </a:r>
            <a:endParaRPr lang="en-US" sz="1600" dirty="0"/>
          </a:p>
        </p:txBody>
      </p:sp>
      <p:graphicFrame>
        <p:nvGraphicFramePr>
          <p:cNvPr id="4" name="Chart 0" descr=""/>
          <p:cNvGraphicFramePr/>
          <p:nvPr/>
        </p:nvGraphicFramePr>
        <p:xfrm>
          <a:off x="548640" y="1463040"/>
          <a:ext cx="603504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132320" y="1645920"/>
            <a:ext cx="4480560" cy="594360"/>
          </a:xfrm>
          <a:prstGeom prst="rect">
            <a:avLst/>
          </a:prstGeom>
          <a:noFill/>
          <a:ln/>
        </p:spPr>
        <p:txBody>
          <a:bodyPr wrap="square" lIns="0" tIns="0" rIns="0" bIns="0" rtlCol="0" anchor="t"/>
          <a:lstStyle/>
          <a:p>
            <a:pPr algn="l" indent="0" marL="0">
              <a:buNone/>
            </a:pPr>
            <a:r>
              <a:rPr lang="en-US" sz="3200" dirty="0">
                <a:solidFill>
                  <a:srgbClr val="D64545"/>
                </a:solidFill>
                <a:latin typeface="Segoe UI Semibold" pitchFamily="34" charset="0"/>
                <a:ea typeface="Segoe UI Semibold" pitchFamily="34" charset="-122"/>
                <a:cs typeface="Segoe UI Semibold" pitchFamily="34" charset="-120"/>
              </a:rPr>
              <a:t>603 K</a:t>
            </a:r>
            <a:endParaRPr lang="en-US" sz="3200" dirty="0"/>
          </a:p>
        </p:txBody>
      </p:sp>
      <p:sp>
        <p:nvSpPr>
          <p:cNvPr id="6" name="Text 3"/>
          <p:cNvSpPr txBox="1"/>
          <p:nvPr/>
        </p:nvSpPr>
        <p:spPr>
          <a:xfrm>
            <a:off x="7132320" y="2240280"/>
            <a:ext cx="448056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peak lattice temperature at the on point</a:t>
            </a:r>
            <a:endParaRPr lang="en-US" sz="1200" dirty="0"/>
          </a:p>
        </p:txBody>
      </p:sp>
      <p:sp>
        <p:nvSpPr>
          <p:cNvPr id="7" name="Text 4"/>
          <p:cNvSpPr txBox="1"/>
          <p:nvPr/>
        </p:nvSpPr>
        <p:spPr>
          <a:xfrm>
            <a:off x="7132320" y="2880360"/>
            <a:ext cx="4480560" cy="594360"/>
          </a:xfrm>
          <a:prstGeom prst="rect">
            <a:avLst/>
          </a:prstGeom>
          <a:noFill/>
          <a:ln/>
        </p:spPr>
        <p:txBody>
          <a:bodyPr wrap="square" lIns="0" tIns="0" rIns="0" bIns="0" rtlCol="0" anchor="t"/>
          <a:lstStyle/>
          <a:p>
            <a:pPr algn="l" indent="0" marL="0">
              <a:buNone/>
            </a:pPr>
            <a:r>
              <a:rPr lang="en-US" sz="3200" dirty="0">
                <a:solidFill>
                  <a:srgbClr val="171A20"/>
                </a:solidFill>
                <a:latin typeface="Segoe UI Semibold" pitchFamily="34" charset="0"/>
                <a:ea typeface="Segoe UI Semibold" pitchFamily="34" charset="-122"/>
                <a:cs typeface="Segoe UI Semibold" pitchFamily="34" charset="-120"/>
              </a:rPr>
              <a:t>2.42 × 10⁷</a:t>
            </a:r>
            <a:endParaRPr lang="en-US" sz="3200" dirty="0"/>
          </a:p>
        </p:txBody>
      </p:sp>
      <p:sp>
        <p:nvSpPr>
          <p:cNvPr id="8" name="Text 5"/>
          <p:cNvSpPr txBox="1"/>
          <p:nvPr/>
        </p:nvSpPr>
        <p:spPr>
          <a:xfrm>
            <a:off x="7132320" y="3474720"/>
            <a:ext cx="448056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R</a:t>
            </a:r>
            <a:pPr algn="l" indent="0" marL="0">
              <a:buNone/>
            </a:pPr>
            <a:r>
              <a:rPr lang="en-US" sz="1200" baseline="-40000" dirty="0">
                <a:solidFill>
                  <a:srgbClr val="5C5E62"/>
                </a:solidFill>
                <a:latin typeface="Segoe UI" pitchFamily="34" charset="0"/>
                <a:ea typeface="Segoe UI" pitchFamily="34" charset="-122"/>
                <a:cs typeface="Segoe UI" pitchFamily="34" charset="-120"/>
              </a:rPr>
              <a:t>th</a:t>
            </a:r>
            <a:pPr algn="l" indent="0" marL="0">
              <a:buNone/>
            </a:pPr>
            <a:r>
              <a:rPr lang="en-US" sz="1200" dirty="0">
                <a:solidFill>
                  <a:srgbClr val="5C5E62"/>
                </a:solidFill>
                <a:latin typeface="Segoe UI" pitchFamily="34" charset="0"/>
                <a:ea typeface="Segoe UI" pitchFamily="34" charset="-122"/>
                <a:cs typeface="Segoe UI" pitchFamily="34" charset="-120"/>
              </a:rPr>
              <a:t> in K/W (paper: 2.16 × 10⁶)</a:t>
            </a:r>
            <a:endParaRPr lang="en-US" sz="1200" dirty="0"/>
          </a:p>
        </p:txBody>
      </p:sp>
      <p:sp>
        <p:nvSpPr>
          <p:cNvPr id="9" name="Text 6"/>
          <p:cNvSpPr txBox="1"/>
          <p:nvPr/>
        </p:nvSpPr>
        <p:spPr>
          <a:xfrm>
            <a:off x="7132320" y="4114800"/>
            <a:ext cx="4480560" cy="594360"/>
          </a:xfrm>
          <a:prstGeom prst="rect">
            <a:avLst/>
          </a:prstGeom>
          <a:noFill/>
          <a:ln/>
        </p:spPr>
        <p:txBody>
          <a:bodyPr wrap="square" lIns="0" tIns="0" rIns="0" bIns="0" rtlCol="0" anchor="t"/>
          <a:lstStyle/>
          <a:p>
            <a:pPr algn="l" indent="0" marL="0">
              <a:buNone/>
            </a:pPr>
            <a:r>
              <a:rPr lang="en-US" sz="3200" dirty="0">
                <a:solidFill>
                  <a:srgbClr val="D64545"/>
                </a:solidFill>
                <a:latin typeface="Segoe UI Semibold" pitchFamily="34" charset="0"/>
                <a:ea typeface="Segoe UI Semibold" pitchFamily="34" charset="-122"/>
                <a:cs typeface="Segoe UI Semibold" pitchFamily="34" charset="-120"/>
              </a:rPr>
              <a:t>11×</a:t>
            </a:r>
            <a:endParaRPr lang="en-US" sz="3200" dirty="0"/>
          </a:p>
        </p:txBody>
      </p:sp>
      <p:sp>
        <p:nvSpPr>
          <p:cNvPr id="10" name="Text 7"/>
          <p:cNvSpPr txBox="1"/>
          <p:nvPr/>
        </p:nvSpPr>
        <p:spPr>
          <a:xfrm>
            <a:off x="7132320" y="4709160"/>
            <a:ext cx="448056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too hot compared with the base paper</a:t>
            </a:r>
            <a:endParaRPr lang="en-US" sz="1200" dirty="0"/>
          </a:p>
        </p:txBody>
      </p:sp>
      <p:sp>
        <p:nvSpPr>
          <p:cNvPr id="11"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Thermally wrong: the template heat exits let almost no heat out.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126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2 – What is different from the paper?</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Line-by-line comparison of our standard device with the base paper</a:t>
            </a:r>
            <a:endParaRPr lang="en-US" sz="1600" dirty="0"/>
          </a:p>
        </p:txBody>
      </p:sp>
      <p:graphicFrame>
        <p:nvGraphicFramePr>
          <p:cNvPr id="12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194560"/>
                <a:gridCol w="3566160"/>
                <a:gridCol w="3566160"/>
                <a:gridCol w="1764792"/>
              </a:tblGrid>
              <a:tr h="54864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Item</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Base paper</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Our standard device</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Same?</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r>
              <a:tr h="548640">
                <a:tc>
                  <a:txBody>
                    <a:bodyPr/>
                    <a:lstStyle/>
                    <a:p>
                      <a:pPr indent="0" marL="0">
                        <a:buNone/>
                      </a:pPr>
                      <a:r>
                        <a:rPr lang="en-US" sz="1400" b="1" dirty="0">
                          <a:solidFill>
                            <a:srgbClr val="171A20"/>
                          </a:solidFill>
                          <a:latin typeface="Segoe UI" pitchFamily="34" charset="0"/>
                          <a:ea typeface="Segoe UI" pitchFamily="34" charset="-122"/>
                          <a:cs typeface="Segoe UI" pitchFamily="34" charset="-120"/>
                        </a:rPr>
                        <a:t>Gate length</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400" dirty="0">
                          <a:solidFill>
                            <a:srgbClr val="171A20"/>
                          </a:solidFill>
                          <a:latin typeface="Segoe UI" pitchFamily="34" charset="0"/>
                          <a:ea typeface="Segoe UI" pitchFamily="34" charset="-122"/>
                          <a:cs typeface="Segoe UI" pitchFamily="34" charset="-120"/>
                        </a:rPr>
                        <a:t>14 nm</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400" dirty="0">
                          <a:solidFill>
                            <a:srgbClr val="171A20"/>
                          </a:solidFill>
                          <a:latin typeface="Segoe UI" pitchFamily="34" charset="0"/>
                          <a:ea typeface="Segoe UI" pitchFamily="34" charset="-122"/>
                          <a:cs typeface="Segoe UI" pitchFamily="34" charset="-120"/>
                        </a:rPr>
                        <a:t>14 nm</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400" b="1" dirty="0">
                          <a:solidFill>
                            <a:srgbClr val="2E9E4F"/>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548640">
                <a:tc>
                  <a:txBody>
                    <a:bodyPr/>
                    <a:lstStyle/>
                    <a:p>
                      <a:pPr indent="0" marL="0">
                        <a:buNone/>
                      </a:pPr>
                      <a:r>
                        <a:rPr lang="en-US" sz="1400" b="1" dirty="0">
                          <a:solidFill>
                            <a:srgbClr val="171A20"/>
                          </a:solidFill>
                          <a:latin typeface="Segoe UI" pitchFamily="34" charset="0"/>
                          <a:ea typeface="Segoe UI" pitchFamily="34" charset="-122"/>
                          <a:cs typeface="Segoe UI" pitchFamily="34" charset="-120"/>
                        </a:rPr>
                        <a:t>Gate oxide</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400" dirty="0">
                          <a:solidFill>
                            <a:srgbClr val="171A20"/>
                          </a:solidFill>
                          <a:latin typeface="Segoe UI" pitchFamily="34" charset="0"/>
                          <a:ea typeface="Segoe UI" pitchFamily="34" charset="-122"/>
                          <a:cs typeface="Segoe UI" pitchFamily="34" charset="-120"/>
                        </a:rPr>
                        <a:t>1.1 nm HfO2</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400" dirty="0">
                          <a:solidFill>
                            <a:srgbClr val="171A20"/>
                          </a:solidFill>
                          <a:latin typeface="Segoe UI" pitchFamily="34" charset="0"/>
                          <a:ea typeface="Segoe UI" pitchFamily="34" charset="-122"/>
                          <a:cs typeface="Segoe UI" pitchFamily="34" charset="-120"/>
                        </a:rPr>
                        <a:t>1.1 nm HfO2 + 0.6 nm SiO2</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400" b="1" dirty="0">
                          <a:solidFill>
                            <a:srgbClr val="2E9E4F"/>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548640">
                <a:tc>
                  <a:txBody>
                    <a:bodyPr/>
                    <a:lstStyle/>
                    <a:p>
                      <a:pPr indent="0" marL="0">
                        <a:buNone/>
                      </a:pPr>
                      <a:r>
                        <a:rPr lang="en-US" sz="1400" b="1" dirty="0">
                          <a:solidFill>
                            <a:srgbClr val="171A20"/>
                          </a:solidFill>
                          <a:latin typeface="Segoe UI" pitchFamily="34" charset="0"/>
                          <a:ea typeface="Segoe UI" pitchFamily="34" charset="-122"/>
                          <a:cs typeface="Segoe UI" pitchFamily="34" charset="-120"/>
                        </a:rPr>
                        <a:t>κ values</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400" dirty="0">
                          <a:solidFill>
                            <a:srgbClr val="171A20"/>
                          </a:solidFill>
                          <a:latin typeface="Segoe UI" pitchFamily="34" charset="0"/>
                          <a:ea typeface="Segoe UI" pitchFamily="34" charset="-122"/>
                          <a:cs typeface="Segoe UI" pitchFamily="34" charset="-120"/>
                        </a:rPr>
                        <a:t>Table I</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400" dirty="0">
                          <a:solidFill>
                            <a:srgbClr val="171A20"/>
                          </a:solidFill>
                          <a:latin typeface="Segoe UI" pitchFamily="34" charset="0"/>
                          <a:ea typeface="Segoe UI" pitchFamily="34" charset="-122"/>
                          <a:cs typeface="Segoe UI" pitchFamily="34" charset="-120"/>
                        </a:rPr>
                        <a:t>Table I</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400" b="1" dirty="0">
                          <a:solidFill>
                            <a:srgbClr val="2E9E4F"/>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548640">
                <a:tc>
                  <a:txBody>
                    <a:bodyPr/>
                    <a:lstStyle/>
                    <a:p>
                      <a:pPr indent="0" marL="0">
                        <a:buNone/>
                      </a:pPr>
                      <a:r>
                        <a:rPr lang="en-US" sz="1400" b="1" dirty="0">
                          <a:solidFill>
                            <a:srgbClr val="171A20"/>
                          </a:solidFill>
                          <a:latin typeface="Segoe UI" pitchFamily="34" charset="0"/>
                          <a:ea typeface="Segoe UI" pitchFamily="34" charset="-122"/>
                          <a:cs typeface="Segoe UI" pitchFamily="34" charset="-120"/>
                        </a:rPr>
                        <a:t>Channel</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AEA"/>
                    </a:solidFill>
                  </a:tcPr>
                </a:tc>
                <a:tc>
                  <a:txBody>
                    <a:bodyPr/>
                    <a:lstStyle/>
                    <a:p>
                      <a:pPr indent="0" marL="0">
                        <a:buNone/>
                      </a:pPr>
                      <a:r>
                        <a:rPr lang="en-US" sz="1400" dirty="0">
                          <a:solidFill>
                            <a:srgbClr val="171A20"/>
                          </a:solidFill>
                          <a:latin typeface="Segoe UI" pitchFamily="34" charset="0"/>
                          <a:ea typeface="Segoe UI" pitchFamily="34" charset="-122"/>
                          <a:cs typeface="Segoe UI" pitchFamily="34" charset="-120"/>
                        </a:rPr>
                        <a:t>20 × 5 nm sheet = 100 nm²</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AEA"/>
                    </a:solidFill>
                  </a:tcPr>
                </a:tc>
                <a:tc>
                  <a:txBody>
                    <a:bodyPr/>
                    <a:lstStyle/>
                    <a:p>
                      <a:pPr indent="0" marL="0">
                        <a:buNone/>
                      </a:pPr>
                      <a:r>
                        <a:rPr lang="en-US" sz="1400" dirty="0">
                          <a:solidFill>
                            <a:srgbClr val="171A20"/>
                          </a:solidFill>
                          <a:latin typeface="Segoe UI" pitchFamily="34" charset="0"/>
                          <a:ea typeface="Segoe UI" pitchFamily="34" charset="-122"/>
                          <a:cs typeface="Segoe UI" pitchFamily="34" charset="-120"/>
                        </a:rPr>
                        <a:t>wire r = 4 nm = 50 nm²</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AEA"/>
                    </a:solidFill>
                  </a:tcPr>
                </a:tc>
                <a:tc>
                  <a:txBody>
                    <a:bodyPr/>
                    <a:lstStyle/>
                    <a:p>
                      <a:pPr indent="0" marL="0">
                        <a:buNone/>
                      </a:pPr>
                      <a:r>
                        <a:rPr lang="en-US" sz="1400" b="1" dirty="0">
                          <a:solidFill>
                            <a:srgbClr val="D64545"/>
                          </a:solidFill>
                          <a:latin typeface="Segoe UI" pitchFamily="34" charset="0"/>
                          <a:ea typeface="Segoe UI" pitchFamily="34" charset="-122"/>
                          <a:cs typeface="Segoe UI" pitchFamily="34" charset="-120"/>
                        </a:rPr>
                        <a:t>✗  change 1</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AEA"/>
                    </a:solidFill>
                  </a:tcPr>
                </a:tc>
              </a:tr>
              <a:tr h="548640">
                <a:tc>
                  <a:txBody>
                    <a:bodyPr/>
                    <a:lstStyle/>
                    <a:p>
                      <a:pPr indent="0" marL="0">
                        <a:buNone/>
                      </a:pPr>
                      <a:r>
                        <a:rPr lang="en-US" sz="1400" b="1" dirty="0">
                          <a:solidFill>
                            <a:srgbClr val="171A20"/>
                          </a:solidFill>
                          <a:latin typeface="Segoe UI" pitchFamily="34" charset="0"/>
                          <a:ea typeface="Segoe UI" pitchFamily="34" charset="-122"/>
                          <a:cs typeface="Segoe UI" pitchFamily="34" charset="-120"/>
                        </a:rPr>
                        <a:t>Heat exit</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AEA"/>
                    </a:solidFill>
                  </a:tcPr>
                </a:tc>
                <a:tc>
                  <a:txBody>
                    <a:bodyPr/>
                    <a:lstStyle/>
                    <a:p>
                      <a:pPr indent="0" marL="0">
                        <a:buNone/>
                      </a:pPr>
                      <a:r>
                        <a:rPr lang="en-US" sz="1400" dirty="0">
                          <a:solidFill>
                            <a:srgbClr val="171A20"/>
                          </a:solidFill>
                          <a:latin typeface="Segoe UI" pitchFamily="34" charset="0"/>
                          <a:ea typeface="Segoe UI" pitchFamily="34" charset="-122"/>
                          <a:cs typeface="Segoe UI" pitchFamily="34" charset="-120"/>
                        </a:rPr>
                        <a:t>Si substrate, copper wiring</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AEA"/>
                    </a:solidFill>
                  </a:tcPr>
                </a:tc>
                <a:tc>
                  <a:txBody>
                    <a:bodyPr/>
                    <a:lstStyle/>
                    <a:p>
                      <a:pPr indent="0" marL="0">
                        <a:buNone/>
                      </a:pPr>
                      <a:r>
                        <a:rPr lang="en-US" sz="1400" dirty="0">
                          <a:solidFill>
                            <a:srgbClr val="171A20"/>
                          </a:solidFill>
                          <a:latin typeface="Segoe UI" pitchFamily="34" charset="0"/>
                          <a:ea typeface="Segoe UI" pitchFamily="34" charset="-122"/>
                          <a:cs typeface="Segoe UI" pitchFamily="34" charset="-120"/>
                        </a:rPr>
                        <a:t>contacts with α = 5000</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AEA"/>
                    </a:solidFill>
                  </a:tcPr>
                </a:tc>
                <a:tc>
                  <a:txBody>
                    <a:bodyPr/>
                    <a:lstStyle/>
                    <a:p>
                      <a:pPr indent="0" marL="0">
                        <a:buNone/>
                      </a:pPr>
                      <a:r>
                        <a:rPr lang="en-US" sz="1400" b="1" dirty="0">
                          <a:solidFill>
                            <a:srgbClr val="D64545"/>
                          </a:solidFill>
                          <a:latin typeface="Segoe UI" pitchFamily="34" charset="0"/>
                          <a:ea typeface="Segoe UI" pitchFamily="34" charset="-122"/>
                          <a:cs typeface="Segoe UI" pitchFamily="34" charset="-120"/>
                        </a:rPr>
                        <a:t>✗  change 2</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AEA"/>
                    </a:solidFill>
                  </a:tcPr>
                </a:tc>
              </a:tr>
            </a:tbl>
          </a:graphicData>
        </a:graphic>
      </p:graphicFrame>
      <p:sp>
        <p:nvSpPr>
          <p:cNvPr id="5"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Two changes: the channel area and the heat exit.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127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2 – Change 1: the channel area</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Keep Atlas cylindrical, but give the wire the same silicon area as the paper's sheet</a:t>
            </a:r>
            <a:endParaRPr lang="en-US" sz="1600" dirty="0"/>
          </a:p>
        </p:txBody>
      </p:sp>
      <p:sp>
        <p:nvSpPr>
          <p:cNvPr id="4" name="!!sdot0"/>
          <p:cNvSpPr/>
          <p:nvPr/>
        </p:nvSpPr>
        <p:spPr>
          <a:xfrm>
            <a:off x="11443716" y="525780"/>
            <a:ext cx="82296" cy="82296"/>
          </a:xfrm>
          <a:prstGeom prst="ellipse">
            <a:avLst/>
          </a:prstGeom>
          <a:solidFill>
            <a:srgbClr val="171A20"/>
          </a:solidFill>
          <a:ln/>
        </p:spPr>
      </p:sp>
      <p:sp>
        <p:nvSpPr>
          <p:cNvPr id="5" name="!!sdot1"/>
          <p:cNvSpPr/>
          <p:nvPr/>
        </p:nvSpPr>
        <p:spPr>
          <a:xfrm>
            <a:off x="11599164" y="525780"/>
            <a:ext cx="82296" cy="82296"/>
          </a:xfrm>
          <a:prstGeom prst="ellipse">
            <a:avLst/>
          </a:prstGeom>
          <a:solidFill>
            <a:srgbClr val="E2E3E3"/>
          </a:solidFill>
          <a:ln/>
        </p:spPr>
      </p:sp>
      <p:sp>
        <p:nvSpPr>
          <p:cNvPr id="6" name="!!c1Ch"/>
          <p:cNvSpPr/>
          <p:nvPr/>
        </p:nvSpPr>
        <p:spPr>
          <a:xfrm>
            <a:off x="1645920" y="2926080"/>
            <a:ext cx="2926080" cy="731520"/>
          </a:xfrm>
          <a:prstGeom prst="roundRect">
            <a:avLst>
              <a:gd name="adj" fmla="val 12000"/>
            </a:avLst>
          </a:prstGeom>
          <a:solidFill>
            <a:srgbClr val="F6E7B8"/>
          </a:solidFill>
          <a:ln w="19050">
            <a:solidFill>
              <a:srgbClr val="C9A94A"/>
            </a:solidFill>
            <a:prstDash val="solid"/>
          </a:ln>
        </p:spPr>
      </p:sp>
      <p:sp>
        <p:nvSpPr>
          <p:cNvPr id="7" name="!!c1Old"/>
          <p:cNvSpPr/>
          <p:nvPr/>
        </p:nvSpPr>
        <p:spPr>
          <a:xfrm>
            <a:off x="2640787" y="2823667"/>
            <a:ext cx="936346" cy="936346"/>
          </a:xfrm>
          <a:prstGeom prst="ellipse">
            <a:avLst/>
          </a:prstGeom>
          <a:solidFill>
            <a:srgbClr val="FFFFFF">
              <a:alpha val="0"/>
            </a:srgbClr>
          </a:solidFill>
          <a:ln w="12700">
            <a:solidFill>
              <a:srgbClr val="8A8D93"/>
            </a:solidFill>
            <a:prstDash val="solid"/>
          </a:ln>
        </p:spPr>
      </p:sp>
      <p:sp>
        <p:nvSpPr>
          <p:cNvPr id="8" name="!!c1OldL"/>
          <p:cNvSpPr txBox="1"/>
          <p:nvPr/>
        </p:nvSpPr>
        <p:spPr>
          <a:xfrm>
            <a:off x="1737360" y="4434840"/>
            <a:ext cx="2743200" cy="228600"/>
          </a:xfrm>
          <a:prstGeom prst="rect">
            <a:avLst/>
          </a:prstGeom>
          <a:noFill/>
          <a:ln/>
        </p:spPr>
        <p:txBody>
          <a:bodyPr wrap="square" lIns="0" tIns="0" rIns="0" bIns="0" rtlCol="0" anchor="t"/>
          <a:lstStyle/>
          <a:p>
            <a:pPr algn="ctr" indent="0" marL="0">
              <a:buNone/>
            </a:pPr>
            <a:r>
              <a:rPr lang="en-US" sz="1100" dirty="0">
                <a:solidFill>
                  <a:srgbClr val="8A8D93"/>
                </a:solidFill>
                <a:latin typeface="Segoe UI" pitchFamily="34" charset="0"/>
                <a:ea typeface="Segoe UI" pitchFamily="34" charset="-122"/>
                <a:cs typeface="Segoe UI" pitchFamily="34" charset="-120"/>
              </a:rPr>
              <a:t>grey outline: old wire r = 4 nm</a:t>
            </a:r>
            <a:endParaRPr lang="en-US" sz="1100" dirty="0"/>
          </a:p>
        </p:txBody>
      </p:sp>
      <p:sp>
        <p:nvSpPr>
          <p:cNvPr id="9" name="!!c1Lab"/>
          <p:cNvSpPr txBox="1"/>
          <p:nvPr/>
        </p:nvSpPr>
        <p:spPr>
          <a:xfrm>
            <a:off x="548640" y="1508760"/>
            <a:ext cx="5120640" cy="365760"/>
          </a:xfrm>
          <a:prstGeom prst="rect">
            <a:avLst/>
          </a:prstGeom>
          <a:noFill/>
          <a:ln/>
        </p:spPr>
        <p:txBody>
          <a:bodyPr wrap="square" lIns="0" tIns="0" rIns="0" bIns="0" rtlCol="0" anchor="t"/>
          <a:lstStyle/>
          <a:p>
            <a:pPr algn="ctr" indent="0" marL="0">
              <a:buNone/>
            </a:pPr>
            <a:r>
              <a:rPr lang="en-US" sz="1700" dirty="0">
                <a:solidFill>
                  <a:srgbClr val="171A20"/>
                </a:solidFill>
                <a:latin typeface="Segoe UI Semibold" pitchFamily="34" charset="0"/>
                <a:ea typeface="Segoe UI Semibold" pitchFamily="34" charset="-122"/>
                <a:cs typeface="Segoe UI Semibold" pitchFamily="34" charset="-120"/>
              </a:rPr>
              <a:t>Paper: 20 × 5 nm nanosheet = 100 nm²</a:t>
            </a:r>
            <a:endParaRPr lang="en-US" sz="1700" dirty="0"/>
          </a:p>
        </p:txBody>
      </p:sp>
      <p:sp>
        <p:nvSpPr>
          <p:cNvPr id="10" name="!!chip0"/>
          <p:cNvSpPr/>
          <p:nvPr/>
        </p:nvSpPr>
        <p:spPr>
          <a:xfrm>
            <a:off x="6675120" y="1554480"/>
            <a:ext cx="1581912" cy="713232"/>
          </a:xfrm>
          <a:prstGeom prst="roundRect">
            <a:avLst>
              <a:gd name="adj" fmla="val 7692"/>
            </a:avLst>
          </a:prstGeom>
          <a:solidFill>
            <a:srgbClr val="F4F5F7"/>
          </a:solidFill>
          <a:ln/>
        </p:spPr>
      </p:sp>
      <p:sp>
        <p:nvSpPr>
          <p:cNvPr id="11" name="!!chipk0"/>
          <p:cNvSpPr txBox="1"/>
          <p:nvPr/>
        </p:nvSpPr>
        <p:spPr>
          <a:xfrm>
            <a:off x="6784848" y="1627632"/>
            <a:ext cx="13624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silicon area</a:t>
            </a:r>
            <a:endParaRPr lang="en-US" sz="1000" dirty="0"/>
          </a:p>
        </p:txBody>
      </p:sp>
      <p:sp>
        <p:nvSpPr>
          <p:cNvPr id="12" name="!!chipv0"/>
          <p:cNvSpPr txBox="1"/>
          <p:nvPr/>
        </p:nvSpPr>
        <p:spPr>
          <a:xfrm>
            <a:off x="6784848" y="1865376"/>
            <a:ext cx="13990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100 nm²</a:t>
            </a:r>
            <a:endParaRPr lang="en-US" sz="1500" dirty="0"/>
          </a:p>
        </p:txBody>
      </p:sp>
      <p:sp>
        <p:nvSpPr>
          <p:cNvPr id="13" name="!!chip1"/>
          <p:cNvSpPr/>
          <p:nvPr/>
        </p:nvSpPr>
        <p:spPr>
          <a:xfrm>
            <a:off x="8366760" y="1554480"/>
            <a:ext cx="1581912" cy="713232"/>
          </a:xfrm>
          <a:prstGeom prst="roundRect">
            <a:avLst>
              <a:gd name="adj" fmla="val 7692"/>
            </a:avLst>
          </a:prstGeom>
          <a:solidFill>
            <a:srgbClr val="F4F5F7"/>
          </a:solidFill>
          <a:ln/>
        </p:spPr>
      </p:sp>
      <p:sp>
        <p:nvSpPr>
          <p:cNvPr id="14" name="!!chipk1"/>
          <p:cNvSpPr txBox="1"/>
          <p:nvPr/>
        </p:nvSpPr>
        <p:spPr>
          <a:xfrm>
            <a:off x="8476488" y="1627632"/>
            <a:ext cx="13624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radius r</a:t>
            </a:r>
            <a:endParaRPr lang="en-US" sz="1000" dirty="0"/>
          </a:p>
        </p:txBody>
      </p:sp>
      <p:sp>
        <p:nvSpPr>
          <p:cNvPr id="15" name="!!chipv1"/>
          <p:cNvSpPr txBox="1"/>
          <p:nvPr/>
        </p:nvSpPr>
        <p:spPr>
          <a:xfrm>
            <a:off x="8476488" y="1865376"/>
            <a:ext cx="13990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a:t>
            </a:r>
            <a:endParaRPr lang="en-US" sz="1500" dirty="0"/>
          </a:p>
        </p:txBody>
      </p:sp>
      <p:sp>
        <p:nvSpPr>
          <p:cNvPr id="16" name="!!chip2"/>
          <p:cNvSpPr/>
          <p:nvPr/>
        </p:nvSpPr>
        <p:spPr>
          <a:xfrm>
            <a:off x="10058400" y="1554480"/>
            <a:ext cx="1581912" cy="713232"/>
          </a:xfrm>
          <a:prstGeom prst="roundRect">
            <a:avLst>
              <a:gd name="adj" fmla="val 7692"/>
            </a:avLst>
          </a:prstGeom>
          <a:solidFill>
            <a:srgbClr val="F4F5F7"/>
          </a:solidFill>
          <a:ln/>
        </p:spPr>
      </p:sp>
      <p:sp>
        <p:nvSpPr>
          <p:cNvPr id="17" name="!!chipk2"/>
          <p:cNvSpPr txBox="1"/>
          <p:nvPr/>
        </p:nvSpPr>
        <p:spPr>
          <a:xfrm>
            <a:off x="10168128" y="1627632"/>
            <a:ext cx="13624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W</a:t>
            </a:r>
            <a:pPr algn="l" indent="0" marL="0">
              <a:buNone/>
            </a:pPr>
            <a:r>
              <a:rPr lang="en-US" sz="1000" baseline="-40000" dirty="0">
                <a:solidFill>
                  <a:srgbClr val="5C5E62"/>
                </a:solidFill>
                <a:latin typeface="Segoe UI" pitchFamily="34" charset="0"/>
                <a:ea typeface="Segoe UI" pitchFamily="34" charset="-122"/>
                <a:cs typeface="Segoe UI" pitchFamily="34" charset="-120"/>
              </a:rPr>
              <a:t>eff</a:t>
            </a:r>
            <a:pPr algn="l" indent="0" marL="0">
              <a:buNone/>
            </a:pPr>
            <a:r>
              <a:rPr lang="en-US" sz="1000" dirty="0">
                <a:solidFill>
                  <a:srgbClr val="5C5E62"/>
                </a:solidFill>
                <a:latin typeface="Segoe UI" pitchFamily="34" charset="0"/>
                <a:ea typeface="Segoe UI" pitchFamily="34" charset="-122"/>
                <a:cs typeface="Segoe UI" pitchFamily="34" charset="-120"/>
              </a:rPr>
              <a:t> (perimeter)</a:t>
            </a:r>
            <a:endParaRPr lang="en-US" sz="1000" dirty="0"/>
          </a:p>
        </p:txBody>
      </p:sp>
      <p:sp>
        <p:nvSpPr>
          <p:cNvPr id="18" name="!!chipv2"/>
          <p:cNvSpPr txBox="1"/>
          <p:nvPr/>
        </p:nvSpPr>
        <p:spPr>
          <a:xfrm>
            <a:off x="10168128" y="1865376"/>
            <a:ext cx="13990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50 nm</a:t>
            </a:r>
            <a:endParaRPr lang="en-US" sz="1500" dirty="0"/>
          </a:p>
        </p:txBody>
      </p:sp>
      <p:sp>
        <p:nvSpPr>
          <p:cNvPr id="19" name="!!c1Card"/>
          <p:cNvSpPr/>
          <p:nvPr/>
        </p:nvSpPr>
        <p:spPr>
          <a:xfrm>
            <a:off x="6675120" y="2514600"/>
            <a:ext cx="4965192" cy="2103120"/>
          </a:xfrm>
          <a:prstGeom prst="roundRect">
            <a:avLst>
              <a:gd name="adj" fmla="val 3478"/>
            </a:avLst>
          </a:prstGeom>
          <a:solidFill>
            <a:srgbClr val="F4F5F7"/>
          </a:solidFill>
          <a:ln/>
        </p:spPr>
      </p:sp>
      <p:sp>
        <p:nvSpPr>
          <p:cNvPr id="20" name="!!c1Cardh"/>
          <p:cNvSpPr txBox="1"/>
          <p:nvPr/>
        </p:nvSpPr>
        <p:spPr>
          <a:xfrm>
            <a:off x="6903720" y="2734056"/>
            <a:ext cx="4553712" cy="347472"/>
          </a:xfrm>
          <a:prstGeom prst="rect">
            <a:avLst/>
          </a:prstGeom>
          <a:noFill/>
          <a:ln/>
        </p:spPr>
        <p:txBody>
          <a:bodyPr wrap="square" lIns="0" tIns="0" rIns="0" bIns="0" rtlCol="0" anchor="ctr"/>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Why area matters</a:t>
            </a:r>
            <a:endParaRPr lang="en-US" sz="1600" dirty="0"/>
          </a:p>
        </p:txBody>
      </p:sp>
      <p:sp>
        <p:nvSpPr>
          <p:cNvPr id="21" name="!!c1Cardb"/>
          <p:cNvSpPr txBox="1"/>
          <p:nvPr/>
        </p:nvSpPr>
        <p:spPr>
          <a:xfrm>
            <a:off x="6903720" y="3227832"/>
            <a:ext cx="4507992" cy="123444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The same current in less silicon gives more heat per volume. So we match the area first, then the heat exit.</a:t>
            </a:r>
            <a:endParaRPr lang="en-US" sz="1300" dirty="0"/>
          </a:p>
        </p:txBody>
      </p:sp>
      <p:sp>
        <p:nvSpPr>
          <p:cNvPr id="22"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 paper's channel holds 100 nm² of silicon; our 4 nm wire only 50 nm².</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128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2 – Change 1: the channel area</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Keep Atlas cylindrical, but give the wire the same silicon area as the paper's sheet</a:t>
            </a:r>
            <a:endParaRPr lang="en-US" sz="1600" dirty="0"/>
          </a:p>
        </p:txBody>
      </p:sp>
      <p:sp>
        <p:nvSpPr>
          <p:cNvPr id="4" name="!!sdot0"/>
          <p:cNvSpPr/>
          <p:nvPr/>
        </p:nvSpPr>
        <p:spPr>
          <a:xfrm>
            <a:off x="11443716" y="525780"/>
            <a:ext cx="82296" cy="82296"/>
          </a:xfrm>
          <a:prstGeom prst="ellipse">
            <a:avLst/>
          </a:prstGeom>
          <a:solidFill>
            <a:srgbClr val="171A20"/>
          </a:solidFill>
          <a:ln/>
        </p:spPr>
      </p:sp>
      <p:sp>
        <p:nvSpPr>
          <p:cNvPr id="5" name="!!sdot1"/>
          <p:cNvSpPr/>
          <p:nvPr/>
        </p:nvSpPr>
        <p:spPr>
          <a:xfrm>
            <a:off x="11599164" y="525780"/>
            <a:ext cx="82296" cy="82296"/>
          </a:xfrm>
          <a:prstGeom prst="ellipse">
            <a:avLst/>
          </a:prstGeom>
          <a:solidFill>
            <a:srgbClr val="171A20"/>
          </a:solidFill>
          <a:ln/>
        </p:spPr>
      </p:sp>
      <p:sp>
        <p:nvSpPr>
          <p:cNvPr id="6" name="!!c1Ch"/>
          <p:cNvSpPr/>
          <p:nvPr/>
        </p:nvSpPr>
        <p:spPr>
          <a:xfrm>
            <a:off x="2283805" y="2466685"/>
            <a:ext cx="1650309" cy="1650309"/>
          </a:xfrm>
          <a:prstGeom prst="roundRect">
            <a:avLst>
              <a:gd name="adj" fmla="val 50000"/>
            </a:avLst>
          </a:prstGeom>
          <a:solidFill>
            <a:srgbClr val="F6E7B8"/>
          </a:solidFill>
          <a:ln w="19050">
            <a:solidFill>
              <a:srgbClr val="C9A94A"/>
            </a:solidFill>
            <a:prstDash val="solid"/>
          </a:ln>
        </p:spPr>
      </p:sp>
      <p:sp>
        <p:nvSpPr>
          <p:cNvPr id="7" name="!!c1Old"/>
          <p:cNvSpPr/>
          <p:nvPr/>
        </p:nvSpPr>
        <p:spPr>
          <a:xfrm>
            <a:off x="2640787" y="2823667"/>
            <a:ext cx="936346" cy="936346"/>
          </a:xfrm>
          <a:prstGeom prst="ellipse">
            <a:avLst/>
          </a:prstGeom>
          <a:solidFill>
            <a:srgbClr val="FFFFFF">
              <a:alpha val="0"/>
            </a:srgbClr>
          </a:solidFill>
          <a:ln w="12700">
            <a:solidFill>
              <a:srgbClr val="8A8D93"/>
            </a:solidFill>
            <a:prstDash val="solid"/>
          </a:ln>
        </p:spPr>
      </p:sp>
      <p:sp>
        <p:nvSpPr>
          <p:cNvPr id="8" name="!!c1OldL"/>
          <p:cNvSpPr txBox="1"/>
          <p:nvPr/>
        </p:nvSpPr>
        <p:spPr>
          <a:xfrm>
            <a:off x="1737360" y="4434840"/>
            <a:ext cx="2743200" cy="228600"/>
          </a:xfrm>
          <a:prstGeom prst="rect">
            <a:avLst/>
          </a:prstGeom>
          <a:noFill/>
          <a:ln/>
        </p:spPr>
        <p:txBody>
          <a:bodyPr wrap="square" lIns="0" tIns="0" rIns="0" bIns="0" rtlCol="0" anchor="t"/>
          <a:lstStyle/>
          <a:p>
            <a:pPr algn="ctr" indent="0" marL="0">
              <a:buNone/>
            </a:pPr>
            <a:r>
              <a:rPr lang="en-US" sz="1100" dirty="0">
                <a:solidFill>
                  <a:srgbClr val="8A8D93"/>
                </a:solidFill>
                <a:latin typeface="Segoe UI" pitchFamily="34" charset="0"/>
                <a:ea typeface="Segoe UI" pitchFamily="34" charset="-122"/>
                <a:cs typeface="Segoe UI" pitchFamily="34" charset="-120"/>
              </a:rPr>
              <a:t>grey outline: old wire r = 4 nm</a:t>
            </a:r>
            <a:endParaRPr lang="en-US" sz="1100" dirty="0"/>
          </a:p>
        </p:txBody>
      </p:sp>
      <p:sp>
        <p:nvSpPr>
          <p:cNvPr id="9" name="!!c1Lab"/>
          <p:cNvSpPr txBox="1"/>
          <p:nvPr/>
        </p:nvSpPr>
        <p:spPr>
          <a:xfrm>
            <a:off x="548640" y="1508760"/>
            <a:ext cx="5120640" cy="365760"/>
          </a:xfrm>
          <a:prstGeom prst="rect">
            <a:avLst/>
          </a:prstGeom>
          <a:noFill/>
          <a:ln/>
        </p:spPr>
        <p:txBody>
          <a:bodyPr wrap="square" lIns="0" tIns="0" rIns="0" bIns="0" rtlCol="0" anchor="t"/>
          <a:lstStyle/>
          <a:p>
            <a:pPr algn="ctr" indent="0" marL="0">
              <a:buNone/>
            </a:pPr>
            <a:r>
              <a:rPr lang="en-US" sz="1700" dirty="0">
                <a:solidFill>
                  <a:srgbClr val="171A20"/>
                </a:solidFill>
                <a:latin typeface="Segoe UI Semibold" pitchFamily="34" charset="0"/>
                <a:ea typeface="Segoe UI Semibold" pitchFamily="34" charset="-122"/>
                <a:cs typeface="Segoe UI Semibold" pitchFamily="34" charset="-120"/>
              </a:rPr>
              <a:t>π r² = 100 nm²  →  r = 5.64 nm</a:t>
            </a:r>
            <a:endParaRPr lang="en-US" sz="1700" dirty="0"/>
          </a:p>
        </p:txBody>
      </p:sp>
      <p:sp>
        <p:nvSpPr>
          <p:cNvPr id="10" name="!!chip0"/>
          <p:cNvSpPr/>
          <p:nvPr/>
        </p:nvSpPr>
        <p:spPr>
          <a:xfrm>
            <a:off x="6675120" y="1554480"/>
            <a:ext cx="1581912" cy="713232"/>
          </a:xfrm>
          <a:prstGeom prst="roundRect">
            <a:avLst>
              <a:gd name="adj" fmla="val 7692"/>
            </a:avLst>
          </a:prstGeom>
          <a:solidFill>
            <a:srgbClr val="F4F5F7"/>
          </a:solidFill>
          <a:ln/>
        </p:spPr>
      </p:sp>
      <p:sp>
        <p:nvSpPr>
          <p:cNvPr id="11" name="!!chipk0"/>
          <p:cNvSpPr txBox="1"/>
          <p:nvPr/>
        </p:nvSpPr>
        <p:spPr>
          <a:xfrm>
            <a:off x="6784848" y="1627632"/>
            <a:ext cx="13624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silicon area</a:t>
            </a:r>
            <a:endParaRPr lang="en-US" sz="1000" dirty="0"/>
          </a:p>
        </p:txBody>
      </p:sp>
      <p:sp>
        <p:nvSpPr>
          <p:cNvPr id="12" name="!!chipv0"/>
          <p:cNvSpPr txBox="1"/>
          <p:nvPr/>
        </p:nvSpPr>
        <p:spPr>
          <a:xfrm>
            <a:off x="6784848" y="1865376"/>
            <a:ext cx="13990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100 nm²</a:t>
            </a:r>
            <a:endParaRPr lang="en-US" sz="1500" dirty="0"/>
          </a:p>
        </p:txBody>
      </p:sp>
      <p:sp>
        <p:nvSpPr>
          <p:cNvPr id="13" name="!!chip1"/>
          <p:cNvSpPr/>
          <p:nvPr/>
        </p:nvSpPr>
        <p:spPr>
          <a:xfrm>
            <a:off x="8366760" y="1554480"/>
            <a:ext cx="1581912" cy="713232"/>
          </a:xfrm>
          <a:prstGeom prst="roundRect">
            <a:avLst>
              <a:gd name="adj" fmla="val 7692"/>
            </a:avLst>
          </a:prstGeom>
          <a:solidFill>
            <a:srgbClr val="F4F5F7"/>
          </a:solidFill>
          <a:ln/>
        </p:spPr>
      </p:sp>
      <p:sp>
        <p:nvSpPr>
          <p:cNvPr id="14" name="!!chipk1"/>
          <p:cNvSpPr txBox="1"/>
          <p:nvPr/>
        </p:nvSpPr>
        <p:spPr>
          <a:xfrm>
            <a:off x="8476488" y="1627632"/>
            <a:ext cx="13624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radius r</a:t>
            </a:r>
            <a:endParaRPr lang="en-US" sz="1000" dirty="0"/>
          </a:p>
        </p:txBody>
      </p:sp>
      <p:sp>
        <p:nvSpPr>
          <p:cNvPr id="15" name="!!chipv1"/>
          <p:cNvSpPr txBox="1"/>
          <p:nvPr/>
        </p:nvSpPr>
        <p:spPr>
          <a:xfrm>
            <a:off x="8476488" y="1865376"/>
            <a:ext cx="13990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5.64 nm</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16" name="!!chip2"/>
          <p:cNvSpPr/>
          <p:nvPr/>
        </p:nvSpPr>
        <p:spPr>
          <a:xfrm>
            <a:off x="10058400" y="1554480"/>
            <a:ext cx="1581912" cy="713232"/>
          </a:xfrm>
          <a:prstGeom prst="roundRect">
            <a:avLst>
              <a:gd name="adj" fmla="val 7692"/>
            </a:avLst>
          </a:prstGeom>
          <a:solidFill>
            <a:srgbClr val="F4F5F7"/>
          </a:solidFill>
          <a:ln/>
        </p:spPr>
      </p:sp>
      <p:sp>
        <p:nvSpPr>
          <p:cNvPr id="17" name="!!chipk2"/>
          <p:cNvSpPr txBox="1"/>
          <p:nvPr/>
        </p:nvSpPr>
        <p:spPr>
          <a:xfrm>
            <a:off x="10168128" y="1627632"/>
            <a:ext cx="136245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W</a:t>
            </a:r>
            <a:pPr algn="l" indent="0" marL="0">
              <a:buNone/>
            </a:pPr>
            <a:r>
              <a:rPr lang="en-US" sz="1000" baseline="-40000" dirty="0">
                <a:solidFill>
                  <a:srgbClr val="5C5E62"/>
                </a:solidFill>
                <a:latin typeface="Segoe UI" pitchFamily="34" charset="0"/>
                <a:ea typeface="Segoe UI" pitchFamily="34" charset="-122"/>
                <a:cs typeface="Segoe UI" pitchFamily="34" charset="-120"/>
              </a:rPr>
              <a:t>eff</a:t>
            </a:r>
            <a:pPr algn="l" indent="0" marL="0">
              <a:buNone/>
            </a:pPr>
            <a:r>
              <a:rPr lang="en-US" sz="1000" dirty="0">
                <a:solidFill>
                  <a:srgbClr val="5C5E62"/>
                </a:solidFill>
                <a:latin typeface="Segoe UI" pitchFamily="34" charset="0"/>
                <a:ea typeface="Segoe UI" pitchFamily="34" charset="-122"/>
                <a:cs typeface="Segoe UI" pitchFamily="34" charset="-120"/>
              </a:rPr>
              <a:t> (perimeter)</a:t>
            </a:r>
            <a:endParaRPr lang="en-US" sz="1000" dirty="0"/>
          </a:p>
        </p:txBody>
      </p:sp>
      <p:sp>
        <p:nvSpPr>
          <p:cNvPr id="18" name="!!chipv2"/>
          <p:cNvSpPr txBox="1"/>
          <p:nvPr/>
        </p:nvSpPr>
        <p:spPr>
          <a:xfrm>
            <a:off x="10168128" y="1865376"/>
            <a:ext cx="139903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35.4 nm</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19" name="!!c1Card"/>
          <p:cNvSpPr/>
          <p:nvPr/>
        </p:nvSpPr>
        <p:spPr>
          <a:xfrm>
            <a:off x="6675120" y="2514600"/>
            <a:ext cx="4965192" cy="2103120"/>
          </a:xfrm>
          <a:prstGeom prst="roundRect">
            <a:avLst>
              <a:gd name="adj" fmla="val 3478"/>
            </a:avLst>
          </a:prstGeom>
          <a:solidFill>
            <a:srgbClr val="F4F5F7"/>
          </a:solidFill>
          <a:ln/>
        </p:spPr>
      </p:sp>
      <p:sp>
        <p:nvSpPr>
          <p:cNvPr id="20" name="!!c1Cardh"/>
          <p:cNvSpPr txBox="1"/>
          <p:nvPr/>
        </p:nvSpPr>
        <p:spPr>
          <a:xfrm>
            <a:off x="6903720" y="2734056"/>
            <a:ext cx="4553712" cy="347472"/>
          </a:xfrm>
          <a:prstGeom prst="rect">
            <a:avLst/>
          </a:prstGeom>
          <a:noFill/>
          <a:ln/>
        </p:spPr>
        <p:txBody>
          <a:bodyPr wrap="square" lIns="0" tIns="0" rIns="0" bIns="0" rtlCol="0" anchor="ctr"/>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Shells moved out</a:t>
            </a:r>
            <a:endParaRPr lang="en-US" sz="1600" dirty="0"/>
          </a:p>
        </p:txBody>
      </p:sp>
      <p:sp>
        <p:nvSpPr>
          <p:cNvPr id="21" name="!!c1Cardb"/>
          <p:cNvSpPr txBox="1"/>
          <p:nvPr/>
        </p:nvSpPr>
        <p:spPr>
          <a:xfrm>
            <a:off x="6903720" y="3227832"/>
            <a:ext cx="4507992" cy="123444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SiO2 5.64–6.24 nm</a:t>
            </a:r>
            <a:endParaRPr lang="en-US" sz="1300" dirty="0"/>
          </a:p>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HfO2 6.24–7.34 nm</a:t>
            </a:r>
            <a:endParaRPr lang="en-US" sz="1300" dirty="0"/>
          </a:p>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W gate 7.34–10.34 nm</a:t>
            </a:r>
            <a:endParaRPr lang="en-US" sz="1300" dirty="0"/>
          </a:p>
        </p:txBody>
      </p:sp>
      <p:sp>
        <p:nvSpPr>
          <p:cNvPr id="22"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Same silicon area, so the same heat per volume.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129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2 – Change 2: the heat exit α</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Fit from our α sweep:  R</a:t>
            </a:r>
            <a:pPr algn="l" indent="0" marL="0">
              <a:buNone/>
            </a:pPr>
            <a:r>
              <a:rPr lang="en-US" sz="1600" baseline="-40000" dirty="0">
                <a:solidFill>
                  <a:srgbClr val="5C5E62"/>
                </a:solidFill>
                <a:latin typeface="Segoe UI" pitchFamily="34" charset="0"/>
                <a:ea typeface="Segoe UI" pitchFamily="34" charset="-122"/>
                <a:cs typeface="Segoe UI" pitchFamily="34" charset="-120"/>
              </a:rPr>
              <a:t>th</a:t>
            </a:r>
            <a:pPr algn="l" indent="0" marL="0">
              <a:buNone/>
            </a:pPr>
            <a:r>
              <a:rPr lang="en-US" sz="1600" dirty="0">
                <a:solidFill>
                  <a:srgbClr val="5C5E62"/>
                </a:solidFill>
                <a:latin typeface="Segoe UI" pitchFamily="34" charset="0"/>
                <a:ea typeface="Segoe UI" pitchFamily="34" charset="-122"/>
                <a:cs typeface="Segoe UI" pitchFamily="34" charset="-120"/>
              </a:rPr>
              <a:t> = 0.714 × 10⁶ + 9.18 × 10¹⁰ / α   (K/W, α in W/cm²·K)</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E2E3E3"/>
          </a:solidFill>
          <a:ln/>
        </p:spPr>
      </p:sp>
      <p:sp>
        <p:nvSpPr>
          <p:cNvPr id="6" name="!!sdot2"/>
          <p:cNvSpPr/>
          <p:nvPr/>
        </p:nvSpPr>
        <p:spPr>
          <a:xfrm>
            <a:off x="11599164" y="525780"/>
            <a:ext cx="82296" cy="82296"/>
          </a:xfrm>
          <a:prstGeom prst="ellipse">
            <a:avLst/>
          </a:prstGeom>
          <a:solidFill>
            <a:srgbClr val="E2E3E3"/>
          </a:solidFill>
          <a:ln/>
        </p:spPr>
      </p:sp>
      <p:sp>
        <p:nvSpPr>
          <p:cNvPr id="7" name="!!c2In"/>
          <p:cNvSpPr/>
          <p:nvPr/>
        </p:nvSpPr>
        <p:spPr>
          <a:xfrm>
            <a:off x="1188720" y="4454481"/>
            <a:ext cx="1280160" cy="117519"/>
          </a:xfrm>
          <a:prstGeom prst="rect">
            <a:avLst/>
          </a:prstGeom>
          <a:solidFill>
            <a:srgbClr val="1F2F6B"/>
          </a:solidFill>
          <a:ln/>
        </p:spPr>
      </p:sp>
      <p:sp>
        <p:nvSpPr>
          <p:cNvPr id="8" name="!!c2Ex"/>
          <p:cNvSpPr/>
          <p:nvPr/>
        </p:nvSpPr>
        <p:spPr>
          <a:xfrm>
            <a:off x="1188720" y="1432572"/>
            <a:ext cx="1280160" cy="3021909"/>
          </a:xfrm>
          <a:prstGeom prst="rect">
            <a:avLst/>
          </a:prstGeom>
          <a:solidFill>
            <a:srgbClr val="E07B00"/>
          </a:solidFill>
          <a:ln/>
        </p:spPr>
      </p:sp>
      <p:sp>
        <p:nvSpPr>
          <p:cNvPr id="9" name="!!c2ExL"/>
          <p:cNvSpPr txBox="1"/>
          <p:nvPr/>
        </p:nvSpPr>
        <p:spPr>
          <a:xfrm>
            <a:off x="2606040" y="2806367"/>
            <a:ext cx="2377440" cy="274320"/>
          </a:xfrm>
          <a:prstGeom prst="rect">
            <a:avLst/>
          </a:prstGeom>
          <a:noFill/>
          <a:ln/>
        </p:spPr>
        <p:txBody>
          <a:bodyPr wrap="square" lIns="0" tIns="0" rIns="0" bIns="0" rtlCol="0" anchor="t"/>
          <a:lstStyle/>
          <a:p>
            <a:pPr algn="l" indent="0" marL="0">
              <a:buNone/>
            </a:pPr>
            <a:r>
              <a:rPr lang="en-US" sz="1300" dirty="0">
                <a:solidFill>
                  <a:srgbClr val="E07B00"/>
                </a:solidFill>
                <a:latin typeface="Segoe UI Semibold" pitchFamily="34" charset="0"/>
                <a:ea typeface="Segoe UI Semibold" pitchFamily="34" charset="-122"/>
                <a:cs typeface="Segoe UI Semibold" pitchFamily="34" charset="-120"/>
              </a:rPr>
              <a:t>R</a:t>
            </a:r>
            <a:pPr algn="l" indent="0" marL="0">
              <a:buNone/>
            </a:pPr>
            <a:r>
              <a:rPr lang="en-US" sz="1300" baseline="-40000" dirty="0">
                <a:solidFill>
                  <a:srgbClr val="E07B00"/>
                </a:solidFill>
                <a:latin typeface="Segoe UI Semibold" pitchFamily="34" charset="0"/>
                <a:ea typeface="Segoe UI Semibold" pitchFamily="34" charset="-122"/>
                <a:cs typeface="Segoe UI Semibold" pitchFamily="34" charset="-120"/>
              </a:rPr>
              <a:t>exit</a:t>
            </a:r>
            <a:pPr algn="l" indent="0" marL="0">
              <a:buNone/>
            </a:pPr>
            <a:r>
              <a:rPr lang="en-US" sz="1300" dirty="0">
                <a:solidFill>
                  <a:srgbClr val="E07B00"/>
                </a:solidFill>
                <a:latin typeface="Segoe UI Semibold" pitchFamily="34" charset="0"/>
                <a:ea typeface="Segoe UI Semibold" pitchFamily="34" charset="-122"/>
                <a:cs typeface="Segoe UI Semibold" pitchFamily="34" charset="-120"/>
              </a:rPr>
              <a:t> = 18.36 × 10⁶</a:t>
            </a:r>
            <a:endParaRPr lang="en-US" sz="1300" dirty="0"/>
          </a:p>
        </p:txBody>
      </p:sp>
      <p:sp>
        <p:nvSpPr>
          <p:cNvPr id="10" name="!!c2InL"/>
          <p:cNvSpPr txBox="1"/>
          <p:nvPr/>
        </p:nvSpPr>
        <p:spPr>
          <a:xfrm>
            <a:off x="2606040" y="4297680"/>
            <a:ext cx="3108960" cy="457200"/>
          </a:xfrm>
          <a:prstGeom prst="rect">
            <a:avLst/>
          </a:prstGeom>
          <a:noFill/>
          <a:ln/>
        </p:spPr>
        <p:txBody>
          <a:bodyPr wrap="square" lIns="0" tIns="0" rIns="0" bIns="0" rtlCol="0" anchor="t"/>
          <a:lstStyle/>
          <a:p>
            <a:pPr algn="l" indent="0" marL="0">
              <a:buNone/>
            </a:pPr>
            <a:r>
              <a:rPr lang="en-US" sz="1100" dirty="0">
                <a:solidFill>
                  <a:srgbClr val="1F2F6B"/>
                </a:solidFill>
                <a:latin typeface="Segoe UI" pitchFamily="34" charset="0"/>
                <a:ea typeface="Segoe UI" pitchFamily="34" charset="-122"/>
                <a:cs typeface="Segoe UI" pitchFamily="34" charset="-120"/>
              </a:rPr>
              <a:t>R</a:t>
            </a:r>
            <a:pPr algn="l" indent="0" marL="0">
              <a:buNone/>
            </a:pPr>
            <a:r>
              <a:rPr lang="en-US" sz="1100" baseline="-40000" dirty="0">
                <a:solidFill>
                  <a:srgbClr val="1F2F6B"/>
                </a:solidFill>
                <a:latin typeface="Segoe UI" pitchFamily="34" charset="0"/>
                <a:ea typeface="Segoe UI" pitchFamily="34" charset="-122"/>
                <a:cs typeface="Segoe UI" pitchFamily="34" charset="-120"/>
              </a:rPr>
              <a:t>inside</a:t>
            </a:r>
            <a:pPr algn="l" indent="0" marL="0">
              <a:buNone/>
            </a:pPr>
            <a:r>
              <a:rPr lang="en-US" sz="1100" dirty="0">
                <a:solidFill>
                  <a:srgbClr val="1F2F6B"/>
                </a:solidFill>
                <a:latin typeface="Segoe UI" pitchFamily="34" charset="0"/>
                <a:ea typeface="Segoe UI" pitchFamily="34" charset="-122"/>
                <a:cs typeface="Segoe UI" pitchFamily="34" charset="-120"/>
              </a:rPr>
              <a:t> = 0.71 × 10⁶ (oxides, gate, silicon: fixed)</a:t>
            </a:r>
            <a:endParaRPr lang="en-US" sz="1100" dirty="0"/>
          </a:p>
        </p:txBody>
      </p:sp>
      <p:sp>
        <p:nvSpPr>
          <p:cNvPr id="11" name="!!c2Sh"/>
          <p:cNvSpPr txBox="1"/>
          <p:nvPr/>
        </p:nvSpPr>
        <p:spPr>
          <a:xfrm>
            <a:off x="914400" y="4709160"/>
            <a:ext cx="3200400" cy="274320"/>
          </a:xfrm>
          <a:prstGeom prst="rect">
            <a:avLst/>
          </a:prstGeom>
          <a:noFill/>
          <a:ln/>
        </p:spPr>
        <p:txBody>
          <a:bodyPr wrap="square" lIns="0" tIns="0" rIns="0" bIns="0" rtlCol="0" anchor="t"/>
          <a:lstStyle/>
          <a:p>
            <a:pPr algn="l" indent="0" marL="0">
              <a:buNone/>
            </a:pPr>
            <a:r>
              <a:rPr lang="en-US" sz="1200" dirty="0">
                <a:solidFill>
                  <a:srgbClr val="171A20"/>
                </a:solidFill>
                <a:latin typeface="Segoe UI Semibold" pitchFamily="34" charset="0"/>
                <a:ea typeface="Segoe UI Semibold" pitchFamily="34" charset="-122"/>
                <a:cs typeface="Segoe UI Semibold" pitchFamily="34" charset="-120"/>
              </a:rPr>
              <a:t>share of the exit: 96 %</a:t>
            </a:r>
            <a:endParaRPr lang="en-US" sz="1200" dirty="0"/>
          </a:p>
        </p:txBody>
      </p:sp>
      <p:sp>
        <p:nvSpPr>
          <p:cNvPr id="12" name="!!axg0"/>
          <p:cNvSpPr/>
          <p:nvPr/>
        </p:nvSpPr>
        <p:spPr>
          <a:xfrm>
            <a:off x="7223760" y="4069080"/>
            <a:ext cx="4206240" cy="91"/>
          </a:xfrm>
          <a:prstGeom prst="line">
            <a:avLst/>
          </a:prstGeom>
          <a:noFill/>
          <a:ln w="9525">
            <a:solidFill>
              <a:srgbClr val="EDEEF0"/>
            </a:solidFill>
            <a:prstDash val="solid"/>
          </a:ln>
        </p:spPr>
      </p:sp>
      <p:sp>
        <p:nvSpPr>
          <p:cNvPr id="13" name="!!axg1"/>
          <p:cNvSpPr/>
          <p:nvPr/>
        </p:nvSpPr>
        <p:spPr>
          <a:xfrm>
            <a:off x="7223760" y="3474720"/>
            <a:ext cx="4206240" cy="91"/>
          </a:xfrm>
          <a:prstGeom prst="line">
            <a:avLst/>
          </a:prstGeom>
          <a:noFill/>
          <a:ln w="9525">
            <a:solidFill>
              <a:srgbClr val="EDEEF0"/>
            </a:solidFill>
            <a:prstDash val="solid"/>
          </a:ln>
        </p:spPr>
      </p:sp>
      <p:sp>
        <p:nvSpPr>
          <p:cNvPr id="14" name="!!axg2"/>
          <p:cNvSpPr/>
          <p:nvPr/>
        </p:nvSpPr>
        <p:spPr>
          <a:xfrm>
            <a:off x="7223760" y="2880360"/>
            <a:ext cx="4206240" cy="91"/>
          </a:xfrm>
          <a:prstGeom prst="line">
            <a:avLst/>
          </a:prstGeom>
          <a:noFill/>
          <a:ln w="9525">
            <a:solidFill>
              <a:srgbClr val="EDEEF0"/>
            </a:solidFill>
            <a:prstDash val="solid"/>
          </a:ln>
        </p:spPr>
      </p:sp>
      <p:sp>
        <p:nvSpPr>
          <p:cNvPr id="15" name="!!axg3"/>
          <p:cNvSpPr/>
          <p:nvPr/>
        </p:nvSpPr>
        <p:spPr>
          <a:xfrm>
            <a:off x="7223760" y="2286000"/>
            <a:ext cx="4206240" cy="91"/>
          </a:xfrm>
          <a:prstGeom prst="line">
            <a:avLst/>
          </a:prstGeom>
          <a:noFill/>
          <a:ln w="9525">
            <a:solidFill>
              <a:srgbClr val="EDEEF0"/>
            </a:solidFill>
            <a:prstDash val="solid"/>
          </a:ln>
        </p:spPr>
      </p:sp>
      <p:sp>
        <p:nvSpPr>
          <p:cNvPr id="16" name="!!axg4"/>
          <p:cNvSpPr/>
          <p:nvPr/>
        </p:nvSpPr>
        <p:spPr>
          <a:xfrm>
            <a:off x="7223760" y="1691640"/>
            <a:ext cx="4206240" cy="91"/>
          </a:xfrm>
          <a:prstGeom prst="line">
            <a:avLst/>
          </a:prstGeom>
          <a:noFill/>
          <a:ln w="9525">
            <a:solidFill>
              <a:srgbClr val="EDEEF0"/>
            </a:solidFill>
            <a:prstDash val="solid"/>
          </a:ln>
        </p:spPr>
      </p:sp>
      <p:sp>
        <p:nvSpPr>
          <p:cNvPr id="17" name="!!axxa"/>
          <p:cNvSpPr/>
          <p:nvPr/>
        </p:nvSpPr>
        <p:spPr>
          <a:xfrm>
            <a:off x="7223760" y="4069080"/>
            <a:ext cx="4206240" cy="91"/>
          </a:xfrm>
          <a:prstGeom prst="line">
            <a:avLst/>
          </a:prstGeom>
          <a:noFill/>
          <a:ln w="12700">
            <a:solidFill>
              <a:srgbClr val="8A8D93"/>
            </a:solidFill>
            <a:prstDash val="solid"/>
          </a:ln>
        </p:spPr>
      </p:sp>
      <p:sp>
        <p:nvSpPr>
          <p:cNvPr id="18" name="!!axya"/>
          <p:cNvSpPr/>
          <p:nvPr/>
        </p:nvSpPr>
        <p:spPr>
          <a:xfrm>
            <a:off x="7223760" y="1691640"/>
            <a:ext cx="91" cy="2377440"/>
          </a:xfrm>
          <a:prstGeom prst="line">
            <a:avLst/>
          </a:prstGeom>
          <a:noFill/>
          <a:ln w="12700">
            <a:solidFill>
              <a:srgbClr val="8A8D93"/>
            </a:solidFill>
            <a:prstDash val="solid"/>
          </a:ln>
        </p:spPr>
      </p:sp>
      <p:sp>
        <p:nvSpPr>
          <p:cNvPr id="19" name="!!axxt0"/>
          <p:cNvSpPr txBox="1"/>
          <p:nvPr/>
        </p:nvSpPr>
        <p:spPr>
          <a:xfrm>
            <a:off x="690372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0k</a:t>
            </a:r>
            <a:endParaRPr lang="en-US" sz="900" dirty="0"/>
          </a:p>
        </p:txBody>
      </p:sp>
      <p:sp>
        <p:nvSpPr>
          <p:cNvPr id="20" name="!!axxt1"/>
          <p:cNvSpPr txBox="1"/>
          <p:nvPr/>
        </p:nvSpPr>
        <p:spPr>
          <a:xfrm>
            <a:off x="795528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20k</a:t>
            </a:r>
            <a:endParaRPr lang="en-US" sz="900" dirty="0"/>
          </a:p>
        </p:txBody>
      </p:sp>
      <p:sp>
        <p:nvSpPr>
          <p:cNvPr id="21" name="!!axxt2"/>
          <p:cNvSpPr txBox="1"/>
          <p:nvPr/>
        </p:nvSpPr>
        <p:spPr>
          <a:xfrm>
            <a:off x="900684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40k</a:t>
            </a:r>
            <a:endParaRPr lang="en-US" sz="900" dirty="0"/>
          </a:p>
        </p:txBody>
      </p:sp>
      <p:sp>
        <p:nvSpPr>
          <p:cNvPr id="22" name="!!axxt3"/>
          <p:cNvSpPr txBox="1"/>
          <p:nvPr/>
        </p:nvSpPr>
        <p:spPr>
          <a:xfrm>
            <a:off x="1005840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60k</a:t>
            </a:r>
            <a:endParaRPr lang="en-US" sz="900" dirty="0"/>
          </a:p>
        </p:txBody>
      </p:sp>
      <p:sp>
        <p:nvSpPr>
          <p:cNvPr id="23" name="!!axxt4"/>
          <p:cNvSpPr txBox="1"/>
          <p:nvPr/>
        </p:nvSpPr>
        <p:spPr>
          <a:xfrm>
            <a:off x="1110996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80k</a:t>
            </a:r>
            <a:endParaRPr lang="en-US" sz="900" dirty="0"/>
          </a:p>
        </p:txBody>
      </p:sp>
      <p:sp>
        <p:nvSpPr>
          <p:cNvPr id="24" name="!!axyt0"/>
          <p:cNvSpPr txBox="1"/>
          <p:nvPr/>
        </p:nvSpPr>
        <p:spPr>
          <a:xfrm>
            <a:off x="6537960" y="39684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25" name="!!axyt1"/>
          <p:cNvSpPr txBox="1"/>
          <p:nvPr/>
        </p:nvSpPr>
        <p:spPr>
          <a:xfrm>
            <a:off x="6537960" y="33741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50</a:t>
            </a:r>
            <a:endParaRPr lang="en-US" sz="900" dirty="0"/>
          </a:p>
        </p:txBody>
      </p:sp>
      <p:sp>
        <p:nvSpPr>
          <p:cNvPr id="26" name="!!axyt2"/>
          <p:cNvSpPr txBox="1"/>
          <p:nvPr/>
        </p:nvSpPr>
        <p:spPr>
          <a:xfrm>
            <a:off x="6537960" y="27797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a:t>
            </a:r>
            <a:endParaRPr lang="en-US" sz="900" dirty="0"/>
          </a:p>
        </p:txBody>
      </p:sp>
      <p:sp>
        <p:nvSpPr>
          <p:cNvPr id="27" name="!!axyt3"/>
          <p:cNvSpPr txBox="1"/>
          <p:nvPr/>
        </p:nvSpPr>
        <p:spPr>
          <a:xfrm>
            <a:off x="6537960" y="21854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150</a:t>
            </a:r>
            <a:endParaRPr lang="en-US" sz="900" dirty="0"/>
          </a:p>
        </p:txBody>
      </p:sp>
      <p:sp>
        <p:nvSpPr>
          <p:cNvPr id="28" name="!!axyt4"/>
          <p:cNvSpPr txBox="1"/>
          <p:nvPr/>
        </p:nvSpPr>
        <p:spPr>
          <a:xfrm>
            <a:off x="653796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200</a:t>
            </a:r>
            <a:endParaRPr lang="en-US" sz="900" dirty="0"/>
          </a:p>
        </p:txBody>
      </p:sp>
      <p:sp>
        <p:nvSpPr>
          <p:cNvPr id="29" name="!!axxl"/>
          <p:cNvSpPr txBox="1"/>
          <p:nvPr/>
        </p:nvSpPr>
        <p:spPr>
          <a:xfrm>
            <a:off x="7223760" y="434340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heat exit α (W/cm²·K)</a:t>
            </a:r>
            <a:endParaRPr lang="en-US" sz="1100" dirty="0"/>
          </a:p>
        </p:txBody>
      </p:sp>
      <p:sp>
        <p:nvSpPr>
          <p:cNvPr id="30" name="!!axyl"/>
          <p:cNvSpPr txBox="1"/>
          <p:nvPr/>
        </p:nvSpPr>
        <p:spPr>
          <a:xfrm>
            <a:off x="704088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ΔT at 30 µW (K)</a:t>
            </a:r>
            <a:endParaRPr lang="en-US" sz="1100" dirty="0"/>
          </a:p>
        </p:txBody>
      </p:sp>
      <p:sp>
        <p:nvSpPr>
          <p:cNvPr id="31" name="!!c2C"/>
          <p:cNvSpPr/>
          <p:nvPr/>
        </p:nvSpPr>
        <p:spPr>
          <a:xfrm>
            <a:off x="7959852" y="1476074"/>
            <a:ext cx="3470148" cy="1929165"/>
          </a:xfrm>
          <a:custGeom>
            <a:avLst/>
            <a:gdLst/>
            <a:ahLst/>
            <a:cxnLst/>
            <a:rect l="l" t="t" r="r" b="b"/>
            <a:pathLst>
              <a:path w="3470148" h="1929165">
                <a:moveTo>
                  <a:pt x="0" y="0"/>
                </a:moveTo>
                <a:lnTo>
                  <a:pt x="88978" y="252178"/>
                </a:lnTo>
                <a:lnTo>
                  <a:pt x="177956" y="455260"/>
                </a:lnTo>
                <a:lnTo>
                  <a:pt x="266934" y="622311"/>
                </a:lnTo>
                <a:lnTo>
                  <a:pt x="355913" y="762139"/>
                </a:lnTo>
                <a:lnTo>
                  <a:pt x="444891" y="880897"/>
                </a:lnTo>
                <a:lnTo>
                  <a:pt x="533869" y="983014"/>
                </a:lnTo>
                <a:lnTo>
                  <a:pt x="622847" y="1071758"/>
                </a:lnTo>
                <a:lnTo>
                  <a:pt x="711825" y="1149596"/>
                </a:lnTo>
                <a:lnTo>
                  <a:pt x="800803" y="1218420"/>
                </a:lnTo>
                <a:lnTo>
                  <a:pt x="889782" y="1279712"/>
                </a:lnTo>
                <a:lnTo>
                  <a:pt x="978760" y="1334643"/>
                </a:lnTo>
                <a:lnTo>
                  <a:pt x="1067738" y="1384154"/>
                </a:lnTo>
                <a:lnTo>
                  <a:pt x="1156716" y="1429011"/>
                </a:lnTo>
                <a:lnTo>
                  <a:pt x="1245694" y="1469840"/>
                </a:lnTo>
                <a:lnTo>
                  <a:pt x="1334672" y="1507160"/>
                </a:lnTo>
                <a:lnTo>
                  <a:pt x="1423650" y="1541405"/>
                </a:lnTo>
                <a:lnTo>
                  <a:pt x="1512629" y="1572940"/>
                </a:lnTo>
                <a:lnTo>
                  <a:pt x="1601607" y="1602075"/>
                </a:lnTo>
                <a:lnTo>
                  <a:pt x="1690585" y="1629073"/>
                </a:lnTo>
                <a:lnTo>
                  <a:pt x="1779563" y="1654161"/>
                </a:lnTo>
                <a:lnTo>
                  <a:pt x="1868541" y="1677535"/>
                </a:lnTo>
                <a:lnTo>
                  <a:pt x="1957519" y="1699365"/>
                </a:lnTo>
                <a:lnTo>
                  <a:pt x="2046498" y="1719798"/>
                </a:lnTo>
                <a:lnTo>
                  <a:pt x="2135476" y="1738966"/>
                </a:lnTo>
                <a:lnTo>
                  <a:pt x="2224454" y="1756981"/>
                </a:lnTo>
                <a:lnTo>
                  <a:pt x="2313432" y="1773945"/>
                </a:lnTo>
                <a:lnTo>
                  <a:pt x="2402410" y="1789947"/>
                </a:lnTo>
                <a:lnTo>
                  <a:pt x="2491388" y="1805067"/>
                </a:lnTo>
                <a:lnTo>
                  <a:pt x="2580366" y="1819375"/>
                </a:lnTo>
                <a:lnTo>
                  <a:pt x="2669345" y="1832936"/>
                </a:lnTo>
                <a:lnTo>
                  <a:pt x="2758323" y="1845806"/>
                </a:lnTo>
                <a:lnTo>
                  <a:pt x="2847301" y="1858037"/>
                </a:lnTo>
                <a:lnTo>
                  <a:pt x="2936279" y="1869676"/>
                </a:lnTo>
                <a:lnTo>
                  <a:pt x="3025257" y="1880763"/>
                </a:lnTo>
                <a:lnTo>
                  <a:pt x="3114235" y="1891338"/>
                </a:lnTo>
                <a:lnTo>
                  <a:pt x="3203214" y="1901436"/>
                </a:lnTo>
                <a:lnTo>
                  <a:pt x="3292192" y="1911087"/>
                </a:lnTo>
                <a:lnTo>
                  <a:pt x="3381170" y="1920322"/>
                </a:lnTo>
                <a:lnTo>
                  <a:pt x="3470148" y="1929165"/>
                </a:lnTo>
              </a:path>
            </a:pathLst>
          </a:custGeom>
          <a:ln w="31750">
            <a:solidFill>
              <a:srgbClr val="E07B00"/>
            </a:solidFill>
            <a:prstDash val="solid"/>
          </a:ln>
        </p:spPr>
      </p:sp>
      <p:sp>
        <p:nvSpPr>
          <p:cNvPr id="32" name="!!c2P"/>
          <p:cNvSpPr/>
          <p:nvPr/>
        </p:nvSpPr>
        <p:spPr>
          <a:xfrm>
            <a:off x="7223760" y="3298789"/>
            <a:ext cx="4206240" cy="91"/>
          </a:xfrm>
          <a:prstGeom prst="line">
            <a:avLst/>
          </a:prstGeom>
          <a:noFill/>
          <a:ln w="15875">
            <a:solidFill>
              <a:srgbClr val="D64545"/>
            </a:solidFill>
            <a:prstDash val="dash"/>
          </a:ln>
        </p:spPr>
      </p:sp>
      <p:sp>
        <p:nvSpPr>
          <p:cNvPr id="33" name="!!c2PL"/>
          <p:cNvSpPr txBox="1"/>
          <p:nvPr/>
        </p:nvSpPr>
        <p:spPr>
          <a:xfrm>
            <a:off x="9957816" y="3042757"/>
            <a:ext cx="1645920" cy="219456"/>
          </a:xfrm>
          <a:prstGeom prst="rect">
            <a:avLst/>
          </a:prstGeom>
          <a:noFill/>
          <a:ln/>
        </p:spPr>
        <p:txBody>
          <a:bodyPr wrap="square" lIns="0" tIns="0" rIns="0" bIns="0" rtlCol="0" anchor="t"/>
          <a:lstStyle/>
          <a:p>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base paper 64.8 K</a:t>
            </a:r>
            <a:endParaRPr lang="en-US" sz="1000" dirty="0"/>
          </a:p>
        </p:txBody>
      </p:sp>
      <p:sp>
        <p:nvSpPr>
          <p:cNvPr id="34" name="!!c2Pt"/>
          <p:cNvSpPr/>
          <p:nvPr/>
        </p:nvSpPr>
        <p:spPr>
          <a:xfrm>
            <a:off x="7404354" y="1609344"/>
            <a:ext cx="164592" cy="164592"/>
          </a:xfrm>
          <a:prstGeom prst="ellipse">
            <a:avLst/>
          </a:prstGeom>
          <a:solidFill>
            <a:srgbClr val="171A20"/>
          </a:solidFill>
          <a:ln w="19050">
            <a:solidFill>
              <a:srgbClr val="FFFFFF"/>
            </a:solidFill>
            <a:prstDash val="solid"/>
          </a:ln>
        </p:spPr>
      </p:sp>
      <p:sp>
        <p:nvSpPr>
          <p:cNvPr id="35" name="!!c2PtL"/>
          <p:cNvSpPr txBox="1"/>
          <p:nvPr/>
        </p:nvSpPr>
        <p:spPr>
          <a:xfrm>
            <a:off x="7578090" y="1645920"/>
            <a:ext cx="1554480" cy="219456"/>
          </a:xfrm>
          <a:prstGeom prst="rect">
            <a:avLst/>
          </a:prstGeom>
          <a:noFill/>
          <a:ln/>
        </p:spPr>
        <p:txBody>
          <a:bodyPr wrap="square" lIns="0" tIns="0" rIns="0" bIns="0" rtlCol="0" anchor="t"/>
          <a:lstStyle/>
          <a:p>
            <a:pPr algn="l" indent="0" marL="0">
              <a:buNone/>
            </a:pPr>
            <a:r>
              <a:rPr lang="en-US" sz="1100" dirty="0">
                <a:solidFill>
                  <a:srgbClr val="171A20"/>
                </a:solidFill>
                <a:latin typeface="Segoe UI Semibold" pitchFamily="34" charset="0"/>
                <a:ea typeface="Segoe UI Semibold" pitchFamily="34" charset="-122"/>
                <a:cs typeface="Segoe UI Semibold" pitchFamily="34" charset="-120"/>
              </a:rPr>
              <a:t>572 K ↑ off scale</a:t>
            </a:r>
            <a:endParaRPr lang="en-US" sz="1100" dirty="0"/>
          </a:p>
        </p:txBody>
      </p:sp>
      <p:sp>
        <p:nvSpPr>
          <p:cNvPr id="36" name="!!chip0"/>
          <p:cNvSpPr/>
          <p:nvPr/>
        </p:nvSpPr>
        <p:spPr>
          <a:xfrm>
            <a:off x="6858000" y="4526280"/>
            <a:ext cx="1508760" cy="658368"/>
          </a:xfrm>
          <a:prstGeom prst="roundRect">
            <a:avLst>
              <a:gd name="adj" fmla="val 8333"/>
            </a:avLst>
          </a:prstGeom>
          <a:solidFill>
            <a:srgbClr val="F4F5F7"/>
          </a:solidFill>
          <a:ln/>
        </p:spPr>
      </p:sp>
      <p:sp>
        <p:nvSpPr>
          <p:cNvPr id="37" name="!!chipk0"/>
          <p:cNvSpPr txBox="1"/>
          <p:nvPr/>
        </p:nvSpPr>
        <p:spPr>
          <a:xfrm>
            <a:off x="6967728" y="459943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R</a:t>
            </a:r>
            <a:pPr algn="l" indent="0" marL="0">
              <a:buNone/>
            </a:pPr>
            <a:r>
              <a:rPr lang="en-US" sz="1000" baseline="-40000" dirty="0">
                <a:solidFill>
                  <a:srgbClr val="5C5E62"/>
                </a:solidFill>
                <a:latin typeface="Segoe UI" pitchFamily="34" charset="0"/>
                <a:ea typeface="Segoe UI" pitchFamily="34" charset="-122"/>
                <a:cs typeface="Segoe UI" pitchFamily="34" charset="-120"/>
              </a:rPr>
              <a:t>th</a:t>
            </a:r>
            <a:pPr algn="l" indent="0" marL="0">
              <a:buNone/>
            </a:pPr>
            <a:r>
              <a:rPr lang="en-US" sz="1000" dirty="0">
                <a:solidFill>
                  <a:srgbClr val="5C5E62"/>
                </a:solidFill>
                <a:latin typeface="Segoe UI" pitchFamily="34" charset="0"/>
                <a:ea typeface="Segoe UI" pitchFamily="34" charset="-122"/>
                <a:cs typeface="Segoe UI" pitchFamily="34" charset="-120"/>
              </a:rPr>
              <a:t> (K/W)</a:t>
            </a:r>
            <a:endParaRPr lang="en-US" sz="1000" dirty="0"/>
          </a:p>
        </p:txBody>
      </p:sp>
      <p:sp>
        <p:nvSpPr>
          <p:cNvPr id="38" name="!!chipv0"/>
          <p:cNvSpPr txBox="1"/>
          <p:nvPr/>
        </p:nvSpPr>
        <p:spPr>
          <a:xfrm>
            <a:off x="6967728" y="483717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19.07 × 10⁶</a:t>
            </a:r>
            <a:endParaRPr lang="en-US" sz="1500" dirty="0"/>
          </a:p>
        </p:txBody>
      </p:sp>
      <p:sp>
        <p:nvSpPr>
          <p:cNvPr id="39" name="!!chip1"/>
          <p:cNvSpPr/>
          <p:nvPr/>
        </p:nvSpPr>
        <p:spPr>
          <a:xfrm>
            <a:off x="8476488" y="4526280"/>
            <a:ext cx="1508760" cy="658368"/>
          </a:xfrm>
          <a:prstGeom prst="roundRect">
            <a:avLst>
              <a:gd name="adj" fmla="val 8333"/>
            </a:avLst>
          </a:prstGeom>
          <a:solidFill>
            <a:srgbClr val="F4F5F7"/>
          </a:solidFill>
          <a:ln/>
        </p:spPr>
      </p:sp>
      <p:sp>
        <p:nvSpPr>
          <p:cNvPr id="40" name="!!chipk1"/>
          <p:cNvSpPr txBox="1"/>
          <p:nvPr/>
        </p:nvSpPr>
        <p:spPr>
          <a:xfrm>
            <a:off x="8586216" y="459943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ΔT at 30 µW</a:t>
            </a:r>
            <a:endParaRPr lang="en-US" sz="1000" dirty="0"/>
          </a:p>
        </p:txBody>
      </p:sp>
      <p:sp>
        <p:nvSpPr>
          <p:cNvPr id="41" name="!!chipv1"/>
          <p:cNvSpPr txBox="1"/>
          <p:nvPr/>
        </p:nvSpPr>
        <p:spPr>
          <a:xfrm>
            <a:off x="8586216" y="483717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572.2 K</a:t>
            </a:r>
            <a:endParaRPr lang="en-US" sz="1500" dirty="0"/>
          </a:p>
        </p:txBody>
      </p:sp>
      <p:sp>
        <p:nvSpPr>
          <p:cNvPr id="42" name="!!chip2"/>
          <p:cNvSpPr/>
          <p:nvPr/>
        </p:nvSpPr>
        <p:spPr>
          <a:xfrm>
            <a:off x="10094976" y="4526280"/>
            <a:ext cx="1508760" cy="658368"/>
          </a:xfrm>
          <a:prstGeom prst="roundRect">
            <a:avLst>
              <a:gd name="adj" fmla="val 8333"/>
            </a:avLst>
          </a:prstGeom>
          <a:solidFill>
            <a:srgbClr val="F4F5F7"/>
          </a:solidFill>
          <a:ln/>
        </p:spPr>
      </p:sp>
      <p:sp>
        <p:nvSpPr>
          <p:cNvPr id="43" name="!!chipk2"/>
          <p:cNvSpPr txBox="1"/>
          <p:nvPr/>
        </p:nvSpPr>
        <p:spPr>
          <a:xfrm>
            <a:off x="10204704" y="459943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vs paper</a:t>
            </a:r>
            <a:endParaRPr lang="en-US" sz="1000" dirty="0"/>
          </a:p>
        </p:txBody>
      </p:sp>
      <p:sp>
        <p:nvSpPr>
          <p:cNvPr id="44" name="!!chipv2"/>
          <p:cNvSpPr txBox="1"/>
          <p:nvPr/>
        </p:nvSpPr>
        <p:spPr>
          <a:xfrm>
            <a:off x="10204704" y="483717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+783 %</a:t>
            </a:r>
            <a:endParaRPr lang="en-US" sz="1500" dirty="0"/>
          </a:p>
        </p:txBody>
      </p:sp>
      <p:sp>
        <p:nvSpPr>
          <p:cNvPr id="45" name="!!knobLbl"/>
          <p:cNvSpPr txBox="1"/>
          <p:nvPr/>
        </p:nvSpPr>
        <p:spPr>
          <a:xfrm>
            <a:off x="7022592" y="5184648"/>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heat exit α   </a:t>
            </a:r>
            <a:pPr algn="l" indent="0" marL="0">
              <a:buNone/>
            </a:pPr>
            <a:r>
              <a:rPr lang="en-US" sz="1200" dirty="0">
                <a:solidFill>
                  <a:srgbClr val="E07B00"/>
                </a:solidFill>
                <a:latin typeface="Segoe UI Semibold" pitchFamily="34" charset="0"/>
                <a:ea typeface="Segoe UI Semibold" pitchFamily="34" charset="-122"/>
                <a:cs typeface="Segoe UI Semibold" pitchFamily="34" charset="-120"/>
              </a:rPr>
              <a:t>5k</a:t>
            </a:r>
            <a:endParaRPr lang="en-US" sz="1200" dirty="0"/>
          </a:p>
        </p:txBody>
      </p:sp>
      <p:sp>
        <p:nvSpPr>
          <p:cNvPr id="46" name="!!knobTrack"/>
          <p:cNvSpPr/>
          <p:nvPr/>
        </p:nvSpPr>
        <p:spPr>
          <a:xfrm>
            <a:off x="7040880" y="5568696"/>
            <a:ext cx="4480560" cy="54864"/>
          </a:xfrm>
          <a:prstGeom prst="roundRect">
            <a:avLst>
              <a:gd name="adj" fmla="val 50000"/>
            </a:avLst>
          </a:prstGeom>
          <a:solidFill>
            <a:srgbClr val="E2E3E3"/>
          </a:solidFill>
          <a:ln/>
        </p:spPr>
      </p:sp>
      <p:sp>
        <p:nvSpPr>
          <p:cNvPr id="47" name="!!knobFill"/>
          <p:cNvSpPr/>
          <p:nvPr/>
        </p:nvSpPr>
        <p:spPr>
          <a:xfrm>
            <a:off x="7040880" y="5568696"/>
            <a:ext cx="280035" cy="54864"/>
          </a:xfrm>
          <a:prstGeom prst="roundRect">
            <a:avLst>
              <a:gd name="adj" fmla="val 50000"/>
            </a:avLst>
          </a:prstGeom>
          <a:solidFill>
            <a:srgbClr val="E07B00"/>
          </a:solidFill>
          <a:ln/>
        </p:spPr>
      </p:sp>
      <p:sp>
        <p:nvSpPr>
          <p:cNvPr id="48" name="!!knobT0"/>
          <p:cNvSpPr txBox="1"/>
          <p:nvPr/>
        </p:nvSpPr>
        <p:spPr>
          <a:xfrm>
            <a:off x="6955155" y="570585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5k</a:t>
            </a:r>
            <a:endParaRPr lang="en-US" sz="900" dirty="0"/>
          </a:p>
        </p:txBody>
      </p:sp>
      <p:sp>
        <p:nvSpPr>
          <p:cNvPr id="49" name="!!knobT1"/>
          <p:cNvSpPr txBox="1"/>
          <p:nvPr/>
        </p:nvSpPr>
        <p:spPr>
          <a:xfrm>
            <a:off x="8355330" y="570585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30k</a:t>
            </a:r>
            <a:endParaRPr lang="en-US" sz="900" dirty="0"/>
          </a:p>
        </p:txBody>
      </p:sp>
      <p:sp>
        <p:nvSpPr>
          <p:cNvPr id="50" name="!!knobT2"/>
          <p:cNvSpPr txBox="1"/>
          <p:nvPr/>
        </p:nvSpPr>
        <p:spPr>
          <a:xfrm>
            <a:off x="9979533" y="570585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59k</a:t>
            </a:r>
            <a:endParaRPr lang="en-US" sz="900" dirty="0"/>
          </a:p>
        </p:txBody>
      </p:sp>
      <p:sp>
        <p:nvSpPr>
          <p:cNvPr id="51" name="!!knobT3"/>
          <p:cNvSpPr txBox="1"/>
          <p:nvPr/>
        </p:nvSpPr>
        <p:spPr>
          <a:xfrm>
            <a:off x="11155680" y="570585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80k</a:t>
            </a:r>
            <a:endParaRPr lang="en-US" sz="900" dirty="0"/>
          </a:p>
        </p:txBody>
      </p:sp>
      <p:sp>
        <p:nvSpPr>
          <p:cNvPr id="52" name="!!knobThumb"/>
          <p:cNvSpPr/>
          <p:nvPr/>
        </p:nvSpPr>
        <p:spPr>
          <a:xfrm>
            <a:off x="7220331" y="5495544"/>
            <a:ext cx="201168" cy="201168"/>
          </a:xfrm>
          <a:prstGeom prst="ellipse">
            <a:avLst/>
          </a:prstGeom>
          <a:solidFill>
            <a:srgbClr val="FFFFFF"/>
          </a:solidFill>
          <a:ln w="28575">
            <a:solidFill>
              <a:srgbClr val="E07B00"/>
            </a:solidFill>
            <a:prstDash val="solid"/>
          </a:ln>
        </p:spPr>
      </p:sp>
      <p:sp>
        <p:nvSpPr>
          <p:cNvPr id="5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With the template α = 5000 the contact exit is 96 % of R</a:t>
            </a:r>
            <a:pPr algn="ctr" indent="0" marL="0">
              <a:buNone/>
            </a:pPr>
            <a:r>
              <a:rPr lang="en-US" sz="1600" baseline="-40000" dirty="0">
                <a:solidFill>
                  <a:srgbClr val="171A20"/>
                </a:solidFill>
                <a:latin typeface="Segoe UI" pitchFamily="34" charset="0"/>
                <a:ea typeface="Segoe UI" pitchFamily="34" charset="-122"/>
                <a:cs typeface="Segoe UI" pitchFamily="34" charset="-120"/>
              </a:rPr>
              <a:t>th</a:t>
            </a:r>
            <a:pPr algn="ctr" indent="0" marL="0">
              <a:buNone/>
            </a:pPr>
            <a:r>
              <a:rPr lang="en-US" sz="1600" dirty="0">
                <a:solidFill>
                  <a:srgbClr val="171A20"/>
                </a:solidFill>
                <a:latin typeface="Segoe UI" pitchFamily="34" charset="0"/>
                <a:ea typeface="Segoe UI" pitchFamily="34" charset="-122"/>
                <a:cs typeface="Segoe UI" pitchFamily="34" charset="-120"/>
              </a:rPr>
              <a:t>: the heat can barely leave.</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130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2 – Change 2: the heat exit α</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Fit from our α sweep:  R</a:t>
            </a:r>
            <a:pPr algn="l" indent="0" marL="0">
              <a:buNone/>
            </a:pPr>
            <a:r>
              <a:rPr lang="en-US" sz="1600" baseline="-40000" dirty="0">
                <a:solidFill>
                  <a:srgbClr val="5C5E62"/>
                </a:solidFill>
                <a:latin typeface="Segoe UI" pitchFamily="34" charset="0"/>
                <a:ea typeface="Segoe UI" pitchFamily="34" charset="-122"/>
                <a:cs typeface="Segoe UI" pitchFamily="34" charset="-120"/>
              </a:rPr>
              <a:t>th</a:t>
            </a:r>
            <a:pPr algn="l" indent="0" marL="0">
              <a:buNone/>
            </a:pPr>
            <a:r>
              <a:rPr lang="en-US" sz="1600" dirty="0">
                <a:solidFill>
                  <a:srgbClr val="5C5E62"/>
                </a:solidFill>
                <a:latin typeface="Segoe UI" pitchFamily="34" charset="0"/>
                <a:ea typeface="Segoe UI" pitchFamily="34" charset="-122"/>
                <a:cs typeface="Segoe UI" pitchFamily="34" charset="-120"/>
              </a:rPr>
              <a:t> = 0.714 × 10⁶ + 9.18 × 10¹⁰ / α   (K/W, α in W/cm²·K)</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171A20"/>
          </a:solidFill>
          <a:ln/>
        </p:spPr>
      </p:sp>
      <p:sp>
        <p:nvSpPr>
          <p:cNvPr id="6" name="!!sdot2"/>
          <p:cNvSpPr/>
          <p:nvPr/>
        </p:nvSpPr>
        <p:spPr>
          <a:xfrm>
            <a:off x="11599164" y="525780"/>
            <a:ext cx="82296" cy="82296"/>
          </a:xfrm>
          <a:prstGeom prst="ellipse">
            <a:avLst/>
          </a:prstGeom>
          <a:solidFill>
            <a:srgbClr val="E2E3E3"/>
          </a:solidFill>
          <a:ln/>
        </p:spPr>
      </p:sp>
      <p:sp>
        <p:nvSpPr>
          <p:cNvPr id="7" name="!!c2In"/>
          <p:cNvSpPr/>
          <p:nvPr/>
        </p:nvSpPr>
        <p:spPr>
          <a:xfrm>
            <a:off x="1188720" y="4454481"/>
            <a:ext cx="1280160" cy="117519"/>
          </a:xfrm>
          <a:prstGeom prst="rect">
            <a:avLst/>
          </a:prstGeom>
          <a:solidFill>
            <a:srgbClr val="1F2F6B"/>
          </a:solidFill>
          <a:ln/>
        </p:spPr>
      </p:sp>
      <p:sp>
        <p:nvSpPr>
          <p:cNvPr id="8" name="!!c2Ex"/>
          <p:cNvSpPr/>
          <p:nvPr/>
        </p:nvSpPr>
        <p:spPr>
          <a:xfrm>
            <a:off x="1188720" y="4152290"/>
            <a:ext cx="1280160" cy="302191"/>
          </a:xfrm>
          <a:prstGeom prst="rect">
            <a:avLst/>
          </a:prstGeom>
          <a:solidFill>
            <a:srgbClr val="E07B00"/>
          </a:solidFill>
          <a:ln/>
        </p:spPr>
      </p:sp>
      <p:sp>
        <p:nvSpPr>
          <p:cNvPr id="9" name="!!c2ExL"/>
          <p:cNvSpPr txBox="1"/>
          <p:nvPr/>
        </p:nvSpPr>
        <p:spPr>
          <a:xfrm>
            <a:off x="2606040" y="3740810"/>
            <a:ext cx="2377440" cy="274320"/>
          </a:xfrm>
          <a:prstGeom prst="rect">
            <a:avLst/>
          </a:prstGeom>
          <a:noFill/>
          <a:ln/>
        </p:spPr>
        <p:txBody>
          <a:bodyPr wrap="square" lIns="0" tIns="0" rIns="0" bIns="0" rtlCol="0" anchor="t"/>
          <a:lstStyle/>
          <a:p>
            <a:pPr algn="l" indent="0" marL="0">
              <a:buNone/>
            </a:pPr>
            <a:r>
              <a:rPr lang="en-US" sz="1300" dirty="0">
                <a:solidFill>
                  <a:srgbClr val="E07B00"/>
                </a:solidFill>
                <a:latin typeface="Segoe UI Semibold" pitchFamily="34" charset="0"/>
                <a:ea typeface="Segoe UI Semibold" pitchFamily="34" charset="-122"/>
                <a:cs typeface="Segoe UI Semibold" pitchFamily="34" charset="-120"/>
              </a:rPr>
              <a:t>R</a:t>
            </a:r>
            <a:pPr algn="l" indent="0" marL="0">
              <a:buNone/>
            </a:pPr>
            <a:r>
              <a:rPr lang="en-US" sz="1300" baseline="-40000" dirty="0">
                <a:solidFill>
                  <a:srgbClr val="E07B00"/>
                </a:solidFill>
                <a:latin typeface="Segoe UI Semibold" pitchFamily="34" charset="0"/>
                <a:ea typeface="Segoe UI Semibold" pitchFamily="34" charset="-122"/>
                <a:cs typeface="Segoe UI Semibold" pitchFamily="34" charset="-120"/>
              </a:rPr>
              <a:t>exit</a:t>
            </a:r>
            <a:pPr algn="l" indent="0" marL="0">
              <a:buNone/>
            </a:pPr>
            <a:r>
              <a:rPr lang="en-US" sz="1300" dirty="0">
                <a:solidFill>
                  <a:srgbClr val="E07B00"/>
                </a:solidFill>
                <a:latin typeface="Segoe UI Semibold" pitchFamily="34" charset="0"/>
                <a:ea typeface="Segoe UI Semibold" pitchFamily="34" charset="-122"/>
                <a:cs typeface="Segoe UI Semibold" pitchFamily="34" charset="-120"/>
              </a:rPr>
              <a:t> = 1.84 × 10⁶</a:t>
            </a:r>
            <a:endParaRPr lang="en-US" sz="1300" dirty="0"/>
          </a:p>
        </p:txBody>
      </p:sp>
      <p:sp>
        <p:nvSpPr>
          <p:cNvPr id="10" name="!!c2InL"/>
          <p:cNvSpPr txBox="1"/>
          <p:nvPr/>
        </p:nvSpPr>
        <p:spPr>
          <a:xfrm>
            <a:off x="2606040" y="4297680"/>
            <a:ext cx="3108960" cy="457200"/>
          </a:xfrm>
          <a:prstGeom prst="rect">
            <a:avLst/>
          </a:prstGeom>
          <a:noFill/>
          <a:ln/>
        </p:spPr>
        <p:txBody>
          <a:bodyPr wrap="square" lIns="0" tIns="0" rIns="0" bIns="0" rtlCol="0" anchor="t"/>
          <a:lstStyle/>
          <a:p>
            <a:pPr algn="l" indent="0" marL="0">
              <a:buNone/>
            </a:pPr>
            <a:r>
              <a:rPr lang="en-US" sz="1100" dirty="0">
                <a:solidFill>
                  <a:srgbClr val="1F2F6B"/>
                </a:solidFill>
                <a:latin typeface="Segoe UI" pitchFamily="34" charset="0"/>
                <a:ea typeface="Segoe UI" pitchFamily="34" charset="-122"/>
                <a:cs typeface="Segoe UI" pitchFamily="34" charset="-120"/>
              </a:rPr>
              <a:t>R</a:t>
            </a:r>
            <a:pPr algn="l" indent="0" marL="0">
              <a:buNone/>
            </a:pPr>
            <a:r>
              <a:rPr lang="en-US" sz="1100" baseline="-40000" dirty="0">
                <a:solidFill>
                  <a:srgbClr val="1F2F6B"/>
                </a:solidFill>
                <a:latin typeface="Segoe UI" pitchFamily="34" charset="0"/>
                <a:ea typeface="Segoe UI" pitchFamily="34" charset="-122"/>
                <a:cs typeface="Segoe UI" pitchFamily="34" charset="-120"/>
              </a:rPr>
              <a:t>inside</a:t>
            </a:r>
            <a:pPr algn="l" indent="0" marL="0">
              <a:buNone/>
            </a:pPr>
            <a:r>
              <a:rPr lang="en-US" sz="1100" dirty="0">
                <a:solidFill>
                  <a:srgbClr val="1F2F6B"/>
                </a:solidFill>
                <a:latin typeface="Segoe UI" pitchFamily="34" charset="0"/>
                <a:ea typeface="Segoe UI" pitchFamily="34" charset="-122"/>
                <a:cs typeface="Segoe UI" pitchFamily="34" charset="-120"/>
              </a:rPr>
              <a:t> = 0.71 × 10⁶ (oxides, gate, silicon: fixed)</a:t>
            </a:r>
            <a:endParaRPr lang="en-US" sz="1100" dirty="0"/>
          </a:p>
        </p:txBody>
      </p:sp>
      <p:sp>
        <p:nvSpPr>
          <p:cNvPr id="11" name="!!c2Sh"/>
          <p:cNvSpPr txBox="1"/>
          <p:nvPr/>
        </p:nvSpPr>
        <p:spPr>
          <a:xfrm>
            <a:off x="914400" y="4709160"/>
            <a:ext cx="3200400" cy="274320"/>
          </a:xfrm>
          <a:prstGeom prst="rect">
            <a:avLst/>
          </a:prstGeom>
          <a:noFill/>
          <a:ln/>
        </p:spPr>
        <p:txBody>
          <a:bodyPr wrap="square" lIns="0" tIns="0" rIns="0" bIns="0" rtlCol="0" anchor="t"/>
          <a:lstStyle/>
          <a:p>
            <a:pPr algn="l" indent="0" marL="0">
              <a:buNone/>
            </a:pPr>
            <a:r>
              <a:rPr lang="en-US" sz="1200" dirty="0">
                <a:solidFill>
                  <a:srgbClr val="171A20"/>
                </a:solidFill>
                <a:latin typeface="Segoe UI Semibold" pitchFamily="34" charset="0"/>
                <a:ea typeface="Segoe UI Semibold" pitchFamily="34" charset="-122"/>
                <a:cs typeface="Segoe UI Semibold" pitchFamily="34" charset="-120"/>
              </a:rPr>
              <a:t>share of the exit: 72 %</a:t>
            </a:r>
            <a:endParaRPr lang="en-US" sz="1200" dirty="0"/>
          </a:p>
        </p:txBody>
      </p:sp>
      <p:sp>
        <p:nvSpPr>
          <p:cNvPr id="12" name="!!axg0"/>
          <p:cNvSpPr/>
          <p:nvPr/>
        </p:nvSpPr>
        <p:spPr>
          <a:xfrm>
            <a:off x="7223760" y="4069080"/>
            <a:ext cx="4206240" cy="91"/>
          </a:xfrm>
          <a:prstGeom prst="line">
            <a:avLst/>
          </a:prstGeom>
          <a:noFill/>
          <a:ln w="9525">
            <a:solidFill>
              <a:srgbClr val="EDEEF0"/>
            </a:solidFill>
            <a:prstDash val="solid"/>
          </a:ln>
        </p:spPr>
      </p:sp>
      <p:sp>
        <p:nvSpPr>
          <p:cNvPr id="13" name="!!axg1"/>
          <p:cNvSpPr/>
          <p:nvPr/>
        </p:nvSpPr>
        <p:spPr>
          <a:xfrm>
            <a:off x="7223760" y="3474720"/>
            <a:ext cx="4206240" cy="91"/>
          </a:xfrm>
          <a:prstGeom prst="line">
            <a:avLst/>
          </a:prstGeom>
          <a:noFill/>
          <a:ln w="9525">
            <a:solidFill>
              <a:srgbClr val="EDEEF0"/>
            </a:solidFill>
            <a:prstDash val="solid"/>
          </a:ln>
        </p:spPr>
      </p:sp>
      <p:sp>
        <p:nvSpPr>
          <p:cNvPr id="14" name="!!axg2"/>
          <p:cNvSpPr/>
          <p:nvPr/>
        </p:nvSpPr>
        <p:spPr>
          <a:xfrm>
            <a:off x="7223760" y="2880360"/>
            <a:ext cx="4206240" cy="91"/>
          </a:xfrm>
          <a:prstGeom prst="line">
            <a:avLst/>
          </a:prstGeom>
          <a:noFill/>
          <a:ln w="9525">
            <a:solidFill>
              <a:srgbClr val="EDEEF0"/>
            </a:solidFill>
            <a:prstDash val="solid"/>
          </a:ln>
        </p:spPr>
      </p:sp>
      <p:sp>
        <p:nvSpPr>
          <p:cNvPr id="15" name="!!axg3"/>
          <p:cNvSpPr/>
          <p:nvPr/>
        </p:nvSpPr>
        <p:spPr>
          <a:xfrm>
            <a:off x="7223760" y="2286000"/>
            <a:ext cx="4206240" cy="91"/>
          </a:xfrm>
          <a:prstGeom prst="line">
            <a:avLst/>
          </a:prstGeom>
          <a:noFill/>
          <a:ln w="9525">
            <a:solidFill>
              <a:srgbClr val="EDEEF0"/>
            </a:solidFill>
            <a:prstDash val="solid"/>
          </a:ln>
        </p:spPr>
      </p:sp>
      <p:sp>
        <p:nvSpPr>
          <p:cNvPr id="16" name="!!axg4"/>
          <p:cNvSpPr/>
          <p:nvPr/>
        </p:nvSpPr>
        <p:spPr>
          <a:xfrm>
            <a:off x="7223760" y="1691640"/>
            <a:ext cx="4206240" cy="91"/>
          </a:xfrm>
          <a:prstGeom prst="line">
            <a:avLst/>
          </a:prstGeom>
          <a:noFill/>
          <a:ln w="9525">
            <a:solidFill>
              <a:srgbClr val="EDEEF0"/>
            </a:solidFill>
            <a:prstDash val="solid"/>
          </a:ln>
        </p:spPr>
      </p:sp>
      <p:sp>
        <p:nvSpPr>
          <p:cNvPr id="17" name="!!axxa"/>
          <p:cNvSpPr/>
          <p:nvPr/>
        </p:nvSpPr>
        <p:spPr>
          <a:xfrm>
            <a:off x="7223760" y="4069080"/>
            <a:ext cx="4206240" cy="91"/>
          </a:xfrm>
          <a:prstGeom prst="line">
            <a:avLst/>
          </a:prstGeom>
          <a:noFill/>
          <a:ln w="12700">
            <a:solidFill>
              <a:srgbClr val="8A8D93"/>
            </a:solidFill>
            <a:prstDash val="solid"/>
          </a:ln>
        </p:spPr>
      </p:sp>
      <p:sp>
        <p:nvSpPr>
          <p:cNvPr id="18" name="!!axya"/>
          <p:cNvSpPr/>
          <p:nvPr/>
        </p:nvSpPr>
        <p:spPr>
          <a:xfrm>
            <a:off x="7223760" y="1691640"/>
            <a:ext cx="91" cy="2377440"/>
          </a:xfrm>
          <a:prstGeom prst="line">
            <a:avLst/>
          </a:prstGeom>
          <a:noFill/>
          <a:ln w="12700">
            <a:solidFill>
              <a:srgbClr val="8A8D93"/>
            </a:solidFill>
            <a:prstDash val="solid"/>
          </a:ln>
        </p:spPr>
      </p:sp>
      <p:sp>
        <p:nvSpPr>
          <p:cNvPr id="19" name="!!axxt0"/>
          <p:cNvSpPr txBox="1"/>
          <p:nvPr/>
        </p:nvSpPr>
        <p:spPr>
          <a:xfrm>
            <a:off x="690372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0k</a:t>
            </a:r>
            <a:endParaRPr lang="en-US" sz="900" dirty="0"/>
          </a:p>
        </p:txBody>
      </p:sp>
      <p:sp>
        <p:nvSpPr>
          <p:cNvPr id="20" name="!!axxt1"/>
          <p:cNvSpPr txBox="1"/>
          <p:nvPr/>
        </p:nvSpPr>
        <p:spPr>
          <a:xfrm>
            <a:off x="795528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20k</a:t>
            </a:r>
            <a:endParaRPr lang="en-US" sz="900" dirty="0"/>
          </a:p>
        </p:txBody>
      </p:sp>
      <p:sp>
        <p:nvSpPr>
          <p:cNvPr id="21" name="!!axxt2"/>
          <p:cNvSpPr txBox="1"/>
          <p:nvPr/>
        </p:nvSpPr>
        <p:spPr>
          <a:xfrm>
            <a:off x="900684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40k</a:t>
            </a:r>
            <a:endParaRPr lang="en-US" sz="900" dirty="0"/>
          </a:p>
        </p:txBody>
      </p:sp>
      <p:sp>
        <p:nvSpPr>
          <p:cNvPr id="22" name="!!axxt3"/>
          <p:cNvSpPr txBox="1"/>
          <p:nvPr/>
        </p:nvSpPr>
        <p:spPr>
          <a:xfrm>
            <a:off x="1005840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60k</a:t>
            </a:r>
            <a:endParaRPr lang="en-US" sz="900" dirty="0"/>
          </a:p>
        </p:txBody>
      </p:sp>
      <p:sp>
        <p:nvSpPr>
          <p:cNvPr id="23" name="!!axxt4"/>
          <p:cNvSpPr txBox="1"/>
          <p:nvPr/>
        </p:nvSpPr>
        <p:spPr>
          <a:xfrm>
            <a:off x="1110996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80k</a:t>
            </a:r>
            <a:endParaRPr lang="en-US" sz="900" dirty="0"/>
          </a:p>
        </p:txBody>
      </p:sp>
      <p:sp>
        <p:nvSpPr>
          <p:cNvPr id="24" name="!!axyt0"/>
          <p:cNvSpPr txBox="1"/>
          <p:nvPr/>
        </p:nvSpPr>
        <p:spPr>
          <a:xfrm>
            <a:off x="6537960" y="39684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25" name="!!axyt1"/>
          <p:cNvSpPr txBox="1"/>
          <p:nvPr/>
        </p:nvSpPr>
        <p:spPr>
          <a:xfrm>
            <a:off x="6537960" y="33741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50</a:t>
            </a:r>
            <a:endParaRPr lang="en-US" sz="900" dirty="0"/>
          </a:p>
        </p:txBody>
      </p:sp>
      <p:sp>
        <p:nvSpPr>
          <p:cNvPr id="26" name="!!axyt2"/>
          <p:cNvSpPr txBox="1"/>
          <p:nvPr/>
        </p:nvSpPr>
        <p:spPr>
          <a:xfrm>
            <a:off x="6537960" y="27797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a:t>
            </a:r>
            <a:endParaRPr lang="en-US" sz="900" dirty="0"/>
          </a:p>
        </p:txBody>
      </p:sp>
      <p:sp>
        <p:nvSpPr>
          <p:cNvPr id="27" name="!!axyt3"/>
          <p:cNvSpPr txBox="1"/>
          <p:nvPr/>
        </p:nvSpPr>
        <p:spPr>
          <a:xfrm>
            <a:off x="6537960" y="21854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150</a:t>
            </a:r>
            <a:endParaRPr lang="en-US" sz="900" dirty="0"/>
          </a:p>
        </p:txBody>
      </p:sp>
      <p:sp>
        <p:nvSpPr>
          <p:cNvPr id="28" name="!!axyt4"/>
          <p:cNvSpPr txBox="1"/>
          <p:nvPr/>
        </p:nvSpPr>
        <p:spPr>
          <a:xfrm>
            <a:off x="653796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200</a:t>
            </a:r>
            <a:endParaRPr lang="en-US" sz="900" dirty="0"/>
          </a:p>
        </p:txBody>
      </p:sp>
      <p:sp>
        <p:nvSpPr>
          <p:cNvPr id="29" name="!!axxl"/>
          <p:cNvSpPr txBox="1"/>
          <p:nvPr/>
        </p:nvSpPr>
        <p:spPr>
          <a:xfrm>
            <a:off x="7223760" y="434340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heat exit α (W/cm²·K)</a:t>
            </a:r>
            <a:endParaRPr lang="en-US" sz="1100" dirty="0"/>
          </a:p>
        </p:txBody>
      </p:sp>
      <p:sp>
        <p:nvSpPr>
          <p:cNvPr id="30" name="!!axyl"/>
          <p:cNvSpPr txBox="1"/>
          <p:nvPr/>
        </p:nvSpPr>
        <p:spPr>
          <a:xfrm>
            <a:off x="704088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ΔT at 30 µW (K)</a:t>
            </a:r>
            <a:endParaRPr lang="en-US" sz="1100" dirty="0"/>
          </a:p>
        </p:txBody>
      </p:sp>
      <p:sp>
        <p:nvSpPr>
          <p:cNvPr id="31" name="!!c2C"/>
          <p:cNvSpPr/>
          <p:nvPr/>
        </p:nvSpPr>
        <p:spPr>
          <a:xfrm>
            <a:off x="7959852" y="1476074"/>
            <a:ext cx="3470148" cy="1929165"/>
          </a:xfrm>
          <a:custGeom>
            <a:avLst/>
            <a:gdLst/>
            <a:ahLst/>
            <a:cxnLst/>
            <a:rect l="l" t="t" r="r" b="b"/>
            <a:pathLst>
              <a:path w="3470148" h="1929165">
                <a:moveTo>
                  <a:pt x="0" y="0"/>
                </a:moveTo>
                <a:lnTo>
                  <a:pt x="88978" y="252178"/>
                </a:lnTo>
                <a:lnTo>
                  <a:pt x="177956" y="455260"/>
                </a:lnTo>
                <a:lnTo>
                  <a:pt x="266934" y="622311"/>
                </a:lnTo>
                <a:lnTo>
                  <a:pt x="355913" y="762139"/>
                </a:lnTo>
                <a:lnTo>
                  <a:pt x="444891" y="880897"/>
                </a:lnTo>
                <a:lnTo>
                  <a:pt x="533869" y="983014"/>
                </a:lnTo>
                <a:lnTo>
                  <a:pt x="622847" y="1071758"/>
                </a:lnTo>
                <a:lnTo>
                  <a:pt x="711825" y="1149596"/>
                </a:lnTo>
                <a:lnTo>
                  <a:pt x="800803" y="1218420"/>
                </a:lnTo>
                <a:lnTo>
                  <a:pt x="889782" y="1279712"/>
                </a:lnTo>
                <a:lnTo>
                  <a:pt x="978760" y="1334643"/>
                </a:lnTo>
                <a:lnTo>
                  <a:pt x="1067738" y="1384154"/>
                </a:lnTo>
                <a:lnTo>
                  <a:pt x="1156716" y="1429011"/>
                </a:lnTo>
                <a:lnTo>
                  <a:pt x="1245694" y="1469840"/>
                </a:lnTo>
                <a:lnTo>
                  <a:pt x="1334672" y="1507160"/>
                </a:lnTo>
                <a:lnTo>
                  <a:pt x="1423650" y="1541405"/>
                </a:lnTo>
                <a:lnTo>
                  <a:pt x="1512629" y="1572940"/>
                </a:lnTo>
                <a:lnTo>
                  <a:pt x="1601607" y="1602075"/>
                </a:lnTo>
                <a:lnTo>
                  <a:pt x="1690585" y="1629073"/>
                </a:lnTo>
                <a:lnTo>
                  <a:pt x="1779563" y="1654161"/>
                </a:lnTo>
                <a:lnTo>
                  <a:pt x="1868541" y="1677535"/>
                </a:lnTo>
                <a:lnTo>
                  <a:pt x="1957519" y="1699365"/>
                </a:lnTo>
                <a:lnTo>
                  <a:pt x="2046498" y="1719798"/>
                </a:lnTo>
                <a:lnTo>
                  <a:pt x="2135476" y="1738966"/>
                </a:lnTo>
                <a:lnTo>
                  <a:pt x="2224454" y="1756981"/>
                </a:lnTo>
                <a:lnTo>
                  <a:pt x="2313432" y="1773945"/>
                </a:lnTo>
                <a:lnTo>
                  <a:pt x="2402410" y="1789947"/>
                </a:lnTo>
                <a:lnTo>
                  <a:pt x="2491388" y="1805067"/>
                </a:lnTo>
                <a:lnTo>
                  <a:pt x="2580366" y="1819375"/>
                </a:lnTo>
                <a:lnTo>
                  <a:pt x="2669345" y="1832936"/>
                </a:lnTo>
                <a:lnTo>
                  <a:pt x="2758323" y="1845806"/>
                </a:lnTo>
                <a:lnTo>
                  <a:pt x="2847301" y="1858037"/>
                </a:lnTo>
                <a:lnTo>
                  <a:pt x="2936279" y="1869676"/>
                </a:lnTo>
                <a:lnTo>
                  <a:pt x="3025257" y="1880763"/>
                </a:lnTo>
                <a:lnTo>
                  <a:pt x="3114235" y="1891338"/>
                </a:lnTo>
                <a:lnTo>
                  <a:pt x="3203214" y="1901436"/>
                </a:lnTo>
                <a:lnTo>
                  <a:pt x="3292192" y="1911087"/>
                </a:lnTo>
                <a:lnTo>
                  <a:pt x="3381170" y="1920322"/>
                </a:lnTo>
                <a:lnTo>
                  <a:pt x="3470148" y="1929165"/>
                </a:lnTo>
              </a:path>
            </a:pathLst>
          </a:custGeom>
          <a:ln w="31750">
            <a:solidFill>
              <a:srgbClr val="E07B00"/>
            </a:solidFill>
            <a:prstDash val="solid"/>
          </a:ln>
        </p:spPr>
      </p:sp>
      <p:sp>
        <p:nvSpPr>
          <p:cNvPr id="32" name="!!c2P"/>
          <p:cNvSpPr/>
          <p:nvPr/>
        </p:nvSpPr>
        <p:spPr>
          <a:xfrm>
            <a:off x="7223760" y="3298789"/>
            <a:ext cx="4206240" cy="91"/>
          </a:xfrm>
          <a:prstGeom prst="line">
            <a:avLst/>
          </a:prstGeom>
          <a:noFill/>
          <a:ln w="15875">
            <a:solidFill>
              <a:srgbClr val="D64545"/>
            </a:solidFill>
            <a:prstDash val="dash"/>
          </a:ln>
        </p:spPr>
      </p:sp>
      <p:sp>
        <p:nvSpPr>
          <p:cNvPr id="33" name="!!c2PL"/>
          <p:cNvSpPr txBox="1"/>
          <p:nvPr/>
        </p:nvSpPr>
        <p:spPr>
          <a:xfrm>
            <a:off x="9957816" y="3042757"/>
            <a:ext cx="1645920" cy="219456"/>
          </a:xfrm>
          <a:prstGeom prst="rect">
            <a:avLst/>
          </a:prstGeom>
          <a:noFill/>
          <a:ln/>
        </p:spPr>
        <p:txBody>
          <a:bodyPr wrap="square" lIns="0" tIns="0" rIns="0" bIns="0" rtlCol="0" anchor="t"/>
          <a:lstStyle/>
          <a:p>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base paper 64.8 K</a:t>
            </a:r>
            <a:endParaRPr lang="en-US" sz="1000" dirty="0"/>
          </a:p>
        </p:txBody>
      </p:sp>
      <p:sp>
        <p:nvSpPr>
          <p:cNvPr id="34" name="!!c2Pt"/>
          <p:cNvSpPr/>
          <p:nvPr/>
        </p:nvSpPr>
        <p:spPr>
          <a:xfrm>
            <a:off x="9770364" y="3077413"/>
            <a:ext cx="164592" cy="164592"/>
          </a:xfrm>
          <a:prstGeom prst="ellipse">
            <a:avLst/>
          </a:prstGeom>
          <a:solidFill>
            <a:srgbClr val="171A20"/>
          </a:solidFill>
          <a:ln w="19050">
            <a:solidFill>
              <a:srgbClr val="FFFFFF"/>
            </a:solidFill>
            <a:prstDash val="solid"/>
          </a:ln>
        </p:spPr>
      </p:sp>
      <p:sp>
        <p:nvSpPr>
          <p:cNvPr id="35" name="!!c2PtL"/>
          <p:cNvSpPr txBox="1"/>
          <p:nvPr/>
        </p:nvSpPr>
        <p:spPr>
          <a:xfrm>
            <a:off x="9944100" y="3113989"/>
            <a:ext cx="1554480" cy="219456"/>
          </a:xfrm>
          <a:prstGeom prst="rect">
            <a:avLst/>
          </a:prstGeom>
          <a:noFill/>
          <a:ln/>
        </p:spPr>
        <p:txBody>
          <a:bodyPr wrap="square" lIns="0" tIns="0" rIns="0" bIns="0" rtlCol="0" anchor="t"/>
          <a:lstStyle/>
          <a:p>
            <a:pPr algn="l" indent="0" marL="0">
              <a:buNone/>
            </a:pPr>
            <a:r>
              <a:rPr lang="en-US" sz="1100" dirty="0">
                <a:solidFill>
                  <a:srgbClr val="171A20"/>
                </a:solidFill>
                <a:latin typeface="Segoe UI Semibold" pitchFamily="34" charset="0"/>
                <a:ea typeface="Segoe UI Semibold" pitchFamily="34" charset="-122"/>
                <a:cs typeface="Segoe UI Semibold" pitchFamily="34" charset="-120"/>
              </a:rPr>
              <a:t>76.5 K</a:t>
            </a:r>
            <a:endParaRPr lang="en-US" sz="1100" dirty="0"/>
          </a:p>
        </p:txBody>
      </p:sp>
      <p:sp>
        <p:nvSpPr>
          <p:cNvPr id="36" name="!!chip0"/>
          <p:cNvSpPr/>
          <p:nvPr/>
        </p:nvSpPr>
        <p:spPr>
          <a:xfrm>
            <a:off x="6858000" y="4526280"/>
            <a:ext cx="1508760" cy="658368"/>
          </a:xfrm>
          <a:prstGeom prst="roundRect">
            <a:avLst>
              <a:gd name="adj" fmla="val 8333"/>
            </a:avLst>
          </a:prstGeom>
          <a:solidFill>
            <a:srgbClr val="F4F5F7"/>
          </a:solidFill>
          <a:ln/>
        </p:spPr>
      </p:sp>
      <p:sp>
        <p:nvSpPr>
          <p:cNvPr id="37" name="!!chipk0"/>
          <p:cNvSpPr txBox="1"/>
          <p:nvPr/>
        </p:nvSpPr>
        <p:spPr>
          <a:xfrm>
            <a:off x="6967728" y="459943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R</a:t>
            </a:r>
            <a:pPr algn="l" indent="0" marL="0">
              <a:buNone/>
            </a:pPr>
            <a:r>
              <a:rPr lang="en-US" sz="1000" baseline="-40000" dirty="0">
                <a:solidFill>
                  <a:srgbClr val="5C5E62"/>
                </a:solidFill>
                <a:latin typeface="Segoe UI" pitchFamily="34" charset="0"/>
                <a:ea typeface="Segoe UI" pitchFamily="34" charset="-122"/>
                <a:cs typeface="Segoe UI" pitchFamily="34" charset="-120"/>
              </a:rPr>
              <a:t>th</a:t>
            </a:r>
            <a:pPr algn="l" indent="0" marL="0">
              <a:buNone/>
            </a:pPr>
            <a:r>
              <a:rPr lang="en-US" sz="1000" dirty="0">
                <a:solidFill>
                  <a:srgbClr val="5C5E62"/>
                </a:solidFill>
                <a:latin typeface="Segoe UI" pitchFamily="34" charset="0"/>
                <a:ea typeface="Segoe UI" pitchFamily="34" charset="-122"/>
                <a:cs typeface="Segoe UI" pitchFamily="34" charset="-120"/>
              </a:rPr>
              <a:t> (K/W)</a:t>
            </a:r>
            <a:endParaRPr lang="en-US" sz="1000" dirty="0"/>
          </a:p>
        </p:txBody>
      </p:sp>
      <p:sp>
        <p:nvSpPr>
          <p:cNvPr id="38" name="!!chipv0"/>
          <p:cNvSpPr txBox="1"/>
          <p:nvPr/>
        </p:nvSpPr>
        <p:spPr>
          <a:xfrm>
            <a:off x="6967728" y="483717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2.55 × 10⁶</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39" name="!!chip1"/>
          <p:cNvSpPr/>
          <p:nvPr/>
        </p:nvSpPr>
        <p:spPr>
          <a:xfrm>
            <a:off x="8476488" y="4526280"/>
            <a:ext cx="1508760" cy="658368"/>
          </a:xfrm>
          <a:prstGeom prst="roundRect">
            <a:avLst>
              <a:gd name="adj" fmla="val 8333"/>
            </a:avLst>
          </a:prstGeom>
          <a:solidFill>
            <a:srgbClr val="F4F5F7"/>
          </a:solidFill>
          <a:ln/>
        </p:spPr>
      </p:sp>
      <p:sp>
        <p:nvSpPr>
          <p:cNvPr id="40" name="!!chipk1"/>
          <p:cNvSpPr txBox="1"/>
          <p:nvPr/>
        </p:nvSpPr>
        <p:spPr>
          <a:xfrm>
            <a:off x="8586216" y="459943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ΔT at 30 µW</a:t>
            </a:r>
            <a:endParaRPr lang="en-US" sz="1000" dirty="0"/>
          </a:p>
        </p:txBody>
      </p:sp>
      <p:sp>
        <p:nvSpPr>
          <p:cNvPr id="41" name="!!chipv1"/>
          <p:cNvSpPr txBox="1"/>
          <p:nvPr/>
        </p:nvSpPr>
        <p:spPr>
          <a:xfrm>
            <a:off x="8586216" y="483717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76.5 K</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2" name="!!chip2"/>
          <p:cNvSpPr/>
          <p:nvPr/>
        </p:nvSpPr>
        <p:spPr>
          <a:xfrm>
            <a:off x="10094976" y="4526280"/>
            <a:ext cx="1508760" cy="658368"/>
          </a:xfrm>
          <a:prstGeom prst="roundRect">
            <a:avLst>
              <a:gd name="adj" fmla="val 8333"/>
            </a:avLst>
          </a:prstGeom>
          <a:solidFill>
            <a:srgbClr val="F4F5F7"/>
          </a:solidFill>
          <a:ln/>
        </p:spPr>
      </p:sp>
      <p:sp>
        <p:nvSpPr>
          <p:cNvPr id="43" name="!!chipk2"/>
          <p:cNvSpPr txBox="1"/>
          <p:nvPr/>
        </p:nvSpPr>
        <p:spPr>
          <a:xfrm>
            <a:off x="10204704" y="459943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vs paper</a:t>
            </a:r>
            <a:endParaRPr lang="en-US" sz="1000" dirty="0"/>
          </a:p>
        </p:txBody>
      </p:sp>
      <p:sp>
        <p:nvSpPr>
          <p:cNvPr id="44" name="!!chipv2"/>
          <p:cNvSpPr txBox="1"/>
          <p:nvPr/>
        </p:nvSpPr>
        <p:spPr>
          <a:xfrm>
            <a:off x="10204704" y="483717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+18 %</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5" name="!!knobLbl"/>
          <p:cNvSpPr txBox="1"/>
          <p:nvPr/>
        </p:nvSpPr>
        <p:spPr>
          <a:xfrm>
            <a:off x="7022592" y="5184648"/>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heat exit α   </a:t>
            </a:r>
            <a:pPr algn="l" indent="0" marL="0">
              <a:buNone/>
            </a:pPr>
            <a:r>
              <a:rPr lang="en-US" sz="1200" dirty="0">
                <a:solidFill>
                  <a:srgbClr val="E07B00"/>
                </a:solidFill>
                <a:latin typeface="Segoe UI Semibold" pitchFamily="34" charset="0"/>
                <a:ea typeface="Segoe UI Semibold" pitchFamily="34" charset="-122"/>
                <a:cs typeface="Segoe UI Semibold" pitchFamily="34" charset="-120"/>
              </a:rPr>
              <a:t>50k</a:t>
            </a:r>
            <a:endParaRPr lang="en-US" sz="1200" dirty="0"/>
          </a:p>
        </p:txBody>
      </p:sp>
      <p:sp>
        <p:nvSpPr>
          <p:cNvPr id="46" name="!!knobTrack"/>
          <p:cNvSpPr/>
          <p:nvPr/>
        </p:nvSpPr>
        <p:spPr>
          <a:xfrm>
            <a:off x="7040880" y="5568696"/>
            <a:ext cx="4480560" cy="54864"/>
          </a:xfrm>
          <a:prstGeom prst="roundRect">
            <a:avLst>
              <a:gd name="adj" fmla="val 50000"/>
            </a:avLst>
          </a:prstGeom>
          <a:solidFill>
            <a:srgbClr val="E2E3E3"/>
          </a:solidFill>
          <a:ln/>
        </p:spPr>
      </p:sp>
      <p:sp>
        <p:nvSpPr>
          <p:cNvPr id="47" name="!!knobFill"/>
          <p:cNvSpPr/>
          <p:nvPr/>
        </p:nvSpPr>
        <p:spPr>
          <a:xfrm>
            <a:off x="7040880" y="5568696"/>
            <a:ext cx="2800350" cy="54864"/>
          </a:xfrm>
          <a:prstGeom prst="roundRect">
            <a:avLst>
              <a:gd name="adj" fmla="val 50000"/>
            </a:avLst>
          </a:prstGeom>
          <a:solidFill>
            <a:srgbClr val="E07B00"/>
          </a:solidFill>
          <a:ln/>
        </p:spPr>
      </p:sp>
      <p:sp>
        <p:nvSpPr>
          <p:cNvPr id="48" name="!!knobT0"/>
          <p:cNvSpPr txBox="1"/>
          <p:nvPr/>
        </p:nvSpPr>
        <p:spPr>
          <a:xfrm>
            <a:off x="6955155" y="570585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5k</a:t>
            </a:r>
            <a:endParaRPr lang="en-US" sz="900" dirty="0"/>
          </a:p>
        </p:txBody>
      </p:sp>
      <p:sp>
        <p:nvSpPr>
          <p:cNvPr id="49" name="!!knobT1"/>
          <p:cNvSpPr txBox="1"/>
          <p:nvPr/>
        </p:nvSpPr>
        <p:spPr>
          <a:xfrm>
            <a:off x="8355330" y="570585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30k</a:t>
            </a:r>
            <a:endParaRPr lang="en-US" sz="900" dirty="0"/>
          </a:p>
        </p:txBody>
      </p:sp>
      <p:sp>
        <p:nvSpPr>
          <p:cNvPr id="50" name="!!knobT2"/>
          <p:cNvSpPr txBox="1"/>
          <p:nvPr/>
        </p:nvSpPr>
        <p:spPr>
          <a:xfrm>
            <a:off x="9979533" y="570585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59k</a:t>
            </a:r>
            <a:endParaRPr lang="en-US" sz="900" dirty="0"/>
          </a:p>
        </p:txBody>
      </p:sp>
      <p:sp>
        <p:nvSpPr>
          <p:cNvPr id="51" name="!!knobT3"/>
          <p:cNvSpPr txBox="1"/>
          <p:nvPr/>
        </p:nvSpPr>
        <p:spPr>
          <a:xfrm>
            <a:off x="11155680" y="570585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80k</a:t>
            </a:r>
            <a:endParaRPr lang="en-US" sz="900" dirty="0"/>
          </a:p>
        </p:txBody>
      </p:sp>
      <p:sp>
        <p:nvSpPr>
          <p:cNvPr id="52" name="!!knobThumb"/>
          <p:cNvSpPr/>
          <p:nvPr/>
        </p:nvSpPr>
        <p:spPr>
          <a:xfrm>
            <a:off x="9740646" y="5495544"/>
            <a:ext cx="201168" cy="201168"/>
          </a:xfrm>
          <a:prstGeom prst="ellipse">
            <a:avLst/>
          </a:prstGeom>
          <a:solidFill>
            <a:srgbClr val="FFFFFF"/>
          </a:solidFill>
          <a:ln w="28575">
            <a:solidFill>
              <a:srgbClr val="E07B00"/>
            </a:solidFill>
            <a:prstDash val="solid"/>
          </a:ln>
        </p:spPr>
      </p:sp>
      <p:sp>
        <p:nvSpPr>
          <p:cNvPr id="5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First guess α = 50 000: ΔT = 76.4 K, still 18 % above the paper.</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131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2 – Change 2: the heat exit α</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Fit from our α sweep:  R</a:t>
            </a:r>
            <a:pPr algn="l" indent="0" marL="0">
              <a:buNone/>
            </a:pPr>
            <a:r>
              <a:rPr lang="en-US" sz="1600" baseline="-40000" dirty="0">
                <a:solidFill>
                  <a:srgbClr val="5C5E62"/>
                </a:solidFill>
                <a:latin typeface="Segoe UI" pitchFamily="34" charset="0"/>
                <a:ea typeface="Segoe UI" pitchFamily="34" charset="-122"/>
                <a:cs typeface="Segoe UI" pitchFamily="34" charset="-120"/>
              </a:rPr>
              <a:t>th</a:t>
            </a:r>
            <a:pPr algn="l" indent="0" marL="0">
              <a:buNone/>
            </a:pPr>
            <a:r>
              <a:rPr lang="en-US" sz="1600" dirty="0">
                <a:solidFill>
                  <a:srgbClr val="5C5E62"/>
                </a:solidFill>
                <a:latin typeface="Segoe UI" pitchFamily="34" charset="0"/>
                <a:ea typeface="Segoe UI" pitchFamily="34" charset="-122"/>
                <a:cs typeface="Segoe UI" pitchFamily="34" charset="-120"/>
              </a:rPr>
              <a:t> = 0.714 × 10⁶ + 9.18 × 10¹⁰ / α   (K/W, α in W/cm²·K)</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171A20"/>
          </a:solidFill>
          <a:ln/>
        </p:spPr>
      </p:sp>
      <p:sp>
        <p:nvSpPr>
          <p:cNvPr id="6" name="!!sdot2"/>
          <p:cNvSpPr/>
          <p:nvPr/>
        </p:nvSpPr>
        <p:spPr>
          <a:xfrm>
            <a:off x="11599164" y="525780"/>
            <a:ext cx="82296" cy="82296"/>
          </a:xfrm>
          <a:prstGeom prst="ellipse">
            <a:avLst/>
          </a:prstGeom>
          <a:solidFill>
            <a:srgbClr val="171A20"/>
          </a:solidFill>
          <a:ln/>
        </p:spPr>
      </p:sp>
      <p:sp>
        <p:nvSpPr>
          <p:cNvPr id="7" name="!!c2In"/>
          <p:cNvSpPr/>
          <p:nvPr/>
        </p:nvSpPr>
        <p:spPr>
          <a:xfrm>
            <a:off x="1188720" y="4454481"/>
            <a:ext cx="1280160" cy="117519"/>
          </a:xfrm>
          <a:prstGeom prst="rect">
            <a:avLst/>
          </a:prstGeom>
          <a:solidFill>
            <a:srgbClr val="1F2F6B"/>
          </a:solidFill>
          <a:ln/>
        </p:spPr>
      </p:sp>
      <p:sp>
        <p:nvSpPr>
          <p:cNvPr id="8" name="!!c2Ex"/>
          <p:cNvSpPr/>
          <p:nvPr/>
        </p:nvSpPr>
        <p:spPr>
          <a:xfrm>
            <a:off x="1188720" y="4198387"/>
            <a:ext cx="1280160" cy="256094"/>
          </a:xfrm>
          <a:prstGeom prst="rect">
            <a:avLst/>
          </a:prstGeom>
          <a:solidFill>
            <a:srgbClr val="E07B00"/>
          </a:solidFill>
          <a:ln/>
        </p:spPr>
      </p:sp>
      <p:sp>
        <p:nvSpPr>
          <p:cNvPr id="9" name="!!c2ExL"/>
          <p:cNvSpPr txBox="1"/>
          <p:nvPr/>
        </p:nvSpPr>
        <p:spPr>
          <a:xfrm>
            <a:off x="2606040" y="3786907"/>
            <a:ext cx="2377440" cy="274320"/>
          </a:xfrm>
          <a:prstGeom prst="rect">
            <a:avLst/>
          </a:prstGeom>
          <a:noFill/>
          <a:ln/>
        </p:spPr>
        <p:txBody>
          <a:bodyPr wrap="square" lIns="0" tIns="0" rIns="0" bIns="0" rtlCol="0" anchor="t"/>
          <a:lstStyle/>
          <a:p>
            <a:pPr algn="l" indent="0" marL="0">
              <a:buNone/>
            </a:pPr>
            <a:r>
              <a:rPr lang="en-US" sz="1300" dirty="0">
                <a:solidFill>
                  <a:srgbClr val="E07B00"/>
                </a:solidFill>
                <a:latin typeface="Segoe UI Semibold" pitchFamily="34" charset="0"/>
                <a:ea typeface="Segoe UI Semibold" pitchFamily="34" charset="-122"/>
                <a:cs typeface="Segoe UI Semibold" pitchFamily="34" charset="-120"/>
              </a:rPr>
              <a:t>R</a:t>
            </a:r>
            <a:pPr algn="l" indent="0" marL="0">
              <a:buNone/>
            </a:pPr>
            <a:r>
              <a:rPr lang="en-US" sz="1300" baseline="-40000" dirty="0">
                <a:solidFill>
                  <a:srgbClr val="E07B00"/>
                </a:solidFill>
                <a:latin typeface="Segoe UI Semibold" pitchFamily="34" charset="0"/>
                <a:ea typeface="Segoe UI Semibold" pitchFamily="34" charset="-122"/>
                <a:cs typeface="Segoe UI Semibold" pitchFamily="34" charset="-120"/>
              </a:rPr>
              <a:t>exit</a:t>
            </a:r>
            <a:pPr algn="l" indent="0" marL="0">
              <a:buNone/>
            </a:pPr>
            <a:r>
              <a:rPr lang="en-US" sz="1300" dirty="0">
                <a:solidFill>
                  <a:srgbClr val="E07B00"/>
                </a:solidFill>
                <a:latin typeface="Segoe UI Semibold" pitchFamily="34" charset="0"/>
                <a:ea typeface="Segoe UI Semibold" pitchFamily="34" charset="-122"/>
                <a:cs typeface="Segoe UI Semibold" pitchFamily="34" charset="-120"/>
              </a:rPr>
              <a:t> = 1.56 × 10⁶</a:t>
            </a:r>
            <a:endParaRPr lang="en-US" sz="1300" dirty="0"/>
          </a:p>
        </p:txBody>
      </p:sp>
      <p:sp>
        <p:nvSpPr>
          <p:cNvPr id="10" name="!!c2InL"/>
          <p:cNvSpPr txBox="1"/>
          <p:nvPr/>
        </p:nvSpPr>
        <p:spPr>
          <a:xfrm>
            <a:off x="2606040" y="4297680"/>
            <a:ext cx="3108960" cy="457200"/>
          </a:xfrm>
          <a:prstGeom prst="rect">
            <a:avLst/>
          </a:prstGeom>
          <a:noFill/>
          <a:ln/>
        </p:spPr>
        <p:txBody>
          <a:bodyPr wrap="square" lIns="0" tIns="0" rIns="0" bIns="0" rtlCol="0" anchor="t"/>
          <a:lstStyle/>
          <a:p>
            <a:pPr algn="l" indent="0" marL="0">
              <a:buNone/>
            </a:pPr>
            <a:r>
              <a:rPr lang="en-US" sz="1100" dirty="0">
                <a:solidFill>
                  <a:srgbClr val="1F2F6B"/>
                </a:solidFill>
                <a:latin typeface="Segoe UI" pitchFamily="34" charset="0"/>
                <a:ea typeface="Segoe UI" pitchFamily="34" charset="-122"/>
                <a:cs typeface="Segoe UI" pitchFamily="34" charset="-120"/>
              </a:rPr>
              <a:t>R</a:t>
            </a:r>
            <a:pPr algn="l" indent="0" marL="0">
              <a:buNone/>
            </a:pPr>
            <a:r>
              <a:rPr lang="en-US" sz="1100" baseline="-40000" dirty="0">
                <a:solidFill>
                  <a:srgbClr val="1F2F6B"/>
                </a:solidFill>
                <a:latin typeface="Segoe UI" pitchFamily="34" charset="0"/>
                <a:ea typeface="Segoe UI" pitchFamily="34" charset="-122"/>
                <a:cs typeface="Segoe UI" pitchFamily="34" charset="-120"/>
              </a:rPr>
              <a:t>inside</a:t>
            </a:r>
            <a:pPr algn="l" indent="0" marL="0">
              <a:buNone/>
            </a:pPr>
            <a:r>
              <a:rPr lang="en-US" sz="1100" dirty="0">
                <a:solidFill>
                  <a:srgbClr val="1F2F6B"/>
                </a:solidFill>
                <a:latin typeface="Segoe UI" pitchFamily="34" charset="0"/>
                <a:ea typeface="Segoe UI" pitchFamily="34" charset="-122"/>
                <a:cs typeface="Segoe UI" pitchFamily="34" charset="-120"/>
              </a:rPr>
              <a:t> = 0.71 × 10⁶ (oxides, gate, silicon: fixed)</a:t>
            </a:r>
            <a:endParaRPr lang="en-US" sz="1100" dirty="0"/>
          </a:p>
        </p:txBody>
      </p:sp>
      <p:sp>
        <p:nvSpPr>
          <p:cNvPr id="11" name="!!c2Sh"/>
          <p:cNvSpPr txBox="1"/>
          <p:nvPr/>
        </p:nvSpPr>
        <p:spPr>
          <a:xfrm>
            <a:off x="914400" y="4709160"/>
            <a:ext cx="3200400" cy="274320"/>
          </a:xfrm>
          <a:prstGeom prst="rect">
            <a:avLst/>
          </a:prstGeom>
          <a:noFill/>
          <a:ln/>
        </p:spPr>
        <p:txBody>
          <a:bodyPr wrap="square" lIns="0" tIns="0" rIns="0" bIns="0" rtlCol="0" anchor="t"/>
          <a:lstStyle/>
          <a:p>
            <a:pPr algn="l" indent="0" marL="0">
              <a:buNone/>
            </a:pPr>
            <a:r>
              <a:rPr lang="en-US" sz="1200" dirty="0">
                <a:solidFill>
                  <a:srgbClr val="171A20"/>
                </a:solidFill>
                <a:latin typeface="Segoe UI Semibold" pitchFamily="34" charset="0"/>
                <a:ea typeface="Segoe UI Semibold" pitchFamily="34" charset="-122"/>
                <a:cs typeface="Segoe UI Semibold" pitchFamily="34" charset="-120"/>
              </a:rPr>
              <a:t>share of the exit: 69 %</a:t>
            </a:r>
            <a:endParaRPr lang="en-US" sz="1200" dirty="0"/>
          </a:p>
        </p:txBody>
      </p:sp>
      <p:sp>
        <p:nvSpPr>
          <p:cNvPr id="12" name="!!axg0"/>
          <p:cNvSpPr/>
          <p:nvPr/>
        </p:nvSpPr>
        <p:spPr>
          <a:xfrm>
            <a:off x="7223760" y="4069080"/>
            <a:ext cx="4206240" cy="91"/>
          </a:xfrm>
          <a:prstGeom prst="line">
            <a:avLst/>
          </a:prstGeom>
          <a:noFill/>
          <a:ln w="9525">
            <a:solidFill>
              <a:srgbClr val="EDEEF0"/>
            </a:solidFill>
            <a:prstDash val="solid"/>
          </a:ln>
        </p:spPr>
      </p:sp>
      <p:sp>
        <p:nvSpPr>
          <p:cNvPr id="13" name="!!axg1"/>
          <p:cNvSpPr/>
          <p:nvPr/>
        </p:nvSpPr>
        <p:spPr>
          <a:xfrm>
            <a:off x="7223760" y="3474720"/>
            <a:ext cx="4206240" cy="91"/>
          </a:xfrm>
          <a:prstGeom prst="line">
            <a:avLst/>
          </a:prstGeom>
          <a:noFill/>
          <a:ln w="9525">
            <a:solidFill>
              <a:srgbClr val="EDEEF0"/>
            </a:solidFill>
            <a:prstDash val="solid"/>
          </a:ln>
        </p:spPr>
      </p:sp>
      <p:sp>
        <p:nvSpPr>
          <p:cNvPr id="14" name="!!axg2"/>
          <p:cNvSpPr/>
          <p:nvPr/>
        </p:nvSpPr>
        <p:spPr>
          <a:xfrm>
            <a:off x="7223760" y="2880360"/>
            <a:ext cx="4206240" cy="91"/>
          </a:xfrm>
          <a:prstGeom prst="line">
            <a:avLst/>
          </a:prstGeom>
          <a:noFill/>
          <a:ln w="9525">
            <a:solidFill>
              <a:srgbClr val="EDEEF0"/>
            </a:solidFill>
            <a:prstDash val="solid"/>
          </a:ln>
        </p:spPr>
      </p:sp>
      <p:sp>
        <p:nvSpPr>
          <p:cNvPr id="15" name="!!axg3"/>
          <p:cNvSpPr/>
          <p:nvPr/>
        </p:nvSpPr>
        <p:spPr>
          <a:xfrm>
            <a:off x="7223760" y="2286000"/>
            <a:ext cx="4206240" cy="91"/>
          </a:xfrm>
          <a:prstGeom prst="line">
            <a:avLst/>
          </a:prstGeom>
          <a:noFill/>
          <a:ln w="9525">
            <a:solidFill>
              <a:srgbClr val="EDEEF0"/>
            </a:solidFill>
            <a:prstDash val="solid"/>
          </a:ln>
        </p:spPr>
      </p:sp>
      <p:sp>
        <p:nvSpPr>
          <p:cNvPr id="16" name="!!axg4"/>
          <p:cNvSpPr/>
          <p:nvPr/>
        </p:nvSpPr>
        <p:spPr>
          <a:xfrm>
            <a:off x="7223760" y="1691640"/>
            <a:ext cx="4206240" cy="91"/>
          </a:xfrm>
          <a:prstGeom prst="line">
            <a:avLst/>
          </a:prstGeom>
          <a:noFill/>
          <a:ln w="9525">
            <a:solidFill>
              <a:srgbClr val="EDEEF0"/>
            </a:solidFill>
            <a:prstDash val="solid"/>
          </a:ln>
        </p:spPr>
      </p:sp>
      <p:sp>
        <p:nvSpPr>
          <p:cNvPr id="17" name="!!axxa"/>
          <p:cNvSpPr/>
          <p:nvPr/>
        </p:nvSpPr>
        <p:spPr>
          <a:xfrm>
            <a:off x="7223760" y="4069080"/>
            <a:ext cx="4206240" cy="91"/>
          </a:xfrm>
          <a:prstGeom prst="line">
            <a:avLst/>
          </a:prstGeom>
          <a:noFill/>
          <a:ln w="12700">
            <a:solidFill>
              <a:srgbClr val="8A8D93"/>
            </a:solidFill>
            <a:prstDash val="solid"/>
          </a:ln>
        </p:spPr>
      </p:sp>
      <p:sp>
        <p:nvSpPr>
          <p:cNvPr id="18" name="!!axya"/>
          <p:cNvSpPr/>
          <p:nvPr/>
        </p:nvSpPr>
        <p:spPr>
          <a:xfrm>
            <a:off x="7223760" y="1691640"/>
            <a:ext cx="91" cy="2377440"/>
          </a:xfrm>
          <a:prstGeom prst="line">
            <a:avLst/>
          </a:prstGeom>
          <a:noFill/>
          <a:ln w="12700">
            <a:solidFill>
              <a:srgbClr val="8A8D93"/>
            </a:solidFill>
            <a:prstDash val="solid"/>
          </a:ln>
        </p:spPr>
      </p:sp>
      <p:sp>
        <p:nvSpPr>
          <p:cNvPr id="19" name="!!axxt0"/>
          <p:cNvSpPr txBox="1"/>
          <p:nvPr/>
        </p:nvSpPr>
        <p:spPr>
          <a:xfrm>
            <a:off x="690372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0k</a:t>
            </a:r>
            <a:endParaRPr lang="en-US" sz="900" dirty="0"/>
          </a:p>
        </p:txBody>
      </p:sp>
      <p:sp>
        <p:nvSpPr>
          <p:cNvPr id="20" name="!!axxt1"/>
          <p:cNvSpPr txBox="1"/>
          <p:nvPr/>
        </p:nvSpPr>
        <p:spPr>
          <a:xfrm>
            <a:off x="795528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20k</a:t>
            </a:r>
            <a:endParaRPr lang="en-US" sz="900" dirty="0"/>
          </a:p>
        </p:txBody>
      </p:sp>
      <p:sp>
        <p:nvSpPr>
          <p:cNvPr id="21" name="!!axxt2"/>
          <p:cNvSpPr txBox="1"/>
          <p:nvPr/>
        </p:nvSpPr>
        <p:spPr>
          <a:xfrm>
            <a:off x="900684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40k</a:t>
            </a:r>
            <a:endParaRPr lang="en-US" sz="900" dirty="0"/>
          </a:p>
        </p:txBody>
      </p:sp>
      <p:sp>
        <p:nvSpPr>
          <p:cNvPr id="22" name="!!axxt3"/>
          <p:cNvSpPr txBox="1"/>
          <p:nvPr/>
        </p:nvSpPr>
        <p:spPr>
          <a:xfrm>
            <a:off x="1005840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60k</a:t>
            </a:r>
            <a:endParaRPr lang="en-US" sz="900" dirty="0"/>
          </a:p>
        </p:txBody>
      </p:sp>
      <p:sp>
        <p:nvSpPr>
          <p:cNvPr id="23" name="!!axxt4"/>
          <p:cNvSpPr txBox="1"/>
          <p:nvPr/>
        </p:nvSpPr>
        <p:spPr>
          <a:xfrm>
            <a:off x="11109960" y="411480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80k</a:t>
            </a:r>
            <a:endParaRPr lang="en-US" sz="900" dirty="0"/>
          </a:p>
        </p:txBody>
      </p:sp>
      <p:sp>
        <p:nvSpPr>
          <p:cNvPr id="24" name="!!axyt0"/>
          <p:cNvSpPr txBox="1"/>
          <p:nvPr/>
        </p:nvSpPr>
        <p:spPr>
          <a:xfrm>
            <a:off x="6537960" y="396849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25" name="!!axyt1"/>
          <p:cNvSpPr txBox="1"/>
          <p:nvPr/>
        </p:nvSpPr>
        <p:spPr>
          <a:xfrm>
            <a:off x="6537960" y="33741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50</a:t>
            </a:r>
            <a:endParaRPr lang="en-US" sz="900" dirty="0"/>
          </a:p>
        </p:txBody>
      </p:sp>
      <p:sp>
        <p:nvSpPr>
          <p:cNvPr id="26" name="!!axyt2"/>
          <p:cNvSpPr txBox="1"/>
          <p:nvPr/>
        </p:nvSpPr>
        <p:spPr>
          <a:xfrm>
            <a:off x="6537960" y="27797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a:t>
            </a:r>
            <a:endParaRPr lang="en-US" sz="900" dirty="0"/>
          </a:p>
        </p:txBody>
      </p:sp>
      <p:sp>
        <p:nvSpPr>
          <p:cNvPr id="27" name="!!axyt3"/>
          <p:cNvSpPr txBox="1"/>
          <p:nvPr/>
        </p:nvSpPr>
        <p:spPr>
          <a:xfrm>
            <a:off x="6537960" y="21854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150</a:t>
            </a:r>
            <a:endParaRPr lang="en-US" sz="900" dirty="0"/>
          </a:p>
        </p:txBody>
      </p:sp>
      <p:sp>
        <p:nvSpPr>
          <p:cNvPr id="28" name="!!axyt4"/>
          <p:cNvSpPr txBox="1"/>
          <p:nvPr/>
        </p:nvSpPr>
        <p:spPr>
          <a:xfrm>
            <a:off x="653796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200</a:t>
            </a:r>
            <a:endParaRPr lang="en-US" sz="900" dirty="0"/>
          </a:p>
        </p:txBody>
      </p:sp>
      <p:sp>
        <p:nvSpPr>
          <p:cNvPr id="29" name="!!axxl"/>
          <p:cNvSpPr txBox="1"/>
          <p:nvPr/>
        </p:nvSpPr>
        <p:spPr>
          <a:xfrm>
            <a:off x="7223760" y="4343400"/>
            <a:ext cx="420624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heat exit α (W/cm²·K)</a:t>
            </a:r>
            <a:endParaRPr lang="en-US" sz="1100" dirty="0"/>
          </a:p>
        </p:txBody>
      </p:sp>
      <p:sp>
        <p:nvSpPr>
          <p:cNvPr id="30" name="!!axyl"/>
          <p:cNvSpPr txBox="1"/>
          <p:nvPr/>
        </p:nvSpPr>
        <p:spPr>
          <a:xfrm>
            <a:off x="704088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ΔT at 30 µW (K)</a:t>
            </a:r>
            <a:endParaRPr lang="en-US" sz="1100" dirty="0"/>
          </a:p>
        </p:txBody>
      </p:sp>
      <p:sp>
        <p:nvSpPr>
          <p:cNvPr id="31" name="!!c2C"/>
          <p:cNvSpPr/>
          <p:nvPr/>
        </p:nvSpPr>
        <p:spPr>
          <a:xfrm>
            <a:off x="7959852" y="1476074"/>
            <a:ext cx="3470148" cy="1929165"/>
          </a:xfrm>
          <a:custGeom>
            <a:avLst/>
            <a:gdLst/>
            <a:ahLst/>
            <a:cxnLst/>
            <a:rect l="l" t="t" r="r" b="b"/>
            <a:pathLst>
              <a:path w="3470148" h="1929165">
                <a:moveTo>
                  <a:pt x="0" y="0"/>
                </a:moveTo>
                <a:lnTo>
                  <a:pt x="88978" y="252178"/>
                </a:lnTo>
                <a:lnTo>
                  <a:pt x="177956" y="455260"/>
                </a:lnTo>
                <a:lnTo>
                  <a:pt x="266934" y="622311"/>
                </a:lnTo>
                <a:lnTo>
                  <a:pt x="355913" y="762139"/>
                </a:lnTo>
                <a:lnTo>
                  <a:pt x="444891" y="880897"/>
                </a:lnTo>
                <a:lnTo>
                  <a:pt x="533869" y="983014"/>
                </a:lnTo>
                <a:lnTo>
                  <a:pt x="622847" y="1071758"/>
                </a:lnTo>
                <a:lnTo>
                  <a:pt x="711825" y="1149596"/>
                </a:lnTo>
                <a:lnTo>
                  <a:pt x="800803" y="1218420"/>
                </a:lnTo>
                <a:lnTo>
                  <a:pt x="889782" y="1279712"/>
                </a:lnTo>
                <a:lnTo>
                  <a:pt x="978760" y="1334643"/>
                </a:lnTo>
                <a:lnTo>
                  <a:pt x="1067738" y="1384154"/>
                </a:lnTo>
                <a:lnTo>
                  <a:pt x="1156716" y="1429011"/>
                </a:lnTo>
                <a:lnTo>
                  <a:pt x="1245694" y="1469840"/>
                </a:lnTo>
                <a:lnTo>
                  <a:pt x="1334672" y="1507160"/>
                </a:lnTo>
                <a:lnTo>
                  <a:pt x="1423650" y="1541405"/>
                </a:lnTo>
                <a:lnTo>
                  <a:pt x="1512629" y="1572940"/>
                </a:lnTo>
                <a:lnTo>
                  <a:pt x="1601607" y="1602075"/>
                </a:lnTo>
                <a:lnTo>
                  <a:pt x="1690585" y="1629073"/>
                </a:lnTo>
                <a:lnTo>
                  <a:pt x="1779563" y="1654161"/>
                </a:lnTo>
                <a:lnTo>
                  <a:pt x="1868541" y="1677535"/>
                </a:lnTo>
                <a:lnTo>
                  <a:pt x="1957519" y="1699365"/>
                </a:lnTo>
                <a:lnTo>
                  <a:pt x="2046498" y="1719798"/>
                </a:lnTo>
                <a:lnTo>
                  <a:pt x="2135476" y="1738966"/>
                </a:lnTo>
                <a:lnTo>
                  <a:pt x="2224454" y="1756981"/>
                </a:lnTo>
                <a:lnTo>
                  <a:pt x="2313432" y="1773945"/>
                </a:lnTo>
                <a:lnTo>
                  <a:pt x="2402410" y="1789947"/>
                </a:lnTo>
                <a:lnTo>
                  <a:pt x="2491388" y="1805067"/>
                </a:lnTo>
                <a:lnTo>
                  <a:pt x="2580366" y="1819375"/>
                </a:lnTo>
                <a:lnTo>
                  <a:pt x="2669345" y="1832936"/>
                </a:lnTo>
                <a:lnTo>
                  <a:pt x="2758323" y="1845806"/>
                </a:lnTo>
                <a:lnTo>
                  <a:pt x="2847301" y="1858037"/>
                </a:lnTo>
                <a:lnTo>
                  <a:pt x="2936279" y="1869676"/>
                </a:lnTo>
                <a:lnTo>
                  <a:pt x="3025257" y="1880763"/>
                </a:lnTo>
                <a:lnTo>
                  <a:pt x="3114235" y="1891338"/>
                </a:lnTo>
                <a:lnTo>
                  <a:pt x="3203214" y="1901436"/>
                </a:lnTo>
                <a:lnTo>
                  <a:pt x="3292192" y="1911087"/>
                </a:lnTo>
                <a:lnTo>
                  <a:pt x="3381170" y="1920322"/>
                </a:lnTo>
                <a:lnTo>
                  <a:pt x="3470148" y="1929165"/>
                </a:lnTo>
              </a:path>
            </a:pathLst>
          </a:custGeom>
          <a:ln w="31750">
            <a:solidFill>
              <a:srgbClr val="E07B00"/>
            </a:solidFill>
            <a:prstDash val="solid"/>
          </a:ln>
        </p:spPr>
      </p:sp>
      <p:sp>
        <p:nvSpPr>
          <p:cNvPr id="32" name="!!c2P"/>
          <p:cNvSpPr/>
          <p:nvPr/>
        </p:nvSpPr>
        <p:spPr>
          <a:xfrm>
            <a:off x="7223760" y="3298789"/>
            <a:ext cx="4206240" cy="91"/>
          </a:xfrm>
          <a:prstGeom prst="line">
            <a:avLst/>
          </a:prstGeom>
          <a:noFill/>
          <a:ln w="15875">
            <a:solidFill>
              <a:srgbClr val="D64545"/>
            </a:solidFill>
            <a:prstDash val="dash"/>
          </a:ln>
        </p:spPr>
      </p:sp>
      <p:sp>
        <p:nvSpPr>
          <p:cNvPr id="33" name="!!c2PL"/>
          <p:cNvSpPr txBox="1"/>
          <p:nvPr/>
        </p:nvSpPr>
        <p:spPr>
          <a:xfrm>
            <a:off x="9957816" y="3042757"/>
            <a:ext cx="1645920" cy="219456"/>
          </a:xfrm>
          <a:prstGeom prst="rect">
            <a:avLst/>
          </a:prstGeom>
          <a:noFill/>
          <a:ln/>
        </p:spPr>
        <p:txBody>
          <a:bodyPr wrap="square" lIns="0" tIns="0" rIns="0" bIns="0" rtlCol="0" anchor="t"/>
          <a:lstStyle/>
          <a:p>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base paper 64.8 K</a:t>
            </a:r>
            <a:endParaRPr lang="en-US" sz="1000" dirty="0"/>
          </a:p>
        </p:txBody>
      </p:sp>
      <p:sp>
        <p:nvSpPr>
          <p:cNvPr id="34" name="!!c2Pt"/>
          <p:cNvSpPr/>
          <p:nvPr/>
        </p:nvSpPr>
        <p:spPr>
          <a:xfrm>
            <a:off x="10243566" y="3177290"/>
            <a:ext cx="164592" cy="164592"/>
          </a:xfrm>
          <a:prstGeom prst="ellipse">
            <a:avLst/>
          </a:prstGeom>
          <a:solidFill>
            <a:srgbClr val="171A20"/>
          </a:solidFill>
          <a:ln w="19050">
            <a:solidFill>
              <a:srgbClr val="FFFFFF"/>
            </a:solidFill>
            <a:prstDash val="solid"/>
          </a:ln>
        </p:spPr>
      </p:sp>
      <p:sp>
        <p:nvSpPr>
          <p:cNvPr id="35" name="!!c2PtL"/>
          <p:cNvSpPr txBox="1"/>
          <p:nvPr/>
        </p:nvSpPr>
        <p:spPr>
          <a:xfrm>
            <a:off x="10417302" y="3213866"/>
            <a:ext cx="1554480" cy="219456"/>
          </a:xfrm>
          <a:prstGeom prst="rect">
            <a:avLst/>
          </a:prstGeom>
          <a:noFill/>
          <a:ln/>
        </p:spPr>
        <p:txBody>
          <a:bodyPr wrap="square" lIns="0" tIns="0" rIns="0" bIns="0" rtlCol="0" anchor="t"/>
          <a:lstStyle/>
          <a:p>
            <a:pPr algn="l" indent="0" marL="0">
              <a:buNone/>
            </a:pPr>
            <a:r>
              <a:rPr lang="en-US" sz="1100" dirty="0">
                <a:solidFill>
                  <a:srgbClr val="171A20"/>
                </a:solidFill>
                <a:latin typeface="Segoe UI Semibold" pitchFamily="34" charset="0"/>
                <a:ea typeface="Segoe UI Semibold" pitchFamily="34" charset="-122"/>
                <a:cs typeface="Segoe UI Semibold" pitchFamily="34" charset="-120"/>
              </a:rPr>
              <a:t>68.1 K</a:t>
            </a:r>
            <a:endParaRPr lang="en-US" sz="1100" dirty="0"/>
          </a:p>
        </p:txBody>
      </p:sp>
      <p:sp>
        <p:nvSpPr>
          <p:cNvPr id="36" name="!!chip0"/>
          <p:cNvSpPr/>
          <p:nvPr/>
        </p:nvSpPr>
        <p:spPr>
          <a:xfrm>
            <a:off x="6858000" y="4526280"/>
            <a:ext cx="1508760" cy="658368"/>
          </a:xfrm>
          <a:prstGeom prst="roundRect">
            <a:avLst>
              <a:gd name="adj" fmla="val 8333"/>
            </a:avLst>
          </a:prstGeom>
          <a:solidFill>
            <a:srgbClr val="F4F5F7"/>
          </a:solidFill>
          <a:ln/>
        </p:spPr>
      </p:sp>
      <p:sp>
        <p:nvSpPr>
          <p:cNvPr id="37" name="!!chipk0"/>
          <p:cNvSpPr txBox="1"/>
          <p:nvPr/>
        </p:nvSpPr>
        <p:spPr>
          <a:xfrm>
            <a:off x="6967728" y="459943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R</a:t>
            </a:r>
            <a:pPr algn="l" indent="0" marL="0">
              <a:buNone/>
            </a:pPr>
            <a:r>
              <a:rPr lang="en-US" sz="1000" baseline="-40000" dirty="0">
                <a:solidFill>
                  <a:srgbClr val="5C5E62"/>
                </a:solidFill>
                <a:latin typeface="Segoe UI" pitchFamily="34" charset="0"/>
                <a:ea typeface="Segoe UI" pitchFamily="34" charset="-122"/>
                <a:cs typeface="Segoe UI" pitchFamily="34" charset="-120"/>
              </a:rPr>
              <a:t>th</a:t>
            </a:r>
            <a:pPr algn="l" indent="0" marL="0">
              <a:buNone/>
            </a:pPr>
            <a:r>
              <a:rPr lang="en-US" sz="1000" dirty="0">
                <a:solidFill>
                  <a:srgbClr val="5C5E62"/>
                </a:solidFill>
                <a:latin typeface="Segoe UI" pitchFamily="34" charset="0"/>
                <a:ea typeface="Segoe UI" pitchFamily="34" charset="-122"/>
                <a:cs typeface="Segoe UI" pitchFamily="34" charset="-120"/>
              </a:rPr>
              <a:t> (K/W)</a:t>
            </a:r>
            <a:endParaRPr lang="en-US" sz="1000" dirty="0"/>
          </a:p>
        </p:txBody>
      </p:sp>
      <p:sp>
        <p:nvSpPr>
          <p:cNvPr id="38" name="!!chipv0"/>
          <p:cNvSpPr txBox="1"/>
          <p:nvPr/>
        </p:nvSpPr>
        <p:spPr>
          <a:xfrm>
            <a:off x="6967728" y="483717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2.27 × 10⁶</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39" name="!!chip1"/>
          <p:cNvSpPr/>
          <p:nvPr/>
        </p:nvSpPr>
        <p:spPr>
          <a:xfrm>
            <a:off x="8476488" y="4526280"/>
            <a:ext cx="1508760" cy="658368"/>
          </a:xfrm>
          <a:prstGeom prst="roundRect">
            <a:avLst>
              <a:gd name="adj" fmla="val 8333"/>
            </a:avLst>
          </a:prstGeom>
          <a:solidFill>
            <a:srgbClr val="F4F5F7"/>
          </a:solidFill>
          <a:ln/>
        </p:spPr>
      </p:sp>
      <p:sp>
        <p:nvSpPr>
          <p:cNvPr id="40" name="!!chipk1"/>
          <p:cNvSpPr txBox="1"/>
          <p:nvPr/>
        </p:nvSpPr>
        <p:spPr>
          <a:xfrm>
            <a:off x="8586216" y="459943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ΔT at 30 µW</a:t>
            </a:r>
            <a:endParaRPr lang="en-US" sz="1000" dirty="0"/>
          </a:p>
        </p:txBody>
      </p:sp>
      <p:sp>
        <p:nvSpPr>
          <p:cNvPr id="41" name="!!chipv1"/>
          <p:cNvSpPr txBox="1"/>
          <p:nvPr/>
        </p:nvSpPr>
        <p:spPr>
          <a:xfrm>
            <a:off x="8586216" y="483717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68.1 K</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2" name="!!chip2"/>
          <p:cNvSpPr/>
          <p:nvPr/>
        </p:nvSpPr>
        <p:spPr>
          <a:xfrm>
            <a:off x="10094976" y="4526280"/>
            <a:ext cx="1508760" cy="658368"/>
          </a:xfrm>
          <a:prstGeom prst="roundRect">
            <a:avLst>
              <a:gd name="adj" fmla="val 8333"/>
            </a:avLst>
          </a:prstGeom>
          <a:solidFill>
            <a:srgbClr val="F4F5F7"/>
          </a:solidFill>
          <a:ln/>
        </p:spPr>
      </p:sp>
      <p:sp>
        <p:nvSpPr>
          <p:cNvPr id="43" name="!!chipk2"/>
          <p:cNvSpPr txBox="1"/>
          <p:nvPr/>
        </p:nvSpPr>
        <p:spPr>
          <a:xfrm>
            <a:off x="10204704" y="4599432"/>
            <a:ext cx="128930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vs paper</a:t>
            </a:r>
            <a:endParaRPr lang="en-US" sz="1000" dirty="0"/>
          </a:p>
        </p:txBody>
      </p:sp>
      <p:sp>
        <p:nvSpPr>
          <p:cNvPr id="44" name="!!chipv2"/>
          <p:cNvSpPr txBox="1"/>
          <p:nvPr/>
        </p:nvSpPr>
        <p:spPr>
          <a:xfrm>
            <a:off x="10204704" y="4837176"/>
            <a:ext cx="132588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+5 %</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5" name="!!knobLbl"/>
          <p:cNvSpPr txBox="1"/>
          <p:nvPr/>
        </p:nvSpPr>
        <p:spPr>
          <a:xfrm>
            <a:off x="7022592" y="5184648"/>
            <a:ext cx="45720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heat exit α   </a:t>
            </a:r>
            <a:pPr algn="l" indent="0" marL="0">
              <a:buNone/>
            </a:pPr>
            <a:r>
              <a:rPr lang="en-US" sz="1200" dirty="0">
                <a:solidFill>
                  <a:srgbClr val="E07B00"/>
                </a:solidFill>
                <a:latin typeface="Segoe UI Semibold" pitchFamily="34" charset="0"/>
                <a:ea typeface="Segoe UI Semibold" pitchFamily="34" charset="-122"/>
                <a:cs typeface="Segoe UI Semibold" pitchFamily="34" charset="-120"/>
              </a:rPr>
              <a:t>59k</a:t>
            </a:r>
            <a:endParaRPr lang="en-US" sz="1200" dirty="0"/>
          </a:p>
        </p:txBody>
      </p:sp>
      <p:sp>
        <p:nvSpPr>
          <p:cNvPr id="46" name="!!knobTrack"/>
          <p:cNvSpPr/>
          <p:nvPr/>
        </p:nvSpPr>
        <p:spPr>
          <a:xfrm>
            <a:off x="7040880" y="5568696"/>
            <a:ext cx="4480560" cy="54864"/>
          </a:xfrm>
          <a:prstGeom prst="roundRect">
            <a:avLst>
              <a:gd name="adj" fmla="val 50000"/>
            </a:avLst>
          </a:prstGeom>
          <a:solidFill>
            <a:srgbClr val="E2E3E3"/>
          </a:solidFill>
          <a:ln/>
        </p:spPr>
      </p:sp>
      <p:sp>
        <p:nvSpPr>
          <p:cNvPr id="47" name="!!knobFill"/>
          <p:cNvSpPr/>
          <p:nvPr/>
        </p:nvSpPr>
        <p:spPr>
          <a:xfrm>
            <a:off x="7040880" y="5568696"/>
            <a:ext cx="3304413" cy="54864"/>
          </a:xfrm>
          <a:prstGeom prst="roundRect">
            <a:avLst>
              <a:gd name="adj" fmla="val 50000"/>
            </a:avLst>
          </a:prstGeom>
          <a:solidFill>
            <a:srgbClr val="E07B00"/>
          </a:solidFill>
          <a:ln/>
        </p:spPr>
      </p:sp>
      <p:sp>
        <p:nvSpPr>
          <p:cNvPr id="48" name="!!knobT0"/>
          <p:cNvSpPr txBox="1"/>
          <p:nvPr/>
        </p:nvSpPr>
        <p:spPr>
          <a:xfrm>
            <a:off x="6955155" y="570585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5k</a:t>
            </a:r>
            <a:endParaRPr lang="en-US" sz="900" dirty="0"/>
          </a:p>
        </p:txBody>
      </p:sp>
      <p:sp>
        <p:nvSpPr>
          <p:cNvPr id="49" name="!!knobT1"/>
          <p:cNvSpPr txBox="1"/>
          <p:nvPr/>
        </p:nvSpPr>
        <p:spPr>
          <a:xfrm>
            <a:off x="8355330" y="570585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30k</a:t>
            </a:r>
            <a:endParaRPr lang="en-US" sz="900" dirty="0"/>
          </a:p>
        </p:txBody>
      </p:sp>
      <p:sp>
        <p:nvSpPr>
          <p:cNvPr id="50" name="!!knobT2"/>
          <p:cNvSpPr txBox="1"/>
          <p:nvPr/>
        </p:nvSpPr>
        <p:spPr>
          <a:xfrm>
            <a:off x="9979533" y="570585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59k</a:t>
            </a:r>
            <a:endParaRPr lang="en-US" sz="900" dirty="0"/>
          </a:p>
        </p:txBody>
      </p:sp>
      <p:sp>
        <p:nvSpPr>
          <p:cNvPr id="51" name="!!knobT3"/>
          <p:cNvSpPr txBox="1"/>
          <p:nvPr/>
        </p:nvSpPr>
        <p:spPr>
          <a:xfrm>
            <a:off x="11155680" y="5705856"/>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80k</a:t>
            </a:r>
            <a:endParaRPr lang="en-US" sz="900" dirty="0"/>
          </a:p>
        </p:txBody>
      </p:sp>
      <p:sp>
        <p:nvSpPr>
          <p:cNvPr id="52" name="!!knobThumb"/>
          <p:cNvSpPr/>
          <p:nvPr/>
        </p:nvSpPr>
        <p:spPr>
          <a:xfrm>
            <a:off x="10244709" y="5495544"/>
            <a:ext cx="201168" cy="201168"/>
          </a:xfrm>
          <a:prstGeom prst="ellipse">
            <a:avLst/>
          </a:prstGeom>
          <a:solidFill>
            <a:srgbClr val="FFFFFF"/>
          </a:solidFill>
          <a:ln w="28575">
            <a:solidFill>
              <a:srgbClr val="E07B00"/>
            </a:solidFill>
            <a:prstDash val="solid"/>
          </a:ln>
        </p:spPr>
      </p:sp>
      <p:sp>
        <p:nvSpPr>
          <p:cNvPr id="53"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α = 59 000: R</a:t>
            </a:r>
            <a:pPr algn="ctr" indent="0" marL="0">
              <a:buNone/>
            </a:pPr>
            <a:r>
              <a:rPr lang="en-US" sz="1600" baseline="-40000" dirty="0">
                <a:solidFill>
                  <a:srgbClr val="171A20"/>
                </a:solidFill>
                <a:latin typeface="Segoe UI" pitchFamily="34" charset="0"/>
                <a:ea typeface="Segoe UI" pitchFamily="34" charset="-122"/>
                <a:cs typeface="Segoe UI" pitchFamily="34" charset="-120"/>
              </a:rPr>
              <a:t>th</a:t>
            </a:r>
            <a:pPr algn="ctr" indent="0" marL="0">
              <a:buNone/>
            </a:pPr>
            <a:r>
              <a:rPr lang="en-US" sz="1600" dirty="0">
                <a:solidFill>
                  <a:srgbClr val="171A20"/>
                </a:solidFill>
                <a:latin typeface="Segoe UI" pitchFamily="34" charset="0"/>
                <a:ea typeface="Segoe UI" pitchFamily="34" charset="-122"/>
                <a:cs typeface="Segoe UI" pitchFamily="34" charset="-120"/>
              </a:rPr>
              <a:t> = 2.27 × 10⁶ K/W, within 5 % of the paper; kept for every later design.</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132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2 – Reproduced device: transfer curves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Silvaco Atlas, r = 5.64 nm, α = 59 000,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0.05 V and 0.7 V</a:t>
            </a:r>
            <a:endParaRPr lang="en-US" sz="1600" dirty="0"/>
          </a:p>
        </p:txBody>
      </p:sp>
      <p:sp>
        <p:nvSpPr>
          <p:cNvPr id="4" name="!!axg0"/>
          <p:cNvSpPr/>
          <p:nvPr/>
        </p:nvSpPr>
        <p:spPr>
          <a:xfrm>
            <a:off x="1188720" y="5074920"/>
            <a:ext cx="5669280" cy="91"/>
          </a:xfrm>
          <a:prstGeom prst="line">
            <a:avLst/>
          </a:prstGeom>
          <a:noFill/>
          <a:ln w="9525">
            <a:solidFill>
              <a:srgbClr val="EDEEF0"/>
            </a:solidFill>
            <a:prstDash val="solid"/>
          </a:ln>
        </p:spPr>
      </p:sp>
      <p:sp>
        <p:nvSpPr>
          <p:cNvPr id="5" name="!!axg1"/>
          <p:cNvSpPr/>
          <p:nvPr/>
        </p:nvSpPr>
        <p:spPr>
          <a:xfrm>
            <a:off x="1188720" y="3947160"/>
            <a:ext cx="5669280" cy="91"/>
          </a:xfrm>
          <a:prstGeom prst="line">
            <a:avLst/>
          </a:prstGeom>
          <a:noFill/>
          <a:ln w="9525">
            <a:solidFill>
              <a:srgbClr val="EDEEF0"/>
            </a:solidFill>
            <a:prstDash val="solid"/>
          </a:ln>
        </p:spPr>
      </p:sp>
      <p:sp>
        <p:nvSpPr>
          <p:cNvPr id="6" name="!!axg2"/>
          <p:cNvSpPr/>
          <p:nvPr/>
        </p:nvSpPr>
        <p:spPr>
          <a:xfrm>
            <a:off x="1188720" y="2819400"/>
            <a:ext cx="5669280" cy="91"/>
          </a:xfrm>
          <a:prstGeom prst="line">
            <a:avLst/>
          </a:prstGeom>
          <a:noFill/>
          <a:ln w="9525">
            <a:solidFill>
              <a:srgbClr val="EDEEF0"/>
            </a:solidFill>
            <a:prstDash val="solid"/>
          </a:ln>
        </p:spPr>
      </p:sp>
      <p:sp>
        <p:nvSpPr>
          <p:cNvPr id="7" name="!!axg3"/>
          <p:cNvSpPr/>
          <p:nvPr/>
        </p:nvSpPr>
        <p:spPr>
          <a:xfrm>
            <a:off x="1188720" y="1691640"/>
            <a:ext cx="5669280" cy="91"/>
          </a:xfrm>
          <a:prstGeom prst="line">
            <a:avLst/>
          </a:prstGeom>
          <a:noFill/>
          <a:ln w="9525">
            <a:solidFill>
              <a:srgbClr val="EDEEF0"/>
            </a:solidFill>
            <a:prstDash val="solid"/>
          </a:ln>
        </p:spPr>
      </p:sp>
      <p:sp>
        <p:nvSpPr>
          <p:cNvPr id="8" name="!!axxa"/>
          <p:cNvSpPr/>
          <p:nvPr/>
        </p:nvSpPr>
        <p:spPr>
          <a:xfrm>
            <a:off x="1188720" y="5074920"/>
            <a:ext cx="5669280" cy="91"/>
          </a:xfrm>
          <a:prstGeom prst="line">
            <a:avLst/>
          </a:prstGeom>
          <a:noFill/>
          <a:ln w="12700">
            <a:solidFill>
              <a:srgbClr val="8A8D93"/>
            </a:solidFill>
            <a:prstDash val="solid"/>
          </a:ln>
        </p:spPr>
      </p:sp>
      <p:sp>
        <p:nvSpPr>
          <p:cNvPr id="9" name="!!axya"/>
          <p:cNvSpPr/>
          <p:nvPr/>
        </p:nvSpPr>
        <p:spPr>
          <a:xfrm>
            <a:off x="1188720" y="1691640"/>
            <a:ext cx="91" cy="3383280"/>
          </a:xfrm>
          <a:prstGeom prst="line">
            <a:avLst/>
          </a:prstGeom>
          <a:noFill/>
          <a:ln w="12700">
            <a:solidFill>
              <a:srgbClr val="8A8D93"/>
            </a:solidFill>
            <a:prstDash val="solid"/>
          </a:ln>
        </p:spPr>
      </p:sp>
      <p:sp>
        <p:nvSpPr>
          <p:cNvPr id="10" name="!!axxt0"/>
          <p:cNvSpPr txBox="1"/>
          <p:nvPr/>
        </p:nvSpPr>
        <p:spPr>
          <a:xfrm>
            <a:off x="86868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11" name="!!axxt1"/>
          <p:cNvSpPr txBox="1"/>
          <p:nvPr/>
        </p:nvSpPr>
        <p:spPr>
          <a:xfrm>
            <a:off x="1678577"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12" name="!!axxt2"/>
          <p:cNvSpPr txBox="1"/>
          <p:nvPr/>
        </p:nvSpPr>
        <p:spPr>
          <a:xfrm>
            <a:off x="2488474"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13" name="!!axxt3"/>
          <p:cNvSpPr txBox="1"/>
          <p:nvPr/>
        </p:nvSpPr>
        <p:spPr>
          <a:xfrm>
            <a:off x="3298371"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14" name="!!axxt4"/>
          <p:cNvSpPr txBox="1"/>
          <p:nvPr/>
        </p:nvSpPr>
        <p:spPr>
          <a:xfrm>
            <a:off x="4108269"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15" name="!!axxt5"/>
          <p:cNvSpPr txBox="1"/>
          <p:nvPr/>
        </p:nvSpPr>
        <p:spPr>
          <a:xfrm>
            <a:off x="4918166"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0.5</a:t>
            </a:r>
            <a:endParaRPr lang="en-US" sz="900" dirty="0"/>
          </a:p>
        </p:txBody>
      </p:sp>
      <p:sp>
        <p:nvSpPr>
          <p:cNvPr id="16" name="!!axxt6"/>
          <p:cNvSpPr txBox="1"/>
          <p:nvPr/>
        </p:nvSpPr>
        <p:spPr>
          <a:xfrm>
            <a:off x="5728063"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17" name="!!axxt7"/>
          <p:cNvSpPr txBox="1"/>
          <p:nvPr/>
        </p:nvSpPr>
        <p:spPr>
          <a:xfrm>
            <a:off x="653796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0.7</a:t>
            </a:r>
            <a:endParaRPr lang="en-US" sz="900" dirty="0"/>
          </a:p>
        </p:txBody>
      </p:sp>
      <p:sp>
        <p:nvSpPr>
          <p:cNvPr id="18" name="!!axyt0"/>
          <p:cNvSpPr txBox="1"/>
          <p:nvPr/>
        </p:nvSpPr>
        <p:spPr>
          <a:xfrm>
            <a:off x="502920" y="4974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19" name="!!axyt1"/>
          <p:cNvSpPr txBox="1"/>
          <p:nvPr/>
        </p:nvSpPr>
        <p:spPr>
          <a:xfrm>
            <a:off x="502920" y="38465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20" name="!!axyt2"/>
          <p:cNvSpPr txBox="1"/>
          <p:nvPr/>
        </p:nvSpPr>
        <p:spPr>
          <a:xfrm>
            <a:off x="502920" y="27188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21" name="!!axyt3"/>
          <p:cNvSpPr txBox="1"/>
          <p:nvPr/>
        </p:nvSpPr>
        <p:spPr>
          <a:xfrm>
            <a:off x="50292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22" name="!!axxl"/>
          <p:cNvSpPr txBox="1"/>
          <p:nvPr/>
        </p:nvSpPr>
        <p:spPr>
          <a:xfrm>
            <a:off x="1188720" y="5349240"/>
            <a:ext cx="566928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23" name="!!axyl"/>
          <p:cNvSpPr txBox="1"/>
          <p:nvPr/>
        </p:nvSpPr>
        <p:spPr>
          <a:xfrm>
            <a:off x="100584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(log)</a:t>
            </a:r>
            <a:endParaRPr lang="en-US" sz="1100" dirty="0"/>
          </a:p>
        </p:txBody>
      </p:sp>
      <p:sp>
        <p:nvSpPr>
          <p:cNvPr id="24" name="Shape 22"/>
          <p:cNvSpPr/>
          <p:nvPr/>
        </p:nvSpPr>
        <p:spPr>
          <a:xfrm>
            <a:off x="1188720" y="2334711"/>
            <a:ext cx="5669280" cy="2527761"/>
          </a:xfrm>
          <a:custGeom>
            <a:avLst/>
            <a:gdLst/>
            <a:ahLst/>
            <a:cxnLst/>
            <a:rect l="l" t="t" r="r" b="b"/>
            <a:pathLst>
              <a:path w="5669280" h="2527761">
                <a:moveTo>
                  <a:pt x="0" y="2527761"/>
                </a:moveTo>
                <a:lnTo>
                  <a:pt x="202474" y="2312068"/>
                </a:lnTo>
                <a:lnTo>
                  <a:pt x="404949" y="2097184"/>
                </a:lnTo>
                <a:lnTo>
                  <a:pt x="607423" y="1883261"/>
                </a:lnTo>
                <a:lnTo>
                  <a:pt x="809897" y="1670501"/>
                </a:lnTo>
                <a:lnTo>
                  <a:pt x="1012371" y="1459208"/>
                </a:lnTo>
                <a:lnTo>
                  <a:pt x="1214846" y="1249974"/>
                </a:lnTo>
                <a:lnTo>
                  <a:pt x="1417320" y="1044048"/>
                </a:lnTo>
                <a:lnTo>
                  <a:pt x="1619794" y="843958"/>
                </a:lnTo>
                <a:lnTo>
                  <a:pt x="1822269" y="653813"/>
                </a:lnTo>
                <a:lnTo>
                  <a:pt x="2024743" y="480866"/>
                </a:lnTo>
                <a:lnTo>
                  <a:pt x="2227217" y="341748"/>
                </a:lnTo>
                <a:lnTo>
                  <a:pt x="2429691" y="235018"/>
                </a:lnTo>
                <a:lnTo>
                  <a:pt x="2632166" y="164897"/>
                </a:lnTo>
                <a:lnTo>
                  <a:pt x="2834640" y="128663"/>
                </a:lnTo>
                <a:lnTo>
                  <a:pt x="3037114" y="109765"/>
                </a:lnTo>
                <a:lnTo>
                  <a:pt x="3239589" y="95466"/>
                </a:lnTo>
                <a:lnTo>
                  <a:pt x="3442063" y="82938"/>
                </a:lnTo>
                <a:lnTo>
                  <a:pt x="3644537" y="71621"/>
                </a:lnTo>
                <a:lnTo>
                  <a:pt x="3847011" y="61333"/>
                </a:lnTo>
                <a:lnTo>
                  <a:pt x="4049486" y="51960"/>
                </a:lnTo>
                <a:lnTo>
                  <a:pt x="4251960" y="43414"/>
                </a:lnTo>
                <a:lnTo>
                  <a:pt x="4454434" y="35598"/>
                </a:lnTo>
                <a:lnTo>
                  <a:pt x="4656909" y="28432"/>
                </a:lnTo>
                <a:lnTo>
                  <a:pt x="4859383" y="21839"/>
                </a:lnTo>
                <a:lnTo>
                  <a:pt x="5061857" y="15753"/>
                </a:lnTo>
                <a:lnTo>
                  <a:pt x="5264331" y="10115"/>
                </a:lnTo>
                <a:lnTo>
                  <a:pt x="5466806" y="4881"/>
                </a:lnTo>
                <a:lnTo>
                  <a:pt x="5669280" y="0"/>
                </a:lnTo>
              </a:path>
            </a:pathLst>
          </a:custGeom>
          <a:ln w="31750">
            <a:solidFill>
              <a:srgbClr val="11998E"/>
            </a:solidFill>
            <a:prstDash val="solid"/>
          </a:ln>
        </p:spPr>
      </p:sp>
      <p:sp>
        <p:nvSpPr>
          <p:cNvPr id="25" name="Shape 23"/>
          <p:cNvSpPr/>
          <p:nvPr/>
        </p:nvSpPr>
        <p:spPr>
          <a:xfrm>
            <a:off x="1188720" y="2008059"/>
            <a:ext cx="5669280" cy="2618572"/>
          </a:xfrm>
          <a:custGeom>
            <a:avLst/>
            <a:gdLst/>
            <a:ahLst/>
            <a:cxnLst/>
            <a:rect l="l" t="t" r="r" b="b"/>
            <a:pathLst>
              <a:path w="5669280" h="2618572">
                <a:moveTo>
                  <a:pt x="0" y="2618572"/>
                </a:moveTo>
                <a:lnTo>
                  <a:pt x="202474" y="2416160"/>
                </a:lnTo>
                <a:lnTo>
                  <a:pt x="404949" y="2209262"/>
                </a:lnTo>
                <a:lnTo>
                  <a:pt x="607423" y="2001063"/>
                </a:lnTo>
                <a:lnTo>
                  <a:pt x="809897" y="1793150"/>
                </a:lnTo>
                <a:lnTo>
                  <a:pt x="1012371" y="1586729"/>
                </a:lnTo>
                <a:lnTo>
                  <a:pt x="1214846" y="1383467"/>
                </a:lnTo>
                <a:lnTo>
                  <a:pt x="1417320" y="1187856"/>
                </a:lnTo>
                <a:lnTo>
                  <a:pt x="1619794" y="1005484"/>
                </a:lnTo>
                <a:lnTo>
                  <a:pt x="1822269" y="840826"/>
                </a:lnTo>
                <a:lnTo>
                  <a:pt x="2024743" y="697402"/>
                </a:lnTo>
                <a:lnTo>
                  <a:pt x="2227217" y="582783"/>
                </a:lnTo>
                <a:lnTo>
                  <a:pt x="2429691" y="497298"/>
                </a:lnTo>
                <a:lnTo>
                  <a:pt x="2632166" y="433857"/>
                </a:lnTo>
                <a:lnTo>
                  <a:pt x="2834640" y="381898"/>
                </a:lnTo>
                <a:lnTo>
                  <a:pt x="3037114" y="336451"/>
                </a:lnTo>
                <a:lnTo>
                  <a:pt x="3239589" y="295720"/>
                </a:lnTo>
                <a:lnTo>
                  <a:pt x="3442063" y="258831"/>
                </a:lnTo>
                <a:lnTo>
                  <a:pt x="3644537" y="225194"/>
                </a:lnTo>
                <a:lnTo>
                  <a:pt x="3847011" y="194372"/>
                </a:lnTo>
                <a:lnTo>
                  <a:pt x="4049486" y="166009"/>
                </a:lnTo>
                <a:lnTo>
                  <a:pt x="4251960" y="139811"/>
                </a:lnTo>
                <a:lnTo>
                  <a:pt x="4454434" y="115528"/>
                </a:lnTo>
                <a:lnTo>
                  <a:pt x="4656909" y="92947"/>
                </a:lnTo>
                <a:lnTo>
                  <a:pt x="4859383" y="71887"/>
                </a:lnTo>
                <a:lnTo>
                  <a:pt x="5061857" y="52189"/>
                </a:lnTo>
                <a:lnTo>
                  <a:pt x="5264331" y="33718"/>
                </a:lnTo>
                <a:lnTo>
                  <a:pt x="5466806" y="16356"/>
                </a:lnTo>
                <a:lnTo>
                  <a:pt x="5669280" y="0"/>
                </a:lnTo>
              </a:path>
            </a:pathLst>
          </a:custGeom>
          <a:ln w="38100">
            <a:solidFill>
              <a:srgbClr val="3E6AE1"/>
            </a:solidFill>
            <a:prstDash val="solid"/>
          </a:ln>
        </p:spPr>
      </p:sp>
      <p:sp>
        <p:nvSpPr>
          <p:cNvPr id="26" name="Text 24"/>
          <p:cNvSpPr txBox="1"/>
          <p:nvPr/>
        </p:nvSpPr>
        <p:spPr>
          <a:xfrm>
            <a:off x="4833257" y="1890831"/>
            <a:ext cx="1188720" cy="219456"/>
          </a:xfrm>
          <a:prstGeom prst="rect">
            <a:avLst/>
          </a:prstGeom>
          <a:noFill/>
          <a:ln/>
        </p:spPr>
        <p:txBody>
          <a:bodyPr wrap="square" lIns="0" tIns="0" rIns="0" bIns="0" rtlCol="0" anchor="t"/>
          <a:lstStyle/>
          <a:p>
            <a:pPr algn="l" indent="0" marL="0">
              <a:buNone/>
            </a:pPr>
            <a:r>
              <a:rPr lang="en-US" sz="1100" dirty="0">
                <a:solidFill>
                  <a:srgbClr val="3E6AE1"/>
                </a:solidFill>
                <a:latin typeface="Segoe UI Semibold" pitchFamily="34" charset="0"/>
                <a:ea typeface="Segoe UI Semibold" pitchFamily="34" charset="-122"/>
                <a:cs typeface="Segoe UI Semibold" pitchFamily="34" charset="-120"/>
              </a:rPr>
              <a:t>V</a:t>
            </a:r>
            <a:pPr algn="l" indent="0" marL="0">
              <a:buNone/>
            </a:pPr>
            <a:r>
              <a:rPr lang="en-US" sz="1100" baseline="-40000" dirty="0">
                <a:solidFill>
                  <a:srgbClr val="3E6AE1"/>
                </a:solidFill>
                <a:latin typeface="Segoe UI Semibold" pitchFamily="34" charset="0"/>
                <a:ea typeface="Segoe UI Semibold" pitchFamily="34" charset="-122"/>
                <a:cs typeface="Segoe UI Semibold" pitchFamily="34" charset="-120"/>
              </a:rPr>
              <a:t>D</a:t>
            </a:r>
            <a:pPr algn="l" indent="0" marL="0">
              <a:buNone/>
            </a:pPr>
            <a:r>
              <a:rPr lang="en-US" sz="1100" dirty="0">
                <a:solidFill>
                  <a:srgbClr val="3E6AE1"/>
                </a:solidFill>
                <a:latin typeface="Segoe UI Semibold" pitchFamily="34" charset="0"/>
                <a:ea typeface="Segoe UI Semibold" pitchFamily="34" charset="-122"/>
                <a:cs typeface="Segoe UI Semibold" pitchFamily="34" charset="-120"/>
              </a:rPr>
              <a:t> = 0.7 V</a:t>
            </a:r>
            <a:endParaRPr lang="en-US" sz="1100" dirty="0"/>
          </a:p>
        </p:txBody>
      </p:sp>
      <p:sp>
        <p:nvSpPr>
          <p:cNvPr id="27" name="Text 25"/>
          <p:cNvSpPr txBox="1"/>
          <p:nvPr/>
        </p:nvSpPr>
        <p:spPr>
          <a:xfrm>
            <a:off x="4833257" y="2516705"/>
            <a:ext cx="1188720" cy="219456"/>
          </a:xfrm>
          <a:prstGeom prst="rect">
            <a:avLst/>
          </a:prstGeom>
          <a:noFill/>
          <a:ln/>
        </p:spPr>
        <p:txBody>
          <a:bodyPr wrap="square" lIns="0" tIns="0" rIns="0" bIns="0" rtlCol="0" anchor="t"/>
          <a:lstStyle/>
          <a:p>
            <a:pPr algn="l" indent="0" marL="0">
              <a:buNone/>
            </a:pPr>
            <a:r>
              <a:rPr lang="en-US" sz="1100" dirty="0">
                <a:solidFill>
                  <a:srgbClr val="11998E"/>
                </a:solidFill>
                <a:latin typeface="Segoe UI Semibold" pitchFamily="34" charset="0"/>
                <a:ea typeface="Segoe UI Semibold" pitchFamily="34" charset="-122"/>
                <a:cs typeface="Segoe UI Semibold" pitchFamily="34" charset="-120"/>
              </a:rPr>
              <a:t>V</a:t>
            </a:r>
            <a:pPr algn="l" indent="0" marL="0">
              <a:buNone/>
            </a:pPr>
            <a:r>
              <a:rPr lang="en-US" sz="1100" baseline="-40000" dirty="0">
                <a:solidFill>
                  <a:srgbClr val="11998E"/>
                </a:solidFill>
                <a:latin typeface="Segoe UI Semibold" pitchFamily="34" charset="0"/>
                <a:ea typeface="Segoe UI Semibold" pitchFamily="34" charset="-122"/>
                <a:cs typeface="Segoe UI Semibold" pitchFamily="34" charset="-120"/>
              </a:rPr>
              <a:t>D</a:t>
            </a:r>
            <a:pPr algn="l" indent="0" marL="0">
              <a:buNone/>
            </a:pPr>
            <a:r>
              <a:rPr lang="en-US" sz="1100" dirty="0">
                <a:solidFill>
                  <a:srgbClr val="11998E"/>
                </a:solidFill>
                <a:latin typeface="Segoe UI Semibold" pitchFamily="34" charset="0"/>
                <a:ea typeface="Segoe UI Semibold" pitchFamily="34" charset="-122"/>
                <a:cs typeface="Segoe UI Semibold" pitchFamily="34" charset="-120"/>
              </a:rPr>
              <a:t> = 0.05 V</a:t>
            </a:r>
            <a:endParaRPr lang="en-US" sz="1100" dirty="0"/>
          </a:p>
        </p:txBody>
      </p:sp>
      <p:sp>
        <p:nvSpPr>
          <p:cNvPr id="28" name="!!chip0"/>
          <p:cNvSpPr/>
          <p:nvPr/>
        </p:nvSpPr>
        <p:spPr>
          <a:xfrm>
            <a:off x="7406640" y="1691640"/>
            <a:ext cx="2057400" cy="822960"/>
          </a:xfrm>
          <a:prstGeom prst="roundRect">
            <a:avLst>
              <a:gd name="adj" fmla="val 6667"/>
            </a:avLst>
          </a:prstGeom>
          <a:solidFill>
            <a:srgbClr val="F4F5F7"/>
          </a:solidFill>
          <a:ln/>
        </p:spPr>
      </p:sp>
      <p:sp>
        <p:nvSpPr>
          <p:cNvPr id="29" name="!!chipk0"/>
          <p:cNvSpPr txBox="1"/>
          <p:nvPr/>
        </p:nvSpPr>
        <p:spPr>
          <a:xfrm>
            <a:off x="7516368" y="1764792"/>
            <a:ext cx="183794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a:t>
            </a:r>
            <a:pPr algn="l" indent="0" marL="0">
              <a:buNone/>
            </a:pPr>
            <a:r>
              <a:rPr lang="en-US" sz="1000" baseline="-40000" dirty="0">
                <a:solidFill>
                  <a:srgbClr val="5C5E62"/>
                </a:solidFill>
                <a:latin typeface="Segoe UI" pitchFamily="34" charset="0"/>
                <a:ea typeface="Segoe UI" pitchFamily="34" charset="-122"/>
                <a:cs typeface="Segoe UI" pitchFamily="34" charset="-120"/>
              </a:rPr>
              <a:t>T</a:t>
            </a:r>
            <a:pPr algn="l" indent="0" marL="0">
              <a:buNone/>
            </a:pPr>
            <a:r>
              <a:rPr lang="en-US" sz="1000" dirty="0">
                <a:solidFill>
                  <a:srgbClr val="5C5E62"/>
                </a:solidFill>
                <a:latin typeface="Segoe UI" pitchFamily="34" charset="0"/>
                <a:ea typeface="Segoe UI" pitchFamily="34" charset="-122"/>
                <a:cs typeface="Segoe UI" pitchFamily="34" charset="-120"/>
              </a:rPr>
              <a:t> (linear)</a:t>
            </a:r>
            <a:endParaRPr lang="en-US" sz="1000" dirty="0"/>
          </a:p>
        </p:txBody>
      </p:sp>
      <p:sp>
        <p:nvSpPr>
          <p:cNvPr id="30" name="!!chipv0"/>
          <p:cNvSpPr txBox="1"/>
          <p:nvPr/>
        </p:nvSpPr>
        <p:spPr>
          <a:xfrm>
            <a:off x="7516368" y="2002536"/>
            <a:ext cx="187452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0.204 V</a:t>
            </a:r>
            <a:endParaRPr lang="en-US" sz="1500" dirty="0"/>
          </a:p>
        </p:txBody>
      </p:sp>
      <p:sp>
        <p:nvSpPr>
          <p:cNvPr id="31" name="!!chip1"/>
          <p:cNvSpPr/>
          <p:nvPr/>
        </p:nvSpPr>
        <p:spPr>
          <a:xfrm>
            <a:off x="9628632" y="1691640"/>
            <a:ext cx="2057400" cy="822960"/>
          </a:xfrm>
          <a:prstGeom prst="roundRect">
            <a:avLst>
              <a:gd name="adj" fmla="val 6667"/>
            </a:avLst>
          </a:prstGeom>
          <a:solidFill>
            <a:srgbClr val="F4F5F7"/>
          </a:solidFill>
          <a:ln/>
        </p:spPr>
      </p:sp>
      <p:sp>
        <p:nvSpPr>
          <p:cNvPr id="32" name="!!chipk1"/>
          <p:cNvSpPr txBox="1"/>
          <p:nvPr/>
        </p:nvSpPr>
        <p:spPr>
          <a:xfrm>
            <a:off x="9738360" y="1764792"/>
            <a:ext cx="183794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subthreshold swing</a:t>
            </a:r>
            <a:endParaRPr lang="en-US" sz="1000" dirty="0"/>
          </a:p>
        </p:txBody>
      </p:sp>
      <p:sp>
        <p:nvSpPr>
          <p:cNvPr id="33" name="!!chipv1"/>
          <p:cNvSpPr txBox="1"/>
          <p:nvPr/>
        </p:nvSpPr>
        <p:spPr>
          <a:xfrm>
            <a:off x="9738360" y="2002536"/>
            <a:ext cx="187452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65.4 mV/dec</a:t>
            </a:r>
            <a:endParaRPr lang="en-US" sz="1500" dirty="0"/>
          </a:p>
        </p:txBody>
      </p:sp>
      <p:sp>
        <p:nvSpPr>
          <p:cNvPr id="34" name="!!chip2"/>
          <p:cNvSpPr/>
          <p:nvPr/>
        </p:nvSpPr>
        <p:spPr>
          <a:xfrm>
            <a:off x="7406640" y="2679192"/>
            <a:ext cx="2057400" cy="822960"/>
          </a:xfrm>
          <a:prstGeom prst="roundRect">
            <a:avLst>
              <a:gd name="adj" fmla="val 6667"/>
            </a:avLst>
          </a:prstGeom>
          <a:solidFill>
            <a:srgbClr val="F4F5F7"/>
          </a:solidFill>
          <a:ln/>
        </p:spPr>
      </p:sp>
      <p:sp>
        <p:nvSpPr>
          <p:cNvPr id="35" name="!!chipk2"/>
          <p:cNvSpPr txBox="1"/>
          <p:nvPr/>
        </p:nvSpPr>
        <p:spPr>
          <a:xfrm>
            <a:off x="7516368" y="2752344"/>
            <a:ext cx="183794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I</a:t>
            </a:r>
            <a:pPr algn="l" indent="0" marL="0">
              <a:buNone/>
            </a:pPr>
            <a:r>
              <a:rPr lang="en-US" sz="1000" baseline="-40000" dirty="0">
                <a:solidFill>
                  <a:srgbClr val="5C5E62"/>
                </a:solidFill>
                <a:latin typeface="Segoe UI" pitchFamily="34" charset="0"/>
                <a:ea typeface="Segoe UI" pitchFamily="34" charset="-122"/>
                <a:cs typeface="Segoe UI" pitchFamily="34" charset="-120"/>
              </a:rPr>
              <a:t>on</a:t>
            </a:r>
            <a:endParaRPr lang="en-US" sz="1000" dirty="0"/>
          </a:p>
        </p:txBody>
      </p:sp>
      <p:sp>
        <p:nvSpPr>
          <p:cNvPr id="36" name="!!chipv2"/>
          <p:cNvSpPr txBox="1"/>
          <p:nvPr/>
        </p:nvSpPr>
        <p:spPr>
          <a:xfrm>
            <a:off x="7516368" y="2990088"/>
            <a:ext cx="187452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27.5 µA</a:t>
            </a:r>
            <a:endParaRPr lang="en-US" sz="1500" dirty="0"/>
          </a:p>
        </p:txBody>
      </p:sp>
      <p:sp>
        <p:nvSpPr>
          <p:cNvPr id="37" name="!!chip3"/>
          <p:cNvSpPr/>
          <p:nvPr/>
        </p:nvSpPr>
        <p:spPr>
          <a:xfrm>
            <a:off x="9628632" y="2679192"/>
            <a:ext cx="2057400" cy="822960"/>
          </a:xfrm>
          <a:prstGeom prst="roundRect">
            <a:avLst>
              <a:gd name="adj" fmla="val 6667"/>
            </a:avLst>
          </a:prstGeom>
          <a:solidFill>
            <a:srgbClr val="F4F5F7"/>
          </a:solidFill>
          <a:ln/>
        </p:spPr>
      </p:sp>
      <p:sp>
        <p:nvSpPr>
          <p:cNvPr id="38" name="!!chipk3"/>
          <p:cNvSpPr txBox="1"/>
          <p:nvPr/>
        </p:nvSpPr>
        <p:spPr>
          <a:xfrm>
            <a:off x="9738360" y="2752344"/>
            <a:ext cx="1837944"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I</a:t>
            </a:r>
            <a:pPr algn="l" indent="0" marL="0">
              <a:buNone/>
            </a:pPr>
            <a:r>
              <a:rPr lang="en-US" sz="1000" baseline="-40000" dirty="0">
                <a:solidFill>
                  <a:srgbClr val="5C5E62"/>
                </a:solidFill>
                <a:latin typeface="Segoe UI" pitchFamily="34" charset="0"/>
                <a:ea typeface="Segoe UI" pitchFamily="34" charset="-122"/>
                <a:cs typeface="Segoe UI" pitchFamily="34" charset="-120"/>
              </a:rPr>
              <a:t>off</a:t>
            </a:r>
            <a:endParaRPr lang="en-US" sz="1000" dirty="0"/>
          </a:p>
        </p:txBody>
      </p:sp>
      <p:sp>
        <p:nvSpPr>
          <p:cNvPr id="39" name="!!chipv3"/>
          <p:cNvSpPr txBox="1"/>
          <p:nvPr/>
        </p:nvSpPr>
        <p:spPr>
          <a:xfrm>
            <a:off x="9738360" y="2990088"/>
            <a:ext cx="1874520"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624 pA</a:t>
            </a:r>
            <a:endParaRPr lang="en-US" sz="1500" dirty="0"/>
          </a:p>
        </p:txBody>
      </p:sp>
      <p:sp>
        <p:nvSpPr>
          <p:cNvPr id="40" name="Shape 38"/>
          <p:cNvSpPr/>
          <p:nvPr/>
        </p:nvSpPr>
        <p:spPr>
          <a:xfrm>
            <a:off x="7406640" y="3657600"/>
            <a:ext cx="4233672" cy="1097280"/>
          </a:xfrm>
          <a:prstGeom prst="roundRect">
            <a:avLst>
              <a:gd name="adj" fmla="val 6667"/>
            </a:avLst>
          </a:prstGeom>
          <a:solidFill>
            <a:srgbClr val="171A20"/>
          </a:solidFill>
          <a:ln/>
        </p:spPr>
      </p:sp>
      <p:sp>
        <p:nvSpPr>
          <p:cNvPr id="41" name="Text 39"/>
          <p:cNvSpPr txBox="1"/>
          <p:nvPr/>
        </p:nvSpPr>
        <p:spPr>
          <a:xfrm>
            <a:off x="7635240" y="3657600"/>
            <a:ext cx="3840480" cy="1097280"/>
          </a:xfrm>
          <a:prstGeom prst="rect">
            <a:avLst/>
          </a:prstGeom>
          <a:noFill/>
          <a:ln/>
        </p:spPr>
        <p:txBody>
          <a:bodyPr wrap="square" lIns="0" tIns="0" rIns="0" bIns="0" rtlCol="0" anchor="ctr"/>
          <a:lstStyle/>
          <a:p>
            <a:pPr algn="l" indent="0" marL="0">
              <a:buNone/>
            </a:pPr>
            <a:r>
              <a:rPr lang="en-US" sz="1600" dirty="0">
                <a:solidFill>
                  <a:srgbClr val="FFFFFF"/>
                </a:solidFill>
                <a:latin typeface="Segoe UI Semibold" pitchFamily="34" charset="0"/>
                <a:ea typeface="Segoe UI Semibold" pitchFamily="34" charset="-122"/>
                <a:cs typeface="Segoe UI Semibold" pitchFamily="34" charset="-120"/>
              </a:rPr>
              <a:t>P</a:t>
            </a:r>
            <a:pPr algn="l" indent="0" marL="0">
              <a:buNone/>
            </a:pPr>
            <a:r>
              <a:rPr lang="en-US" sz="1600" baseline="-40000" dirty="0">
                <a:solidFill>
                  <a:srgbClr val="FFFFFF"/>
                </a:solidFill>
                <a:latin typeface="Segoe UI Semibold" pitchFamily="34" charset="0"/>
                <a:ea typeface="Segoe UI Semibold" pitchFamily="34" charset="-122"/>
                <a:cs typeface="Segoe UI Semibold" pitchFamily="34" charset="-120"/>
              </a:rPr>
              <a:t>on</a:t>
            </a:r>
            <a:pPr algn="l" indent="0" marL="0">
              <a:buNone/>
            </a:pPr>
            <a:r>
              <a:rPr lang="en-US" sz="1600" dirty="0">
                <a:solidFill>
                  <a:srgbClr val="FFFFFF"/>
                </a:solidFill>
                <a:latin typeface="Segoe UI Semibold" pitchFamily="34" charset="0"/>
                <a:ea typeface="Segoe UI Semibold" pitchFamily="34" charset="-122"/>
                <a:cs typeface="Segoe UI Semibold" pitchFamily="34" charset="-120"/>
              </a:rPr>
              <a:t> = 27.5 µA × 0.7 V = 19.2 µW</a:t>
            </a:r>
            <a:endParaRPr lang="en-US" sz="1600" dirty="0"/>
          </a:p>
        </p:txBody>
      </p:sp>
      <p:sp>
        <p:nvSpPr>
          <p:cNvPr id="42"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Still a clean switch after the changes; the larger wire carries more current.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133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2 – Reproduced: it heats like the paper</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Temperature rise scaled to the paper's 30 µW (log scale)</a:t>
            </a:r>
            <a:endParaRPr lang="en-US" sz="1600" dirty="0"/>
          </a:p>
        </p:txBody>
      </p:sp>
      <p:graphicFrame>
        <p:nvGraphicFramePr>
          <p:cNvPr id="4" name="Chart 0" descr=""/>
          <p:cNvGraphicFramePr/>
          <p:nvPr/>
        </p:nvGraphicFramePr>
        <p:xfrm>
          <a:off x="548640" y="1463040"/>
          <a:ext cx="603504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132320" y="1645920"/>
            <a:ext cx="4480560" cy="594360"/>
          </a:xfrm>
          <a:prstGeom prst="rect">
            <a:avLst/>
          </a:prstGeom>
          <a:noFill/>
          <a:ln/>
        </p:spPr>
        <p:txBody>
          <a:bodyPr wrap="square" lIns="0" tIns="0" rIns="0" bIns="0" rtlCol="0" anchor="t"/>
          <a:lstStyle/>
          <a:p>
            <a:pPr algn="l" indent="0" marL="0">
              <a:buNone/>
            </a:pPr>
            <a:r>
              <a:rPr lang="en-US" sz="3200" dirty="0">
                <a:solidFill>
                  <a:srgbClr val="171A20"/>
                </a:solidFill>
                <a:latin typeface="Segoe UI Semibold" pitchFamily="34" charset="0"/>
                <a:ea typeface="Segoe UI Semibold" pitchFamily="34" charset="-122"/>
                <a:cs typeface="Segoe UI Semibold" pitchFamily="34" charset="-120"/>
              </a:rPr>
              <a:t>343.6 K</a:t>
            </a:r>
            <a:endParaRPr lang="en-US" sz="3200" dirty="0"/>
          </a:p>
        </p:txBody>
      </p:sp>
      <p:sp>
        <p:nvSpPr>
          <p:cNvPr id="6" name="Text 3"/>
          <p:cNvSpPr txBox="1"/>
          <p:nvPr/>
        </p:nvSpPr>
        <p:spPr>
          <a:xfrm>
            <a:off x="7132320" y="2240280"/>
            <a:ext cx="448056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peak at 19.2 µW</a:t>
            </a:r>
            <a:endParaRPr lang="en-US" sz="1200" dirty="0"/>
          </a:p>
        </p:txBody>
      </p:sp>
      <p:sp>
        <p:nvSpPr>
          <p:cNvPr id="7" name="Text 4"/>
          <p:cNvSpPr txBox="1"/>
          <p:nvPr/>
        </p:nvSpPr>
        <p:spPr>
          <a:xfrm>
            <a:off x="7132320" y="2880360"/>
            <a:ext cx="4480560" cy="594360"/>
          </a:xfrm>
          <a:prstGeom prst="rect">
            <a:avLst/>
          </a:prstGeom>
          <a:noFill/>
          <a:ln/>
        </p:spPr>
        <p:txBody>
          <a:bodyPr wrap="square" lIns="0" tIns="0" rIns="0" bIns="0" rtlCol="0" anchor="t"/>
          <a:lstStyle/>
          <a:p>
            <a:pPr algn="l" indent="0" marL="0">
              <a:buNone/>
            </a:pPr>
            <a:r>
              <a:rPr lang="en-US" sz="3200" dirty="0">
                <a:solidFill>
                  <a:srgbClr val="2E9E4F"/>
                </a:solidFill>
                <a:latin typeface="Segoe UI Semibold" pitchFamily="34" charset="0"/>
                <a:ea typeface="Segoe UI Semibold" pitchFamily="34" charset="-122"/>
                <a:cs typeface="Segoe UI Semibold" pitchFamily="34" charset="-120"/>
              </a:rPr>
              <a:t>68.0 K</a:t>
            </a:r>
            <a:endParaRPr lang="en-US" sz="3200" dirty="0"/>
          </a:p>
        </p:txBody>
      </p:sp>
      <p:sp>
        <p:nvSpPr>
          <p:cNvPr id="8" name="Text 5"/>
          <p:cNvSpPr txBox="1"/>
          <p:nvPr/>
        </p:nvSpPr>
        <p:spPr>
          <a:xfrm>
            <a:off x="7132320" y="3474720"/>
            <a:ext cx="448056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ΔT scaled to 30 µW (paper 64.8 K)</a:t>
            </a:r>
            <a:endParaRPr lang="en-US" sz="1200" dirty="0"/>
          </a:p>
        </p:txBody>
      </p:sp>
      <p:sp>
        <p:nvSpPr>
          <p:cNvPr id="9" name="Text 6"/>
          <p:cNvSpPr txBox="1"/>
          <p:nvPr/>
        </p:nvSpPr>
        <p:spPr>
          <a:xfrm>
            <a:off x="7132320" y="4114800"/>
            <a:ext cx="4480560" cy="594360"/>
          </a:xfrm>
          <a:prstGeom prst="rect">
            <a:avLst/>
          </a:prstGeom>
          <a:noFill/>
          <a:ln/>
        </p:spPr>
        <p:txBody>
          <a:bodyPr wrap="square" lIns="0" tIns="0" rIns="0" bIns="0" rtlCol="0" anchor="t"/>
          <a:lstStyle/>
          <a:p>
            <a:pPr algn="l" indent="0" marL="0">
              <a:buNone/>
            </a:pPr>
            <a:r>
              <a:rPr lang="en-US" sz="3200" dirty="0">
                <a:solidFill>
                  <a:srgbClr val="2E9E4F"/>
                </a:solidFill>
                <a:latin typeface="Segoe UI Semibold" pitchFamily="34" charset="0"/>
                <a:ea typeface="Segoe UI Semibold" pitchFamily="34" charset="-122"/>
                <a:cs typeface="Segoe UI Semibold" pitchFamily="34" charset="-120"/>
              </a:rPr>
              <a:t>+5.0 %</a:t>
            </a:r>
            <a:endParaRPr lang="en-US" sz="3200" dirty="0"/>
          </a:p>
        </p:txBody>
      </p:sp>
      <p:sp>
        <p:nvSpPr>
          <p:cNvPr id="10" name="Text 7"/>
          <p:cNvSpPr txBox="1"/>
          <p:nvPr/>
        </p:nvSpPr>
        <p:spPr>
          <a:xfrm>
            <a:off x="7132320" y="4709160"/>
            <a:ext cx="448056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error vs the base paper</a:t>
            </a:r>
            <a:endParaRPr lang="en-US" sz="1200" dirty="0"/>
          </a:p>
        </p:txBody>
      </p:sp>
      <p:sp>
        <p:nvSpPr>
          <p:cNvPr id="11"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Reproduced within 5 %, down from 11× too hot.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134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3 – Which knobs lower ΔT = R</a:t>
            </a:r>
            <a:pPr algn="l" indent="0" marL="0">
              <a:buNone/>
            </a:pPr>
            <a:r>
              <a:rPr lang="en-US" sz="3000" baseline="-40000" dirty="0">
                <a:solidFill>
                  <a:srgbClr val="171A20"/>
                </a:solidFill>
                <a:latin typeface="Segoe UI" pitchFamily="34" charset="0"/>
                <a:ea typeface="Segoe UI" pitchFamily="34" charset="-122"/>
                <a:cs typeface="Segoe UI" pitchFamily="34" charset="-120"/>
              </a:rPr>
              <a:t>th</a:t>
            </a:r>
            <a:pPr algn="l" indent="0" marL="0">
              <a:buNone/>
            </a:pPr>
            <a:r>
              <a:rPr lang="en-US" sz="3000" dirty="0">
                <a:solidFill>
                  <a:srgbClr val="171A20"/>
                </a:solidFill>
                <a:latin typeface="Segoe UI" pitchFamily="34" charset="0"/>
                <a:ea typeface="Segoe UI" pitchFamily="34" charset="-122"/>
                <a:cs typeface="Segoe UI" pitchFamily="34" charset="-120"/>
              </a:rPr>
              <a:t> · P?</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Two ways to cool: a better heat path (R</a:t>
            </a:r>
            <a:pPr algn="l" indent="0" marL="0">
              <a:buNone/>
            </a:pPr>
            <a:r>
              <a:rPr lang="en-US" sz="1600" baseline="-40000" dirty="0">
                <a:solidFill>
                  <a:srgbClr val="5C5E62"/>
                </a:solidFill>
                <a:latin typeface="Segoe UI" pitchFamily="34" charset="0"/>
                <a:ea typeface="Segoe UI" pitchFamily="34" charset="-122"/>
                <a:cs typeface="Segoe UI" pitchFamily="34" charset="-120"/>
              </a:rPr>
              <a:t>th</a:t>
            </a:r>
            <a:pPr algn="l" indent="0" marL="0">
              <a:buNone/>
            </a:pPr>
            <a:r>
              <a:rPr lang="en-US" sz="1600" dirty="0">
                <a:solidFill>
                  <a:srgbClr val="5C5E62"/>
                </a:solidFill>
                <a:latin typeface="Segoe UI" pitchFamily="34" charset="0"/>
                <a:ea typeface="Segoe UI" pitchFamily="34" charset="-122"/>
                <a:cs typeface="Segoe UI" pitchFamily="34" charset="-120"/>
              </a:rPr>
              <a:t>) or less power (P)</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E2E3E3"/>
          </a:solidFill>
          <a:ln/>
        </p:spPr>
      </p:sp>
      <p:sp>
        <p:nvSpPr>
          <p:cNvPr id="6" name="!!sdot2"/>
          <p:cNvSpPr/>
          <p:nvPr/>
        </p:nvSpPr>
        <p:spPr>
          <a:xfrm>
            <a:off x="11599164" y="525780"/>
            <a:ext cx="82296" cy="82296"/>
          </a:xfrm>
          <a:prstGeom prst="ellipse">
            <a:avLst/>
          </a:prstGeom>
          <a:solidFill>
            <a:srgbClr val="E2E3E3"/>
          </a:solidFill>
          <a:ln/>
        </p:spPr>
      </p:sp>
      <p:sp>
        <p:nvSpPr>
          <p:cNvPr id="7" name="!!knEq"/>
          <p:cNvSpPr txBox="1"/>
          <p:nvPr/>
        </p:nvSpPr>
        <p:spPr>
          <a:xfrm>
            <a:off x="548640" y="1463040"/>
            <a:ext cx="11091672" cy="640080"/>
          </a:xfrm>
          <a:prstGeom prst="rect">
            <a:avLst/>
          </a:prstGeom>
          <a:noFill/>
          <a:ln/>
        </p:spPr>
        <p:txBody>
          <a:bodyPr wrap="square" lIns="0" tIns="0" rIns="0" bIns="0" rtlCol="0" anchor="t"/>
          <a:lstStyle/>
          <a:p>
            <a:pPr algn="ctr" indent="0" marL="0">
              <a:buNone/>
            </a:pPr>
            <a:r>
              <a:rPr lang="en-US" sz="3200" dirty="0">
                <a:solidFill>
                  <a:srgbClr val="171A20"/>
                </a:solidFill>
                <a:latin typeface="Segoe UI Semibold" pitchFamily="34" charset="0"/>
                <a:ea typeface="Segoe UI Semibold" pitchFamily="34" charset="-122"/>
                <a:cs typeface="Segoe UI Semibold" pitchFamily="34" charset="-120"/>
              </a:rPr>
              <a:t>ΔT  =  </a:t>
            </a:r>
            <a:pPr algn="ctr" indent="0" marL="0">
              <a:buNone/>
            </a:pPr>
            <a:r>
              <a:rPr lang="en-US" sz="3200" dirty="0">
                <a:solidFill>
                  <a:srgbClr val="11998E"/>
                </a:solidFill>
                <a:latin typeface="Segoe UI Semibold" pitchFamily="34" charset="0"/>
                <a:ea typeface="Segoe UI Semibold" pitchFamily="34" charset="-122"/>
                <a:cs typeface="Segoe UI Semibold" pitchFamily="34" charset="-120"/>
              </a:rPr>
              <a:t>R</a:t>
            </a:r>
            <a:pPr algn="ctr" indent="0" marL="0">
              <a:buNone/>
            </a:pPr>
            <a:r>
              <a:rPr lang="en-US" sz="3200" baseline="-40000" dirty="0">
                <a:solidFill>
                  <a:srgbClr val="11998E"/>
                </a:solidFill>
                <a:latin typeface="Segoe UI Semibold" pitchFamily="34" charset="0"/>
                <a:ea typeface="Segoe UI Semibold" pitchFamily="34" charset="-122"/>
                <a:cs typeface="Segoe UI Semibold" pitchFamily="34" charset="-120"/>
              </a:rPr>
              <a:t>th</a:t>
            </a:r>
            <a:pPr algn="ctr" indent="0" marL="0">
              <a:buNone/>
            </a:pPr>
            <a:r>
              <a:rPr lang="en-US" sz="3200" dirty="0">
                <a:solidFill>
                  <a:srgbClr val="171A20"/>
                </a:solidFill>
                <a:latin typeface="Segoe UI Semibold" pitchFamily="34" charset="0"/>
                <a:ea typeface="Segoe UI Semibold" pitchFamily="34" charset="-122"/>
                <a:cs typeface="Segoe UI Semibold" pitchFamily="34" charset="-120"/>
              </a:rPr>
              <a:t>  ×  </a:t>
            </a:r>
            <a:pPr algn="ctr" indent="0" marL="0">
              <a:buNone/>
            </a:pPr>
            <a:r>
              <a:rPr lang="en-US" sz="3200" dirty="0">
                <a:solidFill>
                  <a:srgbClr val="E07B00"/>
                </a:solidFill>
                <a:latin typeface="Segoe UI Semibold" pitchFamily="34" charset="0"/>
                <a:ea typeface="Segoe UI Semibold" pitchFamily="34" charset="-122"/>
                <a:cs typeface="Segoe UI Semibold" pitchFamily="34" charset="-120"/>
              </a:rPr>
              <a:t>P</a:t>
            </a:r>
            <a:endParaRPr lang="en-US" sz="3200" dirty="0"/>
          </a:p>
        </p:txBody>
      </p:sp>
      <p:sp>
        <p:nvSpPr>
          <p:cNvPr id="8" name="!!knH0"/>
          <p:cNvSpPr txBox="1"/>
          <p:nvPr/>
        </p:nvSpPr>
        <p:spPr>
          <a:xfrm>
            <a:off x="548640" y="2286000"/>
            <a:ext cx="5449824" cy="320040"/>
          </a:xfrm>
          <a:prstGeom prst="rect">
            <a:avLst/>
          </a:prstGeom>
          <a:noFill/>
          <a:ln/>
        </p:spPr>
        <p:txBody>
          <a:bodyPr wrap="square" lIns="0" tIns="0" rIns="0" bIns="0" rtlCol="0" anchor="t"/>
          <a:lstStyle/>
          <a:p>
            <a:pPr algn="l" indent="0" marL="0">
              <a:buNone/>
            </a:pPr>
            <a:r>
              <a:rPr lang="en-US" sz="1600" dirty="0">
                <a:solidFill>
                  <a:srgbClr val="11998E"/>
                </a:solidFill>
                <a:latin typeface="Segoe UI Semibold" pitchFamily="34" charset="0"/>
                <a:ea typeface="Segoe UI Semibold" pitchFamily="34" charset="-122"/>
                <a:cs typeface="Segoe UI Semibold" pitchFamily="34" charset="-120"/>
              </a:rPr>
              <a:t>lower R</a:t>
            </a:r>
            <a:pPr algn="l" indent="0" marL="0">
              <a:buNone/>
            </a:pPr>
            <a:r>
              <a:rPr lang="en-US" sz="1600" baseline="-40000" dirty="0">
                <a:solidFill>
                  <a:srgbClr val="11998E"/>
                </a:solidFill>
                <a:latin typeface="Segoe UI Semibold" pitchFamily="34" charset="0"/>
                <a:ea typeface="Segoe UI Semibold" pitchFamily="34" charset="-122"/>
                <a:cs typeface="Segoe UI Semibold" pitchFamily="34" charset="-120"/>
              </a:rPr>
              <a:t>th</a:t>
            </a:r>
            <a:pPr algn="l" indent="0" marL="0">
              <a:buNone/>
            </a:pPr>
            <a:r>
              <a:rPr lang="en-US" sz="1600" dirty="0">
                <a:solidFill>
                  <a:srgbClr val="11998E"/>
                </a:solidFill>
                <a:latin typeface="Segoe UI Semibold" pitchFamily="34" charset="0"/>
                <a:ea typeface="Segoe UI Semibold" pitchFamily="34" charset="-122"/>
                <a:cs typeface="Segoe UI Semibold" pitchFamily="34" charset="-120"/>
              </a:rPr>
              <a:t>: a better heat path</a:t>
            </a:r>
            <a:endParaRPr lang="en-US" sz="1600" dirty="0"/>
          </a:p>
        </p:txBody>
      </p:sp>
      <p:sp>
        <p:nvSpPr>
          <p:cNvPr id="9" name="!!knH1"/>
          <p:cNvSpPr txBox="1"/>
          <p:nvPr/>
        </p:nvSpPr>
        <p:spPr>
          <a:xfrm>
            <a:off x="6190488" y="2286000"/>
            <a:ext cx="5449824" cy="320040"/>
          </a:xfrm>
          <a:prstGeom prst="rect">
            <a:avLst/>
          </a:prstGeom>
          <a:noFill/>
          <a:ln/>
        </p:spPr>
        <p:txBody>
          <a:bodyPr wrap="square" lIns="0" tIns="0" rIns="0" bIns="0" rtlCol="0" anchor="t"/>
          <a:lstStyle/>
          <a:p>
            <a:pPr algn="l" indent="0" marL="0">
              <a:buNone/>
            </a:pPr>
            <a:r>
              <a:rPr lang="en-US" sz="1600" dirty="0">
                <a:solidFill>
                  <a:srgbClr val="E07B00"/>
                </a:solidFill>
                <a:latin typeface="Segoe UI Semibold" pitchFamily="34" charset="0"/>
                <a:ea typeface="Segoe UI Semibold" pitchFamily="34" charset="-122"/>
                <a:cs typeface="Segoe UI Semibold" pitchFamily="34" charset="-120"/>
              </a:rPr>
              <a:t>lower P: less power</a:t>
            </a:r>
            <a:endParaRPr lang="en-US" sz="1600" dirty="0"/>
          </a:p>
        </p:txBody>
      </p:sp>
      <p:sp>
        <p:nvSpPr>
          <p:cNvPr id="10"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Two ways to cool: lower R</a:t>
            </a:r>
            <a:pPr algn="ctr" indent="0" marL="0">
              <a:buNone/>
            </a:pPr>
            <a:r>
              <a:rPr lang="en-US" sz="1600" baseline="-40000" dirty="0">
                <a:solidFill>
                  <a:srgbClr val="171A20"/>
                </a:solidFill>
                <a:latin typeface="Segoe UI" pitchFamily="34" charset="0"/>
                <a:ea typeface="Segoe UI" pitchFamily="34" charset="-122"/>
                <a:cs typeface="Segoe UI" pitchFamily="34" charset="-120"/>
              </a:rPr>
              <a:t>th</a:t>
            </a:r>
            <a:pPr algn="ctr" indent="0" marL="0">
              <a:buNone/>
            </a:pPr>
            <a:r>
              <a:rPr lang="en-US" sz="1600" dirty="0">
                <a:solidFill>
                  <a:srgbClr val="171A20"/>
                </a:solidFill>
                <a:latin typeface="Segoe UI" pitchFamily="34" charset="0"/>
                <a:ea typeface="Segoe UI" pitchFamily="34" charset="-122"/>
                <a:cs typeface="Segoe UI" pitchFamily="34" charset="-120"/>
              </a:rPr>
              <a:t> or lower P.</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135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3 – Which knobs lower ΔT = R</a:t>
            </a:r>
            <a:pPr algn="l" indent="0" marL="0">
              <a:buNone/>
            </a:pPr>
            <a:r>
              <a:rPr lang="en-US" sz="3000" baseline="-40000" dirty="0">
                <a:solidFill>
                  <a:srgbClr val="171A20"/>
                </a:solidFill>
                <a:latin typeface="Segoe UI" pitchFamily="34" charset="0"/>
                <a:ea typeface="Segoe UI" pitchFamily="34" charset="-122"/>
                <a:cs typeface="Segoe UI" pitchFamily="34" charset="-120"/>
              </a:rPr>
              <a:t>th</a:t>
            </a:r>
            <a:pPr algn="l" indent="0" marL="0">
              <a:buNone/>
            </a:pPr>
            <a:r>
              <a:rPr lang="en-US" sz="3000" dirty="0">
                <a:solidFill>
                  <a:srgbClr val="171A20"/>
                </a:solidFill>
                <a:latin typeface="Segoe UI" pitchFamily="34" charset="0"/>
                <a:ea typeface="Segoe UI" pitchFamily="34" charset="-122"/>
                <a:cs typeface="Segoe UI" pitchFamily="34" charset="-120"/>
              </a:rPr>
              <a:t> · P?</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Two ways to cool: a better heat path (R</a:t>
            </a:r>
            <a:pPr algn="l" indent="0" marL="0">
              <a:buNone/>
            </a:pPr>
            <a:r>
              <a:rPr lang="en-US" sz="1600" baseline="-40000" dirty="0">
                <a:solidFill>
                  <a:srgbClr val="5C5E62"/>
                </a:solidFill>
                <a:latin typeface="Segoe UI" pitchFamily="34" charset="0"/>
                <a:ea typeface="Segoe UI" pitchFamily="34" charset="-122"/>
                <a:cs typeface="Segoe UI" pitchFamily="34" charset="-120"/>
              </a:rPr>
              <a:t>th</a:t>
            </a:r>
            <a:pPr algn="l" indent="0" marL="0">
              <a:buNone/>
            </a:pPr>
            <a:r>
              <a:rPr lang="en-US" sz="1600" dirty="0">
                <a:solidFill>
                  <a:srgbClr val="5C5E62"/>
                </a:solidFill>
                <a:latin typeface="Segoe UI" pitchFamily="34" charset="0"/>
                <a:ea typeface="Segoe UI" pitchFamily="34" charset="-122"/>
                <a:cs typeface="Segoe UI" pitchFamily="34" charset="-120"/>
              </a:rPr>
              <a:t>) or less power (P)</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171A20"/>
          </a:solidFill>
          <a:ln/>
        </p:spPr>
      </p:sp>
      <p:sp>
        <p:nvSpPr>
          <p:cNvPr id="6" name="!!sdot2"/>
          <p:cNvSpPr/>
          <p:nvPr/>
        </p:nvSpPr>
        <p:spPr>
          <a:xfrm>
            <a:off x="11599164" y="525780"/>
            <a:ext cx="82296" cy="82296"/>
          </a:xfrm>
          <a:prstGeom prst="ellipse">
            <a:avLst/>
          </a:prstGeom>
          <a:solidFill>
            <a:srgbClr val="E2E3E3"/>
          </a:solidFill>
          <a:ln/>
        </p:spPr>
      </p:sp>
      <p:sp>
        <p:nvSpPr>
          <p:cNvPr id="7" name="!!knEq"/>
          <p:cNvSpPr txBox="1"/>
          <p:nvPr/>
        </p:nvSpPr>
        <p:spPr>
          <a:xfrm>
            <a:off x="548640" y="1463040"/>
            <a:ext cx="11091672" cy="640080"/>
          </a:xfrm>
          <a:prstGeom prst="rect">
            <a:avLst/>
          </a:prstGeom>
          <a:noFill/>
          <a:ln/>
        </p:spPr>
        <p:txBody>
          <a:bodyPr wrap="square" lIns="0" tIns="0" rIns="0" bIns="0" rtlCol="0" anchor="t"/>
          <a:lstStyle/>
          <a:p>
            <a:pPr algn="ctr" indent="0" marL="0">
              <a:buNone/>
            </a:pPr>
            <a:r>
              <a:rPr lang="en-US" sz="3200" dirty="0">
                <a:solidFill>
                  <a:srgbClr val="171A20"/>
                </a:solidFill>
                <a:latin typeface="Segoe UI Semibold" pitchFamily="34" charset="0"/>
                <a:ea typeface="Segoe UI Semibold" pitchFamily="34" charset="-122"/>
                <a:cs typeface="Segoe UI Semibold" pitchFamily="34" charset="-120"/>
              </a:rPr>
              <a:t>ΔT  =  </a:t>
            </a:r>
            <a:pPr algn="ctr" indent="0" marL="0">
              <a:buNone/>
            </a:pPr>
            <a:r>
              <a:rPr lang="en-US" sz="3200" dirty="0">
                <a:solidFill>
                  <a:srgbClr val="11998E"/>
                </a:solidFill>
                <a:latin typeface="Segoe UI Semibold" pitchFamily="34" charset="0"/>
                <a:ea typeface="Segoe UI Semibold" pitchFamily="34" charset="-122"/>
                <a:cs typeface="Segoe UI Semibold" pitchFamily="34" charset="-120"/>
              </a:rPr>
              <a:t>R</a:t>
            </a:r>
            <a:pPr algn="ctr" indent="0" marL="0">
              <a:buNone/>
            </a:pPr>
            <a:r>
              <a:rPr lang="en-US" sz="3200" baseline="-40000" dirty="0">
                <a:solidFill>
                  <a:srgbClr val="11998E"/>
                </a:solidFill>
                <a:latin typeface="Segoe UI Semibold" pitchFamily="34" charset="0"/>
                <a:ea typeface="Segoe UI Semibold" pitchFamily="34" charset="-122"/>
                <a:cs typeface="Segoe UI Semibold" pitchFamily="34" charset="-120"/>
              </a:rPr>
              <a:t>th</a:t>
            </a:r>
            <a:pPr algn="ctr" indent="0" marL="0">
              <a:buNone/>
            </a:pPr>
            <a:r>
              <a:rPr lang="en-US" sz="3200" dirty="0">
                <a:solidFill>
                  <a:srgbClr val="171A20"/>
                </a:solidFill>
                <a:latin typeface="Segoe UI Semibold" pitchFamily="34" charset="0"/>
                <a:ea typeface="Segoe UI Semibold" pitchFamily="34" charset="-122"/>
                <a:cs typeface="Segoe UI Semibold" pitchFamily="34" charset="-120"/>
              </a:rPr>
              <a:t>  ×  </a:t>
            </a:r>
            <a:pPr algn="ctr" indent="0" marL="0">
              <a:buNone/>
            </a:pPr>
            <a:r>
              <a:rPr lang="en-US" sz="3200" dirty="0">
                <a:solidFill>
                  <a:srgbClr val="E07B00"/>
                </a:solidFill>
                <a:latin typeface="Segoe UI Semibold" pitchFamily="34" charset="0"/>
                <a:ea typeface="Segoe UI Semibold" pitchFamily="34" charset="-122"/>
                <a:cs typeface="Segoe UI Semibold" pitchFamily="34" charset="-120"/>
              </a:rPr>
              <a:t>P</a:t>
            </a:r>
            <a:endParaRPr lang="en-US" sz="3200" dirty="0"/>
          </a:p>
        </p:txBody>
      </p:sp>
      <p:sp>
        <p:nvSpPr>
          <p:cNvPr id="8" name="!!knH0"/>
          <p:cNvSpPr txBox="1"/>
          <p:nvPr/>
        </p:nvSpPr>
        <p:spPr>
          <a:xfrm>
            <a:off x="548640" y="2286000"/>
            <a:ext cx="5449824" cy="320040"/>
          </a:xfrm>
          <a:prstGeom prst="rect">
            <a:avLst/>
          </a:prstGeom>
          <a:noFill/>
          <a:ln/>
        </p:spPr>
        <p:txBody>
          <a:bodyPr wrap="square" lIns="0" tIns="0" rIns="0" bIns="0" rtlCol="0" anchor="t"/>
          <a:lstStyle/>
          <a:p>
            <a:pPr algn="l" indent="0" marL="0">
              <a:buNone/>
            </a:pPr>
            <a:r>
              <a:rPr lang="en-US" sz="1600" dirty="0">
                <a:solidFill>
                  <a:srgbClr val="11998E"/>
                </a:solidFill>
                <a:latin typeface="Segoe UI Semibold" pitchFamily="34" charset="0"/>
                <a:ea typeface="Segoe UI Semibold" pitchFamily="34" charset="-122"/>
                <a:cs typeface="Segoe UI Semibold" pitchFamily="34" charset="-120"/>
              </a:rPr>
              <a:t>lower R</a:t>
            </a:r>
            <a:pPr algn="l" indent="0" marL="0">
              <a:buNone/>
            </a:pPr>
            <a:r>
              <a:rPr lang="en-US" sz="1600" baseline="-40000" dirty="0">
                <a:solidFill>
                  <a:srgbClr val="11998E"/>
                </a:solidFill>
                <a:latin typeface="Segoe UI Semibold" pitchFamily="34" charset="0"/>
                <a:ea typeface="Segoe UI Semibold" pitchFamily="34" charset="-122"/>
                <a:cs typeface="Segoe UI Semibold" pitchFamily="34" charset="-120"/>
              </a:rPr>
              <a:t>th</a:t>
            </a:r>
            <a:pPr algn="l" indent="0" marL="0">
              <a:buNone/>
            </a:pPr>
            <a:r>
              <a:rPr lang="en-US" sz="1600" dirty="0">
                <a:solidFill>
                  <a:srgbClr val="11998E"/>
                </a:solidFill>
                <a:latin typeface="Segoe UI Semibold" pitchFamily="34" charset="0"/>
                <a:ea typeface="Segoe UI Semibold" pitchFamily="34" charset="-122"/>
                <a:cs typeface="Segoe UI Semibold" pitchFamily="34" charset="-120"/>
              </a:rPr>
              <a:t>: a better heat path</a:t>
            </a:r>
            <a:endParaRPr lang="en-US" sz="1600" dirty="0"/>
          </a:p>
        </p:txBody>
      </p:sp>
      <p:sp>
        <p:nvSpPr>
          <p:cNvPr id="9" name="!!knB00"/>
          <p:cNvSpPr/>
          <p:nvPr/>
        </p:nvSpPr>
        <p:spPr>
          <a:xfrm>
            <a:off x="548640" y="2743200"/>
            <a:ext cx="5449824" cy="914400"/>
          </a:xfrm>
          <a:prstGeom prst="roundRect">
            <a:avLst>
              <a:gd name="adj" fmla="val 6000"/>
            </a:avLst>
          </a:prstGeom>
          <a:solidFill>
            <a:srgbClr val="F4F5F7"/>
          </a:solidFill>
          <a:ln/>
        </p:spPr>
      </p:sp>
      <p:sp>
        <p:nvSpPr>
          <p:cNvPr id="10" name="!!knBh00"/>
          <p:cNvSpPr txBox="1"/>
          <p:nvPr/>
        </p:nvSpPr>
        <p:spPr>
          <a:xfrm>
            <a:off x="731520" y="2834640"/>
            <a:ext cx="3931920" cy="320040"/>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Spacer κ ↑</a:t>
            </a:r>
            <a:endParaRPr lang="en-US" sz="1500" dirty="0"/>
          </a:p>
        </p:txBody>
      </p:sp>
      <p:sp>
        <p:nvSpPr>
          <p:cNvPr id="11" name="!!knBb00"/>
          <p:cNvSpPr txBox="1"/>
          <p:nvPr/>
        </p:nvSpPr>
        <p:spPr>
          <a:xfrm>
            <a:off x="731520" y="3172968"/>
            <a:ext cx="411480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Si₃N₄ → high-κ (thermal): heat leaves sideways into the gate</a:t>
            </a:r>
            <a:endParaRPr lang="en-US" sz="1200" dirty="0"/>
          </a:p>
        </p:txBody>
      </p:sp>
      <p:sp>
        <p:nvSpPr>
          <p:cNvPr id="12" name="!!knBt00"/>
          <p:cNvSpPr txBox="1"/>
          <p:nvPr/>
        </p:nvSpPr>
        <p:spPr>
          <a:xfrm>
            <a:off x="4663440" y="2834640"/>
            <a:ext cx="1188720" cy="320040"/>
          </a:xfrm>
          <a:prstGeom prst="rect">
            <a:avLst/>
          </a:prstGeom>
          <a:noFill/>
          <a:ln/>
        </p:spPr>
        <p:txBody>
          <a:bodyPr wrap="square" lIns="0" tIns="0" rIns="0" bIns="0" rtlCol="0" anchor="t"/>
          <a:lstStyle/>
          <a:p>
            <a:pPr algn="r" indent="0" marL="0">
              <a:buNone/>
            </a:pPr>
            <a:r>
              <a:rPr lang="en-US" sz="1300" dirty="0">
                <a:solidFill>
                  <a:srgbClr val="2E9E4F"/>
                </a:solidFill>
                <a:latin typeface="Segoe UI Semibold" pitchFamily="34" charset="0"/>
                <a:ea typeface="Segoe UI Semibold" pitchFamily="34" charset="-122"/>
                <a:cs typeface="Segoe UI Semibold" pitchFamily="34" charset="-120"/>
              </a:rPr>
              <a:t>✓ lever 1</a:t>
            </a:r>
            <a:endParaRPr lang="en-US" sz="1300" dirty="0"/>
          </a:p>
        </p:txBody>
      </p:sp>
      <p:sp>
        <p:nvSpPr>
          <p:cNvPr id="13" name="!!knB01"/>
          <p:cNvSpPr/>
          <p:nvPr/>
        </p:nvSpPr>
        <p:spPr>
          <a:xfrm>
            <a:off x="548640" y="3794760"/>
            <a:ext cx="5449824" cy="914400"/>
          </a:xfrm>
          <a:prstGeom prst="roundRect">
            <a:avLst>
              <a:gd name="adj" fmla="val 6000"/>
            </a:avLst>
          </a:prstGeom>
          <a:solidFill>
            <a:srgbClr val="F4F5F7"/>
          </a:solidFill>
          <a:ln/>
        </p:spPr>
      </p:sp>
      <p:sp>
        <p:nvSpPr>
          <p:cNvPr id="14" name="!!knBh01"/>
          <p:cNvSpPr txBox="1"/>
          <p:nvPr/>
        </p:nvSpPr>
        <p:spPr>
          <a:xfrm>
            <a:off x="731520" y="3886200"/>
            <a:ext cx="3931920" cy="320040"/>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Buried oxide → DLC [2]</a:t>
            </a:r>
            <a:endParaRPr lang="en-US" sz="1500" dirty="0"/>
          </a:p>
        </p:txBody>
      </p:sp>
      <p:sp>
        <p:nvSpPr>
          <p:cNvPr id="15" name="!!knBb01"/>
          <p:cNvSpPr txBox="1"/>
          <p:nvPr/>
        </p:nvSpPr>
        <p:spPr>
          <a:xfrm>
            <a:off x="731520" y="4224528"/>
            <a:ext cx="411480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needs a substrate, not in our single wire</a:t>
            </a:r>
            <a:endParaRPr lang="en-US" sz="1200" dirty="0"/>
          </a:p>
        </p:txBody>
      </p:sp>
      <p:sp>
        <p:nvSpPr>
          <p:cNvPr id="16" name="!!knBt01"/>
          <p:cNvSpPr txBox="1"/>
          <p:nvPr/>
        </p:nvSpPr>
        <p:spPr>
          <a:xfrm>
            <a:off x="4663440" y="3886200"/>
            <a:ext cx="1188720" cy="320040"/>
          </a:xfrm>
          <a:prstGeom prst="rect">
            <a:avLst/>
          </a:prstGeom>
          <a:noFill/>
          <a:ln/>
        </p:spPr>
        <p:txBody>
          <a:bodyPr wrap="square" lIns="0" tIns="0" rIns="0" bIns="0" rtlCol="0" anchor="t"/>
          <a:lstStyle/>
          <a:p>
            <a:pPr algn="r" indent="0" marL="0">
              <a:buNone/>
            </a:pPr>
            <a:r>
              <a:rPr lang="en-US" sz="1300" dirty="0">
                <a:solidFill>
                  <a:srgbClr val="5C5E62"/>
                </a:solidFill>
                <a:latin typeface="Segoe UI Semibold" pitchFamily="34" charset="0"/>
                <a:ea typeface="Segoe UI Semibold" pitchFamily="34" charset="-122"/>
                <a:cs typeface="Segoe UI Semibold" pitchFamily="34" charset="-120"/>
              </a:rPr>
              <a:t>future</a:t>
            </a:r>
            <a:endParaRPr lang="en-US" sz="1300" dirty="0"/>
          </a:p>
        </p:txBody>
      </p:sp>
      <p:sp>
        <p:nvSpPr>
          <p:cNvPr id="17" name="!!knH1"/>
          <p:cNvSpPr txBox="1"/>
          <p:nvPr/>
        </p:nvSpPr>
        <p:spPr>
          <a:xfrm>
            <a:off x="6190488" y="2286000"/>
            <a:ext cx="5449824" cy="320040"/>
          </a:xfrm>
          <a:prstGeom prst="rect">
            <a:avLst/>
          </a:prstGeom>
          <a:noFill/>
          <a:ln/>
        </p:spPr>
        <p:txBody>
          <a:bodyPr wrap="square" lIns="0" tIns="0" rIns="0" bIns="0" rtlCol="0" anchor="t"/>
          <a:lstStyle/>
          <a:p>
            <a:pPr algn="l" indent="0" marL="0">
              <a:buNone/>
            </a:pPr>
            <a:r>
              <a:rPr lang="en-US" sz="1600" dirty="0">
                <a:solidFill>
                  <a:srgbClr val="E07B00"/>
                </a:solidFill>
                <a:latin typeface="Segoe UI Semibold" pitchFamily="34" charset="0"/>
                <a:ea typeface="Segoe UI Semibold" pitchFamily="34" charset="-122"/>
                <a:cs typeface="Segoe UI Semibold" pitchFamily="34" charset="-120"/>
              </a:rPr>
              <a:t>lower P: less power</a:t>
            </a:r>
            <a:endParaRPr lang="en-US" sz="1600" dirty="0"/>
          </a:p>
        </p:txBody>
      </p:sp>
      <p:sp>
        <p:nvSpPr>
          <p:cNvPr id="18"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R</a:t>
            </a:r>
            <a:pPr algn="ctr" indent="0" marL="0">
              <a:buNone/>
            </a:pPr>
            <a:r>
              <a:rPr lang="en-US" sz="1600" baseline="-40000" dirty="0">
                <a:solidFill>
                  <a:srgbClr val="171A20"/>
                </a:solidFill>
                <a:latin typeface="Segoe UI" pitchFamily="34" charset="0"/>
                <a:ea typeface="Segoe UI" pitchFamily="34" charset="-122"/>
                <a:cs typeface="Segoe UI" pitchFamily="34" charset="-120"/>
              </a:rPr>
              <a:t>th</a:t>
            </a:r>
            <a:pPr algn="ctr" indent="0" marL="0">
              <a:buNone/>
            </a:pPr>
            <a:r>
              <a:rPr lang="en-US" sz="1600" dirty="0">
                <a:solidFill>
                  <a:srgbClr val="171A20"/>
                </a:solidFill>
                <a:latin typeface="Segoe UI" pitchFamily="34" charset="0"/>
                <a:ea typeface="Segoe UI" pitchFamily="34" charset="-122"/>
                <a:cs typeface="Segoe UI" pitchFamily="34" charset="-120"/>
              </a:rPr>
              <a:t> knob: a better heat path, the spacer.</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136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3 – Which knobs lower ΔT = R</a:t>
            </a:r>
            <a:pPr algn="l" indent="0" marL="0">
              <a:buNone/>
            </a:pPr>
            <a:r>
              <a:rPr lang="en-US" sz="3000" baseline="-40000" dirty="0">
                <a:solidFill>
                  <a:srgbClr val="171A20"/>
                </a:solidFill>
                <a:latin typeface="Segoe UI" pitchFamily="34" charset="0"/>
                <a:ea typeface="Segoe UI" pitchFamily="34" charset="-122"/>
                <a:cs typeface="Segoe UI" pitchFamily="34" charset="-120"/>
              </a:rPr>
              <a:t>th</a:t>
            </a:r>
            <a:pPr algn="l" indent="0" marL="0">
              <a:buNone/>
            </a:pPr>
            <a:r>
              <a:rPr lang="en-US" sz="3000" dirty="0">
                <a:solidFill>
                  <a:srgbClr val="171A20"/>
                </a:solidFill>
                <a:latin typeface="Segoe UI" pitchFamily="34" charset="0"/>
                <a:ea typeface="Segoe UI" pitchFamily="34" charset="-122"/>
                <a:cs typeface="Segoe UI" pitchFamily="34" charset="-120"/>
              </a:rPr>
              <a:t> · P?</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Two ways to cool: a better heat path (R</a:t>
            </a:r>
            <a:pPr algn="l" indent="0" marL="0">
              <a:buNone/>
            </a:pPr>
            <a:r>
              <a:rPr lang="en-US" sz="1600" baseline="-40000" dirty="0">
                <a:solidFill>
                  <a:srgbClr val="5C5E62"/>
                </a:solidFill>
                <a:latin typeface="Segoe UI" pitchFamily="34" charset="0"/>
                <a:ea typeface="Segoe UI" pitchFamily="34" charset="-122"/>
                <a:cs typeface="Segoe UI" pitchFamily="34" charset="-120"/>
              </a:rPr>
              <a:t>th</a:t>
            </a:r>
            <a:pPr algn="l" indent="0" marL="0">
              <a:buNone/>
            </a:pPr>
            <a:r>
              <a:rPr lang="en-US" sz="1600" dirty="0">
                <a:solidFill>
                  <a:srgbClr val="5C5E62"/>
                </a:solidFill>
                <a:latin typeface="Segoe UI" pitchFamily="34" charset="0"/>
                <a:ea typeface="Segoe UI" pitchFamily="34" charset="-122"/>
                <a:cs typeface="Segoe UI" pitchFamily="34" charset="-120"/>
              </a:rPr>
              <a:t>) or less power (P)</a:t>
            </a:r>
            <a:endParaRPr lang="en-US" sz="1600" dirty="0"/>
          </a:p>
        </p:txBody>
      </p:sp>
      <p:sp>
        <p:nvSpPr>
          <p:cNvPr id="4" name="!!sdot0"/>
          <p:cNvSpPr/>
          <p:nvPr/>
        </p:nvSpPr>
        <p:spPr>
          <a:xfrm>
            <a:off x="11288268" y="525780"/>
            <a:ext cx="82296" cy="82296"/>
          </a:xfrm>
          <a:prstGeom prst="ellipse">
            <a:avLst/>
          </a:prstGeom>
          <a:solidFill>
            <a:srgbClr val="171A20"/>
          </a:solidFill>
          <a:ln/>
        </p:spPr>
      </p:sp>
      <p:sp>
        <p:nvSpPr>
          <p:cNvPr id="5" name="!!sdot1"/>
          <p:cNvSpPr/>
          <p:nvPr/>
        </p:nvSpPr>
        <p:spPr>
          <a:xfrm>
            <a:off x="11443716" y="525780"/>
            <a:ext cx="82296" cy="82296"/>
          </a:xfrm>
          <a:prstGeom prst="ellipse">
            <a:avLst/>
          </a:prstGeom>
          <a:solidFill>
            <a:srgbClr val="171A20"/>
          </a:solidFill>
          <a:ln/>
        </p:spPr>
      </p:sp>
      <p:sp>
        <p:nvSpPr>
          <p:cNvPr id="6" name="!!sdot2"/>
          <p:cNvSpPr/>
          <p:nvPr/>
        </p:nvSpPr>
        <p:spPr>
          <a:xfrm>
            <a:off x="11599164" y="525780"/>
            <a:ext cx="82296" cy="82296"/>
          </a:xfrm>
          <a:prstGeom prst="ellipse">
            <a:avLst/>
          </a:prstGeom>
          <a:solidFill>
            <a:srgbClr val="171A20"/>
          </a:solidFill>
          <a:ln/>
        </p:spPr>
      </p:sp>
      <p:sp>
        <p:nvSpPr>
          <p:cNvPr id="7" name="!!knEq"/>
          <p:cNvSpPr txBox="1"/>
          <p:nvPr/>
        </p:nvSpPr>
        <p:spPr>
          <a:xfrm>
            <a:off x="548640" y="1463040"/>
            <a:ext cx="11091672" cy="640080"/>
          </a:xfrm>
          <a:prstGeom prst="rect">
            <a:avLst/>
          </a:prstGeom>
          <a:noFill/>
          <a:ln/>
        </p:spPr>
        <p:txBody>
          <a:bodyPr wrap="square" lIns="0" tIns="0" rIns="0" bIns="0" rtlCol="0" anchor="t"/>
          <a:lstStyle/>
          <a:p>
            <a:pPr algn="ctr" indent="0" marL="0">
              <a:buNone/>
            </a:pPr>
            <a:r>
              <a:rPr lang="en-US" sz="3200" dirty="0">
                <a:solidFill>
                  <a:srgbClr val="171A20"/>
                </a:solidFill>
                <a:latin typeface="Segoe UI Semibold" pitchFamily="34" charset="0"/>
                <a:ea typeface="Segoe UI Semibold" pitchFamily="34" charset="-122"/>
                <a:cs typeface="Segoe UI Semibold" pitchFamily="34" charset="-120"/>
              </a:rPr>
              <a:t>ΔT  =  </a:t>
            </a:r>
            <a:pPr algn="ctr" indent="0" marL="0">
              <a:buNone/>
            </a:pPr>
            <a:r>
              <a:rPr lang="en-US" sz="3200" dirty="0">
                <a:solidFill>
                  <a:srgbClr val="11998E"/>
                </a:solidFill>
                <a:latin typeface="Segoe UI Semibold" pitchFamily="34" charset="0"/>
                <a:ea typeface="Segoe UI Semibold" pitchFamily="34" charset="-122"/>
                <a:cs typeface="Segoe UI Semibold" pitchFamily="34" charset="-120"/>
              </a:rPr>
              <a:t>R</a:t>
            </a:r>
            <a:pPr algn="ctr" indent="0" marL="0">
              <a:buNone/>
            </a:pPr>
            <a:r>
              <a:rPr lang="en-US" sz="3200" baseline="-40000" dirty="0">
                <a:solidFill>
                  <a:srgbClr val="11998E"/>
                </a:solidFill>
                <a:latin typeface="Segoe UI Semibold" pitchFamily="34" charset="0"/>
                <a:ea typeface="Segoe UI Semibold" pitchFamily="34" charset="-122"/>
                <a:cs typeface="Segoe UI Semibold" pitchFamily="34" charset="-120"/>
              </a:rPr>
              <a:t>th</a:t>
            </a:r>
            <a:pPr algn="ctr" indent="0" marL="0">
              <a:buNone/>
            </a:pPr>
            <a:r>
              <a:rPr lang="en-US" sz="3200" dirty="0">
                <a:solidFill>
                  <a:srgbClr val="171A20"/>
                </a:solidFill>
                <a:latin typeface="Segoe UI Semibold" pitchFamily="34" charset="0"/>
                <a:ea typeface="Segoe UI Semibold" pitchFamily="34" charset="-122"/>
                <a:cs typeface="Segoe UI Semibold" pitchFamily="34" charset="-120"/>
              </a:rPr>
              <a:t>  ×  </a:t>
            </a:r>
            <a:pPr algn="ctr" indent="0" marL="0">
              <a:buNone/>
            </a:pPr>
            <a:r>
              <a:rPr lang="en-US" sz="3200" dirty="0">
                <a:solidFill>
                  <a:srgbClr val="E07B00"/>
                </a:solidFill>
                <a:latin typeface="Segoe UI Semibold" pitchFamily="34" charset="0"/>
                <a:ea typeface="Segoe UI Semibold" pitchFamily="34" charset="-122"/>
                <a:cs typeface="Segoe UI Semibold" pitchFamily="34" charset="-120"/>
              </a:rPr>
              <a:t>P</a:t>
            </a:r>
            <a:endParaRPr lang="en-US" sz="3200" dirty="0"/>
          </a:p>
        </p:txBody>
      </p:sp>
      <p:sp>
        <p:nvSpPr>
          <p:cNvPr id="8" name="!!knH0"/>
          <p:cNvSpPr txBox="1"/>
          <p:nvPr/>
        </p:nvSpPr>
        <p:spPr>
          <a:xfrm>
            <a:off x="548640" y="2286000"/>
            <a:ext cx="5449824" cy="320040"/>
          </a:xfrm>
          <a:prstGeom prst="rect">
            <a:avLst/>
          </a:prstGeom>
          <a:noFill/>
          <a:ln/>
        </p:spPr>
        <p:txBody>
          <a:bodyPr wrap="square" lIns="0" tIns="0" rIns="0" bIns="0" rtlCol="0" anchor="t"/>
          <a:lstStyle/>
          <a:p>
            <a:pPr algn="l" indent="0" marL="0">
              <a:buNone/>
            </a:pPr>
            <a:r>
              <a:rPr lang="en-US" sz="1600" dirty="0">
                <a:solidFill>
                  <a:srgbClr val="11998E"/>
                </a:solidFill>
                <a:latin typeface="Segoe UI Semibold" pitchFamily="34" charset="0"/>
                <a:ea typeface="Segoe UI Semibold" pitchFamily="34" charset="-122"/>
                <a:cs typeface="Segoe UI Semibold" pitchFamily="34" charset="-120"/>
              </a:rPr>
              <a:t>lower R</a:t>
            </a:r>
            <a:pPr algn="l" indent="0" marL="0">
              <a:buNone/>
            </a:pPr>
            <a:r>
              <a:rPr lang="en-US" sz="1600" baseline="-40000" dirty="0">
                <a:solidFill>
                  <a:srgbClr val="11998E"/>
                </a:solidFill>
                <a:latin typeface="Segoe UI Semibold" pitchFamily="34" charset="0"/>
                <a:ea typeface="Segoe UI Semibold" pitchFamily="34" charset="-122"/>
                <a:cs typeface="Segoe UI Semibold" pitchFamily="34" charset="-120"/>
              </a:rPr>
              <a:t>th</a:t>
            </a:r>
            <a:pPr algn="l" indent="0" marL="0">
              <a:buNone/>
            </a:pPr>
            <a:r>
              <a:rPr lang="en-US" sz="1600" dirty="0">
                <a:solidFill>
                  <a:srgbClr val="11998E"/>
                </a:solidFill>
                <a:latin typeface="Segoe UI Semibold" pitchFamily="34" charset="0"/>
                <a:ea typeface="Segoe UI Semibold" pitchFamily="34" charset="-122"/>
                <a:cs typeface="Segoe UI Semibold" pitchFamily="34" charset="-120"/>
              </a:rPr>
              <a:t>: a better heat path</a:t>
            </a:r>
            <a:endParaRPr lang="en-US" sz="1600" dirty="0"/>
          </a:p>
        </p:txBody>
      </p:sp>
      <p:sp>
        <p:nvSpPr>
          <p:cNvPr id="9" name="!!knB00"/>
          <p:cNvSpPr/>
          <p:nvPr/>
        </p:nvSpPr>
        <p:spPr>
          <a:xfrm>
            <a:off x="548640" y="2743200"/>
            <a:ext cx="5449824" cy="914400"/>
          </a:xfrm>
          <a:prstGeom prst="roundRect">
            <a:avLst>
              <a:gd name="adj" fmla="val 6000"/>
            </a:avLst>
          </a:prstGeom>
          <a:solidFill>
            <a:srgbClr val="F4F5F7"/>
          </a:solidFill>
          <a:ln/>
        </p:spPr>
      </p:sp>
      <p:sp>
        <p:nvSpPr>
          <p:cNvPr id="10" name="!!knBh00"/>
          <p:cNvSpPr txBox="1"/>
          <p:nvPr/>
        </p:nvSpPr>
        <p:spPr>
          <a:xfrm>
            <a:off x="731520" y="2834640"/>
            <a:ext cx="3931920" cy="320040"/>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Spacer κ ↑</a:t>
            </a:r>
            <a:endParaRPr lang="en-US" sz="1500" dirty="0"/>
          </a:p>
        </p:txBody>
      </p:sp>
      <p:sp>
        <p:nvSpPr>
          <p:cNvPr id="11" name="!!knBb00"/>
          <p:cNvSpPr txBox="1"/>
          <p:nvPr/>
        </p:nvSpPr>
        <p:spPr>
          <a:xfrm>
            <a:off x="731520" y="3172968"/>
            <a:ext cx="411480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Si₃N₄ → high-κ (thermal): heat leaves sideways into the gate</a:t>
            </a:r>
            <a:endParaRPr lang="en-US" sz="1200" dirty="0"/>
          </a:p>
        </p:txBody>
      </p:sp>
      <p:sp>
        <p:nvSpPr>
          <p:cNvPr id="12" name="!!knBt00"/>
          <p:cNvSpPr txBox="1"/>
          <p:nvPr/>
        </p:nvSpPr>
        <p:spPr>
          <a:xfrm>
            <a:off x="4663440" y="2834640"/>
            <a:ext cx="1188720" cy="320040"/>
          </a:xfrm>
          <a:prstGeom prst="rect">
            <a:avLst/>
          </a:prstGeom>
          <a:noFill/>
          <a:ln/>
        </p:spPr>
        <p:txBody>
          <a:bodyPr wrap="square" lIns="0" tIns="0" rIns="0" bIns="0" rtlCol="0" anchor="t"/>
          <a:lstStyle/>
          <a:p>
            <a:pPr algn="r" indent="0" marL="0">
              <a:buNone/>
            </a:pPr>
            <a:r>
              <a:rPr lang="en-US" sz="1300" dirty="0">
                <a:solidFill>
                  <a:srgbClr val="2E9E4F"/>
                </a:solidFill>
                <a:latin typeface="Segoe UI Semibold" pitchFamily="34" charset="0"/>
                <a:ea typeface="Segoe UI Semibold" pitchFamily="34" charset="-122"/>
                <a:cs typeface="Segoe UI Semibold" pitchFamily="34" charset="-120"/>
              </a:rPr>
              <a:t>✓ lever 1</a:t>
            </a:r>
            <a:endParaRPr lang="en-US" sz="1300" dirty="0"/>
          </a:p>
        </p:txBody>
      </p:sp>
      <p:sp>
        <p:nvSpPr>
          <p:cNvPr id="13" name="!!knB01"/>
          <p:cNvSpPr/>
          <p:nvPr/>
        </p:nvSpPr>
        <p:spPr>
          <a:xfrm>
            <a:off x="548640" y="3794760"/>
            <a:ext cx="5449824" cy="914400"/>
          </a:xfrm>
          <a:prstGeom prst="roundRect">
            <a:avLst>
              <a:gd name="adj" fmla="val 6000"/>
            </a:avLst>
          </a:prstGeom>
          <a:solidFill>
            <a:srgbClr val="F4F5F7"/>
          </a:solidFill>
          <a:ln/>
        </p:spPr>
      </p:sp>
      <p:sp>
        <p:nvSpPr>
          <p:cNvPr id="14" name="!!knBh01"/>
          <p:cNvSpPr txBox="1"/>
          <p:nvPr/>
        </p:nvSpPr>
        <p:spPr>
          <a:xfrm>
            <a:off x="731520" y="3886200"/>
            <a:ext cx="3931920" cy="320040"/>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Buried oxide → DLC [2]</a:t>
            </a:r>
            <a:endParaRPr lang="en-US" sz="1500" dirty="0"/>
          </a:p>
        </p:txBody>
      </p:sp>
      <p:sp>
        <p:nvSpPr>
          <p:cNvPr id="15" name="!!knBb01"/>
          <p:cNvSpPr txBox="1"/>
          <p:nvPr/>
        </p:nvSpPr>
        <p:spPr>
          <a:xfrm>
            <a:off x="731520" y="4224528"/>
            <a:ext cx="411480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needs a substrate, not in our single wire</a:t>
            </a:r>
            <a:endParaRPr lang="en-US" sz="1200" dirty="0"/>
          </a:p>
        </p:txBody>
      </p:sp>
      <p:sp>
        <p:nvSpPr>
          <p:cNvPr id="16" name="!!knBt01"/>
          <p:cNvSpPr txBox="1"/>
          <p:nvPr/>
        </p:nvSpPr>
        <p:spPr>
          <a:xfrm>
            <a:off x="4663440" y="3886200"/>
            <a:ext cx="1188720" cy="320040"/>
          </a:xfrm>
          <a:prstGeom prst="rect">
            <a:avLst/>
          </a:prstGeom>
          <a:noFill/>
          <a:ln/>
        </p:spPr>
        <p:txBody>
          <a:bodyPr wrap="square" lIns="0" tIns="0" rIns="0" bIns="0" rtlCol="0" anchor="t"/>
          <a:lstStyle/>
          <a:p>
            <a:pPr algn="r" indent="0" marL="0">
              <a:buNone/>
            </a:pPr>
            <a:r>
              <a:rPr lang="en-US" sz="1300" dirty="0">
                <a:solidFill>
                  <a:srgbClr val="5C5E62"/>
                </a:solidFill>
                <a:latin typeface="Segoe UI Semibold" pitchFamily="34" charset="0"/>
                <a:ea typeface="Segoe UI Semibold" pitchFamily="34" charset="-122"/>
                <a:cs typeface="Segoe UI Semibold" pitchFamily="34" charset="-120"/>
              </a:rPr>
              <a:t>future</a:t>
            </a:r>
            <a:endParaRPr lang="en-US" sz="1300" dirty="0"/>
          </a:p>
        </p:txBody>
      </p:sp>
      <p:sp>
        <p:nvSpPr>
          <p:cNvPr id="17" name="!!knH1"/>
          <p:cNvSpPr txBox="1"/>
          <p:nvPr/>
        </p:nvSpPr>
        <p:spPr>
          <a:xfrm>
            <a:off x="6190488" y="2286000"/>
            <a:ext cx="5449824" cy="320040"/>
          </a:xfrm>
          <a:prstGeom prst="rect">
            <a:avLst/>
          </a:prstGeom>
          <a:noFill/>
          <a:ln/>
        </p:spPr>
        <p:txBody>
          <a:bodyPr wrap="square" lIns="0" tIns="0" rIns="0" bIns="0" rtlCol="0" anchor="t"/>
          <a:lstStyle/>
          <a:p>
            <a:pPr algn="l" indent="0" marL="0">
              <a:buNone/>
            </a:pPr>
            <a:r>
              <a:rPr lang="en-US" sz="1600" dirty="0">
                <a:solidFill>
                  <a:srgbClr val="E07B00"/>
                </a:solidFill>
                <a:latin typeface="Segoe UI Semibold" pitchFamily="34" charset="0"/>
                <a:ea typeface="Segoe UI Semibold" pitchFamily="34" charset="-122"/>
                <a:cs typeface="Segoe UI Semibold" pitchFamily="34" charset="-120"/>
              </a:rPr>
              <a:t>lower P: less power</a:t>
            </a:r>
            <a:endParaRPr lang="en-US" sz="1600" dirty="0"/>
          </a:p>
        </p:txBody>
      </p:sp>
      <p:sp>
        <p:nvSpPr>
          <p:cNvPr id="18" name="!!knB10"/>
          <p:cNvSpPr/>
          <p:nvPr/>
        </p:nvSpPr>
        <p:spPr>
          <a:xfrm>
            <a:off x="6190488" y="2743200"/>
            <a:ext cx="5449824" cy="914400"/>
          </a:xfrm>
          <a:prstGeom prst="roundRect">
            <a:avLst>
              <a:gd name="adj" fmla="val 6000"/>
            </a:avLst>
          </a:prstGeom>
          <a:solidFill>
            <a:srgbClr val="F4F5F7"/>
          </a:solidFill>
          <a:ln/>
        </p:spPr>
      </p:sp>
      <p:sp>
        <p:nvSpPr>
          <p:cNvPr id="19" name="!!knBh10"/>
          <p:cNvSpPr txBox="1"/>
          <p:nvPr/>
        </p:nvSpPr>
        <p:spPr>
          <a:xfrm>
            <a:off x="6373368" y="2834640"/>
            <a:ext cx="3931920" cy="320040"/>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Gate work function ↑</a:t>
            </a:r>
            <a:endParaRPr lang="en-US" sz="1500" dirty="0"/>
          </a:p>
        </p:txBody>
      </p:sp>
      <p:sp>
        <p:nvSpPr>
          <p:cNvPr id="20" name="!!knBb10"/>
          <p:cNvSpPr txBox="1"/>
          <p:nvPr/>
        </p:nvSpPr>
        <p:spPr>
          <a:xfrm>
            <a:off x="6373368" y="3172968"/>
            <a:ext cx="411480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4.50 → 4.53 eV: V</a:t>
            </a:r>
            <a:pPr algn="l" indent="0" marL="0">
              <a:buNone/>
            </a:pPr>
            <a:r>
              <a:rPr lang="en-US" sz="1200" baseline="-40000" dirty="0">
                <a:solidFill>
                  <a:srgbClr val="5C5E62"/>
                </a:solidFill>
                <a:latin typeface="Segoe UI" pitchFamily="34" charset="0"/>
                <a:ea typeface="Segoe UI" pitchFamily="34" charset="-122"/>
                <a:cs typeface="Segoe UI" pitchFamily="34" charset="-120"/>
              </a:rPr>
              <a:t>T</a:t>
            </a:r>
            <a:pPr algn="l" indent="0" marL="0">
              <a:buNone/>
            </a:pPr>
            <a:r>
              <a:rPr lang="en-US" sz="1200" dirty="0">
                <a:solidFill>
                  <a:srgbClr val="5C5E62"/>
                </a:solidFill>
                <a:latin typeface="Segoe UI" pitchFamily="34" charset="0"/>
                <a:ea typeface="Segoe UI" pitchFamily="34" charset="-122"/>
                <a:cs typeface="Segoe UI" pitchFamily="34" charset="-120"/>
              </a:rPr>
              <a:t> up → less current, less leakage</a:t>
            </a:r>
            <a:endParaRPr lang="en-US" sz="1200" dirty="0"/>
          </a:p>
        </p:txBody>
      </p:sp>
      <p:sp>
        <p:nvSpPr>
          <p:cNvPr id="21" name="!!knBt10"/>
          <p:cNvSpPr txBox="1"/>
          <p:nvPr/>
        </p:nvSpPr>
        <p:spPr>
          <a:xfrm>
            <a:off x="10305288" y="2834640"/>
            <a:ext cx="1188720" cy="320040"/>
          </a:xfrm>
          <a:prstGeom prst="rect">
            <a:avLst/>
          </a:prstGeom>
          <a:noFill/>
          <a:ln/>
        </p:spPr>
        <p:txBody>
          <a:bodyPr wrap="square" lIns="0" tIns="0" rIns="0" bIns="0" rtlCol="0" anchor="t"/>
          <a:lstStyle/>
          <a:p>
            <a:pPr algn="r" indent="0" marL="0">
              <a:buNone/>
            </a:pPr>
            <a:r>
              <a:rPr lang="en-US" sz="1300" dirty="0">
                <a:solidFill>
                  <a:srgbClr val="2E9E4F"/>
                </a:solidFill>
                <a:latin typeface="Segoe UI Semibold" pitchFamily="34" charset="0"/>
                <a:ea typeface="Segoe UI Semibold" pitchFamily="34" charset="-122"/>
                <a:cs typeface="Segoe UI Semibold" pitchFamily="34" charset="-120"/>
              </a:rPr>
              <a:t>✓ lever 2</a:t>
            </a:r>
            <a:endParaRPr lang="en-US" sz="1300" dirty="0"/>
          </a:p>
        </p:txBody>
      </p:sp>
      <p:sp>
        <p:nvSpPr>
          <p:cNvPr id="22" name="!!knB11"/>
          <p:cNvSpPr/>
          <p:nvPr/>
        </p:nvSpPr>
        <p:spPr>
          <a:xfrm>
            <a:off x="6190488" y="3794760"/>
            <a:ext cx="5449824" cy="914400"/>
          </a:xfrm>
          <a:prstGeom prst="roundRect">
            <a:avLst>
              <a:gd name="adj" fmla="val 6000"/>
            </a:avLst>
          </a:prstGeom>
          <a:solidFill>
            <a:srgbClr val="F4F5F7"/>
          </a:solidFill>
          <a:ln/>
        </p:spPr>
      </p:sp>
      <p:sp>
        <p:nvSpPr>
          <p:cNvPr id="23" name="!!knBh11"/>
          <p:cNvSpPr txBox="1"/>
          <p:nvPr/>
        </p:nvSpPr>
        <p:spPr>
          <a:xfrm>
            <a:off x="6373368" y="3886200"/>
            <a:ext cx="3931920" cy="320040"/>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Supply V</a:t>
            </a:r>
            <a:pPr algn="l" indent="0" marL="0">
              <a:buNone/>
            </a:pPr>
            <a:r>
              <a:rPr lang="en-US" sz="1500" baseline="-40000" dirty="0">
                <a:solidFill>
                  <a:srgbClr val="171A20"/>
                </a:solidFill>
                <a:latin typeface="Segoe UI Semibold" pitchFamily="34" charset="0"/>
                <a:ea typeface="Segoe UI Semibold" pitchFamily="34" charset="-122"/>
                <a:cs typeface="Segoe UI Semibold" pitchFamily="34" charset="-120"/>
              </a:rPr>
              <a:t>DD</a:t>
            </a:r>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 ↓</a:t>
            </a:r>
            <a:endParaRPr lang="en-US" sz="1500" dirty="0"/>
          </a:p>
        </p:txBody>
      </p:sp>
      <p:sp>
        <p:nvSpPr>
          <p:cNvPr id="24" name="!!knBb11"/>
          <p:cNvSpPr txBox="1"/>
          <p:nvPr/>
        </p:nvSpPr>
        <p:spPr>
          <a:xfrm>
            <a:off x="6373368" y="4224528"/>
            <a:ext cx="411480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slower circuit, changes the operating point</a:t>
            </a:r>
            <a:endParaRPr lang="en-US" sz="1200" dirty="0"/>
          </a:p>
        </p:txBody>
      </p:sp>
      <p:sp>
        <p:nvSpPr>
          <p:cNvPr id="25" name="!!knBt11"/>
          <p:cNvSpPr txBox="1"/>
          <p:nvPr/>
        </p:nvSpPr>
        <p:spPr>
          <a:xfrm>
            <a:off x="10305288" y="3886200"/>
            <a:ext cx="1188720" cy="320040"/>
          </a:xfrm>
          <a:prstGeom prst="rect">
            <a:avLst/>
          </a:prstGeom>
          <a:noFill/>
          <a:ln/>
        </p:spPr>
        <p:txBody>
          <a:bodyPr wrap="square" lIns="0" tIns="0" rIns="0" bIns="0" rtlCol="0" anchor="t"/>
          <a:lstStyle/>
          <a:p>
            <a:pPr algn="r" indent="0" marL="0">
              <a:buNone/>
            </a:pPr>
            <a:r>
              <a:rPr lang="en-US" sz="1300" dirty="0">
                <a:solidFill>
                  <a:srgbClr val="D64545"/>
                </a:solidFill>
                <a:latin typeface="Segoe UI Semibold" pitchFamily="34" charset="0"/>
                <a:ea typeface="Segoe UI Semibold" pitchFamily="34" charset="-122"/>
                <a:cs typeface="Segoe UI Semibold" pitchFamily="34" charset="-120"/>
              </a:rPr>
              <a:t>✗</a:t>
            </a:r>
            <a:endParaRPr lang="en-US" sz="1300" dirty="0"/>
          </a:p>
        </p:txBody>
      </p:sp>
      <p:sp>
        <p:nvSpPr>
          <p:cNvPr id="26" name="!!knRej"/>
          <p:cNvSpPr txBox="1"/>
          <p:nvPr/>
        </p:nvSpPr>
        <p:spPr>
          <a:xfrm>
            <a:off x="548640" y="4983480"/>
            <a:ext cx="11091672" cy="274320"/>
          </a:xfrm>
          <a:prstGeom prst="rect">
            <a:avLst/>
          </a:prstGeom>
          <a:noFill/>
          <a:ln/>
        </p:spPr>
        <p:txBody>
          <a:bodyPr wrap="square" lIns="0" tIns="0" rIns="0" bIns="0" rtlCol="0" anchor="t"/>
          <a:lstStyle/>
          <a:p>
            <a:pPr algn="ctr" indent="0" marL="0">
              <a:buNone/>
            </a:pPr>
            <a:r>
              <a:rPr lang="en-US" sz="1200" dirty="0">
                <a:solidFill>
                  <a:srgbClr val="5C5E62"/>
                </a:solidFill>
                <a:latin typeface="Segoe UI" pitchFamily="34" charset="0"/>
                <a:ea typeface="Segoe UI" pitchFamily="34" charset="-122"/>
                <a:cs typeface="Segoe UI" pitchFamily="34" charset="-120"/>
              </a:rPr>
              <a:t>Rejected: a thinner or shorter channel (more heat per volume, changes the electrostatics).</a:t>
            </a:r>
            <a:endParaRPr lang="en-US" sz="1200" dirty="0"/>
          </a:p>
        </p:txBody>
      </p:sp>
      <p:sp>
        <p:nvSpPr>
          <p:cNvPr id="27"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Two clean knobs: spacer κ for R</a:t>
            </a:r>
            <a:pPr algn="ctr" indent="0" marL="0">
              <a:buNone/>
            </a:pPr>
            <a:r>
              <a:rPr lang="en-US" sz="1600" baseline="-40000" dirty="0">
                <a:solidFill>
                  <a:srgbClr val="171A20"/>
                </a:solidFill>
                <a:latin typeface="Segoe UI" pitchFamily="34" charset="0"/>
                <a:ea typeface="Segoe UI" pitchFamily="34" charset="-122"/>
                <a:cs typeface="Segoe UI" pitchFamily="34" charset="-120"/>
              </a:rPr>
              <a:t>th</a:t>
            </a:r>
            <a:pPr algn="ctr" indent="0" marL="0">
              <a:buNone/>
            </a:pPr>
            <a:r>
              <a:rPr lang="en-US" sz="1600" dirty="0">
                <a:solidFill>
                  <a:srgbClr val="171A20"/>
                </a:solidFill>
                <a:latin typeface="Segoe UI" pitchFamily="34" charset="0"/>
                <a:ea typeface="Segoe UI" pitchFamily="34" charset="-122"/>
                <a:cs typeface="Segoe UI" pitchFamily="34" charset="-120"/>
              </a:rPr>
              <a:t>, work function for P.</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137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3 – Lever 1: a high-κ spacer</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The spacer touches the gate metal, a heat contact at 300 K, only 5 nm from the channel</a:t>
            </a:r>
            <a:endParaRPr lang="en-US" sz="1600" dirty="0"/>
          </a:p>
        </p:txBody>
      </p:sp>
      <p:sp>
        <p:nvSpPr>
          <p:cNvPr id="4" name="!!sdot0"/>
          <p:cNvSpPr/>
          <p:nvPr/>
        </p:nvSpPr>
        <p:spPr>
          <a:xfrm>
            <a:off x="11443716" y="525780"/>
            <a:ext cx="82296" cy="82296"/>
          </a:xfrm>
          <a:prstGeom prst="ellipse">
            <a:avLst/>
          </a:prstGeom>
          <a:solidFill>
            <a:srgbClr val="171A20"/>
          </a:solidFill>
          <a:ln/>
        </p:spPr>
      </p:sp>
      <p:sp>
        <p:nvSpPr>
          <p:cNvPr id="5" name="!!sdot1"/>
          <p:cNvSpPr/>
          <p:nvPr/>
        </p:nvSpPr>
        <p:spPr>
          <a:xfrm>
            <a:off x="11599164" y="525780"/>
            <a:ext cx="82296" cy="82296"/>
          </a:xfrm>
          <a:prstGeom prst="ellipse">
            <a:avLst/>
          </a:prstGeom>
          <a:solidFill>
            <a:srgbClr val="E2E3E3"/>
          </a:solidFill>
          <a:ln/>
        </p:spPr>
      </p:sp>
      <p:sp>
        <p:nvSpPr>
          <p:cNvPr id="6" name="!!l1W"/>
          <p:cNvSpPr/>
          <p:nvPr/>
        </p:nvSpPr>
        <p:spPr>
          <a:xfrm>
            <a:off x="2363724" y="2286000"/>
            <a:ext cx="2304288" cy="1828800"/>
          </a:xfrm>
          <a:prstGeom prst="rect">
            <a:avLst/>
          </a:prstGeom>
          <a:solidFill>
            <a:srgbClr val="9AA0AA"/>
          </a:solidFill>
          <a:ln/>
        </p:spPr>
      </p:sp>
      <p:sp>
        <p:nvSpPr>
          <p:cNvPr id="7" name="!!l1N1"/>
          <p:cNvSpPr/>
          <p:nvPr/>
        </p:nvSpPr>
        <p:spPr>
          <a:xfrm>
            <a:off x="2363724" y="2286000"/>
            <a:ext cx="480060" cy="1828800"/>
          </a:xfrm>
          <a:prstGeom prst="rect">
            <a:avLst/>
          </a:prstGeom>
          <a:solidFill>
            <a:srgbClr val="D9DCE3"/>
          </a:solidFill>
          <a:ln/>
        </p:spPr>
      </p:sp>
      <p:sp>
        <p:nvSpPr>
          <p:cNvPr id="8" name="!!l1N2"/>
          <p:cNvSpPr/>
          <p:nvPr/>
        </p:nvSpPr>
        <p:spPr>
          <a:xfrm>
            <a:off x="4187952" y="2286000"/>
            <a:ext cx="480060" cy="1828800"/>
          </a:xfrm>
          <a:prstGeom prst="rect">
            <a:avLst/>
          </a:prstGeom>
          <a:solidFill>
            <a:srgbClr val="D9DCE3"/>
          </a:solidFill>
          <a:ln/>
        </p:spPr>
      </p:sp>
      <p:sp>
        <p:nvSpPr>
          <p:cNvPr id="9" name="!!l1S"/>
          <p:cNvSpPr/>
          <p:nvPr/>
        </p:nvSpPr>
        <p:spPr>
          <a:xfrm>
            <a:off x="731520" y="2926080"/>
            <a:ext cx="5568696" cy="548640"/>
          </a:xfrm>
          <a:prstGeom prst="rect">
            <a:avLst/>
          </a:prstGeom>
          <a:solidFill>
            <a:srgbClr val="F6E7B8"/>
          </a:solidFill>
          <a:ln/>
        </p:spPr>
      </p:sp>
      <p:sp>
        <p:nvSpPr>
          <p:cNvPr id="10" name="!!l1SD1"/>
          <p:cNvSpPr/>
          <p:nvPr/>
        </p:nvSpPr>
        <p:spPr>
          <a:xfrm>
            <a:off x="731520" y="2926080"/>
            <a:ext cx="1632204" cy="548640"/>
          </a:xfrm>
          <a:prstGeom prst="rect">
            <a:avLst/>
          </a:prstGeom>
          <a:solidFill>
            <a:srgbClr val="7D9BE6"/>
          </a:solidFill>
          <a:ln/>
        </p:spPr>
      </p:sp>
      <p:sp>
        <p:nvSpPr>
          <p:cNvPr id="11" name="!!l1SD2"/>
          <p:cNvSpPr/>
          <p:nvPr/>
        </p:nvSpPr>
        <p:spPr>
          <a:xfrm>
            <a:off x="4668012" y="2926080"/>
            <a:ext cx="1632204" cy="548640"/>
          </a:xfrm>
          <a:prstGeom prst="rect">
            <a:avLst/>
          </a:prstGeom>
          <a:solidFill>
            <a:srgbClr val="7D9BE6"/>
          </a:solidFill>
          <a:ln/>
        </p:spPr>
      </p:sp>
      <p:sp>
        <p:nvSpPr>
          <p:cNvPr id="12" name="!!l1Hot"/>
          <p:cNvSpPr/>
          <p:nvPr/>
        </p:nvSpPr>
        <p:spPr>
          <a:xfrm>
            <a:off x="3803904" y="3017520"/>
            <a:ext cx="585216" cy="365760"/>
          </a:xfrm>
          <a:prstGeom prst="ellipse">
            <a:avLst/>
          </a:prstGeom>
          <a:solidFill>
            <a:srgbClr val="F07A3A">
              <a:alpha val="90000"/>
            </a:srgbClr>
          </a:solidFill>
          <a:ln/>
        </p:spPr>
      </p:sp>
      <p:sp>
        <p:nvSpPr>
          <p:cNvPr id="13" name="!!l1c0"/>
          <p:cNvSpPr/>
          <p:nvPr/>
        </p:nvSpPr>
        <p:spPr>
          <a:xfrm>
            <a:off x="731520" y="1965960"/>
            <a:ext cx="1632204" cy="201168"/>
          </a:xfrm>
          <a:prstGeom prst="roundRect">
            <a:avLst>
              <a:gd name="adj" fmla="val 13636"/>
            </a:avLst>
          </a:prstGeom>
          <a:solidFill>
            <a:srgbClr val="171A20"/>
          </a:solidFill>
          <a:ln/>
        </p:spPr>
      </p:sp>
      <p:sp>
        <p:nvSpPr>
          <p:cNvPr id="14" name="!!l1ct0"/>
          <p:cNvSpPr txBox="1"/>
          <p:nvPr/>
        </p:nvSpPr>
        <p:spPr>
          <a:xfrm>
            <a:off x="548640" y="1965960"/>
            <a:ext cx="1997964" cy="201168"/>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source · 300 K</a:t>
            </a:r>
            <a:endParaRPr lang="en-US" sz="900" dirty="0"/>
          </a:p>
        </p:txBody>
      </p:sp>
      <p:sp>
        <p:nvSpPr>
          <p:cNvPr id="15" name="!!l1c1"/>
          <p:cNvSpPr/>
          <p:nvPr/>
        </p:nvSpPr>
        <p:spPr>
          <a:xfrm>
            <a:off x="2363724" y="1965960"/>
            <a:ext cx="2304288" cy="201168"/>
          </a:xfrm>
          <a:prstGeom prst="roundRect">
            <a:avLst>
              <a:gd name="adj" fmla="val 13636"/>
            </a:avLst>
          </a:prstGeom>
          <a:solidFill>
            <a:srgbClr val="171A20"/>
          </a:solidFill>
          <a:ln/>
        </p:spPr>
      </p:sp>
      <p:sp>
        <p:nvSpPr>
          <p:cNvPr id="16" name="!!l1ct1"/>
          <p:cNvSpPr txBox="1"/>
          <p:nvPr/>
        </p:nvSpPr>
        <p:spPr>
          <a:xfrm>
            <a:off x="2180844" y="1965960"/>
            <a:ext cx="2670048" cy="201168"/>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gate · 300 K</a:t>
            </a:r>
            <a:endParaRPr lang="en-US" sz="900" dirty="0"/>
          </a:p>
        </p:txBody>
      </p:sp>
      <p:sp>
        <p:nvSpPr>
          <p:cNvPr id="17" name="!!l1c2"/>
          <p:cNvSpPr/>
          <p:nvPr/>
        </p:nvSpPr>
        <p:spPr>
          <a:xfrm>
            <a:off x="4668012" y="1965960"/>
            <a:ext cx="1632204" cy="201168"/>
          </a:xfrm>
          <a:prstGeom prst="roundRect">
            <a:avLst>
              <a:gd name="adj" fmla="val 13636"/>
            </a:avLst>
          </a:prstGeom>
          <a:solidFill>
            <a:srgbClr val="171A20"/>
          </a:solidFill>
          <a:ln/>
        </p:spPr>
      </p:sp>
      <p:sp>
        <p:nvSpPr>
          <p:cNvPr id="18" name="!!l1ct2"/>
          <p:cNvSpPr txBox="1"/>
          <p:nvPr/>
        </p:nvSpPr>
        <p:spPr>
          <a:xfrm>
            <a:off x="4485132" y="1965960"/>
            <a:ext cx="1997964" cy="201168"/>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drain · 300 K</a:t>
            </a:r>
            <a:endParaRPr lang="en-US" sz="900" dirty="0"/>
          </a:p>
        </p:txBody>
      </p:sp>
      <p:sp>
        <p:nvSpPr>
          <p:cNvPr id="19" name="!!l1Old"/>
          <p:cNvSpPr/>
          <p:nvPr/>
        </p:nvSpPr>
        <p:spPr>
          <a:xfrm>
            <a:off x="4142232" y="3291840"/>
            <a:ext cx="1988820" cy="91"/>
          </a:xfrm>
          <a:prstGeom prst="line">
            <a:avLst/>
          </a:prstGeom>
          <a:noFill/>
          <a:ln w="38100">
            <a:solidFill>
              <a:srgbClr val="E07B00"/>
            </a:solidFill>
            <a:prstDash val="solid"/>
            <a:tailEnd type="triangle"/>
          </a:ln>
        </p:spPr>
      </p:sp>
      <p:sp>
        <p:nvSpPr>
          <p:cNvPr id="20" name="!!l1d0"/>
          <p:cNvSpPr txBox="1"/>
          <p:nvPr/>
        </p:nvSpPr>
        <p:spPr>
          <a:xfrm>
            <a:off x="731520" y="4251960"/>
            <a:ext cx="1632204"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17 nm</a:t>
            </a:r>
            <a:endParaRPr lang="en-US" sz="1000" dirty="0"/>
          </a:p>
        </p:txBody>
      </p:sp>
      <p:sp>
        <p:nvSpPr>
          <p:cNvPr id="21" name="!!l1d1"/>
          <p:cNvSpPr txBox="1"/>
          <p:nvPr/>
        </p:nvSpPr>
        <p:spPr>
          <a:xfrm>
            <a:off x="2363724" y="4251960"/>
            <a:ext cx="4800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5 nm</a:t>
            </a:r>
            <a:endParaRPr lang="en-US" sz="1000" dirty="0"/>
          </a:p>
        </p:txBody>
      </p:sp>
      <p:sp>
        <p:nvSpPr>
          <p:cNvPr id="22" name="!!l1d2"/>
          <p:cNvSpPr txBox="1"/>
          <p:nvPr/>
        </p:nvSpPr>
        <p:spPr>
          <a:xfrm>
            <a:off x="2843784" y="4251960"/>
            <a:ext cx="1344168"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14 nm</a:t>
            </a:r>
            <a:endParaRPr lang="en-US" sz="1000" dirty="0"/>
          </a:p>
        </p:txBody>
      </p:sp>
      <p:sp>
        <p:nvSpPr>
          <p:cNvPr id="23" name="!!l1d3"/>
          <p:cNvSpPr txBox="1"/>
          <p:nvPr/>
        </p:nvSpPr>
        <p:spPr>
          <a:xfrm>
            <a:off x="4187952" y="4251960"/>
            <a:ext cx="4800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5 nm</a:t>
            </a:r>
            <a:endParaRPr lang="en-US" sz="1000" dirty="0"/>
          </a:p>
        </p:txBody>
      </p:sp>
      <p:sp>
        <p:nvSpPr>
          <p:cNvPr id="24" name="!!l1d4"/>
          <p:cNvSpPr txBox="1"/>
          <p:nvPr/>
        </p:nvSpPr>
        <p:spPr>
          <a:xfrm>
            <a:off x="4668012" y="4251960"/>
            <a:ext cx="1632204"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17 nm</a:t>
            </a:r>
            <a:endParaRPr lang="en-US" sz="1000" dirty="0"/>
          </a:p>
        </p:txBody>
      </p:sp>
      <p:sp>
        <p:nvSpPr>
          <p:cNvPr id="25" name="!!l1SpL"/>
          <p:cNvSpPr txBox="1"/>
          <p:nvPr/>
        </p:nvSpPr>
        <p:spPr>
          <a:xfrm>
            <a:off x="3639312" y="4526280"/>
            <a:ext cx="1737360" cy="228600"/>
          </a:xfrm>
          <a:prstGeom prst="rect">
            <a:avLst/>
          </a:prstGeom>
          <a:noFill/>
          <a:ln/>
        </p:spPr>
        <p:txBody>
          <a:bodyPr wrap="square" lIns="0" tIns="0" rIns="0" bIns="0" rtlCol="0" anchor="t"/>
          <a:lstStyle/>
          <a:p>
            <a:pPr algn="ctr" indent="0" marL="0">
              <a:buNone/>
            </a:pPr>
            <a:r>
              <a:rPr lang="en-US" sz="1000" dirty="0">
                <a:solidFill>
                  <a:srgbClr val="5C5E62"/>
                </a:solidFill>
                <a:latin typeface="Segoe UI Semibold" pitchFamily="34" charset="0"/>
                <a:ea typeface="Segoe UI Semibold" pitchFamily="34" charset="-122"/>
                <a:cs typeface="Segoe UI Semibold" pitchFamily="34" charset="-120"/>
              </a:rPr>
              <a:t>Si₃N₄ spacer (18 W/m·K)</a:t>
            </a:r>
            <a:endParaRPr lang="en-US" sz="1000" dirty="0"/>
          </a:p>
        </p:txBody>
      </p:sp>
      <p:sp>
        <p:nvSpPr>
          <p:cNvPr id="26" name="!!card"/>
          <p:cNvSpPr/>
          <p:nvPr/>
        </p:nvSpPr>
        <p:spPr>
          <a:xfrm>
            <a:off x="6766560" y="1554480"/>
            <a:ext cx="4873752" cy="2011680"/>
          </a:xfrm>
          <a:prstGeom prst="roundRect">
            <a:avLst>
              <a:gd name="adj" fmla="val 3636"/>
            </a:avLst>
          </a:prstGeom>
          <a:solidFill>
            <a:srgbClr val="F4F5F7"/>
          </a:solidFill>
          <a:ln/>
        </p:spPr>
      </p:sp>
      <p:sp>
        <p:nvSpPr>
          <p:cNvPr id="27" name="!!cardn"/>
          <p:cNvSpPr/>
          <p:nvPr/>
        </p:nvSpPr>
        <p:spPr>
          <a:xfrm>
            <a:off x="6976872" y="1764792"/>
            <a:ext cx="347472" cy="347472"/>
          </a:xfrm>
          <a:prstGeom prst="ellipse">
            <a:avLst/>
          </a:prstGeom>
          <a:solidFill>
            <a:srgbClr val="E07B00"/>
          </a:solidFill>
          <a:ln/>
        </p:spPr>
      </p:sp>
      <p:sp>
        <p:nvSpPr>
          <p:cNvPr id="28" name="!!cardnt"/>
          <p:cNvSpPr txBox="1"/>
          <p:nvPr/>
        </p:nvSpPr>
        <p:spPr>
          <a:xfrm>
            <a:off x="697687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9" name="!!cardh"/>
          <p:cNvSpPr txBox="1"/>
          <p:nvPr/>
        </p:nvSpPr>
        <p:spPr>
          <a:xfrm>
            <a:off x="7452360" y="1773936"/>
            <a:ext cx="4005072" cy="347472"/>
          </a:xfrm>
          <a:prstGeom prst="rect">
            <a:avLst/>
          </a:prstGeom>
          <a:noFill/>
          <a:ln/>
        </p:spPr>
        <p:txBody>
          <a:bodyPr wrap="square" lIns="0" tIns="0" rIns="0" bIns="0" rtlCol="0" anchor="ctr"/>
          <a:lstStyle/>
          <a:p>
            <a:pPr algn="l" indent="0" marL="0">
              <a:buNone/>
            </a:pPr>
            <a:r>
              <a:rPr lang="en-US" sz="1600" dirty="0">
                <a:solidFill>
                  <a:srgbClr val="E07B00"/>
                </a:solidFill>
                <a:latin typeface="Segoe UI Semibold" pitchFamily="34" charset="0"/>
                <a:ea typeface="Segoe UI Semibold" pitchFamily="34" charset="-122"/>
                <a:cs typeface="Segoe UI Semibold" pitchFamily="34" charset="-120"/>
              </a:rPr>
              <a:t>Old path</a:t>
            </a:r>
            <a:endParaRPr lang="en-US" sz="1600" dirty="0"/>
          </a:p>
        </p:txBody>
      </p:sp>
      <p:sp>
        <p:nvSpPr>
          <p:cNvPr id="30" name="!!cardb"/>
          <p:cNvSpPr txBox="1"/>
          <p:nvPr/>
        </p:nvSpPr>
        <p:spPr>
          <a:xfrm>
            <a:off x="6995160" y="2267712"/>
            <a:ext cx="4416552" cy="114300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Along the wire to the drain contact, 17 nm of silicon away. The nitride spacer (18 W/m·K) blocks the short way up.</a:t>
            </a:r>
            <a:endParaRPr lang="en-US" sz="1300" dirty="0"/>
          </a:p>
        </p:txBody>
      </p:sp>
      <p:sp>
        <p:nvSpPr>
          <p:cNvPr id="31" name="!!chip0"/>
          <p:cNvSpPr/>
          <p:nvPr/>
        </p:nvSpPr>
        <p:spPr>
          <a:xfrm>
            <a:off x="6766560" y="3794760"/>
            <a:ext cx="1563624" cy="685800"/>
          </a:xfrm>
          <a:prstGeom prst="roundRect">
            <a:avLst>
              <a:gd name="adj" fmla="val 8000"/>
            </a:avLst>
          </a:prstGeom>
          <a:solidFill>
            <a:srgbClr val="F4F5F7"/>
          </a:solidFill>
          <a:ln/>
        </p:spPr>
      </p:sp>
      <p:sp>
        <p:nvSpPr>
          <p:cNvPr id="32" name="!!chipk0"/>
          <p:cNvSpPr txBox="1"/>
          <p:nvPr/>
        </p:nvSpPr>
        <p:spPr>
          <a:xfrm>
            <a:off x="6876288" y="3867912"/>
            <a:ext cx="1344168"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spacer κ</a:t>
            </a:r>
            <a:endParaRPr lang="en-US" sz="1000" dirty="0"/>
          </a:p>
        </p:txBody>
      </p:sp>
      <p:sp>
        <p:nvSpPr>
          <p:cNvPr id="33" name="!!chipv0"/>
          <p:cNvSpPr txBox="1"/>
          <p:nvPr/>
        </p:nvSpPr>
        <p:spPr>
          <a:xfrm>
            <a:off x="6876288" y="4105656"/>
            <a:ext cx="1380744"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18 W/m·K</a:t>
            </a:r>
            <a:endParaRPr lang="en-US" sz="1500" dirty="0"/>
          </a:p>
        </p:txBody>
      </p:sp>
      <p:sp>
        <p:nvSpPr>
          <p:cNvPr id="34" name="!!chip1"/>
          <p:cNvSpPr/>
          <p:nvPr/>
        </p:nvSpPr>
        <p:spPr>
          <a:xfrm>
            <a:off x="8439912" y="3794760"/>
            <a:ext cx="1563624" cy="685800"/>
          </a:xfrm>
          <a:prstGeom prst="roundRect">
            <a:avLst>
              <a:gd name="adj" fmla="val 8000"/>
            </a:avLst>
          </a:prstGeom>
          <a:solidFill>
            <a:srgbClr val="F4F5F7"/>
          </a:solidFill>
          <a:ln/>
        </p:spPr>
      </p:sp>
      <p:sp>
        <p:nvSpPr>
          <p:cNvPr id="35" name="!!chipk1"/>
          <p:cNvSpPr txBox="1"/>
          <p:nvPr/>
        </p:nvSpPr>
        <p:spPr>
          <a:xfrm>
            <a:off x="8549640" y="3867912"/>
            <a:ext cx="1344168"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ΔT change</a:t>
            </a:r>
            <a:endParaRPr lang="en-US" sz="1000" dirty="0"/>
          </a:p>
        </p:txBody>
      </p:sp>
      <p:sp>
        <p:nvSpPr>
          <p:cNvPr id="36" name="!!chipv1"/>
          <p:cNvSpPr txBox="1"/>
          <p:nvPr/>
        </p:nvSpPr>
        <p:spPr>
          <a:xfrm>
            <a:off x="8549640" y="4105656"/>
            <a:ext cx="1380744"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a:t>
            </a:r>
            <a:endParaRPr lang="en-US" sz="1500" dirty="0"/>
          </a:p>
        </p:txBody>
      </p:sp>
      <p:sp>
        <p:nvSpPr>
          <p:cNvPr id="37" name="!!chip2"/>
          <p:cNvSpPr/>
          <p:nvPr/>
        </p:nvSpPr>
        <p:spPr>
          <a:xfrm>
            <a:off x="10113264" y="3794760"/>
            <a:ext cx="1563624" cy="685800"/>
          </a:xfrm>
          <a:prstGeom prst="roundRect">
            <a:avLst>
              <a:gd name="adj" fmla="val 8000"/>
            </a:avLst>
          </a:prstGeom>
          <a:solidFill>
            <a:srgbClr val="F4F5F7"/>
          </a:solidFill>
          <a:ln/>
        </p:spPr>
      </p:sp>
      <p:sp>
        <p:nvSpPr>
          <p:cNvPr id="38" name="!!chipk2"/>
          <p:cNvSpPr txBox="1"/>
          <p:nvPr/>
        </p:nvSpPr>
        <p:spPr>
          <a:xfrm>
            <a:off x="10222992" y="3867912"/>
            <a:ext cx="1344168"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I</a:t>
            </a:r>
            <a:pPr algn="l" indent="0" marL="0">
              <a:buNone/>
            </a:pPr>
            <a:r>
              <a:rPr lang="en-US" sz="1000" baseline="-40000" dirty="0">
                <a:solidFill>
                  <a:srgbClr val="5C5E62"/>
                </a:solidFill>
                <a:latin typeface="Segoe UI" pitchFamily="34" charset="0"/>
                <a:ea typeface="Segoe UI" pitchFamily="34" charset="-122"/>
                <a:cs typeface="Segoe UI" pitchFamily="34" charset="-120"/>
              </a:rPr>
              <a:t>on</a:t>
            </a:r>
            <a:pPr algn="l" indent="0" marL="0">
              <a:buNone/>
            </a:pPr>
            <a:r>
              <a:rPr lang="en-US" sz="1000" dirty="0">
                <a:solidFill>
                  <a:srgbClr val="5C5E62"/>
                </a:solidFill>
                <a:latin typeface="Segoe UI" pitchFamily="34" charset="0"/>
                <a:ea typeface="Segoe UI" pitchFamily="34" charset="-122"/>
                <a:cs typeface="Segoe UI" pitchFamily="34" charset="-120"/>
              </a:rPr>
              <a:t> change</a:t>
            </a:r>
            <a:endParaRPr lang="en-US" sz="1000" dirty="0"/>
          </a:p>
        </p:txBody>
      </p:sp>
      <p:sp>
        <p:nvSpPr>
          <p:cNvPr id="39" name="!!chipv2"/>
          <p:cNvSpPr txBox="1"/>
          <p:nvPr/>
        </p:nvSpPr>
        <p:spPr>
          <a:xfrm>
            <a:off x="10222992" y="4105656"/>
            <a:ext cx="1380744"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a:t>
            </a:r>
            <a:endParaRPr lang="en-US" sz="1500" dirty="0"/>
          </a:p>
        </p:txBody>
      </p:sp>
      <p:sp>
        <p:nvSpPr>
          <p:cNvPr id="40" name="!!knobLbl"/>
          <p:cNvSpPr txBox="1"/>
          <p:nvPr/>
        </p:nvSpPr>
        <p:spPr>
          <a:xfrm>
            <a:off x="6931152" y="4846320"/>
            <a:ext cx="466344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spacer thermal conductivity   </a:t>
            </a:r>
            <a:pPr algn="l" indent="0" marL="0">
              <a:buNone/>
            </a:pPr>
            <a:r>
              <a:rPr lang="en-US" sz="1200" dirty="0">
                <a:solidFill>
                  <a:srgbClr val="11998E"/>
                </a:solidFill>
                <a:latin typeface="Segoe UI Semibold" pitchFamily="34" charset="0"/>
                <a:ea typeface="Segoe UI Semibold" pitchFamily="34" charset="-122"/>
                <a:cs typeface="Segoe UI Semibold" pitchFamily="34" charset="-120"/>
              </a:rPr>
              <a:t>18 W/m·K</a:t>
            </a:r>
            <a:endParaRPr lang="en-US" sz="1200" dirty="0"/>
          </a:p>
        </p:txBody>
      </p:sp>
      <p:sp>
        <p:nvSpPr>
          <p:cNvPr id="41" name="!!knobTrack"/>
          <p:cNvSpPr/>
          <p:nvPr/>
        </p:nvSpPr>
        <p:spPr>
          <a:xfrm>
            <a:off x="6949440" y="5230368"/>
            <a:ext cx="4572000" cy="54864"/>
          </a:xfrm>
          <a:prstGeom prst="roundRect">
            <a:avLst>
              <a:gd name="adj" fmla="val 50000"/>
            </a:avLst>
          </a:prstGeom>
          <a:solidFill>
            <a:srgbClr val="E2E3E3"/>
          </a:solidFill>
          <a:ln/>
        </p:spPr>
      </p:sp>
      <p:sp>
        <p:nvSpPr>
          <p:cNvPr id="42" name="!!knobFill"/>
          <p:cNvSpPr/>
          <p:nvPr/>
        </p:nvSpPr>
        <p:spPr>
          <a:xfrm>
            <a:off x="6949440" y="5230368"/>
            <a:ext cx="609600" cy="54864"/>
          </a:xfrm>
          <a:prstGeom prst="roundRect">
            <a:avLst>
              <a:gd name="adj" fmla="val 50000"/>
            </a:avLst>
          </a:prstGeom>
          <a:solidFill>
            <a:srgbClr val="11998E"/>
          </a:solidFill>
          <a:ln/>
        </p:spPr>
      </p:sp>
      <p:sp>
        <p:nvSpPr>
          <p:cNvPr id="43" name="!!knobT0"/>
          <p:cNvSpPr txBox="1"/>
          <p:nvPr/>
        </p:nvSpPr>
        <p:spPr>
          <a:xfrm>
            <a:off x="71932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18</a:t>
            </a:r>
            <a:endParaRPr lang="en-US" sz="900" dirty="0"/>
          </a:p>
        </p:txBody>
      </p:sp>
      <p:sp>
        <p:nvSpPr>
          <p:cNvPr id="44" name="!!knobT1"/>
          <p:cNvSpPr txBox="1"/>
          <p:nvPr/>
        </p:nvSpPr>
        <p:spPr>
          <a:xfrm>
            <a:off x="88696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40</a:t>
            </a:r>
            <a:endParaRPr lang="en-US" sz="900" dirty="0"/>
          </a:p>
        </p:txBody>
      </p:sp>
      <p:sp>
        <p:nvSpPr>
          <p:cNvPr id="45" name="!!knobT2"/>
          <p:cNvSpPr txBox="1"/>
          <p:nvPr/>
        </p:nvSpPr>
        <p:spPr>
          <a:xfrm>
            <a:off x="103936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60</a:t>
            </a:r>
            <a:endParaRPr lang="en-US" sz="900" dirty="0"/>
          </a:p>
        </p:txBody>
      </p:sp>
      <p:sp>
        <p:nvSpPr>
          <p:cNvPr id="46" name="!!knobThumb"/>
          <p:cNvSpPr/>
          <p:nvPr/>
        </p:nvSpPr>
        <p:spPr>
          <a:xfrm>
            <a:off x="7458456" y="5157216"/>
            <a:ext cx="201168" cy="201168"/>
          </a:xfrm>
          <a:prstGeom prst="ellipse">
            <a:avLst/>
          </a:prstGeom>
          <a:solidFill>
            <a:srgbClr val="FFFFFF"/>
          </a:solidFill>
          <a:ln w="28575">
            <a:solidFill>
              <a:srgbClr val="11998E"/>
            </a:solidFill>
            <a:prstDash val="solid"/>
          </a:ln>
        </p:spPr>
      </p:sp>
      <p:sp>
        <p:nvSpPr>
          <p:cNvPr id="47" name="!!l1Code"/>
          <p:cNvSpPr txBox="1"/>
          <p:nvPr/>
        </p:nvSpPr>
        <p:spPr>
          <a:xfrm>
            <a:off x="731520" y="4800600"/>
            <a:ext cx="5486400" cy="274320"/>
          </a:xfrm>
          <a:prstGeom prst="rect">
            <a:avLst/>
          </a:prstGeom>
          <a:noFill/>
          <a:ln/>
        </p:spPr>
        <p:txBody>
          <a:bodyPr wrap="square" lIns="0" tIns="0" rIns="0" bIns="0" rtlCol="0" anchor="t"/>
          <a:lstStyle/>
          <a:p>
            <a:pPr algn="l" indent="0" marL="0">
              <a:buNone/>
            </a:pPr>
            <a:r>
              <a:rPr lang="en-US" sz="1200" dirty="0">
                <a:solidFill>
                  <a:srgbClr val="5C5E62"/>
                </a:solidFill>
                <a:latin typeface="Courier New" pitchFamily="34" charset="0"/>
                <a:ea typeface="Courier New" pitchFamily="34" charset="-122"/>
                <a:cs typeface="Courier New" pitchFamily="34" charset="-120"/>
              </a:rPr>
              <a:t>material nitride tc.const = 0.18 → 0.6 W/cm·K</a:t>
            </a:r>
            <a:endParaRPr lang="en-US" sz="1200" dirty="0"/>
          </a:p>
        </p:txBody>
      </p:sp>
      <p:sp>
        <p:nvSpPr>
          <p:cNvPr id="48"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 hot spot is at the drain end; its heat has a long way out.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138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3 – Lever 1: a high-κ spacer</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The spacer touches the gate metal, a heat contact at 300 K, only 5 nm from the channel</a:t>
            </a:r>
            <a:endParaRPr lang="en-US" sz="1600" dirty="0"/>
          </a:p>
        </p:txBody>
      </p:sp>
      <p:sp>
        <p:nvSpPr>
          <p:cNvPr id="4" name="!!sdot0"/>
          <p:cNvSpPr/>
          <p:nvPr/>
        </p:nvSpPr>
        <p:spPr>
          <a:xfrm>
            <a:off x="11443716" y="525780"/>
            <a:ext cx="82296" cy="82296"/>
          </a:xfrm>
          <a:prstGeom prst="ellipse">
            <a:avLst/>
          </a:prstGeom>
          <a:solidFill>
            <a:srgbClr val="171A20"/>
          </a:solidFill>
          <a:ln/>
        </p:spPr>
      </p:sp>
      <p:sp>
        <p:nvSpPr>
          <p:cNvPr id="5" name="!!sdot1"/>
          <p:cNvSpPr/>
          <p:nvPr/>
        </p:nvSpPr>
        <p:spPr>
          <a:xfrm>
            <a:off x="11599164" y="525780"/>
            <a:ext cx="82296" cy="82296"/>
          </a:xfrm>
          <a:prstGeom prst="ellipse">
            <a:avLst/>
          </a:prstGeom>
          <a:solidFill>
            <a:srgbClr val="171A20"/>
          </a:solidFill>
          <a:ln/>
        </p:spPr>
      </p:sp>
      <p:sp>
        <p:nvSpPr>
          <p:cNvPr id="6" name="!!l1W"/>
          <p:cNvSpPr/>
          <p:nvPr/>
        </p:nvSpPr>
        <p:spPr>
          <a:xfrm>
            <a:off x="2363724" y="2286000"/>
            <a:ext cx="2304288" cy="1828800"/>
          </a:xfrm>
          <a:prstGeom prst="rect">
            <a:avLst/>
          </a:prstGeom>
          <a:solidFill>
            <a:srgbClr val="9AA0AA"/>
          </a:solidFill>
          <a:ln/>
        </p:spPr>
      </p:sp>
      <p:sp>
        <p:nvSpPr>
          <p:cNvPr id="7" name="!!l1N1"/>
          <p:cNvSpPr/>
          <p:nvPr/>
        </p:nvSpPr>
        <p:spPr>
          <a:xfrm>
            <a:off x="2363724" y="2286000"/>
            <a:ext cx="480060" cy="1828800"/>
          </a:xfrm>
          <a:prstGeom prst="rect">
            <a:avLst/>
          </a:prstGeom>
          <a:solidFill>
            <a:srgbClr val="11998E"/>
          </a:solidFill>
          <a:ln/>
        </p:spPr>
      </p:sp>
      <p:sp>
        <p:nvSpPr>
          <p:cNvPr id="8" name="!!l1N2"/>
          <p:cNvSpPr/>
          <p:nvPr/>
        </p:nvSpPr>
        <p:spPr>
          <a:xfrm>
            <a:off x="4187952" y="2286000"/>
            <a:ext cx="480060" cy="1828800"/>
          </a:xfrm>
          <a:prstGeom prst="rect">
            <a:avLst/>
          </a:prstGeom>
          <a:solidFill>
            <a:srgbClr val="11998E"/>
          </a:solidFill>
          <a:ln/>
        </p:spPr>
      </p:sp>
      <p:sp>
        <p:nvSpPr>
          <p:cNvPr id="9" name="!!l1S"/>
          <p:cNvSpPr/>
          <p:nvPr/>
        </p:nvSpPr>
        <p:spPr>
          <a:xfrm>
            <a:off x="731520" y="2926080"/>
            <a:ext cx="5568696" cy="548640"/>
          </a:xfrm>
          <a:prstGeom prst="rect">
            <a:avLst/>
          </a:prstGeom>
          <a:solidFill>
            <a:srgbClr val="F6E7B8"/>
          </a:solidFill>
          <a:ln/>
        </p:spPr>
      </p:sp>
      <p:sp>
        <p:nvSpPr>
          <p:cNvPr id="10" name="!!l1SD1"/>
          <p:cNvSpPr/>
          <p:nvPr/>
        </p:nvSpPr>
        <p:spPr>
          <a:xfrm>
            <a:off x="731520" y="2926080"/>
            <a:ext cx="1632204" cy="548640"/>
          </a:xfrm>
          <a:prstGeom prst="rect">
            <a:avLst/>
          </a:prstGeom>
          <a:solidFill>
            <a:srgbClr val="7D9BE6"/>
          </a:solidFill>
          <a:ln/>
        </p:spPr>
      </p:sp>
      <p:sp>
        <p:nvSpPr>
          <p:cNvPr id="11" name="!!l1SD2"/>
          <p:cNvSpPr/>
          <p:nvPr/>
        </p:nvSpPr>
        <p:spPr>
          <a:xfrm>
            <a:off x="4668012" y="2926080"/>
            <a:ext cx="1632204" cy="548640"/>
          </a:xfrm>
          <a:prstGeom prst="rect">
            <a:avLst/>
          </a:prstGeom>
          <a:solidFill>
            <a:srgbClr val="7D9BE6"/>
          </a:solidFill>
          <a:ln/>
        </p:spPr>
      </p:sp>
      <p:sp>
        <p:nvSpPr>
          <p:cNvPr id="12" name="!!l1Hot"/>
          <p:cNvSpPr/>
          <p:nvPr/>
        </p:nvSpPr>
        <p:spPr>
          <a:xfrm>
            <a:off x="3803904" y="3017520"/>
            <a:ext cx="585216" cy="365760"/>
          </a:xfrm>
          <a:prstGeom prst="ellipse">
            <a:avLst/>
          </a:prstGeom>
          <a:solidFill>
            <a:srgbClr val="F07A3A">
              <a:alpha val="90000"/>
            </a:srgbClr>
          </a:solidFill>
          <a:ln/>
        </p:spPr>
      </p:sp>
      <p:sp>
        <p:nvSpPr>
          <p:cNvPr id="13" name="!!l1c0"/>
          <p:cNvSpPr/>
          <p:nvPr/>
        </p:nvSpPr>
        <p:spPr>
          <a:xfrm>
            <a:off x="731520" y="1965960"/>
            <a:ext cx="1632204" cy="201168"/>
          </a:xfrm>
          <a:prstGeom prst="roundRect">
            <a:avLst>
              <a:gd name="adj" fmla="val 13636"/>
            </a:avLst>
          </a:prstGeom>
          <a:solidFill>
            <a:srgbClr val="171A20"/>
          </a:solidFill>
          <a:ln/>
        </p:spPr>
      </p:sp>
      <p:sp>
        <p:nvSpPr>
          <p:cNvPr id="14" name="!!l1ct0"/>
          <p:cNvSpPr txBox="1"/>
          <p:nvPr/>
        </p:nvSpPr>
        <p:spPr>
          <a:xfrm>
            <a:off x="548640" y="1965960"/>
            <a:ext cx="1997964" cy="201168"/>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source · 300 K</a:t>
            </a:r>
            <a:endParaRPr lang="en-US" sz="900" dirty="0"/>
          </a:p>
        </p:txBody>
      </p:sp>
      <p:sp>
        <p:nvSpPr>
          <p:cNvPr id="15" name="!!l1c1"/>
          <p:cNvSpPr/>
          <p:nvPr/>
        </p:nvSpPr>
        <p:spPr>
          <a:xfrm>
            <a:off x="2363724" y="1965960"/>
            <a:ext cx="2304288" cy="201168"/>
          </a:xfrm>
          <a:prstGeom prst="roundRect">
            <a:avLst>
              <a:gd name="adj" fmla="val 13636"/>
            </a:avLst>
          </a:prstGeom>
          <a:solidFill>
            <a:srgbClr val="171A20"/>
          </a:solidFill>
          <a:ln/>
        </p:spPr>
      </p:sp>
      <p:sp>
        <p:nvSpPr>
          <p:cNvPr id="16" name="!!l1ct1"/>
          <p:cNvSpPr txBox="1"/>
          <p:nvPr/>
        </p:nvSpPr>
        <p:spPr>
          <a:xfrm>
            <a:off x="2180844" y="1965960"/>
            <a:ext cx="2670048" cy="201168"/>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gate · 300 K</a:t>
            </a:r>
            <a:endParaRPr lang="en-US" sz="900" dirty="0"/>
          </a:p>
        </p:txBody>
      </p:sp>
      <p:sp>
        <p:nvSpPr>
          <p:cNvPr id="17" name="!!l1c2"/>
          <p:cNvSpPr/>
          <p:nvPr/>
        </p:nvSpPr>
        <p:spPr>
          <a:xfrm>
            <a:off x="4668012" y="1965960"/>
            <a:ext cx="1632204" cy="201168"/>
          </a:xfrm>
          <a:prstGeom prst="roundRect">
            <a:avLst>
              <a:gd name="adj" fmla="val 13636"/>
            </a:avLst>
          </a:prstGeom>
          <a:solidFill>
            <a:srgbClr val="171A20"/>
          </a:solidFill>
          <a:ln/>
        </p:spPr>
      </p:sp>
      <p:sp>
        <p:nvSpPr>
          <p:cNvPr id="18" name="!!l1ct2"/>
          <p:cNvSpPr txBox="1"/>
          <p:nvPr/>
        </p:nvSpPr>
        <p:spPr>
          <a:xfrm>
            <a:off x="4485132" y="1965960"/>
            <a:ext cx="1997964" cy="201168"/>
          </a:xfrm>
          <a:prstGeom prst="rect">
            <a:avLst/>
          </a:prstGeom>
          <a:noFill/>
          <a:ln/>
        </p:spPr>
        <p:txBody>
          <a:bodyPr wrap="square" lIns="0" tIns="0" rIns="0" bIns="0" rtlCol="0" anchor="ctr"/>
          <a:lstStyle/>
          <a:p>
            <a:pPr algn="ctr" indent="0" marL="0">
              <a:buNone/>
            </a:pPr>
            <a:r>
              <a:rPr lang="en-US" sz="900" dirty="0">
                <a:solidFill>
                  <a:srgbClr val="FFFFFF"/>
                </a:solidFill>
                <a:latin typeface="Segoe UI Semibold" pitchFamily="34" charset="0"/>
                <a:ea typeface="Segoe UI Semibold" pitchFamily="34" charset="-122"/>
                <a:cs typeface="Segoe UI Semibold" pitchFamily="34" charset="-120"/>
              </a:rPr>
              <a:t>drain · 300 K</a:t>
            </a:r>
            <a:endParaRPr lang="en-US" sz="900" dirty="0"/>
          </a:p>
        </p:txBody>
      </p:sp>
      <p:sp>
        <p:nvSpPr>
          <p:cNvPr id="19" name="!!l1Old"/>
          <p:cNvSpPr/>
          <p:nvPr/>
        </p:nvSpPr>
        <p:spPr>
          <a:xfrm>
            <a:off x="4142232" y="3291840"/>
            <a:ext cx="1988820" cy="91"/>
          </a:xfrm>
          <a:prstGeom prst="line">
            <a:avLst/>
          </a:prstGeom>
          <a:noFill/>
          <a:ln w="15875">
            <a:solidFill>
              <a:srgbClr val="E07B00"/>
            </a:solidFill>
            <a:prstDash val="dash"/>
            <a:tailEnd type="triangle"/>
          </a:ln>
        </p:spPr>
      </p:sp>
      <p:sp>
        <p:nvSpPr>
          <p:cNvPr id="20" name="!!l1New"/>
          <p:cNvSpPr/>
          <p:nvPr/>
        </p:nvSpPr>
        <p:spPr>
          <a:xfrm flipH="1">
            <a:off x="4416552" y="2194560"/>
            <a:ext cx="91" cy="822960"/>
          </a:xfrm>
          <a:prstGeom prst="line">
            <a:avLst/>
          </a:prstGeom>
          <a:noFill/>
          <a:ln w="44450">
            <a:solidFill>
              <a:srgbClr val="11998E"/>
            </a:solidFill>
            <a:prstDash val="solid"/>
            <a:tailEnd type="triangle"/>
          </a:ln>
        </p:spPr>
      </p:sp>
      <p:sp>
        <p:nvSpPr>
          <p:cNvPr id="21" name="!!l1d0"/>
          <p:cNvSpPr txBox="1"/>
          <p:nvPr/>
        </p:nvSpPr>
        <p:spPr>
          <a:xfrm>
            <a:off x="731520" y="4251960"/>
            <a:ext cx="1632204"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17 nm</a:t>
            </a:r>
            <a:endParaRPr lang="en-US" sz="1000" dirty="0"/>
          </a:p>
        </p:txBody>
      </p:sp>
      <p:sp>
        <p:nvSpPr>
          <p:cNvPr id="22" name="!!l1d1"/>
          <p:cNvSpPr txBox="1"/>
          <p:nvPr/>
        </p:nvSpPr>
        <p:spPr>
          <a:xfrm>
            <a:off x="2363724" y="4251960"/>
            <a:ext cx="4800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5 nm</a:t>
            </a:r>
            <a:endParaRPr lang="en-US" sz="1000" dirty="0"/>
          </a:p>
        </p:txBody>
      </p:sp>
      <p:sp>
        <p:nvSpPr>
          <p:cNvPr id="23" name="!!l1d2"/>
          <p:cNvSpPr txBox="1"/>
          <p:nvPr/>
        </p:nvSpPr>
        <p:spPr>
          <a:xfrm>
            <a:off x="2843784" y="4251960"/>
            <a:ext cx="1344168"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14 nm</a:t>
            </a:r>
            <a:endParaRPr lang="en-US" sz="1000" dirty="0"/>
          </a:p>
        </p:txBody>
      </p:sp>
      <p:sp>
        <p:nvSpPr>
          <p:cNvPr id="24" name="!!l1d3"/>
          <p:cNvSpPr txBox="1"/>
          <p:nvPr/>
        </p:nvSpPr>
        <p:spPr>
          <a:xfrm>
            <a:off x="4187952" y="4251960"/>
            <a:ext cx="480060"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5 nm</a:t>
            </a:r>
            <a:endParaRPr lang="en-US" sz="1000" dirty="0"/>
          </a:p>
        </p:txBody>
      </p:sp>
      <p:sp>
        <p:nvSpPr>
          <p:cNvPr id="25" name="!!l1d4"/>
          <p:cNvSpPr txBox="1"/>
          <p:nvPr/>
        </p:nvSpPr>
        <p:spPr>
          <a:xfrm>
            <a:off x="4668012" y="4251960"/>
            <a:ext cx="1632204" cy="219456"/>
          </a:xfrm>
          <a:prstGeom prst="rect">
            <a:avLst/>
          </a:prstGeom>
          <a:noFill/>
          <a:ln/>
        </p:spPr>
        <p:txBody>
          <a:bodyPr wrap="square" lIns="0" tIns="0" rIns="0" bIns="0" rtlCol="0" anchor="t"/>
          <a:lstStyle/>
          <a:p>
            <a:pPr algn="ctr" indent="0" marL="0">
              <a:buNone/>
            </a:pPr>
            <a:r>
              <a:rPr lang="en-US" sz="1000" dirty="0">
                <a:solidFill>
                  <a:srgbClr val="5C5E62"/>
                </a:solidFill>
                <a:latin typeface="Segoe UI" pitchFamily="34" charset="0"/>
                <a:ea typeface="Segoe UI" pitchFamily="34" charset="-122"/>
                <a:cs typeface="Segoe UI" pitchFamily="34" charset="-120"/>
              </a:rPr>
              <a:t>17 nm</a:t>
            </a:r>
            <a:endParaRPr lang="en-US" sz="1000" dirty="0"/>
          </a:p>
        </p:txBody>
      </p:sp>
      <p:sp>
        <p:nvSpPr>
          <p:cNvPr id="26" name="!!l1SpL"/>
          <p:cNvSpPr txBox="1"/>
          <p:nvPr/>
        </p:nvSpPr>
        <p:spPr>
          <a:xfrm>
            <a:off x="3639312" y="4526280"/>
            <a:ext cx="1737360" cy="228600"/>
          </a:xfrm>
          <a:prstGeom prst="rect">
            <a:avLst/>
          </a:prstGeom>
          <a:noFill/>
          <a:ln/>
        </p:spPr>
        <p:txBody>
          <a:bodyPr wrap="square" lIns="0" tIns="0" rIns="0" bIns="0" rtlCol="0" anchor="t"/>
          <a:lstStyle/>
          <a:p>
            <a:pPr algn="ctr" indent="0" marL="0">
              <a:buNone/>
            </a:pPr>
            <a:r>
              <a:rPr lang="en-US" sz="1000" dirty="0">
                <a:solidFill>
                  <a:srgbClr val="11998E"/>
                </a:solidFill>
                <a:latin typeface="Segoe UI Semibold" pitchFamily="34" charset="0"/>
                <a:ea typeface="Segoe UI Semibold" pitchFamily="34" charset="-122"/>
                <a:cs typeface="Segoe UI Semibold" pitchFamily="34" charset="-120"/>
              </a:rPr>
              <a:t>high-κ spacer (60 W/m·K)</a:t>
            </a:r>
            <a:endParaRPr lang="en-US" sz="1000" dirty="0"/>
          </a:p>
        </p:txBody>
      </p:sp>
      <p:sp>
        <p:nvSpPr>
          <p:cNvPr id="27" name="!!card"/>
          <p:cNvSpPr/>
          <p:nvPr/>
        </p:nvSpPr>
        <p:spPr>
          <a:xfrm>
            <a:off x="6766560" y="1554480"/>
            <a:ext cx="4873752" cy="2011680"/>
          </a:xfrm>
          <a:prstGeom prst="roundRect">
            <a:avLst>
              <a:gd name="adj" fmla="val 3636"/>
            </a:avLst>
          </a:prstGeom>
          <a:solidFill>
            <a:srgbClr val="F4F5F7"/>
          </a:solidFill>
          <a:ln/>
        </p:spPr>
      </p:sp>
      <p:sp>
        <p:nvSpPr>
          <p:cNvPr id="28" name="!!cardn"/>
          <p:cNvSpPr/>
          <p:nvPr/>
        </p:nvSpPr>
        <p:spPr>
          <a:xfrm>
            <a:off x="6976872" y="1764792"/>
            <a:ext cx="347472" cy="347472"/>
          </a:xfrm>
          <a:prstGeom prst="ellipse">
            <a:avLst/>
          </a:prstGeom>
          <a:solidFill>
            <a:srgbClr val="11998E"/>
          </a:solidFill>
          <a:ln/>
        </p:spPr>
      </p:sp>
      <p:sp>
        <p:nvSpPr>
          <p:cNvPr id="29" name="!!cardnt"/>
          <p:cNvSpPr txBox="1"/>
          <p:nvPr/>
        </p:nvSpPr>
        <p:spPr>
          <a:xfrm>
            <a:off x="6976872" y="1764792"/>
            <a:ext cx="347472" cy="347472"/>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30" name="!!cardh"/>
          <p:cNvSpPr txBox="1"/>
          <p:nvPr/>
        </p:nvSpPr>
        <p:spPr>
          <a:xfrm>
            <a:off x="7452360" y="1773936"/>
            <a:ext cx="4005072" cy="347472"/>
          </a:xfrm>
          <a:prstGeom prst="rect">
            <a:avLst/>
          </a:prstGeom>
          <a:noFill/>
          <a:ln/>
        </p:spPr>
        <p:txBody>
          <a:bodyPr wrap="square" lIns="0" tIns="0" rIns="0" bIns="0" rtlCol="0" anchor="ctr"/>
          <a:lstStyle/>
          <a:p>
            <a:pPr algn="l" indent="0" marL="0">
              <a:buNone/>
            </a:pPr>
            <a:r>
              <a:rPr lang="en-US" sz="1600" dirty="0">
                <a:solidFill>
                  <a:srgbClr val="11998E"/>
                </a:solidFill>
                <a:latin typeface="Segoe UI Semibold" pitchFamily="34" charset="0"/>
                <a:ea typeface="Segoe UI Semibold" pitchFamily="34" charset="-122"/>
                <a:cs typeface="Segoe UI Semibold" pitchFamily="34" charset="-120"/>
              </a:rPr>
              <a:t>New path</a:t>
            </a:r>
            <a:endParaRPr lang="en-US" sz="1600" dirty="0"/>
          </a:p>
        </p:txBody>
      </p:sp>
      <p:sp>
        <p:nvSpPr>
          <p:cNvPr id="31" name="!!cardb"/>
          <p:cNvSpPr txBox="1"/>
          <p:nvPr/>
        </p:nvSpPr>
        <p:spPr>
          <a:xfrm>
            <a:off x="6995160" y="2267712"/>
            <a:ext cx="4416552" cy="1143000"/>
          </a:xfrm>
          <a:prstGeom prst="rect">
            <a:avLst/>
          </a:prstGeom>
          <a:noFill/>
          <a:ln/>
        </p:spPr>
        <p:txBody>
          <a:bodyPr wrap="square" lIns="0" tIns="0" rIns="0" bIns="0" rtlCol="0" anchor="t"/>
          <a:lstStyle/>
          <a:p>
            <a:pPr algn="l" indent="0" marL="0">
              <a:spcAft>
                <a:spcPts val="600"/>
              </a:spcAft>
              <a:buNone/>
            </a:pPr>
            <a:r>
              <a:rPr lang="en-US" sz="1300" dirty="0">
                <a:solidFill>
                  <a:srgbClr val="5C5E62"/>
                </a:solidFill>
                <a:latin typeface="Segoe UI" pitchFamily="34" charset="0"/>
                <a:ea typeface="Segoe UI" pitchFamily="34" charset="-122"/>
                <a:cs typeface="Segoe UI" pitchFamily="34" charset="-120"/>
              </a:rPr>
              <a:t>Up through the 5 nm spacer into the gate metal, a heat contact at 300 K. The current does not change: the spacer is outside the channel.</a:t>
            </a:r>
            <a:endParaRPr lang="en-US" sz="1300" dirty="0"/>
          </a:p>
        </p:txBody>
      </p:sp>
      <p:sp>
        <p:nvSpPr>
          <p:cNvPr id="32" name="!!chip0"/>
          <p:cNvSpPr/>
          <p:nvPr/>
        </p:nvSpPr>
        <p:spPr>
          <a:xfrm>
            <a:off x="6766560" y="3794760"/>
            <a:ext cx="1563624" cy="685800"/>
          </a:xfrm>
          <a:prstGeom prst="roundRect">
            <a:avLst>
              <a:gd name="adj" fmla="val 8000"/>
            </a:avLst>
          </a:prstGeom>
          <a:solidFill>
            <a:srgbClr val="F4F5F7"/>
          </a:solidFill>
          <a:ln/>
        </p:spPr>
      </p:sp>
      <p:sp>
        <p:nvSpPr>
          <p:cNvPr id="33" name="!!chipk0"/>
          <p:cNvSpPr txBox="1"/>
          <p:nvPr/>
        </p:nvSpPr>
        <p:spPr>
          <a:xfrm>
            <a:off x="6876288" y="3867912"/>
            <a:ext cx="1344168"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spacer κ</a:t>
            </a:r>
            <a:endParaRPr lang="en-US" sz="1000" dirty="0"/>
          </a:p>
        </p:txBody>
      </p:sp>
      <p:sp>
        <p:nvSpPr>
          <p:cNvPr id="34" name="!!chipv0"/>
          <p:cNvSpPr txBox="1"/>
          <p:nvPr/>
        </p:nvSpPr>
        <p:spPr>
          <a:xfrm>
            <a:off x="6876288" y="4105656"/>
            <a:ext cx="1380744"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60 W/m·K</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35" name="!!chip1"/>
          <p:cNvSpPr/>
          <p:nvPr/>
        </p:nvSpPr>
        <p:spPr>
          <a:xfrm>
            <a:off x="8439912" y="3794760"/>
            <a:ext cx="1563624" cy="685800"/>
          </a:xfrm>
          <a:prstGeom prst="roundRect">
            <a:avLst>
              <a:gd name="adj" fmla="val 8000"/>
            </a:avLst>
          </a:prstGeom>
          <a:solidFill>
            <a:srgbClr val="F4F5F7"/>
          </a:solidFill>
          <a:ln/>
        </p:spPr>
      </p:sp>
      <p:sp>
        <p:nvSpPr>
          <p:cNvPr id="36" name="!!chipk1"/>
          <p:cNvSpPr txBox="1"/>
          <p:nvPr/>
        </p:nvSpPr>
        <p:spPr>
          <a:xfrm>
            <a:off x="8549640" y="3867912"/>
            <a:ext cx="1344168"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ΔT change</a:t>
            </a:r>
            <a:endParaRPr lang="en-US" sz="1000" dirty="0"/>
          </a:p>
        </p:txBody>
      </p:sp>
      <p:sp>
        <p:nvSpPr>
          <p:cNvPr id="37" name="!!chipv1"/>
          <p:cNvSpPr txBox="1"/>
          <p:nvPr/>
        </p:nvSpPr>
        <p:spPr>
          <a:xfrm>
            <a:off x="8549640" y="4105656"/>
            <a:ext cx="1380744"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−10.6 %</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38" name="!!chip2"/>
          <p:cNvSpPr/>
          <p:nvPr/>
        </p:nvSpPr>
        <p:spPr>
          <a:xfrm>
            <a:off x="10113264" y="3794760"/>
            <a:ext cx="1563624" cy="685800"/>
          </a:xfrm>
          <a:prstGeom prst="roundRect">
            <a:avLst>
              <a:gd name="adj" fmla="val 8000"/>
            </a:avLst>
          </a:prstGeom>
          <a:solidFill>
            <a:srgbClr val="F4F5F7"/>
          </a:solidFill>
          <a:ln/>
        </p:spPr>
      </p:sp>
      <p:sp>
        <p:nvSpPr>
          <p:cNvPr id="39" name="!!chipk2"/>
          <p:cNvSpPr txBox="1"/>
          <p:nvPr/>
        </p:nvSpPr>
        <p:spPr>
          <a:xfrm>
            <a:off x="10222992" y="3867912"/>
            <a:ext cx="1344168"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I</a:t>
            </a:r>
            <a:pPr algn="l" indent="0" marL="0">
              <a:buNone/>
            </a:pPr>
            <a:r>
              <a:rPr lang="en-US" sz="1000" baseline="-40000" dirty="0">
                <a:solidFill>
                  <a:srgbClr val="5C5E62"/>
                </a:solidFill>
                <a:latin typeface="Segoe UI" pitchFamily="34" charset="0"/>
                <a:ea typeface="Segoe UI" pitchFamily="34" charset="-122"/>
                <a:cs typeface="Segoe UI" pitchFamily="34" charset="-120"/>
              </a:rPr>
              <a:t>on</a:t>
            </a:r>
            <a:pPr algn="l" indent="0" marL="0">
              <a:buNone/>
            </a:pPr>
            <a:r>
              <a:rPr lang="en-US" sz="1000" dirty="0">
                <a:solidFill>
                  <a:srgbClr val="5C5E62"/>
                </a:solidFill>
                <a:latin typeface="Segoe UI" pitchFamily="34" charset="0"/>
                <a:ea typeface="Segoe UI" pitchFamily="34" charset="-122"/>
                <a:cs typeface="Segoe UI" pitchFamily="34" charset="-120"/>
              </a:rPr>
              <a:t> change</a:t>
            </a:r>
            <a:endParaRPr lang="en-US" sz="1000" dirty="0"/>
          </a:p>
        </p:txBody>
      </p:sp>
      <p:sp>
        <p:nvSpPr>
          <p:cNvPr id="40" name="!!chipv2"/>
          <p:cNvSpPr txBox="1"/>
          <p:nvPr/>
        </p:nvSpPr>
        <p:spPr>
          <a:xfrm>
            <a:off x="10222992" y="4105656"/>
            <a:ext cx="1380744"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−0.1 %</a:t>
            </a:r>
            <a:endParaRPr lang="en-US" sz="1500" dirty="0"/>
          </a:p>
        </p:txBody>
      </p:sp>
      <p:sp>
        <p:nvSpPr>
          <p:cNvPr id="41" name="!!knobLbl"/>
          <p:cNvSpPr txBox="1"/>
          <p:nvPr/>
        </p:nvSpPr>
        <p:spPr>
          <a:xfrm>
            <a:off x="6931152" y="4846320"/>
            <a:ext cx="466344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spacer thermal conductivity   </a:t>
            </a:r>
            <a:pPr algn="l" indent="0" marL="0">
              <a:buNone/>
            </a:pPr>
            <a:r>
              <a:rPr lang="en-US" sz="1200" dirty="0">
                <a:solidFill>
                  <a:srgbClr val="11998E"/>
                </a:solidFill>
                <a:latin typeface="Segoe UI Semibold" pitchFamily="34" charset="0"/>
                <a:ea typeface="Segoe UI Semibold" pitchFamily="34" charset="-122"/>
                <a:cs typeface="Segoe UI Semibold" pitchFamily="34" charset="-120"/>
              </a:rPr>
              <a:t>60 W/m·K</a:t>
            </a:r>
            <a:endParaRPr lang="en-US" sz="1200" dirty="0"/>
          </a:p>
        </p:txBody>
      </p:sp>
      <p:sp>
        <p:nvSpPr>
          <p:cNvPr id="42" name="!!knobTrack"/>
          <p:cNvSpPr/>
          <p:nvPr/>
        </p:nvSpPr>
        <p:spPr>
          <a:xfrm>
            <a:off x="6949440" y="5230368"/>
            <a:ext cx="4572000" cy="54864"/>
          </a:xfrm>
          <a:prstGeom prst="roundRect">
            <a:avLst>
              <a:gd name="adj" fmla="val 50000"/>
            </a:avLst>
          </a:prstGeom>
          <a:solidFill>
            <a:srgbClr val="E2E3E3"/>
          </a:solidFill>
          <a:ln/>
        </p:spPr>
      </p:sp>
      <p:sp>
        <p:nvSpPr>
          <p:cNvPr id="43" name="!!knobFill"/>
          <p:cNvSpPr/>
          <p:nvPr/>
        </p:nvSpPr>
        <p:spPr>
          <a:xfrm>
            <a:off x="6949440" y="5230368"/>
            <a:ext cx="3810000" cy="54864"/>
          </a:xfrm>
          <a:prstGeom prst="roundRect">
            <a:avLst>
              <a:gd name="adj" fmla="val 50000"/>
            </a:avLst>
          </a:prstGeom>
          <a:solidFill>
            <a:srgbClr val="11998E"/>
          </a:solidFill>
          <a:ln/>
        </p:spPr>
      </p:sp>
      <p:sp>
        <p:nvSpPr>
          <p:cNvPr id="44" name="!!knobT0"/>
          <p:cNvSpPr txBox="1"/>
          <p:nvPr/>
        </p:nvSpPr>
        <p:spPr>
          <a:xfrm>
            <a:off x="71932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18</a:t>
            </a:r>
            <a:endParaRPr lang="en-US" sz="900" dirty="0"/>
          </a:p>
        </p:txBody>
      </p:sp>
      <p:sp>
        <p:nvSpPr>
          <p:cNvPr id="45" name="!!knobT1"/>
          <p:cNvSpPr txBox="1"/>
          <p:nvPr/>
        </p:nvSpPr>
        <p:spPr>
          <a:xfrm>
            <a:off x="88696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40</a:t>
            </a:r>
            <a:endParaRPr lang="en-US" sz="900" dirty="0"/>
          </a:p>
        </p:txBody>
      </p:sp>
      <p:sp>
        <p:nvSpPr>
          <p:cNvPr id="46" name="!!knobT2"/>
          <p:cNvSpPr txBox="1"/>
          <p:nvPr/>
        </p:nvSpPr>
        <p:spPr>
          <a:xfrm>
            <a:off x="10393680" y="536752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60</a:t>
            </a:r>
            <a:endParaRPr lang="en-US" sz="900" dirty="0"/>
          </a:p>
        </p:txBody>
      </p:sp>
      <p:sp>
        <p:nvSpPr>
          <p:cNvPr id="47" name="!!knobThumb"/>
          <p:cNvSpPr/>
          <p:nvPr/>
        </p:nvSpPr>
        <p:spPr>
          <a:xfrm>
            <a:off x="10658856" y="5157216"/>
            <a:ext cx="201168" cy="201168"/>
          </a:xfrm>
          <a:prstGeom prst="ellipse">
            <a:avLst/>
          </a:prstGeom>
          <a:solidFill>
            <a:srgbClr val="FFFFFF"/>
          </a:solidFill>
          <a:ln w="28575">
            <a:solidFill>
              <a:srgbClr val="11998E"/>
            </a:solidFill>
            <a:prstDash val="solid"/>
          </a:ln>
        </p:spPr>
      </p:sp>
      <p:sp>
        <p:nvSpPr>
          <p:cNvPr id="48" name="!!l1Code"/>
          <p:cNvSpPr txBox="1"/>
          <p:nvPr/>
        </p:nvSpPr>
        <p:spPr>
          <a:xfrm>
            <a:off x="731520" y="4800600"/>
            <a:ext cx="5486400" cy="274320"/>
          </a:xfrm>
          <a:prstGeom prst="rect">
            <a:avLst/>
          </a:prstGeom>
          <a:noFill/>
          <a:ln/>
        </p:spPr>
        <p:txBody>
          <a:bodyPr wrap="square" lIns="0" tIns="0" rIns="0" bIns="0" rtlCol="0" anchor="t"/>
          <a:lstStyle/>
          <a:p>
            <a:pPr algn="l" indent="0" marL="0">
              <a:buNone/>
            </a:pPr>
            <a:r>
              <a:rPr lang="en-US" sz="1200" dirty="0">
                <a:solidFill>
                  <a:srgbClr val="5C5E62"/>
                </a:solidFill>
                <a:latin typeface="Courier New" pitchFamily="34" charset="0"/>
                <a:ea typeface="Courier New" pitchFamily="34" charset="-122"/>
                <a:cs typeface="Courier New" pitchFamily="34" charset="-120"/>
              </a:rPr>
              <a:t>material nitride tc.const = 0.18 → 0.6 W/cm·K</a:t>
            </a:r>
            <a:endParaRPr lang="en-US" sz="1200" dirty="0"/>
          </a:p>
        </p:txBody>
      </p:sp>
      <p:sp>
        <p:nvSpPr>
          <p:cNvPr id="4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Spacer κ 18 → 60 W/m·K: R</a:t>
            </a:r>
            <a:pPr algn="ctr" indent="0" marL="0">
              <a:buNone/>
            </a:pPr>
            <a:r>
              <a:rPr lang="en-US" sz="1600" baseline="-40000" dirty="0">
                <a:solidFill>
                  <a:srgbClr val="171A20"/>
                </a:solidFill>
                <a:latin typeface="Segoe UI" pitchFamily="34" charset="0"/>
                <a:ea typeface="Segoe UI" pitchFamily="34" charset="-122"/>
                <a:cs typeface="Segoe UI" pitchFamily="34" charset="-120"/>
              </a:rPr>
              <a:t>th</a:t>
            </a:r>
            <a:pPr algn="ctr" indent="0" marL="0">
              <a:buNone/>
            </a:pPr>
            <a:r>
              <a:rPr lang="en-US" sz="1600" dirty="0">
                <a:solidFill>
                  <a:srgbClr val="171A20"/>
                </a:solidFill>
                <a:latin typeface="Segoe UI" pitchFamily="34" charset="0"/>
                <a:ea typeface="Segoe UI" pitchFamily="34" charset="-122"/>
                <a:cs typeface="Segoe UI" pitchFamily="34" charset="-120"/>
              </a:rPr>
              <a:t> falls, current unchanged.</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139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3 – Lever 2: a slightly higher work function</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Raise φm by 0.03 eV: V</a:t>
            </a:r>
            <a:pPr algn="l" indent="0" marL="0">
              <a:buNone/>
            </a:pPr>
            <a:r>
              <a:rPr lang="en-US" sz="1600" baseline="-40000" dirty="0">
                <a:solidFill>
                  <a:srgbClr val="5C5E62"/>
                </a:solidFill>
                <a:latin typeface="Segoe UI" pitchFamily="34" charset="0"/>
                <a:ea typeface="Segoe UI" pitchFamily="34" charset="-122"/>
                <a:cs typeface="Segoe UI" pitchFamily="34" charset="-120"/>
              </a:rPr>
              <a:t>T</a:t>
            </a:r>
            <a:pPr algn="l" indent="0" marL="0">
              <a:buNone/>
            </a:pPr>
            <a:r>
              <a:rPr lang="en-US" sz="1600" dirty="0">
                <a:solidFill>
                  <a:srgbClr val="5C5E62"/>
                </a:solidFill>
                <a:latin typeface="Segoe UI" pitchFamily="34" charset="0"/>
                <a:ea typeface="Segoe UI" pitchFamily="34" charset="-122"/>
                <a:cs typeface="Segoe UI" pitchFamily="34" charset="-120"/>
              </a:rPr>
              <a:t> goes up, so the same bias draws less power</a:t>
            </a:r>
            <a:endParaRPr lang="en-US" sz="1600" dirty="0"/>
          </a:p>
        </p:txBody>
      </p:sp>
      <p:sp>
        <p:nvSpPr>
          <p:cNvPr id="4" name="!!sdot0"/>
          <p:cNvSpPr/>
          <p:nvPr/>
        </p:nvSpPr>
        <p:spPr>
          <a:xfrm>
            <a:off x="11443716" y="525780"/>
            <a:ext cx="82296" cy="82296"/>
          </a:xfrm>
          <a:prstGeom prst="ellipse">
            <a:avLst/>
          </a:prstGeom>
          <a:solidFill>
            <a:srgbClr val="171A20"/>
          </a:solidFill>
          <a:ln/>
        </p:spPr>
      </p:sp>
      <p:sp>
        <p:nvSpPr>
          <p:cNvPr id="5" name="!!sdot1"/>
          <p:cNvSpPr/>
          <p:nvPr/>
        </p:nvSpPr>
        <p:spPr>
          <a:xfrm>
            <a:off x="11599164" y="525780"/>
            <a:ext cx="82296" cy="82296"/>
          </a:xfrm>
          <a:prstGeom prst="ellipse">
            <a:avLst/>
          </a:prstGeom>
          <a:solidFill>
            <a:srgbClr val="E2E3E3"/>
          </a:solidFill>
          <a:ln/>
        </p:spPr>
      </p:sp>
      <p:sp>
        <p:nvSpPr>
          <p:cNvPr id="6" name="!!axg0"/>
          <p:cNvSpPr/>
          <p:nvPr/>
        </p:nvSpPr>
        <p:spPr>
          <a:xfrm>
            <a:off x="1188720" y="5074920"/>
            <a:ext cx="5394960" cy="91"/>
          </a:xfrm>
          <a:prstGeom prst="line">
            <a:avLst/>
          </a:prstGeom>
          <a:noFill/>
          <a:ln w="9525">
            <a:solidFill>
              <a:srgbClr val="EDEEF0"/>
            </a:solidFill>
            <a:prstDash val="solid"/>
          </a:ln>
        </p:spPr>
      </p:sp>
      <p:sp>
        <p:nvSpPr>
          <p:cNvPr id="7" name="!!axg1"/>
          <p:cNvSpPr/>
          <p:nvPr/>
        </p:nvSpPr>
        <p:spPr>
          <a:xfrm>
            <a:off x="1188720" y="3947160"/>
            <a:ext cx="5394960" cy="91"/>
          </a:xfrm>
          <a:prstGeom prst="line">
            <a:avLst/>
          </a:prstGeom>
          <a:noFill/>
          <a:ln w="9525">
            <a:solidFill>
              <a:srgbClr val="EDEEF0"/>
            </a:solidFill>
            <a:prstDash val="solid"/>
          </a:ln>
        </p:spPr>
      </p:sp>
      <p:sp>
        <p:nvSpPr>
          <p:cNvPr id="8" name="!!axg2"/>
          <p:cNvSpPr/>
          <p:nvPr/>
        </p:nvSpPr>
        <p:spPr>
          <a:xfrm>
            <a:off x="1188720" y="2819400"/>
            <a:ext cx="5394960" cy="91"/>
          </a:xfrm>
          <a:prstGeom prst="line">
            <a:avLst/>
          </a:prstGeom>
          <a:noFill/>
          <a:ln w="9525">
            <a:solidFill>
              <a:srgbClr val="EDEEF0"/>
            </a:solidFill>
            <a:prstDash val="solid"/>
          </a:ln>
        </p:spPr>
      </p:sp>
      <p:sp>
        <p:nvSpPr>
          <p:cNvPr id="9" name="!!axg3"/>
          <p:cNvSpPr/>
          <p:nvPr/>
        </p:nvSpPr>
        <p:spPr>
          <a:xfrm>
            <a:off x="1188720" y="1691640"/>
            <a:ext cx="5394960" cy="91"/>
          </a:xfrm>
          <a:prstGeom prst="line">
            <a:avLst/>
          </a:prstGeom>
          <a:noFill/>
          <a:ln w="9525">
            <a:solidFill>
              <a:srgbClr val="EDEEF0"/>
            </a:solidFill>
            <a:prstDash val="solid"/>
          </a:ln>
        </p:spPr>
      </p:sp>
      <p:sp>
        <p:nvSpPr>
          <p:cNvPr id="10" name="!!axxa"/>
          <p:cNvSpPr/>
          <p:nvPr/>
        </p:nvSpPr>
        <p:spPr>
          <a:xfrm>
            <a:off x="1188720" y="5074920"/>
            <a:ext cx="5394960" cy="91"/>
          </a:xfrm>
          <a:prstGeom prst="line">
            <a:avLst/>
          </a:prstGeom>
          <a:noFill/>
          <a:ln w="12700">
            <a:solidFill>
              <a:srgbClr val="8A8D93"/>
            </a:solidFill>
            <a:prstDash val="solid"/>
          </a:ln>
        </p:spPr>
      </p:sp>
      <p:sp>
        <p:nvSpPr>
          <p:cNvPr id="11" name="!!axya"/>
          <p:cNvSpPr/>
          <p:nvPr/>
        </p:nvSpPr>
        <p:spPr>
          <a:xfrm>
            <a:off x="1188720" y="1691640"/>
            <a:ext cx="91" cy="3383280"/>
          </a:xfrm>
          <a:prstGeom prst="line">
            <a:avLst/>
          </a:prstGeom>
          <a:noFill/>
          <a:ln w="12700">
            <a:solidFill>
              <a:srgbClr val="8A8D93"/>
            </a:solidFill>
            <a:prstDash val="solid"/>
          </a:ln>
        </p:spPr>
      </p:sp>
      <p:sp>
        <p:nvSpPr>
          <p:cNvPr id="12" name="!!axxt0"/>
          <p:cNvSpPr txBox="1"/>
          <p:nvPr/>
        </p:nvSpPr>
        <p:spPr>
          <a:xfrm>
            <a:off x="86868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13" name="!!axxt1"/>
          <p:cNvSpPr txBox="1"/>
          <p:nvPr/>
        </p:nvSpPr>
        <p:spPr>
          <a:xfrm>
            <a:off x="1639389"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14" name="!!axxt2"/>
          <p:cNvSpPr txBox="1"/>
          <p:nvPr/>
        </p:nvSpPr>
        <p:spPr>
          <a:xfrm>
            <a:off x="2410097"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15" name="!!axxt3"/>
          <p:cNvSpPr txBox="1"/>
          <p:nvPr/>
        </p:nvSpPr>
        <p:spPr>
          <a:xfrm>
            <a:off x="3180806"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16" name="!!axxt4"/>
          <p:cNvSpPr txBox="1"/>
          <p:nvPr/>
        </p:nvSpPr>
        <p:spPr>
          <a:xfrm>
            <a:off x="3951514"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17" name="!!axxt5"/>
          <p:cNvSpPr txBox="1"/>
          <p:nvPr/>
        </p:nvSpPr>
        <p:spPr>
          <a:xfrm>
            <a:off x="4722223"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0.5</a:t>
            </a:r>
            <a:endParaRPr lang="en-US" sz="900" dirty="0"/>
          </a:p>
        </p:txBody>
      </p:sp>
      <p:sp>
        <p:nvSpPr>
          <p:cNvPr id="18" name="!!axxt6"/>
          <p:cNvSpPr txBox="1"/>
          <p:nvPr/>
        </p:nvSpPr>
        <p:spPr>
          <a:xfrm>
            <a:off x="5492931"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19" name="!!axxt7"/>
          <p:cNvSpPr txBox="1"/>
          <p:nvPr/>
        </p:nvSpPr>
        <p:spPr>
          <a:xfrm>
            <a:off x="626364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0.7</a:t>
            </a:r>
            <a:endParaRPr lang="en-US" sz="900" dirty="0"/>
          </a:p>
        </p:txBody>
      </p:sp>
      <p:sp>
        <p:nvSpPr>
          <p:cNvPr id="20" name="!!axyt0"/>
          <p:cNvSpPr txBox="1"/>
          <p:nvPr/>
        </p:nvSpPr>
        <p:spPr>
          <a:xfrm>
            <a:off x="502920" y="4974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21" name="!!axyt1"/>
          <p:cNvSpPr txBox="1"/>
          <p:nvPr/>
        </p:nvSpPr>
        <p:spPr>
          <a:xfrm>
            <a:off x="502920" y="38465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22" name="!!axyt2"/>
          <p:cNvSpPr txBox="1"/>
          <p:nvPr/>
        </p:nvSpPr>
        <p:spPr>
          <a:xfrm>
            <a:off x="502920" y="27188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23" name="!!axyt3"/>
          <p:cNvSpPr txBox="1"/>
          <p:nvPr/>
        </p:nvSpPr>
        <p:spPr>
          <a:xfrm>
            <a:off x="50292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24" name="!!axxl"/>
          <p:cNvSpPr txBox="1"/>
          <p:nvPr/>
        </p:nvSpPr>
        <p:spPr>
          <a:xfrm>
            <a:off x="1188720" y="5349240"/>
            <a:ext cx="539496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25" name="!!axyl"/>
          <p:cNvSpPr txBox="1"/>
          <p:nvPr/>
        </p:nvSpPr>
        <p:spPr>
          <a:xfrm>
            <a:off x="100584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at V</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 0.7 V (log)</a:t>
            </a:r>
            <a:endParaRPr lang="en-US" sz="1100" dirty="0"/>
          </a:p>
        </p:txBody>
      </p:sp>
      <p:sp>
        <p:nvSpPr>
          <p:cNvPr id="26" name="!!l2R"/>
          <p:cNvSpPr/>
          <p:nvPr/>
        </p:nvSpPr>
        <p:spPr>
          <a:xfrm>
            <a:off x="1188720" y="2008059"/>
            <a:ext cx="5394960" cy="2618572"/>
          </a:xfrm>
          <a:custGeom>
            <a:avLst/>
            <a:gdLst/>
            <a:ahLst/>
            <a:cxnLst/>
            <a:rect l="l" t="t" r="r" b="b"/>
            <a:pathLst>
              <a:path w="5394960" h="2618572">
                <a:moveTo>
                  <a:pt x="0" y="2618572"/>
                </a:moveTo>
                <a:lnTo>
                  <a:pt x="192677" y="2416160"/>
                </a:lnTo>
                <a:lnTo>
                  <a:pt x="385354" y="2209262"/>
                </a:lnTo>
                <a:lnTo>
                  <a:pt x="578031" y="2001063"/>
                </a:lnTo>
                <a:lnTo>
                  <a:pt x="770709" y="1793150"/>
                </a:lnTo>
                <a:lnTo>
                  <a:pt x="963386" y="1586729"/>
                </a:lnTo>
                <a:lnTo>
                  <a:pt x="1156063" y="1383467"/>
                </a:lnTo>
                <a:lnTo>
                  <a:pt x="1348740" y="1187856"/>
                </a:lnTo>
                <a:lnTo>
                  <a:pt x="1541417" y="1005484"/>
                </a:lnTo>
                <a:lnTo>
                  <a:pt x="1734094" y="840826"/>
                </a:lnTo>
                <a:lnTo>
                  <a:pt x="1926771" y="697402"/>
                </a:lnTo>
                <a:lnTo>
                  <a:pt x="2119449" y="582783"/>
                </a:lnTo>
                <a:lnTo>
                  <a:pt x="2312126" y="497298"/>
                </a:lnTo>
                <a:lnTo>
                  <a:pt x="2504803" y="433857"/>
                </a:lnTo>
                <a:lnTo>
                  <a:pt x="2697480" y="381898"/>
                </a:lnTo>
                <a:lnTo>
                  <a:pt x="2890157" y="336451"/>
                </a:lnTo>
                <a:lnTo>
                  <a:pt x="3082834" y="295720"/>
                </a:lnTo>
                <a:lnTo>
                  <a:pt x="3275511" y="258831"/>
                </a:lnTo>
                <a:lnTo>
                  <a:pt x="3468189" y="225194"/>
                </a:lnTo>
                <a:lnTo>
                  <a:pt x="3660866" y="194372"/>
                </a:lnTo>
                <a:lnTo>
                  <a:pt x="3853543" y="166009"/>
                </a:lnTo>
                <a:lnTo>
                  <a:pt x="4046220" y="139811"/>
                </a:lnTo>
                <a:lnTo>
                  <a:pt x="4238897" y="115528"/>
                </a:lnTo>
                <a:lnTo>
                  <a:pt x="4431574" y="92947"/>
                </a:lnTo>
                <a:lnTo>
                  <a:pt x="4624251" y="71887"/>
                </a:lnTo>
                <a:lnTo>
                  <a:pt x="4816929" y="52189"/>
                </a:lnTo>
                <a:lnTo>
                  <a:pt x="5009606" y="33718"/>
                </a:lnTo>
                <a:lnTo>
                  <a:pt x="5202283" y="16356"/>
                </a:lnTo>
                <a:lnTo>
                  <a:pt x="5394960" y="0"/>
                </a:lnTo>
              </a:path>
            </a:pathLst>
          </a:custGeom>
          <a:ln w="38100">
            <a:solidFill>
              <a:srgbClr val="3E6AE1"/>
            </a:solidFill>
            <a:prstDash val="solid"/>
          </a:ln>
        </p:spPr>
      </p:sp>
      <p:sp>
        <p:nvSpPr>
          <p:cNvPr id="27" name="!!l2D"/>
          <p:cNvSpPr/>
          <p:nvPr/>
        </p:nvSpPr>
        <p:spPr>
          <a:xfrm>
            <a:off x="1188720" y="2008059"/>
            <a:ext cx="5394960" cy="2618572"/>
          </a:xfrm>
          <a:custGeom>
            <a:avLst/>
            <a:gdLst/>
            <a:ahLst/>
            <a:cxnLst/>
            <a:rect l="l" t="t" r="r" b="b"/>
            <a:pathLst>
              <a:path w="5394960" h="2618572">
                <a:moveTo>
                  <a:pt x="0" y="2618572"/>
                </a:moveTo>
                <a:lnTo>
                  <a:pt x="192677" y="2416160"/>
                </a:lnTo>
                <a:lnTo>
                  <a:pt x="385354" y="2209262"/>
                </a:lnTo>
                <a:lnTo>
                  <a:pt x="578031" y="2001063"/>
                </a:lnTo>
                <a:lnTo>
                  <a:pt x="770709" y="1793150"/>
                </a:lnTo>
                <a:lnTo>
                  <a:pt x="963386" y="1586729"/>
                </a:lnTo>
                <a:lnTo>
                  <a:pt x="1156063" y="1383467"/>
                </a:lnTo>
                <a:lnTo>
                  <a:pt x="1348740" y="1187856"/>
                </a:lnTo>
                <a:lnTo>
                  <a:pt x="1541417" y="1005484"/>
                </a:lnTo>
                <a:lnTo>
                  <a:pt x="1734094" y="840826"/>
                </a:lnTo>
                <a:lnTo>
                  <a:pt x="1926771" y="697402"/>
                </a:lnTo>
                <a:lnTo>
                  <a:pt x="2119449" y="582783"/>
                </a:lnTo>
                <a:lnTo>
                  <a:pt x="2312126" y="497298"/>
                </a:lnTo>
                <a:lnTo>
                  <a:pt x="2504803" y="433857"/>
                </a:lnTo>
                <a:lnTo>
                  <a:pt x="2697480" y="381898"/>
                </a:lnTo>
                <a:lnTo>
                  <a:pt x="2890157" y="336451"/>
                </a:lnTo>
                <a:lnTo>
                  <a:pt x="3082834" y="295720"/>
                </a:lnTo>
                <a:lnTo>
                  <a:pt x="3275511" y="258831"/>
                </a:lnTo>
                <a:lnTo>
                  <a:pt x="3468189" y="225194"/>
                </a:lnTo>
                <a:lnTo>
                  <a:pt x="3660866" y="194372"/>
                </a:lnTo>
                <a:lnTo>
                  <a:pt x="3853543" y="166009"/>
                </a:lnTo>
                <a:lnTo>
                  <a:pt x="4046220" y="139811"/>
                </a:lnTo>
                <a:lnTo>
                  <a:pt x="4238897" y="115528"/>
                </a:lnTo>
                <a:lnTo>
                  <a:pt x="4431574" y="92947"/>
                </a:lnTo>
                <a:lnTo>
                  <a:pt x="4624251" y="71887"/>
                </a:lnTo>
                <a:lnTo>
                  <a:pt x="4816929" y="52189"/>
                </a:lnTo>
                <a:lnTo>
                  <a:pt x="5009606" y="33718"/>
                </a:lnTo>
                <a:lnTo>
                  <a:pt x="5202283" y="16356"/>
                </a:lnTo>
                <a:lnTo>
                  <a:pt x="5394960" y="0"/>
                </a:lnTo>
              </a:path>
            </a:pathLst>
          </a:custGeom>
          <a:ln w="38100">
            <a:solidFill>
              <a:srgbClr val="3E6AE1"/>
            </a:solidFill>
            <a:prstDash val="solid"/>
          </a:ln>
        </p:spPr>
      </p:sp>
      <p:sp>
        <p:nvSpPr>
          <p:cNvPr id="28" name="!!l2RL"/>
          <p:cNvSpPr txBox="1"/>
          <p:nvPr/>
        </p:nvSpPr>
        <p:spPr>
          <a:xfrm>
            <a:off x="1860151" y="2114598"/>
            <a:ext cx="2011680" cy="219456"/>
          </a:xfrm>
          <a:prstGeom prst="rect">
            <a:avLst/>
          </a:prstGeom>
          <a:noFill/>
          <a:ln/>
        </p:spPr>
        <p:txBody>
          <a:bodyPr wrap="square" lIns="0" tIns="0" rIns="0" bIns="0" rtlCol="0" anchor="t"/>
          <a:lstStyle/>
          <a:p>
            <a:pPr algn="l" indent="0" marL="0">
              <a:buNone/>
            </a:pPr>
            <a:r>
              <a:rPr lang="en-US" sz="1000" dirty="0">
                <a:solidFill>
                  <a:srgbClr val="3E6AE1"/>
                </a:solidFill>
                <a:latin typeface="Segoe UI Semibold" pitchFamily="34" charset="0"/>
                <a:ea typeface="Segoe UI Semibold" pitchFamily="34" charset="-122"/>
                <a:cs typeface="Segoe UI Semibold" pitchFamily="34" charset="-120"/>
              </a:rPr>
              <a:t>reproduced, WF 4.50 eV</a:t>
            </a:r>
            <a:endParaRPr lang="en-US" sz="1000" dirty="0"/>
          </a:p>
        </p:txBody>
      </p:sp>
      <p:sp>
        <p:nvSpPr>
          <p:cNvPr id="29" name="!!chip0"/>
          <p:cNvSpPr/>
          <p:nvPr/>
        </p:nvSpPr>
        <p:spPr>
          <a:xfrm>
            <a:off x="7132320" y="1691640"/>
            <a:ext cx="2176272" cy="777240"/>
          </a:xfrm>
          <a:prstGeom prst="roundRect">
            <a:avLst>
              <a:gd name="adj" fmla="val 7059"/>
            </a:avLst>
          </a:prstGeom>
          <a:solidFill>
            <a:srgbClr val="F4F5F7"/>
          </a:solidFill>
          <a:ln/>
        </p:spPr>
      </p:sp>
      <p:sp>
        <p:nvSpPr>
          <p:cNvPr id="30" name="!!chipk0"/>
          <p:cNvSpPr txBox="1"/>
          <p:nvPr/>
        </p:nvSpPr>
        <p:spPr>
          <a:xfrm>
            <a:off x="7242048" y="1764792"/>
            <a:ext cx="19568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a:t>
            </a:r>
            <a:pPr algn="l" indent="0" marL="0">
              <a:buNone/>
            </a:pPr>
            <a:r>
              <a:rPr lang="en-US" sz="1000" baseline="-40000" dirty="0">
                <a:solidFill>
                  <a:srgbClr val="5C5E62"/>
                </a:solidFill>
                <a:latin typeface="Segoe UI" pitchFamily="34" charset="0"/>
                <a:ea typeface="Segoe UI" pitchFamily="34" charset="-122"/>
                <a:cs typeface="Segoe UI" pitchFamily="34" charset="-120"/>
              </a:rPr>
              <a:t>T</a:t>
            </a:r>
            <a:endParaRPr lang="en-US" sz="1000" dirty="0"/>
          </a:p>
        </p:txBody>
      </p:sp>
      <p:sp>
        <p:nvSpPr>
          <p:cNvPr id="31" name="!!chipv0"/>
          <p:cNvSpPr txBox="1"/>
          <p:nvPr/>
        </p:nvSpPr>
        <p:spPr>
          <a:xfrm>
            <a:off x="7242048" y="2002536"/>
            <a:ext cx="19933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0.204 V</a:t>
            </a:r>
            <a:endParaRPr lang="en-US" sz="1500" dirty="0"/>
          </a:p>
        </p:txBody>
      </p:sp>
      <p:sp>
        <p:nvSpPr>
          <p:cNvPr id="32" name="!!chip1"/>
          <p:cNvSpPr/>
          <p:nvPr/>
        </p:nvSpPr>
        <p:spPr>
          <a:xfrm>
            <a:off x="9464040" y="1691640"/>
            <a:ext cx="2176272" cy="777240"/>
          </a:xfrm>
          <a:prstGeom prst="roundRect">
            <a:avLst>
              <a:gd name="adj" fmla="val 7059"/>
            </a:avLst>
          </a:prstGeom>
          <a:solidFill>
            <a:srgbClr val="F4F5F7"/>
          </a:solidFill>
          <a:ln/>
        </p:spPr>
      </p:sp>
      <p:sp>
        <p:nvSpPr>
          <p:cNvPr id="33" name="!!chipk1"/>
          <p:cNvSpPr txBox="1"/>
          <p:nvPr/>
        </p:nvSpPr>
        <p:spPr>
          <a:xfrm>
            <a:off x="9573768" y="1764792"/>
            <a:ext cx="19568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I</a:t>
            </a:r>
            <a:pPr algn="l" indent="0" marL="0">
              <a:buNone/>
            </a:pPr>
            <a:r>
              <a:rPr lang="en-US" sz="1000" baseline="-40000" dirty="0">
                <a:solidFill>
                  <a:srgbClr val="5C5E62"/>
                </a:solidFill>
                <a:latin typeface="Segoe UI" pitchFamily="34" charset="0"/>
                <a:ea typeface="Segoe UI" pitchFamily="34" charset="-122"/>
                <a:cs typeface="Segoe UI" pitchFamily="34" charset="-120"/>
              </a:rPr>
              <a:t>off</a:t>
            </a:r>
            <a:endParaRPr lang="en-US" sz="1000" dirty="0"/>
          </a:p>
        </p:txBody>
      </p:sp>
      <p:sp>
        <p:nvSpPr>
          <p:cNvPr id="34" name="!!chipv1"/>
          <p:cNvSpPr txBox="1"/>
          <p:nvPr/>
        </p:nvSpPr>
        <p:spPr>
          <a:xfrm>
            <a:off x="9573768" y="2002536"/>
            <a:ext cx="19933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624 pA</a:t>
            </a:r>
            <a:endParaRPr lang="en-US" sz="1500" dirty="0"/>
          </a:p>
        </p:txBody>
      </p:sp>
      <p:sp>
        <p:nvSpPr>
          <p:cNvPr id="35" name="!!chip2"/>
          <p:cNvSpPr/>
          <p:nvPr/>
        </p:nvSpPr>
        <p:spPr>
          <a:xfrm>
            <a:off x="7132320" y="2624328"/>
            <a:ext cx="2176272" cy="777240"/>
          </a:xfrm>
          <a:prstGeom prst="roundRect">
            <a:avLst>
              <a:gd name="adj" fmla="val 7059"/>
            </a:avLst>
          </a:prstGeom>
          <a:solidFill>
            <a:srgbClr val="F4F5F7"/>
          </a:solidFill>
          <a:ln/>
        </p:spPr>
      </p:sp>
      <p:sp>
        <p:nvSpPr>
          <p:cNvPr id="36" name="!!chipk2"/>
          <p:cNvSpPr txBox="1"/>
          <p:nvPr/>
        </p:nvSpPr>
        <p:spPr>
          <a:xfrm>
            <a:off x="7242048" y="2697480"/>
            <a:ext cx="19568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I</a:t>
            </a:r>
            <a:pPr algn="l" indent="0" marL="0">
              <a:buNone/>
            </a:pPr>
            <a:r>
              <a:rPr lang="en-US" sz="1000" baseline="-40000" dirty="0">
                <a:solidFill>
                  <a:srgbClr val="5C5E62"/>
                </a:solidFill>
                <a:latin typeface="Segoe UI" pitchFamily="34" charset="0"/>
                <a:ea typeface="Segoe UI" pitchFamily="34" charset="-122"/>
                <a:cs typeface="Segoe UI" pitchFamily="34" charset="-120"/>
              </a:rPr>
              <a:t>on</a:t>
            </a:r>
            <a:endParaRPr lang="en-US" sz="1000" dirty="0"/>
          </a:p>
        </p:txBody>
      </p:sp>
      <p:sp>
        <p:nvSpPr>
          <p:cNvPr id="37" name="!!chipv2"/>
          <p:cNvSpPr txBox="1"/>
          <p:nvPr/>
        </p:nvSpPr>
        <p:spPr>
          <a:xfrm>
            <a:off x="7242048" y="2935224"/>
            <a:ext cx="19933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27.5 µA</a:t>
            </a:r>
            <a:endParaRPr lang="en-US" sz="1500" dirty="0"/>
          </a:p>
        </p:txBody>
      </p:sp>
      <p:sp>
        <p:nvSpPr>
          <p:cNvPr id="38" name="!!chip3"/>
          <p:cNvSpPr/>
          <p:nvPr/>
        </p:nvSpPr>
        <p:spPr>
          <a:xfrm>
            <a:off x="9464040" y="2624328"/>
            <a:ext cx="2176272" cy="777240"/>
          </a:xfrm>
          <a:prstGeom prst="roundRect">
            <a:avLst>
              <a:gd name="adj" fmla="val 7059"/>
            </a:avLst>
          </a:prstGeom>
          <a:solidFill>
            <a:srgbClr val="F4F5F7"/>
          </a:solidFill>
          <a:ln/>
        </p:spPr>
      </p:sp>
      <p:sp>
        <p:nvSpPr>
          <p:cNvPr id="39" name="!!chipk3"/>
          <p:cNvSpPr txBox="1"/>
          <p:nvPr/>
        </p:nvSpPr>
        <p:spPr>
          <a:xfrm>
            <a:off x="9573768" y="2697480"/>
            <a:ext cx="19568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P</a:t>
            </a:r>
            <a:pPr algn="l" indent="0" marL="0">
              <a:buNone/>
            </a:pPr>
            <a:r>
              <a:rPr lang="en-US" sz="1000" baseline="-40000" dirty="0">
                <a:solidFill>
                  <a:srgbClr val="5C5E62"/>
                </a:solidFill>
                <a:latin typeface="Segoe UI" pitchFamily="34" charset="0"/>
                <a:ea typeface="Segoe UI" pitchFamily="34" charset="-122"/>
                <a:cs typeface="Segoe UI" pitchFamily="34" charset="-120"/>
              </a:rPr>
              <a:t>on</a:t>
            </a:r>
            <a:endParaRPr lang="en-US" sz="1000" dirty="0"/>
          </a:p>
        </p:txBody>
      </p:sp>
      <p:sp>
        <p:nvSpPr>
          <p:cNvPr id="40" name="!!chipv3"/>
          <p:cNvSpPr txBox="1"/>
          <p:nvPr/>
        </p:nvSpPr>
        <p:spPr>
          <a:xfrm>
            <a:off x="9573768" y="2935224"/>
            <a:ext cx="19933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19.2 µW</a:t>
            </a:r>
            <a:endParaRPr lang="en-US" sz="1500" dirty="0"/>
          </a:p>
        </p:txBody>
      </p:sp>
      <p:sp>
        <p:nvSpPr>
          <p:cNvPr id="41" name="!!l2Sum"/>
          <p:cNvSpPr txBox="1"/>
          <p:nvPr/>
        </p:nvSpPr>
        <p:spPr>
          <a:xfrm>
            <a:off x="7132320" y="3611880"/>
            <a:ext cx="4507992" cy="548640"/>
          </a:xfrm>
          <a:prstGeom prst="rect">
            <a:avLst/>
          </a:prstGeom>
          <a:noFill/>
          <a:ln/>
        </p:spPr>
        <p:txBody>
          <a:bodyPr wrap="square" lIns="0" tIns="0" rIns="0" bIns="0" rtlCol="0" anchor="t"/>
          <a:lstStyle/>
          <a:p>
            <a:pPr algn="l" indent="0" marL="0">
              <a:buNone/>
            </a:pPr>
            <a:r>
              <a:rPr lang="en-US" sz="1400" dirty="0">
                <a:solidFill>
                  <a:srgbClr val="5C5E62"/>
                </a:solidFill>
                <a:latin typeface="Segoe UI Semibold" pitchFamily="34" charset="0"/>
                <a:ea typeface="Segoe UI Semibold" pitchFamily="34" charset="-122"/>
                <a:cs typeface="Segoe UI Semibold" pitchFamily="34" charset="-120"/>
              </a:rPr>
              <a:t>Reproduced device, before the shift.</a:t>
            </a:r>
            <a:endParaRPr lang="en-US" sz="1400" dirty="0"/>
          </a:p>
        </p:txBody>
      </p:sp>
      <p:sp>
        <p:nvSpPr>
          <p:cNvPr id="42" name="!!knobLbl"/>
          <p:cNvSpPr txBox="1"/>
          <p:nvPr/>
        </p:nvSpPr>
        <p:spPr>
          <a:xfrm>
            <a:off x="7205472" y="4526280"/>
            <a:ext cx="438912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work function φm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4.50 eV</a:t>
            </a:r>
            <a:endParaRPr lang="en-US" sz="1200" dirty="0"/>
          </a:p>
        </p:txBody>
      </p:sp>
      <p:sp>
        <p:nvSpPr>
          <p:cNvPr id="43" name="!!knobTrack"/>
          <p:cNvSpPr/>
          <p:nvPr/>
        </p:nvSpPr>
        <p:spPr>
          <a:xfrm>
            <a:off x="7223760" y="4910328"/>
            <a:ext cx="4297680" cy="54864"/>
          </a:xfrm>
          <a:prstGeom prst="roundRect">
            <a:avLst>
              <a:gd name="adj" fmla="val 50000"/>
            </a:avLst>
          </a:prstGeom>
          <a:solidFill>
            <a:srgbClr val="E2E3E3"/>
          </a:solidFill>
          <a:ln/>
        </p:spPr>
      </p:sp>
      <p:sp>
        <p:nvSpPr>
          <p:cNvPr id="44" name="!!knobFill"/>
          <p:cNvSpPr/>
          <p:nvPr/>
        </p:nvSpPr>
        <p:spPr>
          <a:xfrm>
            <a:off x="7223760" y="4910328"/>
            <a:ext cx="613954" cy="54864"/>
          </a:xfrm>
          <a:prstGeom prst="roundRect">
            <a:avLst>
              <a:gd name="adj" fmla="val 50000"/>
            </a:avLst>
          </a:prstGeom>
          <a:solidFill>
            <a:srgbClr val="6B5BC4"/>
          </a:solidFill>
          <a:ln/>
        </p:spPr>
      </p:sp>
      <p:sp>
        <p:nvSpPr>
          <p:cNvPr id="45" name="!!knobT0"/>
          <p:cNvSpPr txBox="1"/>
          <p:nvPr/>
        </p:nvSpPr>
        <p:spPr>
          <a:xfrm>
            <a:off x="7471954"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4.50</a:t>
            </a:r>
            <a:endParaRPr lang="en-US" sz="900" dirty="0"/>
          </a:p>
        </p:txBody>
      </p:sp>
      <p:sp>
        <p:nvSpPr>
          <p:cNvPr id="46" name="!!knobT1"/>
          <p:cNvSpPr txBox="1"/>
          <p:nvPr/>
        </p:nvSpPr>
        <p:spPr>
          <a:xfrm>
            <a:off x="9313817"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4.53</a:t>
            </a:r>
            <a:endParaRPr lang="en-US" sz="900" dirty="0"/>
          </a:p>
        </p:txBody>
      </p:sp>
      <p:sp>
        <p:nvSpPr>
          <p:cNvPr id="47" name="!!knobT2"/>
          <p:cNvSpPr txBox="1"/>
          <p:nvPr/>
        </p:nvSpPr>
        <p:spPr>
          <a:xfrm>
            <a:off x="10541726"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4.55</a:t>
            </a:r>
            <a:endParaRPr lang="en-US" sz="900" dirty="0"/>
          </a:p>
        </p:txBody>
      </p:sp>
      <p:sp>
        <p:nvSpPr>
          <p:cNvPr id="48" name="!!knobThumb"/>
          <p:cNvSpPr/>
          <p:nvPr/>
        </p:nvSpPr>
        <p:spPr>
          <a:xfrm>
            <a:off x="7737130" y="4837176"/>
            <a:ext cx="201168" cy="201168"/>
          </a:xfrm>
          <a:prstGeom prst="ellipse">
            <a:avLst/>
          </a:prstGeom>
          <a:solidFill>
            <a:srgbClr val="FFFFFF"/>
          </a:solidFill>
          <a:ln w="28575">
            <a:solidFill>
              <a:srgbClr val="6B5BC4"/>
            </a:solidFill>
            <a:prstDash val="solid"/>
          </a:ln>
        </p:spPr>
      </p:sp>
      <p:sp>
        <p:nvSpPr>
          <p:cNvPr id="4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The work function sets V</a:t>
            </a:r>
            <a:pPr algn="ctr" indent="0" marL="0">
              <a:buNone/>
            </a:pPr>
            <a:r>
              <a:rPr lang="en-US" sz="1600" baseline="-40000" dirty="0">
                <a:solidFill>
                  <a:srgbClr val="171A20"/>
                </a:solidFill>
                <a:latin typeface="Segoe UI" pitchFamily="34" charset="0"/>
                <a:ea typeface="Segoe UI" pitchFamily="34" charset="-122"/>
                <a:cs typeface="Segoe UI" pitchFamily="34" charset="-120"/>
              </a:rPr>
              <a:t>T</a:t>
            </a:r>
            <a:pPr algn="ctr" indent="0" marL="0">
              <a:buNone/>
            </a:pPr>
            <a:r>
              <a:rPr lang="en-US" sz="1600" dirty="0">
                <a:solidFill>
                  <a:srgbClr val="171A20"/>
                </a:solidFill>
                <a:latin typeface="Segoe UI" pitchFamily="34" charset="0"/>
                <a:ea typeface="Segoe UI" pitchFamily="34" charset="-122"/>
                <a:cs typeface="Segoe UI" pitchFamily="34" charset="-120"/>
              </a:rPr>
              <a:t> one-to-one: our power knob.</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140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3 – Lever 2: a slightly higher work function</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Raise φm by 0.03 eV: V</a:t>
            </a:r>
            <a:pPr algn="l" indent="0" marL="0">
              <a:buNone/>
            </a:pPr>
            <a:r>
              <a:rPr lang="en-US" sz="1600" baseline="-40000" dirty="0">
                <a:solidFill>
                  <a:srgbClr val="5C5E62"/>
                </a:solidFill>
                <a:latin typeface="Segoe UI" pitchFamily="34" charset="0"/>
                <a:ea typeface="Segoe UI" pitchFamily="34" charset="-122"/>
                <a:cs typeface="Segoe UI" pitchFamily="34" charset="-120"/>
              </a:rPr>
              <a:t>T</a:t>
            </a:r>
            <a:pPr algn="l" indent="0" marL="0">
              <a:buNone/>
            </a:pPr>
            <a:r>
              <a:rPr lang="en-US" sz="1600" dirty="0">
                <a:solidFill>
                  <a:srgbClr val="5C5E62"/>
                </a:solidFill>
                <a:latin typeface="Segoe UI" pitchFamily="34" charset="0"/>
                <a:ea typeface="Segoe UI" pitchFamily="34" charset="-122"/>
                <a:cs typeface="Segoe UI" pitchFamily="34" charset="-120"/>
              </a:rPr>
              <a:t> goes up, so the same bias draws less power</a:t>
            </a:r>
            <a:endParaRPr lang="en-US" sz="1600" dirty="0"/>
          </a:p>
        </p:txBody>
      </p:sp>
      <p:sp>
        <p:nvSpPr>
          <p:cNvPr id="4" name="!!sdot0"/>
          <p:cNvSpPr/>
          <p:nvPr/>
        </p:nvSpPr>
        <p:spPr>
          <a:xfrm>
            <a:off x="11443716" y="525780"/>
            <a:ext cx="82296" cy="82296"/>
          </a:xfrm>
          <a:prstGeom prst="ellipse">
            <a:avLst/>
          </a:prstGeom>
          <a:solidFill>
            <a:srgbClr val="171A20"/>
          </a:solidFill>
          <a:ln/>
        </p:spPr>
      </p:sp>
      <p:sp>
        <p:nvSpPr>
          <p:cNvPr id="5" name="!!sdot1"/>
          <p:cNvSpPr/>
          <p:nvPr/>
        </p:nvSpPr>
        <p:spPr>
          <a:xfrm>
            <a:off x="11599164" y="525780"/>
            <a:ext cx="82296" cy="82296"/>
          </a:xfrm>
          <a:prstGeom prst="ellipse">
            <a:avLst/>
          </a:prstGeom>
          <a:solidFill>
            <a:srgbClr val="171A20"/>
          </a:solidFill>
          <a:ln/>
        </p:spPr>
      </p:sp>
      <p:sp>
        <p:nvSpPr>
          <p:cNvPr id="6" name="!!axg0"/>
          <p:cNvSpPr/>
          <p:nvPr/>
        </p:nvSpPr>
        <p:spPr>
          <a:xfrm>
            <a:off x="1188720" y="5074920"/>
            <a:ext cx="5394960" cy="91"/>
          </a:xfrm>
          <a:prstGeom prst="line">
            <a:avLst/>
          </a:prstGeom>
          <a:noFill/>
          <a:ln w="9525">
            <a:solidFill>
              <a:srgbClr val="EDEEF0"/>
            </a:solidFill>
            <a:prstDash val="solid"/>
          </a:ln>
        </p:spPr>
      </p:sp>
      <p:sp>
        <p:nvSpPr>
          <p:cNvPr id="7" name="!!axg1"/>
          <p:cNvSpPr/>
          <p:nvPr/>
        </p:nvSpPr>
        <p:spPr>
          <a:xfrm>
            <a:off x="1188720" y="3947160"/>
            <a:ext cx="5394960" cy="91"/>
          </a:xfrm>
          <a:prstGeom prst="line">
            <a:avLst/>
          </a:prstGeom>
          <a:noFill/>
          <a:ln w="9525">
            <a:solidFill>
              <a:srgbClr val="EDEEF0"/>
            </a:solidFill>
            <a:prstDash val="solid"/>
          </a:ln>
        </p:spPr>
      </p:sp>
      <p:sp>
        <p:nvSpPr>
          <p:cNvPr id="8" name="!!axg2"/>
          <p:cNvSpPr/>
          <p:nvPr/>
        </p:nvSpPr>
        <p:spPr>
          <a:xfrm>
            <a:off x="1188720" y="2819400"/>
            <a:ext cx="5394960" cy="91"/>
          </a:xfrm>
          <a:prstGeom prst="line">
            <a:avLst/>
          </a:prstGeom>
          <a:noFill/>
          <a:ln w="9525">
            <a:solidFill>
              <a:srgbClr val="EDEEF0"/>
            </a:solidFill>
            <a:prstDash val="solid"/>
          </a:ln>
        </p:spPr>
      </p:sp>
      <p:sp>
        <p:nvSpPr>
          <p:cNvPr id="9" name="!!axg3"/>
          <p:cNvSpPr/>
          <p:nvPr/>
        </p:nvSpPr>
        <p:spPr>
          <a:xfrm>
            <a:off x="1188720" y="1691640"/>
            <a:ext cx="5394960" cy="91"/>
          </a:xfrm>
          <a:prstGeom prst="line">
            <a:avLst/>
          </a:prstGeom>
          <a:noFill/>
          <a:ln w="9525">
            <a:solidFill>
              <a:srgbClr val="EDEEF0"/>
            </a:solidFill>
            <a:prstDash val="solid"/>
          </a:ln>
        </p:spPr>
      </p:sp>
      <p:sp>
        <p:nvSpPr>
          <p:cNvPr id="10" name="!!axxa"/>
          <p:cNvSpPr/>
          <p:nvPr/>
        </p:nvSpPr>
        <p:spPr>
          <a:xfrm>
            <a:off x="1188720" y="5074920"/>
            <a:ext cx="5394960" cy="91"/>
          </a:xfrm>
          <a:prstGeom prst="line">
            <a:avLst/>
          </a:prstGeom>
          <a:noFill/>
          <a:ln w="12700">
            <a:solidFill>
              <a:srgbClr val="8A8D93"/>
            </a:solidFill>
            <a:prstDash val="solid"/>
          </a:ln>
        </p:spPr>
      </p:sp>
      <p:sp>
        <p:nvSpPr>
          <p:cNvPr id="11" name="!!axya"/>
          <p:cNvSpPr/>
          <p:nvPr/>
        </p:nvSpPr>
        <p:spPr>
          <a:xfrm>
            <a:off x="1188720" y="1691640"/>
            <a:ext cx="91" cy="3383280"/>
          </a:xfrm>
          <a:prstGeom prst="line">
            <a:avLst/>
          </a:prstGeom>
          <a:noFill/>
          <a:ln w="12700">
            <a:solidFill>
              <a:srgbClr val="8A8D93"/>
            </a:solidFill>
            <a:prstDash val="solid"/>
          </a:ln>
        </p:spPr>
      </p:sp>
      <p:sp>
        <p:nvSpPr>
          <p:cNvPr id="12" name="!!axxt0"/>
          <p:cNvSpPr txBox="1"/>
          <p:nvPr/>
        </p:nvSpPr>
        <p:spPr>
          <a:xfrm>
            <a:off x="86868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13" name="!!axxt1"/>
          <p:cNvSpPr txBox="1"/>
          <p:nvPr/>
        </p:nvSpPr>
        <p:spPr>
          <a:xfrm>
            <a:off x="1639389"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14" name="!!axxt2"/>
          <p:cNvSpPr txBox="1"/>
          <p:nvPr/>
        </p:nvSpPr>
        <p:spPr>
          <a:xfrm>
            <a:off x="2410097"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15" name="!!axxt3"/>
          <p:cNvSpPr txBox="1"/>
          <p:nvPr/>
        </p:nvSpPr>
        <p:spPr>
          <a:xfrm>
            <a:off x="3180806"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16" name="!!axxt4"/>
          <p:cNvSpPr txBox="1"/>
          <p:nvPr/>
        </p:nvSpPr>
        <p:spPr>
          <a:xfrm>
            <a:off x="3951514"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17" name="!!axxt5"/>
          <p:cNvSpPr txBox="1"/>
          <p:nvPr/>
        </p:nvSpPr>
        <p:spPr>
          <a:xfrm>
            <a:off x="4722223"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0.5</a:t>
            </a:r>
            <a:endParaRPr lang="en-US" sz="900" dirty="0"/>
          </a:p>
        </p:txBody>
      </p:sp>
      <p:sp>
        <p:nvSpPr>
          <p:cNvPr id="18" name="!!axxt6"/>
          <p:cNvSpPr txBox="1"/>
          <p:nvPr/>
        </p:nvSpPr>
        <p:spPr>
          <a:xfrm>
            <a:off x="5492931"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19" name="!!axxt7"/>
          <p:cNvSpPr txBox="1"/>
          <p:nvPr/>
        </p:nvSpPr>
        <p:spPr>
          <a:xfrm>
            <a:off x="626364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0.7</a:t>
            </a:r>
            <a:endParaRPr lang="en-US" sz="900" dirty="0"/>
          </a:p>
        </p:txBody>
      </p:sp>
      <p:sp>
        <p:nvSpPr>
          <p:cNvPr id="20" name="!!axyt0"/>
          <p:cNvSpPr txBox="1"/>
          <p:nvPr/>
        </p:nvSpPr>
        <p:spPr>
          <a:xfrm>
            <a:off x="502920" y="4974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pA</a:t>
            </a:r>
            <a:endParaRPr lang="en-US" sz="900" dirty="0"/>
          </a:p>
        </p:txBody>
      </p:sp>
      <p:sp>
        <p:nvSpPr>
          <p:cNvPr id="21" name="!!axyt1"/>
          <p:cNvSpPr txBox="1"/>
          <p:nvPr/>
        </p:nvSpPr>
        <p:spPr>
          <a:xfrm>
            <a:off x="502920" y="384657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 nA</a:t>
            </a:r>
            <a:endParaRPr lang="en-US" sz="900" dirty="0"/>
          </a:p>
        </p:txBody>
      </p:sp>
      <p:sp>
        <p:nvSpPr>
          <p:cNvPr id="22" name="!!axyt2"/>
          <p:cNvSpPr txBox="1"/>
          <p:nvPr/>
        </p:nvSpPr>
        <p:spPr>
          <a:xfrm>
            <a:off x="502920" y="271881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 µA</a:t>
            </a:r>
            <a:endParaRPr lang="en-US" sz="900" dirty="0"/>
          </a:p>
        </p:txBody>
      </p:sp>
      <p:sp>
        <p:nvSpPr>
          <p:cNvPr id="23" name="!!axyt3"/>
          <p:cNvSpPr txBox="1"/>
          <p:nvPr/>
        </p:nvSpPr>
        <p:spPr>
          <a:xfrm>
            <a:off x="50292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100 µA</a:t>
            </a:r>
            <a:endParaRPr lang="en-US" sz="900" dirty="0"/>
          </a:p>
        </p:txBody>
      </p:sp>
      <p:sp>
        <p:nvSpPr>
          <p:cNvPr id="24" name="!!axxl"/>
          <p:cNvSpPr txBox="1"/>
          <p:nvPr/>
        </p:nvSpPr>
        <p:spPr>
          <a:xfrm>
            <a:off x="1188720" y="5349240"/>
            <a:ext cx="539496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25" name="!!axyl"/>
          <p:cNvSpPr txBox="1"/>
          <p:nvPr/>
        </p:nvSpPr>
        <p:spPr>
          <a:xfrm>
            <a:off x="100584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I</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at V</a:t>
            </a:r>
            <a:pPr algn="l" indent="0" marL="0">
              <a:buNone/>
            </a:pPr>
            <a:r>
              <a:rPr lang="en-US" sz="1100" baseline="-40000" dirty="0">
                <a:solidFill>
                  <a:srgbClr val="5C5E62"/>
                </a:solidFill>
                <a:latin typeface="Segoe UI" pitchFamily="34" charset="0"/>
                <a:ea typeface="Segoe UI" pitchFamily="34" charset="-122"/>
                <a:cs typeface="Segoe UI" pitchFamily="34" charset="-120"/>
              </a:rPr>
              <a:t>D</a:t>
            </a:r>
            <a:pPr algn="l" indent="0" marL="0">
              <a:buNone/>
            </a:pPr>
            <a:r>
              <a:rPr lang="en-US" sz="1100" dirty="0">
                <a:solidFill>
                  <a:srgbClr val="5C5E62"/>
                </a:solidFill>
                <a:latin typeface="Segoe UI" pitchFamily="34" charset="0"/>
                <a:ea typeface="Segoe UI" pitchFamily="34" charset="-122"/>
                <a:cs typeface="Segoe UI" pitchFamily="34" charset="-120"/>
              </a:rPr>
              <a:t> = 0.7 V (log)</a:t>
            </a:r>
            <a:endParaRPr lang="en-US" sz="1100" dirty="0"/>
          </a:p>
        </p:txBody>
      </p:sp>
      <p:sp>
        <p:nvSpPr>
          <p:cNvPr id="26" name="!!l2R"/>
          <p:cNvSpPr/>
          <p:nvPr/>
        </p:nvSpPr>
        <p:spPr>
          <a:xfrm>
            <a:off x="1188720" y="2008059"/>
            <a:ext cx="5394960" cy="2618572"/>
          </a:xfrm>
          <a:custGeom>
            <a:avLst/>
            <a:gdLst/>
            <a:ahLst/>
            <a:cxnLst/>
            <a:rect l="l" t="t" r="r" b="b"/>
            <a:pathLst>
              <a:path w="5394960" h="2618572">
                <a:moveTo>
                  <a:pt x="0" y="2618572"/>
                </a:moveTo>
                <a:lnTo>
                  <a:pt x="192677" y="2416160"/>
                </a:lnTo>
                <a:lnTo>
                  <a:pt x="385354" y="2209262"/>
                </a:lnTo>
                <a:lnTo>
                  <a:pt x="578031" y="2001063"/>
                </a:lnTo>
                <a:lnTo>
                  <a:pt x="770709" y="1793150"/>
                </a:lnTo>
                <a:lnTo>
                  <a:pt x="963386" y="1586729"/>
                </a:lnTo>
                <a:lnTo>
                  <a:pt x="1156063" y="1383467"/>
                </a:lnTo>
                <a:lnTo>
                  <a:pt x="1348740" y="1187856"/>
                </a:lnTo>
                <a:lnTo>
                  <a:pt x="1541417" y="1005484"/>
                </a:lnTo>
                <a:lnTo>
                  <a:pt x="1734094" y="840826"/>
                </a:lnTo>
                <a:lnTo>
                  <a:pt x="1926771" y="697402"/>
                </a:lnTo>
                <a:lnTo>
                  <a:pt x="2119449" y="582783"/>
                </a:lnTo>
                <a:lnTo>
                  <a:pt x="2312126" y="497298"/>
                </a:lnTo>
                <a:lnTo>
                  <a:pt x="2504803" y="433857"/>
                </a:lnTo>
                <a:lnTo>
                  <a:pt x="2697480" y="381898"/>
                </a:lnTo>
                <a:lnTo>
                  <a:pt x="2890157" y="336451"/>
                </a:lnTo>
                <a:lnTo>
                  <a:pt x="3082834" y="295720"/>
                </a:lnTo>
                <a:lnTo>
                  <a:pt x="3275511" y="258831"/>
                </a:lnTo>
                <a:lnTo>
                  <a:pt x="3468189" y="225194"/>
                </a:lnTo>
                <a:lnTo>
                  <a:pt x="3660866" y="194372"/>
                </a:lnTo>
                <a:lnTo>
                  <a:pt x="3853543" y="166009"/>
                </a:lnTo>
                <a:lnTo>
                  <a:pt x="4046220" y="139811"/>
                </a:lnTo>
                <a:lnTo>
                  <a:pt x="4238897" y="115528"/>
                </a:lnTo>
                <a:lnTo>
                  <a:pt x="4431574" y="92947"/>
                </a:lnTo>
                <a:lnTo>
                  <a:pt x="4624251" y="71887"/>
                </a:lnTo>
                <a:lnTo>
                  <a:pt x="4816929" y="52189"/>
                </a:lnTo>
                <a:lnTo>
                  <a:pt x="5009606" y="33718"/>
                </a:lnTo>
                <a:lnTo>
                  <a:pt x="5202283" y="16356"/>
                </a:lnTo>
                <a:lnTo>
                  <a:pt x="5394960" y="0"/>
                </a:lnTo>
              </a:path>
            </a:pathLst>
          </a:custGeom>
          <a:ln w="25400">
            <a:solidFill>
              <a:srgbClr val="9BB3EF"/>
            </a:solidFill>
            <a:prstDash val="solid"/>
          </a:ln>
        </p:spPr>
      </p:sp>
      <p:sp>
        <p:nvSpPr>
          <p:cNvPr id="27" name="!!l2D"/>
          <p:cNvSpPr/>
          <p:nvPr/>
        </p:nvSpPr>
        <p:spPr>
          <a:xfrm>
            <a:off x="1188720" y="2028020"/>
            <a:ext cx="5394960" cy="2826890"/>
          </a:xfrm>
          <a:custGeom>
            <a:avLst/>
            <a:gdLst/>
            <a:ahLst/>
            <a:cxnLst/>
            <a:rect l="l" t="t" r="r" b="b"/>
            <a:pathLst>
              <a:path w="5394960" h="2826890">
                <a:moveTo>
                  <a:pt x="0" y="2826890"/>
                </a:moveTo>
                <a:lnTo>
                  <a:pt x="192677" y="2638087"/>
                </a:lnTo>
                <a:lnTo>
                  <a:pt x="385354" y="2437185"/>
                </a:lnTo>
                <a:lnTo>
                  <a:pt x="578031" y="2230858"/>
                </a:lnTo>
                <a:lnTo>
                  <a:pt x="770709" y="2022755"/>
                </a:lnTo>
                <a:lnTo>
                  <a:pt x="963386" y="1814736"/>
                </a:lnTo>
                <a:lnTo>
                  <a:pt x="1156063" y="1607872"/>
                </a:lnTo>
                <a:lnTo>
                  <a:pt x="1348740" y="1403754"/>
                </a:lnTo>
                <a:lnTo>
                  <a:pt x="1541417" y="1206019"/>
                </a:lnTo>
                <a:lnTo>
                  <a:pt x="1734094" y="1020561"/>
                </a:lnTo>
                <a:lnTo>
                  <a:pt x="1926771" y="852240"/>
                </a:lnTo>
                <a:lnTo>
                  <a:pt x="2119449" y="704182"/>
                </a:lnTo>
                <a:lnTo>
                  <a:pt x="2312126" y="583088"/>
                </a:lnTo>
                <a:lnTo>
                  <a:pt x="2504803" y="492358"/>
                </a:lnTo>
                <a:lnTo>
                  <a:pt x="2697480" y="425534"/>
                </a:lnTo>
                <a:lnTo>
                  <a:pt x="2890157" y="371873"/>
                </a:lnTo>
                <a:lnTo>
                  <a:pt x="3082834" y="325345"/>
                </a:lnTo>
                <a:lnTo>
                  <a:pt x="3275511" y="283774"/>
                </a:lnTo>
                <a:lnTo>
                  <a:pt x="3468189" y="246186"/>
                </a:lnTo>
                <a:lnTo>
                  <a:pt x="3660866" y="211950"/>
                </a:lnTo>
                <a:lnTo>
                  <a:pt x="3853543" y="180607"/>
                </a:lnTo>
                <a:lnTo>
                  <a:pt x="4046220" y="151787"/>
                </a:lnTo>
                <a:lnTo>
                  <a:pt x="4238897" y="125182"/>
                </a:lnTo>
                <a:lnTo>
                  <a:pt x="4431574" y="100535"/>
                </a:lnTo>
                <a:lnTo>
                  <a:pt x="4624251" y="77628"/>
                </a:lnTo>
                <a:lnTo>
                  <a:pt x="4816929" y="56272"/>
                </a:lnTo>
                <a:lnTo>
                  <a:pt x="5009606" y="36306"/>
                </a:lnTo>
                <a:lnTo>
                  <a:pt x="5202283" y="17589"/>
                </a:lnTo>
                <a:lnTo>
                  <a:pt x="5394960" y="0"/>
                </a:lnTo>
              </a:path>
            </a:pathLst>
          </a:custGeom>
          <a:ln w="38100">
            <a:solidFill>
              <a:srgbClr val="2E9E4F"/>
            </a:solidFill>
            <a:prstDash val="solid"/>
          </a:ln>
        </p:spPr>
      </p:sp>
      <p:sp>
        <p:nvSpPr>
          <p:cNvPr id="28" name="!!l2RL"/>
          <p:cNvSpPr txBox="1"/>
          <p:nvPr/>
        </p:nvSpPr>
        <p:spPr>
          <a:xfrm>
            <a:off x="1860151" y="2114598"/>
            <a:ext cx="2011680" cy="219456"/>
          </a:xfrm>
          <a:prstGeom prst="rect">
            <a:avLst/>
          </a:prstGeom>
          <a:noFill/>
          <a:ln/>
        </p:spPr>
        <p:txBody>
          <a:bodyPr wrap="square" lIns="0" tIns="0" rIns="0" bIns="0" rtlCol="0" anchor="t"/>
          <a:lstStyle/>
          <a:p>
            <a:pPr algn="l" indent="0" marL="0">
              <a:buNone/>
            </a:pPr>
            <a:r>
              <a:rPr lang="en-US" sz="1000" dirty="0">
                <a:solidFill>
                  <a:srgbClr val="3E6AE1"/>
                </a:solidFill>
                <a:latin typeface="Segoe UI Semibold" pitchFamily="34" charset="0"/>
                <a:ea typeface="Segoe UI Semibold" pitchFamily="34" charset="-122"/>
                <a:cs typeface="Segoe UI Semibold" pitchFamily="34" charset="-120"/>
              </a:rPr>
              <a:t>reproduced, WF 4.50 eV</a:t>
            </a:r>
            <a:endParaRPr lang="en-US" sz="1000" dirty="0"/>
          </a:p>
        </p:txBody>
      </p:sp>
      <p:sp>
        <p:nvSpPr>
          <p:cNvPr id="29" name="!!l2DL"/>
          <p:cNvSpPr txBox="1"/>
          <p:nvPr/>
        </p:nvSpPr>
        <p:spPr>
          <a:xfrm>
            <a:off x="3963271" y="2566298"/>
            <a:ext cx="2011680" cy="219456"/>
          </a:xfrm>
          <a:prstGeom prst="rect">
            <a:avLst/>
          </a:prstGeom>
          <a:noFill/>
          <a:ln/>
        </p:spPr>
        <p:txBody>
          <a:bodyPr wrap="square" lIns="0" tIns="0" rIns="0" bIns="0" rtlCol="0" anchor="t"/>
          <a:lstStyle/>
          <a:p>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design D, WF 4.53 eV</a:t>
            </a:r>
            <a:endParaRPr lang="en-US" sz="1000" dirty="0"/>
          </a:p>
        </p:txBody>
      </p:sp>
      <p:sp>
        <p:nvSpPr>
          <p:cNvPr id="30" name="!!chip0"/>
          <p:cNvSpPr/>
          <p:nvPr/>
        </p:nvSpPr>
        <p:spPr>
          <a:xfrm>
            <a:off x="7132320" y="1691640"/>
            <a:ext cx="2176272" cy="777240"/>
          </a:xfrm>
          <a:prstGeom prst="roundRect">
            <a:avLst>
              <a:gd name="adj" fmla="val 7059"/>
            </a:avLst>
          </a:prstGeom>
          <a:solidFill>
            <a:srgbClr val="F4F5F7"/>
          </a:solidFill>
          <a:ln/>
        </p:spPr>
      </p:sp>
      <p:sp>
        <p:nvSpPr>
          <p:cNvPr id="31" name="!!chipk0"/>
          <p:cNvSpPr txBox="1"/>
          <p:nvPr/>
        </p:nvSpPr>
        <p:spPr>
          <a:xfrm>
            <a:off x="7242048" y="1764792"/>
            <a:ext cx="19568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V</a:t>
            </a:r>
            <a:pPr algn="l" indent="0" marL="0">
              <a:buNone/>
            </a:pPr>
            <a:r>
              <a:rPr lang="en-US" sz="1000" baseline="-40000" dirty="0">
                <a:solidFill>
                  <a:srgbClr val="5C5E62"/>
                </a:solidFill>
                <a:latin typeface="Segoe UI" pitchFamily="34" charset="0"/>
                <a:ea typeface="Segoe UI" pitchFamily="34" charset="-122"/>
                <a:cs typeface="Segoe UI" pitchFamily="34" charset="-120"/>
              </a:rPr>
              <a:t>T</a:t>
            </a:r>
            <a:endParaRPr lang="en-US" sz="1000" dirty="0"/>
          </a:p>
        </p:txBody>
      </p:sp>
      <p:sp>
        <p:nvSpPr>
          <p:cNvPr id="32" name="!!chipv0"/>
          <p:cNvSpPr txBox="1"/>
          <p:nvPr/>
        </p:nvSpPr>
        <p:spPr>
          <a:xfrm>
            <a:off x="7242048" y="2002536"/>
            <a:ext cx="19933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0.233 V</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33" name="!!chip1"/>
          <p:cNvSpPr/>
          <p:nvPr/>
        </p:nvSpPr>
        <p:spPr>
          <a:xfrm>
            <a:off x="9464040" y="1691640"/>
            <a:ext cx="2176272" cy="777240"/>
          </a:xfrm>
          <a:prstGeom prst="roundRect">
            <a:avLst>
              <a:gd name="adj" fmla="val 7059"/>
            </a:avLst>
          </a:prstGeom>
          <a:solidFill>
            <a:srgbClr val="F4F5F7"/>
          </a:solidFill>
          <a:ln/>
        </p:spPr>
      </p:sp>
      <p:sp>
        <p:nvSpPr>
          <p:cNvPr id="34" name="!!chipk1"/>
          <p:cNvSpPr txBox="1"/>
          <p:nvPr/>
        </p:nvSpPr>
        <p:spPr>
          <a:xfrm>
            <a:off x="9573768" y="1764792"/>
            <a:ext cx="19568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I</a:t>
            </a:r>
            <a:pPr algn="l" indent="0" marL="0">
              <a:buNone/>
            </a:pPr>
            <a:r>
              <a:rPr lang="en-US" sz="1000" baseline="-40000" dirty="0">
                <a:solidFill>
                  <a:srgbClr val="5C5E62"/>
                </a:solidFill>
                <a:latin typeface="Segoe UI" pitchFamily="34" charset="0"/>
                <a:ea typeface="Segoe UI" pitchFamily="34" charset="-122"/>
                <a:cs typeface="Segoe UI" pitchFamily="34" charset="-120"/>
              </a:rPr>
              <a:t>off</a:t>
            </a:r>
            <a:endParaRPr lang="en-US" sz="1000" dirty="0"/>
          </a:p>
        </p:txBody>
      </p:sp>
      <p:sp>
        <p:nvSpPr>
          <p:cNvPr id="35" name="!!chipv1"/>
          <p:cNvSpPr txBox="1"/>
          <p:nvPr/>
        </p:nvSpPr>
        <p:spPr>
          <a:xfrm>
            <a:off x="9573768" y="2002536"/>
            <a:ext cx="19933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246 pA</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36" name="!!chip2"/>
          <p:cNvSpPr/>
          <p:nvPr/>
        </p:nvSpPr>
        <p:spPr>
          <a:xfrm>
            <a:off x="7132320" y="2624328"/>
            <a:ext cx="2176272" cy="777240"/>
          </a:xfrm>
          <a:prstGeom prst="roundRect">
            <a:avLst>
              <a:gd name="adj" fmla="val 7059"/>
            </a:avLst>
          </a:prstGeom>
          <a:solidFill>
            <a:srgbClr val="F4F5F7"/>
          </a:solidFill>
          <a:ln/>
        </p:spPr>
      </p:sp>
      <p:sp>
        <p:nvSpPr>
          <p:cNvPr id="37" name="!!chipk2"/>
          <p:cNvSpPr txBox="1"/>
          <p:nvPr/>
        </p:nvSpPr>
        <p:spPr>
          <a:xfrm>
            <a:off x="7242048" y="2697480"/>
            <a:ext cx="19568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I</a:t>
            </a:r>
            <a:pPr algn="l" indent="0" marL="0">
              <a:buNone/>
            </a:pPr>
            <a:r>
              <a:rPr lang="en-US" sz="1000" baseline="-40000" dirty="0">
                <a:solidFill>
                  <a:srgbClr val="5C5E62"/>
                </a:solidFill>
                <a:latin typeface="Segoe UI" pitchFamily="34" charset="0"/>
                <a:ea typeface="Segoe UI" pitchFamily="34" charset="-122"/>
                <a:cs typeface="Segoe UI" pitchFamily="34" charset="-120"/>
              </a:rPr>
              <a:t>on</a:t>
            </a:r>
            <a:endParaRPr lang="en-US" sz="1000" dirty="0"/>
          </a:p>
        </p:txBody>
      </p:sp>
      <p:sp>
        <p:nvSpPr>
          <p:cNvPr id="38" name="!!chipv2"/>
          <p:cNvSpPr txBox="1"/>
          <p:nvPr/>
        </p:nvSpPr>
        <p:spPr>
          <a:xfrm>
            <a:off x="7242048" y="2935224"/>
            <a:ext cx="19933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25.3 µA</a:t>
            </a:r>
            <a:pPr algn="l" indent="0" marL="0">
              <a:buNone/>
            </a:pPr>
            <a:r>
              <a:rPr lang="en-US" sz="1000" dirty="0">
                <a:solidFill>
                  <a:srgbClr val="D64545"/>
                </a:solidFill>
                <a:latin typeface="Segoe UI Semibold" pitchFamily="34" charset="0"/>
                <a:ea typeface="Segoe UI Semibold" pitchFamily="34" charset="-122"/>
                <a:cs typeface="Segoe UI Semibold" pitchFamily="34" charset="-120"/>
              </a:rPr>
              <a:t> ▼</a:t>
            </a:r>
            <a:endParaRPr lang="en-US" sz="1500" dirty="0"/>
          </a:p>
        </p:txBody>
      </p:sp>
      <p:sp>
        <p:nvSpPr>
          <p:cNvPr id="39" name="!!chip3"/>
          <p:cNvSpPr/>
          <p:nvPr/>
        </p:nvSpPr>
        <p:spPr>
          <a:xfrm>
            <a:off x="9464040" y="2624328"/>
            <a:ext cx="2176272" cy="777240"/>
          </a:xfrm>
          <a:prstGeom prst="roundRect">
            <a:avLst>
              <a:gd name="adj" fmla="val 7059"/>
            </a:avLst>
          </a:prstGeom>
          <a:solidFill>
            <a:srgbClr val="F4F5F7"/>
          </a:solidFill>
          <a:ln/>
        </p:spPr>
      </p:sp>
      <p:sp>
        <p:nvSpPr>
          <p:cNvPr id="40" name="!!chipk3"/>
          <p:cNvSpPr txBox="1"/>
          <p:nvPr/>
        </p:nvSpPr>
        <p:spPr>
          <a:xfrm>
            <a:off x="9573768" y="2697480"/>
            <a:ext cx="1956816" cy="219456"/>
          </a:xfrm>
          <a:prstGeom prst="rect">
            <a:avLst/>
          </a:prstGeom>
          <a:noFill/>
          <a:ln/>
        </p:spPr>
        <p:txBody>
          <a:bodyPr wrap="square" lIns="0" tIns="0" rIns="0" bIns="0" rtlCol="0" anchor="t"/>
          <a:lstStyle/>
          <a:p>
            <a:pPr algn="l" indent="0" marL="0">
              <a:buNone/>
            </a:pPr>
            <a:r>
              <a:rPr lang="en-US" sz="1000" dirty="0">
                <a:solidFill>
                  <a:srgbClr val="5C5E62"/>
                </a:solidFill>
                <a:latin typeface="Segoe UI" pitchFamily="34" charset="0"/>
                <a:ea typeface="Segoe UI" pitchFamily="34" charset="-122"/>
                <a:cs typeface="Segoe UI" pitchFamily="34" charset="-120"/>
              </a:rPr>
              <a:t>P</a:t>
            </a:r>
            <a:pPr algn="l" indent="0" marL="0">
              <a:buNone/>
            </a:pPr>
            <a:r>
              <a:rPr lang="en-US" sz="1000" baseline="-40000" dirty="0">
                <a:solidFill>
                  <a:srgbClr val="5C5E62"/>
                </a:solidFill>
                <a:latin typeface="Segoe UI" pitchFamily="34" charset="0"/>
                <a:ea typeface="Segoe UI" pitchFamily="34" charset="-122"/>
                <a:cs typeface="Segoe UI" pitchFamily="34" charset="-120"/>
              </a:rPr>
              <a:t>on</a:t>
            </a:r>
            <a:endParaRPr lang="en-US" sz="1000" dirty="0"/>
          </a:p>
        </p:txBody>
      </p:sp>
      <p:sp>
        <p:nvSpPr>
          <p:cNvPr id="41" name="!!chipv3"/>
          <p:cNvSpPr txBox="1"/>
          <p:nvPr/>
        </p:nvSpPr>
        <p:spPr>
          <a:xfrm>
            <a:off x="9573768" y="2935224"/>
            <a:ext cx="1993392" cy="329184"/>
          </a:xfrm>
          <a:prstGeom prst="rect">
            <a:avLst/>
          </a:prstGeom>
          <a:noFill/>
          <a:ln/>
        </p:spPr>
        <p:txBody>
          <a:bodyPr wrap="square" lIns="0" tIns="0" rIns="0" bIns="0" rtlCol="0" anchor="ctr"/>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17.7 µW</a:t>
            </a:r>
            <a:pPr algn="l" indent="0" marL="0">
              <a:buNone/>
            </a:pPr>
            <a:r>
              <a:rPr lang="en-US" sz="1000" dirty="0">
                <a:solidFill>
                  <a:srgbClr val="2E9E4F"/>
                </a:solidFill>
                <a:latin typeface="Segoe UI Semibold" pitchFamily="34" charset="0"/>
                <a:ea typeface="Segoe UI Semibold" pitchFamily="34" charset="-122"/>
                <a:cs typeface="Segoe UI Semibold" pitchFamily="34" charset="-120"/>
              </a:rPr>
              <a:t> ▼</a:t>
            </a:r>
            <a:endParaRPr lang="en-US" sz="1500" dirty="0"/>
          </a:p>
        </p:txBody>
      </p:sp>
      <p:sp>
        <p:nvSpPr>
          <p:cNvPr id="42" name="!!l2Sum"/>
          <p:cNvSpPr txBox="1"/>
          <p:nvPr/>
        </p:nvSpPr>
        <p:spPr>
          <a:xfrm>
            <a:off x="7132320" y="3611880"/>
            <a:ext cx="4507992" cy="548640"/>
          </a:xfrm>
          <a:prstGeom prst="rect">
            <a:avLst/>
          </a:prstGeom>
          <a:noFill/>
          <a:ln/>
        </p:spPr>
        <p:txBody>
          <a:bodyPr wrap="square" lIns="0" tIns="0" rIns="0" bIns="0" rtlCol="0" anchor="t"/>
          <a:lstStyle/>
          <a:p>
            <a:pPr algn="l" indent="0" marL="0">
              <a:buNone/>
            </a:pPr>
            <a:r>
              <a:rPr lang="en-US" sz="1400" dirty="0">
                <a:solidFill>
                  <a:srgbClr val="2E9E4F"/>
                </a:solidFill>
                <a:latin typeface="Segoe UI Semibold" pitchFamily="34" charset="0"/>
                <a:ea typeface="Segoe UI Semibold" pitchFamily="34" charset="-122"/>
                <a:cs typeface="Segoe UI Semibold" pitchFamily="34" charset="-120"/>
              </a:rPr>
              <a:t>+29 mV V</a:t>
            </a:r>
            <a:pPr algn="l" indent="0" marL="0">
              <a:buNone/>
            </a:pPr>
            <a:r>
              <a:rPr lang="en-US" sz="1400" baseline="-40000" dirty="0">
                <a:solidFill>
                  <a:srgbClr val="2E9E4F"/>
                </a:solidFill>
                <a:latin typeface="Segoe UI Semibold" pitchFamily="34" charset="0"/>
                <a:ea typeface="Segoe UI Semibold" pitchFamily="34" charset="-122"/>
                <a:cs typeface="Segoe UI Semibold" pitchFamily="34" charset="-120"/>
              </a:rPr>
              <a:t>T</a:t>
            </a:r>
            <a:pPr algn="l" indent="0" marL="0">
              <a:buNone/>
            </a:pPr>
            <a:r>
              <a:rPr lang="en-US" sz="1400" dirty="0">
                <a:solidFill>
                  <a:srgbClr val="2E9E4F"/>
                </a:solidFill>
                <a:latin typeface="Segoe UI Semibold" pitchFamily="34" charset="0"/>
                <a:ea typeface="Segoe UI Semibold" pitchFamily="34" charset="-122"/>
                <a:cs typeface="Segoe UI Semibold" pitchFamily="34" charset="-120"/>
              </a:rPr>
              <a:t> · 2.5× less leakage · −7.8 % I</a:t>
            </a:r>
            <a:pPr algn="l" indent="0" marL="0">
              <a:buNone/>
            </a:pPr>
            <a:r>
              <a:rPr lang="en-US" sz="1400" baseline="-40000" dirty="0">
                <a:solidFill>
                  <a:srgbClr val="2E9E4F"/>
                </a:solidFill>
                <a:latin typeface="Segoe UI Semibold" pitchFamily="34" charset="0"/>
                <a:ea typeface="Segoe UI Semibold" pitchFamily="34" charset="-122"/>
                <a:cs typeface="Segoe UI Semibold" pitchFamily="34" charset="-120"/>
              </a:rPr>
              <a:t>on</a:t>
            </a:r>
            <a:endParaRPr lang="en-US" sz="1400" dirty="0"/>
          </a:p>
        </p:txBody>
      </p:sp>
      <p:sp>
        <p:nvSpPr>
          <p:cNvPr id="43" name="!!knobLbl"/>
          <p:cNvSpPr txBox="1"/>
          <p:nvPr/>
        </p:nvSpPr>
        <p:spPr>
          <a:xfrm>
            <a:off x="7205472" y="4526280"/>
            <a:ext cx="438912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Semibold" pitchFamily="34" charset="0"/>
                <a:ea typeface="Segoe UI Semibold" pitchFamily="34" charset="-122"/>
                <a:cs typeface="Segoe UI Semibold" pitchFamily="34" charset="-120"/>
              </a:rPr>
              <a:t>KNOB: gate work function φm   </a:t>
            </a:r>
            <a:pPr algn="l" indent="0" marL="0">
              <a:buNone/>
            </a:pPr>
            <a:r>
              <a:rPr lang="en-US" sz="1200" dirty="0">
                <a:solidFill>
                  <a:srgbClr val="6B5BC4"/>
                </a:solidFill>
                <a:latin typeface="Segoe UI Semibold" pitchFamily="34" charset="0"/>
                <a:ea typeface="Segoe UI Semibold" pitchFamily="34" charset="-122"/>
                <a:cs typeface="Segoe UI Semibold" pitchFamily="34" charset="-120"/>
              </a:rPr>
              <a:t>4.53 eV</a:t>
            </a:r>
            <a:endParaRPr lang="en-US" sz="1200" dirty="0"/>
          </a:p>
        </p:txBody>
      </p:sp>
      <p:sp>
        <p:nvSpPr>
          <p:cNvPr id="44" name="!!knobTrack"/>
          <p:cNvSpPr/>
          <p:nvPr/>
        </p:nvSpPr>
        <p:spPr>
          <a:xfrm>
            <a:off x="7223760" y="4910328"/>
            <a:ext cx="4297680" cy="54864"/>
          </a:xfrm>
          <a:prstGeom prst="roundRect">
            <a:avLst>
              <a:gd name="adj" fmla="val 50000"/>
            </a:avLst>
          </a:prstGeom>
          <a:solidFill>
            <a:srgbClr val="E2E3E3"/>
          </a:solidFill>
          <a:ln/>
        </p:spPr>
      </p:sp>
      <p:sp>
        <p:nvSpPr>
          <p:cNvPr id="45" name="!!knobFill"/>
          <p:cNvSpPr/>
          <p:nvPr/>
        </p:nvSpPr>
        <p:spPr>
          <a:xfrm>
            <a:off x="7223760" y="4910328"/>
            <a:ext cx="2455817" cy="54864"/>
          </a:xfrm>
          <a:prstGeom prst="roundRect">
            <a:avLst>
              <a:gd name="adj" fmla="val 50000"/>
            </a:avLst>
          </a:prstGeom>
          <a:solidFill>
            <a:srgbClr val="6B5BC4"/>
          </a:solidFill>
          <a:ln/>
        </p:spPr>
      </p:sp>
      <p:sp>
        <p:nvSpPr>
          <p:cNvPr id="46" name="!!knobT0"/>
          <p:cNvSpPr txBox="1"/>
          <p:nvPr/>
        </p:nvSpPr>
        <p:spPr>
          <a:xfrm>
            <a:off x="7471954"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4.50</a:t>
            </a:r>
            <a:endParaRPr lang="en-US" sz="900" dirty="0"/>
          </a:p>
        </p:txBody>
      </p:sp>
      <p:sp>
        <p:nvSpPr>
          <p:cNvPr id="47" name="!!knobT1"/>
          <p:cNvSpPr txBox="1"/>
          <p:nvPr/>
        </p:nvSpPr>
        <p:spPr>
          <a:xfrm>
            <a:off x="9313817"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4.53</a:t>
            </a:r>
            <a:endParaRPr lang="en-US" sz="900" dirty="0"/>
          </a:p>
        </p:txBody>
      </p:sp>
      <p:sp>
        <p:nvSpPr>
          <p:cNvPr id="48" name="!!knobT2"/>
          <p:cNvSpPr txBox="1"/>
          <p:nvPr/>
        </p:nvSpPr>
        <p:spPr>
          <a:xfrm>
            <a:off x="10541726" y="5047488"/>
            <a:ext cx="731520" cy="201168"/>
          </a:xfrm>
          <a:prstGeom prst="rect">
            <a:avLst/>
          </a:prstGeom>
          <a:noFill/>
          <a:ln/>
        </p:spPr>
        <p:txBody>
          <a:bodyPr wrap="square" lIns="0" tIns="0" rIns="0" bIns="0" rtlCol="0" anchor="t"/>
          <a:lstStyle/>
          <a:p>
            <a:pPr algn="ctr" indent="0" marL="0">
              <a:buNone/>
            </a:pPr>
            <a:r>
              <a:rPr lang="en-US" sz="900" dirty="0">
                <a:solidFill>
                  <a:srgbClr val="8A8D93"/>
                </a:solidFill>
                <a:latin typeface="Segoe UI" pitchFamily="34" charset="0"/>
                <a:ea typeface="Segoe UI" pitchFamily="34" charset="-122"/>
                <a:cs typeface="Segoe UI" pitchFamily="34" charset="-120"/>
              </a:rPr>
              <a:t>4.55</a:t>
            </a:r>
            <a:endParaRPr lang="en-US" sz="900" dirty="0"/>
          </a:p>
        </p:txBody>
      </p:sp>
      <p:sp>
        <p:nvSpPr>
          <p:cNvPr id="49" name="!!knobThumb"/>
          <p:cNvSpPr/>
          <p:nvPr/>
        </p:nvSpPr>
        <p:spPr>
          <a:xfrm>
            <a:off x="9578993" y="4837176"/>
            <a:ext cx="201168" cy="201168"/>
          </a:xfrm>
          <a:prstGeom prst="ellipse">
            <a:avLst/>
          </a:prstGeom>
          <a:solidFill>
            <a:srgbClr val="FFFFFF"/>
          </a:solidFill>
          <a:ln w="28575">
            <a:solidFill>
              <a:srgbClr val="6B5BC4"/>
            </a:solidFill>
            <a:prstDash val="solid"/>
          </a:ln>
        </p:spPr>
      </p:sp>
      <p:sp>
        <p:nvSpPr>
          <p:cNvPr id="50"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Less power P gives a lower ΔT = R</a:t>
            </a:r>
            <a:pPr algn="ctr" indent="0" marL="0">
              <a:buNone/>
            </a:pPr>
            <a:r>
              <a:rPr lang="en-US" sz="1600" baseline="-40000" dirty="0">
                <a:solidFill>
                  <a:srgbClr val="171A20"/>
                </a:solidFill>
                <a:latin typeface="Segoe UI" pitchFamily="34" charset="0"/>
                <a:ea typeface="Segoe UI" pitchFamily="34" charset="-122"/>
                <a:cs typeface="Segoe UI" pitchFamily="34" charset="-120"/>
              </a:rPr>
              <a:t>th</a:t>
            </a:r>
            <a:pPr algn="ctr" indent="0" marL="0">
              <a:buNone/>
            </a:pPr>
            <a:r>
              <a:rPr lang="en-US" sz="1600" dirty="0">
                <a:solidFill>
                  <a:srgbClr val="171A20"/>
                </a:solidFill>
                <a:latin typeface="Segoe UI" pitchFamily="34" charset="0"/>
                <a:ea typeface="Segoe UI" pitchFamily="34" charset="-122"/>
                <a:cs typeface="Segoe UI" pitchFamily="34" charset="-120"/>
              </a:rPr>
              <a:t> · P, and leakage falls too.</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141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3 – Four designs on the calibrated deck</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Rule: lowest ΔT with I</a:t>
            </a:r>
            <a:pPr algn="l" indent="0" marL="0">
              <a:buNone/>
            </a:pPr>
            <a:r>
              <a:rPr lang="en-US" sz="1600" baseline="-40000" dirty="0">
                <a:solidFill>
                  <a:srgbClr val="5C5E62"/>
                </a:solidFill>
                <a:latin typeface="Segoe UI" pitchFamily="34" charset="0"/>
                <a:ea typeface="Segoe UI" pitchFamily="34" charset="-122"/>
                <a:cs typeface="Segoe UI" pitchFamily="34" charset="-120"/>
              </a:rPr>
              <a:t>on</a:t>
            </a:r>
            <a:pPr algn="l" indent="0" marL="0">
              <a:buNone/>
            </a:pPr>
            <a:r>
              <a:rPr lang="en-US" sz="1600" dirty="0">
                <a:solidFill>
                  <a:srgbClr val="5C5E62"/>
                </a:solidFill>
                <a:latin typeface="Segoe UI" pitchFamily="34" charset="0"/>
                <a:ea typeface="Segoe UI" pitchFamily="34" charset="-122"/>
                <a:cs typeface="Segoe UI" pitchFamily="34" charset="-120"/>
              </a:rPr>
              <a:t> within 10 % of the reproduced device and I</a:t>
            </a:r>
            <a:pPr algn="l" indent="0" marL="0">
              <a:buNone/>
            </a:pPr>
            <a:r>
              <a:rPr lang="en-US" sz="1600" baseline="-40000" dirty="0">
                <a:solidFill>
                  <a:srgbClr val="5C5E62"/>
                </a:solidFill>
                <a:latin typeface="Segoe UI" pitchFamily="34" charset="0"/>
                <a:ea typeface="Segoe UI" pitchFamily="34" charset="-122"/>
                <a:cs typeface="Segoe UI" pitchFamily="34" charset="-120"/>
              </a:rPr>
              <a:t>off</a:t>
            </a:r>
            <a:pPr algn="l" indent="0" marL="0">
              <a:buNone/>
            </a:pPr>
            <a:r>
              <a:rPr lang="en-US" sz="1600" dirty="0">
                <a:solidFill>
                  <a:srgbClr val="5C5E62"/>
                </a:solidFill>
                <a:latin typeface="Segoe UI" pitchFamily="34" charset="0"/>
                <a:ea typeface="Segoe UI" pitchFamily="34" charset="-122"/>
                <a:cs typeface="Segoe UI" pitchFamily="34" charset="-120"/>
              </a:rPr>
              <a:t> no worse</a:t>
            </a:r>
            <a:endParaRPr lang="en-US" sz="1600" dirty="0"/>
          </a:p>
        </p:txBody>
      </p:sp>
      <p:graphicFrame>
        <p:nvGraphicFramePr>
          <p:cNvPr id="4" name="Chart 0" descr=""/>
          <p:cNvGraphicFramePr/>
          <p:nvPr/>
        </p:nvGraphicFramePr>
        <p:xfrm>
          <a:off x="548640" y="1463040"/>
          <a:ext cx="585216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143" name="Table 0"/>
          <p:cNvGraphicFramePr>
            <a:graphicFrameLocks noGrp="1"/>
          </p:cNvGraphicFramePr>
          <p:nvPr>
            <p:extLst>
              <p:ext uri="{D42A27DB-BD31-4B8C-83A1-F6EECF244321}">
                <p14:modId xmlns:p14="http://schemas.microsoft.com/office/powerpoint/2010/main" val="1579011935"/>
              </p:ext>
            </p:extLst>
          </p:nvPr>
        </p:nvGraphicFramePr>
        <p:xfrm>
          <a:off x="6766560" y="1554480"/>
          <a:ext cx="4873752" cy="914400"/>
        </p:xfrm>
        <a:graphic>
          <a:graphicData uri="http://schemas.openxmlformats.org/drawingml/2006/table">
            <a:tbl>
              <a:tblPr/>
              <a:tblGrid>
                <a:gridCol w="1280160"/>
                <a:gridCol w="1005840"/>
                <a:gridCol w="1097280"/>
                <a:gridCol w="1490472"/>
              </a:tblGrid>
              <a:tr h="438912">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Design</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ΔT (K)</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I</a:t>
                      </a:r>
                      <a:pPr indent="0" marL="0">
                        <a:buNone/>
                      </a:pPr>
                      <a:r>
                        <a:rPr lang="en-US" sz="1400" b="1" baseline="-40000" dirty="0">
                          <a:solidFill>
                            <a:srgbClr val="FFFFFF"/>
                          </a:solidFill>
                          <a:latin typeface="Segoe UI" pitchFamily="34" charset="0"/>
                          <a:ea typeface="Segoe UI" pitchFamily="34" charset="-122"/>
                          <a:cs typeface="Segoe UI" pitchFamily="34" charset="-120"/>
                        </a:rPr>
                        <a:t>off</a:t>
                      </a:r>
                      <a:pPr indent="0" marL="0">
                        <a:buNone/>
                      </a:pPr>
                      <a:r>
                        <a:rPr lang="en-US" sz="1400" b="1" dirty="0">
                          <a:solidFill>
                            <a:srgbClr val="FFFFFF"/>
                          </a:solidFill>
                          <a:latin typeface="Segoe UI" pitchFamily="34" charset="0"/>
                          <a:ea typeface="Segoe UI" pitchFamily="34" charset="-122"/>
                          <a:cs typeface="Segoe UI" pitchFamily="34" charset="-120"/>
                        </a:rPr>
                        <a:t> (pA)</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Rule</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r>
              <a:tr h="438912">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Reproduced</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43.6</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624</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38912">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A</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39.0</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624</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I</a:t>
                      </a:r>
                      <a:pPr indent="0" marL="0">
                        <a:buNone/>
                      </a:pPr>
                      <a:r>
                        <a:rPr lang="en-US" sz="1300" baseline="-40000" dirty="0">
                          <a:solidFill>
                            <a:srgbClr val="171A20"/>
                          </a:solidFill>
                          <a:latin typeface="Segoe UI" pitchFamily="34" charset="0"/>
                          <a:ea typeface="Segoe UI" pitchFamily="34" charset="-122"/>
                          <a:cs typeface="Segoe UI" pitchFamily="34" charset="-120"/>
                        </a:rPr>
                        <a:t>off</a:t>
                      </a:r>
                      <a:pPr indent="0" marL="0">
                        <a:buNone/>
                      </a:pPr>
                      <a:r>
                        <a:rPr lang="en-US" sz="1300" dirty="0">
                          <a:solidFill>
                            <a:srgbClr val="171A20"/>
                          </a:solidFill>
                          <a:latin typeface="Segoe UI" pitchFamily="34" charset="0"/>
                          <a:ea typeface="Segoe UI" pitchFamily="34" charset="-122"/>
                          <a:cs typeface="Segoe UI" pitchFamily="34" charset="-120"/>
                        </a:rPr>
                        <a:t> same</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38912">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B</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39.0</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141</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D64545"/>
                          </a:solidFill>
                          <a:latin typeface="Segoe UI" pitchFamily="34" charset="0"/>
                          <a:ea typeface="Segoe UI" pitchFamily="34" charset="-122"/>
                          <a:cs typeface="Segoe UI" pitchFamily="34" charset="-120"/>
                        </a:rPr>
                        <a:t>I</a:t>
                      </a:r>
                      <a:pPr indent="0" marL="0">
                        <a:buNone/>
                      </a:pPr>
                      <a:r>
                        <a:rPr lang="en-US" sz="1300" baseline="-40000" dirty="0">
                          <a:solidFill>
                            <a:srgbClr val="D64545"/>
                          </a:solidFill>
                          <a:latin typeface="Segoe UI" pitchFamily="34" charset="0"/>
                          <a:ea typeface="Segoe UI" pitchFamily="34" charset="-122"/>
                          <a:cs typeface="Segoe UI" pitchFamily="34" charset="-120"/>
                        </a:rPr>
                        <a:t>on</a:t>
                      </a:r>
                      <a:pPr indent="0" marL="0">
                        <a:buNone/>
                      </a:pPr>
                      <a:r>
                        <a:rPr lang="en-US" sz="1300" dirty="0">
                          <a:solidFill>
                            <a:srgbClr val="D64545"/>
                          </a:solidFill>
                          <a:latin typeface="Segoe UI" pitchFamily="34" charset="0"/>
                          <a:ea typeface="Segoe UI" pitchFamily="34" charset="-122"/>
                          <a:cs typeface="Segoe UI" pitchFamily="34" charset="-120"/>
                        </a:rPr>
                        <a:t> −12.9 %</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38912">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C</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34.8</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171A20"/>
                          </a:solidFill>
                          <a:latin typeface="Segoe UI" pitchFamily="34" charset="0"/>
                          <a:ea typeface="Segoe UI" pitchFamily="34" charset="-122"/>
                          <a:cs typeface="Segoe UI" pitchFamily="34" charset="-120"/>
                        </a:rPr>
                        <a:t>141</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indent="0" marL="0">
                        <a:buNone/>
                      </a:pPr>
                      <a:r>
                        <a:rPr lang="en-US" sz="1300" dirty="0">
                          <a:solidFill>
                            <a:srgbClr val="D64545"/>
                          </a:solidFill>
                          <a:latin typeface="Segoe UI" pitchFamily="34" charset="0"/>
                          <a:ea typeface="Segoe UI" pitchFamily="34" charset="-122"/>
                          <a:cs typeface="Segoe UI" pitchFamily="34" charset="-120"/>
                        </a:rPr>
                        <a:t>I</a:t>
                      </a:r>
                      <a:pPr indent="0" marL="0">
                        <a:buNone/>
                      </a:pPr>
                      <a:r>
                        <a:rPr lang="en-US" sz="1300" baseline="-40000" dirty="0">
                          <a:solidFill>
                            <a:srgbClr val="D64545"/>
                          </a:solidFill>
                          <a:latin typeface="Segoe UI" pitchFamily="34" charset="0"/>
                          <a:ea typeface="Segoe UI" pitchFamily="34" charset="-122"/>
                          <a:cs typeface="Segoe UI" pitchFamily="34" charset="-120"/>
                        </a:rPr>
                        <a:t>on</a:t>
                      </a:r>
                      <a:pPr indent="0" marL="0">
                        <a:buNone/>
                      </a:pPr>
                      <a:r>
                        <a:rPr lang="en-US" sz="1300" dirty="0">
                          <a:solidFill>
                            <a:srgbClr val="D64545"/>
                          </a:solidFill>
                          <a:latin typeface="Segoe UI" pitchFamily="34" charset="0"/>
                          <a:ea typeface="Segoe UI" pitchFamily="34" charset="-122"/>
                          <a:cs typeface="Segoe UI" pitchFamily="34" charset="-120"/>
                        </a:rPr>
                        <a:t> −13 %</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438912">
                <a:tc>
                  <a:txBody>
                    <a:bodyPr/>
                    <a:lstStyle/>
                    <a:p>
                      <a:pPr indent="0" marL="0">
                        <a:buNone/>
                      </a:pPr>
                      <a:r>
                        <a:rPr lang="en-US" sz="1300" b="1" dirty="0">
                          <a:solidFill>
                            <a:srgbClr val="2E9E4F"/>
                          </a:solidFill>
                          <a:latin typeface="Segoe UI" pitchFamily="34" charset="0"/>
                          <a:ea typeface="Segoe UI" pitchFamily="34" charset="-122"/>
                          <a:cs typeface="Segoe UI" pitchFamily="34" charset="-120"/>
                        </a:rPr>
                        <a:t>D</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c>
                  <a:txBody>
                    <a:bodyPr/>
                    <a:lstStyle/>
                    <a:p>
                      <a:pPr indent="0" marL="0">
                        <a:buNone/>
                      </a:pPr>
                      <a:r>
                        <a:rPr lang="en-US" sz="1300" b="1" dirty="0">
                          <a:solidFill>
                            <a:srgbClr val="2E9E4F"/>
                          </a:solidFill>
                          <a:latin typeface="Segoe UI" pitchFamily="34" charset="0"/>
                          <a:ea typeface="Segoe UI" pitchFamily="34" charset="-122"/>
                          <a:cs typeface="Segoe UI" pitchFamily="34" charset="-120"/>
                        </a:rPr>
                        <a:t>36.4</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c>
                  <a:txBody>
                    <a:bodyPr/>
                    <a:lstStyle/>
                    <a:p>
                      <a:pPr indent="0" marL="0">
                        <a:buNone/>
                      </a:pPr>
                      <a:r>
                        <a:rPr lang="en-US" sz="1300" b="1" dirty="0">
                          <a:solidFill>
                            <a:srgbClr val="2E9E4F"/>
                          </a:solidFill>
                          <a:latin typeface="Segoe UI" pitchFamily="34" charset="0"/>
                          <a:ea typeface="Segoe UI" pitchFamily="34" charset="-122"/>
                          <a:cs typeface="Segoe UI" pitchFamily="34" charset="-120"/>
                        </a:rPr>
                        <a:t>246</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c>
                  <a:txBody>
                    <a:bodyPr/>
                    <a:lstStyle/>
                    <a:p>
                      <a:pPr indent="0" marL="0">
                        <a:buNone/>
                      </a:pPr>
                      <a:r>
                        <a:rPr lang="en-US" sz="1300" b="1" dirty="0">
                          <a:solidFill>
                            <a:srgbClr val="2E9E4F"/>
                          </a:solidFill>
                          <a:latin typeface="Segoe UI" pitchFamily="34" charset="0"/>
                          <a:ea typeface="Segoe UI" pitchFamily="34" charset="-122"/>
                          <a:cs typeface="Segoe UI" pitchFamily="34" charset="-120"/>
                        </a:rPr>
                        <a:t>all met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r>
            </a:tbl>
          </a:graphicData>
        </a:graphic>
      </p:graphicFrame>
      <p:sp>
        <p:nvSpPr>
          <p:cNvPr id="6" name="Shape 2"/>
          <p:cNvSpPr/>
          <p:nvPr/>
        </p:nvSpPr>
        <p:spPr>
          <a:xfrm>
            <a:off x="6766560" y="4434840"/>
            <a:ext cx="4873752" cy="1097280"/>
          </a:xfrm>
          <a:prstGeom prst="roundRect">
            <a:avLst>
              <a:gd name="adj" fmla="val 5000"/>
            </a:avLst>
          </a:prstGeom>
          <a:solidFill>
            <a:srgbClr val="F4F5F7"/>
          </a:solidFill>
          <a:ln/>
        </p:spPr>
      </p:sp>
      <p:sp>
        <p:nvSpPr>
          <p:cNvPr id="7" name="Text 3"/>
          <p:cNvSpPr txBox="1"/>
          <p:nvPr/>
        </p:nvSpPr>
        <p:spPr>
          <a:xfrm>
            <a:off x="6949440" y="4434840"/>
            <a:ext cx="4572000" cy="1097280"/>
          </a:xfrm>
          <a:prstGeom prst="rect">
            <a:avLst/>
          </a:prstGeom>
          <a:noFill/>
          <a:ln/>
        </p:spPr>
        <p:txBody>
          <a:bodyPr wrap="square" lIns="0" tIns="0" rIns="0" bIns="0" rtlCol="0" anchor="ctr"/>
          <a:lstStyle/>
          <a:p>
            <a:pPr algn="l" indent="0" marL="0">
              <a:buNone/>
            </a:pPr>
            <a:r>
              <a:rPr lang="en-US" sz="1300" b="1" dirty="0">
                <a:solidFill>
                  <a:srgbClr val="2E9E4F"/>
                </a:solidFill>
                <a:latin typeface="Segoe UI" pitchFamily="34" charset="0"/>
                <a:ea typeface="Segoe UI" pitchFamily="34" charset="-122"/>
                <a:cs typeface="Segoe UI" pitchFamily="34" charset="-120"/>
              </a:rPr>
              <a:t>Why D?  </a:t>
            </a:r>
            <a:pPr algn="l" indent="0" marL="0">
              <a:buNone/>
            </a:pPr>
            <a:r>
              <a:rPr lang="en-US" sz="1300" dirty="0">
                <a:solidFill>
                  <a:srgbClr val="171A20"/>
                </a:solidFill>
                <a:latin typeface="Segoe UI" pitchFamily="34" charset="0"/>
                <a:ea typeface="Segoe UI" pitchFamily="34" charset="-122"/>
                <a:cs typeface="Segoe UI" pitchFamily="34" charset="-120"/>
              </a:rPr>
              <a:t>B and C lose more than 10 % I</a:t>
            </a:r>
            <a:pPr algn="l" indent="0" marL="0">
              <a:buNone/>
            </a:pPr>
            <a:r>
              <a:rPr lang="en-US" sz="1300" baseline="-40000" dirty="0">
                <a:solidFill>
                  <a:srgbClr val="171A20"/>
                </a:solidFill>
                <a:latin typeface="Segoe UI" pitchFamily="34" charset="0"/>
                <a:ea typeface="Segoe UI" pitchFamily="34" charset="-122"/>
                <a:cs typeface="Segoe UI" pitchFamily="34" charset="-120"/>
              </a:rPr>
              <a:t>on</a:t>
            </a:r>
            <a:pPr algn="l" indent="0" marL="0">
              <a:buNone/>
            </a:pPr>
            <a:r>
              <a:rPr lang="en-US" sz="1300" dirty="0">
                <a:solidFill>
                  <a:srgbClr val="171A20"/>
                </a:solidFill>
                <a:latin typeface="Segoe UI" pitchFamily="34" charset="0"/>
                <a:ea typeface="Segoe UI" pitchFamily="34" charset="-122"/>
                <a:cs typeface="Segoe UI" pitchFamily="34" charset="-120"/>
              </a:rPr>
              <a:t>; A passes the rule but runs 2.6 K hotter.</a:t>
            </a:r>
            <a:endParaRPr lang="en-US" sz="1300" dirty="0"/>
          </a:p>
        </p:txBody>
      </p:sp>
      <p:sp>
        <p:nvSpPr>
          <p:cNvPr id="8"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D: 16.4 % cooler with I</a:t>
            </a:r>
            <a:pPr algn="ctr" indent="0" marL="0">
              <a:buNone/>
            </a:pPr>
            <a:r>
              <a:rPr lang="en-US" sz="1600" baseline="-40000" dirty="0">
                <a:solidFill>
                  <a:srgbClr val="171A20"/>
                </a:solidFill>
                <a:latin typeface="Segoe UI" pitchFamily="34" charset="0"/>
                <a:ea typeface="Segoe UI" pitchFamily="34" charset="-122"/>
                <a:cs typeface="Segoe UI" pitchFamily="34" charset="-120"/>
              </a:rPr>
              <a:t>on</a:t>
            </a:r>
            <a:pPr algn="ctr" indent="0" marL="0">
              <a:buNone/>
            </a:pPr>
            <a:r>
              <a:rPr lang="en-US" sz="1600" dirty="0">
                <a:solidFill>
                  <a:srgbClr val="171A20"/>
                </a:solidFill>
                <a:latin typeface="Segoe UI" pitchFamily="34" charset="0"/>
                <a:ea typeface="Segoe UI" pitchFamily="34" charset="-122"/>
                <a:cs typeface="Segoe UI" pitchFamily="34" charset="-120"/>
              </a:rPr>
              <a:t> −7.8 %: the best trade-off.</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142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Stage 3 – Design D runs cooler at every bias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Peak lattice temperature against V</a:t>
            </a:r>
            <a:pPr algn="l" indent="0" marL="0">
              <a:buNone/>
            </a:pPr>
            <a:r>
              <a:rPr lang="en-US" sz="1600" baseline="-40000" dirty="0">
                <a:solidFill>
                  <a:srgbClr val="5C5E62"/>
                </a:solidFill>
                <a:latin typeface="Segoe UI" pitchFamily="34" charset="0"/>
                <a:ea typeface="Segoe UI" pitchFamily="34" charset="-122"/>
                <a:cs typeface="Segoe UI" pitchFamily="34" charset="-120"/>
              </a:rPr>
              <a:t>G</a:t>
            </a:r>
            <a:pPr algn="l" indent="0" marL="0">
              <a:buNone/>
            </a:pPr>
            <a:r>
              <a:rPr lang="en-US" sz="1600" dirty="0">
                <a:solidFill>
                  <a:srgbClr val="5C5E62"/>
                </a:solidFill>
                <a:latin typeface="Segoe UI" pitchFamily="34" charset="0"/>
                <a:ea typeface="Segoe UI" pitchFamily="34" charset="-122"/>
                <a:cs typeface="Segoe UI" pitchFamily="34" charset="-120"/>
              </a:rPr>
              <a:t> at V</a:t>
            </a:r>
            <a:pPr algn="l" indent="0" marL="0">
              <a:buNone/>
            </a:pPr>
            <a:r>
              <a:rPr lang="en-US" sz="1600" baseline="-40000" dirty="0">
                <a:solidFill>
                  <a:srgbClr val="5C5E62"/>
                </a:solidFill>
                <a:latin typeface="Segoe UI" pitchFamily="34" charset="0"/>
                <a:ea typeface="Segoe UI" pitchFamily="34" charset="-122"/>
                <a:cs typeface="Segoe UI" pitchFamily="34" charset="-120"/>
              </a:rPr>
              <a:t>D</a:t>
            </a:r>
            <a:pPr algn="l" indent="0" marL="0">
              <a:buNone/>
            </a:pPr>
            <a:r>
              <a:rPr lang="en-US" sz="1600" dirty="0">
                <a:solidFill>
                  <a:srgbClr val="5C5E62"/>
                </a:solidFill>
                <a:latin typeface="Segoe UI" pitchFamily="34" charset="0"/>
                <a:ea typeface="Segoe UI" pitchFamily="34" charset="-122"/>
                <a:cs typeface="Segoe UI" pitchFamily="34" charset="-120"/>
              </a:rPr>
              <a:t> = 0.7 V (Silvaco Atlas)</a:t>
            </a:r>
            <a:endParaRPr lang="en-US" sz="1600" dirty="0"/>
          </a:p>
        </p:txBody>
      </p:sp>
      <p:sp>
        <p:nvSpPr>
          <p:cNvPr id="4" name="!!axg0"/>
          <p:cNvSpPr/>
          <p:nvPr/>
        </p:nvSpPr>
        <p:spPr>
          <a:xfrm>
            <a:off x="1188720" y="5074920"/>
            <a:ext cx="5669280" cy="91"/>
          </a:xfrm>
          <a:prstGeom prst="line">
            <a:avLst/>
          </a:prstGeom>
          <a:noFill/>
          <a:ln w="9525">
            <a:solidFill>
              <a:srgbClr val="EDEEF0"/>
            </a:solidFill>
            <a:prstDash val="solid"/>
          </a:ln>
        </p:spPr>
      </p:sp>
      <p:sp>
        <p:nvSpPr>
          <p:cNvPr id="5" name="!!axg1"/>
          <p:cNvSpPr/>
          <p:nvPr/>
        </p:nvSpPr>
        <p:spPr>
          <a:xfrm>
            <a:off x="1188720" y="4398264"/>
            <a:ext cx="5669280" cy="91"/>
          </a:xfrm>
          <a:prstGeom prst="line">
            <a:avLst/>
          </a:prstGeom>
          <a:noFill/>
          <a:ln w="9525">
            <a:solidFill>
              <a:srgbClr val="EDEEF0"/>
            </a:solidFill>
            <a:prstDash val="solid"/>
          </a:ln>
        </p:spPr>
      </p:sp>
      <p:sp>
        <p:nvSpPr>
          <p:cNvPr id="6" name="!!axg2"/>
          <p:cNvSpPr/>
          <p:nvPr/>
        </p:nvSpPr>
        <p:spPr>
          <a:xfrm>
            <a:off x="1188720" y="3721608"/>
            <a:ext cx="5669280" cy="91"/>
          </a:xfrm>
          <a:prstGeom prst="line">
            <a:avLst/>
          </a:prstGeom>
          <a:noFill/>
          <a:ln w="9525">
            <a:solidFill>
              <a:srgbClr val="EDEEF0"/>
            </a:solidFill>
            <a:prstDash val="solid"/>
          </a:ln>
        </p:spPr>
      </p:sp>
      <p:sp>
        <p:nvSpPr>
          <p:cNvPr id="7" name="!!axg3"/>
          <p:cNvSpPr/>
          <p:nvPr/>
        </p:nvSpPr>
        <p:spPr>
          <a:xfrm>
            <a:off x="1188720" y="3044952"/>
            <a:ext cx="5669280" cy="91"/>
          </a:xfrm>
          <a:prstGeom prst="line">
            <a:avLst/>
          </a:prstGeom>
          <a:noFill/>
          <a:ln w="9525">
            <a:solidFill>
              <a:srgbClr val="EDEEF0"/>
            </a:solidFill>
            <a:prstDash val="solid"/>
          </a:ln>
        </p:spPr>
      </p:sp>
      <p:sp>
        <p:nvSpPr>
          <p:cNvPr id="8" name="!!axg4"/>
          <p:cNvSpPr/>
          <p:nvPr/>
        </p:nvSpPr>
        <p:spPr>
          <a:xfrm>
            <a:off x="1188720" y="2368296"/>
            <a:ext cx="5669280" cy="91"/>
          </a:xfrm>
          <a:prstGeom prst="line">
            <a:avLst/>
          </a:prstGeom>
          <a:noFill/>
          <a:ln w="9525">
            <a:solidFill>
              <a:srgbClr val="EDEEF0"/>
            </a:solidFill>
            <a:prstDash val="solid"/>
          </a:ln>
        </p:spPr>
      </p:sp>
      <p:sp>
        <p:nvSpPr>
          <p:cNvPr id="9" name="!!axg5"/>
          <p:cNvSpPr/>
          <p:nvPr/>
        </p:nvSpPr>
        <p:spPr>
          <a:xfrm>
            <a:off x="1188720" y="1691640"/>
            <a:ext cx="5669280" cy="91"/>
          </a:xfrm>
          <a:prstGeom prst="line">
            <a:avLst/>
          </a:prstGeom>
          <a:noFill/>
          <a:ln w="9525">
            <a:solidFill>
              <a:srgbClr val="EDEEF0"/>
            </a:solidFill>
            <a:prstDash val="solid"/>
          </a:ln>
        </p:spPr>
      </p:sp>
      <p:sp>
        <p:nvSpPr>
          <p:cNvPr id="10" name="!!axxa"/>
          <p:cNvSpPr/>
          <p:nvPr/>
        </p:nvSpPr>
        <p:spPr>
          <a:xfrm>
            <a:off x="1188720" y="5074920"/>
            <a:ext cx="5669280" cy="91"/>
          </a:xfrm>
          <a:prstGeom prst="line">
            <a:avLst/>
          </a:prstGeom>
          <a:noFill/>
          <a:ln w="12700">
            <a:solidFill>
              <a:srgbClr val="8A8D93"/>
            </a:solidFill>
            <a:prstDash val="solid"/>
          </a:ln>
        </p:spPr>
      </p:sp>
      <p:sp>
        <p:nvSpPr>
          <p:cNvPr id="11" name="!!axya"/>
          <p:cNvSpPr/>
          <p:nvPr/>
        </p:nvSpPr>
        <p:spPr>
          <a:xfrm>
            <a:off x="1188720" y="1691640"/>
            <a:ext cx="91" cy="3383280"/>
          </a:xfrm>
          <a:prstGeom prst="line">
            <a:avLst/>
          </a:prstGeom>
          <a:noFill/>
          <a:ln w="12700">
            <a:solidFill>
              <a:srgbClr val="8A8D93"/>
            </a:solidFill>
            <a:prstDash val="solid"/>
          </a:ln>
        </p:spPr>
      </p:sp>
      <p:sp>
        <p:nvSpPr>
          <p:cNvPr id="12" name="!!axxt0"/>
          <p:cNvSpPr txBox="1"/>
          <p:nvPr/>
        </p:nvSpPr>
        <p:spPr>
          <a:xfrm>
            <a:off x="86868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a:t>
            </a:r>
            <a:endParaRPr lang="en-US" sz="900" dirty="0"/>
          </a:p>
        </p:txBody>
      </p:sp>
      <p:sp>
        <p:nvSpPr>
          <p:cNvPr id="13" name="!!axxt1"/>
          <p:cNvSpPr txBox="1"/>
          <p:nvPr/>
        </p:nvSpPr>
        <p:spPr>
          <a:xfrm>
            <a:off x="1678577"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0.1</a:t>
            </a:r>
            <a:endParaRPr lang="en-US" sz="900" dirty="0"/>
          </a:p>
        </p:txBody>
      </p:sp>
      <p:sp>
        <p:nvSpPr>
          <p:cNvPr id="14" name="!!axxt2"/>
          <p:cNvSpPr txBox="1"/>
          <p:nvPr/>
        </p:nvSpPr>
        <p:spPr>
          <a:xfrm>
            <a:off x="2488474"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0.2</a:t>
            </a:r>
            <a:endParaRPr lang="en-US" sz="900" dirty="0"/>
          </a:p>
        </p:txBody>
      </p:sp>
      <p:sp>
        <p:nvSpPr>
          <p:cNvPr id="15" name="!!axxt3"/>
          <p:cNvSpPr txBox="1"/>
          <p:nvPr/>
        </p:nvSpPr>
        <p:spPr>
          <a:xfrm>
            <a:off x="3298371"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0.3</a:t>
            </a:r>
            <a:endParaRPr lang="en-US" sz="900" dirty="0"/>
          </a:p>
        </p:txBody>
      </p:sp>
      <p:sp>
        <p:nvSpPr>
          <p:cNvPr id="16" name="!!axxt4"/>
          <p:cNvSpPr txBox="1"/>
          <p:nvPr/>
        </p:nvSpPr>
        <p:spPr>
          <a:xfrm>
            <a:off x="4108269"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0.4</a:t>
            </a:r>
            <a:endParaRPr lang="en-US" sz="900" dirty="0"/>
          </a:p>
        </p:txBody>
      </p:sp>
      <p:sp>
        <p:nvSpPr>
          <p:cNvPr id="17" name="!!axxt5"/>
          <p:cNvSpPr txBox="1"/>
          <p:nvPr/>
        </p:nvSpPr>
        <p:spPr>
          <a:xfrm>
            <a:off x="4918166"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0.5</a:t>
            </a:r>
            <a:endParaRPr lang="en-US" sz="900" dirty="0"/>
          </a:p>
        </p:txBody>
      </p:sp>
      <p:sp>
        <p:nvSpPr>
          <p:cNvPr id="18" name="!!axxt6"/>
          <p:cNvSpPr txBox="1"/>
          <p:nvPr/>
        </p:nvSpPr>
        <p:spPr>
          <a:xfrm>
            <a:off x="5728063"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0.6</a:t>
            </a:r>
            <a:endParaRPr lang="en-US" sz="900" dirty="0"/>
          </a:p>
        </p:txBody>
      </p:sp>
      <p:sp>
        <p:nvSpPr>
          <p:cNvPr id="19" name="!!axxt7"/>
          <p:cNvSpPr txBox="1"/>
          <p:nvPr/>
        </p:nvSpPr>
        <p:spPr>
          <a:xfrm>
            <a:off x="6537960" y="5120640"/>
            <a:ext cx="640080" cy="201168"/>
          </a:xfrm>
          <a:prstGeom prst="rect">
            <a:avLst/>
          </a:prstGeom>
          <a:noFill/>
          <a:ln/>
        </p:spPr>
        <p:txBody>
          <a:bodyPr wrap="square" lIns="0" tIns="0" rIns="0" bIns="0" rtlCol="0" anchor="t"/>
          <a:lstStyle/>
          <a:p>
            <a:pPr algn="ctr" indent="0" marL="0">
              <a:buNone/>
            </a:pPr>
            <a:r>
              <a:rPr lang="en-US" sz="900" dirty="0">
                <a:solidFill>
                  <a:srgbClr val="5C5E62"/>
                </a:solidFill>
                <a:latin typeface="Segoe UI" pitchFamily="34" charset="0"/>
                <a:ea typeface="Segoe UI" pitchFamily="34" charset="-122"/>
                <a:cs typeface="Segoe UI" pitchFamily="34" charset="-120"/>
              </a:rPr>
              <a:t>0.7</a:t>
            </a:r>
            <a:endParaRPr lang="en-US" sz="900" dirty="0"/>
          </a:p>
        </p:txBody>
      </p:sp>
      <p:sp>
        <p:nvSpPr>
          <p:cNvPr id="20" name="!!axyt0"/>
          <p:cNvSpPr txBox="1"/>
          <p:nvPr/>
        </p:nvSpPr>
        <p:spPr>
          <a:xfrm>
            <a:off x="502920" y="497433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300</a:t>
            </a:r>
            <a:endParaRPr lang="en-US" sz="900" dirty="0"/>
          </a:p>
        </p:txBody>
      </p:sp>
      <p:sp>
        <p:nvSpPr>
          <p:cNvPr id="21" name="!!axyt1"/>
          <p:cNvSpPr txBox="1"/>
          <p:nvPr/>
        </p:nvSpPr>
        <p:spPr>
          <a:xfrm>
            <a:off x="502920" y="4297680"/>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310</a:t>
            </a:r>
            <a:endParaRPr lang="en-US" sz="900" dirty="0"/>
          </a:p>
        </p:txBody>
      </p:sp>
      <p:sp>
        <p:nvSpPr>
          <p:cNvPr id="22" name="!!axyt2"/>
          <p:cNvSpPr txBox="1"/>
          <p:nvPr/>
        </p:nvSpPr>
        <p:spPr>
          <a:xfrm>
            <a:off x="502920" y="3621024"/>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320</a:t>
            </a:r>
            <a:endParaRPr lang="en-US" sz="900" dirty="0"/>
          </a:p>
        </p:txBody>
      </p:sp>
      <p:sp>
        <p:nvSpPr>
          <p:cNvPr id="23" name="!!axyt3"/>
          <p:cNvSpPr txBox="1"/>
          <p:nvPr/>
        </p:nvSpPr>
        <p:spPr>
          <a:xfrm>
            <a:off x="502920" y="2944368"/>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330</a:t>
            </a:r>
            <a:endParaRPr lang="en-US" sz="900" dirty="0"/>
          </a:p>
        </p:txBody>
      </p:sp>
      <p:sp>
        <p:nvSpPr>
          <p:cNvPr id="24" name="!!axyt4"/>
          <p:cNvSpPr txBox="1"/>
          <p:nvPr/>
        </p:nvSpPr>
        <p:spPr>
          <a:xfrm>
            <a:off x="502920" y="2267712"/>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340</a:t>
            </a:r>
            <a:endParaRPr lang="en-US" sz="900" dirty="0"/>
          </a:p>
        </p:txBody>
      </p:sp>
      <p:sp>
        <p:nvSpPr>
          <p:cNvPr id="25" name="!!axyt5"/>
          <p:cNvSpPr txBox="1"/>
          <p:nvPr/>
        </p:nvSpPr>
        <p:spPr>
          <a:xfrm>
            <a:off x="502920" y="1591056"/>
            <a:ext cx="621792" cy="201168"/>
          </a:xfrm>
          <a:prstGeom prst="rect">
            <a:avLst/>
          </a:prstGeom>
          <a:noFill/>
          <a:ln/>
        </p:spPr>
        <p:txBody>
          <a:bodyPr wrap="square" lIns="0" tIns="0" rIns="0" bIns="0" rtlCol="0" anchor="t"/>
          <a:lstStyle/>
          <a:p>
            <a:pPr algn="r" indent="0" marL="0">
              <a:buNone/>
            </a:pPr>
            <a:r>
              <a:rPr lang="en-US" sz="900" dirty="0">
                <a:solidFill>
                  <a:srgbClr val="5C5E62"/>
                </a:solidFill>
                <a:latin typeface="Segoe UI" pitchFamily="34" charset="0"/>
                <a:ea typeface="Segoe UI" pitchFamily="34" charset="-122"/>
                <a:cs typeface="Segoe UI" pitchFamily="34" charset="-120"/>
              </a:rPr>
              <a:t>350</a:t>
            </a:r>
            <a:endParaRPr lang="en-US" sz="900" dirty="0"/>
          </a:p>
        </p:txBody>
      </p:sp>
      <p:sp>
        <p:nvSpPr>
          <p:cNvPr id="26" name="!!axxl"/>
          <p:cNvSpPr txBox="1"/>
          <p:nvPr/>
        </p:nvSpPr>
        <p:spPr>
          <a:xfrm>
            <a:off x="1188720" y="5349240"/>
            <a:ext cx="5669280" cy="228600"/>
          </a:xfrm>
          <a:prstGeom prst="rect">
            <a:avLst/>
          </a:prstGeom>
          <a:noFill/>
          <a:ln/>
        </p:spPr>
        <p:txBody>
          <a:bodyPr wrap="square" lIns="0" tIns="0" rIns="0" bIns="0" rtlCol="0" anchor="t"/>
          <a:lstStyle/>
          <a:p>
            <a:pPr algn="ctr" indent="0" marL="0">
              <a:buNone/>
            </a:pPr>
            <a:r>
              <a:rPr lang="en-US" sz="1100" dirty="0">
                <a:solidFill>
                  <a:srgbClr val="5C5E62"/>
                </a:solidFill>
                <a:latin typeface="Segoe UI" pitchFamily="34" charset="0"/>
                <a:ea typeface="Segoe UI" pitchFamily="34" charset="-122"/>
                <a:cs typeface="Segoe UI" pitchFamily="34" charset="-120"/>
              </a:rPr>
              <a:t>gate voltage V</a:t>
            </a:r>
            <a:pPr algn="ctr" indent="0" marL="0">
              <a:buNone/>
            </a:pPr>
            <a:r>
              <a:rPr lang="en-US" sz="1100" baseline="-40000" dirty="0">
                <a:solidFill>
                  <a:srgbClr val="5C5E62"/>
                </a:solidFill>
                <a:latin typeface="Segoe UI" pitchFamily="34" charset="0"/>
                <a:ea typeface="Segoe UI" pitchFamily="34" charset="-122"/>
                <a:cs typeface="Segoe UI" pitchFamily="34" charset="-120"/>
              </a:rPr>
              <a:t>G</a:t>
            </a:r>
            <a:pPr algn="ctr" indent="0" marL="0">
              <a:buNone/>
            </a:pPr>
            <a:r>
              <a:rPr lang="en-US" sz="1100" dirty="0">
                <a:solidFill>
                  <a:srgbClr val="5C5E62"/>
                </a:solidFill>
                <a:latin typeface="Segoe UI" pitchFamily="34" charset="0"/>
                <a:ea typeface="Segoe UI" pitchFamily="34" charset="-122"/>
                <a:cs typeface="Segoe UI" pitchFamily="34" charset="-120"/>
              </a:rPr>
              <a:t> (V)</a:t>
            </a:r>
            <a:endParaRPr lang="en-US" sz="1100" dirty="0"/>
          </a:p>
        </p:txBody>
      </p:sp>
      <p:sp>
        <p:nvSpPr>
          <p:cNvPr id="27" name="!!axyl"/>
          <p:cNvSpPr txBox="1"/>
          <p:nvPr/>
        </p:nvSpPr>
        <p:spPr>
          <a:xfrm>
            <a:off x="1005840" y="1389888"/>
            <a:ext cx="3200400" cy="2286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T</a:t>
            </a:r>
            <a:pPr algn="l" indent="0" marL="0">
              <a:buNone/>
            </a:pPr>
            <a:r>
              <a:rPr lang="en-US" sz="1100" baseline="-40000" dirty="0">
                <a:solidFill>
                  <a:srgbClr val="5C5E62"/>
                </a:solidFill>
                <a:latin typeface="Segoe UI" pitchFamily="34" charset="0"/>
                <a:ea typeface="Segoe UI" pitchFamily="34" charset="-122"/>
                <a:cs typeface="Segoe UI" pitchFamily="34" charset="-120"/>
              </a:rPr>
              <a:t>max</a:t>
            </a:r>
            <a:pPr algn="l" indent="0" marL="0">
              <a:buNone/>
            </a:pPr>
            <a:r>
              <a:rPr lang="en-US" sz="1100" dirty="0">
                <a:solidFill>
                  <a:srgbClr val="5C5E62"/>
                </a:solidFill>
                <a:latin typeface="Segoe UI" pitchFamily="34" charset="0"/>
                <a:ea typeface="Segoe UI" pitchFamily="34" charset="-122"/>
                <a:cs typeface="Segoe UI" pitchFamily="34" charset="-120"/>
              </a:rPr>
              <a:t> (K)</a:t>
            </a:r>
            <a:endParaRPr lang="en-US" sz="1100" dirty="0"/>
          </a:p>
        </p:txBody>
      </p:sp>
      <p:sp>
        <p:nvSpPr>
          <p:cNvPr id="28" name="Shape 26"/>
          <p:cNvSpPr/>
          <p:nvPr/>
        </p:nvSpPr>
        <p:spPr>
          <a:xfrm>
            <a:off x="1188720" y="2123753"/>
            <a:ext cx="5669280" cy="2951100"/>
          </a:xfrm>
          <a:custGeom>
            <a:avLst/>
            <a:gdLst/>
            <a:ahLst/>
            <a:cxnLst/>
            <a:rect l="l" t="t" r="r" b="b"/>
            <a:pathLst>
              <a:path w="5669280" h="2951100">
                <a:moveTo>
                  <a:pt x="0" y="2951100"/>
                </a:moveTo>
                <a:lnTo>
                  <a:pt x="202474" y="2951032"/>
                </a:lnTo>
                <a:lnTo>
                  <a:pt x="404949" y="2950897"/>
                </a:lnTo>
                <a:lnTo>
                  <a:pt x="607423" y="2949882"/>
                </a:lnTo>
                <a:lnTo>
                  <a:pt x="809897" y="2948190"/>
                </a:lnTo>
                <a:lnTo>
                  <a:pt x="1012371" y="2944401"/>
                </a:lnTo>
                <a:lnTo>
                  <a:pt x="1214846" y="2935943"/>
                </a:lnTo>
                <a:lnTo>
                  <a:pt x="1417320" y="2917944"/>
                </a:lnTo>
                <a:lnTo>
                  <a:pt x="1619794" y="2882758"/>
                </a:lnTo>
                <a:lnTo>
                  <a:pt x="1822269" y="2820167"/>
                </a:lnTo>
                <a:lnTo>
                  <a:pt x="2024743" y="2720495"/>
                </a:lnTo>
                <a:lnTo>
                  <a:pt x="2227217" y="2591389"/>
                </a:lnTo>
                <a:lnTo>
                  <a:pt x="2429691" y="2452472"/>
                </a:lnTo>
                <a:lnTo>
                  <a:pt x="2632166" y="2318562"/>
                </a:lnTo>
                <a:lnTo>
                  <a:pt x="2834640" y="2184719"/>
                </a:lnTo>
                <a:lnTo>
                  <a:pt x="3037114" y="2046275"/>
                </a:lnTo>
                <a:lnTo>
                  <a:pt x="3239589" y="1901268"/>
                </a:lnTo>
                <a:lnTo>
                  <a:pt x="3442063" y="1751321"/>
                </a:lnTo>
                <a:lnTo>
                  <a:pt x="3644537" y="1597179"/>
                </a:lnTo>
                <a:lnTo>
                  <a:pt x="3847011" y="1439924"/>
                </a:lnTo>
                <a:lnTo>
                  <a:pt x="4049486" y="1280368"/>
                </a:lnTo>
                <a:lnTo>
                  <a:pt x="4251960" y="1119392"/>
                </a:lnTo>
                <a:lnTo>
                  <a:pt x="4454434" y="957536"/>
                </a:lnTo>
                <a:lnTo>
                  <a:pt x="4656909" y="795747"/>
                </a:lnTo>
                <a:lnTo>
                  <a:pt x="4859383" y="634433"/>
                </a:lnTo>
                <a:lnTo>
                  <a:pt x="5061857" y="473862"/>
                </a:lnTo>
                <a:lnTo>
                  <a:pt x="5264331" y="314442"/>
                </a:lnTo>
                <a:lnTo>
                  <a:pt x="5466806" y="156375"/>
                </a:lnTo>
                <a:lnTo>
                  <a:pt x="5669280" y="0"/>
                </a:lnTo>
              </a:path>
            </a:pathLst>
          </a:custGeom>
          <a:ln w="38100">
            <a:solidFill>
              <a:srgbClr val="D64545"/>
            </a:solidFill>
            <a:prstDash val="solid"/>
          </a:ln>
        </p:spPr>
      </p:sp>
      <p:sp>
        <p:nvSpPr>
          <p:cNvPr id="29" name="Shape 27"/>
          <p:cNvSpPr/>
          <p:nvPr/>
        </p:nvSpPr>
        <p:spPr>
          <a:xfrm>
            <a:off x="1188720" y="2608644"/>
            <a:ext cx="5669280" cy="2466208"/>
          </a:xfrm>
          <a:custGeom>
            <a:avLst/>
            <a:gdLst/>
            <a:ahLst/>
            <a:cxnLst/>
            <a:rect l="l" t="t" r="r" b="b"/>
            <a:pathLst>
              <a:path w="5669280" h="2466208">
                <a:moveTo>
                  <a:pt x="0" y="2466208"/>
                </a:moveTo>
                <a:lnTo>
                  <a:pt x="202474" y="2466208"/>
                </a:lnTo>
                <a:lnTo>
                  <a:pt x="404949" y="2466208"/>
                </a:lnTo>
                <a:lnTo>
                  <a:pt x="607423" y="2466073"/>
                </a:lnTo>
                <a:lnTo>
                  <a:pt x="809897" y="2465802"/>
                </a:lnTo>
                <a:lnTo>
                  <a:pt x="1012371" y="2464043"/>
                </a:lnTo>
                <a:lnTo>
                  <a:pt x="1214846" y="2461133"/>
                </a:lnTo>
                <a:lnTo>
                  <a:pt x="1417320" y="2454570"/>
                </a:lnTo>
                <a:lnTo>
                  <a:pt x="1619794" y="2440563"/>
                </a:lnTo>
                <a:lnTo>
                  <a:pt x="1822269" y="2412617"/>
                </a:lnTo>
                <a:lnTo>
                  <a:pt x="2024743" y="2361935"/>
                </a:lnTo>
                <a:lnTo>
                  <a:pt x="2227217" y="2279113"/>
                </a:lnTo>
                <a:lnTo>
                  <a:pt x="2429691" y="2166788"/>
                </a:lnTo>
                <a:lnTo>
                  <a:pt x="2632166" y="2042757"/>
                </a:lnTo>
                <a:lnTo>
                  <a:pt x="2834640" y="1922041"/>
                </a:lnTo>
                <a:lnTo>
                  <a:pt x="3037114" y="1802815"/>
                </a:lnTo>
                <a:lnTo>
                  <a:pt x="3239589" y="1680002"/>
                </a:lnTo>
                <a:lnTo>
                  <a:pt x="3442063" y="1552384"/>
                </a:lnTo>
                <a:lnTo>
                  <a:pt x="3644537" y="1420369"/>
                </a:lnTo>
                <a:lnTo>
                  <a:pt x="3847011" y="1284699"/>
                </a:lnTo>
                <a:lnTo>
                  <a:pt x="4049486" y="1146052"/>
                </a:lnTo>
                <a:lnTo>
                  <a:pt x="4251960" y="1005240"/>
                </a:lnTo>
                <a:lnTo>
                  <a:pt x="4454434" y="863007"/>
                </a:lnTo>
                <a:lnTo>
                  <a:pt x="4656909" y="719759"/>
                </a:lnTo>
                <a:lnTo>
                  <a:pt x="4859383" y="576308"/>
                </a:lnTo>
                <a:lnTo>
                  <a:pt x="5061857" y="433060"/>
                </a:lnTo>
                <a:lnTo>
                  <a:pt x="5264331" y="288458"/>
                </a:lnTo>
                <a:lnTo>
                  <a:pt x="5466806" y="143925"/>
                </a:lnTo>
                <a:lnTo>
                  <a:pt x="5669280" y="0"/>
                </a:lnTo>
              </a:path>
            </a:pathLst>
          </a:custGeom>
          <a:ln w="38100">
            <a:solidFill>
              <a:srgbClr val="2E9E4F"/>
            </a:solidFill>
            <a:prstDash val="solid"/>
          </a:ln>
        </p:spPr>
      </p:sp>
      <p:sp>
        <p:nvSpPr>
          <p:cNvPr id="30" name="Text 28"/>
          <p:cNvSpPr txBox="1"/>
          <p:nvPr/>
        </p:nvSpPr>
        <p:spPr>
          <a:xfrm>
            <a:off x="4590288" y="2503627"/>
            <a:ext cx="1645920" cy="219456"/>
          </a:xfrm>
          <a:prstGeom prst="rect">
            <a:avLst/>
          </a:prstGeom>
          <a:noFill/>
          <a:ln/>
        </p:spPr>
        <p:txBody>
          <a:bodyPr wrap="square" lIns="0" tIns="0" rIns="0" bIns="0" rtlCol="0" anchor="t"/>
          <a:lstStyle/>
          <a:p>
            <a:pPr algn="l" indent="0" marL="0">
              <a:buNone/>
            </a:pPr>
            <a:r>
              <a:rPr lang="en-US" sz="1100" dirty="0">
                <a:solidFill>
                  <a:srgbClr val="D64545"/>
                </a:solidFill>
                <a:latin typeface="Segoe UI Semibold" pitchFamily="34" charset="0"/>
                <a:ea typeface="Segoe UI Semibold" pitchFamily="34" charset="-122"/>
                <a:cs typeface="Segoe UI Semibold" pitchFamily="34" charset="-120"/>
              </a:rPr>
              <a:t>reproduced 343.6 K</a:t>
            </a:r>
            <a:endParaRPr lang="en-US" sz="1100" dirty="0"/>
          </a:p>
        </p:txBody>
      </p:sp>
      <p:sp>
        <p:nvSpPr>
          <p:cNvPr id="31" name="Text 29"/>
          <p:cNvSpPr txBox="1"/>
          <p:nvPr/>
        </p:nvSpPr>
        <p:spPr>
          <a:xfrm>
            <a:off x="5238206" y="3586277"/>
            <a:ext cx="1645920" cy="219456"/>
          </a:xfrm>
          <a:prstGeom prst="rect">
            <a:avLst/>
          </a:prstGeom>
          <a:noFill/>
          <a:ln/>
        </p:spPr>
        <p:txBody>
          <a:bodyPr wrap="square" lIns="0" tIns="0" rIns="0" bIns="0" rtlCol="0" anchor="t"/>
          <a:lstStyle/>
          <a:p>
            <a:pPr algn="l" indent="0" marL="0">
              <a:buNone/>
            </a:pPr>
            <a:r>
              <a:rPr lang="en-US" sz="1100" dirty="0">
                <a:solidFill>
                  <a:srgbClr val="2E9E4F"/>
                </a:solidFill>
                <a:latin typeface="Segoe UI Semibold" pitchFamily="34" charset="0"/>
                <a:ea typeface="Segoe UI Semibold" pitchFamily="34" charset="-122"/>
                <a:cs typeface="Segoe UI Semibold" pitchFamily="34" charset="-120"/>
              </a:rPr>
              <a:t>design D 336.4 K</a:t>
            </a:r>
            <a:endParaRPr lang="en-US" sz="1100" dirty="0"/>
          </a:p>
        </p:txBody>
      </p:sp>
      <p:sp>
        <p:nvSpPr>
          <p:cNvPr id="32" name="Text 30"/>
          <p:cNvSpPr txBox="1"/>
          <p:nvPr/>
        </p:nvSpPr>
        <p:spPr>
          <a:xfrm>
            <a:off x="7498080" y="1645920"/>
            <a:ext cx="4114800" cy="594360"/>
          </a:xfrm>
          <a:prstGeom prst="rect">
            <a:avLst/>
          </a:prstGeom>
          <a:noFill/>
          <a:ln/>
        </p:spPr>
        <p:txBody>
          <a:bodyPr wrap="square" lIns="0" tIns="0" rIns="0" bIns="0" rtlCol="0" anchor="t"/>
          <a:lstStyle/>
          <a:p>
            <a:pPr algn="l" indent="0" marL="0">
              <a:buNone/>
            </a:pPr>
            <a:r>
              <a:rPr lang="en-US" sz="3200" dirty="0">
                <a:solidFill>
                  <a:srgbClr val="2E9E4F"/>
                </a:solidFill>
                <a:latin typeface="Segoe UI Semibold" pitchFamily="34" charset="0"/>
                <a:ea typeface="Segoe UI Semibold" pitchFamily="34" charset="-122"/>
                <a:cs typeface="Segoe UI Semibold" pitchFamily="34" charset="-120"/>
              </a:rPr>
              <a:t>336.4 K</a:t>
            </a:r>
            <a:endParaRPr lang="en-US" sz="3200" dirty="0"/>
          </a:p>
        </p:txBody>
      </p:sp>
      <p:sp>
        <p:nvSpPr>
          <p:cNvPr id="33" name="Text 31"/>
          <p:cNvSpPr txBox="1"/>
          <p:nvPr/>
        </p:nvSpPr>
        <p:spPr>
          <a:xfrm>
            <a:off x="7498080" y="2240280"/>
            <a:ext cx="41148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peak (reproduced: 343.6 K)</a:t>
            </a:r>
            <a:endParaRPr lang="en-US" sz="1200" dirty="0"/>
          </a:p>
        </p:txBody>
      </p:sp>
      <p:sp>
        <p:nvSpPr>
          <p:cNvPr id="34" name="Text 32"/>
          <p:cNvSpPr txBox="1"/>
          <p:nvPr/>
        </p:nvSpPr>
        <p:spPr>
          <a:xfrm>
            <a:off x="7498080" y="2880360"/>
            <a:ext cx="4114800" cy="594360"/>
          </a:xfrm>
          <a:prstGeom prst="rect">
            <a:avLst/>
          </a:prstGeom>
          <a:noFill/>
          <a:ln/>
        </p:spPr>
        <p:txBody>
          <a:bodyPr wrap="square" lIns="0" tIns="0" rIns="0" bIns="0" rtlCol="0" anchor="t"/>
          <a:lstStyle/>
          <a:p>
            <a:pPr algn="l" indent="0" marL="0">
              <a:buNone/>
            </a:pPr>
            <a:r>
              <a:rPr lang="en-US" sz="3200" dirty="0">
                <a:solidFill>
                  <a:srgbClr val="2E9E4F"/>
                </a:solidFill>
                <a:latin typeface="Segoe UI Semibold" pitchFamily="34" charset="0"/>
                <a:ea typeface="Segoe UI Semibold" pitchFamily="34" charset="-122"/>
                <a:cs typeface="Segoe UI Semibold" pitchFamily="34" charset="-120"/>
              </a:rPr>
              <a:t>−7.2 K</a:t>
            </a:r>
            <a:endParaRPr lang="en-US" sz="3200" dirty="0"/>
          </a:p>
        </p:txBody>
      </p:sp>
      <p:sp>
        <p:nvSpPr>
          <p:cNvPr id="35" name="Text 33"/>
          <p:cNvSpPr txBox="1"/>
          <p:nvPr/>
        </p:nvSpPr>
        <p:spPr>
          <a:xfrm>
            <a:off x="7498080" y="3474720"/>
            <a:ext cx="41148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ΔT 43.6 → 36.4 K (−16.4 %)</a:t>
            </a:r>
            <a:endParaRPr lang="en-US" sz="1200" dirty="0"/>
          </a:p>
        </p:txBody>
      </p:sp>
      <p:sp>
        <p:nvSpPr>
          <p:cNvPr id="36" name="Text 34"/>
          <p:cNvSpPr txBox="1"/>
          <p:nvPr/>
        </p:nvSpPr>
        <p:spPr>
          <a:xfrm>
            <a:off x="7498080" y="4114800"/>
            <a:ext cx="4114800" cy="594360"/>
          </a:xfrm>
          <a:prstGeom prst="rect">
            <a:avLst/>
          </a:prstGeom>
          <a:noFill/>
          <a:ln/>
        </p:spPr>
        <p:txBody>
          <a:bodyPr wrap="square" lIns="0" tIns="0" rIns="0" bIns="0" rtlCol="0" anchor="t"/>
          <a:lstStyle/>
          <a:p>
            <a:pPr algn="l" indent="0" marL="0">
              <a:buNone/>
            </a:pPr>
            <a:r>
              <a:rPr lang="en-US" sz="3200" dirty="0">
                <a:solidFill>
                  <a:srgbClr val="171A20"/>
                </a:solidFill>
                <a:latin typeface="Segoe UI Semibold" pitchFamily="34" charset="0"/>
                <a:ea typeface="Segoe UI Semibold" pitchFamily="34" charset="-122"/>
                <a:cs typeface="Segoe UI Semibold" pitchFamily="34" charset="-120"/>
              </a:rPr>
              <a:t>2.06 × 10⁶</a:t>
            </a:r>
            <a:endParaRPr lang="en-US" sz="3200" dirty="0"/>
          </a:p>
        </p:txBody>
      </p:sp>
      <p:sp>
        <p:nvSpPr>
          <p:cNvPr id="37" name="Text 35"/>
          <p:cNvSpPr txBox="1"/>
          <p:nvPr/>
        </p:nvSpPr>
        <p:spPr>
          <a:xfrm>
            <a:off x="7498080" y="4709160"/>
            <a:ext cx="41148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R</a:t>
            </a:r>
            <a:pPr algn="l" indent="0" marL="0">
              <a:buNone/>
            </a:pPr>
            <a:r>
              <a:rPr lang="en-US" sz="1200" baseline="-40000" dirty="0">
                <a:solidFill>
                  <a:srgbClr val="5C5E62"/>
                </a:solidFill>
                <a:latin typeface="Segoe UI" pitchFamily="34" charset="0"/>
                <a:ea typeface="Segoe UI" pitchFamily="34" charset="-122"/>
                <a:cs typeface="Segoe UI" pitchFamily="34" charset="-120"/>
              </a:rPr>
              <a:t>th</a:t>
            </a:r>
            <a:pPr algn="l" indent="0" marL="0">
              <a:buNone/>
            </a:pPr>
            <a:r>
              <a:rPr lang="en-US" sz="1200" dirty="0">
                <a:solidFill>
                  <a:srgbClr val="5C5E62"/>
                </a:solidFill>
                <a:latin typeface="Segoe UI" pitchFamily="34" charset="0"/>
                <a:ea typeface="Segoe UI" pitchFamily="34" charset="-122"/>
                <a:cs typeface="Segoe UI" pitchFamily="34" charset="-120"/>
              </a:rPr>
              <a:t> in K/W (reproduced 2.27 × 10⁶)</a:t>
            </a:r>
            <a:endParaRPr lang="en-US" sz="1200" dirty="0"/>
          </a:p>
        </p:txBody>
      </p:sp>
      <p:sp>
        <p:nvSpPr>
          <p:cNvPr id="38"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D runs 7.2 K cooler at the same bias.</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143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All three stages side by side</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V</a:t>
            </a:r>
            <a:pPr algn="l" indent="0" marL="0">
              <a:buNone/>
            </a:pPr>
            <a:r>
              <a:rPr lang="en-US" sz="1600" baseline="-40000" dirty="0">
                <a:solidFill>
                  <a:srgbClr val="5C5E62"/>
                </a:solidFill>
                <a:latin typeface="Segoe UI" pitchFamily="34" charset="0"/>
                <a:ea typeface="Segoe UI" pitchFamily="34" charset="-122"/>
                <a:cs typeface="Segoe UI" pitchFamily="34" charset="-120"/>
              </a:rPr>
              <a:t>DD</a:t>
            </a:r>
            <a:pPr algn="l" indent="0" marL="0">
              <a:buNone/>
            </a:pPr>
            <a:r>
              <a:rPr lang="en-US" sz="1600" dirty="0">
                <a:solidFill>
                  <a:srgbClr val="5C5E62"/>
                </a:solidFill>
                <a:latin typeface="Segoe UI" pitchFamily="34" charset="0"/>
                <a:ea typeface="Segoe UI" pitchFamily="34" charset="-122"/>
                <a:cs typeface="Segoe UI" pitchFamily="34" charset="-120"/>
              </a:rPr>
              <a:t> = 0.7 V, Silvaco Atlas; base paper for reference</a:t>
            </a:r>
            <a:endParaRPr lang="en-US" sz="1600" dirty="0"/>
          </a:p>
        </p:txBody>
      </p:sp>
      <p:graphicFrame>
        <p:nvGraphicFramePr>
          <p:cNvPr id="14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496312"/>
                <a:gridCol w="2148840"/>
                <a:gridCol w="2148840"/>
                <a:gridCol w="2148840"/>
                <a:gridCol w="2148840"/>
              </a:tblGrid>
              <a:tr h="393192">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Metric</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Standard</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Reproduced</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E6AE1"/>
                    </a:solidFill>
                  </a:tcPr>
                </a:tc>
                <a:tc>
                  <a:txBody>
                    <a:bodyPr/>
                    <a:lstStyle/>
                    <a:p>
                      <a:pPr indent="0" marL="0">
                        <a:buNone/>
                      </a:pPr>
                      <a:r>
                        <a:rPr lang="en-US" sz="1300" b="1" dirty="0">
                          <a:solidFill>
                            <a:srgbClr val="FFFFFF"/>
                          </a:solidFill>
                          <a:latin typeface="Segoe UI" pitchFamily="34" charset="0"/>
                          <a:ea typeface="Segoe UI" pitchFamily="34" charset="-122"/>
                          <a:cs typeface="Segoe UI" pitchFamily="34" charset="-120"/>
                        </a:rPr>
                        <a:t>Optimal D</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E9E4F"/>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Base paper</a:t>
                      </a: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r>
              <a:tr h="393192">
                <a:tc>
                  <a:txBody>
                    <a:bodyPr/>
                    <a:lstStyle/>
                    <a:p>
                      <a:pPr algn="l" indent="0" marL="0">
                        <a:buNone/>
                      </a:pPr>
                      <a:r>
                        <a:rPr lang="en-US" sz="1300" b="1" dirty="0">
                          <a:solidFill>
                            <a:srgbClr val="171A20"/>
                          </a:solidFill>
                          <a:latin typeface="Segoe UI" pitchFamily="34" charset="0"/>
                          <a:ea typeface="Segoe UI" pitchFamily="34" charset="-122"/>
                          <a:cs typeface="Segoe UI" pitchFamily="34" charset="-120"/>
                        </a:rPr>
                        <a:t>Channel</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wire r = 4 nm</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wire r = 5.64 nm</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wire r = 5.64 nm</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sheet 20 × 5 nm</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393192">
                <a:tc>
                  <a:txBody>
                    <a:bodyPr/>
                    <a:lstStyle/>
                    <a:p>
                      <a:pPr algn="l" indent="0" marL="0">
                        <a:buNone/>
                      </a:pPr>
                      <a:r>
                        <a:rPr lang="en-US" sz="1300" b="1" dirty="0">
                          <a:solidFill>
                            <a:srgbClr val="171A20"/>
                          </a:solidFill>
                          <a:latin typeface="Segoe UI" pitchFamily="34" charset="0"/>
                          <a:ea typeface="Segoe UI" pitchFamily="34" charset="-122"/>
                          <a:cs typeface="Segoe UI" pitchFamily="34" charset="-120"/>
                        </a:rPr>
                        <a:t>V</a:t>
                      </a:r>
                      <a:pPr algn="l" indent="0" marL="0">
                        <a:buNone/>
                      </a:pPr>
                      <a:r>
                        <a:rPr lang="en-US" sz="1300" b="1" baseline="-40000" dirty="0">
                          <a:solidFill>
                            <a:srgbClr val="171A20"/>
                          </a:solidFill>
                          <a:latin typeface="Segoe UI" pitchFamily="34" charset="0"/>
                          <a:ea typeface="Segoe UI" pitchFamily="34" charset="-122"/>
                          <a:cs typeface="Segoe UI" pitchFamily="34" charset="-120"/>
                        </a:rPr>
                        <a:t>T,lin</a:t>
                      </a:r>
                      <a:pPr algn="l" indent="0" marL="0">
                        <a:buNone/>
                      </a:pPr>
                      <a:r>
                        <a:rPr lang="en-US" sz="1300" b="1" dirty="0">
                          <a:solidFill>
                            <a:srgbClr val="171A20"/>
                          </a:solidFill>
                          <a:latin typeface="Segoe UI" pitchFamily="34" charset="0"/>
                          <a:ea typeface="Segoe UI" pitchFamily="34" charset="-122"/>
                          <a:cs typeface="Segoe UI" pitchFamily="34" charset="-120"/>
                        </a:rPr>
                        <a:t> (V)</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0.209</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0.204</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0.233</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393192">
                <a:tc>
                  <a:txBody>
                    <a:bodyPr/>
                    <a:lstStyle/>
                    <a:p>
                      <a:pPr algn="l" indent="0" marL="0">
                        <a:buNone/>
                      </a:pPr>
                      <a:r>
                        <a:rPr lang="en-US" sz="1300" b="1" dirty="0">
                          <a:solidFill>
                            <a:srgbClr val="171A20"/>
                          </a:solidFill>
                          <a:latin typeface="Segoe UI" pitchFamily="34" charset="0"/>
                          <a:ea typeface="Segoe UI" pitchFamily="34" charset="-122"/>
                          <a:cs typeface="Segoe UI" pitchFamily="34" charset="-120"/>
                        </a:rPr>
                        <a:t>SS (mV/dec)</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61.3</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65.4</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65.1</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393192">
                <a:tc>
                  <a:txBody>
                    <a:bodyPr/>
                    <a:lstStyle/>
                    <a:p>
                      <a:pPr algn="l" indent="0" marL="0">
                        <a:buNone/>
                      </a:pPr>
                      <a:r>
                        <a:rPr lang="en-US" sz="1300" b="1" dirty="0">
                          <a:solidFill>
                            <a:srgbClr val="171A20"/>
                          </a:solidFill>
                          <a:latin typeface="Segoe UI" pitchFamily="34" charset="0"/>
                          <a:ea typeface="Segoe UI" pitchFamily="34" charset="-122"/>
                          <a:cs typeface="Segoe UI" pitchFamily="34" charset="-120"/>
                        </a:rPr>
                        <a:t>I</a:t>
                      </a:r>
                      <a:pPr algn="l" indent="0" marL="0">
                        <a:buNone/>
                      </a:pPr>
                      <a:r>
                        <a:rPr lang="en-US" sz="1300" b="1" baseline="-40000" dirty="0">
                          <a:solidFill>
                            <a:srgbClr val="171A20"/>
                          </a:solidFill>
                          <a:latin typeface="Segoe UI" pitchFamily="34" charset="0"/>
                          <a:ea typeface="Segoe UI" pitchFamily="34" charset="-122"/>
                          <a:cs typeface="Segoe UI" pitchFamily="34" charset="-120"/>
                        </a:rPr>
                        <a:t>on</a:t>
                      </a:r>
                      <a:pPr algn="l" indent="0" marL="0">
                        <a:buNone/>
                      </a:pPr>
                      <a:r>
                        <a:rPr lang="en-US" sz="1300" b="1" dirty="0">
                          <a:solidFill>
                            <a:srgbClr val="171A20"/>
                          </a:solidFill>
                          <a:latin typeface="Segoe UI" pitchFamily="34" charset="0"/>
                          <a:ea typeface="Segoe UI" pitchFamily="34" charset="-122"/>
                          <a:cs typeface="Segoe UI" pitchFamily="34" charset="-120"/>
                        </a:rPr>
                        <a:t> (µA)</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17.9</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27.5</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25.3</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393192">
                <a:tc>
                  <a:txBody>
                    <a:bodyPr/>
                    <a:lstStyle/>
                    <a:p>
                      <a:pPr algn="l" indent="0" marL="0">
                        <a:buNone/>
                      </a:pPr>
                      <a:r>
                        <a:rPr lang="en-US" sz="1300" b="1" dirty="0">
                          <a:solidFill>
                            <a:srgbClr val="171A20"/>
                          </a:solidFill>
                          <a:latin typeface="Segoe UI" pitchFamily="34" charset="0"/>
                          <a:ea typeface="Segoe UI" pitchFamily="34" charset="-122"/>
                          <a:cs typeface="Segoe UI" pitchFamily="34" charset="-120"/>
                        </a:rPr>
                        <a:t>I</a:t>
                      </a:r>
                      <a:pPr algn="l" indent="0" marL="0">
                        <a:buNone/>
                      </a:pPr>
                      <a:r>
                        <a:rPr lang="en-US" sz="1300" b="1" baseline="-40000" dirty="0">
                          <a:solidFill>
                            <a:srgbClr val="171A20"/>
                          </a:solidFill>
                          <a:latin typeface="Segoe UI" pitchFamily="34" charset="0"/>
                          <a:ea typeface="Segoe UI" pitchFamily="34" charset="-122"/>
                          <a:cs typeface="Segoe UI" pitchFamily="34" charset="-120"/>
                        </a:rPr>
                        <a:t>off</a:t>
                      </a:r>
                      <a:pPr algn="l" indent="0" marL="0">
                        <a:buNone/>
                      </a:pPr>
                      <a:r>
                        <a:rPr lang="en-US" sz="1300" b="1" dirty="0">
                          <a:solidFill>
                            <a:srgbClr val="171A20"/>
                          </a:solidFill>
                          <a:latin typeface="Segoe UI" pitchFamily="34" charset="0"/>
                          <a:ea typeface="Segoe UI" pitchFamily="34" charset="-122"/>
                          <a:cs typeface="Segoe UI" pitchFamily="34" charset="-120"/>
                        </a:rPr>
                        <a:t> (pA)</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99</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624</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246</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393192">
                <a:tc>
                  <a:txBody>
                    <a:bodyPr/>
                    <a:lstStyle/>
                    <a:p>
                      <a:pPr algn="l" indent="0" marL="0">
                        <a:buNone/>
                      </a:pPr>
                      <a:r>
                        <a:rPr lang="en-US" sz="1300" b="1" dirty="0">
                          <a:solidFill>
                            <a:srgbClr val="171A20"/>
                          </a:solidFill>
                          <a:latin typeface="Segoe UI" pitchFamily="34" charset="0"/>
                          <a:ea typeface="Segoe UI" pitchFamily="34" charset="-122"/>
                          <a:cs typeface="Segoe UI" pitchFamily="34" charset="-120"/>
                        </a:rPr>
                        <a:t>P</a:t>
                      </a:r>
                      <a:pPr algn="l" indent="0" marL="0">
                        <a:buNone/>
                      </a:pPr>
                      <a:r>
                        <a:rPr lang="en-US" sz="1300" b="1" baseline="-40000" dirty="0">
                          <a:solidFill>
                            <a:srgbClr val="171A20"/>
                          </a:solidFill>
                          <a:latin typeface="Segoe UI" pitchFamily="34" charset="0"/>
                          <a:ea typeface="Segoe UI" pitchFamily="34" charset="-122"/>
                          <a:cs typeface="Segoe UI" pitchFamily="34" charset="-120"/>
                        </a:rPr>
                        <a:t>on</a:t>
                      </a:r>
                      <a:pPr algn="l" indent="0" marL="0">
                        <a:buNone/>
                      </a:pPr>
                      <a:r>
                        <a:rPr lang="en-US" sz="1300" b="1" dirty="0">
                          <a:solidFill>
                            <a:srgbClr val="171A20"/>
                          </a:solidFill>
                          <a:latin typeface="Segoe UI" pitchFamily="34" charset="0"/>
                          <a:ea typeface="Segoe UI" pitchFamily="34" charset="-122"/>
                          <a:cs typeface="Segoe UI" pitchFamily="34" charset="-120"/>
                        </a:rPr>
                        <a:t> (µW)</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12.5</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19.2</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17.7</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30</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393192">
                <a:tc>
                  <a:txBody>
                    <a:bodyPr/>
                    <a:lstStyle/>
                    <a:p>
                      <a:pPr algn="l" indent="0" marL="0">
                        <a:buNone/>
                      </a:pPr>
                      <a:r>
                        <a:rPr lang="en-US" sz="1300" b="1" dirty="0">
                          <a:solidFill>
                            <a:srgbClr val="171A20"/>
                          </a:solidFill>
                          <a:latin typeface="Segoe UI" pitchFamily="34" charset="0"/>
                          <a:ea typeface="Segoe UI" pitchFamily="34" charset="-122"/>
                          <a:cs typeface="Segoe UI" pitchFamily="34" charset="-120"/>
                        </a:rPr>
                        <a:t>T</a:t>
                      </a:r>
                      <a:pPr algn="l" indent="0" marL="0">
                        <a:buNone/>
                      </a:pPr>
                      <a:r>
                        <a:rPr lang="en-US" sz="1300" b="1" baseline="-40000" dirty="0">
                          <a:solidFill>
                            <a:srgbClr val="171A20"/>
                          </a:solidFill>
                          <a:latin typeface="Segoe UI" pitchFamily="34" charset="0"/>
                          <a:ea typeface="Segoe UI" pitchFamily="34" charset="-122"/>
                          <a:cs typeface="Segoe UI" pitchFamily="34" charset="-120"/>
                        </a:rPr>
                        <a:t>max</a:t>
                      </a:r>
                      <a:pPr algn="l" indent="0" marL="0">
                        <a:buNone/>
                      </a:pPr>
                      <a:r>
                        <a:rPr lang="en-US" sz="1300" b="1" dirty="0">
                          <a:solidFill>
                            <a:srgbClr val="171A20"/>
                          </a:solidFill>
                          <a:latin typeface="Segoe UI" pitchFamily="34" charset="0"/>
                          <a:ea typeface="Segoe UI" pitchFamily="34" charset="-122"/>
                          <a:cs typeface="Segoe UI" pitchFamily="34" charset="-120"/>
                        </a:rPr>
                        <a:t> (K)</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603.0</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343.6</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336.4</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393192">
                <a:tc>
                  <a:txBody>
                    <a:bodyPr/>
                    <a:lstStyle/>
                    <a:p>
                      <a:pPr algn="l" indent="0" marL="0">
                        <a:buNone/>
                      </a:pPr>
                      <a:r>
                        <a:rPr lang="en-US" sz="1300" b="1" dirty="0">
                          <a:solidFill>
                            <a:srgbClr val="171A20"/>
                          </a:solidFill>
                          <a:latin typeface="Segoe UI" pitchFamily="34" charset="0"/>
                          <a:ea typeface="Segoe UI" pitchFamily="34" charset="-122"/>
                          <a:cs typeface="Segoe UI" pitchFamily="34" charset="-120"/>
                        </a:rPr>
                        <a:t>R</a:t>
                      </a:r>
                      <a:pPr algn="l" indent="0" marL="0">
                        <a:buNone/>
                      </a:pPr>
                      <a:r>
                        <a:rPr lang="en-US" sz="1300" b="1" baseline="-40000" dirty="0">
                          <a:solidFill>
                            <a:srgbClr val="171A20"/>
                          </a:solidFill>
                          <a:latin typeface="Segoe UI" pitchFamily="34" charset="0"/>
                          <a:ea typeface="Segoe UI" pitchFamily="34" charset="-122"/>
                          <a:cs typeface="Segoe UI" pitchFamily="34" charset="-120"/>
                        </a:rPr>
                        <a:t>th</a:t>
                      </a:r>
                      <a:pPr algn="l" indent="0" marL="0">
                        <a:buNone/>
                      </a:pPr>
                      <a:r>
                        <a:rPr lang="en-US" sz="1300" b="1" dirty="0">
                          <a:solidFill>
                            <a:srgbClr val="171A20"/>
                          </a:solidFill>
                          <a:latin typeface="Segoe UI" pitchFamily="34" charset="0"/>
                          <a:ea typeface="Segoe UI" pitchFamily="34" charset="-122"/>
                          <a:cs typeface="Segoe UI" pitchFamily="34" charset="-120"/>
                        </a:rPr>
                        <a:t> (K/W)</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2.42 × 10⁷</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2.27 × 10⁶</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2.06 × 10⁶</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2.16 × 10⁶</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r h="393192">
                <a:tc>
                  <a:txBody>
                    <a:bodyPr/>
                    <a:lstStyle/>
                    <a:p>
                      <a:pPr algn="l" indent="0" marL="0">
                        <a:buNone/>
                      </a:pPr>
                      <a:r>
                        <a:rPr lang="en-US" sz="1300" b="1" dirty="0">
                          <a:solidFill>
                            <a:srgbClr val="171A20"/>
                          </a:solidFill>
                          <a:latin typeface="Segoe UI" pitchFamily="34" charset="0"/>
                          <a:ea typeface="Segoe UI" pitchFamily="34" charset="-122"/>
                          <a:cs typeface="Segoe UI" pitchFamily="34" charset="-120"/>
                        </a:rPr>
                        <a:t>ΔT at 30 µW (K)</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727</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68.0</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b="1" dirty="0">
                          <a:solidFill>
                            <a:srgbClr val="2E9E4F"/>
                          </a:solidFill>
                          <a:latin typeface="Segoe UI" pitchFamily="34" charset="0"/>
                          <a:ea typeface="Segoe UI" pitchFamily="34" charset="-122"/>
                          <a:cs typeface="Segoe UI" pitchFamily="34" charset="-120"/>
                        </a:rPr>
                        <a:t>61.8</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64.8</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r>
            </a:tbl>
          </a:graphicData>
        </a:graphic>
      </p:graphicFrame>
      <p:sp>
        <p:nvSpPr>
          <p:cNvPr id="5"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Reproduced within 5 %; optimal design 16.4 % cooler.</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144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How every parameter changed along the way</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One row per metric, one column per step of the story</a:t>
            </a:r>
            <a:endParaRPr lang="en-US" sz="1600" dirty="0"/>
          </a:p>
        </p:txBody>
      </p:sp>
      <p:graphicFrame>
        <p:nvGraphicFramePr>
          <p:cNvPr id="14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039112"/>
                <a:gridCol w="1508760"/>
                <a:gridCol w="1508760"/>
                <a:gridCol w="1508760"/>
                <a:gridCol w="1508760"/>
                <a:gridCol w="1508760"/>
                <a:gridCol w="1508760"/>
              </a:tblGrid>
              <a:tr h="411480">
                <a:tc>
                  <a:txBody>
                    <a:bodyPr/>
                    <a:lstStyle/>
                    <a:p>
                      <a:pPr indent="0" marL="0">
                        <a:buNone/>
                      </a:pPr>
                      <a:endParaRPr lang="en-US" sz="14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71A20"/>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Planar</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64545"/>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FinFET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E6AE1"/>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GAA</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E6AE1"/>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Standard</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C5E62"/>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Reproduced</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3E6AE1"/>
                    </a:solidFill>
                  </a:tcPr>
                </a:tc>
                <a:tc>
                  <a:txBody>
                    <a:bodyPr/>
                    <a:lstStyle/>
                    <a:p>
                      <a:pPr algn="ctr" indent="0" marL="0">
                        <a:buNone/>
                      </a:pPr>
                      <a:r>
                        <a:rPr lang="en-US" sz="1300" b="1" dirty="0">
                          <a:solidFill>
                            <a:srgbClr val="FFFFFF"/>
                          </a:solidFill>
                          <a:latin typeface="Segoe UI" pitchFamily="34" charset="0"/>
                          <a:ea typeface="Segoe UI" pitchFamily="34" charset="-122"/>
                          <a:cs typeface="Segoe UI" pitchFamily="34" charset="-120"/>
                        </a:rPr>
                        <a:t>Optimal D</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E9E4F"/>
                    </a:solidFill>
                  </a:tcPr>
                </a:tc>
              </a:tr>
              <a:tr h="411480">
                <a:tc>
                  <a:txBody>
                    <a:bodyPr/>
                    <a:lstStyle/>
                    <a:p>
                      <a:pPr indent="0" marL="0">
                        <a:buNone/>
                      </a:pP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5E62"/>
                          </a:solidFill>
                          <a:latin typeface="Segoe UI" pitchFamily="34" charset="0"/>
                          <a:ea typeface="Segoe UI" pitchFamily="34" charset="-122"/>
                          <a:cs typeface="Segoe UI" pitchFamily="34" charset="-120"/>
                        </a:rPr>
                        <a:t>λ model, 14 nm</a:t>
                      </a:r>
                      <a:endParaRPr lang="en-US" sz="10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5E62"/>
                          </a:solidFill>
                          <a:latin typeface="Segoe UI" pitchFamily="34" charset="0"/>
                          <a:ea typeface="Segoe UI" pitchFamily="34" charset="-122"/>
                          <a:cs typeface="Segoe UI" pitchFamily="34" charset="-120"/>
                        </a:rPr>
                        <a:t>λ model, 14 nm</a:t>
                      </a:r>
                      <a:endParaRPr lang="en-US" sz="10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5E62"/>
                          </a:solidFill>
                          <a:latin typeface="Segoe UI" pitchFamily="34" charset="0"/>
                          <a:ea typeface="Segoe UI" pitchFamily="34" charset="-122"/>
                          <a:cs typeface="Segoe UI" pitchFamily="34" charset="-120"/>
                        </a:rPr>
                        <a:t>λ model, 14 nm</a:t>
                      </a:r>
                      <a:endParaRPr lang="en-US" sz="10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5E62"/>
                          </a:solidFill>
                          <a:latin typeface="Segoe UI" pitchFamily="34" charset="0"/>
                          <a:ea typeface="Segoe UI" pitchFamily="34" charset="-122"/>
                          <a:cs typeface="Segoe UI" pitchFamily="34" charset="-120"/>
                        </a:rPr>
                        <a:t>Atlas, r = 4 nm</a:t>
                      </a:r>
                      <a:endParaRPr lang="en-US" sz="10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5E62"/>
                          </a:solidFill>
                          <a:latin typeface="Segoe UI" pitchFamily="34" charset="0"/>
                          <a:ea typeface="Segoe UI" pitchFamily="34" charset="-122"/>
                          <a:cs typeface="Segoe UI" pitchFamily="34" charset="-120"/>
                        </a:rPr>
                        <a:t>Atlas, r = 5.64 nm</a:t>
                      </a:r>
                      <a:endParaRPr lang="en-US" sz="10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C5E62"/>
                          </a:solidFill>
                          <a:latin typeface="Segoe UI" pitchFamily="34" charset="0"/>
                          <a:ea typeface="Segoe UI" pitchFamily="34" charset="-122"/>
                          <a:cs typeface="Segoe UI" pitchFamily="34" charset="-120"/>
                        </a:rPr>
                        <a:t>Atlas, r = 5.64 nm</a:t>
                      </a:r>
                      <a:endParaRPr lang="en-US" sz="10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411480">
                <a:tc>
                  <a:txBody>
                    <a:bodyPr/>
                    <a:lstStyle/>
                    <a:p>
                      <a:pPr algn="l" indent="0" marL="0">
                        <a:buNone/>
                      </a:pPr>
                      <a:r>
                        <a:rPr lang="en-US" sz="1300" b="1" dirty="0">
                          <a:solidFill>
                            <a:srgbClr val="171A20"/>
                          </a:solidFill>
                          <a:latin typeface="Segoe UI" pitchFamily="34" charset="0"/>
                          <a:ea typeface="Segoe UI" pitchFamily="34" charset="-122"/>
                          <a:cs typeface="Segoe UI" pitchFamily="34" charset="-120"/>
                        </a:rPr>
                        <a:t>λ (nm)</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4.37</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2.52</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2.18</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2.18</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2.59</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2.59</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r>
              <a:tr h="411480">
                <a:tc>
                  <a:txBody>
                    <a:bodyPr/>
                    <a:lstStyle/>
                    <a:p>
                      <a:pPr algn="l" indent="0" marL="0">
                        <a:buNone/>
                      </a:pPr>
                      <a:r>
                        <a:rPr lang="en-US" sz="1300" b="1" dirty="0">
                          <a:solidFill>
                            <a:srgbClr val="171A20"/>
                          </a:solidFill>
                          <a:latin typeface="Segoe UI" pitchFamily="34" charset="0"/>
                          <a:ea typeface="Segoe UI" pitchFamily="34" charset="-122"/>
                          <a:cs typeface="Segoe UI" pitchFamily="34" charset="-120"/>
                        </a:rPr>
                        <a:t>SS (mV/dec)</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100</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68</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65</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61.3</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65.4</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65.1</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r>
              <a:tr h="411480">
                <a:tc>
                  <a:txBody>
                    <a:bodyPr/>
                    <a:lstStyle/>
                    <a:p>
                      <a:pPr algn="l" indent="0" marL="0">
                        <a:buNone/>
                      </a:pPr>
                      <a:r>
                        <a:rPr lang="en-US" sz="1300" b="1" dirty="0">
                          <a:solidFill>
                            <a:srgbClr val="171A20"/>
                          </a:solidFill>
                          <a:latin typeface="Segoe UI" pitchFamily="34" charset="0"/>
                          <a:ea typeface="Segoe UI" pitchFamily="34" charset="-122"/>
                          <a:cs typeface="Segoe UI" pitchFamily="34" charset="-120"/>
                        </a:rPr>
                        <a:t>DIBL (mV/V)</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201</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62</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41</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17.3</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38</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 38</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r>
              <a:tr h="411480">
                <a:tc>
                  <a:txBody>
                    <a:bodyPr/>
                    <a:lstStyle/>
                    <a:p>
                      <a:pPr algn="l" indent="0" marL="0">
                        <a:buNone/>
                      </a:pPr>
                      <a:r>
                        <a:rPr lang="en-US" sz="1300" b="1" dirty="0">
                          <a:solidFill>
                            <a:srgbClr val="171A20"/>
                          </a:solidFill>
                          <a:latin typeface="Segoe UI" pitchFamily="34" charset="0"/>
                          <a:ea typeface="Segoe UI" pitchFamily="34" charset="-122"/>
                          <a:cs typeface="Segoe UI" pitchFamily="34" charset="-120"/>
                        </a:rPr>
                        <a:t>V</a:t>
                      </a:r>
                      <a:pPr algn="l" indent="0" marL="0">
                        <a:buNone/>
                      </a:pPr>
                      <a:r>
                        <a:rPr lang="en-US" sz="1300" b="1" baseline="-40000" dirty="0">
                          <a:solidFill>
                            <a:srgbClr val="171A20"/>
                          </a:solidFill>
                          <a:latin typeface="Segoe UI" pitchFamily="34" charset="0"/>
                          <a:ea typeface="Segoe UI" pitchFamily="34" charset="-122"/>
                          <a:cs typeface="Segoe UI" pitchFamily="34" charset="-120"/>
                        </a:rPr>
                        <a:t>T</a:t>
                      </a:r>
                      <a:pPr algn="l" indent="0" marL="0">
                        <a:buNone/>
                      </a:pPr>
                      <a:r>
                        <a:rPr lang="en-US" sz="1300" b="1" dirty="0">
                          <a:solidFill>
                            <a:srgbClr val="171A20"/>
                          </a:solidFill>
                          <a:latin typeface="Segoe UI" pitchFamily="34" charset="0"/>
                          <a:ea typeface="Segoe UI" pitchFamily="34" charset="-122"/>
                          <a:cs typeface="Segoe UI" pitchFamily="34" charset="-120"/>
                        </a:rPr>
                        <a:t> (V)</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0.01</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0.24</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0.28</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0.209</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0.204</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0.233</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r>
              <a:tr h="411480">
                <a:tc>
                  <a:txBody>
                    <a:bodyPr/>
                    <a:lstStyle/>
                    <a:p>
                      <a:pPr algn="l" indent="0" marL="0">
                        <a:buNone/>
                      </a:pPr>
                      <a:r>
                        <a:rPr lang="en-US" sz="1300" b="1" dirty="0">
                          <a:solidFill>
                            <a:srgbClr val="171A20"/>
                          </a:solidFill>
                          <a:latin typeface="Segoe UI" pitchFamily="34" charset="0"/>
                          <a:ea typeface="Segoe UI" pitchFamily="34" charset="-122"/>
                          <a:cs typeface="Segoe UI" pitchFamily="34" charset="-120"/>
                        </a:rPr>
                        <a:t>I</a:t>
                      </a:r>
                      <a:pPr algn="l" indent="0" marL="0">
                        <a:buNone/>
                      </a:pPr>
                      <a:r>
                        <a:rPr lang="en-US" sz="1300" b="1" baseline="-40000" dirty="0">
                          <a:solidFill>
                            <a:srgbClr val="171A20"/>
                          </a:solidFill>
                          <a:latin typeface="Segoe UI" pitchFamily="34" charset="0"/>
                          <a:ea typeface="Segoe UI" pitchFamily="34" charset="-122"/>
                          <a:cs typeface="Segoe UI" pitchFamily="34" charset="-120"/>
                        </a:rPr>
                        <a:t>off</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241 nA</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144 pA</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26 pA</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99 pA</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624 pA</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246 pA</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r>
              <a:tr h="411480">
                <a:tc>
                  <a:txBody>
                    <a:bodyPr/>
                    <a:lstStyle/>
                    <a:p>
                      <a:pPr algn="l" indent="0" marL="0">
                        <a:buNone/>
                      </a:pPr>
                      <a:r>
                        <a:rPr lang="en-US" sz="1300" b="1" dirty="0">
                          <a:solidFill>
                            <a:srgbClr val="171A20"/>
                          </a:solidFill>
                          <a:latin typeface="Segoe UI" pitchFamily="34" charset="0"/>
                          <a:ea typeface="Segoe UI" pitchFamily="34" charset="-122"/>
                          <a:cs typeface="Segoe UI" pitchFamily="34" charset="-120"/>
                        </a:rPr>
                        <a:t>I</a:t>
                      </a:r>
                      <a:pPr algn="l" indent="0" marL="0">
                        <a:buNone/>
                      </a:pPr>
                      <a:r>
                        <a:rPr lang="en-US" sz="1300" b="1" baseline="-40000" dirty="0">
                          <a:solidFill>
                            <a:srgbClr val="171A20"/>
                          </a:solidFill>
                          <a:latin typeface="Segoe UI" pitchFamily="34" charset="0"/>
                          <a:ea typeface="Segoe UI" pitchFamily="34" charset="-122"/>
                          <a:cs typeface="Segoe UI" pitchFamily="34" charset="-120"/>
                        </a:rPr>
                        <a:t>on</a:t>
                      </a:r>
                      <a:pPr algn="l" indent="0" marL="0">
                        <a:buNone/>
                      </a:pPr>
                      <a:r>
                        <a:rPr lang="en-US" sz="1300" b="1" dirty="0">
                          <a:solidFill>
                            <a:srgbClr val="171A20"/>
                          </a:solidFill>
                          <a:latin typeface="Segoe UI" pitchFamily="34" charset="0"/>
                          <a:ea typeface="Segoe UI" pitchFamily="34" charset="-122"/>
                          <a:cs typeface="Segoe UI" pitchFamily="34" charset="-120"/>
                        </a:rPr>
                        <a:t> (µA)</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17.9</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27.5</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25.3</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r>
              <a:tr h="411480">
                <a:tc>
                  <a:txBody>
                    <a:bodyPr/>
                    <a:lstStyle/>
                    <a:p>
                      <a:pPr algn="l" indent="0" marL="0">
                        <a:buNone/>
                      </a:pPr>
                      <a:r>
                        <a:rPr lang="en-US" sz="1300" b="1" dirty="0">
                          <a:solidFill>
                            <a:srgbClr val="171A20"/>
                          </a:solidFill>
                          <a:latin typeface="Segoe UI" pitchFamily="34" charset="0"/>
                          <a:ea typeface="Segoe UI" pitchFamily="34" charset="-122"/>
                          <a:cs typeface="Segoe UI" pitchFamily="34" charset="-120"/>
                        </a:rPr>
                        <a:t>ΔT at 30 µW (K)</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727</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68.0</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171A20"/>
                          </a:solidFill>
                          <a:latin typeface="Segoe UI" pitchFamily="34" charset="0"/>
                          <a:ea typeface="Segoe UI" pitchFamily="34" charset="-122"/>
                          <a:cs typeface="Segoe UI" pitchFamily="34" charset="-120"/>
                        </a:rPr>
                        <a:t>61.8</a:t>
                      </a:r>
                      <a:endParaRPr lang="en-US" sz="1300" dirty="0">
                        <a:latin typeface="Segoe UI" charset="0"/>
                        <a:ea typeface="Segoe UI" charset="0"/>
                        <a:cs typeface="Segoe U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F5EC"/>
                    </a:solidFill>
                  </a:tcPr>
                </a:tc>
              </a:tr>
            </a:tbl>
          </a:graphicData>
        </a:graphic>
      </p:graphicFrame>
      <p:sp>
        <p:nvSpPr>
          <p:cNvPr id="5" name="Text 2"/>
          <p:cNvSpPr txBox="1"/>
          <p:nvPr/>
        </p:nvSpPr>
        <p:spPr>
          <a:xfrm>
            <a:off x="548640" y="5257800"/>
            <a:ext cx="11091672" cy="274320"/>
          </a:xfrm>
          <a:prstGeom prst="rect">
            <a:avLst/>
          </a:prstGeom>
          <a:noFill/>
          <a:ln/>
        </p:spPr>
        <p:txBody>
          <a:bodyPr wrap="square" lIns="0" tIns="0" rIns="0" bIns="0" rtlCol="0" anchor="t"/>
          <a:lstStyle/>
          <a:p>
            <a:pPr algn="ctr" indent="0" marL="0">
              <a:buNone/>
            </a:pPr>
            <a:r>
              <a:rPr lang="en-US" sz="1200" dirty="0">
                <a:solidFill>
                  <a:srgbClr val="5C5E62"/>
                </a:solidFill>
                <a:latin typeface="Segoe UI" pitchFamily="34" charset="0"/>
                <a:ea typeface="Segoe UI" pitchFamily="34" charset="-122"/>
                <a:cs typeface="Segoe UI" pitchFamily="34" charset="-120"/>
              </a:rPr>
              <a:t>Gate sides fixed the electrostatics (λ, SS, DIBL); the heat exit and two small knobs fixed the temperature.</a:t>
            </a:r>
            <a:endParaRPr lang="en-US" sz="1200" dirty="0"/>
          </a:p>
        </p:txBody>
      </p:sp>
      <p:sp>
        <p:nvSpPr>
          <p:cNvPr id="6"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Each step changed one thing, and the numbers moved the way the physics says.</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145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Contents</a:t>
            </a:r>
            <a:endParaRPr lang="en-US" sz="3000" dirty="0"/>
          </a:p>
        </p:txBody>
      </p:sp>
      <p:sp>
        <p:nvSpPr>
          <p:cNvPr id="3" name="!!tocLine"/>
          <p:cNvSpPr/>
          <p:nvPr/>
        </p:nvSpPr>
        <p:spPr>
          <a:xfrm>
            <a:off x="868680" y="1508760"/>
            <a:ext cx="91" cy="3840480"/>
          </a:xfrm>
          <a:prstGeom prst="line">
            <a:avLst/>
          </a:prstGeom>
          <a:noFill/>
          <a:ln w="38100">
            <a:solidFill>
              <a:srgbClr val="E2E3E3"/>
            </a:solidFill>
            <a:prstDash val="solid"/>
          </a:ln>
        </p:spPr>
      </p:sp>
      <p:sp>
        <p:nvSpPr>
          <p:cNvPr id="4" name="!!tocC0"/>
          <p:cNvSpPr/>
          <p:nvPr/>
        </p:nvSpPr>
        <p:spPr>
          <a:xfrm>
            <a:off x="685800" y="1325880"/>
            <a:ext cx="365760" cy="365760"/>
          </a:xfrm>
          <a:prstGeom prst="ellipse">
            <a:avLst/>
          </a:prstGeom>
          <a:solidFill>
            <a:srgbClr val="FFFFFF"/>
          </a:solidFill>
          <a:ln w="15875">
            <a:solidFill>
              <a:srgbClr val="2E9E4F"/>
            </a:solidFill>
            <a:prstDash val="solid"/>
          </a:ln>
        </p:spPr>
      </p:sp>
      <p:sp>
        <p:nvSpPr>
          <p:cNvPr id="5" name="!!tocN0"/>
          <p:cNvSpPr txBox="1"/>
          <p:nvPr/>
        </p:nvSpPr>
        <p:spPr>
          <a:xfrm>
            <a:off x="685800" y="135331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01</a:t>
            </a:r>
            <a:endParaRPr lang="en-US" sz="1000" dirty="0"/>
          </a:p>
        </p:txBody>
      </p:sp>
      <p:sp>
        <p:nvSpPr>
          <p:cNvPr id="6" name="!!tocH0"/>
          <p:cNvSpPr txBox="1"/>
          <p:nvPr/>
        </p:nvSpPr>
        <p:spPr>
          <a:xfrm>
            <a:off x="1325880" y="128016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The MOSFET switch</a:t>
            </a:r>
            <a:endParaRPr lang="en-US" sz="1800" dirty="0"/>
          </a:p>
        </p:txBody>
      </p:sp>
      <p:sp>
        <p:nvSpPr>
          <p:cNvPr id="7" name="!!tocS0"/>
          <p:cNvSpPr txBox="1"/>
          <p:nvPr/>
        </p:nvSpPr>
        <p:spPr>
          <a:xfrm>
            <a:off x="1325880" y="162763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Build it · turn the gate · turn the drain · V</a:t>
            </a:r>
            <a:pPr algn="l" indent="0" marL="0">
              <a:buNone/>
            </a:pPr>
            <a:r>
              <a:rPr lang="en-US" sz="1100" baseline="-40000" dirty="0">
                <a:solidFill>
                  <a:srgbClr val="A9ACB1"/>
                </a:solidFill>
                <a:latin typeface="Segoe UI" pitchFamily="34" charset="0"/>
                <a:ea typeface="Segoe UI" pitchFamily="34" charset="-122"/>
                <a:cs typeface="Segoe UI" pitchFamily="34" charset="-120"/>
              </a:rPr>
              <a:t>T</a:t>
            </a:r>
            <a:pPr algn="l" indent="0" marL="0">
              <a:buNone/>
            </a:pPr>
            <a:r>
              <a:rPr lang="en-US" sz="1100" dirty="0">
                <a:solidFill>
                  <a:srgbClr val="A9ACB1"/>
                </a:solidFill>
                <a:latin typeface="Segoe UI" pitchFamily="34" charset="0"/>
                <a:ea typeface="Segoe UI" pitchFamily="34" charset="-122"/>
                <a:cs typeface="Segoe UI" pitchFamily="34" charset="-120"/>
              </a:rPr>
              <a:t> and SS in depth</a:t>
            </a:r>
            <a:endParaRPr lang="en-US" sz="1100" dirty="0"/>
          </a:p>
        </p:txBody>
      </p:sp>
      <p:sp>
        <p:nvSpPr>
          <p:cNvPr id="8" name="!!tocC1"/>
          <p:cNvSpPr/>
          <p:nvPr/>
        </p:nvSpPr>
        <p:spPr>
          <a:xfrm>
            <a:off x="685800" y="1965960"/>
            <a:ext cx="365760" cy="365760"/>
          </a:xfrm>
          <a:prstGeom prst="ellipse">
            <a:avLst/>
          </a:prstGeom>
          <a:solidFill>
            <a:srgbClr val="FFFFFF"/>
          </a:solidFill>
          <a:ln w="15875">
            <a:solidFill>
              <a:srgbClr val="2E9E4F"/>
            </a:solidFill>
            <a:prstDash val="solid"/>
          </a:ln>
        </p:spPr>
      </p:sp>
      <p:sp>
        <p:nvSpPr>
          <p:cNvPr id="9" name="!!tocN1"/>
          <p:cNvSpPr txBox="1"/>
          <p:nvPr/>
        </p:nvSpPr>
        <p:spPr>
          <a:xfrm>
            <a:off x="685800" y="199339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02</a:t>
            </a:r>
            <a:endParaRPr lang="en-US" sz="1000" dirty="0"/>
          </a:p>
        </p:txBody>
      </p:sp>
      <p:sp>
        <p:nvSpPr>
          <p:cNvPr id="10" name="!!tocH1"/>
          <p:cNvSpPr txBox="1"/>
          <p:nvPr/>
        </p:nvSpPr>
        <p:spPr>
          <a:xfrm>
            <a:off x="1325880" y="192024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Shrinking the gate</a:t>
            </a:r>
            <a:endParaRPr lang="en-US" sz="1800" dirty="0"/>
          </a:p>
        </p:txBody>
      </p:sp>
      <p:sp>
        <p:nvSpPr>
          <p:cNvPr id="11" name="!!tocS1"/>
          <p:cNvSpPr txBox="1"/>
          <p:nvPr/>
        </p:nvSpPr>
        <p:spPr>
          <a:xfrm>
            <a:off x="1325880" y="226771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Shorter L</a:t>
            </a:r>
            <a:pPr algn="l" indent="0" marL="0">
              <a:buNone/>
            </a:pPr>
            <a:r>
              <a:rPr lang="en-US" sz="1100" baseline="-40000" dirty="0">
                <a:solidFill>
                  <a:srgbClr val="A9ACB1"/>
                </a:solidFill>
                <a:latin typeface="Segoe UI" pitchFamily="34" charset="0"/>
                <a:ea typeface="Segoe UI" pitchFamily="34" charset="-122"/>
                <a:cs typeface="Segoe UI" pitchFamily="34" charset="-120"/>
              </a:rPr>
              <a:t>g</a:t>
            </a:r>
            <a:pPr algn="l" indent="0" marL="0">
              <a:buNone/>
            </a:pPr>
            <a:r>
              <a:rPr lang="en-US" sz="1100" dirty="0">
                <a:solidFill>
                  <a:srgbClr val="A9ACB1"/>
                </a:solidFill>
                <a:latin typeface="Segoe UI" pitchFamily="34" charset="0"/>
                <a:ea typeface="Segoe UI" pitchFamily="34" charset="-122"/>
                <a:cs typeface="Segoe UI" pitchFamily="34" charset="-120"/>
              </a:rPr>
              <a:t> · DIBL and leakage · the scale length λ</a:t>
            </a:r>
            <a:endParaRPr lang="en-US" sz="1100" dirty="0"/>
          </a:p>
        </p:txBody>
      </p:sp>
      <p:sp>
        <p:nvSpPr>
          <p:cNvPr id="12" name="!!tocC2"/>
          <p:cNvSpPr/>
          <p:nvPr/>
        </p:nvSpPr>
        <p:spPr>
          <a:xfrm>
            <a:off x="685800" y="2606040"/>
            <a:ext cx="365760" cy="365760"/>
          </a:xfrm>
          <a:prstGeom prst="ellipse">
            <a:avLst/>
          </a:prstGeom>
          <a:solidFill>
            <a:srgbClr val="FFFFFF"/>
          </a:solidFill>
          <a:ln w="15875">
            <a:solidFill>
              <a:srgbClr val="2E9E4F"/>
            </a:solidFill>
            <a:prstDash val="solid"/>
          </a:ln>
        </p:spPr>
      </p:sp>
      <p:sp>
        <p:nvSpPr>
          <p:cNvPr id="13" name="!!tocN2"/>
          <p:cNvSpPr txBox="1"/>
          <p:nvPr/>
        </p:nvSpPr>
        <p:spPr>
          <a:xfrm>
            <a:off x="685800" y="263347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03</a:t>
            </a:r>
            <a:endParaRPr lang="en-US" sz="1000" dirty="0"/>
          </a:p>
        </p:txBody>
      </p:sp>
      <p:sp>
        <p:nvSpPr>
          <p:cNvPr id="14" name="!!tocH2"/>
          <p:cNvSpPr txBox="1"/>
          <p:nvPr/>
        </p:nvSpPr>
        <p:spPr>
          <a:xfrm>
            <a:off x="1325880" y="256032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FinFET → GAAFET</a:t>
            </a:r>
            <a:endParaRPr lang="en-US" sz="1800" dirty="0"/>
          </a:p>
        </p:txBody>
      </p:sp>
      <p:sp>
        <p:nvSpPr>
          <p:cNvPr id="15" name="!!tocS2"/>
          <p:cNvSpPr txBox="1"/>
          <p:nvPr/>
        </p:nvSpPr>
        <p:spPr>
          <a:xfrm>
            <a:off x="1325880" y="290779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More gate sides · fin width · wire, sheet, stack · our GAA in numbers</a:t>
            </a:r>
            <a:endParaRPr lang="en-US" sz="1100" dirty="0"/>
          </a:p>
        </p:txBody>
      </p:sp>
      <p:sp>
        <p:nvSpPr>
          <p:cNvPr id="16" name="!!tocC3"/>
          <p:cNvSpPr/>
          <p:nvPr/>
        </p:nvSpPr>
        <p:spPr>
          <a:xfrm>
            <a:off x="685800" y="3246120"/>
            <a:ext cx="365760" cy="365760"/>
          </a:xfrm>
          <a:prstGeom prst="ellipse">
            <a:avLst/>
          </a:prstGeom>
          <a:solidFill>
            <a:srgbClr val="FFFFFF"/>
          </a:solidFill>
          <a:ln w="15875">
            <a:solidFill>
              <a:srgbClr val="2E9E4F"/>
            </a:solidFill>
            <a:prstDash val="solid"/>
          </a:ln>
        </p:spPr>
      </p:sp>
      <p:sp>
        <p:nvSpPr>
          <p:cNvPr id="17" name="!!tocN3"/>
          <p:cNvSpPr txBox="1"/>
          <p:nvPr/>
        </p:nvSpPr>
        <p:spPr>
          <a:xfrm>
            <a:off x="685800" y="327355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04</a:t>
            </a:r>
            <a:endParaRPr lang="en-US" sz="1000" dirty="0"/>
          </a:p>
        </p:txBody>
      </p:sp>
      <p:sp>
        <p:nvSpPr>
          <p:cNvPr id="18" name="!!tocH3"/>
          <p:cNvSpPr txBox="1"/>
          <p:nvPr/>
        </p:nvSpPr>
        <p:spPr>
          <a:xfrm>
            <a:off x="1325880" y="320040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The new problem: heat</a:t>
            </a:r>
            <a:endParaRPr lang="en-US" sz="1800" dirty="0"/>
          </a:p>
        </p:txBody>
      </p:sp>
      <p:sp>
        <p:nvSpPr>
          <p:cNvPr id="19" name="!!tocS3"/>
          <p:cNvSpPr txBox="1"/>
          <p:nvPr/>
        </p:nvSpPr>
        <p:spPr>
          <a:xfrm>
            <a:off x="1325880" y="354787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Oxide traps heat · ΔT = R</a:t>
            </a:r>
            <a:pPr algn="l" indent="0" marL="0">
              <a:buNone/>
            </a:pPr>
            <a:r>
              <a:rPr lang="en-US" sz="1100" baseline="-40000" dirty="0">
                <a:solidFill>
                  <a:srgbClr val="A9ACB1"/>
                </a:solidFill>
                <a:latin typeface="Segoe UI" pitchFamily="34" charset="0"/>
                <a:ea typeface="Segoe UI" pitchFamily="34" charset="-122"/>
                <a:cs typeface="Segoe UI" pitchFamily="34" charset="-120"/>
              </a:rPr>
              <a:t>th</a:t>
            </a:r>
            <a:pPr algn="l" indent="0" marL="0">
              <a:buNone/>
            </a:pPr>
            <a:r>
              <a:rPr lang="en-US" sz="1100" dirty="0">
                <a:solidFill>
                  <a:srgbClr val="A9ACB1"/>
                </a:solidFill>
                <a:latin typeface="Segoe UI" pitchFamily="34" charset="0"/>
                <a:ea typeface="Segoe UI" pitchFamily="34" charset="-122"/>
                <a:cs typeface="Segoe UI" pitchFamily="34" charset="-120"/>
              </a:rPr>
              <a:t> · P · what heat does to every metric</a:t>
            </a:r>
            <a:endParaRPr lang="en-US" sz="1100" dirty="0"/>
          </a:p>
        </p:txBody>
      </p:sp>
      <p:sp>
        <p:nvSpPr>
          <p:cNvPr id="20" name="!!tocC4"/>
          <p:cNvSpPr/>
          <p:nvPr/>
        </p:nvSpPr>
        <p:spPr>
          <a:xfrm>
            <a:off x="685800" y="3886200"/>
            <a:ext cx="365760" cy="365760"/>
          </a:xfrm>
          <a:prstGeom prst="ellipse">
            <a:avLst/>
          </a:prstGeom>
          <a:solidFill>
            <a:srgbClr val="FFFFFF"/>
          </a:solidFill>
          <a:ln w="15875">
            <a:solidFill>
              <a:srgbClr val="2E9E4F"/>
            </a:solidFill>
            <a:prstDash val="solid"/>
          </a:ln>
        </p:spPr>
      </p:sp>
      <p:sp>
        <p:nvSpPr>
          <p:cNvPr id="21" name="!!tocN4"/>
          <p:cNvSpPr txBox="1"/>
          <p:nvPr/>
        </p:nvSpPr>
        <p:spPr>
          <a:xfrm>
            <a:off x="685800" y="391363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05</a:t>
            </a:r>
            <a:endParaRPr lang="en-US" sz="1000" dirty="0"/>
          </a:p>
        </p:txBody>
      </p:sp>
      <p:sp>
        <p:nvSpPr>
          <p:cNvPr id="22" name="!!tocH4"/>
          <p:cNvSpPr txBox="1"/>
          <p:nvPr/>
        </p:nvSpPr>
        <p:spPr>
          <a:xfrm>
            <a:off x="1325880" y="384048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Literature and method</a:t>
            </a:r>
            <a:endParaRPr lang="en-US" sz="1800" dirty="0"/>
          </a:p>
        </p:txBody>
      </p:sp>
      <p:sp>
        <p:nvSpPr>
          <p:cNvPr id="23" name="!!tocS4"/>
          <p:cNvSpPr txBox="1"/>
          <p:nvPr/>
        </p:nvSpPr>
        <p:spPr>
          <a:xfrm>
            <a:off x="1325880" y="418795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Five papers · base paper Chen et al. 2025 · Silvaco Atlas flow</a:t>
            </a:r>
            <a:endParaRPr lang="en-US" sz="1100" dirty="0"/>
          </a:p>
        </p:txBody>
      </p:sp>
      <p:sp>
        <p:nvSpPr>
          <p:cNvPr id="24" name="!!tocC5"/>
          <p:cNvSpPr/>
          <p:nvPr/>
        </p:nvSpPr>
        <p:spPr>
          <a:xfrm>
            <a:off x="685800" y="4526280"/>
            <a:ext cx="365760" cy="365760"/>
          </a:xfrm>
          <a:prstGeom prst="ellipse">
            <a:avLst/>
          </a:prstGeom>
          <a:solidFill>
            <a:srgbClr val="FFFFFF"/>
          </a:solidFill>
          <a:ln w="15875">
            <a:solidFill>
              <a:srgbClr val="2E9E4F"/>
            </a:solidFill>
            <a:prstDash val="solid"/>
          </a:ln>
        </p:spPr>
      </p:sp>
      <p:sp>
        <p:nvSpPr>
          <p:cNvPr id="25" name="!!tocN5"/>
          <p:cNvSpPr txBox="1"/>
          <p:nvPr/>
        </p:nvSpPr>
        <p:spPr>
          <a:xfrm>
            <a:off x="685800" y="4553712"/>
            <a:ext cx="365760" cy="310896"/>
          </a:xfrm>
          <a:prstGeom prst="rect">
            <a:avLst/>
          </a:prstGeom>
          <a:noFill/>
          <a:ln/>
        </p:spPr>
        <p:txBody>
          <a:bodyPr wrap="square" lIns="0" tIns="0" rIns="0" bIns="0" rtlCol="0" anchor="ctr"/>
          <a:lstStyle/>
          <a:p>
            <a:pPr algn="ctr" indent="0" marL="0">
              <a:buNone/>
            </a:pPr>
            <a:r>
              <a:rPr lang="en-US" sz="1000" dirty="0">
                <a:solidFill>
                  <a:srgbClr val="171A20"/>
                </a:solidFill>
                <a:latin typeface="Segoe UI Semibold" pitchFamily="34" charset="0"/>
                <a:ea typeface="Segoe UI Semibold" pitchFamily="34" charset="-122"/>
                <a:cs typeface="Segoe UI Semibold" pitchFamily="34" charset="-120"/>
              </a:rPr>
              <a:t>06</a:t>
            </a:r>
            <a:endParaRPr lang="en-US" sz="1000" dirty="0"/>
          </a:p>
        </p:txBody>
      </p:sp>
      <p:sp>
        <p:nvSpPr>
          <p:cNvPr id="26" name="!!tocH5"/>
          <p:cNvSpPr txBox="1"/>
          <p:nvPr/>
        </p:nvSpPr>
        <p:spPr>
          <a:xfrm>
            <a:off x="1325880" y="4480560"/>
            <a:ext cx="6400800" cy="347472"/>
          </a:xfrm>
          <a:prstGeom prst="rect">
            <a:avLst/>
          </a:prstGeom>
          <a:noFill/>
          <a:ln/>
        </p:spPr>
        <p:txBody>
          <a:bodyPr wrap="square" lIns="0" tIns="0" rIns="0" bIns="0" rtlCol="0" anchor="ctr"/>
          <a:lstStyle/>
          <a:p>
            <a:pPr algn="l" indent="0" marL="0">
              <a:buNone/>
            </a:pPr>
            <a:r>
              <a:rPr lang="en-US" sz="1800" dirty="0">
                <a:solidFill>
                  <a:srgbClr val="8A8D93"/>
                </a:solidFill>
                <a:latin typeface="Segoe UI" pitchFamily="34" charset="0"/>
                <a:ea typeface="Segoe UI" pitchFamily="34" charset="-122"/>
                <a:cs typeface="Segoe UI" pitchFamily="34" charset="-120"/>
              </a:rPr>
              <a:t>Three stages in TCAD</a:t>
            </a:r>
            <a:endParaRPr lang="en-US" sz="1800" dirty="0"/>
          </a:p>
        </p:txBody>
      </p:sp>
      <p:sp>
        <p:nvSpPr>
          <p:cNvPr id="27" name="!!tocS5"/>
          <p:cNvSpPr txBox="1"/>
          <p:nvPr/>
        </p:nvSpPr>
        <p:spPr>
          <a:xfrm>
            <a:off x="1325880" y="4828032"/>
            <a:ext cx="8229600" cy="237744"/>
          </a:xfrm>
          <a:prstGeom prst="rect">
            <a:avLst/>
          </a:prstGeom>
          <a:noFill/>
          <a:ln/>
        </p:spPr>
        <p:txBody>
          <a:bodyPr wrap="square" lIns="0" tIns="0" rIns="0" bIns="0" rtlCol="0" anchor="t"/>
          <a:lstStyle/>
          <a:p>
            <a:pPr algn="l" indent="0" marL="0">
              <a:buNone/>
            </a:pPr>
            <a:r>
              <a:rPr lang="en-US" sz="1100" dirty="0">
                <a:solidFill>
                  <a:srgbClr val="A9ACB1"/>
                </a:solidFill>
                <a:latin typeface="Segoe UI" pitchFamily="34" charset="0"/>
                <a:ea typeface="Segoe UI" pitchFamily="34" charset="-122"/>
                <a:cs typeface="Segoe UI" pitchFamily="34" charset="-120"/>
              </a:rPr>
              <a:t>Standard GAAFET · reproduce the paper · optimal design D</a:t>
            </a:r>
            <a:endParaRPr lang="en-US" sz="1100" dirty="0"/>
          </a:p>
        </p:txBody>
      </p:sp>
      <p:sp>
        <p:nvSpPr>
          <p:cNvPr id="28" name="!!tocC6"/>
          <p:cNvSpPr/>
          <p:nvPr/>
        </p:nvSpPr>
        <p:spPr>
          <a:xfrm>
            <a:off x="685800" y="5166360"/>
            <a:ext cx="365760" cy="365760"/>
          </a:xfrm>
          <a:prstGeom prst="ellipse">
            <a:avLst/>
          </a:prstGeom>
          <a:solidFill>
            <a:srgbClr val="171A20"/>
          </a:solidFill>
          <a:ln w="15875">
            <a:solidFill>
              <a:srgbClr val="171A20"/>
            </a:solidFill>
            <a:prstDash val="solid"/>
          </a:ln>
        </p:spPr>
      </p:sp>
      <p:sp>
        <p:nvSpPr>
          <p:cNvPr id="29" name="!!tocN6"/>
          <p:cNvSpPr txBox="1"/>
          <p:nvPr/>
        </p:nvSpPr>
        <p:spPr>
          <a:xfrm>
            <a:off x="685800" y="5193792"/>
            <a:ext cx="365760" cy="310896"/>
          </a:xfrm>
          <a:prstGeom prst="rect">
            <a:avLst/>
          </a:prstGeom>
          <a:noFill/>
          <a:ln/>
        </p:spPr>
        <p:txBody>
          <a:bodyPr wrap="square" lIns="0" tIns="0" rIns="0" bIns="0" rtlCol="0" anchor="ctr"/>
          <a:lstStyle/>
          <a:p>
            <a:pPr algn="ctr" indent="0" marL="0">
              <a:buNone/>
            </a:pPr>
            <a:r>
              <a:rPr lang="en-US" sz="1000" dirty="0">
                <a:solidFill>
                  <a:srgbClr val="FFFFFF"/>
                </a:solidFill>
                <a:latin typeface="Segoe UI Semibold" pitchFamily="34" charset="0"/>
                <a:ea typeface="Segoe UI Semibold" pitchFamily="34" charset="-122"/>
                <a:cs typeface="Segoe UI Semibold" pitchFamily="34" charset="-120"/>
              </a:rPr>
              <a:t>07</a:t>
            </a:r>
            <a:endParaRPr lang="en-US" sz="1000" dirty="0"/>
          </a:p>
        </p:txBody>
      </p:sp>
      <p:sp>
        <p:nvSpPr>
          <p:cNvPr id="30" name="!!tocH6"/>
          <p:cNvSpPr txBox="1"/>
          <p:nvPr/>
        </p:nvSpPr>
        <p:spPr>
          <a:xfrm>
            <a:off x="1325880" y="5120640"/>
            <a:ext cx="6400800" cy="347472"/>
          </a:xfrm>
          <a:prstGeom prst="rect">
            <a:avLst/>
          </a:prstGeom>
          <a:noFill/>
          <a:ln/>
        </p:spPr>
        <p:txBody>
          <a:bodyPr wrap="square" lIns="0" tIns="0" rIns="0" bIns="0" rtlCol="0" anchor="ctr"/>
          <a:lstStyle/>
          <a:p>
            <a:pPr algn="l" indent="0" marL="0">
              <a:buNone/>
            </a:pPr>
            <a:r>
              <a:rPr lang="en-US" sz="2000" dirty="0">
                <a:solidFill>
                  <a:srgbClr val="171A20"/>
                </a:solidFill>
                <a:latin typeface="Segoe UI Semibold" pitchFamily="34" charset="0"/>
                <a:ea typeface="Segoe UI Semibold" pitchFamily="34" charset="-122"/>
                <a:cs typeface="Segoe UI Semibold" pitchFamily="34" charset="-120"/>
              </a:rPr>
              <a:t>Conclusion</a:t>
            </a:r>
            <a:endParaRPr lang="en-US" sz="2000" dirty="0"/>
          </a:p>
        </p:txBody>
      </p:sp>
      <p:sp>
        <p:nvSpPr>
          <p:cNvPr id="31" name="!!tocS6"/>
          <p:cNvSpPr txBox="1"/>
          <p:nvPr/>
        </p:nvSpPr>
        <p:spPr>
          <a:xfrm>
            <a:off x="1325880" y="5468112"/>
            <a:ext cx="8229600" cy="237744"/>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Gains and limits · the whole story · next steps</a:t>
            </a:r>
            <a:endParaRPr lang="en-US" sz="1100" dirty="0"/>
          </a:p>
        </p:txBody>
      </p:sp>
      <p:sp>
        <p:nvSpPr>
          <p:cNvPr id="32" name="!!tocCard"/>
          <p:cNvSpPr/>
          <p:nvPr/>
        </p:nvSpPr>
        <p:spPr>
          <a:xfrm>
            <a:off x="8503920" y="2011680"/>
            <a:ext cx="3136392" cy="2377440"/>
          </a:xfrm>
          <a:prstGeom prst="roundRect">
            <a:avLst>
              <a:gd name="adj" fmla="val 3077"/>
            </a:avLst>
          </a:prstGeom>
          <a:solidFill>
            <a:srgbClr val="F4F5F7"/>
          </a:solidFill>
          <a:ln/>
        </p:spPr>
      </p:sp>
      <p:sp>
        <p:nvSpPr>
          <p:cNvPr id="33" name="!!tocCk"/>
          <p:cNvSpPr txBox="1"/>
          <p:nvPr/>
        </p:nvSpPr>
        <p:spPr>
          <a:xfrm>
            <a:off x="8732520" y="2240280"/>
            <a:ext cx="2743200" cy="27432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Chapter 07</a:t>
            </a:r>
            <a:endParaRPr lang="en-US" sz="1200" dirty="0"/>
          </a:p>
        </p:txBody>
      </p:sp>
      <p:sp>
        <p:nvSpPr>
          <p:cNvPr id="34" name="!!tocCh"/>
          <p:cNvSpPr txBox="1"/>
          <p:nvPr/>
        </p:nvSpPr>
        <p:spPr>
          <a:xfrm>
            <a:off x="8732520" y="2560320"/>
            <a:ext cx="2743200" cy="822960"/>
          </a:xfrm>
          <a:prstGeom prst="rect">
            <a:avLst/>
          </a:prstGeom>
          <a:noFill/>
          <a:ln/>
        </p:spPr>
        <p:txBody>
          <a:bodyPr wrap="square" lIns="0" tIns="0" rIns="0" bIns="0" rtlCol="0" anchor="t"/>
          <a:lstStyle/>
          <a:p>
            <a:pPr algn="l" indent="0" marL="0">
              <a:buNone/>
            </a:pPr>
            <a:r>
              <a:rPr lang="en-US" sz="2200" dirty="0">
                <a:solidFill>
                  <a:srgbClr val="171A20"/>
                </a:solidFill>
                <a:latin typeface="Segoe UI Semibold" pitchFamily="34" charset="0"/>
                <a:ea typeface="Segoe UI Semibold" pitchFamily="34" charset="-122"/>
                <a:cs typeface="Segoe UI Semibold" pitchFamily="34" charset="-120"/>
              </a:rPr>
              <a:t>Conclusion</a:t>
            </a:r>
            <a:endParaRPr lang="en-US" sz="2200" dirty="0"/>
          </a:p>
        </p:txBody>
      </p:sp>
      <p:sp>
        <p:nvSpPr>
          <p:cNvPr id="35" name="!!tocCs"/>
          <p:cNvSpPr txBox="1"/>
          <p:nvPr/>
        </p:nvSpPr>
        <p:spPr>
          <a:xfrm>
            <a:off x="8732520" y="3383280"/>
            <a:ext cx="2743200" cy="914400"/>
          </a:xfrm>
          <a:prstGeom prst="rect">
            <a:avLst/>
          </a:prstGeom>
          <a:noFill/>
          <a:ln/>
        </p:spPr>
        <p:txBody>
          <a:bodyPr wrap="square" lIns="0" tIns="0" rIns="0" bIns="0" rtlCol="0" anchor="t"/>
          <a:lstStyle/>
          <a:p>
            <a:pPr algn="l" indent="0" marL="0">
              <a:buNone/>
            </a:pPr>
            <a:r>
              <a:rPr lang="en-US" sz="1100" dirty="0">
                <a:solidFill>
                  <a:srgbClr val="5C5E62"/>
                </a:solidFill>
                <a:latin typeface="Segoe UI" pitchFamily="34" charset="0"/>
                <a:ea typeface="Segoe UI" pitchFamily="34" charset="-122"/>
                <a:cs typeface="Segoe UI" pitchFamily="34" charset="-120"/>
              </a:rPr>
              <a:t>Gains and limits</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the whole story</a:t>
            </a:r>
            <a:endParaRPr lang="en-US" sz="1100" dirty="0"/>
          </a:p>
          <a:p>
            <a:pPr algn="l" indent="0" marL="0">
              <a:buNone/>
            </a:pPr>
            <a:r>
              <a:rPr lang="en-US" sz="1100" dirty="0">
                <a:solidFill>
                  <a:srgbClr val="5C5E62"/>
                </a:solidFill>
                <a:latin typeface="Segoe UI" pitchFamily="34" charset="0"/>
                <a:ea typeface="Segoe UI" pitchFamily="34" charset="-122"/>
                <a:cs typeface="Segoe UI" pitchFamily="34" charset="-120"/>
              </a:rPr>
              <a:t>next steps</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146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Conclusion – What the work gives, and what it costs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Advantages on the left, limitations on the right</a:t>
            </a:r>
            <a:endParaRPr lang="en-US" sz="1600" dirty="0"/>
          </a:p>
        </p:txBody>
      </p:sp>
      <p:sp>
        <p:nvSpPr>
          <p:cNvPr id="4" name="Text 2"/>
          <p:cNvSpPr txBox="1"/>
          <p:nvPr/>
        </p:nvSpPr>
        <p:spPr>
          <a:xfrm>
            <a:off x="548640" y="1463040"/>
            <a:ext cx="5449824" cy="365760"/>
          </a:xfrm>
          <a:prstGeom prst="rect">
            <a:avLst/>
          </a:prstGeom>
          <a:noFill/>
          <a:ln/>
        </p:spPr>
        <p:txBody>
          <a:bodyPr wrap="square" lIns="0" tIns="0" rIns="0" bIns="0" rtlCol="0" anchor="t"/>
          <a:lstStyle/>
          <a:p>
            <a:pPr algn="l" indent="0" marL="0">
              <a:buNone/>
            </a:pPr>
            <a:r>
              <a:rPr lang="en-US" sz="1800" dirty="0">
                <a:solidFill>
                  <a:srgbClr val="2E9E4F"/>
                </a:solidFill>
                <a:latin typeface="Segoe UI Semibold" pitchFamily="34" charset="0"/>
                <a:ea typeface="Segoe UI Semibold" pitchFamily="34" charset="-122"/>
                <a:cs typeface="Segoe UI Semibold" pitchFamily="34" charset="-120"/>
              </a:rPr>
              <a:t>Advantages</a:t>
            </a:r>
            <a:endParaRPr lang="en-US" sz="1800" dirty="0"/>
          </a:p>
        </p:txBody>
      </p:sp>
      <p:sp>
        <p:nvSpPr>
          <p:cNvPr id="5" name="Shape 3"/>
          <p:cNvSpPr/>
          <p:nvPr/>
        </p:nvSpPr>
        <p:spPr>
          <a:xfrm>
            <a:off x="548640" y="1965960"/>
            <a:ext cx="5449824" cy="987552"/>
          </a:xfrm>
          <a:prstGeom prst="roundRect">
            <a:avLst>
              <a:gd name="adj" fmla="val 7407"/>
            </a:avLst>
          </a:prstGeom>
          <a:solidFill>
            <a:srgbClr val="F4F5F7"/>
          </a:solidFill>
          <a:ln/>
        </p:spPr>
      </p:sp>
      <p:sp>
        <p:nvSpPr>
          <p:cNvPr id="6" name="Shape 4"/>
          <p:cNvSpPr/>
          <p:nvPr/>
        </p:nvSpPr>
        <p:spPr>
          <a:xfrm>
            <a:off x="758952" y="2258568"/>
            <a:ext cx="402336" cy="402336"/>
          </a:xfrm>
          <a:prstGeom prst="ellipse">
            <a:avLst/>
          </a:prstGeom>
          <a:solidFill>
            <a:srgbClr val="2E9E4F"/>
          </a:solidFill>
          <a:ln/>
        </p:spPr>
      </p:sp>
      <p:sp>
        <p:nvSpPr>
          <p:cNvPr id="7" name="Text 5"/>
          <p:cNvSpPr txBox="1"/>
          <p:nvPr/>
        </p:nvSpPr>
        <p:spPr>
          <a:xfrm>
            <a:off x="758952" y="2258568"/>
            <a:ext cx="402336" cy="402336"/>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a:t>
            </a:r>
            <a:endParaRPr lang="en-US" sz="1400" dirty="0"/>
          </a:p>
        </p:txBody>
      </p:sp>
      <p:sp>
        <p:nvSpPr>
          <p:cNvPr id="8" name="Text 6"/>
          <p:cNvSpPr txBox="1"/>
          <p:nvPr/>
        </p:nvSpPr>
        <p:spPr>
          <a:xfrm>
            <a:off x="1325880" y="2093976"/>
            <a:ext cx="4480560" cy="329184"/>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Matches the base paper</a:t>
            </a:r>
            <a:endParaRPr lang="en-US" sz="1500" dirty="0"/>
          </a:p>
        </p:txBody>
      </p:sp>
      <p:sp>
        <p:nvSpPr>
          <p:cNvPr id="9" name="Text 7"/>
          <p:cNvSpPr txBox="1"/>
          <p:nvPr/>
        </p:nvSpPr>
        <p:spPr>
          <a:xfrm>
            <a:off x="1325880" y="2441448"/>
            <a:ext cx="448056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68.0 K vs 64.8 K at 30 µW (+5 %).</a:t>
            </a:r>
            <a:endParaRPr lang="en-US" sz="1200" dirty="0"/>
          </a:p>
        </p:txBody>
      </p:sp>
      <p:sp>
        <p:nvSpPr>
          <p:cNvPr id="10" name="Shape 8"/>
          <p:cNvSpPr/>
          <p:nvPr/>
        </p:nvSpPr>
        <p:spPr>
          <a:xfrm>
            <a:off x="548640" y="3108960"/>
            <a:ext cx="5449824" cy="987552"/>
          </a:xfrm>
          <a:prstGeom prst="roundRect">
            <a:avLst>
              <a:gd name="adj" fmla="val 7407"/>
            </a:avLst>
          </a:prstGeom>
          <a:solidFill>
            <a:srgbClr val="F4F5F7"/>
          </a:solidFill>
          <a:ln/>
        </p:spPr>
      </p:sp>
      <p:sp>
        <p:nvSpPr>
          <p:cNvPr id="11" name="Shape 9"/>
          <p:cNvSpPr/>
          <p:nvPr/>
        </p:nvSpPr>
        <p:spPr>
          <a:xfrm>
            <a:off x="758952" y="3401568"/>
            <a:ext cx="402336" cy="402336"/>
          </a:xfrm>
          <a:prstGeom prst="ellipse">
            <a:avLst/>
          </a:prstGeom>
          <a:solidFill>
            <a:srgbClr val="2E9E4F"/>
          </a:solidFill>
          <a:ln/>
        </p:spPr>
      </p:sp>
      <p:sp>
        <p:nvSpPr>
          <p:cNvPr id="12" name="Text 10"/>
          <p:cNvSpPr txBox="1"/>
          <p:nvPr/>
        </p:nvSpPr>
        <p:spPr>
          <a:xfrm>
            <a:off x="758952" y="3401568"/>
            <a:ext cx="402336" cy="402336"/>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a:t>
            </a:r>
            <a:endParaRPr lang="en-US" sz="1400" dirty="0"/>
          </a:p>
        </p:txBody>
      </p:sp>
      <p:sp>
        <p:nvSpPr>
          <p:cNvPr id="13" name="Text 11"/>
          <p:cNvSpPr txBox="1"/>
          <p:nvPr/>
        </p:nvSpPr>
        <p:spPr>
          <a:xfrm>
            <a:off x="1325880" y="3236976"/>
            <a:ext cx="4480560" cy="329184"/>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Cooler optimal device</a:t>
            </a:r>
            <a:endParaRPr lang="en-US" sz="1500" dirty="0"/>
          </a:p>
        </p:txBody>
      </p:sp>
      <p:sp>
        <p:nvSpPr>
          <p:cNvPr id="14" name="Text 12"/>
          <p:cNvSpPr txBox="1"/>
          <p:nvPr/>
        </p:nvSpPr>
        <p:spPr>
          <a:xfrm>
            <a:off x="1325880" y="3584448"/>
            <a:ext cx="448056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−16.4 % ΔT, 2.5× less leakage, I</a:t>
            </a:r>
            <a:pPr algn="l" indent="0" marL="0">
              <a:buNone/>
            </a:pPr>
            <a:r>
              <a:rPr lang="en-US" sz="1200" baseline="-40000" dirty="0">
                <a:solidFill>
                  <a:srgbClr val="5C5E62"/>
                </a:solidFill>
                <a:latin typeface="Segoe UI" pitchFamily="34" charset="0"/>
                <a:ea typeface="Segoe UI" pitchFamily="34" charset="-122"/>
                <a:cs typeface="Segoe UI" pitchFamily="34" charset="-120"/>
              </a:rPr>
              <a:t>on</a:t>
            </a:r>
            <a:pPr algn="l" indent="0" marL="0">
              <a:buNone/>
            </a:pPr>
            <a:r>
              <a:rPr lang="en-US" sz="1200" dirty="0">
                <a:solidFill>
                  <a:srgbClr val="5C5E62"/>
                </a:solidFill>
                <a:latin typeface="Segoe UI" pitchFamily="34" charset="0"/>
                <a:ea typeface="Segoe UI" pitchFamily="34" charset="-122"/>
                <a:cs typeface="Segoe UI" pitchFamily="34" charset="-120"/>
              </a:rPr>
              <a:t> −7.8 %.</a:t>
            </a:r>
            <a:endParaRPr lang="en-US" sz="1200" dirty="0"/>
          </a:p>
        </p:txBody>
      </p:sp>
      <p:sp>
        <p:nvSpPr>
          <p:cNvPr id="15" name="Shape 13"/>
          <p:cNvSpPr/>
          <p:nvPr/>
        </p:nvSpPr>
        <p:spPr>
          <a:xfrm>
            <a:off x="548640" y="4251960"/>
            <a:ext cx="5449824" cy="987552"/>
          </a:xfrm>
          <a:prstGeom prst="roundRect">
            <a:avLst>
              <a:gd name="adj" fmla="val 7407"/>
            </a:avLst>
          </a:prstGeom>
          <a:solidFill>
            <a:srgbClr val="F4F5F7"/>
          </a:solidFill>
          <a:ln/>
        </p:spPr>
      </p:sp>
      <p:sp>
        <p:nvSpPr>
          <p:cNvPr id="16" name="Shape 14"/>
          <p:cNvSpPr/>
          <p:nvPr/>
        </p:nvSpPr>
        <p:spPr>
          <a:xfrm>
            <a:off x="758952" y="4544568"/>
            <a:ext cx="402336" cy="402336"/>
          </a:xfrm>
          <a:prstGeom prst="ellipse">
            <a:avLst/>
          </a:prstGeom>
          <a:solidFill>
            <a:srgbClr val="2E9E4F"/>
          </a:solidFill>
          <a:ln/>
        </p:spPr>
      </p:sp>
      <p:sp>
        <p:nvSpPr>
          <p:cNvPr id="17" name="Text 15"/>
          <p:cNvSpPr txBox="1"/>
          <p:nvPr/>
        </p:nvSpPr>
        <p:spPr>
          <a:xfrm>
            <a:off x="758952" y="4544568"/>
            <a:ext cx="402336" cy="402336"/>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a:t>
            </a:r>
            <a:endParaRPr lang="en-US" sz="1400" dirty="0"/>
          </a:p>
        </p:txBody>
      </p:sp>
      <p:sp>
        <p:nvSpPr>
          <p:cNvPr id="18" name="Text 16"/>
          <p:cNvSpPr txBox="1"/>
          <p:nvPr/>
        </p:nvSpPr>
        <p:spPr>
          <a:xfrm>
            <a:off x="1325880" y="4379976"/>
            <a:ext cx="4480560" cy="329184"/>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Runs on a laptop</a:t>
            </a:r>
            <a:endParaRPr lang="en-US" sz="1500" dirty="0"/>
          </a:p>
        </p:txBody>
      </p:sp>
      <p:sp>
        <p:nvSpPr>
          <p:cNvPr id="19" name="Text 17"/>
          <p:cNvSpPr txBox="1"/>
          <p:nvPr/>
        </p:nvSpPr>
        <p:spPr>
          <a:xfrm>
            <a:off x="1325880" y="4727448"/>
            <a:ext cx="448056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Block Newton, 24k nodes, 15–35 min per device.</a:t>
            </a:r>
            <a:endParaRPr lang="en-US" sz="1200" dirty="0"/>
          </a:p>
        </p:txBody>
      </p:sp>
      <p:sp>
        <p:nvSpPr>
          <p:cNvPr id="20" name="Text 18"/>
          <p:cNvSpPr txBox="1"/>
          <p:nvPr/>
        </p:nvSpPr>
        <p:spPr>
          <a:xfrm>
            <a:off x="6190488" y="1463040"/>
            <a:ext cx="5449824" cy="365760"/>
          </a:xfrm>
          <a:prstGeom prst="rect">
            <a:avLst/>
          </a:prstGeom>
          <a:noFill/>
          <a:ln/>
        </p:spPr>
        <p:txBody>
          <a:bodyPr wrap="square" lIns="0" tIns="0" rIns="0" bIns="0" rtlCol="0" anchor="t"/>
          <a:lstStyle/>
          <a:p>
            <a:pPr algn="l" indent="0" marL="0">
              <a:buNone/>
            </a:pPr>
            <a:r>
              <a:rPr lang="en-US" sz="1800" dirty="0">
                <a:solidFill>
                  <a:srgbClr val="E07B00"/>
                </a:solidFill>
                <a:latin typeface="Segoe UI Semibold" pitchFamily="34" charset="0"/>
                <a:ea typeface="Segoe UI Semibold" pitchFamily="34" charset="-122"/>
                <a:cs typeface="Segoe UI Semibold" pitchFamily="34" charset="-120"/>
              </a:rPr>
              <a:t>Limitations</a:t>
            </a:r>
            <a:endParaRPr lang="en-US" sz="1800" dirty="0"/>
          </a:p>
        </p:txBody>
      </p:sp>
      <p:sp>
        <p:nvSpPr>
          <p:cNvPr id="21" name="Shape 19"/>
          <p:cNvSpPr/>
          <p:nvPr/>
        </p:nvSpPr>
        <p:spPr>
          <a:xfrm>
            <a:off x="6190488" y="1965960"/>
            <a:ext cx="5449824" cy="987552"/>
          </a:xfrm>
          <a:prstGeom prst="roundRect">
            <a:avLst>
              <a:gd name="adj" fmla="val 7407"/>
            </a:avLst>
          </a:prstGeom>
          <a:solidFill>
            <a:srgbClr val="F4F5F7"/>
          </a:solidFill>
          <a:ln/>
        </p:spPr>
      </p:sp>
      <p:sp>
        <p:nvSpPr>
          <p:cNvPr id="22" name="Shape 20"/>
          <p:cNvSpPr/>
          <p:nvPr/>
        </p:nvSpPr>
        <p:spPr>
          <a:xfrm>
            <a:off x="6400800" y="2258568"/>
            <a:ext cx="402336" cy="402336"/>
          </a:xfrm>
          <a:prstGeom prst="ellipse">
            <a:avLst/>
          </a:prstGeom>
          <a:solidFill>
            <a:srgbClr val="E07B00"/>
          </a:solidFill>
          <a:ln/>
        </p:spPr>
      </p:sp>
      <p:sp>
        <p:nvSpPr>
          <p:cNvPr id="23" name="Text 21"/>
          <p:cNvSpPr txBox="1"/>
          <p:nvPr/>
        </p:nvSpPr>
        <p:spPr>
          <a:xfrm>
            <a:off x="6400800" y="2258568"/>
            <a:ext cx="402336" cy="402336"/>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a:t>
            </a:r>
            <a:endParaRPr lang="en-US" sz="1400" dirty="0"/>
          </a:p>
        </p:txBody>
      </p:sp>
      <p:sp>
        <p:nvSpPr>
          <p:cNvPr id="24" name="Text 22"/>
          <p:cNvSpPr txBox="1"/>
          <p:nvPr/>
        </p:nvSpPr>
        <p:spPr>
          <a:xfrm>
            <a:off x="6967728" y="2093976"/>
            <a:ext cx="4480560" cy="329184"/>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Wire, not sheet</a:t>
            </a:r>
            <a:endParaRPr lang="en-US" sz="1500" dirty="0"/>
          </a:p>
        </p:txBody>
      </p:sp>
      <p:sp>
        <p:nvSpPr>
          <p:cNvPr id="25" name="Text 23"/>
          <p:cNvSpPr txBox="1"/>
          <p:nvPr/>
        </p:nvSpPr>
        <p:spPr>
          <a:xfrm>
            <a:off x="6967728" y="2441448"/>
            <a:ext cx="448056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Equal area, but rounder than the 20 × 5 nm sheet.</a:t>
            </a:r>
            <a:endParaRPr lang="en-US" sz="1200" dirty="0"/>
          </a:p>
        </p:txBody>
      </p:sp>
      <p:sp>
        <p:nvSpPr>
          <p:cNvPr id="26" name="Shape 24"/>
          <p:cNvSpPr/>
          <p:nvPr/>
        </p:nvSpPr>
        <p:spPr>
          <a:xfrm>
            <a:off x="6190488" y="3108960"/>
            <a:ext cx="5449824" cy="987552"/>
          </a:xfrm>
          <a:prstGeom prst="roundRect">
            <a:avLst>
              <a:gd name="adj" fmla="val 7407"/>
            </a:avLst>
          </a:prstGeom>
          <a:solidFill>
            <a:srgbClr val="F4F5F7"/>
          </a:solidFill>
          <a:ln/>
        </p:spPr>
      </p:sp>
      <p:sp>
        <p:nvSpPr>
          <p:cNvPr id="27" name="Shape 25"/>
          <p:cNvSpPr/>
          <p:nvPr/>
        </p:nvSpPr>
        <p:spPr>
          <a:xfrm>
            <a:off x="6400800" y="3401568"/>
            <a:ext cx="402336" cy="402336"/>
          </a:xfrm>
          <a:prstGeom prst="ellipse">
            <a:avLst/>
          </a:prstGeom>
          <a:solidFill>
            <a:srgbClr val="E07B00"/>
          </a:solidFill>
          <a:ln/>
        </p:spPr>
      </p:sp>
      <p:sp>
        <p:nvSpPr>
          <p:cNvPr id="28" name="Text 26"/>
          <p:cNvSpPr txBox="1"/>
          <p:nvPr/>
        </p:nvSpPr>
        <p:spPr>
          <a:xfrm>
            <a:off x="6400800" y="3401568"/>
            <a:ext cx="402336" cy="402336"/>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a:t>
            </a:r>
            <a:endParaRPr lang="en-US" sz="1400" dirty="0"/>
          </a:p>
        </p:txBody>
      </p:sp>
      <p:sp>
        <p:nvSpPr>
          <p:cNvPr id="29" name="Text 27"/>
          <p:cNvSpPr txBox="1"/>
          <p:nvPr/>
        </p:nvSpPr>
        <p:spPr>
          <a:xfrm>
            <a:off x="6967728" y="3236976"/>
            <a:ext cx="4480560" cy="329184"/>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Lumped heat exit</a:t>
            </a:r>
            <a:endParaRPr lang="en-US" sz="1500" dirty="0"/>
          </a:p>
        </p:txBody>
      </p:sp>
      <p:sp>
        <p:nvSpPr>
          <p:cNvPr id="30" name="Text 28"/>
          <p:cNvSpPr txBox="1"/>
          <p:nvPr/>
        </p:nvSpPr>
        <p:spPr>
          <a:xfrm>
            <a:off x="6967728" y="3584448"/>
            <a:ext cx="448056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Substrate and copper wiring folded into one fitted α.</a:t>
            </a:r>
            <a:endParaRPr lang="en-US" sz="1200" dirty="0"/>
          </a:p>
        </p:txBody>
      </p:sp>
      <p:sp>
        <p:nvSpPr>
          <p:cNvPr id="31" name="Shape 29"/>
          <p:cNvSpPr/>
          <p:nvPr/>
        </p:nvSpPr>
        <p:spPr>
          <a:xfrm>
            <a:off x="6190488" y="4251960"/>
            <a:ext cx="5449824" cy="987552"/>
          </a:xfrm>
          <a:prstGeom prst="roundRect">
            <a:avLst>
              <a:gd name="adj" fmla="val 7407"/>
            </a:avLst>
          </a:prstGeom>
          <a:solidFill>
            <a:srgbClr val="F4F5F7"/>
          </a:solidFill>
          <a:ln/>
        </p:spPr>
      </p:sp>
      <p:sp>
        <p:nvSpPr>
          <p:cNvPr id="32" name="Shape 30"/>
          <p:cNvSpPr/>
          <p:nvPr/>
        </p:nvSpPr>
        <p:spPr>
          <a:xfrm>
            <a:off x="6400800" y="4544568"/>
            <a:ext cx="402336" cy="402336"/>
          </a:xfrm>
          <a:prstGeom prst="ellipse">
            <a:avLst/>
          </a:prstGeom>
          <a:solidFill>
            <a:srgbClr val="E07B00"/>
          </a:solidFill>
          <a:ln/>
        </p:spPr>
      </p:sp>
      <p:sp>
        <p:nvSpPr>
          <p:cNvPr id="33" name="Text 31"/>
          <p:cNvSpPr txBox="1"/>
          <p:nvPr/>
        </p:nvSpPr>
        <p:spPr>
          <a:xfrm>
            <a:off x="6400800" y="4544568"/>
            <a:ext cx="402336" cy="402336"/>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a:t>
            </a:r>
            <a:endParaRPr lang="en-US" sz="1400" dirty="0"/>
          </a:p>
        </p:txBody>
      </p:sp>
      <p:sp>
        <p:nvSpPr>
          <p:cNvPr id="34" name="Text 32"/>
          <p:cNvSpPr txBox="1"/>
          <p:nvPr/>
        </p:nvSpPr>
        <p:spPr>
          <a:xfrm>
            <a:off x="6967728" y="4379976"/>
            <a:ext cx="4480560" cy="329184"/>
          </a:xfrm>
          <a:prstGeom prst="rect">
            <a:avLst/>
          </a:prstGeom>
          <a:noFill/>
          <a:ln/>
        </p:spPr>
        <p:txBody>
          <a:bodyPr wrap="square" lIns="0" tIns="0" rIns="0" bIns="0" rtlCol="0" anchor="t"/>
          <a:lstStyle/>
          <a:p>
            <a:pPr algn="l" indent="0" marL="0">
              <a:buNone/>
            </a:pPr>
            <a:r>
              <a:rPr lang="en-US" sz="1500" dirty="0">
                <a:solidFill>
                  <a:srgbClr val="171A20"/>
                </a:solidFill>
                <a:latin typeface="Segoe UI Semibold" pitchFamily="34" charset="0"/>
                <a:ea typeface="Segoe UI Semibold" pitchFamily="34" charset="-122"/>
                <a:cs typeface="Segoe UI Semibold" pitchFamily="34" charset="-120"/>
              </a:rPr>
              <a:t>One device only</a:t>
            </a:r>
            <a:endParaRPr lang="en-US" sz="1500" dirty="0"/>
          </a:p>
        </p:txBody>
      </p:sp>
      <p:sp>
        <p:nvSpPr>
          <p:cNvPr id="35" name="Text 33"/>
          <p:cNvSpPr txBox="1"/>
          <p:nvPr/>
        </p:nvSpPr>
        <p:spPr>
          <a:xfrm>
            <a:off x="6967728" y="4727448"/>
            <a:ext cx="4480560" cy="41148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Crosstalk needs a second device in the deck.</a:t>
            </a:r>
            <a:endParaRPr lang="en-US" sz="1200" dirty="0"/>
          </a:p>
        </p:txBody>
      </p:sp>
      <p:sp>
        <p:nvSpPr>
          <p:cNvPr id="36"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A calibrated single-device model, ready to extend to crosstalk.</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147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Conclusion – The whole story</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From a leaking MOSFET to a cooler GAAFET, in five steps</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E2E3E3"/>
          </a:solidFill>
          <a:ln/>
        </p:spPr>
      </p:sp>
      <p:sp>
        <p:nvSpPr>
          <p:cNvPr id="6" name="!!sdot2"/>
          <p:cNvSpPr/>
          <p:nvPr/>
        </p:nvSpPr>
        <p:spPr>
          <a:xfrm>
            <a:off x="11288268" y="525780"/>
            <a:ext cx="82296" cy="82296"/>
          </a:xfrm>
          <a:prstGeom prst="ellipse">
            <a:avLst/>
          </a:prstGeom>
          <a:solidFill>
            <a:srgbClr val="E2E3E3"/>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stB0"/>
          <p:cNvSpPr/>
          <p:nvPr/>
        </p:nvSpPr>
        <p:spPr>
          <a:xfrm>
            <a:off x="548640" y="1737360"/>
            <a:ext cx="1965960" cy="2103120"/>
          </a:xfrm>
          <a:prstGeom prst="roundRect">
            <a:avLst>
              <a:gd name="adj" fmla="val 4651"/>
            </a:avLst>
          </a:prstGeom>
          <a:solidFill>
            <a:srgbClr val="D64545"/>
          </a:solidFill>
          <a:ln/>
        </p:spPr>
      </p:sp>
      <p:sp>
        <p:nvSpPr>
          <p:cNvPr id="10" name="!!stN0"/>
          <p:cNvSpPr txBox="1"/>
          <p:nvPr/>
        </p:nvSpPr>
        <p:spPr>
          <a:xfrm>
            <a:off x="731520" y="1874520"/>
            <a:ext cx="457200" cy="365760"/>
          </a:xfrm>
          <a:prstGeom prst="rect">
            <a:avLst/>
          </a:prstGeom>
          <a:noFill/>
          <a:ln/>
        </p:spPr>
        <p:txBody>
          <a:bodyPr wrap="square" lIns="0" tIns="0" rIns="0" bIns="0" rtlCol="0" anchor="t"/>
          <a:lstStyle/>
          <a:p>
            <a:pPr algn="l" indent="0" marL="0">
              <a:buNone/>
            </a:pPr>
            <a:r>
              <a:rPr lang="en-US" sz="1600"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11" name="!!stH0"/>
          <p:cNvSpPr txBox="1"/>
          <p:nvPr/>
        </p:nvSpPr>
        <p:spPr>
          <a:xfrm>
            <a:off x="731520" y="2286000"/>
            <a:ext cx="1691640" cy="411480"/>
          </a:xfrm>
          <a:prstGeom prst="rect">
            <a:avLst/>
          </a:prstGeom>
          <a:noFill/>
          <a:ln/>
        </p:spPr>
        <p:txBody>
          <a:bodyPr wrap="square" lIns="0" tIns="0" rIns="0" bIns="0" rtlCol="0" anchor="t"/>
          <a:lstStyle/>
          <a:p>
            <a:pPr algn="l" indent="0" marL="0">
              <a:buNone/>
            </a:pPr>
            <a:r>
              <a:rPr lang="en-US" sz="1800" dirty="0">
                <a:solidFill>
                  <a:srgbClr val="FFFFFF"/>
                </a:solidFill>
                <a:latin typeface="Segoe UI Semibold" pitchFamily="34" charset="0"/>
                <a:ea typeface="Segoe UI Semibold" pitchFamily="34" charset="-122"/>
                <a:cs typeface="Segoe UI Semibold" pitchFamily="34" charset="-120"/>
              </a:rPr>
              <a:t>MOSFET</a:t>
            </a:r>
            <a:endParaRPr lang="en-US" sz="1800" dirty="0"/>
          </a:p>
        </p:txBody>
      </p:sp>
      <p:sp>
        <p:nvSpPr>
          <p:cNvPr id="12" name="!!stT0"/>
          <p:cNvSpPr txBox="1"/>
          <p:nvPr/>
        </p:nvSpPr>
        <p:spPr>
          <a:xfrm>
            <a:off x="731520" y="2743200"/>
            <a:ext cx="1691640" cy="457200"/>
          </a:xfrm>
          <a:prstGeom prst="rect">
            <a:avLst/>
          </a:prstGeom>
          <a:noFill/>
          <a:ln/>
        </p:spPr>
        <p:txBody>
          <a:bodyPr wrap="square" lIns="0" tIns="0" rIns="0" bIns="0" rtlCol="0" anchor="t"/>
          <a:lstStyle/>
          <a:p>
            <a:pPr algn="l" indent="0" marL="0">
              <a:buNone/>
            </a:pPr>
            <a:r>
              <a:rPr lang="en-US" sz="1200" dirty="0">
                <a:solidFill>
                  <a:srgbClr val="F2F2F2"/>
                </a:solidFill>
                <a:latin typeface="Segoe UI" pitchFamily="34" charset="0"/>
                <a:ea typeface="Segoe UI" pitchFamily="34" charset="-122"/>
                <a:cs typeface="Segoe UI" pitchFamily="34" charset="-120"/>
              </a:rPr>
              <a:t>short L</a:t>
            </a:r>
            <a:pPr algn="l" indent="0" marL="0">
              <a:buNone/>
            </a:pPr>
            <a:r>
              <a:rPr lang="en-US" sz="1200" baseline="-40000" dirty="0">
                <a:solidFill>
                  <a:srgbClr val="F2F2F2"/>
                </a:solidFill>
                <a:latin typeface="Segoe UI" pitchFamily="34" charset="0"/>
                <a:ea typeface="Segoe UI" pitchFamily="34" charset="-122"/>
                <a:cs typeface="Segoe UI" pitchFamily="34" charset="-120"/>
              </a:rPr>
              <a:t>g</a:t>
            </a:r>
            <a:pPr algn="l" indent="0" marL="0">
              <a:buNone/>
            </a:pPr>
            <a:r>
              <a:rPr lang="en-US" sz="1200" dirty="0">
                <a:solidFill>
                  <a:srgbClr val="F2F2F2"/>
                </a:solidFill>
                <a:latin typeface="Segoe UI" pitchFamily="34" charset="0"/>
                <a:ea typeface="Segoe UI" pitchFamily="34" charset="-122"/>
                <a:cs typeface="Segoe UI" pitchFamily="34" charset="-120"/>
              </a:rPr>
              <a:t> leaks</a:t>
            </a:r>
            <a:endParaRPr lang="en-US" sz="1200" dirty="0"/>
          </a:p>
        </p:txBody>
      </p:sp>
      <p:sp>
        <p:nvSpPr>
          <p:cNvPr id="13" name="!!stV0"/>
          <p:cNvSpPr txBox="1"/>
          <p:nvPr/>
        </p:nvSpPr>
        <p:spPr>
          <a:xfrm>
            <a:off x="731520" y="3291840"/>
            <a:ext cx="1691640" cy="365760"/>
          </a:xfrm>
          <a:prstGeom prst="rect">
            <a:avLst/>
          </a:prstGeom>
          <a:noFill/>
          <a:ln/>
        </p:spPr>
        <p:txBody>
          <a:bodyPr wrap="square" lIns="0" tIns="0" rIns="0" bIns="0" rtlCol="0" anchor="t"/>
          <a:lstStyle/>
          <a:p>
            <a:pPr algn="l" indent="0" marL="0">
              <a:buNone/>
            </a:pPr>
            <a:r>
              <a:rPr lang="en-US" sz="1400" dirty="0">
                <a:solidFill>
                  <a:srgbClr val="FFFFFF"/>
                </a:solidFill>
                <a:latin typeface="Segoe UI Semibold" pitchFamily="34" charset="0"/>
                <a:ea typeface="Segoe UI Semibold" pitchFamily="34" charset="-122"/>
                <a:cs typeface="Segoe UI Semibold" pitchFamily="34" charset="-120"/>
              </a:rPr>
              <a:t>DIBL 202 mV/V</a:t>
            </a:r>
            <a:endParaRPr lang="en-US" sz="1400" dirty="0"/>
          </a:p>
        </p:txBody>
      </p:sp>
      <p:sp>
        <p:nvSpPr>
          <p:cNvPr id="14" name="!!stA1"/>
          <p:cNvSpPr/>
          <p:nvPr/>
        </p:nvSpPr>
        <p:spPr>
          <a:xfrm>
            <a:off x="2514600" y="2743200"/>
            <a:ext cx="274320" cy="91"/>
          </a:xfrm>
          <a:prstGeom prst="line">
            <a:avLst/>
          </a:prstGeom>
          <a:noFill/>
          <a:ln w="25400">
            <a:solidFill>
              <a:srgbClr val="E2E3E3"/>
            </a:solidFill>
            <a:prstDash val="solid"/>
            <a:tailEnd type="triangle"/>
          </a:ln>
        </p:spPr>
      </p:sp>
      <p:sp>
        <p:nvSpPr>
          <p:cNvPr id="15" name="!!stB1"/>
          <p:cNvSpPr/>
          <p:nvPr/>
        </p:nvSpPr>
        <p:spPr>
          <a:xfrm>
            <a:off x="2834640" y="1737360"/>
            <a:ext cx="1965960" cy="2103120"/>
          </a:xfrm>
          <a:prstGeom prst="roundRect">
            <a:avLst>
              <a:gd name="adj" fmla="val 4651"/>
            </a:avLst>
          </a:prstGeom>
          <a:solidFill>
            <a:srgbClr val="FAFAFB"/>
          </a:solidFill>
          <a:ln/>
        </p:spPr>
      </p:sp>
      <p:sp>
        <p:nvSpPr>
          <p:cNvPr id="16" name="!!stN1"/>
          <p:cNvSpPr txBox="1"/>
          <p:nvPr/>
        </p:nvSpPr>
        <p:spPr>
          <a:xfrm>
            <a:off x="3017520" y="1874520"/>
            <a:ext cx="457200" cy="365760"/>
          </a:xfrm>
          <a:prstGeom prst="rect">
            <a:avLst/>
          </a:prstGeom>
          <a:noFill/>
          <a:ln/>
        </p:spPr>
        <p:txBody>
          <a:bodyPr wrap="square" lIns="0" tIns="0" rIns="0" bIns="0" rtlCol="0" anchor="t"/>
          <a:lstStyle/>
          <a:p>
            <a:pPr algn="l" indent="0" marL="0">
              <a:buNone/>
            </a:pPr>
            <a:r>
              <a:rPr lang="en-US" sz="1600" dirty="0">
                <a:solidFill>
                  <a:srgbClr val="D0D2D6"/>
                </a:solidFill>
                <a:latin typeface="Segoe UI Semibold" pitchFamily="34" charset="0"/>
                <a:ea typeface="Segoe UI Semibold" pitchFamily="34" charset="-122"/>
                <a:cs typeface="Segoe UI Semibold" pitchFamily="34" charset="-120"/>
              </a:rPr>
              <a:t>2</a:t>
            </a:r>
            <a:endParaRPr lang="en-US" sz="1600" dirty="0"/>
          </a:p>
        </p:txBody>
      </p:sp>
      <p:sp>
        <p:nvSpPr>
          <p:cNvPr id="17" name="!!stH1"/>
          <p:cNvSpPr txBox="1"/>
          <p:nvPr/>
        </p:nvSpPr>
        <p:spPr>
          <a:xfrm>
            <a:off x="3017520" y="2286000"/>
            <a:ext cx="1691640" cy="411480"/>
          </a:xfrm>
          <a:prstGeom prst="rect">
            <a:avLst/>
          </a:prstGeom>
          <a:noFill/>
          <a:ln/>
        </p:spPr>
        <p:txBody>
          <a:bodyPr wrap="square" lIns="0" tIns="0" rIns="0" bIns="0" rtlCol="0" anchor="t"/>
          <a:lstStyle/>
          <a:p>
            <a:pPr algn="l" indent="0" marL="0">
              <a:buNone/>
            </a:pPr>
            <a:r>
              <a:rPr lang="en-US" sz="1800" dirty="0">
                <a:solidFill>
                  <a:srgbClr val="D0D2D6"/>
                </a:solidFill>
                <a:latin typeface="Segoe UI Semibold" pitchFamily="34" charset="0"/>
                <a:ea typeface="Segoe UI Semibold" pitchFamily="34" charset="-122"/>
                <a:cs typeface="Segoe UI Semibold" pitchFamily="34" charset="-120"/>
              </a:rPr>
              <a:t>GAAFET</a:t>
            </a:r>
            <a:endParaRPr lang="en-US" sz="1800" dirty="0"/>
          </a:p>
        </p:txBody>
      </p:sp>
      <p:sp>
        <p:nvSpPr>
          <p:cNvPr id="18" name="!!stT1"/>
          <p:cNvSpPr txBox="1"/>
          <p:nvPr/>
        </p:nvSpPr>
        <p:spPr>
          <a:xfrm>
            <a:off x="3017520" y="2743200"/>
            <a:ext cx="1691640" cy="457200"/>
          </a:xfrm>
          <a:prstGeom prst="rect">
            <a:avLst/>
          </a:prstGeom>
          <a:noFill/>
          <a:ln/>
        </p:spPr>
        <p:txBody>
          <a:bodyPr wrap="square" lIns="0" tIns="0" rIns="0" bIns="0" rtlCol="0" anchor="t"/>
          <a:lstStyle/>
          <a:p>
            <a:pPr algn="l" indent="0" marL="0">
              <a:buNone/>
            </a:pPr>
            <a:r>
              <a:rPr lang="en-US" sz="1200" dirty="0">
                <a:solidFill>
                  <a:srgbClr val="D0D2D6"/>
                </a:solidFill>
                <a:latin typeface="Segoe UI" pitchFamily="34" charset="0"/>
                <a:ea typeface="Segoe UI" pitchFamily="34" charset="-122"/>
                <a:cs typeface="Segoe UI" pitchFamily="34" charset="-120"/>
              </a:rPr>
              <a:t>gate on all sides</a:t>
            </a:r>
            <a:endParaRPr lang="en-US" sz="1200" dirty="0"/>
          </a:p>
        </p:txBody>
      </p:sp>
      <p:sp>
        <p:nvSpPr>
          <p:cNvPr id="19" name="!!stV1"/>
          <p:cNvSpPr txBox="1"/>
          <p:nvPr/>
        </p:nvSpPr>
        <p:spPr>
          <a:xfrm>
            <a:off x="3017520" y="3291840"/>
            <a:ext cx="1691640" cy="365760"/>
          </a:xfrm>
          <a:prstGeom prst="rect">
            <a:avLst/>
          </a:prstGeom>
          <a:noFill/>
          <a:ln/>
        </p:spPr>
        <p:txBody>
          <a:bodyPr wrap="square" lIns="0" tIns="0" rIns="0" bIns="0" rtlCol="0" anchor="t"/>
          <a:lstStyle/>
          <a:p>
            <a:pPr algn="l" indent="0" marL="0">
              <a:buNone/>
            </a:pPr>
            <a:r>
              <a:rPr lang="en-US" sz="1400" dirty="0">
                <a:solidFill>
                  <a:srgbClr val="D0D2D6"/>
                </a:solidFill>
                <a:latin typeface="Segoe UI Semibold" pitchFamily="34" charset="0"/>
                <a:ea typeface="Segoe UI Semibold" pitchFamily="34" charset="-122"/>
                <a:cs typeface="Segoe UI Semibold" pitchFamily="34" charset="-120"/>
              </a:rPr>
              <a:t>DIBL 17 mV/V</a:t>
            </a:r>
            <a:endParaRPr lang="en-US" sz="1400" dirty="0"/>
          </a:p>
        </p:txBody>
      </p:sp>
      <p:sp>
        <p:nvSpPr>
          <p:cNvPr id="20" name="!!stA2"/>
          <p:cNvSpPr/>
          <p:nvPr/>
        </p:nvSpPr>
        <p:spPr>
          <a:xfrm>
            <a:off x="4800600" y="2743200"/>
            <a:ext cx="274320" cy="91"/>
          </a:xfrm>
          <a:prstGeom prst="line">
            <a:avLst/>
          </a:prstGeom>
          <a:noFill/>
          <a:ln w="25400">
            <a:solidFill>
              <a:srgbClr val="E2E3E3"/>
            </a:solidFill>
            <a:prstDash val="solid"/>
            <a:tailEnd type="triangle"/>
          </a:ln>
        </p:spPr>
      </p:sp>
      <p:sp>
        <p:nvSpPr>
          <p:cNvPr id="21" name="!!stB2"/>
          <p:cNvSpPr/>
          <p:nvPr/>
        </p:nvSpPr>
        <p:spPr>
          <a:xfrm>
            <a:off x="5120640" y="1737360"/>
            <a:ext cx="1965960" cy="2103120"/>
          </a:xfrm>
          <a:prstGeom prst="roundRect">
            <a:avLst>
              <a:gd name="adj" fmla="val 4651"/>
            </a:avLst>
          </a:prstGeom>
          <a:solidFill>
            <a:srgbClr val="FAFAFB"/>
          </a:solidFill>
          <a:ln/>
        </p:spPr>
      </p:sp>
      <p:sp>
        <p:nvSpPr>
          <p:cNvPr id="22" name="!!stN2"/>
          <p:cNvSpPr txBox="1"/>
          <p:nvPr/>
        </p:nvSpPr>
        <p:spPr>
          <a:xfrm>
            <a:off x="5303520" y="1874520"/>
            <a:ext cx="457200" cy="365760"/>
          </a:xfrm>
          <a:prstGeom prst="rect">
            <a:avLst/>
          </a:prstGeom>
          <a:noFill/>
          <a:ln/>
        </p:spPr>
        <p:txBody>
          <a:bodyPr wrap="square" lIns="0" tIns="0" rIns="0" bIns="0" rtlCol="0" anchor="t"/>
          <a:lstStyle/>
          <a:p>
            <a:pPr algn="l" indent="0" marL="0">
              <a:buNone/>
            </a:pPr>
            <a:r>
              <a:rPr lang="en-US" sz="1600" dirty="0">
                <a:solidFill>
                  <a:srgbClr val="D0D2D6"/>
                </a:solidFill>
                <a:latin typeface="Segoe UI Semibold" pitchFamily="34" charset="0"/>
                <a:ea typeface="Segoe UI Semibold" pitchFamily="34" charset="-122"/>
                <a:cs typeface="Segoe UI Semibold" pitchFamily="34" charset="-120"/>
              </a:rPr>
              <a:t>3</a:t>
            </a:r>
            <a:endParaRPr lang="en-US" sz="1600" dirty="0"/>
          </a:p>
        </p:txBody>
      </p:sp>
      <p:sp>
        <p:nvSpPr>
          <p:cNvPr id="23" name="!!stH2"/>
          <p:cNvSpPr txBox="1"/>
          <p:nvPr/>
        </p:nvSpPr>
        <p:spPr>
          <a:xfrm>
            <a:off x="5303520" y="2286000"/>
            <a:ext cx="1691640" cy="411480"/>
          </a:xfrm>
          <a:prstGeom prst="rect">
            <a:avLst/>
          </a:prstGeom>
          <a:noFill/>
          <a:ln/>
        </p:spPr>
        <p:txBody>
          <a:bodyPr wrap="square" lIns="0" tIns="0" rIns="0" bIns="0" rtlCol="0" anchor="t"/>
          <a:lstStyle/>
          <a:p>
            <a:pPr algn="l" indent="0" marL="0">
              <a:buNone/>
            </a:pPr>
            <a:r>
              <a:rPr lang="en-US" sz="1800" dirty="0">
                <a:solidFill>
                  <a:srgbClr val="D0D2D6"/>
                </a:solidFill>
                <a:latin typeface="Segoe UI Semibold" pitchFamily="34" charset="0"/>
                <a:ea typeface="Segoe UI Semibold" pitchFamily="34" charset="-122"/>
                <a:cs typeface="Segoe UI Semibold" pitchFamily="34" charset="-120"/>
              </a:rPr>
              <a:t>Heat</a:t>
            </a:r>
            <a:endParaRPr lang="en-US" sz="1800" dirty="0"/>
          </a:p>
        </p:txBody>
      </p:sp>
      <p:sp>
        <p:nvSpPr>
          <p:cNvPr id="24" name="!!stT2"/>
          <p:cNvSpPr txBox="1"/>
          <p:nvPr/>
        </p:nvSpPr>
        <p:spPr>
          <a:xfrm>
            <a:off x="5303520" y="2743200"/>
            <a:ext cx="1691640" cy="457200"/>
          </a:xfrm>
          <a:prstGeom prst="rect">
            <a:avLst/>
          </a:prstGeom>
          <a:noFill/>
          <a:ln/>
        </p:spPr>
        <p:txBody>
          <a:bodyPr wrap="square" lIns="0" tIns="0" rIns="0" bIns="0" rtlCol="0" anchor="t"/>
          <a:lstStyle/>
          <a:p>
            <a:pPr algn="l" indent="0" marL="0">
              <a:buNone/>
            </a:pPr>
            <a:r>
              <a:rPr lang="en-US" sz="1200" dirty="0">
                <a:solidFill>
                  <a:srgbClr val="D0D2D6"/>
                </a:solidFill>
                <a:latin typeface="Segoe UI" pitchFamily="34" charset="0"/>
                <a:ea typeface="Segoe UI" pitchFamily="34" charset="-122"/>
                <a:cs typeface="Segoe UI" pitchFamily="34" charset="-120"/>
              </a:rPr>
              <a:t>oxide traps it</a:t>
            </a:r>
            <a:endParaRPr lang="en-US" sz="1200" dirty="0"/>
          </a:p>
        </p:txBody>
      </p:sp>
      <p:sp>
        <p:nvSpPr>
          <p:cNvPr id="25" name="!!stV2"/>
          <p:cNvSpPr txBox="1"/>
          <p:nvPr/>
        </p:nvSpPr>
        <p:spPr>
          <a:xfrm>
            <a:off x="5303520" y="3291840"/>
            <a:ext cx="1691640" cy="365760"/>
          </a:xfrm>
          <a:prstGeom prst="rect">
            <a:avLst/>
          </a:prstGeom>
          <a:noFill/>
          <a:ln/>
        </p:spPr>
        <p:txBody>
          <a:bodyPr wrap="square" lIns="0" tIns="0" rIns="0" bIns="0" rtlCol="0" anchor="t"/>
          <a:lstStyle/>
          <a:p>
            <a:pPr algn="l" indent="0" marL="0">
              <a:buNone/>
            </a:pPr>
            <a:r>
              <a:rPr lang="en-US" sz="1400" dirty="0">
                <a:solidFill>
                  <a:srgbClr val="D0D2D6"/>
                </a:solidFill>
                <a:latin typeface="Segoe UI Semibold" pitchFamily="34" charset="0"/>
                <a:ea typeface="Segoe UI Semibold" pitchFamily="34" charset="-122"/>
                <a:cs typeface="Segoe UI Semibold" pitchFamily="34" charset="-120"/>
              </a:rPr>
              <a:t>ΔT 64.8 K</a:t>
            </a:r>
            <a:endParaRPr lang="en-US" sz="1400" dirty="0"/>
          </a:p>
        </p:txBody>
      </p:sp>
      <p:sp>
        <p:nvSpPr>
          <p:cNvPr id="26" name="!!stA3"/>
          <p:cNvSpPr/>
          <p:nvPr/>
        </p:nvSpPr>
        <p:spPr>
          <a:xfrm>
            <a:off x="7086600" y="2743200"/>
            <a:ext cx="274320" cy="91"/>
          </a:xfrm>
          <a:prstGeom prst="line">
            <a:avLst/>
          </a:prstGeom>
          <a:noFill/>
          <a:ln w="25400">
            <a:solidFill>
              <a:srgbClr val="E2E3E3"/>
            </a:solidFill>
            <a:prstDash val="solid"/>
            <a:tailEnd type="triangle"/>
          </a:ln>
        </p:spPr>
      </p:sp>
      <p:sp>
        <p:nvSpPr>
          <p:cNvPr id="27" name="!!stB3"/>
          <p:cNvSpPr/>
          <p:nvPr/>
        </p:nvSpPr>
        <p:spPr>
          <a:xfrm>
            <a:off x="7406640" y="1737360"/>
            <a:ext cx="1965960" cy="2103120"/>
          </a:xfrm>
          <a:prstGeom prst="roundRect">
            <a:avLst>
              <a:gd name="adj" fmla="val 4651"/>
            </a:avLst>
          </a:prstGeom>
          <a:solidFill>
            <a:srgbClr val="FAFAFB"/>
          </a:solidFill>
          <a:ln/>
        </p:spPr>
      </p:sp>
      <p:sp>
        <p:nvSpPr>
          <p:cNvPr id="28" name="!!stN3"/>
          <p:cNvSpPr txBox="1"/>
          <p:nvPr/>
        </p:nvSpPr>
        <p:spPr>
          <a:xfrm>
            <a:off x="7589520" y="1874520"/>
            <a:ext cx="457200" cy="365760"/>
          </a:xfrm>
          <a:prstGeom prst="rect">
            <a:avLst/>
          </a:prstGeom>
          <a:noFill/>
          <a:ln/>
        </p:spPr>
        <p:txBody>
          <a:bodyPr wrap="square" lIns="0" tIns="0" rIns="0" bIns="0" rtlCol="0" anchor="t"/>
          <a:lstStyle/>
          <a:p>
            <a:pPr algn="l" indent="0" marL="0">
              <a:buNone/>
            </a:pPr>
            <a:r>
              <a:rPr lang="en-US" sz="1600" dirty="0">
                <a:solidFill>
                  <a:srgbClr val="D0D2D6"/>
                </a:solidFill>
                <a:latin typeface="Segoe UI Semibold" pitchFamily="34" charset="0"/>
                <a:ea typeface="Segoe UI Semibold" pitchFamily="34" charset="-122"/>
                <a:cs typeface="Segoe UI Semibold" pitchFamily="34" charset="-120"/>
              </a:rPr>
              <a:t>4</a:t>
            </a:r>
            <a:endParaRPr lang="en-US" sz="1600" dirty="0"/>
          </a:p>
        </p:txBody>
      </p:sp>
      <p:sp>
        <p:nvSpPr>
          <p:cNvPr id="29" name="!!stH3"/>
          <p:cNvSpPr txBox="1"/>
          <p:nvPr/>
        </p:nvSpPr>
        <p:spPr>
          <a:xfrm>
            <a:off x="7589520" y="2286000"/>
            <a:ext cx="1691640" cy="411480"/>
          </a:xfrm>
          <a:prstGeom prst="rect">
            <a:avLst/>
          </a:prstGeom>
          <a:noFill/>
          <a:ln/>
        </p:spPr>
        <p:txBody>
          <a:bodyPr wrap="square" lIns="0" tIns="0" rIns="0" bIns="0" rtlCol="0" anchor="t"/>
          <a:lstStyle/>
          <a:p>
            <a:pPr algn="l" indent="0" marL="0">
              <a:buNone/>
            </a:pPr>
            <a:r>
              <a:rPr lang="en-US" sz="1800" dirty="0">
                <a:solidFill>
                  <a:srgbClr val="D0D2D6"/>
                </a:solidFill>
                <a:latin typeface="Segoe UI Semibold" pitchFamily="34" charset="0"/>
                <a:ea typeface="Segoe UI Semibold" pitchFamily="34" charset="-122"/>
                <a:cs typeface="Segoe UI Semibold" pitchFamily="34" charset="-120"/>
              </a:rPr>
              <a:t>Reproduce</a:t>
            </a:r>
            <a:endParaRPr lang="en-US" sz="1800" dirty="0"/>
          </a:p>
        </p:txBody>
      </p:sp>
      <p:sp>
        <p:nvSpPr>
          <p:cNvPr id="30" name="!!stT3"/>
          <p:cNvSpPr txBox="1"/>
          <p:nvPr/>
        </p:nvSpPr>
        <p:spPr>
          <a:xfrm>
            <a:off x="7589520" y="2743200"/>
            <a:ext cx="1691640" cy="457200"/>
          </a:xfrm>
          <a:prstGeom prst="rect">
            <a:avLst/>
          </a:prstGeom>
          <a:noFill/>
          <a:ln/>
        </p:spPr>
        <p:txBody>
          <a:bodyPr wrap="square" lIns="0" tIns="0" rIns="0" bIns="0" rtlCol="0" anchor="t"/>
          <a:lstStyle/>
          <a:p>
            <a:pPr algn="l" indent="0" marL="0">
              <a:buNone/>
            </a:pPr>
            <a:r>
              <a:rPr lang="en-US" sz="1200" dirty="0">
                <a:solidFill>
                  <a:srgbClr val="D0D2D6"/>
                </a:solidFill>
                <a:latin typeface="Segoe UI" pitchFamily="34" charset="0"/>
                <a:ea typeface="Segoe UI" pitchFamily="34" charset="-122"/>
                <a:cs typeface="Segoe UI" pitchFamily="34" charset="-120"/>
              </a:rPr>
              <a:t>68.0 vs 64.8 K</a:t>
            </a:r>
            <a:endParaRPr lang="en-US" sz="1200" dirty="0"/>
          </a:p>
        </p:txBody>
      </p:sp>
      <p:sp>
        <p:nvSpPr>
          <p:cNvPr id="31" name="!!stV3"/>
          <p:cNvSpPr txBox="1"/>
          <p:nvPr/>
        </p:nvSpPr>
        <p:spPr>
          <a:xfrm>
            <a:off x="7589520" y="3291840"/>
            <a:ext cx="1691640" cy="365760"/>
          </a:xfrm>
          <a:prstGeom prst="rect">
            <a:avLst/>
          </a:prstGeom>
          <a:noFill/>
          <a:ln/>
        </p:spPr>
        <p:txBody>
          <a:bodyPr wrap="square" lIns="0" tIns="0" rIns="0" bIns="0" rtlCol="0" anchor="t"/>
          <a:lstStyle/>
          <a:p>
            <a:pPr algn="l" indent="0" marL="0">
              <a:buNone/>
            </a:pPr>
            <a:r>
              <a:rPr lang="en-US" sz="1400" dirty="0">
                <a:solidFill>
                  <a:srgbClr val="D0D2D6"/>
                </a:solidFill>
                <a:latin typeface="Segoe UI Semibold" pitchFamily="34" charset="0"/>
                <a:ea typeface="Segoe UI Semibold" pitchFamily="34" charset="-122"/>
                <a:cs typeface="Segoe UI Semibold" pitchFamily="34" charset="-120"/>
              </a:rPr>
              <a:t>+5 %</a:t>
            </a:r>
            <a:endParaRPr lang="en-US" sz="1400" dirty="0"/>
          </a:p>
        </p:txBody>
      </p:sp>
      <p:sp>
        <p:nvSpPr>
          <p:cNvPr id="32" name="!!stA4"/>
          <p:cNvSpPr/>
          <p:nvPr/>
        </p:nvSpPr>
        <p:spPr>
          <a:xfrm>
            <a:off x="9372600" y="2743200"/>
            <a:ext cx="274320" cy="91"/>
          </a:xfrm>
          <a:prstGeom prst="line">
            <a:avLst/>
          </a:prstGeom>
          <a:noFill/>
          <a:ln w="25400">
            <a:solidFill>
              <a:srgbClr val="E2E3E3"/>
            </a:solidFill>
            <a:prstDash val="solid"/>
            <a:tailEnd type="triangle"/>
          </a:ln>
        </p:spPr>
      </p:sp>
      <p:sp>
        <p:nvSpPr>
          <p:cNvPr id="33" name="!!stB4"/>
          <p:cNvSpPr/>
          <p:nvPr/>
        </p:nvSpPr>
        <p:spPr>
          <a:xfrm>
            <a:off x="9692640" y="1737360"/>
            <a:ext cx="1965960" cy="2103120"/>
          </a:xfrm>
          <a:prstGeom prst="roundRect">
            <a:avLst>
              <a:gd name="adj" fmla="val 4651"/>
            </a:avLst>
          </a:prstGeom>
          <a:solidFill>
            <a:srgbClr val="FAFAFB"/>
          </a:solidFill>
          <a:ln/>
        </p:spPr>
      </p:sp>
      <p:sp>
        <p:nvSpPr>
          <p:cNvPr id="34" name="!!stN4"/>
          <p:cNvSpPr txBox="1"/>
          <p:nvPr/>
        </p:nvSpPr>
        <p:spPr>
          <a:xfrm>
            <a:off x="9875520" y="1874520"/>
            <a:ext cx="457200" cy="365760"/>
          </a:xfrm>
          <a:prstGeom prst="rect">
            <a:avLst/>
          </a:prstGeom>
          <a:noFill/>
          <a:ln/>
        </p:spPr>
        <p:txBody>
          <a:bodyPr wrap="square" lIns="0" tIns="0" rIns="0" bIns="0" rtlCol="0" anchor="t"/>
          <a:lstStyle/>
          <a:p>
            <a:pPr algn="l" indent="0" marL="0">
              <a:buNone/>
            </a:pPr>
            <a:r>
              <a:rPr lang="en-US" sz="1600" dirty="0">
                <a:solidFill>
                  <a:srgbClr val="D0D2D6"/>
                </a:solidFill>
                <a:latin typeface="Segoe UI Semibold" pitchFamily="34" charset="0"/>
                <a:ea typeface="Segoe UI Semibold" pitchFamily="34" charset="-122"/>
                <a:cs typeface="Segoe UI Semibold" pitchFamily="34" charset="-120"/>
              </a:rPr>
              <a:t>5</a:t>
            </a:r>
            <a:endParaRPr lang="en-US" sz="1600" dirty="0"/>
          </a:p>
        </p:txBody>
      </p:sp>
      <p:sp>
        <p:nvSpPr>
          <p:cNvPr id="35" name="!!stH4"/>
          <p:cNvSpPr txBox="1"/>
          <p:nvPr/>
        </p:nvSpPr>
        <p:spPr>
          <a:xfrm>
            <a:off x="9875520" y="2286000"/>
            <a:ext cx="1691640" cy="411480"/>
          </a:xfrm>
          <a:prstGeom prst="rect">
            <a:avLst/>
          </a:prstGeom>
          <a:noFill/>
          <a:ln/>
        </p:spPr>
        <p:txBody>
          <a:bodyPr wrap="square" lIns="0" tIns="0" rIns="0" bIns="0" rtlCol="0" anchor="t"/>
          <a:lstStyle/>
          <a:p>
            <a:pPr algn="l" indent="0" marL="0">
              <a:buNone/>
            </a:pPr>
            <a:r>
              <a:rPr lang="en-US" sz="1800" dirty="0">
                <a:solidFill>
                  <a:srgbClr val="D0D2D6"/>
                </a:solidFill>
                <a:latin typeface="Segoe UI Semibold" pitchFamily="34" charset="0"/>
                <a:ea typeface="Segoe UI Semibold" pitchFamily="34" charset="-122"/>
                <a:cs typeface="Segoe UI Semibold" pitchFamily="34" charset="-120"/>
              </a:rPr>
              <a:t>Optimal</a:t>
            </a:r>
            <a:endParaRPr lang="en-US" sz="1800" dirty="0"/>
          </a:p>
        </p:txBody>
      </p:sp>
      <p:sp>
        <p:nvSpPr>
          <p:cNvPr id="36" name="!!stT4"/>
          <p:cNvSpPr txBox="1"/>
          <p:nvPr/>
        </p:nvSpPr>
        <p:spPr>
          <a:xfrm>
            <a:off x="9875520" y="2743200"/>
            <a:ext cx="1691640" cy="457200"/>
          </a:xfrm>
          <a:prstGeom prst="rect">
            <a:avLst/>
          </a:prstGeom>
          <a:noFill/>
          <a:ln/>
        </p:spPr>
        <p:txBody>
          <a:bodyPr wrap="square" lIns="0" tIns="0" rIns="0" bIns="0" rtlCol="0" anchor="t"/>
          <a:lstStyle/>
          <a:p>
            <a:pPr algn="l" indent="0" marL="0">
              <a:buNone/>
            </a:pPr>
            <a:r>
              <a:rPr lang="en-US" sz="1200" dirty="0">
                <a:solidFill>
                  <a:srgbClr val="D0D2D6"/>
                </a:solidFill>
                <a:latin typeface="Segoe UI" pitchFamily="34" charset="0"/>
                <a:ea typeface="Segoe UI" pitchFamily="34" charset="-122"/>
                <a:cs typeface="Segoe UI" pitchFamily="34" charset="-120"/>
              </a:rPr>
              <a:t>spacer + WF</a:t>
            </a:r>
            <a:endParaRPr lang="en-US" sz="1200" dirty="0"/>
          </a:p>
        </p:txBody>
      </p:sp>
      <p:sp>
        <p:nvSpPr>
          <p:cNvPr id="37" name="!!stV4"/>
          <p:cNvSpPr txBox="1"/>
          <p:nvPr/>
        </p:nvSpPr>
        <p:spPr>
          <a:xfrm>
            <a:off x="9875520" y="3291840"/>
            <a:ext cx="1691640" cy="365760"/>
          </a:xfrm>
          <a:prstGeom prst="rect">
            <a:avLst/>
          </a:prstGeom>
          <a:noFill/>
          <a:ln/>
        </p:spPr>
        <p:txBody>
          <a:bodyPr wrap="square" lIns="0" tIns="0" rIns="0" bIns="0" rtlCol="0" anchor="t"/>
          <a:lstStyle/>
          <a:p>
            <a:pPr algn="l" indent="0" marL="0">
              <a:buNone/>
            </a:pPr>
            <a:r>
              <a:rPr lang="en-US" sz="1400" dirty="0">
                <a:solidFill>
                  <a:srgbClr val="D0D2D6"/>
                </a:solidFill>
                <a:latin typeface="Segoe UI Semibold" pitchFamily="34" charset="0"/>
                <a:ea typeface="Segoe UI Semibold" pitchFamily="34" charset="-122"/>
                <a:cs typeface="Segoe UI Semibold" pitchFamily="34" charset="-120"/>
              </a:rPr>
              <a:t>16.4 % cooler</a:t>
            </a:r>
            <a:endParaRPr lang="en-US" sz="1400" dirty="0"/>
          </a:p>
        </p:txBody>
      </p:sp>
      <p:sp>
        <p:nvSpPr>
          <p:cNvPr id="38" name="!!stMsg"/>
          <p:cNvSpPr txBox="1"/>
          <p:nvPr/>
        </p:nvSpPr>
        <p:spPr>
          <a:xfrm>
            <a:off x="548640" y="4206240"/>
            <a:ext cx="11091672" cy="548640"/>
          </a:xfrm>
          <a:prstGeom prst="rect">
            <a:avLst/>
          </a:prstGeom>
          <a:noFill/>
          <a:ln/>
        </p:spPr>
        <p:txBody>
          <a:bodyPr wrap="square" lIns="0" tIns="0" rIns="0" bIns="0" rtlCol="0" anchor="ctr"/>
          <a:lstStyle/>
          <a:p>
            <a:pPr algn="ctr" indent="0" marL="0">
              <a:buNone/>
            </a:pPr>
            <a:r>
              <a:rPr lang="en-US" sz="2000" dirty="0">
                <a:solidFill>
                  <a:srgbClr val="171A20"/>
                </a:solidFill>
                <a:latin typeface="Segoe UI" pitchFamily="34" charset="0"/>
                <a:ea typeface="Segoe UI" pitchFamily="34" charset="-122"/>
                <a:cs typeface="Segoe UI" pitchFamily="34" charset="-120"/>
              </a:rPr>
              <a:t>Short planar transistors let the drain take over the channel.</a:t>
            </a:r>
            <a:endParaRPr lang="en-US" sz="2000" dirty="0"/>
          </a:p>
        </p:txBody>
      </p:sp>
      <p:sp>
        <p:nvSpPr>
          <p:cNvPr id="3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Control fixed by GAA; heat lowered by design.</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148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Conclusion – The whole story</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From a leaking MOSFET to a cooler GAAFET, in five steps</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E2E3E3"/>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stB0"/>
          <p:cNvSpPr/>
          <p:nvPr/>
        </p:nvSpPr>
        <p:spPr>
          <a:xfrm>
            <a:off x="548640" y="1737360"/>
            <a:ext cx="1965960" cy="2103120"/>
          </a:xfrm>
          <a:prstGeom prst="roundRect">
            <a:avLst>
              <a:gd name="adj" fmla="val 4651"/>
            </a:avLst>
          </a:prstGeom>
          <a:solidFill>
            <a:srgbClr val="F4F5F7"/>
          </a:solidFill>
          <a:ln/>
        </p:spPr>
      </p:sp>
      <p:sp>
        <p:nvSpPr>
          <p:cNvPr id="10" name="!!stN0"/>
          <p:cNvSpPr txBox="1"/>
          <p:nvPr/>
        </p:nvSpPr>
        <p:spPr>
          <a:xfrm>
            <a:off x="731520" y="1874520"/>
            <a:ext cx="457200" cy="365760"/>
          </a:xfrm>
          <a:prstGeom prst="rect">
            <a:avLst/>
          </a:prstGeom>
          <a:noFill/>
          <a:ln/>
        </p:spPr>
        <p:txBody>
          <a:bodyPr wrap="square" lIns="0" tIns="0" rIns="0" bIns="0" rtlCol="0" anchor="t"/>
          <a:lstStyle/>
          <a:p>
            <a:pPr algn="l" indent="0" marL="0">
              <a:buNone/>
            </a:pPr>
            <a:r>
              <a:rPr lang="en-US" sz="1600" dirty="0">
                <a:solidFill>
                  <a:srgbClr val="D64545"/>
                </a:solidFill>
                <a:latin typeface="Segoe UI Semibold" pitchFamily="34" charset="0"/>
                <a:ea typeface="Segoe UI Semibold" pitchFamily="34" charset="-122"/>
                <a:cs typeface="Segoe UI Semibold" pitchFamily="34" charset="-120"/>
              </a:rPr>
              <a:t>1</a:t>
            </a:r>
            <a:endParaRPr lang="en-US" sz="1600" dirty="0"/>
          </a:p>
        </p:txBody>
      </p:sp>
      <p:sp>
        <p:nvSpPr>
          <p:cNvPr id="11" name="!!stH0"/>
          <p:cNvSpPr txBox="1"/>
          <p:nvPr/>
        </p:nvSpPr>
        <p:spPr>
          <a:xfrm>
            <a:off x="731520" y="2286000"/>
            <a:ext cx="1691640" cy="411480"/>
          </a:xfrm>
          <a:prstGeom prst="rect">
            <a:avLst/>
          </a:prstGeom>
          <a:noFill/>
          <a:ln/>
        </p:spPr>
        <p:txBody>
          <a:bodyPr wrap="square" lIns="0" tIns="0" rIns="0" bIns="0" rtlCol="0" anchor="t"/>
          <a:lstStyle/>
          <a:p>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MOSFET</a:t>
            </a:r>
            <a:endParaRPr lang="en-US" sz="1800" dirty="0"/>
          </a:p>
        </p:txBody>
      </p:sp>
      <p:sp>
        <p:nvSpPr>
          <p:cNvPr id="12" name="!!stT0"/>
          <p:cNvSpPr txBox="1"/>
          <p:nvPr/>
        </p:nvSpPr>
        <p:spPr>
          <a:xfrm>
            <a:off x="731520" y="2743200"/>
            <a:ext cx="1691640" cy="45720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short L</a:t>
            </a:r>
            <a:pPr algn="l" indent="0" marL="0">
              <a:buNone/>
            </a:pPr>
            <a:r>
              <a:rPr lang="en-US" sz="1200" baseline="-40000" dirty="0">
                <a:solidFill>
                  <a:srgbClr val="5C5E62"/>
                </a:solidFill>
                <a:latin typeface="Segoe UI" pitchFamily="34" charset="0"/>
                <a:ea typeface="Segoe UI" pitchFamily="34" charset="-122"/>
                <a:cs typeface="Segoe UI" pitchFamily="34" charset="-120"/>
              </a:rPr>
              <a:t>g</a:t>
            </a:r>
            <a:pPr algn="l" indent="0" marL="0">
              <a:buNone/>
            </a:pPr>
            <a:r>
              <a:rPr lang="en-US" sz="1200" dirty="0">
                <a:solidFill>
                  <a:srgbClr val="5C5E62"/>
                </a:solidFill>
                <a:latin typeface="Segoe UI" pitchFamily="34" charset="0"/>
                <a:ea typeface="Segoe UI" pitchFamily="34" charset="-122"/>
                <a:cs typeface="Segoe UI" pitchFamily="34" charset="-120"/>
              </a:rPr>
              <a:t> leaks</a:t>
            </a:r>
            <a:endParaRPr lang="en-US" sz="1200" dirty="0"/>
          </a:p>
        </p:txBody>
      </p:sp>
      <p:sp>
        <p:nvSpPr>
          <p:cNvPr id="13" name="!!stV0"/>
          <p:cNvSpPr txBox="1"/>
          <p:nvPr/>
        </p:nvSpPr>
        <p:spPr>
          <a:xfrm>
            <a:off x="731520" y="3291840"/>
            <a:ext cx="1691640" cy="365760"/>
          </a:xfrm>
          <a:prstGeom prst="rect">
            <a:avLst/>
          </a:prstGeom>
          <a:noFill/>
          <a:ln/>
        </p:spPr>
        <p:txBody>
          <a:bodyPr wrap="square" lIns="0" tIns="0" rIns="0" bIns="0" rtlCol="0" anchor="t"/>
          <a:lstStyle/>
          <a:p>
            <a:pPr algn="l" indent="0" marL="0">
              <a:buNone/>
            </a:pPr>
            <a:r>
              <a:rPr lang="en-US" sz="1400" dirty="0">
                <a:solidFill>
                  <a:srgbClr val="D64545"/>
                </a:solidFill>
                <a:latin typeface="Segoe UI Semibold" pitchFamily="34" charset="0"/>
                <a:ea typeface="Segoe UI Semibold" pitchFamily="34" charset="-122"/>
                <a:cs typeface="Segoe UI Semibold" pitchFamily="34" charset="-120"/>
              </a:rPr>
              <a:t>DIBL 202 mV/V</a:t>
            </a:r>
            <a:endParaRPr lang="en-US" sz="1400" dirty="0"/>
          </a:p>
        </p:txBody>
      </p:sp>
      <p:sp>
        <p:nvSpPr>
          <p:cNvPr id="14" name="!!stA1"/>
          <p:cNvSpPr/>
          <p:nvPr/>
        </p:nvSpPr>
        <p:spPr>
          <a:xfrm>
            <a:off x="2514600" y="2743200"/>
            <a:ext cx="274320" cy="91"/>
          </a:xfrm>
          <a:prstGeom prst="line">
            <a:avLst/>
          </a:prstGeom>
          <a:noFill/>
          <a:ln w="25400">
            <a:solidFill>
              <a:srgbClr val="171A20"/>
            </a:solidFill>
            <a:prstDash val="solid"/>
            <a:tailEnd type="triangle"/>
          </a:ln>
        </p:spPr>
      </p:sp>
      <p:sp>
        <p:nvSpPr>
          <p:cNvPr id="15" name="!!stB1"/>
          <p:cNvSpPr/>
          <p:nvPr/>
        </p:nvSpPr>
        <p:spPr>
          <a:xfrm>
            <a:off x="2834640" y="1737360"/>
            <a:ext cx="1965960" cy="2103120"/>
          </a:xfrm>
          <a:prstGeom prst="roundRect">
            <a:avLst>
              <a:gd name="adj" fmla="val 4651"/>
            </a:avLst>
          </a:prstGeom>
          <a:solidFill>
            <a:srgbClr val="3E6AE1"/>
          </a:solidFill>
          <a:ln/>
        </p:spPr>
      </p:sp>
      <p:sp>
        <p:nvSpPr>
          <p:cNvPr id="16" name="!!stN1"/>
          <p:cNvSpPr txBox="1"/>
          <p:nvPr/>
        </p:nvSpPr>
        <p:spPr>
          <a:xfrm>
            <a:off x="3017520" y="1874520"/>
            <a:ext cx="457200" cy="365760"/>
          </a:xfrm>
          <a:prstGeom prst="rect">
            <a:avLst/>
          </a:prstGeom>
          <a:noFill/>
          <a:ln/>
        </p:spPr>
        <p:txBody>
          <a:bodyPr wrap="square" lIns="0" tIns="0" rIns="0" bIns="0" rtlCol="0" anchor="t"/>
          <a:lstStyle/>
          <a:p>
            <a:pPr algn="l" indent="0" marL="0">
              <a:buNone/>
            </a:pPr>
            <a:r>
              <a:rPr lang="en-US" sz="1600"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7" name="!!stH1"/>
          <p:cNvSpPr txBox="1"/>
          <p:nvPr/>
        </p:nvSpPr>
        <p:spPr>
          <a:xfrm>
            <a:off x="3017520" y="2286000"/>
            <a:ext cx="1691640" cy="411480"/>
          </a:xfrm>
          <a:prstGeom prst="rect">
            <a:avLst/>
          </a:prstGeom>
          <a:noFill/>
          <a:ln/>
        </p:spPr>
        <p:txBody>
          <a:bodyPr wrap="square" lIns="0" tIns="0" rIns="0" bIns="0" rtlCol="0" anchor="t"/>
          <a:lstStyle/>
          <a:p>
            <a:pPr algn="l" indent="0" marL="0">
              <a:buNone/>
            </a:pPr>
            <a:r>
              <a:rPr lang="en-US" sz="1800" dirty="0">
                <a:solidFill>
                  <a:srgbClr val="FFFFFF"/>
                </a:solidFill>
                <a:latin typeface="Segoe UI Semibold" pitchFamily="34" charset="0"/>
                <a:ea typeface="Segoe UI Semibold" pitchFamily="34" charset="-122"/>
                <a:cs typeface="Segoe UI Semibold" pitchFamily="34" charset="-120"/>
              </a:rPr>
              <a:t>GAAFET</a:t>
            </a:r>
            <a:endParaRPr lang="en-US" sz="1800" dirty="0"/>
          </a:p>
        </p:txBody>
      </p:sp>
      <p:sp>
        <p:nvSpPr>
          <p:cNvPr id="18" name="!!stT1"/>
          <p:cNvSpPr txBox="1"/>
          <p:nvPr/>
        </p:nvSpPr>
        <p:spPr>
          <a:xfrm>
            <a:off x="3017520" y="2743200"/>
            <a:ext cx="1691640" cy="457200"/>
          </a:xfrm>
          <a:prstGeom prst="rect">
            <a:avLst/>
          </a:prstGeom>
          <a:noFill/>
          <a:ln/>
        </p:spPr>
        <p:txBody>
          <a:bodyPr wrap="square" lIns="0" tIns="0" rIns="0" bIns="0" rtlCol="0" anchor="t"/>
          <a:lstStyle/>
          <a:p>
            <a:pPr algn="l" indent="0" marL="0">
              <a:buNone/>
            </a:pPr>
            <a:r>
              <a:rPr lang="en-US" sz="1200" dirty="0">
                <a:solidFill>
                  <a:srgbClr val="F2F2F2"/>
                </a:solidFill>
                <a:latin typeface="Segoe UI" pitchFamily="34" charset="0"/>
                <a:ea typeface="Segoe UI" pitchFamily="34" charset="-122"/>
                <a:cs typeface="Segoe UI" pitchFamily="34" charset="-120"/>
              </a:rPr>
              <a:t>gate on all sides</a:t>
            </a:r>
            <a:endParaRPr lang="en-US" sz="1200" dirty="0"/>
          </a:p>
        </p:txBody>
      </p:sp>
      <p:sp>
        <p:nvSpPr>
          <p:cNvPr id="19" name="!!stV1"/>
          <p:cNvSpPr txBox="1"/>
          <p:nvPr/>
        </p:nvSpPr>
        <p:spPr>
          <a:xfrm>
            <a:off x="3017520" y="3291840"/>
            <a:ext cx="1691640" cy="365760"/>
          </a:xfrm>
          <a:prstGeom prst="rect">
            <a:avLst/>
          </a:prstGeom>
          <a:noFill/>
          <a:ln/>
        </p:spPr>
        <p:txBody>
          <a:bodyPr wrap="square" lIns="0" tIns="0" rIns="0" bIns="0" rtlCol="0" anchor="t"/>
          <a:lstStyle/>
          <a:p>
            <a:pPr algn="l" indent="0" marL="0">
              <a:buNone/>
            </a:pPr>
            <a:r>
              <a:rPr lang="en-US" sz="1400" dirty="0">
                <a:solidFill>
                  <a:srgbClr val="FFFFFF"/>
                </a:solidFill>
                <a:latin typeface="Segoe UI Semibold" pitchFamily="34" charset="0"/>
                <a:ea typeface="Segoe UI Semibold" pitchFamily="34" charset="-122"/>
                <a:cs typeface="Segoe UI Semibold" pitchFamily="34" charset="-120"/>
              </a:rPr>
              <a:t>DIBL 17 mV/V</a:t>
            </a:r>
            <a:endParaRPr lang="en-US" sz="1400" dirty="0"/>
          </a:p>
        </p:txBody>
      </p:sp>
      <p:sp>
        <p:nvSpPr>
          <p:cNvPr id="20" name="!!stA2"/>
          <p:cNvSpPr/>
          <p:nvPr/>
        </p:nvSpPr>
        <p:spPr>
          <a:xfrm>
            <a:off x="4800600" y="2743200"/>
            <a:ext cx="274320" cy="91"/>
          </a:xfrm>
          <a:prstGeom prst="line">
            <a:avLst/>
          </a:prstGeom>
          <a:noFill/>
          <a:ln w="25400">
            <a:solidFill>
              <a:srgbClr val="E2E3E3"/>
            </a:solidFill>
            <a:prstDash val="solid"/>
            <a:tailEnd type="triangle"/>
          </a:ln>
        </p:spPr>
      </p:sp>
      <p:sp>
        <p:nvSpPr>
          <p:cNvPr id="21" name="!!stB2"/>
          <p:cNvSpPr/>
          <p:nvPr/>
        </p:nvSpPr>
        <p:spPr>
          <a:xfrm>
            <a:off x="5120640" y="1737360"/>
            <a:ext cx="1965960" cy="2103120"/>
          </a:xfrm>
          <a:prstGeom prst="roundRect">
            <a:avLst>
              <a:gd name="adj" fmla="val 4651"/>
            </a:avLst>
          </a:prstGeom>
          <a:solidFill>
            <a:srgbClr val="FAFAFB"/>
          </a:solidFill>
          <a:ln/>
        </p:spPr>
      </p:sp>
      <p:sp>
        <p:nvSpPr>
          <p:cNvPr id="22" name="!!stN2"/>
          <p:cNvSpPr txBox="1"/>
          <p:nvPr/>
        </p:nvSpPr>
        <p:spPr>
          <a:xfrm>
            <a:off x="5303520" y="1874520"/>
            <a:ext cx="457200" cy="365760"/>
          </a:xfrm>
          <a:prstGeom prst="rect">
            <a:avLst/>
          </a:prstGeom>
          <a:noFill/>
          <a:ln/>
        </p:spPr>
        <p:txBody>
          <a:bodyPr wrap="square" lIns="0" tIns="0" rIns="0" bIns="0" rtlCol="0" anchor="t"/>
          <a:lstStyle/>
          <a:p>
            <a:pPr algn="l" indent="0" marL="0">
              <a:buNone/>
            </a:pPr>
            <a:r>
              <a:rPr lang="en-US" sz="1600" dirty="0">
                <a:solidFill>
                  <a:srgbClr val="D0D2D6"/>
                </a:solidFill>
                <a:latin typeface="Segoe UI Semibold" pitchFamily="34" charset="0"/>
                <a:ea typeface="Segoe UI Semibold" pitchFamily="34" charset="-122"/>
                <a:cs typeface="Segoe UI Semibold" pitchFamily="34" charset="-120"/>
              </a:rPr>
              <a:t>3</a:t>
            </a:r>
            <a:endParaRPr lang="en-US" sz="1600" dirty="0"/>
          </a:p>
        </p:txBody>
      </p:sp>
      <p:sp>
        <p:nvSpPr>
          <p:cNvPr id="23" name="!!stH2"/>
          <p:cNvSpPr txBox="1"/>
          <p:nvPr/>
        </p:nvSpPr>
        <p:spPr>
          <a:xfrm>
            <a:off x="5303520" y="2286000"/>
            <a:ext cx="1691640" cy="411480"/>
          </a:xfrm>
          <a:prstGeom prst="rect">
            <a:avLst/>
          </a:prstGeom>
          <a:noFill/>
          <a:ln/>
        </p:spPr>
        <p:txBody>
          <a:bodyPr wrap="square" lIns="0" tIns="0" rIns="0" bIns="0" rtlCol="0" anchor="t"/>
          <a:lstStyle/>
          <a:p>
            <a:pPr algn="l" indent="0" marL="0">
              <a:buNone/>
            </a:pPr>
            <a:r>
              <a:rPr lang="en-US" sz="1800" dirty="0">
                <a:solidFill>
                  <a:srgbClr val="D0D2D6"/>
                </a:solidFill>
                <a:latin typeface="Segoe UI Semibold" pitchFamily="34" charset="0"/>
                <a:ea typeface="Segoe UI Semibold" pitchFamily="34" charset="-122"/>
                <a:cs typeface="Segoe UI Semibold" pitchFamily="34" charset="-120"/>
              </a:rPr>
              <a:t>Heat</a:t>
            </a:r>
            <a:endParaRPr lang="en-US" sz="1800" dirty="0"/>
          </a:p>
        </p:txBody>
      </p:sp>
      <p:sp>
        <p:nvSpPr>
          <p:cNvPr id="24" name="!!stT2"/>
          <p:cNvSpPr txBox="1"/>
          <p:nvPr/>
        </p:nvSpPr>
        <p:spPr>
          <a:xfrm>
            <a:off x="5303520" y="2743200"/>
            <a:ext cx="1691640" cy="457200"/>
          </a:xfrm>
          <a:prstGeom prst="rect">
            <a:avLst/>
          </a:prstGeom>
          <a:noFill/>
          <a:ln/>
        </p:spPr>
        <p:txBody>
          <a:bodyPr wrap="square" lIns="0" tIns="0" rIns="0" bIns="0" rtlCol="0" anchor="t"/>
          <a:lstStyle/>
          <a:p>
            <a:pPr algn="l" indent="0" marL="0">
              <a:buNone/>
            </a:pPr>
            <a:r>
              <a:rPr lang="en-US" sz="1200" dirty="0">
                <a:solidFill>
                  <a:srgbClr val="D0D2D6"/>
                </a:solidFill>
                <a:latin typeface="Segoe UI" pitchFamily="34" charset="0"/>
                <a:ea typeface="Segoe UI" pitchFamily="34" charset="-122"/>
                <a:cs typeface="Segoe UI" pitchFamily="34" charset="-120"/>
              </a:rPr>
              <a:t>oxide traps it</a:t>
            </a:r>
            <a:endParaRPr lang="en-US" sz="1200" dirty="0"/>
          </a:p>
        </p:txBody>
      </p:sp>
      <p:sp>
        <p:nvSpPr>
          <p:cNvPr id="25" name="!!stV2"/>
          <p:cNvSpPr txBox="1"/>
          <p:nvPr/>
        </p:nvSpPr>
        <p:spPr>
          <a:xfrm>
            <a:off x="5303520" y="3291840"/>
            <a:ext cx="1691640" cy="365760"/>
          </a:xfrm>
          <a:prstGeom prst="rect">
            <a:avLst/>
          </a:prstGeom>
          <a:noFill/>
          <a:ln/>
        </p:spPr>
        <p:txBody>
          <a:bodyPr wrap="square" lIns="0" tIns="0" rIns="0" bIns="0" rtlCol="0" anchor="t"/>
          <a:lstStyle/>
          <a:p>
            <a:pPr algn="l" indent="0" marL="0">
              <a:buNone/>
            </a:pPr>
            <a:r>
              <a:rPr lang="en-US" sz="1400" dirty="0">
                <a:solidFill>
                  <a:srgbClr val="D0D2D6"/>
                </a:solidFill>
                <a:latin typeface="Segoe UI Semibold" pitchFamily="34" charset="0"/>
                <a:ea typeface="Segoe UI Semibold" pitchFamily="34" charset="-122"/>
                <a:cs typeface="Segoe UI Semibold" pitchFamily="34" charset="-120"/>
              </a:rPr>
              <a:t>ΔT 64.8 K</a:t>
            </a:r>
            <a:endParaRPr lang="en-US" sz="1400" dirty="0"/>
          </a:p>
        </p:txBody>
      </p:sp>
      <p:sp>
        <p:nvSpPr>
          <p:cNvPr id="26" name="!!stA3"/>
          <p:cNvSpPr/>
          <p:nvPr/>
        </p:nvSpPr>
        <p:spPr>
          <a:xfrm>
            <a:off x="7086600" y="2743200"/>
            <a:ext cx="274320" cy="91"/>
          </a:xfrm>
          <a:prstGeom prst="line">
            <a:avLst/>
          </a:prstGeom>
          <a:noFill/>
          <a:ln w="25400">
            <a:solidFill>
              <a:srgbClr val="E2E3E3"/>
            </a:solidFill>
            <a:prstDash val="solid"/>
            <a:tailEnd type="triangle"/>
          </a:ln>
        </p:spPr>
      </p:sp>
      <p:sp>
        <p:nvSpPr>
          <p:cNvPr id="27" name="!!stB3"/>
          <p:cNvSpPr/>
          <p:nvPr/>
        </p:nvSpPr>
        <p:spPr>
          <a:xfrm>
            <a:off x="7406640" y="1737360"/>
            <a:ext cx="1965960" cy="2103120"/>
          </a:xfrm>
          <a:prstGeom prst="roundRect">
            <a:avLst>
              <a:gd name="adj" fmla="val 4651"/>
            </a:avLst>
          </a:prstGeom>
          <a:solidFill>
            <a:srgbClr val="FAFAFB"/>
          </a:solidFill>
          <a:ln/>
        </p:spPr>
      </p:sp>
      <p:sp>
        <p:nvSpPr>
          <p:cNvPr id="28" name="!!stN3"/>
          <p:cNvSpPr txBox="1"/>
          <p:nvPr/>
        </p:nvSpPr>
        <p:spPr>
          <a:xfrm>
            <a:off x="7589520" y="1874520"/>
            <a:ext cx="457200" cy="365760"/>
          </a:xfrm>
          <a:prstGeom prst="rect">
            <a:avLst/>
          </a:prstGeom>
          <a:noFill/>
          <a:ln/>
        </p:spPr>
        <p:txBody>
          <a:bodyPr wrap="square" lIns="0" tIns="0" rIns="0" bIns="0" rtlCol="0" anchor="t"/>
          <a:lstStyle/>
          <a:p>
            <a:pPr algn="l" indent="0" marL="0">
              <a:buNone/>
            </a:pPr>
            <a:r>
              <a:rPr lang="en-US" sz="1600" dirty="0">
                <a:solidFill>
                  <a:srgbClr val="D0D2D6"/>
                </a:solidFill>
                <a:latin typeface="Segoe UI Semibold" pitchFamily="34" charset="0"/>
                <a:ea typeface="Segoe UI Semibold" pitchFamily="34" charset="-122"/>
                <a:cs typeface="Segoe UI Semibold" pitchFamily="34" charset="-120"/>
              </a:rPr>
              <a:t>4</a:t>
            </a:r>
            <a:endParaRPr lang="en-US" sz="1600" dirty="0"/>
          </a:p>
        </p:txBody>
      </p:sp>
      <p:sp>
        <p:nvSpPr>
          <p:cNvPr id="29" name="!!stH3"/>
          <p:cNvSpPr txBox="1"/>
          <p:nvPr/>
        </p:nvSpPr>
        <p:spPr>
          <a:xfrm>
            <a:off x="7589520" y="2286000"/>
            <a:ext cx="1691640" cy="411480"/>
          </a:xfrm>
          <a:prstGeom prst="rect">
            <a:avLst/>
          </a:prstGeom>
          <a:noFill/>
          <a:ln/>
        </p:spPr>
        <p:txBody>
          <a:bodyPr wrap="square" lIns="0" tIns="0" rIns="0" bIns="0" rtlCol="0" anchor="t"/>
          <a:lstStyle/>
          <a:p>
            <a:pPr algn="l" indent="0" marL="0">
              <a:buNone/>
            </a:pPr>
            <a:r>
              <a:rPr lang="en-US" sz="1800" dirty="0">
                <a:solidFill>
                  <a:srgbClr val="D0D2D6"/>
                </a:solidFill>
                <a:latin typeface="Segoe UI Semibold" pitchFamily="34" charset="0"/>
                <a:ea typeface="Segoe UI Semibold" pitchFamily="34" charset="-122"/>
                <a:cs typeface="Segoe UI Semibold" pitchFamily="34" charset="-120"/>
              </a:rPr>
              <a:t>Reproduce</a:t>
            </a:r>
            <a:endParaRPr lang="en-US" sz="1800" dirty="0"/>
          </a:p>
        </p:txBody>
      </p:sp>
      <p:sp>
        <p:nvSpPr>
          <p:cNvPr id="30" name="!!stT3"/>
          <p:cNvSpPr txBox="1"/>
          <p:nvPr/>
        </p:nvSpPr>
        <p:spPr>
          <a:xfrm>
            <a:off x="7589520" y="2743200"/>
            <a:ext cx="1691640" cy="457200"/>
          </a:xfrm>
          <a:prstGeom prst="rect">
            <a:avLst/>
          </a:prstGeom>
          <a:noFill/>
          <a:ln/>
        </p:spPr>
        <p:txBody>
          <a:bodyPr wrap="square" lIns="0" tIns="0" rIns="0" bIns="0" rtlCol="0" anchor="t"/>
          <a:lstStyle/>
          <a:p>
            <a:pPr algn="l" indent="0" marL="0">
              <a:buNone/>
            </a:pPr>
            <a:r>
              <a:rPr lang="en-US" sz="1200" dirty="0">
                <a:solidFill>
                  <a:srgbClr val="D0D2D6"/>
                </a:solidFill>
                <a:latin typeface="Segoe UI" pitchFamily="34" charset="0"/>
                <a:ea typeface="Segoe UI" pitchFamily="34" charset="-122"/>
                <a:cs typeface="Segoe UI" pitchFamily="34" charset="-120"/>
              </a:rPr>
              <a:t>68.0 vs 64.8 K</a:t>
            </a:r>
            <a:endParaRPr lang="en-US" sz="1200" dirty="0"/>
          </a:p>
        </p:txBody>
      </p:sp>
      <p:sp>
        <p:nvSpPr>
          <p:cNvPr id="31" name="!!stV3"/>
          <p:cNvSpPr txBox="1"/>
          <p:nvPr/>
        </p:nvSpPr>
        <p:spPr>
          <a:xfrm>
            <a:off x="7589520" y="3291840"/>
            <a:ext cx="1691640" cy="365760"/>
          </a:xfrm>
          <a:prstGeom prst="rect">
            <a:avLst/>
          </a:prstGeom>
          <a:noFill/>
          <a:ln/>
        </p:spPr>
        <p:txBody>
          <a:bodyPr wrap="square" lIns="0" tIns="0" rIns="0" bIns="0" rtlCol="0" anchor="t"/>
          <a:lstStyle/>
          <a:p>
            <a:pPr algn="l" indent="0" marL="0">
              <a:buNone/>
            </a:pPr>
            <a:r>
              <a:rPr lang="en-US" sz="1400" dirty="0">
                <a:solidFill>
                  <a:srgbClr val="D0D2D6"/>
                </a:solidFill>
                <a:latin typeface="Segoe UI Semibold" pitchFamily="34" charset="0"/>
                <a:ea typeface="Segoe UI Semibold" pitchFamily="34" charset="-122"/>
                <a:cs typeface="Segoe UI Semibold" pitchFamily="34" charset="-120"/>
              </a:rPr>
              <a:t>+5 %</a:t>
            </a:r>
            <a:endParaRPr lang="en-US" sz="1400" dirty="0"/>
          </a:p>
        </p:txBody>
      </p:sp>
      <p:sp>
        <p:nvSpPr>
          <p:cNvPr id="32" name="!!stA4"/>
          <p:cNvSpPr/>
          <p:nvPr/>
        </p:nvSpPr>
        <p:spPr>
          <a:xfrm>
            <a:off x="9372600" y="2743200"/>
            <a:ext cx="274320" cy="91"/>
          </a:xfrm>
          <a:prstGeom prst="line">
            <a:avLst/>
          </a:prstGeom>
          <a:noFill/>
          <a:ln w="25400">
            <a:solidFill>
              <a:srgbClr val="E2E3E3"/>
            </a:solidFill>
            <a:prstDash val="solid"/>
            <a:tailEnd type="triangle"/>
          </a:ln>
        </p:spPr>
      </p:sp>
      <p:sp>
        <p:nvSpPr>
          <p:cNvPr id="33" name="!!stB4"/>
          <p:cNvSpPr/>
          <p:nvPr/>
        </p:nvSpPr>
        <p:spPr>
          <a:xfrm>
            <a:off x="9692640" y="1737360"/>
            <a:ext cx="1965960" cy="2103120"/>
          </a:xfrm>
          <a:prstGeom prst="roundRect">
            <a:avLst>
              <a:gd name="adj" fmla="val 4651"/>
            </a:avLst>
          </a:prstGeom>
          <a:solidFill>
            <a:srgbClr val="FAFAFB"/>
          </a:solidFill>
          <a:ln/>
        </p:spPr>
      </p:sp>
      <p:sp>
        <p:nvSpPr>
          <p:cNvPr id="34" name="!!stN4"/>
          <p:cNvSpPr txBox="1"/>
          <p:nvPr/>
        </p:nvSpPr>
        <p:spPr>
          <a:xfrm>
            <a:off x="9875520" y="1874520"/>
            <a:ext cx="457200" cy="365760"/>
          </a:xfrm>
          <a:prstGeom prst="rect">
            <a:avLst/>
          </a:prstGeom>
          <a:noFill/>
          <a:ln/>
        </p:spPr>
        <p:txBody>
          <a:bodyPr wrap="square" lIns="0" tIns="0" rIns="0" bIns="0" rtlCol="0" anchor="t"/>
          <a:lstStyle/>
          <a:p>
            <a:pPr algn="l" indent="0" marL="0">
              <a:buNone/>
            </a:pPr>
            <a:r>
              <a:rPr lang="en-US" sz="1600" dirty="0">
                <a:solidFill>
                  <a:srgbClr val="D0D2D6"/>
                </a:solidFill>
                <a:latin typeface="Segoe UI Semibold" pitchFamily="34" charset="0"/>
                <a:ea typeface="Segoe UI Semibold" pitchFamily="34" charset="-122"/>
                <a:cs typeface="Segoe UI Semibold" pitchFamily="34" charset="-120"/>
              </a:rPr>
              <a:t>5</a:t>
            </a:r>
            <a:endParaRPr lang="en-US" sz="1600" dirty="0"/>
          </a:p>
        </p:txBody>
      </p:sp>
      <p:sp>
        <p:nvSpPr>
          <p:cNvPr id="35" name="!!stH4"/>
          <p:cNvSpPr txBox="1"/>
          <p:nvPr/>
        </p:nvSpPr>
        <p:spPr>
          <a:xfrm>
            <a:off x="9875520" y="2286000"/>
            <a:ext cx="1691640" cy="411480"/>
          </a:xfrm>
          <a:prstGeom prst="rect">
            <a:avLst/>
          </a:prstGeom>
          <a:noFill/>
          <a:ln/>
        </p:spPr>
        <p:txBody>
          <a:bodyPr wrap="square" lIns="0" tIns="0" rIns="0" bIns="0" rtlCol="0" anchor="t"/>
          <a:lstStyle/>
          <a:p>
            <a:pPr algn="l" indent="0" marL="0">
              <a:buNone/>
            </a:pPr>
            <a:r>
              <a:rPr lang="en-US" sz="1800" dirty="0">
                <a:solidFill>
                  <a:srgbClr val="D0D2D6"/>
                </a:solidFill>
                <a:latin typeface="Segoe UI Semibold" pitchFamily="34" charset="0"/>
                <a:ea typeface="Segoe UI Semibold" pitchFamily="34" charset="-122"/>
                <a:cs typeface="Segoe UI Semibold" pitchFamily="34" charset="-120"/>
              </a:rPr>
              <a:t>Optimal</a:t>
            </a:r>
            <a:endParaRPr lang="en-US" sz="1800" dirty="0"/>
          </a:p>
        </p:txBody>
      </p:sp>
      <p:sp>
        <p:nvSpPr>
          <p:cNvPr id="36" name="!!stT4"/>
          <p:cNvSpPr txBox="1"/>
          <p:nvPr/>
        </p:nvSpPr>
        <p:spPr>
          <a:xfrm>
            <a:off x="9875520" y="2743200"/>
            <a:ext cx="1691640" cy="457200"/>
          </a:xfrm>
          <a:prstGeom prst="rect">
            <a:avLst/>
          </a:prstGeom>
          <a:noFill/>
          <a:ln/>
        </p:spPr>
        <p:txBody>
          <a:bodyPr wrap="square" lIns="0" tIns="0" rIns="0" bIns="0" rtlCol="0" anchor="t"/>
          <a:lstStyle/>
          <a:p>
            <a:pPr algn="l" indent="0" marL="0">
              <a:buNone/>
            </a:pPr>
            <a:r>
              <a:rPr lang="en-US" sz="1200" dirty="0">
                <a:solidFill>
                  <a:srgbClr val="D0D2D6"/>
                </a:solidFill>
                <a:latin typeface="Segoe UI" pitchFamily="34" charset="0"/>
                <a:ea typeface="Segoe UI" pitchFamily="34" charset="-122"/>
                <a:cs typeface="Segoe UI" pitchFamily="34" charset="-120"/>
              </a:rPr>
              <a:t>spacer + WF</a:t>
            </a:r>
            <a:endParaRPr lang="en-US" sz="1200" dirty="0"/>
          </a:p>
        </p:txBody>
      </p:sp>
      <p:sp>
        <p:nvSpPr>
          <p:cNvPr id="37" name="!!stV4"/>
          <p:cNvSpPr txBox="1"/>
          <p:nvPr/>
        </p:nvSpPr>
        <p:spPr>
          <a:xfrm>
            <a:off x="9875520" y="3291840"/>
            <a:ext cx="1691640" cy="365760"/>
          </a:xfrm>
          <a:prstGeom prst="rect">
            <a:avLst/>
          </a:prstGeom>
          <a:noFill/>
          <a:ln/>
        </p:spPr>
        <p:txBody>
          <a:bodyPr wrap="square" lIns="0" tIns="0" rIns="0" bIns="0" rtlCol="0" anchor="t"/>
          <a:lstStyle/>
          <a:p>
            <a:pPr algn="l" indent="0" marL="0">
              <a:buNone/>
            </a:pPr>
            <a:r>
              <a:rPr lang="en-US" sz="1400" dirty="0">
                <a:solidFill>
                  <a:srgbClr val="D0D2D6"/>
                </a:solidFill>
                <a:latin typeface="Segoe UI Semibold" pitchFamily="34" charset="0"/>
                <a:ea typeface="Segoe UI Semibold" pitchFamily="34" charset="-122"/>
                <a:cs typeface="Segoe UI Semibold" pitchFamily="34" charset="-120"/>
              </a:rPr>
              <a:t>16.4 % cooler</a:t>
            </a:r>
            <a:endParaRPr lang="en-US" sz="1400" dirty="0"/>
          </a:p>
        </p:txBody>
      </p:sp>
      <p:sp>
        <p:nvSpPr>
          <p:cNvPr id="38" name="!!stMsg"/>
          <p:cNvSpPr txBox="1"/>
          <p:nvPr/>
        </p:nvSpPr>
        <p:spPr>
          <a:xfrm>
            <a:off x="548640" y="4206240"/>
            <a:ext cx="11091672" cy="548640"/>
          </a:xfrm>
          <a:prstGeom prst="rect">
            <a:avLst/>
          </a:prstGeom>
          <a:noFill/>
          <a:ln/>
        </p:spPr>
        <p:txBody>
          <a:bodyPr wrap="square" lIns="0" tIns="0" rIns="0" bIns="0" rtlCol="0" anchor="ctr"/>
          <a:lstStyle/>
          <a:p>
            <a:pPr algn="ctr" indent="0" marL="0">
              <a:buNone/>
            </a:pPr>
            <a:r>
              <a:rPr lang="en-US" sz="2000" dirty="0">
                <a:solidFill>
                  <a:srgbClr val="171A20"/>
                </a:solidFill>
                <a:latin typeface="Segoe UI" pitchFamily="34" charset="0"/>
                <a:ea typeface="Segoe UI" pitchFamily="34" charset="-122"/>
                <a:cs typeface="Segoe UI" pitchFamily="34" charset="-120"/>
              </a:rPr>
              <a:t>Wrapping the gate all round restores control: λ 4.37 → 2.18 nm.</a:t>
            </a:r>
            <a:endParaRPr lang="en-US" sz="2000" dirty="0"/>
          </a:p>
        </p:txBody>
      </p:sp>
      <p:sp>
        <p:nvSpPr>
          <p:cNvPr id="3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Control fixed by GAA; heat lowered by design.</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149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Conclusion – The whole story</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From a leaking MOSFET to a cooler GAAFET, in five steps</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E2E3E3"/>
          </a:solidFill>
          <a:ln/>
        </p:spPr>
      </p:sp>
      <p:sp>
        <p:nvSpPr>
          <p:cNvPr id="8" name="!!sdot4"/>
          <p:cNvSpPr/>
          <p:nvPr/>
        </p:nvSpPr>
        <p:spPr>
          <a:xfrm>
            <a:off x="11599164" y="525780"/>
            <a:ext cx="82296" cy="82296"/>
          </a:xfrm>
          <a:prstGeom prst="ellipse">
            <a:avLst/>
          </a:prstGeom>
          <a:solidFill>
            <a:srgbClr val="E2E3E3"/>
          </a:solidFill>
          <a:ln/>
        </p:spPr>
      </p:sp>
      <p:sp>
        <p:nvSpPr>
          <p:cNvPr id="9" name="!!stB0"/>
          <p:cNvSpPr/>
          <p:nvPr/>
        </p:nvSpPr>
        <p:spPr>
          <a:xfrm>
            <a:off x="548640" y="1737360"/>
            <a:ext cx="1965960" cy="2103120"/>
          </a:xfrm>
          <a:prstGeom prst="roundRect">
            <a:avLst>
              <a:gd name="adj" fmla="val 4651"/>
            </a:avLst>
          </a:prstGeom>
          <a:solidFill>
            <a:srgbClr val="F4F5F7"/>
          </a:solidFill>
          <a:ln/>
        </p:spPr>
      </p:sp>
      <p:sp>
        <p:nvSpPr>
          <p:cNvPr id="10" name="!!stN0"/>
          <p:cNvSpPr txBox="1"/>
          <p:nvPr/>
        </p:nvSpPr>
        <p:spPr>
          <a:xfrm>
            <a:off x="731520" y="1874520"/>
            <a:ext cx="457200" cy="365760"/>
          </a:xfrm>
          <a:prstGeom prst="rect">
            <a:avLst/>
          </a:prstGeom>
          <a:noFill/>
          <a:ln/>
        </p:spPr>
        <p:txBody>
          <a:bodyPr wrap="square" lIns="0" tIns="0" rIns="0" bIns="0" rtlCol="0" anchor="t"/>
          <a:lstStyle/>
          <a:p>
            <a:pPr algn="l" indent="0" marL="0">
              <a:buNone/>
            </a:pPr>
            <a:r>
              <a:rPr lang="en-US" sz="1600" dirty="0">
                <a:solidFill>
                  <a:srgbClr val="D64545"/>
                </a:solidFill>
                <a:latin typeface="Segoe UI Semibold" pitchFamily="34" charset="0"/>
                <a:ea typeface="Segoe UI Semibold" pitchFamily="34" charset="-122"/>
                <a:cs typeface="Segoe UI Semibold" pitchFamily="34" charset="-120"/>
              </a:rPr>
              <a:t>1</a:t>
            </a:r>
            <a:endParaRPr lang="en-US" sz="1600" dirty="0"/>
          </a:p>
        </p:txBody>
      </p:sp>
      <p:sp>
        <p:nvSpPr>
          <p:cNvPr id="11" name="!!stH0"/>
          <p:cNvSpPr txBox="1"/>
          <p:nvPr/>
        </p:nvSpPr>
        <p:spPr>
          <a:xfrm>
            <a:off x="731520" y="2286000"/>
            <a:ext cx="1691640" cy="411480"/>
          </a:xfrm>
          <a:prstGeom prst="rect">
            <a:avLst/>
          </a:prstGeom>
          <a:noFill/>
          <a:ln/>
        </p:spPr>
        <p:txBody>
          <a:bodyPr wrap="square" lIns="0" tIns="0" rIns="0" bIns="0" rtlCol="0" anchor="t"/>
          <a:lstStyle/>
          <a:p>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MOSFET</a:t>
            </a:r>
            <a:endParaRPr lang="en-US" sz="1800" dirty="0"/>
          </a:p>
        </p:txBody>
      </p:sp>
      <p:sp>
        <p:nvSpPr>
          <p:cNvPr id="12" name="!!stT0"/>
          <p:cNvSpPr txBox="1"/>
          <p:nvPr/>
        </p:nvSpPr>
        <p:spPr>
          <a:xfrm>
            <a:off x="731520" y="2743200"/>
            <a:ext cx="1691640" cy="45720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short L</a:t>
            </a:r>
            <a:pPr algn="l" indent="0" marL="0">
              <a:buNone/>
            </a:pPr>
            <a:r>
              <a:rPr lang="en-US" sz="1200" baseline="-40000" dirty="0">
                <a:solidFill>
                  <a:srgbClr val="5C5E62"/>
                </a:solidFill>
                <a:latin typeface="Segoe UI" pitchFamily="34" charset="0"/>
                <a:ea typeface="Segoe UI" pitchFamily="34" charset="-122"/>
                <a:cs typeface="Segoe UI" pitchFamily="34" charset="-120"/>
              </a:rPr>
              <a:t>g</a:t>
            </a:r>
            <a:pPr algn="l" indent="0" marL="0">
              <a:buNone/>
            </a:pPr>
            <a:r>
              <a:rPr lang="en-US" sz="1200" dirty="0">
                <a:solidFill>
                  <a:srgbClr val="5C5E62"/>
                </a:solidFill>
                <a:latin typeface="Segoe UI" pitchFamily="34" charset="0"/>
                <a:ea typeface="Segoe UI" pitchFamily="34" charset="-122"/>
                <a:cs typeface="Segoe UI" pitchFamily="34" charset="-120"/>
              </a:rPr>
              <a:t> leaks</a:t>
            </a:r>
            <a:endParaRPr lang="en-US" sz="1200" dirty="0"/>
          </a:p>
        </p:txBody>
      </p:sp>
      <p:sp>
        <p:nvSpPr>
          <p:cNvPr id="13" name="!!stV0"/>
          <p:cNvSpPr txBox="1"/>
          <p:nvPr/>
        </p:nvSpPr>
        <p:spPr>
          <a:xfrm>
            <a:off x="731520" y="3291840"/>
            <a:ext cx="1691640" cy="365760"/>
          </a:xfrm>
          <a:prstGeom prst="rect">
            <a:avLst/>
          </a:prstGeom>
          <a:noFill/>
          <a:ln/>
        </p:spPr>
        <p:txBody>
          <a:bodyPr wrap="square" lIns="0" tIns="0" rIns="0" bIns="0" rtlCol="0" anchor="t"/>
          <a:lstStyle/>
          <a:p>
            <a:pPr algn="l" indent="0" marL="0">
              <a:buNone/>
            </a:pPr>
            <a:r>
              <a:rPr lang="en-US" sz="1400" dirty="0">
                <a:solidFill>
                  <a:srgbClr val="D64545"/>
                </a:solidFill>
                <a:latin typeface="Segoe UI Semibold" pitchFamily="34" charset="0"/>
                <a:ea typeface="Segoe UI Semibold" pitchFamily="34" charset="-122"/>
                <a:cs typeface="Segoe UI Semibold" pitchFamily="34" charset="-120"/>
              </a:rPr>
              <a:t>DIBL 202 mV/V</a:t>
            </a:r>
            <a:endParaRPr lang="en-US" sz="1400" dirty="0"/>
          </a:p>
        </p:txBody>
      </p:sp>
      <p:sp>
        <p:nvSpPr>
          <p:cNvPr id="14" name="!!stA1"/>
          <p:cNvSpPr/>
          <p:nvPr/>
        </p:nvSpPr>
        <p:spPr>
          <a:xfrm>
            <a:off x="2514600" y="2743200"/>
            <a:ext cx="274320" cy="91"/>
          </a:xfrm>
          <a:prstGeom prst="line">
            <a:avLst/>
          </a:prstGeom>
          <a:noFill/>
          <a:ln w="25400">
            <a:solidFill>
              <a:srgbClr val="171A20"/>
            </a:solidFill>
            <a:prstDash val="solid"/>
            <a:tailEnd type="triangle"/>
          </a:ln>
        </p:spPr>
      </p:sp>
      <p:sp>
        <p:nvSpPr>
          <p:cNvPr id="15" name="!!stB1"/>
          <p:cNvSpPr/>
          <p:nvPr/>
        </p:nvSpPr>
        <p:spPr>
          <a:xfrm>
            <a:off x="2834640" y="1737360"/>
            <a:ext cx="1965960" cy="2103120"/>
          </a:xfrm>
          <a:prstGeom prst="roundRect">
            <a:avLst>
              <a:gd name="adj" fmla="val 4651"/>
            </a:avLst>
          </a:prstGeom>
          <a:solidFill>
            <a:srgbClr val="F4F5F7"/>
          </a:solidFill>
          <a:ln/>
        </p:spPr>
      </p:sp>
      <p:sp>
        <p:nvSpPr>
          <p:cNvPr id="16" name="!!stN1"/>
          <p:cNvSpPr txBox="1"/>
          <p:nvPr/>
        </p:nvSpPr>
        <p:spPr>
          <a:xfrm>
            <a:off x="3017520" y="1874520"/>
            <a:ext cx="457200" cy="365760"/>
          </a:xfrm>
          <a:prstGeom prst="rect">
            <a:avLst/>
          </a:prstGeom>
          <a:noFill/>
          <a:ln/>
        </p:spPr>
        <p:txBody>
          <a:bodyPr wrap="square" lIns="0" tIns="0" rIns="0" bIns="0" rtlCol="0" anchor="t"/>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2</a:t>
            </a:r>
            <a:endParaRPr lang="en-US" sz="1600" dirty="0"/>
          </a:p>
        </p:txBody>
      </p:sp>
      <p:sp>
        <p:nvSpPr>
          <p:cNvPr id="17" name="!!stH1"/>
          <p:cNvSpPr txBox="1"/>
          <p:nvPr/>
        </p:nvSpPr>
        <p:spPr>
          <a:xfrm>
            <a:off x="3017520" y="2286000"/>
            <a:ext cx="1691640" cy="411480"/>
          </a:xfrm>
          <a:prstGeom prst="rect">
            <a:avLst/>
          </a:prstGeom>
          <a:noFill/>
          <a:ln/>
        </p:spPr>
        <p:txBody>
          <a:bodyPr wrap="square" lIns="0" tIns="0" rIns="0" bIns="0" rtlCol="0" anchor="t"/>
          <a:lstStyle/>
          <a:p>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GAAFET</a:t>
            </a:r>
            <a:endParaRPr lang="en-US" sz="1800" dirty="0"/>
          </a:p>
        </p:txBody>
      </p:sp>
      <p:sp>
        <p:nvSpPr>
          <p:cNvPr id="18" name="!!stT1"/>
          <p:cNvSpPr txBox="1"/>
          <p:nvPr/>
        </p:nvSpPr>
        <p:spPr>
          <a:xfrm>
            <a:off x="3017520" y="2743200"/>
            <a:ext cx="1691640" cy="45720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gate on all sides</a:t>
            </a:r>
            <a:endParaRPr lang="en-US" sz="1200" dirty="0"/>
          </a:p>
        </p:txBody>
      </p:sp>
      <p:sp>
        <p:nvSpPr>
          <p:cNvPr id="19" name="!!stV1"/>
          <p:cNvSpPr txBox="1"/>
          <p:nvPr/>
        </p:nvSpPr>
        <p:spPr>
          <a:xfrm>
            <a:off x="3017520" y="3291840"/>
            <a:ext cx="1691640" cy="365760"/>
          </a:xfrm>
          <a:prstGeom prst="rect">
            <a:avLst/>
          </a:prstGeom>
          <a:noFill/>
          <a:ln/>
        </p:spPr>
        <p:txBody>
          <a:bodyPr wrap="square" lIns="0" tIns="0" rIns="0" bIns="0" rtlCol="0" anchor="t"/>
          <a:lstStyle/>
          <a:p>
            <a:pPr algn="l" indent="0" marL="0">
              <a:buNone/>
            </a:pPr>
            <a:r>
              <a:rPr lang="en-US" sz="1400" dirty="0">
                <a:solidFill>
                  <a:srgbClr val="3E6AE1"/>
                </a:solidFill>
                <a:latin typeface="Segoe UI Semibold" pitchFamily="34" charset="0"/>
                <a:ea typeface="Segoe UI Semibold" pitchFamily="34" charset="-122"/>
                <a:cs typeface="Segoe UI Semibold" pitchFamily="34" charset="-120"/>
              </a:rPr>
              <a:t>DIBL 17 mV/V</a:t>
            </a:r>
            <a:endParaRPr lang="en-US" sz="1400" dirty="0"/>
          </a:p>
        </p:txBody>
      </p:sp>
      <p:sp>
        <p:nvSpPr>
          <p:cNvPr id="20" name="!!stA2"/>
          <p:cNvSpPr/>
          <p:nvPr/>
        </p:nvSpPr>
        <p:spPr>
          <a:xfrm>
            <a:off x="4800600" y="2743200"/>
            <a:ext cx="274320" cy="91"/>
          </a:xfrm>
          <a:prstGeom prst="line">
            <a:avLst/>
          </a:prstGeom>
          <a:noFill/>
          <a:ln w="25400">
            <a:solidFill>
              <a:srgbClr val="171A20"/>
            </a:solidFill>
            <a:prstDash val="solid"/>
            <a:tailEnd type="triangle"/>
          </a:ln>
        </p:spPr>
      </p:sp>
      <p:sp>
        <p:nvSpPr>
          <p:cNvPr id="21" name="!!stB2"/>
          <p:cNvSpPr/>
          <p:nvPr/>
        </p:nvSpPr>
        <p:spPr>
          <a:xfrm>
            <a:off x="5120640" y="1737360"/>
            <a:ext cx="1965960" cy="2103120"/>
          </a:xfrm>
          <a:prstGeom prst="roundRect">
            <a:avLst>
              <a:gd name="adj" fmla="val 4651"/>
            </a:avLst>
          </a:prstGeom>
          <a:solidFill>
            <a:srgbClr val="E07B00"/>
          </a:solidFill>
          <a:ln/>
        </p:spPr>
      </p:sp>
      <p:sp>
        <p:nvSpPr>
          <p:cNvPr id="22" name="!!stN2"/>
          <p:cNvSpPr txBox="1"/>
          <p:nvPr/>
        </p:nvSpPr>
        <p:spPr>
          <a:xfrm>
            <a:off x="5303520" y="1874520"/>
            <a:ext cx="457200" cy="365760"/>
          </a:xfrm>
          <a:prstGeom prst="rect">
            <a:avLst/>
          </a:prstGeom>
          <a:noFill/>
          <a:ln/>
        </p:spPr>
        <p:txBody>
          <a:bodyPr wrap="square" lIns="0" tIns="0" rIns="0" bIns="0" rtlCol="0" anchor="t"/>
          <a:lstStyle/>
          <a:p>
            <a:pPr algn="l" indent="0" marL="0">
              <a:buNone/>
            </a:pPr>
            <a:r>
              <a:rPr lang="en-US" sz="1600"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23" name="!!stH2"/>
          <p:cNvSpPr txBox="1"/>
          <p:nvPr/>
        </p:nvSpPr>
        <p:spPr>
          <a:xfrm>
            <a:off x="5303520" y="2286000"/>
            <a:ext cx="1691640" cy="411480"/>
          </a:xfrm>
          <a:prstGeom prst="rect">
            <a:avLst/>
          </a:prstGeom>
          <a:noFill/>
          <a:ln/>
        </p:spPr>
        <p:txBody>
          <a:bodyPr wrap="square" lIns="0" tIns="0" rIns="0" bIns="0" rtlCol="0" anchor="t"/>
          <a:lstStyle/>
          <a:p>
            <a:pPr algn="l" indent="0" marL="0">
              <a:buNone/>
            </a:pPr>
            <a:r>
              <a:rPr lang="en-US" sz="1800" dirty="0">
                <a:solidFill>
                  <a:srgbClr val="FFFFFF"/>
                </a:solidFill>
                <a:latin typeface="Segoe UI Semibold" pitchFamily="34" charset="0"/>
                <a:ea typeface="Segoe UI Semibold" pitchFamily="34" charset="-122"/>
                <a:cs typeface="Segoe UI Semibold" pitchFamily="34" charset="-120"/>
              </a:rPr>
              <a:t>Heat</a:t>
            </a:r>
            <a:endParaRPr lang="en-US" sz="1800" dirty="0"/>
          </a:p>
        </p:txBody>
      </p:sp>
      <p:sp>
        <p:nvSpPr>
          <p:cNvPr id="24" name="!!stT2"/>
          <p:cNvSpPr txBox="1"/>
          <p:nvPr/>
        </p:nvSpPr>
        <p:spPr>
          <a:xfrm>
            <a:off x="5303520" y="2743200"/>
            <a:ext cx="1691640" cy="457200"/>
          </a:xfrm>
          <a:prstGeom prst="rect">
            <a:avLst/>
          </a:prstGeom>
          <a:noFill/>
          <a:ln/>
        </p:spPr>
        <p:txBody>
          <a:bodyPr wrap="square" lIns="0" tIns="0" rIns="0" bIns="0" rtlCol="0" anchor="t"/>
          <a:lstStyle/>
          <a:p>
            <a:pPr algn="l" indent="0" marL="0">
              <a:buNone/>
            </a:pPr>
            <a:r>
              <a:rPr lang="en-US" sz="1200" dirty="0">
                <a:solidFill>
                  <a:srgbClr val="F2F2F2"/>
                </a:solidFill>
                <a:latin typeface="Segoe UI" pitchFamily="34" charset="0"/>
                <a:ea typeface="Segoe UI" pitchFamily="34" charset="-122"/>
                <a:cs typeface="Segoe UI" pitchFamily="34" charset="-120"/>
              </a:rPr>
              <a:t>oxide traps it</a:t>
            </a:r>
            <a:endParaRPr lang="en-US" sz="1200" dirty="0"/>
          </a:p>
        </p:txBody>
      </p:sp>
      <p:sp>
        <p:nvSpPr>
          <p:cNvPr id="25" name="!!stV2"/>
          <p:cNvSpPr txBox="1"/>
          <p:nvPr/>
        </p:nvSpPr>
        <p:spPr>
          <a:xfrm>
            <a:off x="5303520" y="3291840"/>
            <a:ext cx="1691640" cy="365760"/>
          </a:xfrm>
          <a:prstGeom prst="rect">
            <a:avLst/>
          </a:prstGeom>
          <a:noFill/>
          <a:ln/>
        </p:spPr>
        <p:txBody>
          <a:bodyPr wrap="square" lIns="0" tIns="0" rIns="0" bIns="0" rtlCol="0" anchor="t"/>
          <a:lstStyle/>
          <a:p>
            <a:pPr algn="l" indent="0" marL="0">
              <a:buNone/>
            </a:pPr>
            <a:r>
              <a:rPr lang="en-US" sz="1400" dirty="0">
                <a:solidFill>
                  <a:srgbClr val="FFFFFF"/>
                </a:solidFill>
                <a:latin typeface="Segoe UI Semibold" pitchFamily="34" charset="0"/>
                <a:ea typeface="Segoe UI Semibold" pitchFamily="34" charset="-122"/>
                <a:cs typeface="Segoe UI Semibold" pitchFamily="34" charset="-120"/>
              </a:rPr>
              <a:t>ΔT 64.8 K</a:t>
            </a:r>
            <a:endParaRPr lang="en-US" sz="1400" dirty="0"/>
          </a:p>
        </p:txBody>
      </p:sp>
      <p:sp>
        <p:nvSpPr>
          <p:cNvPr id="26" name="!!stA3"/>
          <p:cNvSpPr/>
          <p:nvPr/>
        </p:nvSpPr>
        <p:spPr>
          <a:xfrm>
            <a:off x="7086600" y="2743200"/>
            <a:ext cx="274320" cy="91"/>
          </a:xfrm>
          <a:prstGeom prst="line">
            <a:avLst/>
          </a:prstGeom>
          <a:noFill/>
          <a:ln w="25400">
            <a:solidFill>
              <a:srgbClr val="E2E3E3"/>
            </a:solidFill>
            <a:prstDash val="solid"/>
            <a:tailEnd type="triangle"/>
          </a:ln>
        </p:spPr>
      </p:sp>
      <p:sp>
        <p:nvSpPr>
          <p:cNvPr id="27" name="!!stB3"/>
          <p:cNvSpPr/>
          <p:nvPr/>
        </p:nvSpPr>
        <p:spPr>
          <a:xfrm>
            <a:off x="7406640" y="1737360"/>
            <a:ext cx="1965960" cy="2103120"/>
          </a:xfrm>
          <a:prstGeom prst="roundRect">
            <a:avLst>
              <a:gd name="adj" fmla="val 4651"/>
            </a:avLst>
          </a:prstGeom>
          <a:solidFill>
            <a:srgbClr val="FAFAFB"/>
          </a:solidFill>
          <a:ln/>
        </p:spPr>
      </p:sp>
      <p:sp>
        <p:nvSpPr>
          <p:cNvPr id="28" name="!!stN3"/>
          <p:cNvSpPr txBox="1"/>
          <p:nvPr/>
        </p:nvSpPr>
        <p:spPr>
          <a:xfrm>
            <a:off x="7589520" y="1874520"/>
            <a:ext cx="457200" cy="365760"/>
          </a:xfrm>
          <a:prstGeom prst="rect">
            <a:avLst/>
          </a:prstGeom>
          <a:noFill/>
          <a:ln/>
        </p:spPr>
        <p:txBody>
          <a:bodyPr wrap="square" lIns="0" tIns="0" rIns="0" bIns="0" rtlCol="0" anchor="t"/>
          <a:lstStyle/>
          <a:p>
            <a:pPr algn="l" indent="0" marL="0">
              <a:buNone/>
            </a:pPr>
            <a:r>
              <a:rPr lang="en-US" sz="1600" dirty="0">
                <a:solidFill>
                  <a:srgbClr val="D0D2D6"/>
                </a:solidFill>
                <a:latin typeface="Segoe UI Semibold" pitchFamily="34" charset="0"/>
                <a:ea typeface="Segoe UI Semibold" pitchFamily="34" charset="-122"/>
                <a:cs typeface="Segoe UI Semibold" pitchFamily="34" charset="-120"/>
              </a:rPr>
              <a:t>4</a:t>
            </a:r>
            <a:endParaRPr lang="en-US" sz="1600" dirty="0"/>
          </a:p>
        </p:txBody>
      </p:sp>
      <p:sp>
        <p:nvSpPr>
          <p:cNvPr id="29" name="!!stH3"/>
          <p:cNvSpPr txBox="1"/>
          <p:nvPr/>
        </p:nvSpPr>
        <p:spPr>
          <a:xfrm>
            <a:off x="7589520" y="2286000"/>
            <a:ext cx="1691640" cy="411480"/>
          </a:xfrm>
          <a:prstGeom prst="rect">
            <a:avLst/>
          </a:prstGeom>
          <a:noFill/>
          <a:ln/>
        </p:spPr>
        <p:txBody>
          <a:bodyPr wrap="square" lIns="0" tIns="0" rIns="0" bIns="0" rtlCol="0" anchor="t"/>
          <a:lstStyle/>
          <a:p>
            <a:pPr algn="l" indent="0" marL="0">
              <a:buNone/>
            </a:pPr>
            <a:r>
              <a:rPr lang="en-US" sz="1800" dirty="0">
                <a:solidFill>
                  <a:srgbClr val="D0D2D6"/>
                </a:solidFill>
                <a:latin typeface="Segoe UI Semibold" pitchFamily="34" charset="0"/>
                <a:ea typeface="Segoe UI Semibold" pitchFamily="34" charset="-122"/>
                <a:cs typeface="Segoe UI Semibold" pitchFamily="34" charset="-120"/>
              </a:rPr>
              <a:t>Reproduce</a:t>
            </a:r>
            <a:endParaRPr lang="en-US" sz="1800" dirty="0"/>
          </a:p>
        </p:txBody>
      </p:sp>
      <p:sp>
        <p:nvSpPr>
          <p:cNvPr id="30" name="!!stT3"/>
          <p:cNvSpPr txBox="1"/>
          <p:nvPr/>
        </p:nvSpPr>
        <p:spPr>
          <a:xfrm>
            <a:off x="7589520" y="2743200"/>
            <a:ext cx="1691640" cy="457200"/>
          </a:xfrm>
          <a:prstGeom prst="rect">
            <a:avLst/>
          </a:prstGeom>
          <a:noFill/>
          <a:ln/>
        </p:spPr>
        <p:txBody>
          <a:bodyPr wrap="square" lIns="0" tIns="0" rIns="0" bIns="0" rtlCol="0" anchor="t"/>
          <a:lstStyle/>
          <a:p>
            <a:pPr algn="l" indent="0" marL="0">
              <a:buNone/>
            </a:pPr>
            <a:r>
              <a:rPr lang="en-US" sz="1200" dirty="0">
                <a:solidFill>
                  <a:srgbClr val="D0D2D6"/>
                </a:solidFill>
                <a:latin typeface="Segoe UI" pitchFamily="34" charset="0"/>
                <a:ea typeface="Segoe UI" pitchFamily="34" charset="-122"/>
                <a:cs typeface="Segoe UI" pitchFamily="34" charset="-120"/>
              </a:rPr>
              <a:t>68.0 vs 64.8 K</a:t>
            </a:r>
            <a:endParaRPr lang="en-US" sz="1200" dirty="0"/>
          </a:p>
        </p:txBody>
      </p:sp>
      <p:sp>
        <p:nvSpPr>
          <p:cNvPr id="31" name="!!stV3"/>
          <p:cNvSpPr txBox="1"/>
          <p:nvPr/>
        </p:nvSpPr>
        <p:spPr>
          <a:xfrm>
            <a:off x="7589520" y="3291840"/>
            <a:ext cx="1691640" cy="365760"/>
          </a:xfrm>
          <a:prstGeom prst="rect">
            <a:avLst/>
          </a:prstGeom>
          <a:noFill/>
          <a:ln/>
        </p:spPr>
        <p:txBody>
          <a:bodyPr wrap="square" lIns="0" tIns="0" rIns="0" bIns="0" rtlCol="0" anchor="t"/>
          <a:lstStyle/>
          <a:p>
            <a:pPr algn="l" indent="0" marL="0">
              <a:buNone/>
            </a:pPr>
            <a:r>
              <a:rPr lang="en-US" sz="1400" dirty="0">
                <a:solidFill>
                  <a:srgbClr val="D0D2D6"/>
                </a:solidFill>
                <a:latin typeface="Segoe UI Semibold" pitchFamily="34" charset="0"/>
                <a:ea typeface="Segoe UI Semibold" pitchFamily="34" charset="-122"/>
                <a:cs typeface="Segoe UI Semibold" pitchFamily="34" charset="-120"/>
              </a:rPr>
              <a:t>+5 %</a:t>
            </a:r>
            <a:endParaRPr lang="en-US" sz="1400" dirty="0"/>
          </a:p>
        </p:txBody>
      </p:sp>
      <p:sp>
        <p:nvSpPr>
          <p:cNvPr id="32" name="!!stA4"/>
          <p:cNvSpPr/>
          <p:nvPr/>
        </p:nvSpPr>
        <p:spPr>
          <a:xfrm>
            <a:off x="9372600" y="2743200"/>
            <a:ext cx="274320" cy="91"/>
          </a:xfrm>
          <a:prstGeom prst="line">
            <a:avLst/>
          </a:prstGeom>
          <a:noFill/>
          <a:ln w="25400">
            <a:solidFill>
              <a:srgbClr val="E2E3E3"/>
            </a:solidFill>
            <a:prstDash val="solid"/>
            <a:tailEnd type="triangle"/>
          </a:ln>
        </p:spPr>
      </p:sp>
      <p:sp>
        <p:nvSpPr>
          <p:cNvPr id="33" name="!!stB4"/>
          <p:cNvSpPr/>
          <p:nvPr/>
        </p:nvSpPr>
        <p:spPr>
          <a:xfrm>
            <a:off x="9692640" y="1737360"/>
            <a:ext cx="1965960" cy="2103120"/>
          </a:xfrm>
          <a:prstGeom prst="roundRect">
            <a:avLst>
              <a:gd name="adj" fmla="val 4651"/>
            </a:avLst>
          </a:prstGeom>
          <a:solidFill>
            <a:srgbClr val="FAFAFB"/>
          </a:solidFill>
          <a:ln/>
        </p:spPr>
      </p:sp>
      <p:sp>
        <p:nvSpPr>
          <p:cNvPr id="34" name="!!stN4"/>
          <p:cNvSpPr txBox="1"/>
          <p:nvPr/>
        </p:nvSpPr>
        <p:spPr>
          <a:xfrm>
            <a:off x="9875520" y="1874520"/>
            <a:ext cx="457200" cy="365760"/>
          </a:xfrm>
          <a:prstGeom prst="rect">
            <a:avLst/>
          </a:prstGeom>
          <a:noFill/>
          <a:ln/>
        </p:spPr>
        <p:txBody>
          <a:bodyPr wrap="square" lIns="0" tIns="0" rIns="0" bIns="0" rtlCol="0" anchor="t"/>
          <a:lstStyle/>
          <a:p>
            <a:pPr algn="l" indent="0" marL="0">
              <a:buNone/>
            </a:pPr>
            <a:r>
              <a:rPr lang="en-US" sz="1600" dirty="0">
                <a:solidFill>
                  <a:srgbClr val="D0D2D6"/>
                </a:solidFill>
                <a:latin typeface="Segoe UI Semibold" pitchFamily="34" charset="0"/>
                <a:ea typeface="Segoe UI Semibold" pitchFamily="34" charset="-122"/>
                <a:cs typeface="Segoe UI Semibold" pitchFamily="34" charset="-120"/>
              </a:rPr>
              <a:t>5</a:t>
            </a:r>
            <a:endParaRPr lang="en-US" sz="1600" dirty="0"/>
          </a:p>
        </p:txBody>
      </p:sp>
      <p:sp>
        <p:nvSpPr>
          <p:cNvPr id="35" name="!!stH4"/>
          <p:cNvSpPr txBox="1"/>
          <p:nvPr/>
        </p:nvSpPr>
        <p:spPr>
          <a:xfrm>
            <a:off x="9875520" y="2286000"/>
            <a:ext cx="1691640" cy="411480"/>
          </a:xfrm>
          <a:prstGeom prst="rect">
            <a:avLst/>
          </a:prstGeom>
          <a:noFill/>
          <a:ln/>
        </p:spPr>
        <p:txBody>
          <a:bodyPr wrap="square" lIns="0" tIns="0" rIns="0" bIns="0" rtlCol="0" anchor="t"/>
          <a:lstStyle/>
          <a:p>
            <a:pPr algn="l" indent="0" marL="0">
              <a:buNone/>
            </a:pPr>
            <a:r>
              <a:rPr lang="en-US" sz="1800" dirty="0">
                <a:solidFill>
                  <a:srgbClr val="D0D2D6"/>
                </a:solidFill>
                <a:latin typeface="Segoe UI Semibold" pitchFamily="34" charset="0"/>
                <a:ea typeface="Segoe UI Semibold" pitchFamily="34" charset="-122"/>
                <a:cs typeface="Segoe UI Semibold" pitchFamily="34" charset="-120"/>
              </a:rPr>
              <a:t>Optimal</a:t>
            </a:r>
            <a:endParaRPr lang="en-US" sz="1800" dirty="0"/>
          </a:p>
        </p:txBody>
      </p:sp>
      <p:sp>
        <p:nvSpPr>
          <p:cNvPr id="36" name="!!stT4"/>
          <p:cNvSpPr txBox="1"/>
          <p:nvPr/>
        </p:nvSpPr>
        <p:spPr>
          <a:xfrm>
            <a:off x="9875520" y="2743200"/>
            <a:ext cx="1691640" cy="457200"/>
          </a:xfrm>
          <a:prstGeom prst="rect">
            <a:avLst/>
          </a:prstGeom>
          <a:noFill/>
          <a:ln/>
        </p:spPr>
        <p:txBody>
          <a:bodyPr wrap="square" lIns="0" tIns="0" rIns="0" bIns="0" rtlCol="0" anchor="t"/>
          <a:lstStyle/>
          <a:p>
            <a:pPr algn="l" indent="0" marL="0">
              <a:buNone/>
            </a:pPr>
            <a:r>
              <a:rPr lang="en-US" sz="1200" dirty="0">
                <a:solidFill>
                  <a:srgbClr val="D0D2D6"/>
                </a:solidFill>
                <a:latin typeface="Segoe UI" pitchFamily="34" charset="0"/>
                <a:ea typeface="Segoe UI" pitchFamily="34" charset="-122"/>
                <a:cs typeface="Segoe UI" pitchFamily="34" charset="-120"/>
              </a:rPr>
              <a:t>spacer + WF</a:t>
            </a:r>
            <a:endParaRPr lang="en-US" sz="1200" dirty="0"/>
          </a:p>
        </p:txBody>
      </p:sp>
      <p:sp>
        <p:nvSpPr>
          <p:cNvPr id="37" name="!!stV4"/>
          <p:cNvSpPr txBox="1"/>
          <p:nvPr/>
        </p:nvSpPr>
        <p:spPr>
          <a:xfrm>
            <a:off x="9875520" y="3291840"/>
            <a:ext cx="1691640" cy="365760"/>
          </a:xfrm>
          <a:prstGeom prst="rect">
            <a:avLst/>
          </a:prstGeom>
          <a:noFill/>
          <a:ln/>
        </p:spPr>
        <p:txBody>
          <a:bodyPr wrap="square" lIns="0" tIns="0" rIns="0" bIns="0" rtlCol="0" anchor="t"/>
          <a:lstStyle/>
          <a:p>
            <a:pPr algn="l" indent="0" marL="0">
              <a:buNone/>
            </a:pPr>
            <a:r>
              <a:rPr lang="en-US" sz="1400" dirty="0">
                <a:solidFill>
                  <a:srgbClr val="D0D2D6"/>
                </a:solidFill>
                <a:latin typeface="Segoe UI Semibold" pitchFamily="34" charset="0"/>
                <a:ea typeface="Segoe UI Semibold" pitchFamily="34" charset="-122"/>
                <a:cs typeface="Segoe UI Semibold" pitchFamily="34" charset="-120"/>
              </a:rPr>
              <a:t>16.4 % cooler</a:t>
            </a:r>
            <a:endParaRPr lang="en-US" sz="1400" dirty="0"/>
          </a:p>
        </p:txBody>
      </p:sp>
      <p:sp>
        <p:nvSpPr>
          <p:cNvPr id="38" name="!!stMsg"/>
          <p:cNvSpPr txBox="1"/>
          <p:nvPr/>
        </p:nvSpPr>
        <p:spPr>
          <a:xfrm>
            <a:off x="548640" y="4206240"/>
            <a:ext cx="11091672" cy="548640"/>
          </a:xfrm>
          <a:prstGeom prst="rect">
            <a:avLst/>
          </a:prstGeom>
          <a:noFill/>
          <a:ln/>
        </p:spPr>
        <p:txBody>
          <a:bodyPr wrap="square" lIns="0" tIns="0" rIns="0" bIns="0" rtlCol="0" anchor="ctr"/>
          <a:lstStyle/>
          <a:p>
            <a:pPr algn="ctr" indent="0" marL="0">
              <a:buNone/>
            </a:pPr>
            <a:r>
              <a:rPr lang="en-US" sz="2000" dirty="0">
                <a:solidFill>
                  <a:srgbClr val="171A20"/>
                </a:solidFill>
                <a:latin typeface="Segoe UI" pitchFamily="34" charset="0"/>
                <a:ea typeface="Segoe UI" pitchFamily="34" charset="-122"/>
                <a:cs typeface="Segoe UI" pitchFamily="34" charset="-120"/>
              </a:rPr>
              <a:t>But the oxide that wraps the channel also traps its heat.</a:t>
            </a:r>
            <a:endParaRPr lang="en-US" sz="2000" dirty="0"/>
          </a:p>
        </p:txBody>
      </p:sp>
      <p:sp>
        <p:nvSpPr>
          <p:cNvPr id="3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Control fixed by GAA; heat lowered by design.</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150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Conclusion – The whole story</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From a leaking MOSFET to a cooler GAAFET, in five steps</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171A20"/>
          </a:solidFill>
          <a:ln/>
        </p:spPr>
      </p:sp>
      <p:sp>
        <p:nvSpPr>
          <p:cNvPr id="8" name="!!sdot4"/>
          <p:cNvSpPr/>
          <p:nvPr/>
        </p:nvSpPr>
        <p:spPr>
          <a:xfrm>
            <a:off x="11599164" y="525780"/>
            <a:ext cx="82296" cy="82296"/>
          </a:xfrm>
          <a:prstGeom prst="ellipse">
            <a:avLst/>
          </a:prstGeom>
          <a:solidFill>
            <a:srgbClr val="E2E3E3"/>
          </a:solidFill>
          <a:ln/>
        </p:spPr>
      </p:sp>
      <p:sp>
        <p:nvSpPr>
          <p:cNvPr id="9" name="!!stB0"/>
          <p:cNvSpPr/>
          <p:nvPr/>
        </p:nvSpPr>
        <p:spPr>
          <a:xfrm>
            <a:off x="548640" y="1737360"/>
            <a:ext cx="1965960" cy="2103120"/>
          </a:xfrm>
          <a:prstGeom prst="roundRect">
            <a:avLst>
              <a:gd name="adj" fmla="val 4651"/>
            </a:avLst>
          </a:prstGeom>
          <a:solidFill>
            <a:srgbClr val="F4F5F7"/>
          </a:solidFill>
          <a:ln/>
        </p:spPr>
      </p:sp>
      <p:sp>
        <p:nvSpPr>
          <p:cNvPr id="10" name="!!stN0"/>
          <p:cNvSpPr txBox="1"/>
          <p:nvPr/>
        </p:nvSpPr>
        <p:spPr>
          <a:xfrm>
            <a:off x="731520" y="1874520"/>
            <a:ext cx="457200" cy="365760"/>
          </a:xfrm>
          <a:prstGeom prst="rect">
            <a:avLst/>
          </a:prstGeom>
          <a:noFill/>
          <a:ln/>
        </p:spPr>
        <p:txBody>
          <a:bodyPr wrap="square" lIns="0" tIns="0" rIns="0" bIns="0" rtlCol="0" anchor="t"/>
          <a:lstStyle/>
          <a:p>
            <a:pPr algn="l" indent="0" marL="0">
              <a:buNone/>
            </a:pPr>
            <a:r>
              <a:rPr lang="en-US" sz="1600" dirty="0">
                <a:solidFill>
                  <a:srgbClr val="D64545"/>
                </a:solidFill>
                <a:latin typeface="Segoe UI Semibold" pitchFamily="34" charset="0"/>
                <a:ea typeface="Segoe UI Semibold" pitchFamily="34" charset="-122"/>
                <a:cs typeface="Segoe UI Semibold" pitchFamily="34" charset="-120"/>
              </a:rPr>
              <a:t>1</a:t>
            </a:r>
            <a:endParaRPr lang="en-US" sz="1600" dirty="0"/>
          </a:p>
        </p:txBody>
      </p:sp>
      <p:sp>
        <p:nvSpPr>
          <p:cNvPr id="11" name="!!stH0"/>
          <p:cNvSpPr txBox="1"/>
          <p:nvPr/>
        </p:nvSpPr>
        <p:spPr>
          <a:xfrm>
            <a:off x="731520" y="2286000"/>
            <a:ext cx="1691640" cy="411480"/>
          </a:xfrm>
          <a:prstGeom prst="rect">
            <a:avLst/>
          </a:prstGeom>
          <a:noFill/>
          <a:ln/>
        </p:spPr>
        <p:txBody>
          <a:bodyPr wrap="square" lIns="0" tIns="0" rIns="0" bIns="0" rtlCol="0" anchor="t"/>
          <a:lstStyle/>
          <a:p>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MOSFET</a:t>
            </a:r>
            <a:endParaRPr lang="en-US" sz="1800" dirty="0"/>
          </a:p>
        </p:txBody>
      </p:sp>
      <p:sp>
        <p:nvSpPr>
          <p:cNvPr id="12" name="!!stT0"/>
          <p:cNvSpPr txBox="1"/>
          <p:nvPr/>
        </p:nvSpPr>
        <p:spPr>
          <a:xfrm>
            <a:off x="731520" y="2743200"/>
            <a:ext cx="1691640" cy="45720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short L</a:t>
            </a:r>
            <a:pPr algn="l" indent="0" marL="0">
              <a:buNone/>
            </a:pPr>
            <a:r>
              <a:rPr lang="en-US" sz="1200" baseline="-40000" dirty="0">
                <a:solidFill>
                  <a:srgbClr val="5C5E62"/>
                </a:solidFill>
                <a:latin typeface="Segoe UI" pitchFamily="34" charset="0"/>
                <a:ea typeface="Segoe UI" pitchFamily="34" charset="-122"/>
                <a:cs typeface="Segoe UI" pitchFamily="34" charset="-120"/>
              </a:rPr>
              <a:t>g</a:t>
            </a:r>
            <a:pPr algn="l" indent="0" marL="0">
              <a:buNone/>
            </a:pPr>
            <a:r>
              <a:rPr lang="en-US" sz="1200" dirty="0">
                <a:solidFill>
                  <a:srgbClr val="5C5E62"/>
                </a:solidFill>
                <a:latin typeface="Segoe UI" pitchFamily="34" charset="0"/>
                <a:ea typeface="Segoe UI" pitchFamily="34" charset="-122"/>
                <a:cs typeface="Segoe UI" pitchFamily="34" charset="-120"/>
              </a:rPr>
              <a:t> leaks</a:t>
            </a:r>
            <a:endParaRPr lang="en-US" sz="1200" dirty="0"/>
          </a:p>
        </p:txBody>
      </p:sp>
      <p:sp>
        <p:nvSpPr>
          <p:cNvPr id="13" name="!!stV0"/>
          <p:cNvSpPr txBox="1"/>
          <p:nvPr/>
        </p:nvSpPr>
        <p:spPr>
          <a:xfrm>
            <a:off x="731520" y="3291840"/>
            <a:ext cx="1691640" cy="365760"/>
          </a:xfrm>
          <a:prstGeom prst="rect">
            <a:avLst/>
          </a:prstGeom>
          <a:noFill/>
          <a:ln/>
        </p:spPr>
        <p:txBody>
          <a:bodyPr wrap="square" lIns="0" tIns="0" rIns="0" bIns="0" rtlCol="0" anchor="t"/>
          <a:lstStyle/>
          <a:p>
            <a:pPr algn="l" indent="0" marL="0">
              <a:buNone/>
            </a:pPr>
            <a:r>
              <a:rPr lang="en-US" sz="1400" dirty="0">
                <a:solidFill>
                  <a:srgbClr val="D64545"/>
                </a:solidFill>
                <a:latin typeface="Segoe UI Semibold" pitchFamily="34" charset="0"/>
                <a:ea typeface="Segoe UI Semibold" pitchFamily="34" charset="-122"/>
                <a:cs typeface="Segoe UI Semibold" pitchFamily="34" charset="-120"/>
              </a:rPr>
              <a:t>DIBL 202 mV/V</a:t>
            </a:r>
            <a:endParaRPr lang="en-US" sz="1400" dirty="0"/>
          </a:p>
        </p:txBody>
      </p:sp>
      <p:sp>
        <p:nvSpPr>
          <p:cNvPr id="14" name="!!stA1"/>
          <p:cNvSpPr/>
          <p:nvPr/>
        </p:nvSpPr>
        <p:spPr>
          <a:xfrm>
            <a:off x="2514600" y="2743200"/>
            <a:ext cx="274320" cy="91"/>
          </a:xfrm>
          <a:prstGeom prst="line">
            <a:avLst/>
          </a:prstGeom>
          <a:noFill/>
          <a:ln w="25400">
            <a:solidFill>
              <a:srgbClr val="171A20"/>
            </a:solidFill>
            <a:prstDash val="solid"/>
            <a:tailEnd type="triangle"/>
          </a:ln>
        </p:spPr>
      </p:sp>
      <p:sp>
        <p:nvSpPr>
          <p:cNvPr id="15" name="!!stB1"/>
          <p:cNvSpPr/>
          <p:nvPr/>
        </p:nvSpPr>
        <p:spPr>
          <a:xfrm>
            <a:off x="2834640" y="1737360"/>
            <a:ext cx="1965960" cy="2103120"/>
          </a:xfrm>
          <a:prstGeom prst="roundRect">
            <a:avLst>
              <a:gd name="adj" fmla="val 4651"/>
            </a:avLst>
          </a:prstGeom>
          <a:solidFill>
            <a:srgbClr val="F4F5F7"/>
          </a:solidFill>
          <a:ln/>
        </p:spPr>
      </p:sp>
      <p:sp>
        <p:nvSpPr>
          <p:cNvPr id="16" name="!!stN1"/>
          <p:cNvSpPr txBox="1"/>
          <p:nvPr/>
        </p:nvSpPr>
        <p:spPr>
          <a:xfrm>
            <a:off x="3017520" y="1874520"/>
            <a:ext cx="457200" cy="365760"/>
          </a:xfrm>
          <a:prstGeom prst="rect">
            <a:avLst/>
          </a:prstGeom>
          <a:noFill/>
          <a:ln/>
        </p:spPr>
        <p:txBody>
          <a:bodyPr wrap="square" lIns="0" tIns="0" rIns="0" bIns="0" rtlCol="0" anchor="t"/>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2</a:t>
            </a:r>
            <a:endParaRPr lang="en-US" sz="1600" dirty="0"/>
          </a:p>
        </p:txBody>
      </p:sp>
      <p:sp>
        <p:nvSpPr>
          <p:cNvPr id="17" name="!!stH1"/>
          <p:cNvSpPr txBox="1"/>
          <p:nvPr/>
        </p:nvSpPr>
        <p:spPr>
          <a:xfrm>
            <a:off x="3017520" y="2286000"/>
            <a:ext cx="1691640" cy="411480"/>
          </a:xfrm>
          <a:prstGeom prst="rect">
            <a:avLst/>
          </a:prstGeom>
          <a:noFill/>
          <a:ln/>
        </p:spPr>
        <p:txBody>
          <a:bodyPr wrap="square" lIns="0" tIns="0" rIns="0" bIns="0" rtlCol="0" anchor="t"/>
          <a:lstStyle/>
          <a:p>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GAAFET</a:t>
            </a:r>
            <a:endParaRPr lang="en-US" sz="1800" dirty="0"/>
          </a:p>
        </p:txBody>
      </p:sp>
      <p:sp>
        <p:nvSpPr>
          <p:cNvPr id="18" name="!!stT1"/>
          <p:cNvSpPr txBox="1"/>
          <p:nvPr/>
        </p:nvSpPr>
        <p:spPr>
          <a:xfrm>
            <a:off x="3017520" y="2743200"/>
            <a:ext cx="1691640" cy="45720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gate on all sides</a:t>
            </a:r>
            <a:endParaRPr lang="en-US" sz="1200" dirty="0"/>
          </a:p>
        </p:txBody>
      </p:sp>
      <p:sp>
        <p:nvSpPr>
          <p:cNvPr id="19" name="!!stV1"/>
          <p:cNvSpPr txBox="1"/>
          <p:nvPr/>
        </p:nvSpPr>
        <p:spPr>
          <a:xfrm>
            <a:off x="3017520" y="3291840"/>
            <a:ext cx="1691640" cy="365760"/>
          </a:xfrm>
          <a:prstGeom prst="rect">
            <a:avLst/>
          </a:prstGeom>
          <a:noFill/>
          <a:ln/>
        </p:spPr>
        <p:txBody>
          <a:bodyPr wrap="square" lIns="0" tIns="0" rIns="0" bIns="0" rtlCol="0" anchor="t"/>
          <a:lstStyle/>
          <a:p>
            <a:pPr algn="l" indent="0" marL="0">
              <a:buNone/>
            </a:pPr>
            <a:r>
              <a:rPr lang="en-US" sz="1400" dirty="0">
                <a:solidFill>
                  <a:srgbClr val="3E6AE1"/>
                </a:solidFill>
                <a:latin typeface="Segoe UI Semibold" pitchFamily="34" charset="0"/>
                <a:ea typeface="Segoe UI Semibold" pitchFamily="34" charset="-122"/>
                <a:cs typeface="Segoe UI Semibold" pitchFamily="34" charset="-120"/>
              </a:rPr>
              <a:t>DIBL 17 mV/V</a:t>
            </a:r>
            <a:endParaRPr lang="en-US" sz="1400" dirty="0"/>
          </a:p>
        </p:txBody>
      </p:sp>
      <p:sp>
        <p:nvSpPr>
          <p:cNvPr id="20" name="!!stA2"/>
          <p:cNvSpPr/>
          <p:nvPr/>
        </p:nvSpPr>
        <p:spPr>
          <a:xfrm>
            <a:off x="4800600" y="2743200"/>
            <a:ext cx="274320" cy="91"/>
          </a:xfrm>
          <a:prstGeom prst="line">
            <a:avLst/>
          </a:prstGeom>
          <a:noFill/>
          <a:ln w="25400">
            <a:solidFill>
              <a:srgbClr val="171A20"/>
            </a:solidFill>
            <a:prstDash val="solid"/>
            <a:tailEnd type="triangle"/>
          </a:ln>
        </p:spPr>
      </p:sp>
      <p:sp>
        <p:nvSpPr>
          <p:cNvPr id="21" name="!!stB2"/>
          <p:cNvSpPr/>
          <p:nvPr/>
        </p:nvSpPr>
        <p:spPr>
          <a:xfrm>
            <a:off x="5120640" y="1737360"/>
            <a:ext cx="1965960" cy="2103120"/>
          </a:xfrm>
          <a:prstGeom prst="roundRect">
            <a:avLst>
              <a:gd name="adj" fmla="val 4651"/>
            </a:avLst>
          </a:prstGeom>
          <a:solidFill>
            <a:srgbClr val="F4F5F7"/>
          </a:solidFill>
          <a:ln/>
        </p:spPr>
      </p:sp>
      <p:sp>
        <p:nvSpPr>
          <p:cNvPr id="22" name="!!stN2"/>
          <p:cNvSpPr txBox="1"/>
          <p:nvPr/>
        </p:nvSpPr>
        <p:spPr>
          <a:xfrm>
            <a:off x="5303520" y="1874520"/>
            <a:ext cx="457200" cy="365760"/>
          </a:xfrm>
          <a:prstGeom prst="rect">
            <a:avLst/>
          </a:prstGeom>
          <a:noFill/>
          <a:ln/>
        </p:spPr>
        <p:txBody>
          <a:bodyPr wrap="square" lIns="0" tIns="0" rIns="0" bIns="0" rtlCol="0" anchor="t"/>
          <a:lstStyle/>
          <a:p>
            <a:pPr algn="l" indent="0" marL="0">
              <a:buNone/>
            </a:pPr>
            <a:r>
              <a:rPr lang="en-US" sz="1600" dirty="0">
                <a:solidFill>
                  <a:srgbClr val="E07B00"/>
                </a:solidFill>
                <a:latin typeface="Segoe UI Semibold" pitchFamily="34" charset="0"/>
                <a:ea typeface="Segoe UI Semibold" pitchFamily="34" charset="-122"/>
                <a:cs typeface="Segoe UI Semibold" pitchFamily="34" charset="-120"/>
              </a:rPr>
              <a:t>3</a:t>
            </a:r>
            <a:endParaRPr lang="en-US" sz="1600" dirty="0"/>
          </a:p>
        </p:txBody>
      </p:sp>
      <p:sp>
        <p:nvSpPr>
          <p:cNvPr id="23" name="!!stH2"/>
          <p:cNvSpPr txBox="1"/>
          <p:nvPr/>
        </p:nvSpPr>
        <p:spPr>
          <a:xfrm>
            <a:off x="5303520" y="2286000"/>
            <a:ext cx="1691640" cy="411480"/>
          </a:xfrm>
          <a:prstGeom prst="rect">
            <a:avLst/>
          </a:prstGeom>
          <a:noFill/>
          <a:ln/>
        </p:spPr>
        <p:txBody>
          <a:bodyPr wrap="square" lIns="0" tIns="0" rIns="0" bIns="0" rtlCol="0" anchor="t"/>
          <a:lstStyle/>
          <a:p>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Heat</a:t>
            </a:r>
            <a:endParaRPr lang="en-US" sz="1800" dirty="0"/>
          </a:p>
        </p:txBody>
      </p:sp>
      <p:sp>
        <p:nvSpPr>
          <p:cNvPr id="24" name="!!stT2"/>
          <p:cNvSpPr txBox="1"/>
          <p:nvPr/>
        </p:nvSpPr>
        <p:spPr>
          <a:xfrm>
            <a:off x="5303520" y="2743200"/>
            <a:ext cx="1691640" cy="45720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oxide traps it</a:t>
            </a:r>
            <a:endParaRPr lang="en-US" sz="1200" dirty="0"/>
          </a:p>
        </p:txBody>
      </p:sp>
      <p:sp>
        <p:nvSpPr>
          <p:cNvPr id="25" name="!!stV2"/>
          <p:cNvSpPr txBox="1"/>
          <p:nvPr/>
        </p:nvSpPr>
        <p:spPr>
          <a:xfrm>
            <a:off x="5303520" y="3291840"/>
            <a:ext cx="1691640" cy="365760"/>
          </a:xfrm>
          <a:prstGeom prst="rect">
            <a:avLst/>
          </a:prstGeom>
          <a:noFill/>
          <a:ln/>
        </p:spPr>
        <p:txBody>
          <a:bodyPr wrap="square" lIns="0" tIns="0" rIns="0" bIns="0" rtlCol="0" anchor="t"/>
          <a:lstStyle/>
          <a:p>
            <a:pPr algn="l" indent="0" marL="0">
              <a:buNone/>
            </a:pPr>
            <a:r>
              <a:rPr lang="en-US" sz="1400" dirty="0">
                <a:solidFill>
                  <a:srgbClr val="E07B00"/>
                </a:solidFill>
                <a:latin typeface="Segoe UI Semibold" pitchFamily="34" charset="0"/>
                <a:ea typeface="Segoe UI Semibold" pitchFamily="34" charset="-122"/>
                <a:cs typeface="Segoe UI Semibold" pitchFamily="34" charset="-120"/>
              </a:rPr>
              <a:t>ΔT 64.8 K</a:t>
            </a:r>
            <a:endParaRPr lang="en-US" sz="1400" dirty="0"/>
          </a:p>
        </p:txBody>
      </p:sp>
      <p:sp>
        <p:nvSpPr>
          <p:cNvPr id="26" name="!!stA3"/>
          <p:cNvSpPr/>
          <p:nvPr/>
        </p:nvSpPr>
        <p:spPr>
          <a:xfrm>
            <a:off x="7086600" y="2743200"/>
            <a:ext cx="274320" cy="91"/>
          </a:xfrm>
          <a:prstGeom prst="line">
            <a:avLst/>
          </a:prstGeom>
          <a:noFill/>
          <a:ln w="25400">
            <a:solidFill>
              <a:srgbClr val="171A20"/>
            </a:solidFill>
            <a:prstDash val="solid"/>
            <a:tailEnd type="triangle"/>
          </a:ln>
        </p:spPr>
      </p:sp>
      <p:sp>
        <p:nvSpPr>
          <p:cNvPr id="27" name="!!stB3"/>
          <p:cNvSpPr/>
          <p:nvPr/>
        </p:nvSpPr>
        <p:spPr>
          <a:xfrm>
            <a:off x="7406640" y="1737360"/>
            <a:ext cx="1965960" cy="2103120"/>
          </a:xfrm>
          <a:prstGeom prst="roundRect">
            <a:avLst>
              <a:gd name="adj" fmla="val 4651"/>
            </a:avLst>
          </a:prstGeom>
          <a:solidFill>
            <a:srgbClr val="171A20"/>
          </a:solidFill>
          <a:ln/>
        </p:spPr>
      </p:sp>
      <p:sp>
        <p:nvSpPr>
          <p:cNvPr id="28" name="!!stN3"/>
          <p:cNvSpPr txBox="1"/>
          <p:nvPr/>
        </p:nvSpPr>
        <p:spPr>
          <a:xfrm>
            <a:off x="7589520" y="1874520"/>
            <a:ext cx="457200" cy="365760"/>
          </a:xfrm>
          <a:prstGeom prst="rect">
            <a:avLst/>
          </a:prstGeom>
          <a:noFill/>
          <a:ln/>
        </p:spPr>
        <p:txBody>
          <a:bodyPr wrap="square" lIns="0" tIns="0" rIns="0" bIns="0" rtlCol="0" anchor="t"/>
          <a:lstStyle/>
          <a:p>
            <a:pPr algn="l" indent="0" marL="0">
              <a:buNone/>
            </a:pPr>
            <a:r>
              <a:rPr lang="en-US" sz="1600"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29" name="!!stH3"/>
          <p:cNvSpPr txBox="1"/>
          <p:nvPr/>
        </p:nvSpPr>
        <p:spPr>
          <a:xfrm>
            <a:off x="7589520" y="2286000"/>
            <a:ext cx="1691640" cy="411480"/>
          </a:xfrm>
          <a:prstGeom prst="rect">
            <a:avLst/>
          </a:prstGeom>
          <a:noFill/>
          <a:ln/>
        </p:spPr>
        <p:txBody>
          <a:bodyPr wrap="square" lIns="0" tIns="0" rIns="0" bIns="0" rtlCol="0" anchor="t"/>
          <a:lstStyle/>
          <a:p>
            <a:pPr algn="l" indent="0" marL="0">
              <a:buNone/>
            </a:pPr>
            <a:r>
              <a:rPr lang="en-US" sz="1800" dirty="0">
                <a:solidFill>
                  <a:srgbClr val="FFFFFF"/>
                </a:solidFill>
                <a:latin typeface="Segoe UI Semibold" pitchFamily="34" charset="0"/>
                <a:ea typeface="Segoe UI Semibold" pitchFamily="34" charset="-122"/>
                <a:cs typeface="Segoe UI Semibold" pitchFamily="34" charset="-120"/>
              </a:rPr>
              <a:t>Reproduce</a:t>
            </a:r>
            <a:endParaRPr lang="en-US" sz="1800" dirty="0"/>
          </a:p>
        </p:txBody>
      </p:sp>
      <p:sp>
        <p:nvSpPr>
          <p:cNvPr id="30" name="!!stT3"/>
          <p:cNvSpPr txBox="1"/>
          <p:nvPr/>
        </p:nvSpPr>
        <p:spPr>
          <a:xfrm>
            <a:off x="7589520" y="2743200"/>
            <a:ext cx="1691640" cy="457200"/>
          </a:xfrm>
          <a:prstGeom prst="rect">
            <a:avLst/>
          </a:prstGeom>
          <a:noFill/>
          <a:ln/>
        </p:spPr>
        <p:txBody>
          <a:bodyPr wrap="square" lIns="0" tIns="0" rIns="0" bIns="0" rtlCol="0" anchor="t"/>
          <a:lstStyle/>
          <a:p>
            <a:pPr algn="l" indent="0" marL="0">
              <a:buNone/>
            </a:pPr>
            <a:r>
              <a:rPr lang="en-US" sz="1200" dirty="0">
                <a:solidFill>
                  <a:srgbClr val="F2F2F2"/>
                </a:solidFill>
                <a:latin typeface="Segoe UI" pitchFamily="34" charset="0"/>
                <a:ea typeface="Segoe UI" pitchFamily="34" charset="-122"/>
                <a:cs typeface="Segoe UI" pitchFamily="34" charset="-120"/>
              </a:rPr>
              <a:t>68.0 vs 64.8 K</a:t>
            </a:r>
            <a:endParaRPr lang="en-US" sz="1200" dirty="0"/>
          </a:p>
        </p:txBody>
      </p:sp>
      <p:sp>
        <p:nvSpPr>
          <p:cNvPr id="31" name="!!stV3"/>
          <p:cNvSpPr txBox="1"/>
          <p:nvPr/>
        </p:nvSpPr>
        <p:spPr>
          <a:xfrm>
            <a:off x="7589520" y="3291840"/>
            <a:ext cx="1691640" cy="365760"/>
          </a:xfrm>
          <a:prstGeom prst="rect">
            <a:avLst/>
          </a:prstGeom>
          <a:noFill/>
          <a:ln/>
        </p:spPr>
        <p:txBody>
          <a:bodyPr wrap="square" lIns="0" tIns="0" rIns="0" bIns="0" rtlCol="0" anchor="t"/>
          <a:lstStyle/>
          <a:p>
            <a:pPr algn="l" indent="0" marL="0">
              <a:buNone/>
            </a:pPr>
            <a:r>
              <a:rPr lang="en-US" sz="1400" dirty="0">
                <a:solidFill>
                  <a:srgbClr val="FFFFFF"/>
                </a:solidFill>
                <a:latin typeface="Segoe UI Semibold" pitchFamily="34" charset="0"/>
                <a:ea typeface="Segoe UI Semibold" pitchFamily="34" charset="-122"/>
                <a:cs typeface="Segoe UI Semibold" pitchFamily="34" charset="-120"/>
              </a:rPr>
              <a:t>+5 %</a:t>
            </a:r>
            <a:endParaRPr lang="en-US" sz="1400" dirty="0"/>
          </a:p>
        </p:txBody>
      </p:sp>
      <p:sp>
        <p:nvSpPr>
          <p:cNvPr id="32" name="!!stA4"/>
          <p:cNvSpPr/>
          <p:nvPr/>
        </p:nvSpPr>
        <p:spPr>
          <a:xfrm>
            <a:off x="9372600" y="2743200"/>
            <a:ext cx="274320" cy="91"/>
          </a:xfrm>
          <a:prstGeom prst="line">
            <a:avLst/>
          </a:prstGeom>
          <a:noFill/>
          <a:ln w="25400">
            <a:solidFill>
              <a:srgbClr val="E2E3E3"/>
            </a:solidFill>
            <a:prstDash val="solid"/>
            <a:tailEnd type="triangle"/>
          </a:ln>
        </p:spPr>
      </p:sp>
      <p:sp>
        <p:nvSpPr>
          <p:cNvPr id="33" name="!!stB4"/>
          <p:cNvSpPr/>
          <p:nvPr/>
        </p:nvSpPr>
        <p:spPr>
          <a:xfrm>
            <a:off x="9692640" y="1737360"/>
            <a:ext cx="1965960" cy="2103120"/>
          </a:xfrm>
          <a:prstGeom prst="roundRect">
            <a:avLst>
              <a:gd name="adj" fmla="val 4651"/>
            </a:avLst>
          </a:prstGeom>
          <a:solidFill>
            <a:srgbClr val="FAFAFB"/>
          </a:solidFill>
          <a:ln/>
        </p:spPr>
      </p:sp>
      <p:sp>
        <p:nvSpPr>
          <p:cNvPr id="34" name="!!stN4"/>
          <p:cNvSpPr txBox="1"/>
          <p:nvPr/>
        </p:nvSpPr>
        <p:spPr>
          <a:xfrm>
            <a:off x="9875520" y="1874520"/>
            <a:ext cx="457200" cy="365760"/>
          </a:xfrm>
          <a:prstGeom prst="rect">
            <a:avLst/>
          </a:prstGeom>
          <a:noFill/>
          <a:ln/>
        </p:spPr>
        <p:txBody>
          <a:bodyPr wrap="square" lIns="0" tIns="0" rIns="0" bIns="0" rtlCol="0" anchor="t"/>
          <a:lstStyle/>
          <a:p>
            <a:pPr algn="l" indent="0" marL="0">
              <a:buNone/>
            </a:pPr>
            <a:r>
              <a:rPr lang="en-US" sz="1600" dirty="0">
                <a:solidFill>
                  <a:srgbClr val="D0D2D6"/>
                </a:solidFill>
                <a:latin typeface="Segoe UI Semibold" pitchFamily="34" charset="0"/>
                <a:ea typeface="Segoe UI Semibold" pitchFamily="34" charset="-122"/>
                <a:cs typeface="Segoe UI Semibold" pitchFamily="34" charset="-120"/>
              </a:rPr>
              <a:t>5</a:t>
            </a:r>
            <a:endParaRPr lang="en-US" sz="1600" dirty="0"/>
          </a:p>
        </p:txBody>
      </p:sp>
      <p:sp>
        <p:nvSpPr>
          <p:cNvPr id="35" name="!!stH4"/>
          <p:cNvSpPr txBox="1"/>
          <p:nvPr/>
        </p:nvSpPr>
        <p:spPr>
          <a:xfrm>
            <a:off x="9875520" y="2286000"/>
            <a:ext cx="1691640" cy="411480"/>
          </a:xfrm>
          <a:prstGeom prst="rect">
            <a:avLst/>
          </a:prstGeom>
          <a:noFill/>
          <a:ln/>
        </p:spPr>
        <p:txBody>
          <a:bodyPr wrap="square" lIns="0" tIns="0" rIns="0" bIns="0" rtlCol="0" anchor="t"/>
          <a:lstStyle/>
          <a:p>
            <a:pPr algn="l" indent="0" marL="0">
              <a:buNone/>
            </a:pPr>
            <a:r>
              <a:rPr lang="en-US" sz="1800" dirty="0">
                <a:solidFill>
                  <a:srgbClr val="D0D2D6"/>
                </a:solidFill>
                <a:latin typeface="Segoe UI Semibold" pitchFamily="34" charset="0"/>
                <a:ea typeface="Segoe UI Semibold" pitchFamily="34" charset="-122"/>
                <a:cs typeface="Segoe UI Semibold" pitchFamily="34" charset="-120"/>
              </a:rPr>
              <a:t>Optimal</a:t>
            </a:r>
            <a:endParaRPr lang="en-US" sz="1800" dirty="0"/>
          </a:p>
        </p:txBody>
      </p:sp>
      <p:sp>
        <p:nvSpPr>
          <p:cNvPr id="36" name="!!stT4"/>
          <p:cNvSpPr txBox="1"/>
          <p:nvPr/>
        </p:nvSpPr>
        <p:spPr>
          <a:xfrm>
            <a:off x="9875520" y="2743200"/>
            <a:ext cx="1691640" cy="457200"/>
          </a:xfrm>
          <a:prstGeom prst="rect">
            <a:avLst/>
          </a:prstGeom>
          <a:noFill/>
          <a:ln/>
        </p:spPr>
        <p:txBody>
          <a:bodyPr wrap="square" lIns="0" tIns="0" rIns="0" bIns="0" rtlCol="0" anchor="t"/>
          <a:lstStyle/>
          <a:p>
            <a:pPr algn="l" indent="0" marL="0">
              <a:buNone/>
            </a:pPr>
            <a:r>
              <a:rPr lang="en-US" sz="1200" dirty="0">
                <a:solidFill>
                  <a:srgbClr val="D0D2D6"/>
                </a:solidFill>
                <a:latin typeface="Segoe UI" pitchFamily="34" charset="0"/>
                <a:ea typeface="Segoe UI" pitchFamily="34" charset="-122"/>
                <a:cs typeface="Segoe UI" pitchFamily="34" charset="-120"/>
              </a:rPr>
              <a:t>spacer + WF</a:t>
            </a:r>
            <a:endParaRPr lang="en-US" sz="1200" dirty="0"/>
          </a:p>
        </p:txBody>
      </p:sp>
      <p:sp>
        <p:nvSpPr>
          <p:cNvPr id="37" name="!!stV4"/>
          <p:cNvSpPr txBox="1"/>
          <p:nvPr/>
        </p:nvSpPr>
        <p:spPr>
          <a:xfrm>
            <a:off x="9875520" y="3291840"/>
            <a:ext cx="1691640" cy="365760"/>
          </a:xfrm>
          <a:prstGeom prst="rect">
            <a:avLst/>
          </a:prstGeom>
          <a:noFill/>
          <a:ln/>
        </p:spPr>
        <p:txBody>
          <a:bodyPr wrap="square" lIns="0" tIns="0" rIns="0" bIns="0" rtlCol="0" anchor="t"/>
          <a:lstStyle/>
          <a:p>
            <a:pPr algn="l" indent="0" marL="0">
              <a:buNone/>
            </a:pPr>
            <a:r>
              <a:rPr lang="en-US" sz="1400" dirty="0">
                <a:solidFill>
                  <a:srgbClr val="D0D2D6"/>
                </a:solidFill>
                <a:latin typeface="Segoe UI Semibold" pitchFamily="34" charset="0"/>
                <a:ea typeface="Segoe UI Semibold" pitchFamily="34" charset="-122"/>
                <a:cs typeface="Segoe UI Semibold" pitchFamily="34" charset="-120"/>
              </a:rPr>
              <a:t>16.4 % cooler</a:t>
            </a:r>
            <a:endParaRPr lang="en-US" sz="1400" dirty="0"/>
          </a:p>
        </p:txBody>
      </p:sp>
      <p:sp>
        <p:nvSpPr>
          <p:cNvPr id="38" name="!!stMsg"/>
          <p:cNvSpPr txBox="1"/>
          <p:nvPr/>
        </p:nvSpPr>
        <p:spPr>
          <a:xfrm>
            <a:off x="548640" y="4206240"/>
            <a:ext cx="11091672" cy="548640"/>
          </a:xfrm>
          <a:prstGeom prst="rect">
            <a:avLst/>
          </a:prstGeom>
          <a:noFill/>
          <a:ln/>
        </p:spPr>
        <p:txBody>
          <a:bodyPr wrap="square" lIns="0" tIns="0" rIns="0" bIns="0" rtlCol="0" anchor="ctr"/>
          <a:lstStyle/>
          <a:p>
            <a:pPr algn="ctr" indent="0" marL="0">
              <a:buNone/>
            </a:pPr>
            <a:r>
              <a:rPr lang="en-US" sz="2000" dirty="0">
                <a:solidFill>
                  <a:srgbClr val="171A20"/>
                </a:solidFill>
                <a:latin typeface="Segoe UI" pitchFamily="34" charset="0"/>
                <a:ea typeface="Segoe UI" pitchFamily="34" charset="-122"/>
                <a:cs typeface="Segoe UI" pitchFamily="34" charset="-120"/>
              </a:rPr>
              <a:t>Our Atlas GAAFET heats like the base paper, within 5 %.</a:t>
            </a:r>
            <a:endParaRPr lang="en-US" sz="2000" dirty="0"/>
          </a:p>
        </p:txBody>
      </p:sp>
      <p:sp>
        <p:nvSpPr>
          <p:cNvPr id="3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Control fixed by GAA; heat lowered by design.</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151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Conclusion – The whole story</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From a leaking MOSFET to a cooler GAAFET, in five steps</a:t>
            </a:r>
            <a:endParaRPr lang="en-US" sz="1600" dirty="0"/>
          </a:p>
        </p:txBody>
      </p:sp>
      <p:sp>
        <p:nvSpPr>
          <p:cNvPr id="4" name="!!sdot0"/>
          <p:cNvSpPr/>
          <p:nvPr/>
        </p:nvSpPr>
        <p:spPr>
          <a:xfrm>
            <a:off x="10977372" y="525780"/>
            <a:ext cx="82296" cy="82296"/>
          </a:xfrm>
          <a:prstGeom prst="ellipse">
            <a:avLst/>
          </a:prstGeom>
          <a:solidFill>
            <a:srgbClr val="171A20"/>
          </a:solidFill>
          <a:ln/>
        </p:spPr>
      </p:sp>
      <p:sp>
        <p:nvSpPr>
          <p:cNvPr id="5" name="!!sdot1"/>
          <p:cNvSpPr/>
          <p:nvPr/>
        </p:nvSpPr>
        <p:spPr>
          <a:xfrm>
            <a:off x="11132820" y="525780"/>
            <a:ext cx="82296" cy="82296"/>
          </a:xfrm>
          <a:prstGeom prst="ellipse">
            <a:avLst/>
          </a:prstGeom>
          <a:solidFill>
            <a:srgbClr val="171A20"/>
          </a:solidFill>
          <a:ln/>
        </p:spPr>
      </p:sp>
      <p:sp>
        <p:nvSpPr>
          <p:cNvPr id="6" name="!!sdot2"/>
          <p:cNvSpPr/>
          <p:nvPr/>
        </p:nvSpPr>
        <p:spPr>
          <a:xfrm>
            <a:off x="11288268" y="525780"/>
            <a:ext cx="82296" cy="82296"/>
          </a:xfrm>
          <a:prstGeom prst="ellipse">
            <a:avLst/>
          </a:prstGeom>
          <a:solidFill>
            <a:srgbClr val="171A20"/>
          </a:solidFill>
          <a:ln/>
        </p:spPr>
      </p:sp>
      <p:sp>
        <p:nvSpPr>
          <p:cNvPr id="7" name="!!sdot3"/>
          <p:cNvSpPr/>
          <p:nvPr/>
        </p:nvSpPr>
        <p:spPr>
          <a:xfrm>
            <a:off x="11443716" y="525780"/>
            <a:ext cx="82296" cy="82296"/>
          </a:xfrm>
          <a:prstGeom prst="ellipse">
            <a:avLst/>
          </a:prstGeom>
          <a:solidFill>
            <a:srgbClr val="171A20"/>
          </a:solidFill>
          <a:ln/>
        </p:spPr>
      </p:sp>
      <p:sp>
        <p:nvSpPr>
          <p:cNvPr id="8" name="!!sdot4"/>
          <p:cNvSpPr/>
          <p:nvPr/>
        </p:nvSpPr>
        <p:spPr>
          <a:xfrm>
            <a:off x="11599164" y="525780"/>
            <a:ext cx="82296" cy="82296"/>
          </a:xfrm>
          <a:prstGeom prst="ellipse">
            <a:avLst/>
          </a:prstGeom>
          <a:solidFill>
            <a:srgbClr val="171A20"/>
          </a:solidFill>
          <a:ln/>
        </p:spPr>
      </p:sp>
      <p:sp>
        <p:nvSpPr>
          <p:cNvPr id="9" name="!!stB0"/>
          <p:cNvSpPr/>
          <p:nvPr/>
        </p:nvSpPr>
        <p:spPr>
          <a:xfrm>
            <a:off x="548640" y="1737360"/>
            <a:ext cx="1965960" cy="2103120"/>
          </a:xfrm>
          <a:prstGeom prst="roundRect">
            <a:avLst>
              <a:gd name="adj" fmla="val 4651"/>
            </a:avLst>
          </a:prstGeom>
          <a:solidFill>
            <a:srgbClr val="F4F5F7"/>
          </a:solidFill>
          <a:ln/>
        </p:spPr>
      </p:sp>
      <p:sp>
        <p:nvSpPr>
          <p:cNvPr id="10" name="!!stN0"/>
          <p:cNvSpPr txBox="1"/>
          <p:nvPr/>
        </p:nvSpPr>
        <p:spPr>
          <a:xfrm>
            <a:off x="731520" y="1874520"/>
            <a:ext cx="457200" cy="365760"/>
          </a:xfrm>
          <a:prstGeom prst="rect">
            <a:avLst/>
          </a:prstGeom>
          <a:noFill/>
          <a:ln/>
        </p:spPr>
        <p:txBody>
          <a:bodyPr wrap="square" lIns="0" tIns="0" rIns="0" bIns="0" rtlCol="0" anchor="t"/>
          <a:lstStyle/>
          <a:p>
            <a:pPr algn="l" indent="0" marL="0">
              <a:buNone/>
            </a:pPr>
            <a:r>
              <a:rPr lang="en-US" sz="1600" dirty="0">
                <a:solidFill>
                  <a:srgbClr val="D64545"/>
                </a:solidFill>
                <a:latin typeface="Segoe UI Semibold" pitchFamily="34" charset="0"/>
                <a:ea typeface="Segoe UI Semibold" pitchFamily="34" charset="-122"/>
                <a:cs typeface="Segoe UI Semibold" pitchFamily="34" charset="-120"/>
              </a:rPr>
              <a:t>1</a:t>
            </a:r>
            <a:endParaRPr lang="en-US" sz="1600" dirty="0"/>
          </a:p>
        </p:txBody>
      </p:sp>
      <p:sp>
        <p:nvSpPr>
          <p:cNvPr id="11" name="!!stH0"/>
          <p:cNvSpPr txBox="1"/>
          <p:nvPr/>
        </p:nvSpPr>
        <p:spPr>
          <a:xfrm>
            <a:off x="731520" y="2286000"/>
            <a:ext cx="1691640" cy="411480"/>
          </a:xfrm>
          <a:prstGeom prst="rect">
            <a:avLst/>
          </a:prstGeom>
          <a:noFill/>
          <a:ln/>
        </p:spPr>
        <p:txBody>
          <a:bodyPr wrap="square" lIns="0" tIns="0" rIns="0" bIns="0" rtlCol="0" anchor="t"/>
          <a:lstStyle/>
          <a:p>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MOSFET</a:t>
            </a:r>
            <a:endParaRPr lang="en-US" sz="1800" dirty="0"/>
          </a:p>
        </p:txBody>
      </p:sp>
      <p:sp>
        <p:nvSpPr>
          <p:cNvPr id="12" name="!!stT0"/>
          <p:cNvSpPr txBox="1"/>
          <p:nvPr/>
        </p:nvSpPr>
        <p:spPr>
          <a:xfrm>
            <a:off x="731520" y="2743200"/>
            <a:ext cx="1691640" cy="45720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short L</a:t>
            </a:r>
            <a:pPr algn="l" indent="0" marL="0">
              <a:buNone/>
            </a:pPr>
            <a:r>
              <a:rPr lang="en-US" sz="1200" baseline="-40000" dirty="0">
                <a:solidFill>
                  <a:srgbClr val="5C5E62"/>
                </a:solidFill>
                <a:latin typeface="Segoe UI" pitchFamily="34" charset="0"/>
                <a:ea typeface="Segoe UI" pitchFamily="34" charset="-122"/>
                <a:cs typeface="Segoe UI" pitchFamily="34" charset="-120"/>
              </a:rPr>
              <a:t>g</a:t>
            </a:r>
            <a:pPr algn="l" indent="0" marL="0">
              <a:buNone/>
            </a:pPr>
            <a:r>
              <a:rPr lang="en-US" sz="1200" dirty="0">
                <a:solidFill>
                  <a:srgbClr val="5C5E62"/>
                </a:solidFill>
                <a:latin typeface="Segoe UI" pitchFamily="34" charset="0"/>
                <a:ea typeface="Segoe UI" pitchFamily="34" charset="-122"/>
                <a:cs typeface="Segoe UI" pitchFamily="34" charset="-120"/>
              </a:rPr>
              <a:t> leaks</a:t>
            </a:r>
            <a:endParaRPr lang="en-US" sz="1200" dirty="0"/>
          </a:p>
        </p:txBody>
      </p:sp>
      <p:sp>
        <p:nvSpPr>
          <p:cNvPr id="13" name="!!stV0"/>
          <p:cNvSpPr txBox="1"/>
          <p:nvPr/>
        </p:nvSpPr>
        <p:spPr>
          <a:xfrm>
            <a:off x="731520" y="3291840"/>
            <a:ext cx="1691640" cy="365760"/>
          </a:xfrm>
          <a:prstGeom prst="rect">
            <a:avLst/>
          </a:prstGeom>
          <a:noFill/>
          <a:ln/>
        </p:spPr>
        <p:txBody>
          <a:bodyPr wrap="square" lIns="0" tIns="0" rIns="0" bIns="0" rtlCol="0" anchor="t"/>
          <a:lstStyle/>
          <a:p>
            <a:pPr algn="l" indent="0" marL="0">
              <a:buNone/>
            </a:pPr>
            <a:r>
              <a:rPr lang="en-US" sz="1400" dirty="0">
                <a:solidFill>
                  <a:srgbClr val="D64545"/>
                </a:solidFill>
                <a:latin typeface="Segoe UI Semibold" pitchFamily="34" charset="0"/>
                <a:ea typeface="Segoe UI Semibold" pitchFamily="34" charset="-122"/>
                <a:cs typeface="Segoe UI Semibold" pitchFamily="34" charset="-120"/>
              </a:rPr>
              <a:t>DIBL 202 mV/V</a:t>
            </a:r>
            <a:endParaRPr lang="en-US" sz="1400" dirty="0"/>
          </a:p>
        </p:txBody>
      </p:sp>
      <p:sp>
        <p:nvSpPr>
          <p:cNvPr id="14" name="!!stA1"/>
          <p:cNvSpPr/>
          <p:nvPr/>
        </p:nvSpPr>
        <p:spPr>
          <a:xfrm>
            <a:off x="2514600" y="2743200"/>
            <a:ext cx="274320" cy="91"/>
          </a:xfrm>
          <a:prstGeom prst="line">
            <a:avLst/>
          </a:prstGeom>
          <a:noFill/>
          <a:ln w="25400">
            <a:solidFill>
              <a:srgbClr val="171A20"/>
            </a:solidFill>
            <a:prstDash val="solid"/>
            <a:tailEnd type="triangle"/>
          </a:ln>
        </p:spPr>
      </p:sp>
      <p:sp>
        <p:nvSpPr>
          <p:cNvPr id="15" name="!!stB1"/>
          <p:cNvSpPr/>
          <p:nvPr/>
        </p:nvSpPr>
        <p:spPr>
          <a:xfrm>
            <a:off x="2834640" y="1737360"/>
            <a:ext cx="1965960" cy="2103120"/>
          </a:xfrm>
          <a:prstGeom prst="roundRect">
            <a:avLst>
              <a:gd name="adj" fmla="val 4651"/>
            </a:avLst>
          </a:prstGeom>
          <a:solidFill>
            <a:srgbClr val="F4F5F7"/>
          </a:solidFill>
          <a:ln/>
        </p:spPr>
      </p:sp>
      <p:sp>
        <p:nvSpPr>
          <p:cNvPr id="16" name="!!stN1"/>
          <p:cNvSpPr txBox="1"/>
          <p:nvPr/>
        </p:nvSpPr>
        <p:spPr>
          <a:xfrm>
            <a:off x="3017520" y="1874520"/>
            <a:ext cx="457200" cy="365760"/>
          </a:xfrm>
          <a:prstGeom prst="rect">
            <a:avLst/>
          </a:prstGeom>
          <a:noFill/>
          <a:ln/>
        </p:spPr>
        <p:txBody>
          <a:bodyPr wrap="square" lIns="0" tIns="0" rIns="0" bIns="0" rtlCol="0" anchor="t"/>
          <a:lstStyle/>
          <a:p>
            <a:pPr algn="l" indent="0" marL="0">
              <a:buNone/>
            </a:pPr>
            <a:r>
              <a:rPr lang="en-US" sz="1600" dirty="0">
                <a:solidFill>
                  <a:srgbClr val="3E6AE1"/>
                </a:solidFill>
                <a:latin typeface="Segoe UI Semibold" pitchFamily="34" charset="0"/>
                <a:ea typeface="Segoe UI Semibold" pitchFamily="34" charset="-122"/>
                <a:cs typeface="Segoe UI Semibold" pitchFamily="34" charset="-120"/>
              </a:rPr>
              <a:t>2</a:t>
            </a:r>
            <a:endParaRPr lang="en-US" sz="1600" dirty="0"/>
          </a:p>
        </p:txBody>
      </p:sp>
      <p:sp>
        <p:nvSpPr>
          <p:cNvPr id="17" name="!!stH1"/>
          <p:cNvSpPr txBox="1"/>
          <p:nvPr/>
        </p:nvSpPr>
        <p:spPr>
          <a:xfrm>
            <a:off x="3017520" y="2286000"/>
            <a:ext cx="1691640" cy="411480"/>
          </a:xfrm>
          <a:prstGeom prst="rect">
            <a:avLst/>
          </a:prstGeom>
          <a:noFill/>
          <a:ln/>
        </p:spPr>
        <p:txBody>
          <a:bodyPr wrap="square" lIns="0" tIns="0" rIns="0" bIns="0" rtlCol="0" anchor="t"/>
          <a:lstStyle/>
          <a:p>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GAAFET</a:t>
            </a:r>
            <a:endParaRPr lang="en-US" sz="1800" dirty="0"/>
          </a:p>
        </p:txBody>
      </p:sp>
      <p:sp>
        <p:nvSpPr>
          <p:cNvPr id="18" name="!!stT1"/>
          <p:cNvSpPr txBox="1"/>
          <p:nvPr/>
        </p:nvSpPr>
        <p:spPr>
          <a:xfrm>
            <a:off x="3017520" y="2743200"/>
            <a:ext cx="1691640" cy="45720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gate on all sides</a:t>
            </a:r>
            <a:endParaRPr lang="en-US" sz="1200" dirty="0"/>
          </a:p>
        </p:txBody>
      </p:sp>
      <p:sp>
        <p:nvSpPr>
          <p:cNvPr id="19" name="!!stV1"/>
          <p:cNvSpPr txBox="1"/>
          <p:nvPr/>
        </p:nvSpPr>
        <p:spPr>
          <a:xfrm>
            <a:off x="3017520" y="3291840"/>
            <a:ext cx="1691640" cy="365760"/>
          </a:xfrm>
          <a:prstGeom prst="rect">
            <a:avLst/>
          </a:prstGeom>
          <a:noFill/>
          <a:ln/>
        </p:spPr>
        <p:txBody>
          <a:bodyPr wrap="square" lIns="0" tIns="0" rIns="0" bIns="0" rtlCol="0" anchor="t"/>
          <a:lstStyle/>
          <a:p>
            <a:pPr algn="l" indent="0" marL="0">
              <a:buNone/>
            </a:pPr>
            <a:r>
              <a:rPr lang="en-US" sz="1400" dirty="0">
                <a:solidFill>
                  <a:srgbClr val="3E6AE1"/>
                </a:solidFill>
                <a:latin typeface="Segoe UI Semibold" pitchFamily="34" charset="0"/>
                <a:ea typeface="Segoe UI Semibold" pitchFamily="34" charset="-122"/>
                <a:cs typeface="Segoe UI Semibold" pitchFamily="34" charset="-120"/>
              </a:rPr>
              <a:t>DIBL 17 mV/V</a:t>
            </a:r>
            <a:endParaRPr lang="en-US" sz="1400" dirty="0"/>
          </a:p>
        </p:txBody>
      </p:sp>
      <p:sp>
        <p:nvSpPr>
          <p:cNvPr id="20" name="!!stA2"/>
          <p:cNvSpPr/>
          <p:nvPr/>
        </p:nvSpPr>
        <p:spPr>
          <a:xfrm>
            <a:off x="4800600" y="2743200"/>
            <a:ext cx="274320" cy="91"/>
          </a:xfrm>
          <a:prstGeom prst="line">
            <a:avLst/>
          </a:prstGeom>
          <a:noFill/>
          <a:ln w="25400">
            <a:solidFill>
              <a:srgbClr val="171A20"/>
            </a:solidFill>
            <a:prstDash val="solid"/>
            <a:tailEnd type="triangle"/>
          </a:ln>
        </p:spPr>
      </p:sp>
      <p:sp>
        <p:nvSpPr>
          <p:cNvPr id="21" name="!!stB2"/>
          <p:cNvSpPr/>
          <p:nvPr/>
        </p:nvSpPr>
        <p:spPr>
          <a:xfrm>
            <a:off x="5120640" y="1737360"/>
            <a:ext cx="1965960" cy="2103120"/>
          </a:xfrm>
          <a:prstGeom prst="roundRect">
            <a:avLst>
              <a:gd name="adj" fmla="val 4651"/>
            </a:avLst>
          </a:prstGeom>
          <a:solidFill>
            <a:srgbClr val="F4F5F7"/>
          </a:solidFill>
          <a:ln/>
        </p:spPr>
      </p:sp>
      <p:sp>
        <p:nvSpPr>
          <p:cNvPr id="22" name="!!stN2"/>
          <p:cNvSpPr txBox="1"/>
          <p:nvPr/>
        </p:nvSpPr>
        <p:spPr>
          <a:xfrm>
            <a:off x="5303520" y="1874520"/>
            <a:ext cx="457200" cy="365760"/>
          </a:xfrm>
          <a:prstGeom prst="rect">
            <a:avLst/>
          </a:prstGeom>
          <a:noFill/>
          <a:ln/>
        </p:spPr>
        <p:txBody>
          <a:bodyPr wrap="square" lIns="0" tIns="0" rIns="0" bIns="0" rtlCol="0" anchor="t"/>
          <a:lstStyle/>
          <a:p>
            <a:pPr algn="l" indent="0" marL="0">
              <a:buNone/>
            </a:pPr>
            <a:r>
              <a:rPr lang="en-US" sz="1600" dirty="0">
                <a:solidFill>
                  <a:srgbClr val="E07B00"/>
                </a:solidFill>
                <a:latin typeface="Segoe UI Semibold" pitchFamily="34" charset="0"/>
                <a:ea typeface="Segoe UI Semibold" pitchFamily="34" charset="-122"/>
                <a:cs typeface="Segoe UI Semibold" pitchFamily="34" charset="-120"/>
              </a:rPr>
              <a:t>3</a:t>
            </a:r>
            <a:endParaRPr lang="en-US" sz="1600" dirty="0"/>
          </a:p>
        </p:txBody>
      </p:sp>
      <p:sp>
        <p:nvSpPr>
          <p:cNvPr id="23" name="!!stH2"/>
          <p:cNvSpPr txBox="1"/>
          <p:nvPr/>
        </p:nvSpPr>
        <p:spPr>
          <a:xfrm>
            <a:off x="5303520" y="2286000"/>
            <a:ext cx="1691640" cy="411480"/>
          </a:xfrm>
          <a:prstGeom prst="rect">
            <a:avLst/>
          </a:prstGeom>
          <a:noFill/>
          <a:ln/>
        </p:spPr>
        <p:txBody>
          <a:bodyPr wrap="square" lIns="0" tIns="0" rIns="0" bIns="0" rtlCol="0" anchor="t"/>
          <a:lstStyle/>
          <a:p>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Heat</a:t>
            </a:r>
            <a:endParaRPr lang="en-US" sz="1800" dirty="0"/>
          </a:p>
        </p:txBody>
      </p:sp>
      <p:sp>
        <p:nvSpPr>
          <p:cNvPr id="24" name="!!stT2"/>
          <p:cNvSpPr txBox="1"/>
          <p:nvPr/>
        </p:nvSpPr>
        <p:spPr>
          <a:xfrm>
            <a:off x="5303520" y="2743200"/>
            <a:ext cx="1691640" cy="45720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oxide traps it</a:t>
            </a:r>
            <a:endParaRPr lang="en-US" sz="1200" dirty="0"/>
          </a:p>
        </p:txBody>
      </p:sp>
      <p:sp>
        <p:nvSpPr>
          <p:cNvPr id="25" name="!!stV2"/>
          <p:cNvSpPr txBox="1"/>
          <p:nvPr/>
        </p:nvSpPr>
        <p:spPr>
          <a:xfrm>
            <a:off x="5303520" y="3291840"/>
            <a:ext cx="1691640" cy="365760"/>
          </a:xfrm>
          <a:prstGeom prst="rect">
            <a:avLst/>
          </a:prstGeom>
          <a:noFill/>
          <a:ln/>
        </p:spPr>
        <p:txBody>
          <a:bodyPr wrap="square" lIns="0" tIns="0" rIns="0" bIns="0" rtlCol="0" anchor="t"/>
          <a:lstStyle/>
          <a:p>
            <a:pPr algn="l" indent="0" marL="0">
              <a:buNone/>
            </a:pPr>
            <a:r>
              <a:rPr lang="en-US" sz="1400" dirty="0">
                <a:solidFill>
                  <a:srgbClr val="E07B00"/>
                </a:solidFill>
                <a:latin typeface="Segoe UI Semibold" pitchFamily="34" charset="0"/>
                <a:ea typeface="Segoe UI Semibold" pitchFamily="34" charset="-122"/>
                <a:cs typeface="Segoe UI Semibold" pitchFamily="34" charset="-120"/>
              </a:rPr>
              <a:t>ΔT 64.8 K</a:t>
            </a:r>
            <a:endParaRPr lang="en-US" sz="1400" dirty="0"/>
          </a:p>
        </p:txBody>
      </p:sp>
      <p:sp>
        <p:nvSpPr>
          <p:cNvPr id="26" name="!!stA3"/>
          <p:cNvSpPr/>
          <p:nvPr/>
        </p:nvSpPr>
        <p:spPr>
          <a:xfrm>
            <a:off x="7086600" y="2743200"/>
            <a:ext cx="274320" cy="91"/>
          </a:xfrm>
          <a:prstGeom prst="line">
            <a:avLst/>
          </a:prstGeom>
          <a:noFill/>
          <a:ln w="25400">
            <a:solidFill>
              <a:srgbClr val="171A20"/>
            </a:solidFill>
            <a:prstDash val="solid"/>
            <a:tailEnd type="triangle"/>
          </a:ln>
        </p:spPr>
      </p:sp>
      <p:sp>
        <p:nvSpPr>
          <p:cNvPr id="27" name="!!stB3"/>
          <p:cNvSpPr/>
          <p:nvPr/>
        </p:nvSpPr>
        <p:spPr>
          <a:xfrm>
            <a:off x="7406640" y="1737360"/>
            <a:ext cx="1965960" cy="2103120"/>
          </a:xfrm>
          <a:prstGeom prst="roundRect">
            <a:avLst>
              <a:gd name="adj" fmla="val 4651"/>
            </a:avLst>
          </a:prstGeom>
          <a:solidFill>
            <a:srgbClr val="F4F5F7"/>
          </a:solidFill>
          <a:ln/>
        </p:spPr>
      </p:sp>
      <p:sp>
        <p:nvSpPr>
          <p:cNvPr id="28" name="!!stN3"/>
          <p:cNvSpPr txBox="1"/>
          <p:nvPr/>
        </p:nvSpPr>
        <p:spPr>
          <a:xfrm>
            <a:off x="7589520" y="1874520"/>
            <a:ext cx="457200" cy="365760"/>
          </a:xfrm>
          <a:prstGeom prst="rect">
            <a:avLst/>
          </a:prstGeom>
          <a:noFill/>
          <a:ln/>
        </p:spPr>
        <p:txBody>
          <a:bodyPr wrap="square" lIns="0" tIns="0" rIns="0" bIns="0" rtlCol="0" anchor="t"/>
          <a:lstStyle/>
          <a:p>
            <a:pPr algn="l" indent="0" marL="0">
              <a:buNone/>
            </a:pPr>
            <a:r>
              <a:rPr lang="en-US" sz="1600" dirty="0">
                <a:solidFill>
                  <a:srgbClr val="171A20"/>
                </a:solidFill>
                <a:latin typeface="Segoe UI Semibold" pitchFamily="34" charset="0"/>
                <a:ea typeface="Segoe UI Semibold" pitchFamily="34" charset="-122"/>
                <a:cs typeface="Segoe UI Semibold" pitchFamily="34" charset="-120"/>
              </a:rPr>
              <a:t>4</a:t>
            </a:r>
            <a:endParaRPr lang="en-US" sz="1600" dirty="0"/>
          </a:p>
        </p:txBody>
      </p:sp>
      <p:sp>
        <p:nvSpPr>
          <p:cNvPr id="29" name="!!stH3"/>
          <p:cNvSpPr txBox="1"/>
          <p:nvPr/>
        </p:nvSpPr>
        <p:spPr>
          <a:xfrm>
            <a:off x="7589520" y="2286000"/>
            <a:ext cx="1691640" cy="411480"/>
          </a:xfrm>
          <a:prstGeom prst="rect">
            <a:avLst/>
          </a:prstGeom>
          <a:noFill/>
          <a:ln/>
        </p:spPr>
        <p:txBody>
          <a:bodyPr wrap="square" lIns="0" tIns="0" rIns="0" bIns="0" rtlCol="0" anchor="t"/>
          <a:lstStyle/>
          <a:p>
            <a:pPr algn="l" indent="0" marL="0">
              <a:buNone/>
            </a:pPr>
            <a:r>
              <a:rPr lang="en-US" sz="1800" dirty="0">
                <a:solidFill>
                  <a:srgbClr val="171A20"/>
                </a:solidFill>
                <a:latin typeface="Segoe UI Semibold" pitchFamily="34" charset="0"/>
                <a:ea typeface="Segoe UI Semibold" pitchFamily="34" charset="-122"/>
                <a:cs typeface="Segoe UI Semibold" pitchFamily="34" charset="-120"/>
              </a:rPr>
              <a:t>Reproduce</a:t>
            </a:r>
            <a:endParaRPr lang="en-US" sz="1800" dirty="0"/>
          </a:p>
        </p:txBody>
      </p:sp>
      <p:sp>
        <p:nvSpPr>
          <p:cNvPr id="30" name="!!stT3"/>
          <p:cNvSpPr txBox="1"/>
          <p:nvPr/>
        </p:nvSpPr>
        <p:spPr>
          <a:xfrm>
            <a:off x="7589520" y="2743200"/>
            <a:ext cx="1691640" cy="457200"/>
          </a:xfrm>
          <a:prstGeom prst="rect">
            <a:avLst/>
          </a:prstGeom>
          <a:noFill/>
          <a:ln/>
        </p:spPr>
        <p:txBody>
          <a:bodyPr wrap="square" lIns="0" tIns="0" rIns="0" bIns="0" rtlCol="0" anchor="t"/>
          <a:lstStyle/>
          <a:p>
            <a:pPr algn="l" indent="0" marL="0">
              <a:buNone/>
            </a:pPr>
            <a:r>
              <a:rPr lang="en-US" sz="1200" dirty="0">
                <a:solidFill>
                  <a:srgbClr val="5C5E62"/>
                </a:solidFill>
                <a:latin typeface="Segoe UI" pitchFamily="34" charset="0"/>
                <a:ea typeface="Segoe UI" pitchFamily="34" charset="-122"/>
                <a:cs typeface="Segoe UI" pitchFamily="34" charset="-120"/>
              </a:rPr>
              <a:t>68.0 vs 64.8 K</a:t>
            </a:r>
            <a:endParaRPr lang="en-US" sz="1200" dirty="0"/>
          </a:p>
        </p:txBody>
      </p:sp>
      <p:sp>
        <p:nvSpPr>
          <p:cNvPr id="31" name="!!stV3"/>
          <p:cNvSpPr txBox="1"/>
          <p:nvPr/>
        </p:nvSpPr>
        <p:spPr>
          <a:xfrm>
            <a:off x="7589520" y="3291840"/>
            <a:ext cx="1691640" cy="365760"/>
          </a:xfrm>
          <a:prstGeom prst="rect">
            <a:avLst/>
          </a:prstGeom>
          <a:noFill/>
          <a:ln/>
        </p:spPr>
        <p:txBody>
          <a:bodyPr wrap="square" lIns="0" tIns="0" rIns="0" bIns="0" rtlCol="0" anchor="t"/>
          <a:lstStyle/>
          <a:p>
            <a:pPr algn="l" indent="0" marL="0">
              <a:buNone/>
            </a:pPr>
            <a:r>
              <a:rPr lang="en-US" sz="1400" dirty="0">
                <a:solidFill>
                  <a:srgbClr val="171A20"/>
                </a:solidFill>
                <a:latin typeface="Segoe UI Semibold" pitchFamily="34" charset="0"/>
                <a:ea typeface="Segoe UI Semibold" pitchFamily="34" charset="-122"/>
                <a:cs typeface="Segoe UI Semibold" pitchFamily="34" charset="-120"/>
              </a:rPr>
              <a:t>+5 %</a:t>
            </a:r>
            <a:endParaRPr lang="en-US" sz="1400" dirty="0"/>
          </a:p>
        </p:txBody>
      </p:sp>
      <p:sp>
        <p:nvSpPr>
          <p:cNvPr id="32" name="!!stA4"/>
          <p:cNvSpPr/>
          <p:nvPr/>
        </p:nvSpPr>
        <p:spPr>
          <a:xfrm>
            <a:off x="9372600" y="2743200"/>
            <a:ext cx="274320" cy="91"/>
          </a:xfrm>
          <a:prstGeom prst="line">
            <a:avLst/>
          </a:prstGeom>
          <a:noFill/>
          <a:ln w="25400">
            <a:solidFill>
              <a:srgbClr val="171A20"/>
            </a:solidFill>
            <a:prstDash val="solid"/>
            <a:tailEnd type="triangle"/>
          </a:ln>
        </p:spPr>
      </p:sp>
      <p:sp>
        <p:nvSpPr>
          <p:cNvPr id="33" name="!!stB4"/>
          <p:cNvSpPr/>
          <p:nvPr/>
        </p:nvSpPr>
        <p:spPr>
          <a:xfrm>
            <a:off x="9692640" y="1737360"/>
            <a:ext cx="1965960" cy="2103120"/>
          </a:xfrm>
          <a:prstGeom prst="roundRect">
            <a:avLst>
              <a:gd name="adj" fmla="val 4651"/>
            </a:avLst>
          </a:prstGeom>
          <a:solidFill>
            <a:srgbClr val="2E9E4F"/>
          </a:solidFill>
          <a:ln/>
        </p:spPr>
      </p:sp>
      <p:sp>
        <p:nvSpPr>
          <p:cNvPr id="34" name="!!stN4"/>
          <p:cNvSpPr txBox="1"/>
          <p:nvPr/>
        </p:nvSpPr>
        <p:spPr>
          <a:xfrm>
            <a:off x="9875520" y="1874520"/>
            <a:ext cx="457200" cy="365760"/>
          </a:xfrm>
          <a:prstGeom prst="rect">
            <a:avLst/>
          </a:prstGeom>
          <a:noFill/>
          <a:ln/>
        </p:spPr>
        <p:txBody>
          <a:bodyPr wrap="square" lIns="0" tIns="0" rIns="0" bIns="0" rtlCol="0" anchor="t"/>
          <a:lstStyle/>
          <a:p>
            <a:pPr algn="l" indent="0" marL="0">
              <a:buNone/>
            </a:pPr>
            <a:r>
              <a:rPr lang="en-US" sz="1600" dirty="0">
                <a:solidFill>
                  <a:srgbClr val="FFFFFF"/>
                </a:solidFill>
                <a:latin typeface="Segoe UI Semibold" pitchFamily="34" charset="0"/>
                <a:ea typeface="Segoe UI Semibold" pitchFamily="34" charset="-122"/>
                <a:cs typeface="Segoe UI Semibold" pitchFamily="34" charset="-120"/>
              </a:rPr>
              <a:t>5</a:t>
            </a:r>
            <a:endParaRPr lang="en-US" sz="1600" dirty="0"/>
          </a:p>
        </p:txBody>
      </p:sp>
      <p:sp>
        <p:nvSpPr>
          <p:cNvPr id="35" name="!!stH4"/>
          <p:cNvSpPr txBox="1"/>
          <p:nvPr/>
        </p:nvSpPr>
        <p:spPr>
          <a:xfrm>
            <a:off x="9875520" y="2286000"/>
            <a:ext cx="1691640" cy="411480"/>
          </a:xfrm>
          <a:prstGeom prst="rect">
            <a:avLst/>
          </a:prstGeom>
          <a:noFill/>
          <a:ln/>
        </p:spPr>
        <p:txBody>
          <a:bodyPr wrap="square" lIns="0" tIns="0" rIns="0" bIns="0" rtlCol="0" anchor="t"/>
          <a:lstStyle/>
          <a:p>
            <a:pPr algn="l" indent="0" marL="0">
              <a:buNone/>
            </a:pPr>
            <a:r>
              <a:rPr lang="en-US" sz="1800" dirty="0">
                <a:solidFill>
                  <a:srgbClr val="FFFFFF"/>
                </a:solidFill>
                <a:latin typeface="Segoe UI Semibold" pitchFamily="34" charset="0"/>
                <a:ea typeface="Segoe UI Semibold" pitchFamily="34" charset="-122"/>
                <a:cs typeface="Segoe UI Semibold" pitchFamily="34" charset="-120"/>
              </a:rPr>
              <a:t>Optimal</a:t>
            </a:r>
            <a:endParaRPr lang="en-US" sz="1800" dirty="0"/>
          </a:p>
        </p:txBody>
      </p:sp>
      <p:sp>
        <p:nvSpPr>
          <p:cNvPr id="36" name="!!stT4"/>
          <p:cNvSpPr txBox="1"/>
          <p:nvPr/>
        </p:nvSpPr>
        <p:spPr>
          <a:xfrm>
            <a:off x="9875520" y="2743200"/>
            <a:ext cx="1691640" cy="457200"/>
          </a:xfrm>
          <a:prstGeom prst="rect">
            <a:avLst/>
          </a:prstGeom>
          <a:noFill/>
          <a:ln/>
        </p:spPr>
        <p:txBody>
          <a:bodyPr wrap="square" lIns="0" tIns="0" rIns="0" bIns="0" rtlCol="0" anchor="t"/>
          <a:lstStyle/>
          <a:p>
            <a:pPr algn="l" indent="0" marL="0">
              <a:buNone/>
            </a:pPr>
            <a:r>
              <a:rPr lang="en-US" sz="1200" dirty="0">
                <a:solidFill>
                  <a:srgbClr val="F2F2F2"/>
                </a:solidFill>
                <a:latin typeface="Segoe UI" pitchFamily="34" charset="0"/>
                <a:ea typeface="Segoe UI" pitchFamily="34" charset="-122"/>
                <a:cs typeface="Segoe UI" pitchFamily="34" charset="-120"/>
              </a:rPr>
              <a:t>spacer + WF</a:t>
            </a:r>
            <a:endParaRPr lang="en-US" sz="1200" dirty="0"/>
          </a:p>
        </p:txBody>
      </p:sp>
      <p:sp>
        <p:nvSpPr>
          <p:cNvPr id="37" name="!!stV4"/>
          <p:cNvSpPr txBox="1"/>
          <p:nvPr/>
        </p:nvSpPr>
        <p:spPr>
          <a:xfrm>
            <a:off x="9875520" y="3291840"/>
            <a:ext cx="1691640" cy="365760"/>
          </a:xfrm>
          <a:prstGeom prst="rect">
            <a:avLst/>
          </a:prstGeom>
          <a:noFill/>
          <a:ln/>
        </p:spPr>
        <p:txBody>
          <a:bodyPr wrap="square" lIns="0" tIns="0" rIns="0" bIns="0" rtlCol="0" anchor="t"/>
          <a:lstStyle/>
          <a:p>
            <a:pPr algn="l" indent="0" marL="0">
              <a:buNone/>
            </a:pPr>
            <a:r>
              <a:rPr lang="en-US" sz="1400" dirty="0">
                <a:solidFill>
                  <a:srgbClr val="FFFFFF"/>
                </a:solidFill>
                <a:latin typeface="Segoe UI Semibold" pitchFamily="34" charset="0"/>
                <a:ea typeface="Segoe UI Semibold" pitchFamily="34" charset="-122"/>
                <a:cs typeface="Segoe UI Semibold" pitchFamily="34" charset="-120"/>
              </a:rPr>
              <a:t>16.4 % cooler</a:t>
            </a:r>
            <a:endParaRPr lang="en-US" sz="1400" dirty="0"/>
          </a:p>
        </p:txBody>
      </p:sp>
      <p:sp>
        <p:nvSpPr>
          <p:cNvPr id="38" name="!!stMsg"/>
          <p:cNvSpPr txBox="1"/>
          <p:nvPr/>
        </p:nvSpPr>
        <p:spPr>
          <a:xfrm>
            <a:off x="548640" y="4206240"/>
            <a:ext cx="11091672" cy="548640"/>
          </a:xfrm>
          <a:prstGeom prst="rect">
            <a:avLst/>
          </a:prstGeom>
          <a:noFill/>
          <a:ln/>
        </p:spPr>
        <p:txBody>
          <a:bodyPr wrap="square" lIns="0" tIns="0" rIns="0" bIns="0" rtlCol="0" anchor="ctr"/>
          <a:lstStyle/>
          <a:p>
            <a:pPr algn="ctr" indent="0" marL="0">
              <a:buNone/>
            </a:pPr>
            <a:r>
              <a:rPr lang="en-US" sz="2000" dirty="0">
                <a:solidFill>
                  <a:srgbClr val="171A20"/>
                </a:solidFill>
                <a:latin typeface="Segoe UI" pitchFamily="34" charset="0"/>
                <a:ea typeface="Segoe UI" pitchFamily="34" charset="-122"/>
                <a:cs typeface="Segoe UI" pitchFamily="34" charset="-120"/>
              </a:rPr>
              <a:t>A high-κ spacer and a 0.03 eV work-function step make it 16.4 % cooler.</a:t>
            </a:r>
            <a:endParaRPr lang="en-US" sz="2000" dirty="0"/>
          </a:p>
        </p:txBody>
      </p:sp>
      <p:sp>
        <p:nvSpPr>
          <p:cNvPr id="39"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Control fixed by GAA; heat lowered by design.</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152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Conclusion – Next steps</a:t>
            </a:r>
            <a:endParaRPr lang="en-US" sz="3000" dirty="0"/>
          </a:p>
        </p:txBody>
      </p:sp>
      <p:sp>
        <p:nvSpPr>
          <p:cNvPr id="3" name="!!sub"/>
          <p:cNvSpPr txBox="1"/>
          <p:nvPr/>
        </p:nvSpPr>
        <p:spPr>
          <a:xfrm>
            <a:off x="566928" y="914400"/>
            <a:ext cx="11064240" cy="329184"/>
          </a:xfrm>
          <a:prstGeom prst="rect">
            <a:avLst/>
          </a:prstGeom>
          <a:noFill/>
          <a:ln/>
        </p:spPr>
        <p:txBody>
          <a:bodyPr wrap="square" lIns="0" tIns="0" rIns="0" bIns="0" rtlCol="0" anchor="ctr"/>
          <a:lstStyle/>
          <a:p>
            <a:pPr algn="l" indent="0" marL="0">
              <a:buNone/>
            </a:pPr>
            <a:r>
              <a:rPr lang="en-US" sz="1600" dirty="0">
                <a:solidFill>
                  <a:srgbClr val="5C5E62"/>
                </a:solidFill>
                <a:latin typeface="Segoe UI" pitchFamily="34" charset="0"/>
                <a:ea typeface="Segoe UI" pitchFamily="34" charset="-122"/>
                <a:cs typeface="Segoe UI" pitchFamily="34" charset="-120"/>
              </a:rPr>
              <a:t>From one hot device to thermal crosstalk between devices</a:t>
            </a:r>
            <a:endParaRPr lang="en-US" sz="1600" dirty="0"/>
          </a:p>
        </p:txBody>
      </p:sp>
      <p:sp>
        <p:nvSpPr>
          <p:cNvPr id="4" name="Shape 2"/>
          <p:cNvSpPr/>
          <p:nvPr/>
        </p:nvSpPr>
        <p:spPr>
          <a:xfrm>
            <a:off x="548640" y="1737360"/>
            <a:ext cx="2606040" cy="3108960"/>
          </a:xfrm>
          <a:prstGeom prst="roundRect">
            <a:avLst>
              <a:gd name="adj" fmla="val 2807"/>
            </a:avLst>
          </a:prstGeom>
          <a:solidFill>
            <a:srgbClr val="F4F5F7"/>
          </a:solidFill>
          <a:ln/>
        </p:spPr>
      </p:sp>
      <p:sp>
        <p:nvSpPr>
          <p:cNvPr id="5" name="Shape 3"/>
          <p:cNvSpPr/>
          <p:nvPr/>
        </p:nvSpPr>
        <p:spPr>
          <a:xfrm>
            <a:off x="777240" y="2011680"/>
            <a:ext cx="548640" cy="548640"/>
          </a:xfrm>
          <a:prstGeom prst="ellipse">
            <a:avLst/>
          </a:prstGeom>
          <a:solidFill>
            <a:srgbClr val="3E6AE1"/>
          </a:solidFill>
          <a:ln/>
        </p:spPr>
      </p:sp>
      <p:sp>
        <p:nvSpPr>
          <p:cNvPr id="6" name="Text 4"/>
          <p:cNvSpPr txBox="1"/>
          <p:nvPr/>
        </p:nvSpPr>
        <p:spPr>
          <a:xfrm>
            <a:off x="777240" y="201168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1</a:t>
            </a:r>
            <a:endParaRPr lang="en-US" sz="1800" dirty="0"/>
          </a:p>
        </p:txBody>
      </p:sp>
      <p:sp>
        <p:nvSpPr>
          <p:cNvPr id="7" name="Text 5"/>
          <p:cNvSpPr txBox="1"/>
          <p:nvPr/>
        </p:nvSpPr>
        <p:spPr>
          <a:xfrm>
            <a:off x="777240" y="2788920"/>
            <a:ext cx="2194560" cy="365760"/>
          </a:xfrm>
          <a:prstGeom prst="rect">
            <a:avLst/>
          </a:prstGeom>
          <a:noFill/>
          <a:ln/>
        </p:spPr>
        <p:txBody>
          <a:bodyPr wrap="square" lIns="0" tIns="0" rIns="0" bIns="0" rtlCol="0" anchor="t"/>
          <a:lstStyle/>
          <a:p>
            <a:pPr algn="l" indent="0" marL="0">
              <a:buNone/>
            </a:pPr>
            <a:r>
              <a:rPr lang="en-US" sz="1700" dirty="0">
                <a:solidFill>
                  <a:srgbClr val="171A20"/>
                </a:solidFill>
                <a:latin typeface="Segoe UI Semibold" pitchFamily="34" charset="0"/>
                <a:ea typeface="Segoe UI Semibold" pitchFamily="34" charset="-122"/>
                <a:cs typeface="Segoe UI Semibold" pitchFamily="34" charset="-120"/>
              </a:rPr>
              <a:t>Two devices</a:t>
            </a:r>
            <a:endParaRPr lang="en-US" sz="1700" dirty="0"/>
          </a:p>
        </p:txBody>
      </p:sp>
      <p:sp>
        <p:nvSpPr>
          <p:cNvPr id="8" name="Text 6"/>
          <p:cNvSpPr txBox="1"/>
          <p:nvPr/>
        </p:nvSpPr>
        <p:spPr>
          <a:xfrm>
            <a:off x="777240" y="3246120"/>
            <a:ext cx="2194560" cy="137160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Place the calibrated GAAFET next to a second one on a shared substrate.</a:t>
            </a:r>
            <a:endParaRPr lang="en-US" sz="1300" dirty="0"/>
          </a:p>
        </p:txBody>
      </p:sp>
      <p:sp>
        <p:nvSpPr>
          <p:cNvPr id="9" name="Shape 7"/>
          <p:cNvSpPr/>
          <p:nvPr/>
        </p:nvSpPr>
        <p:spPr>
          <a:xfrm>
            <a:off x="3364992" y="1737360"/>
            <a:ext cx="2606040" cy="3108960"/>
          </a:xfrm>
          <a:prstGeom prst="roundRect">
            <a:avLst>
              <a:gd name="adj" fmla="val 2807"/>
            </a:avLst>
          </a:prstGeom>
          <a:solidFill>
            <a:srgbClr val="F4F5F7"/>
          </a:solidFill>
          <a:ln/>
        </p:spPr>
      </p:sp>
      <p:sp>
        <p:nvSpPr>
          <p:cNvPr id="10" name="Shape 8"/>
          <p:cNvSpPr/>
          <p:nvPr/>
        </p:nvSpPr>
        <p:spPr>
          <a:xfrm>
            <a:off x="3593592" y="2011680"/>
            <a:ext cx="548640" cy="548640"/>
          </a:xfrm>
          <a:prstGeom prst="ellipse">
            <a:avLst/>
          </a:prstGeom>
          <a:solidFill>
            <a:srgbClr val="3E6AE1"/>
          </a:solidFill>
          <a:ln/>
        </p:spPr>
      </p:sp>
      <p:sp>
        <p:nvSpPr>
          <p:cNvPr id="11" name="Text 9"/>
          <p:cNvSpPr txBox="1"/>
          <p:nvPr/>
        </p:nvSpPr>
        <p:spPr>
          <a:xfrm>
            <a:off x="3593592" y="201168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2</a:t>
            </a:r>
            <a:endParaRPr lang="en-US" sz="1800" dirty="0"/>
          </a:p>
        </p:txBody>
      </p:sp>
      <p:sp>
        <p:nvSpPr>
          <p:cNvPr id="12" name="Text 10"/>
          <p:cNvSpPr txBox="1"/>
          <p:nvPr/>
        </p:nvSpPr>
        <p:spPr>
          <a:xfrm>
            <a:off x="3593592" y="2788920"/>
            <a:ext cx="2194560" cy="365760"/>
          </a:xfrm>
          <a:prstGeom prst="rect">
            <a:avLst/>
          </a:prstGeom>
          <a:noFill/>
          <a:ln/>
        </p:spPr>
        <p:txBody>
          <a:bodyPr wrap="square" lIns="0" tIns="0" rIns="0" bIns="0" rtlCol="0" anchor="t"/>
          <a:lstStyle/>
          <a:p>
            <a:pPr algn="l" indent="0" marL="0">
              <a:buNone/>
            </a:pPr>
            <a:r>
              <a:rPr lang="en-US" sz="1700" dirty="0">
                <a:solidFill>
                  <a:srgbClr val="171A20"/>
                </a:solidFill>
                <a:latin typeface="Segoe UI Semibold" pitchFamily="34" charset="0"/>
                <a:ea typeface="Segoe UI Semibold" pitchFamily="34" charset="-122"/>
                <a:cs typeface="Segoe UI Semibold" pitchFamily="34" charset="-120"/>
              </a:rPr>
              <a:t>Crosstalk α</a:t>
            </a:r>
            <a:endParaRPr lang="en-US" sz="1700" dirty="0"/>
          </a:p>
        </p:txBody>
      </p:sp>
      <p:sp>
        <p:nvSpPr>
          <p:cNvPr id="13" name="Text 11"/>
          <p:cNvSpPr txBox="1"/>
          <p:nvPr/>
        </p:nvSpPr>
        <p:spPr>
          <a:xfrm>
            <a:off x="3593592" y="3246120"/>
            <a:ext cx="2194560" cy="137160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Measure ΔT</a:t>
            </a:r>
            <a:pPr algn="l" indent="0" marL="0">
              <a:buNone/>
            </a:pPr>
            <a:r>
              <a:rPr lang="en-US" sz="1300" baseline="-40000" dirty="0">
                <a:solidFill>
                  <a:srgbClr val="5C5E62"/>
                </a:solidFill>
                <a:latin typeface="Segoe UI" pitchFamily="34" charset="0"/>
                <a:ea typeface="Segoe UI" pitchFamily="34" charset="-122"/>
                <a:cs typeface="Segoe UI" pitchFamily="34" charset="-120"/>
              </a:rPr>
              <a:t>cross</a:t>
            </a:r>
            <a:pPr algn="l" indent="0" marL="0">
              <a:buNone/>
            </a:pPr>
            <a:r>
              <a:rPr lang="en-US" sz="1300" dirty="0">
                <a:solidFill>
                  <a:srgbClr val="5C5E62"/>
                </a:solidFill>
                <a:latin typeface="Segoe UI" pitchFamily="34" charset="0"/>
                <a:ea typeface="Segoe UI" pitchFamily="34" charset="-122"/>
                <a:cs typeface="Segoe UI" pitchFamily="34" charset="-120"/>
              </a:rPr>
              <a:t> / ΔT</a:t>
            </a:r>
            <a:pPr algn="l" indent="0" marL="0">
              <a:buNone/>
            </a:pPr>
            <a:r>
              <a:rPr lang="en-US" sz="1300" baseline="-40000" dirty="0">
                <a:solidFill>
                  <a:srgbClr val="5C5E62"/>
                </a:solidFill>
                <a:latin typeface="Segoe UI" pitchFamily="34" charset="0"/>
                <a:ea typeface="Segoe UI" pitchFamily="34" charset="-122"/>
                <a:cs typeface="Segoe UI" pitchFamily="34" charset="-120"/>
              </a:rPr>
              <a:t>SH</a:t>
            </a:r>
            <a:pPr algn="l" indent="0" marL="0">
              <a:buNone/>
            </a:pPr>
            <a:r>
              <a:rPr lang="en-US" sz="1300" dirty="0">
                <a:solidFill>
                  <a:srgbClr val="5C5E62"/>
                </a:solidFill>
                <a:latin typeface="Segoe UI" pitchFamily="34" charset="0"/>
                <a:ea typeface="Segoe UI" pitchFamily="34" charset="-122"/>
                <a:cs typeface="Segoe UI" pitchFamily="34" charset="-120"/>
              </a:rPr>
              <a:t> and compare with 34.6 % in the paper.</a:t>
            </a:r>
            <a:endParaRPr lang="en-US" sz="1300" dirty="0"/>
          </a:p>
        </p:txBody>
      </p:sp>
      <p:sp>
        <p:nvSpPr>
          <p:cNvPr id="14" name="Shape 12"/>
          <p:cNvSpPr/>
          <p:nvPr/>
        </p:nvSpPr>
        <p:spPr>
          <a:xfrm>
            <a:off x="6181344" y="1737360"/>
            <a:ext cx="2606040" cy="3108960"/>
          </a:xfrm>
          <a:prstGeom prst="roundRect">
            <a:avLst>
              <a:gd name="adj" fmla="val 2807"/>
            </a:avLst>
          </a:prstGeom>
          <a:solidFill>
            <a:srgbClr val="F4F5F7"/>
          </a:solidFill>
          <a:ln/>
        </p:spPr>
      </p:sp>
      <p:sp>
        <p:nvSpPr>
          <p:cNvPr id="15" name="Shape 13"/>
          <p:cNvSpPr/>
          <p:nvPr/>
        </p:nvSpPr>
        <p:spPr>
          <a:xfrm>
            <a:off x="6409944" y="2011680"/>
            <a:ext cx="548640" cy="548640"/>
          </a:xfrm>
          <a:prstGeom prst="ellipse">
            <a:avLst/>
          </a:prstGeom>
          <a:solidFill>
            <a:srgbClr val="3E6AE1"/>
          </a:solidFill>
          <a:ln/>
        </p:spPr>
      </p:sp>
      <p:sp>
        <p:nvSpPr>
          <p:cNvPr id="16" name="Text 14"/>
          <p:cNvSpPr txBox="1"/>
          <p:nvPr/>
        </p:nvSpPr>
        <p:spPr>
          <a:xfrm>
            <a:off x="6409944" y="201168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3</a:t>
            </a:r>
            <a:endParaRPr lang="en-US" sz="1800" dirty="0"/>
          </a:p>
        </p:txBody>
      </p:sp>
      <p:sp>
        <p:nvSpPr>
          <p:cNvPr id="17" name="Text 15"/>
          <p:cNvSpPr txBox="1"/>
          <p:nvPr/>
        </p:nvSpPr>
        <p:spPr>
          <a:xfrm>
            <a:off x="6409944" y="2788920"/>
            <a:ext cx="2194560" cy="365760"/>
          </a:xfrm>
          <a:prstGeom prst="rect">
            <a:avLst/>
          </a:prstGeom>
          <a:noFill/>
          <a:ln/>
        </p:spPr>
        <p:txBody>
          <a:bodyPr wrap="square" lIns="0" tIns="0" rIns="0" bIns="0" rtlCol="0" anchor="t"/>
          <a:lstStyle/>
          <a:p>
            <a:pPr algn="l" indent="0" marL="0">
              <a:buNone/>
            </a:pPr>
            <a:r>
              <a:rPr lang="en-US" sz="1700" dirty="0">
                <a:solidFill>
                  <a:srgbClr val="171A20"/>
                </a:solidFill>
                <a:latin typeface="Segoe UI Semibold" pitchFamily="34" charset="0"/>
                <a:ea typeface="Segoe UI Semibold" pitchFamily="34" charset="-122"/>
                <a:cs typeface="Segoe UI Semibold" pitchFamily="34" charset="-120"/>
              </a:rPr>
              <a:t>Geometry sweep</a:t>
            </a:r>
            <a:endParaRPr lang="en-US" sz="1700" dirty="0"/>
          </a:p>
        </p:txBody>
      </p:sp>
      <p:sp>
        <p:nvSpPr>
          <p:cNvPr id="18" name="Text 16"/>
          <p:cNvSpPr txBox="1"/>
          <p:nvPr/>
        </p:nvSpPr>
        <p:spPr>
          <a:xfrm>
            <a:off x="6409944" y="3246120"/>
            <a:ext cx="2194560" cy="137160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Gate oxide, BOX thickness and channel length vs R</a:t>
            </a:r>
            <a:pPr algn="l" indent="0" marL="0">
              <a:buNone/>
            </a:pPr>
            <a:r>
              <a:rPr lang="en-US" sz="1300" baseline="-40000" dirty="0">
                <a:solidFill>
                  <a:srgbClr val="5C5E62"/>
                </a:solidFill>
                <a:latin typeface="Segoe UI" pitchFamily="34" charset="0"/>
                <a:ea typeface="Segoe UI" pitchFamily="34" charset="-122"/>
                <a:cs typeface="Segoe UI" pitchFamily="34" charset="-120"/>
              </a:rPr>
              <a:t>eff</a:t>
            </a:r>
            <a:pPr algn="l" indent="0" marL="0">
              <a:buNone/>
            </a:pPr>
            <a:r>
              <a:rPr lang="en-US" sz="1300" dirty="0">
                <a:solidFill>
                  <a:srgbClr val="5C5E62"/>
                </a:solidFill>
                <a:latin typeface="Segoe UI" pitchFamily="34" charset="0"/>
                <a:ea typeface="Segoe UI" pitchFamily="34" charset="-122"/>
                <a:cs typeface="Segoe UI" pitchFamily="34" charset="-120"/>
              </a:rPr>
              <a:t> = ΔT / P.</a:t>
            </a:r>
            <a:endParaRPr lang="en-US" sz="1300" dirty="0"/>
          </a:p>
        </p:txBody>
      </p:sp>
      <p:sp>
        <p:nvSpPr>
          <p:cNvPr id="19" name="Shape 17"/>
          <p:cNvSpPr/>
          <p:nvPr/>
        </p:nvSpPr>
        <p:spPr>
          <a:xfrm>
            <a:off x="8997696" y="1737360"/>
            <a:ext cx="2606040" cy="3108960"/>
          </a:xfrm>
          <a:prstGeom prst="roundRect">
            <a:avLst>
              <a:gd name="adj" fmla="val 2807"/>
            </a:avLst>
          </a:prstGeom>
          <a:solidFill>
            <a:srgbClr val="F4F5F7"/>
          </a:solidFill>
          <a:ln/>
        </p:spPr>
      </p:sp>
      <p:sp>
        <p:nvSpPr>
          <p:cNvPr id="20" name="Shape 18"/>
          <p:cNvSpPr/>
          <p:nvPr/>
        </p:nvSpPr>
        <p:spPr>
          <a:xfrm>
            <a:off x="9226296" y="2011680"/>
            <a:ext cx="548640" cy="548640"/>
          </a:xfrm>
          <a:prstGeom prst="ellipse">
            <a:avLst/>
          </a:prstGeom>
          <a:solidFill>
            <a:srgbClr val="3E6AE1"/>
          </a:solidFill>
          <a:ln/>
        </p:spPr>
      </p:sp>
      <p:sp>
        <p:nvSpPr>
          <p:cNvPr id="21" name="Text 19"/>
          <p:cNvSpPr txBox="1"/>
          <p:nvPr/>
        </p:nvSpPr>
        <p:spPr>
          <a:xfrm>
            <a:off x="9226296" y="201168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4</a:t>
            </a:r>
            <a:endParaRPr lang="en-US" sz="1800" dirty="0"/>
          </a:p>
        </p:txBody>
      </p:sp>
      <p:sp>
        <p:nvSpPr>
          <p:cNvPr id="22" name="Text 20"/>
          <p:cNvSpPr txBox="1"/>
          <p:nvPr/>
        </p:nvSpPr>
        <p:spPr>
          <a:xfrm>
            <a:off x="9226296" y="2788920"/>
            <a:ext cx="2194560" cy="365760"/>
          </a:xfrm>
          <a:prstGeom prst="rect">
            <a:avLst/>
          </a:prstGeom>
          <a:noFill/>
          <a:ln/>
        </p:spPr>
        <p:txBody>
          <a:bodyPr wrap="square" lIns="0" tIns="0" rIns="0" bIns="0" rtlCol="0" anchor="t"/>
          <a:lstStyle/>
          <a:p>
            <a:pPr algn="l" indent="0" marL="0">
              <a:buNone/>
            </a:pPr>
            <a:r>
              <a:rPr lang="en-US" sz="1700" dirty="0">
                <a:solidFill>
                  <a:srgbClr val="171A20"/>
                </a:solidFill>
                <a:latin typeface="Segoe UI Semibold" pitchFamily="34" charset="0"/>
                <a:ea typeface="Segoe UI Semibold" pitchFamily="34" charset="-122"/>
                <a:cs typeface="Segoe UI Semibold" pitchFamily="34" charset="-120"/>
              </a:rPr>
              <a:t>Mitigation</a:t>
            </a:r>
            <a:endParaRPr lang="en-US" sz="1700" dirty="0"/>
          </a:p>
        </p:txBody>
      </p:sp>
      <p:sp>
        <p:nvSpPr>
          <p:cNvPr id="23" name="Text 21"/>
          <p:cNvSpPr txBox="1"/>
          <p:nvPr/>
        </p:nvSpPr>
        <p:spPr>
          <a:xfrm>
            <a:off x="9226296" y="3246120"/>
            <a:ext cx="2194560" cy="1371600"/>
          </a:xfrm>
          <a:prstGeom prst="rect">
            <a:avLst/>
          </a:prstGeom>
          <a:noFill/>
          <a:ln/>
        </p:spPr>
        <p:txBody>
          <a:bodyPr wrap="square" lIns="0" tIns="0" rIns="0" bIns="0" rtlCol="0" anchor="t"/>
          <a:lstStyle/>
          <a:p>
            <a:pPr algn="l" indent="0" marL="0">
              <a:buNone/>
            </a:pPr>
            <a:r>
              <a:rPr lang="en-US" sz="1300" dirty="0">
                <a:solidFill>
                  <a:srgbClr val="5C5E62"/>
                </a:solidFill>
                <a:latin typeface="Segoe UI" pitchFamily="34" charset="0"/>
                <a:ea typeface="Segoe UI" pitchFamily="34" charset="-122"/>
                <a:cs typeface="Segoe UI" pitchFamily="34" charset="-120"/>
              </a:rPr>
              <a:t>High-κ BOX (DLC-type) [2] and metal heat paths such as wrap-around contacts [4].</a:t>
            </a:r>
            <a:endParaRPr lang="en-US" sz="1300" dirty="0"/>
          </a:p>
        </p:txBody>
      </p:sp>
      <p:sp>
        <p:nvSpPr>
          <p:cNvPr id="24" name="!!key"/>
          <p:cNvSpPr txBox="1"/>
          <p:nvPr/>
        </p:nvSpPr>
        <p:spPr>
          <a:xfrm>
            <a:off x="548640" y="5779008"/>
            <a:ext cx="11091672" cy="365760"/>
          </a:xfrm>
          <a:prstGeom prst="rect">
            <a:avLst/>
          </a:prstGeom>
          <a:noFill/>
          <a:ln/>
        </p:spPr>
        <p:txBody>
          <a:bodyPr wrap="square" lIns="0" tIns="0" rIns="0" bIns="0" rtlCol="0" anchor="ctr"/>
          <a:lstStyle/>
          <a:p>
            <a:pPr algn="ctr" indent="0" marL="0">
              <a:buNone/>
            </a:pPr>
            <a:r>
              <a:rPr lang="en-US" sz="1600" dirty="0">
                <a:solidFill>
                  <a:srgbClr val="171A20"/>
                </a:solidFill>
                <a:latin typeface="Segoe UI" pitchFamily="34" charset="0"/>
                <a:ea typeface="Segoe UI" pitchFamily="34" charset="-122"/>
                <a:cs typeface="Segoe UI" pitchFamily="34" charset="-120"/>
              </a:rPr>
              <a:t>Next: two devices, a shared substrate, and the crosstalk coefficient.</a:t>
            </a:r>
            <a:endParaRPr lang="en-US" sz="1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153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itle"/>
          <p:cNvSpPr txBox="1"/>
          <p:nvPr/>
        </p:nvSpPr>
        <p:spPr>
          <a:xfrm>
            <a:off x="548640" y="365760"/>
            <a:ext cx="9601200" cy="548640"/>
          </a:xfrm>
          <a:prstGeom prst="rect">
            <a:avLst/>
          </a:prstGeom>
          <a:noFill/>
          <a:ln/>
        </p:spPr>
        <p:txBody>
          <a:bodyPr wrap="square" lIns="0" tIns="0" rIns="0" bIns="0" rtlCol="0" anchor="ctr"/>
          <a:lstStyle/>
          <a:p>
            <a:pPr algn="l" indent="0" marL="0">
              <a:buNone/>
            </a:pPr>
            <a:r>
              <a:rPr lang="en-US" sz="3000" dirty="0">
                <a:solidFill>
                  <a:srgbClr val="171A20"/>
                </a:solidFill>
                <a:latin typeface="Segoe UI" pitchFamily="34" charset="0"/>
                <a:ea typeface="Segoe UI" pitchFamily="34" charset="-122"/>
                <a:cs typeface="Segoe UI" pitchFamily="34" charset="-120"/>
              </a:rPr>
              <a:t>References</a:t>
            </a:r>
            <a:endParaRPr lang="en-US" sz="3000" dirty="0"/>
          </a:p>
        </p:txBody>
      </p:sp>
      <p:sp>
        <p:nvSpPr>
          <p:cNvPr id="3" name="Text 1"/>
          <p:cNvSpPr txBox="1"/>
          <p:nvPr/>
        </p:nvSpPr>
        <p:spPr>
          <a:xfrm>
            <a:off x="548640" y="1280160"/>
            <a:ext cx="11091672" cy="4389120"/>
          </a:xfrm>
          <a:prstGeom prst="rect">
            <a:avLst/>
          </a:prstGeom>
          <a:noFill/>
          <a:ln/>
        </p:spPr>
        <p:txBody>
          <a:bodyPr wrap="square" lIns="0" tIns="0" rIns="0" bIns="0" rtlCol="0" anchor="t"/>
          <a:lstStyle/>
          <a:p>
            <a:pPr algn="l" indent="0" marL="0">
              <a:spcAft>
                <a:spcPts val="1000"/>
              </a:spcAft>
              <a:buNone/>
            </a:pPr>
            <a:r>
              <a:rPr lang="en-US" sz="1300" dirty="0">
                <a:solidFill>
                  <a:srgbClr val="171A20"/>
                </a:solidFill>
                <a:latin typeface="Segoe UI" pitchFamily="34" charset="0"/>
                <a:ea typeface="Segoe UI" pitchFamily="34" charset="-122"/>
                <a:cs typeface="Segoe UI" pitchFamily="34" charset="-120"/>
              </a:rPr>
              <a:t>[1] S. Chen, H. Wu, R. Wang, R. Huang, and L. Zhang, "Thermal crosstalk analysis in advanced CMOS circuits: Insights from 3nm gate-all-around transistor technology," in Proc. IEEE EDTM, 2025, doi: 10.1109/EDTM61175.2025.11040984.</a:t>
            </a:r>
            <a:endParaRPr lang="en-US" sz="1300" dirty="0"/>
          </a:p>
          <a:p>
            <a:pPr algn="l" indent="0" marL="0">
              <a:spcAft>
                <a:spcPts val="1000"/>
              </a:spcAft>
              <a:buNone/>
            </a:pPr>
            <a:r>
              <a:rPr lang="en-US" sz="1300" dirty="0">
                <a:solidFill>
                  <a:srgbClr val="171A20"/>
                </a:solidFill>
                <a:latin typeface="Segoe UI" pitchFamily="34" charset="0"/>
                <a:ea typeface="Segoe UI" pitchFamily="34" charset="-122"/>
                <a:cs typeface="Segoe UI" pitchFamily="34" charset="-120"/>
              </a:rPr>
              <a:t>[2] S. Rathore, R. K. Jaisawal, P. N. Kondekar, and N. Bagga, "Demonstration of a nanosheet FET with high thermal conductivity material as buried oxide: Mitigation of self-heating effect," IEEE Trans. Electron Devices, vol. 70, no. 4, pp. 1970–1976, Apr. 2023.</a:t>
            </a:r>
            <a:endParaRPr lang="en-US" sz="1300" dirty="0"/>
          </a:p>
          <a:p>
            <a:pPr algn="l" indent="0" marL="0">
              <a:spcAft>
                <a:spcPts val="1000"/>
              </a:spcAft>
              <a:buNone/>
            </a:pPr>
            <a:r>
              <a:rPr lang="en-US" sz="1300" dirty="0">
                <a:solidFill>
                  <a:srgbClr val="171A20"/>
                </a:solidFill>
                <a:latin typeface="Segoe UI" pitchFamily="34" charset="0"/>
                <a:ea typeface="Segoe UI" pitchFamily="34" charset="-122"/>
                <a:cs typeface="Segoe UI" pitchFamily="34" charset="-120"/>
              </a:rPr>
              <a:t>[3] L. Cai, W. Chen, G. Du, X. Zhang, and X. Liu, "Investigation of self-heating effect on stacked nanosheet GAA transistors," in Proc. VLSI-TSA, 2018, doi: 10.1109/VLSI-TSA.2018.8403821.</a:t>
            </a:r>
            <a:endParaRPr lang="en-US" sz="1300" dirty="0"/>
          </a:p>
          <a:p>
            <a:pPr algn="l" indent="0" marL="0">
              <a:spcAft>
                <a:spcPts val="1000"/>
              </a:spcAft>
              <a:buNone/>
            </a:pPr>
            <a:r>
              <a:rPr lang="en-US" sz="1300" dirty="0">
                <a:solidFill>
                  <a:srgbClr val="171A20"/>
                </a:solidFill>
                <a:latin typeface="Segoe UI" pitchFamily="34" charset="0"/>
                <a:ea typeface="Segoe UI" pitchFamily="34" charset="-122"/>
                <a:cs typeface="Segoe UI" pitchFamily="34" charset="-120"/>
              </a:rPr>
              <a:t>[4] S. J. Kang, J. H. Kim, Y. S. Song, S. Go, and S. Kim, "Investigation of self-heating effects in vertically stacked GAA MOSFET with wrap-around contact," IEEE Trans. Electron Devices, vol. 69, no. 3, pp. 910–914, Mar. 2022, doi: 10.1109/TED.2022.3140283.</a:t>
            </a:r>
            <a:endParaRPr lang="en-US" sz="1300" dirty="0"/>
          </a:p>
          <a:p>
            <a:pPr algn="l" indent="0" marL="0">
              <a:spcAft>
                <a:spcPts val="1000"/>
              </a:spcAft>
              <a:buNone/>
            </a:pPr>
            <a:r>
              <a:rPr lang="en-US" sz="1300" dirty="0">
                <a:solidFill>
                  <a:srgbClr val="171A20"/>
                </a:solidFill>
                <a:latin typeface="Segoe UI" pitchFamily="34" charset="0"/>
                <a:ea typeface="Segoe UI" pitchFamily="34" charset="-122"/>
                <a:cs typeface="Segoe UI" pitchFamily="34" charset="-120"/>
              </a:rPr>
              <a:t>[5] M. Belkhiria and F. Echouchene, "Analysis of heat transfer in GAAFET transistor with linear doping based on single-phase lag model," in Proc. SSD, 2021, doi: 10.1109/SSD52085.2021.9429320.</a:t>
            </a:r>
            <a:endParaRPr lang="en-US" sz="1300" dirty="0"/>
          </a:p>
          <a:p>
            <a:pPr algn="l" indent="0" marL="0">
              <a:spcAft>
                <a:spcPts val="1000"/>
              </a:spcAft>
              <a:buNone/>
            </a:pPr>
            <a:r>
              <a:rPr lang="en-US" sz="1300" dirty="0">
                <a:solidFill>
                  <a:srgbClr val="171A20"/>
                </a:solidFill>
                <a:latin typeface="Segoe UI" pitchFamily="34" charset="0"/>
                <a:ea typeface="Segoe UI" pitchFamily="34" charset="-122"/>
                <a:cs typeface="Segoe UI" pitchFamily="34" charset="-120"/>
              </a:rPr>
              <a:t>[6] Silvaco Inc., Atlas User's Manual, version 5.28.1.R.</a:t>
            </a:r>
            <a:endParaRPr lang="en-US" sz="13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D93"/>
                </a:solidFill>
                <a:latin typeface="Segoe UI"/>
                <a:ea typeface="Segoe UI"/>
                <a:cs typeface="Segoe UI"/>
              </a:defRPr>
            </a:lvl1pPr>
          </a:lstStyle>
          <a:p>
            <a:pPr algn="r"/>
            <a:fld id="{F7021451-1387-4CA6-816F-3879F97B5CBC}" type="slidenum">
              <a:rPr b="0" lang="en-US"/>
              <a:t>154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itle"/>
          <p:cNvSpPr txBox="1"/>
          <p:nvPr/>
        </p:nvSpPr>
        <p:spPr>
          <a:xfrm>
            <a:off x="548640" y="2103120"/>
            <a:ext cx="6400800" cy="914400"/>
          </a:xfrm>
          <a:prstGeom prst="rect">
            <a:avLst/>
          </a:prstGeom>
          <a:noFill/>
          <a:ln/>
        </p:spPr>
        <p:txBody>
          <a:bodyPr wrap="square" lIns="0" tIns="0" rIns="0" bIns="0" rtlCol="0" anchor="t"/>
          <a:lstStyle/>
          <a:p>
            <a:pPr algn="l" indent="0" marL="0">
              <a:buNone/>
            </a:pPr>
            <a:r>
              <a:rPr lang="en-US" sz="4400" dirty="0">
                <a:solidFill>
                  <a:srgbClr val="171A20"/>
                </a:solidFill>
                <a:latin typeface="Segoe UI" pitchFamily="34" charset="0"/>
                <a:ea typeface="Segoe UI" pitchFamily="34" charset="-122"/>
                <a:cs typeface="Segoe UI" pitchFamily="34" charset="-120"/>
              </a:rPr>
              <a:t>Thank you</a:t>
            </a:r>
            <a:endParaRPr lang="en-US" sz="4400" dirty="0"/>
          </a:p>
        </p:txBody>
      </p:sp>
      <p:sp>
        <p:nvSpPr>
          <p:cNvPr id="3" name="!!sub"/>
          <p:cNvSpPr txBox="1"/>
          <p:nvPr/>
        </p:nvSpPr>
        <p:spPr>
          <a:xfrm>
            <a:off x="566928" y="3017520"/>
            <a:ext cx="6400800" cy="457200"/>
          </a:xfrm>
          <a:prstGeom prst="rect">
            <a:avLst/>
          </a:prstGeom>
          <a:noFill/>
          <a:ln/>
        </p:spPr>
        <p:txBody>
          <a:bodyPr wrap="square" lIns="0" tIns="0" rIns="0" bIns="0" rtlCol="0" anchor="t"/>
          <a:lstStyle/>
          <a:p>
            <a:pPr algn="l" indent="0" marL="0">
              <a:buNone/>
            </a:pPr>
            <a:r>
              <a:rPr lang="en-US" sz="1800" dirty="0">
                <a:solidFill>
                  <a:srgbClr val="5C5E62"/>
                </a:solidFill>
                <a:latin typeface="Segoe UI" pitchFamily="34" charset="0"/>
                <a:ea typeface="Segoe UI" pitchFamily="34" charset="-122"/>
                <a:cs typeface="Segoe UI" pitchFamily="34" charset="-120"/>
              </a:rPr>
              <a:t>Questions and discussion</a:t>
            </a:r>
            <a:endParaRPr lang="en-US" sz="1800" dirty="0"/>
          </a:p>
        </p:txBody>
      </p:sp>
      <p:sp>
        <p:nvSpPr>
          <p:cNvPr id="4" name="!!ringg"/>
          <p:cNvSpPr/>
          <p:nvPr/>
        </p:nvSpPr>
        <p:spPr>
          <a:xfrm>
            <a:off x="8273034" y="1323594"/>
            <a:ext cx="2839212" cy="2839212"/>
          </a:xfrm>
          <a:prstGeom prst="ellipse">
            <a:avLst/>
          </a:prstGeom>
          <a:solidFill>
            <a:srgbClr val="B3A6E6"/>
          </a:solidFill>
          <a:ln/>
        </p:spPr>
      </p:sp>
      <p:sp>
        <p:nvSpPr>
          <p:cNvPr id="5" name="!!ringh"/>
          <p:cNvSpPr/>
          <p:nvPr/>
        </p:nvSpPr>
        <p:spPr>
          <a:xfrm>
            <a:off x="8662111" y="1712671"/>
            <a:ext cx="2061058" cy="2061058"/>
          </a:xfrm>
          <a:prstGeom prst="ellipse">
            <a:avLst/>
          </a:prstGeom>
          <a:solidFill>
            <a:srgbClr val="8FCBE0"/>
          </a:solidFill>
          <a:ln/>
        </p:spPr>
      </p:sp>
      <p:sp>
        <p:nvSpPr>
          <p:cNvPr id="6" name="!!ringo"/>
          <p:cNvSpPr/>
          <p:nvPr/>
        </p:nvSpPr>
        <p:spPr>
          <a:xfrm>
            <a:off x="8788298" y="1838858"/>
            <a:ext cx="1808683" cy="1808683"/>
          </a:xfrm>
          <a:prstGeom prst="ellipse">
            <a:avLst/>
          </a:prstGeom>
          <a:solidFill>
            <a:srgbClr val="CDEBF5"/>
          </a:solidFill>
          <a:ln/>
        </p:spPr>
      </p:sp>
      <p:sp>
        <p:nvSpPr>
          <p:cNvPr id="7" name="!!rings"/>
          <p:cNvSpPr/>
          <p:nvPr/>
        </p:nvSpPr>
        <p:spPr>
          <a:xfrm>
            <a:off x="8914486" y="1965046"/>
            <a:ext cx="1556309" cy="1556309"/>
          </a:xfrm>
          <a:prstGeom prst="ellipse">
            <a:avLst/>
          </a:prstGeom>
          <a:solidFill>
            <a:srgbClr val="F6E7B8"/>
          </a:solidFill>
          <a:ln/>
        </p:spPr>
      </p:sp>
      <p:sp>
        <p:nvSpPr>
          <p:cNvPr id="8" name="Shape 6"/>
          <p:cNvSpPr/>
          <p:nvPr/>
        </p:nvSpPr>
        <p:spPr>
          <a:xfrm>
            <a:off x="548640" y="4892040"/>
            <a:ext cx="11091672" cy="91"/>
          </a:xfrm>
          <a:prstGeom prst="line">
            <a:avLst/>
          </a:prstGeom>
          <a:noFill/>
          <a:ln w="9525">
            <a:solidFill>
              <a:srgbClr val="E2E3E3"/>
            </a:solidFill>
            <a:prstDash val="solid"/>
          </a:ln>
        </p:spPr>
      </p:sp>
      <p:sp>
        <p:nvSpPr>
          <p:cNvPr id="9" name="Text 7"/>
          <p:cNvSpPr txBox="1"/>
          <p:nvPr/>
        </p:nvSpPr>
        <p:spPr>
          <a:xfrm>
            <a:off x="548640" y="5074920"/>
            <a:ext cx="8229600" cy="320040"/>
          </a:xfrm>
          <a:prstGeom prst="rect">
            <a:avLst/>
          </a:prstGeom>
          <a:noFill/>
          <a:ln/>
        </p:spPr>
        <p:txBody>
          <a:bodyPr wrap="square" lIns="0" tIns="0" rIns="0" bIns="0" rtlCol="0" anchor="t"/>
          <a:lstStyle/>
          <a:p>
            <a:pPr algn="l" indent="0" marL="0">
              <a:buNone/>
            </a:pPr>
            <a:r>
              <a:rPr lang="en-US" sz="1600" dirty="0">
                <a:solidFill>
                  <a:srgbClr val="171A20"/>
                </a:solidFill>
                <a:latin typeface="Segoe UI" pitchFamily="34" charset="0"/>
                <a:ea typeface="Segoe UI" pitchFamily="34" charset="-122"/>
                <a:cs typeface="Segoe UI" pitchFamily="34" charset="-120"/>
              </a:rPr>
              <a:t>Nithyanand B  ·  Priyadharshini K  ·  Sivaprakash R</a:t>
            </a:r>
            <a:endParaRPr lang="en-US" sz="1600" dirty="0"/>
          </a:p>
        </p:txBody>
      </p:sp>
      <p:sp>
        <p:nvSpPr>
          <p:cNvPr id="10" name="Text 8"/>
          <p:cNvSpPr txBox="1"/>
          <p:nvPr/>
        </p:nvSpPr>
        <p:spPr>
          <a:xfrm>
            <a:off x="548640" y="5486400"/>
            <a:ext cx="8229600" cy="274320"/>
          </a:xfrm>
          <a:prstGeom prst="rect">
            <a:avLst/>
          </a:prstGeom>
          <a:noFill/>
          <a:ln/>
        </p:spPr>
        <p:txBody>
          <a:bodyPr wrap="square" lIns="0" tIns="0" rIns="0" bIns="0" rtlCol="0" anchor="t"/>
          <a:lstStyle/>
          <a:p>
            <a:pPr algn="l" indent="0" marL="0">
              <a:buNone/>
            </a:pPr>
            <a:r>
              <a:rPr lang="en-US" sz="1300" dirty="0">
                <a:solidFill>
                  <a:srgbClr val="171A20"/>
                </a:solidFill>
                <a:latin typeface="Segoe UI Semibold" pitchFamily="34" charset="0"/>
                <a:ea typeface="Segoe UI Semibold" pitchFamily="34" charset="-122"/>
                <a:cs typeface="Segoe UI Semibold" pitchFamily="34" charset="-120"/>
              </a:rPr>
              <a:t>M.Tech VLSI Design  ·  Analog VLSI and Device Modelling Lab (25VL681)</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900">
        <p159:morph option="byObject"/>
      </p:transition>
    </mc:Choice>
    <mc:Fallback xmlns="">
      <p:transition spd="slow">
        <p:fade/>
      </p:transition>
    </mc:Fallback>
  </mc:AlternateContent>
</p:sld>
</file>

<file path=ppt/theme/theme1.xml><?xml version="1.0" encoding="utf-8"?>
<a:theme xmlns:a="http://schemas.openxmlformats.org/drawingml/2006/main" name="GAAFET Narrative">
  <a:themeElements>
    <a:clrScheme name="GAAFET Narrative">
      <a:dk1>
        <a:srgbClr val="171A20"/>
      </a:dk1>
      <a:lt1>
        <a:srgbClr val="FFFFFF"/>
      </a:lt1>
      <a:dk2>
        <a:srgbClr val="5C5E62"/>
      </a:dk2>
      <a:lt2>
        <a:srgbClr val="F4F5F7"/>
      </a:lt2>
      <a:accent1>
        <a:srgbClr val="3E6AE1"/>
      </a:accent1>
      <a:accent2>
        <a:srgbClr val="11998E"/>
      </a:accent2>
      <a:accent3>
        <a:srgbClr val="E07B00"/>
      </a:accent3>
      <a:accent4>
        <a:srgbClr val="D64545"/>
      </a:accent4>
      <a:accent5>
        <a:srgbClr val="2E9E4F"/>
      </a:accent5>
      <a:accent6>
        <a:srgbClr val="6B5BC4"/>
      </a:accent6>
      <a:hlink>
        <a:srgbClr val="3E6AE1"/>
      </a:hlink>
      <a:folHlink>
        <a:srgbClr val="6B5BC4"/>
      </a:folHlink>
    </a:clrScheme>
    <a:fontScheme name="GAAFET Narrativ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155</Slides>
  <Notes>155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155</vt:i4>
      </vt:variant>
    </vt:vector>
  </HeadingPairs>
  <TitlesOfParts>
    <vt:vector size="1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Self-Heating in a Cylindrical GAAFET</dc:title>
  <dc:subject>PptxGenJS Presentation</dc:subject>
  <dc:creator>Nithyanand B, Priyadharshini K, Sivaprakash R</dc:creator>
  <cp:lastModifiedBy>Nithyanand B, Priyadharshini K, Sivaprakash R</cp:lastModifiedBy>
  <cp:revision>1</cp:revision>
  <dcterms:created xsi:type="dcterms:W3CDTF">2026-10-22T16:45:37Z</dcterms:created>
  <dcterms:modified xsi:type="dcterms:W3CDTF">2026-10-22T16:45:37Z</dcterms:modified>
</cp:coreProperties>
</file>